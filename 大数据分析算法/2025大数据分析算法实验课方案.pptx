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media/image11.svg" ContentType="image/svg+xml"/>
  <Override PartName="/ppt/media/image13.svg" ContentType="image/svg+xml"/>
  <Override PartName="/ppt/media/image15.svg" ContentType="image/svg+xml"/>
  <Override PartName="/ppt/media/image18.svg" ContentType="image/svg+xml"/>
  <Override PartName="/ppt/media/image20.svg" ContentType="image/svg+xml"/>
  <Override PartName="/ppt/media/image22.svg" ContentType="image/svg+xml"/>
  <Override PartName="/ppt/media/image24.svg" ContentType="image/svg+xml"/>
  <Override PartName="/ppt/media/image26.svg" ContentType="image/svg+xml"/>
  <Override PartName="/ppt/media/image28.svg" ContentType="image/svg+xml"/>
  <Override PartName="/ppt/media/image3.svg" ContentType="image/svg+xml"/>
  <Override PartName="/ppt/media/image30.svg" ContentType="image/svg+xml"/>
  <Override PartName="/ppt/media/image32.svg" ContentType="image/svg+xml"/>
  <Override PartName="/ppt/media/image34.svg" ContentType="image/svg+xml"/>
  <Override PartName="/ppt/media/image36.svg" ContentType="image/svg+xml"/>
  <Override PartName="/ppt/media/image37.svg" ContentType="image/svg+xml"/>
  <Override PartName="/ppt/media/image39.svg" ContentType="image/svg+xml"/>
  <Override PartName="/ppt/media/image40.svg" ContentType="image/svg+xml"/>
  <Override PartName="/ppt/media/image42.svg" ContentType="image/svg+xml"/>
  <Override PartName="/ppt/media/image5.svg" ContentType="image/svg+xml"/>
  <Override PartName="/ppt/media/image7.svg" ContentType="image/svg+xml"/>
  <Override PartName="/ppt/media/image9.svg" ContentType="image/svg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10.xml" ContentType="application/vnd.openxmlformats-officedocument.presentationml.slideMaster+xml"/>
  <Override PartName="/ppt/slideMasters/slideMaster1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Masters/slideMaster7.xml" ContentType="application/vnd.openxmlformats-officedocument.presentationml.slideMaster+xml"/>
  <Override PartName="/ppt/slideMasters/slideMaster8.xml" ContentType="application/vnd.openxmlformats-officedocument.presentationml.slideMaster+xml"/>
  <Override PartName="/ppt/slideMasters/slideMaster9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theme/theme10.xml" ContentType="application/vnd.openxmlformats-officedocument.theme+xml"/>
  <Override PartName="/ppt/theme/theme11.xml" ContentType="application/vnd.openxmlformats-officedocument.theme+xml"/>
  <Override PartName="/ppt/theme/theme12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theme/theme5.xml" ContentType="application/vnd.openxmlformats-officedocument.theme+xml"/>
  <Override PartName="/ppt/theme/theme6.xml" ContentType="application/vnd.openxmlformats-officedocument.theme+xml"/>
  <Override PartName="/ppt/theme/theme7.xml" ContentType="application/vnd.openxmlformats-officedocument.theme+xml"/>
  <Override PartName="/ppt/theme/theme8.xml" ContentType="application/vnd.openxmlformats-officedocument.theme+xml"/>
  <Override PartName="/ppt/theme/theme9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autoCompressPictures="0">
  <p:sldMasterIdLst>
    <p:sldMasterId id="2147483648" r:id="rId1"/>
    <p:sldMasterId id="2147483660" r:id="rId3"/>
    <p:sldMasterId id="2147483662" r:id="rId4"/>
    <p:sldMasterId id="2147483664" r:id="rId5"/>
    <p:sldMasterId id="2147483666" r:id="rId6"/>
    <p:sldMasterId id="2147483668" r:id="rId7"/>
    <p:sldMasterId id="2147483670" r:id="rId8"/>
    <p:sldMasterId id="2147483672" r:id="rId9"/>
    <p:sldMasterId id="2147483674" r:id="rId10"/>
    <p:sldMasterId id="2147483676" r:id="rId11"/>
    <p:sldMasterId id="2147483678" r:id="rId12"/>
  </p:sldMasterIdLst>
  <p:notesMasterIdLst>
    <p:notesMasterId r:id="rId14"/>
  </p:notesMasterIdLst>
  <p:sldIdLst>
    <p:sldId id="256" r:id="rId13"/>
    <p:sldId id="257" r:id="rId15"/>
    <p:sldId id="258" r:id="rId16"/>
    <p:sldId id="263" r:id="rId17"/>
    <p:sldId id="268" r:id="rId18"/>
    <p:sldId id="296" r:id="rId19"/>
    <p:sldId id="297" r:id="rId20"/>
    <p:sldId id="298" r:id="rId21"/>
    <p:sldId id="299" r:id="rId22"/>
    <p:sldId id="300" r:id="rId23"/>
    <p:sldId id="301" r:id="rId24"/>
    <p:sldId id="302" r:id="rId25"/>
    <p:sldId id="303" r:id="rId26"/>
    <p:sldId id="291" r:id="rId27"/>
    <p:sldId id="278" r:id="rId28"/>
    <p:sldId id="292" r:id="rId29"/>
    <p:sldId id="264" r:id="rId30"/>
    <p:sldId id="281" r:id="rId31"/>
    <p:sldId id="293" r:id="rId32"/>
    <p:sldId id="288" r:id="rId33"/>
    <p:sldId id="289" r:id="rId34"/>
    <p:sldId id="294" r:id="rId35"/>
    <p:sldId id="267" r:id="rId36"/>
  </p:sldIdLst>
  <p:sldSz cx="12192000" cy="68580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90204"/>
      <a:defRPr sz="1400" b="0" i="0" u="none" strike="noStrike" cap="none">
        <a:solidFill>
          <a:srgbClr val="000000"/>
        </a:solidFill>
        <a:latin typeface="Arial" panose="020B0604020202090204"/>
        <a:ea typeface="Arial" panose="020B0604020202090204"/>
        <a:cs typeface="Arial" panose="020B0604020202090204"/>
        <a:sym typeface="Arial" panose="020B0604020202090204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90204"/>
      <a:defRPr sz="1400" b="0" i="0" u="none" strike="noStrike" cap="none">
        <a:solidFill>
          <a:srgbClr val="000000"/>
        </a:solidFill>
        <a:latin typeface="Arial" panose="020B0604020202090204"/>
        <a:ea typeface="Arial" panose="020B0604020202090204"/>
        <a:cs typeface="Arial" panose="020B0604020202090204"/>
        <a:sym typeface="Arial" panose="020B0604020202090204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90204"/>
      <a:defRPr sz="1400" b="0" i="0" u="none" strike="noStrike" cap="none">
        <a:solidFill>
          <a:srgbClr val="000000"/>
        </a:solidFill>
        <a:latin typeface="Arial" panose="020B0604020202090204"/>
        <a:ea typeface="Arial" panose="020B0604020202090204"/>
        <a:cs typeface="Arial" panose="020B0604020202090204"/>
        <a:sym typeface="Arial" panose="020B0604020202090204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90204"/>
      <a:defRPr sz="1400" b="0" i="0" u="none" strike="noStrike" cap="none">
        <a:solidFill>
          <a:srgbClr val="000000"/>
        </a:solidFill>
        <a:latin typeface="Arial" panose="020B0604020202090204"/>
        <a:ea typeface="Arial" panose="020B0604020202090204"/>
        <a:cs typeface="Arial" panose="020B0604020202090204"/>
        <a:sym typeface="Arial" panose="020B0604020202090204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90204"/>
      <a:defRPr sz="1400" b="0" i="0" u="none" strike="noStrike" cap="none">
        <a:solidFill>
          <a:srgbClr val="000000"/>
        </a:solidFill>
        <a:latin typeface="Arial" panose="020B0604020202090204"/>
        <a:ea typeface="Arial" panose="020B0604020202090204"/>
        <a:cs typeface="Arial" panose="020B0604020202090204"/>
        <a:sym typeface="Arial" panose="020B0604020202090204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90204"/>
      <a:defRPr sz="1400" b="0" i="0" u="none" strike="noStrike" cap="none">
        <a:solidFill>
          <a:srgbClr val="000000"/>
        </a:solidFill>
        <a:latin typeface="Arial" panose="020B0604020202090204"/>
        <a:ea typeface="Arial" panose="020B0604020202090204"/>
        <a:cs typeface="Arial" panose="020B0604020202090204"/>
        <a:sym typeface="Arial" panose="020B0604020202090204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90204"/>
      <a:defRPr sz="1400" b="0" i="0" u="none" strike="noStrike" cap="none">
        <a:solidFill>
          <a:srgbClr val="000000"/>
        </a:solidFill>
        <a:latin typeface="Arial" panose="020B0604020202090204"/>
        <a:ea typeface="Arial" panose="020B0604020202090204"/>
        <a:cs typeface="Arial" panose="020B0604020202090204"/>
        <a:sym typeface="Arial" panose="020B0604020202090204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90204"/>
      <a:defRPr sz="1400" b="0" i="0" u="none" strike="noStrike" cap="none">
        <a:solidFill>
          <a:srgbClr val="000000"/>
        </a:solidFill>
        <a:latin typeface="Arial" panose="020B0604020202090204"/>
        <a:ea typeface="Arial" panose="020B0604020202090204"/>
        <a:cs typeface="Arial" panose="020B0604020202090204"/>
        <a:sym typeface="Arial" panose="020B0604020202090204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90204"/>
      <a:defRPr sz="1400" b="0" i="0" u="none" strike="noStrike" cap="none">
        <a:solidFill>
          <a:srgbClr val="000000"/>
        </a:solidFill>
        <a:latin typeface="Arial" panose="020B0604020202090204"/>
        <a:ea typeface="Arial" panose="020B0604020202090204"/>
        <a:cs typeface="Arial" panose="020B0604020202090204"/>
        <a:sym typeface="Arial" panose="020B0604020202090204"/>
      </a:defRPr>
    </a:lvl9pPr>
  </p:defaultTextStyle>
  <p:extLst>
    <p:ext uri="{EFAFB233-063F-42B5-8137-9DF3F51BA10A}">
      <p15:sldGuideLst xmlns:p15="http://schemas.microsoft.com/office/powerpoint/2012/main">
        <p15:guide id="1" orient="horz" pos="1636" userDrawn="1">
          <p15:clr>
            <a:srgbClr val="747775"/>
          </p15:clr>
        </p15:guide>
        <p15:guide id="2" pos="2920" userDrawn="1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showComments="0">
  <p:normalViewPr>
    <p:restoredLeft sz="15620"/>
    <p:restoredTop sz="94660"/>
  </p:normalViewPr>
  <p:slideViewPr>
    <p:cSldViewPr snapToGrid="0" showGuides="1">
      <p:cViewPr varScale="1">
        <p:scale>
          <a:sx n="100" d="100"/>
          <a:sy n="100" d="100"/>
        </p:scale>
        <p:origin x="0" y="0"/>
      </p:cViewPr>
      <p:guideLst>
        <p:guide orient="horz" pos="1636"/>
        <p:guide pos="2920"/>
      </p:guideLst>
    </p:cSldViewPr>
  </p:slide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Master" Target="slideMasters/slideMaster8.xml"/><Relationship Id="rId8" Type="http://schemas.openxmlformats.org/officeDocument/2006/relationships/slideMaster" Target="slideMasters/slideMaster7.xml"/><Relationship Id="rId7" Type="http://schemas.openxmlformats.org/officeDocument/2006/relationships/slideMaster" Target="slideMasters/slideMaster6.xml"/><Relationship Id="rId6" Type="http://schemas.openxmlformats.org/officeDocument/2006/relationships/slideMaster" Target="slideMasters/slideMaster5.xml"/><Relationship Id="rId5" Type="http://schemas.openxmlformats.org/officeDocument/2006/relationships/slideMaster" Target="slideMasters/slideMaster4.xml"/><Relationship Id="rId4" Type="http://schemas.openxmlformats.org/officeDocument/2006/relationships/slideMaster" Target="slideMasters/slideMaster3.xml"/><Relationship Id="rId39" Type="http://schemas.openxmlformats.org/officeDocument/2006/relationships/tableStyles" Target="tableStyles.xml"/><Relationship Id="rId38" Type="http://schemas.openxmlformats.org/officeDocument/2006/relationships/viewProps" Target="viewProps.xml"/><Relationship Id="rId37" Type="http://schemas.openxmlformats.org/officeDocument/2006/relationships/presProps" Target="presProps.xml"/><Relationship Id="rId36" Type="http://schemas.openxmlformats.org/officeDocument/2006/relationships/slide" Target="slides/slide23.xml"/><Relationship Id="rId35" Type="http://schemas.openxmlformats.org/officeDocument/2006/relationships/slide" Target="slides/slide22.xml"/><Relationship Id="rId34" Type="http://schemas.openxmlformats.org/officeDocument/2006/relationships/slide" Target="slides/slide21.xml"/><Relationship Id="rId33" Type="http://schemas.openxmlformats.org/officeDocument/2006/relationships/slide" Target="slides/slide20.xml"/><Relationship Id="rId32" Type="http://schemas.openxmlformats.org/officeDocument/2006/relationships/slide" Target="slides/slide19.xml"/><Relationship Id="rId31" Type="http://schemas.openxmlformats.org/officeDocument/2006/relationships/slide" Target="slides/slide18.xml"/><Relationship Id="rId30" Type="http://schemas.openxmlformats.org/officeDocument/2006/relationships/slide" Target="slides/slide17.xml"/><Relationship Id="rId3" Type="http://schemas.openxmlformats.org/officeDocument/2006/relationships/slideMaster" Target="slideMasters/slideMaster2.xml"/><Relationship Id="rId29" Type="http://schemas.openxmlformats.org/officeDocument/2006/relationships/slide" Target="slides/slide16.xml"/><Relationship Id="rId28" Type="http://schemas.openxmlformats.org/officeDocument/2006/relationships/slide" Target="slides/slide15.xml"/><Relationship Id="rId27" Type="http://schemas.openxmlformats.org/officeDocument/2006/relationships/slide" Target="slides/slide14.xml"/><Relationship Id="rId26" Type="http://schemas.openxmlformats.org/officeDocument/2006/relationships/slide" Target="slides/slide13.xml"/><Relationship Id="rId25" Type="http://schemas.openxmlformats.org/officeDocument/2006/relationships/slide" Target="slides/slide12.xml"/><Relationship Id="rId24" Type="http://schemas.openxmlformats.org/officeDocument/2006/relationships/slide" Target="slides/slide11.xml"/><Relationship Id="rId23" Type="http://schemas.openxmlformats.org/officeDocument/2006/relationships/slide" Target="slides/slide10.xml"/><Relationship Id="rId22" Type="http://schemas.openxmlformats.org/officeDocument/2006/relationships/slide" Target="slides/slide9.xml"/><Relationship Id="rId21" Type="http://schemas.openxmlformats.org/officeDocument/2006/relationships/slide" Target="slides/slide8.xml"/><Relationship Id="rId20" Type="http://schemas.openxmlformats.org/officeDocument/2006/relationships/slide" Target="slides/slide7.xml"/><Relationship Id="rId2" Type="http://schemas.openxmlformats.org/officeDocument/2006/relationships/theme" Target="theme/theme1.xml"/><Relationship Id="rId19" Type="http://schemas.openxmlformats.org/officeDocument/2006/relationships/slide" Target="slides/slide6.xml"/><Relationship Id="rId18" Type="http://schemas.openxmlformats.org/officeDocument/2006/relationships/slide" Target="slides/slide5.xml"/><Relationship Id="rId17" Type="http://schemas.openxmlformats.org/officeDocument/2006/relationships/slide" Target="slides/slide4.xml"/><Relationship Id="rId16" Type="http://schemas.openxmlformats.org/officeDocument/2006/relationships/slide" Target="slides/slide3.xml"/><Relationship Id="rId15" Type="http://schemas.openxmlformats.org/officeDocument/2006/relationships/slide" Target="slides/slide2.xml"/><Relationship Id="rId14" Type="http://schemas.openxmlformats.org/officeDocument/2006/relationships/notesMaster" Target="notesMasters/notesMaster1.xml"/><Relationship Id="rId13" Type="http://schemas.openxmlformats.org/officeDocument/2006/relationships/slide" Target="slides/slide1.xml"/><Relationship Id="rId12" Type="http://schemas.openxmlformats.org/officeDocument/2006/relationships/slideMaster" Target="slideMasters/slideMaster11.xml"/><Relationship Id="rId11" Type="http://schemas.openxmlformats.org/officeDocument/2006/relationships/slideMaster" Target="slideMasters/slideMaster10.xml"/><Relationship Id="rId10" Type="http://schemas.openxmlformats.org/officeDocument/2006/relationships/slideMaster" Target="slideMasters/slideMaster9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1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</a:fld>
            <a:endParaRPr lang="cs-CZ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2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3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大家好，欢迎参加本次大数据分析算法实验课方案的介绍。本次PPT将详细介绍为第七、八周设计的三个不同版本的实验方案，旨在帮助大家更好地理解和掌握图数据分析和推荐系统的相关算法。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本次PPT将分为六个部分，首先介绍实验背景，然后详细讲解三个不同版本的实验方案，接着对比各版本的实验报告要求，最后进行总结并给出建议。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本次实验课对应理论课的第七、八章，主要涉及图数据分析和推荐系统。实验的目的是帮助大家巩固所学的理论知识，提升实践操作能力，并培养创新思维。这些实验将支撑课程目标3和课程目标4的达成。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科研版第七周实验要求大家结合图表示学习和PageRank算法，进行节点分类研究。实验内容包括网络构建、节点排序、嵌入生成和分类实验。实验报告要求采用小论文格式，包括摘要、引言、方法、实验和结论，以培养大家的科研写作能力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科研版第七周实验要求大家结合图表示学习和PageRank算法，进行节点分类研究。实验内容包括网络构建、节点排序、嵌入生成和分类实验。实验报告要求采用小论文格式，包括摘要、引言、方法、实验和结论，以培养大家的科研写作能力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科研版第七周实验要求大家结合图表示学习和PageRank算法，进行节点分类研究。实验内容包括网络构建、节点排序、嵌入生成和分类实验。实验报告要求采用小论文格式，包括摘要、引言、方法、实验和结论，以培养大家的科研写作能力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科研版第八周实验要求大家对比协同过滤和矩阵分解算法，分析推荐系统的性能。实验内容包括算法实现、对比实验和影响因素分析。实验报告要求包括模型公式推导、消融实验表格和SCI风格图表，以提升大家的科研分析和写作能力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科研版第七周实验要求大家结合图表示学习和PageRank算法，进行节点分类研究。实验内容包括网络构建、节点排序、嵌入生成和分类实验。实验报告要求采用小论文格式，包括摘要、引言、方法、实验和结论，以培养大家的科研写作能力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感谢大家的观看！如果对实验方案有任何疑问或建议，欢迎随时联系我。希望大家在实验课中能够有所收获，提升自己的专业技能。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matchingName="标题幻灯片">
  <p:cSld name="TITLE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Shape 30"/>
          <p:cNvSpPr txBox="1"/>
          <p:nvPr>
            <p:ph type="ctrTitle"/>
          </p:nvPr>
        </p:nvSpPr>
        <p:spPr>
          <a:xfrm>
            <a:off x="1143000" y="841772"/>
            <a:ext cx="6858000" cy="179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Arial" panose="020B0604020202090204"/>
              <a:buNone/>
              <a:defRPr sz="45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3" name="Shape 31"/>
          <p:cNvSpPr txBox="1"/>
          <p:nvPr>
            <p:ph type="subTitle" idx="1"/>
          </p:nvPr>
        </p:nvSpPr>
        <p:spPr>
          <a:xfrm>
            <a:off x="1143000" y="2701528"/>
            <a:ext cx="6858000" cy="12418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1pPr>
            <a:lvl2pPr lvl="1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/>
            </a:lvl2pPr>
            <a:lvl3pPr lvl="2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3pPr>
            <a:lvl4pPr lvl="3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lvl="4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lvl="5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lvl="6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lvl="7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lvl="8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/>
        </p:txBody>
      </p:sp>
      <p:sp>
        <p:nvSpPr>
          <p:cNvPr id="14" name="Shape 32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5" name="Shape 33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6" name="Shape 34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matchingName="标题和内容">
  <p:cSld name="OBJECT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Shape 54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9" name="Shape 55"/>
          <p:cNvSpPr txBox="1"/>
          <p:nvPr>
            <p:ph type="body"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20" name="Shape 56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1" name="Shape 57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2" name="Shape 58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matchingName="节标题">
  <p:cSld name="SECTION_HEADER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Shape 59"/>
          <p:cNvSpPr txBox="1"/>
          <p:nvPr>
            <p:ph type="title"/>
          </p:nvPr>
        </p:nvSpPr>
        <p:spPr>
          <a:xfrm>
            <a:off x="623888" y="1282304"/>
            <a:ext cx="7886700" cy="213955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Arial" panose="020B0604020202090204"/>
              <a:buNone/>
              <a:defRPr sz="45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5" name="Shape 60"/>
          <p:cNvSpPr txBox="1"/>
          <p:nvPr>
            <p:ph type="body" idx="1"/>
          </p:nvPr>
        </p:nvSpPr>
        <p:spPr>
          <a:xfrm>
            <a:off x="623888" y="3442097"/>
            <a:ext cx="7886700" cy="11251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 sz="15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26" name="Shape 61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7" name="Shape 62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8" name="Shape 63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matchingName="两栏内容">
  <p:cSld name="TWO_OBJECTS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Shape 9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1" name="Shape 10"/>
          <p:cNvSpPr txBox="1"/>
          <p:nvPr>
            <p:ph type="body" idx="1"/>
          </p:nvPr>
        </p:nvSpPr>
        <p:spPr>
          <a:xfrm>
            <a:off x="628650" y="1369219"/>
            <a:ext cx="38862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32" name="Shape 11"/>
          <p:cNvSpPr txBox="1"/>
          <p:nvPr>
            <p:ph type="body" idx="2"/>
          </p:nvPr>
        </p:nvSpPr>
        <p:spPr>
          <a:xfrm>
            <a:off x="4629150" y="1369219"/>
            <a:ext cx="38862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33" name="Shape 12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4" name="Shape 13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5" name="Shape 14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matchingName="比较">
  <p:cSld name="TWO_OBJECTS_WITH_TEXT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Shape 35"/>
          <p:cNvSpPr txBox="1"/>
          <p:nvPr>
            <p:ph type="title"/>
          </p:nvPr>
        </p:nvSpPr>
        <p:spPr>
          <a:xfrm>
            <a:off x="629841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8" name="Shape 36"/>
          <p:cNvSpPr txBox="1"/>
          <p:nvPr>
            <p:ph type="body" idx="1"/>
          </p:nvPr>
        </p:nvSpPr>
        <p:spPr>
          <a:xfrm>
            <a:off x="629841" y="1260872"/>
            <a:ext cx="3868340" cy="6179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 b="1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1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9pPr>
          </a:lstStyle>
          <a:p/>
        </p:txBody>
      </p:sp>
      <p:sp>
        <p:nvSpPr>
          <p:cNvPr id="39" name="Shape 37"/>
          <p:cNvSpPr txBox="1"/>
          <p:nvPr>
            <p:ph type="body" idx="2"/>
          </p:nvPr>
        </p:nvSpPr>
        <p:spPr>
          <a:xfrm>
            <a:off x="629841" y="1878806"/>
            <a:ext cx="3868340" cy="27634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40" name="Shape 38"/>
          <p:cNvSpPr txBox="1"/>
          <p:nvPr>
            <p:ph type="body" idx="3"/>
          </p:nvPr>
        </p:nvSpPr>
        <p:spPr>
          <a:xfrm>
            <a:off x="4629150" y="1260872"/>
            <a:ext cx="3887391" cy="6179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 b="1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1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9pPr>
          </a:lstStyle>
          <a:p/>
        </p:txBody>
      </p:sp>
      <p:sp>
        <p:nvSpPr>
          <p:cNvPr id="41" name="Shape 39"/>
          <p:cNvSpPr txBox="1"/>
          <p:nvPr>
            <p:ph type="body" idx="4"/>
          </p:nvPr>
        </p:nvSpPr>
        <p:spPr>
          <a:xfrm>
            <a:off x="4629150" y="1878806"/>
            <a:ext cx="3887391" cy="27634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42" name="Shape 40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3" name="Shape 41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4" name="Shape 42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matchingName="仅标题">
  <p:cSld name="TITLE_ONLY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Shape 20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7" name="Shape 21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8" name="Shape 22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9" name="Shape 23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matchingName="空白">
  <p:cSld name="BLANK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Shape 6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2" name="Shape 7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3" name="Shape 8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matchingName="内容与标题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Shape 43"/>
          <p:cNvSpPr txBox="1"/>
          <p:nvPr>
            <p:ph type="title"/>
          </p:nvPr>
        </p:nvSpPr>
        <p:spPr>
          <a:xfrm>
            <a:off x="629841" y="342900"/>
            <a:ext cx="2949178" cy="12001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90204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6" name="Shape 44"/>
          <p:cNvSpPr txBox="1"/>
          <p:nvPr>
            <p:ph type="body" idx="1"/>
          </p:nvPr>
        </p:nvSpPr>
        <p:spPr>
          <a:xfrm>
            <a:off x="3887391" y="740569"/>
            <a:ext cx="4629150" cy="36552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810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619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  <a:defRPr sz="2100"/>
            </a:lvl2pPr>
            <a:lvl3pPr marL="1371600" lvl="2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4pPr>
            <a:lvl5pPr marL="2286000" lvl="4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5pPr>
            <a:lvl6pPr marL="2743200" lvl="5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6pPr>
            <a:lvl7pPr marL="3200400" lvl="6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7pPr>
            <a:lvl8pPr marL="3657600" lvl="7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8pPr>
            <a:lvl9pPr marL="4114800" lvl="8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9pPr>
          </a:lstStyle>
          <a:p/>
        </p:txBody>
      </p:sp>
      <p:sp>
        <p:nvSpPr>
          <p:cNvPr id="57" name="Shape 45"/>
          <p:cNvSpPr txBox="1"/>
          <p:nvPr>
            <p:ph type="body" idx="2"/>
          </p:nvPr>
        </p:nvSpPr>
        <p:spPr>
          <a:xfrm>
            <a:off x="629841" y="1543050"/>
            <a:ext cx="2949178" cy="28586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/>
        </p:txBody>
      </p:sp>
      <p:sp>
        <p:nvSpPr>
          <p:cNvPr id="58" name="Shape 46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9" name="Shape 47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0" name="Shape 48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matchingName="图片与标题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Shape 24"/>
          <p:cNvSpPr txBox="1"/>
          <p:nvPr>
            <p:ph type="title"/>
          </p:nvPr>
        </p:nvSpPr>
        <p:spPr>
          <a:xfrm>
            <a:off x="629841" y="342900"/>
            <a:ext cx="2949178" cy="12001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90204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3" name="Shape 25"/>
          <p:cNvSpPr/>
          <p:nvPr>
            <p:ph type="pic" idx="2"/>
          </p:nvPr>
        </p:nvSpPr>
        <p:spPr>
          <a:xfrm>
            <a:off x="3887391" y="740569"/>
            <a:ext cx="4629150" cy="3655219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Shape 26"/>
          <p:cNvSpPr txBox="1"/>
          <p:nvPr>
            <p:ph type="body" idx="1"/>
          </p:nvPr>
        </p:nvSpPr>
        <p:spPr>
          <a:xfrm>
            <a:off x="629841" y="1543050"/>
            <a:ext cx="2949178" cy="28586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/>
        </p:txBody>
      </p:sp>
      <p:sp>
        <p:nvSpPr>
          <p:cNvPr id="65" name="Shape 27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6" name="Shape 28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7" name="Shape 29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matchingName="标题和竖排文字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Shape 49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0" name="Shape 50"/>
          <p:cNvSpPr txBox="1"/>
          <p:nvPr>
            <p:ph type="body" idx="1"/>
          </p:nvPr>
        </p:nvSpPr>
        <p:spPr>
          <a:xfrm rot="5400000">
            <a:off x="2940248" y="-942379"/>
            <a:ext cx="3263504" cy="788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71" name="Shape 51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2" name="Shape 52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3" name="Shape 53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matchingName="竖排标题与文本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Shape 15"/>
          <p:cNvSpPr txBox="1"/>
          <p:nvPr>
            <p:ph type="title"/>
          </p:nvPr>
        </p:nvSpPr>
        <p:spPr>
          <a:xfrm rot="5400000">
            <a:off x="5350073" y="1467445"/>
            <a:ext cx="4358879" cy="19716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6" name="Shape 16"/>
          <p:cNvSpPr txBox="1"/>
          <p:nvPr>
            <p:ph type="body" idx="1"/>
          </p:nvPr>
        </p:nvSpPr>
        <p:spPr>
          <a:xfrm rot="5400000">
            <a:off x="1349573" y="-447080"/>
            <a:ext cx="4358879" cy="58007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77" name="Shape 17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8" name="Shape 18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9" name="Shape 19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2" Type="http://schemas.openxmlformats.org/officeDocument/2006/relationships/theme" Target="../theme/theme2.xml"/><Relationship Id="rId1" Type="http://schemas.openxmlformats.org/officeDocument/2006/relationships/slideLayout" Target="../slideLayouts/slideLayout12.xml"/></Relationships>
</file>

<file path=ppt/slideMasters/_rels/slideMaster3.xml.rels><?xml version="1.0" encoding="UTF-8" standalone="yes"?>
<Relationships xmlns="http://schemas.openxmlformats.org/package/2006/relationships"><Relationship Id="rId2" Type="http://schemas.openxmlformats.org/officeDocument/2006/relationships/theme" Target="../theme/theme3.xml"/><Relationship Id="rId1" Type="http://schemas.openxmlformats.org/officeDocument/2006/relationships/slideLayout" Target="../slideLayouts/slideLayout13.xml"/></Relationships>
</file>

<file path=ppt/slideMasters/_rels/slideMaster4.xml.rels><?xml version="1.0" encoding="UTF-8" standalone="yes"?>
<Relationships xmlns="http://schemas.openxmlformats.org/package/2006/relationships"><Relationship Id="rId2" Type="http://schemas.openxmlformats.org/officeDocument/2006/relationships/theme" Target="../theme/theme4.xml"/><Relationship Id="rId1" Type="http://schemas.openxmlformats.org/officeDocument/2006/relationships/slideLayout" Target="../slideLayouts/slideLayout14.xml"/></Relationships>
</file>

<file path=ppt/slideMasters/_rels/slideMaster5.xml.rels><?xml version="1.0" encoding="UTF-8" standalone="yes"?>
<Relationships xmlns="http://schemas.openxmlformats.org/package/2006/relationships"><Relationship Id="rId2" Type="http://schemas.openxmlformats.org/officeDocument/2006/relationships/theme" Target="../theme/theme5.xml"/><Relationship Id="rId1" Type="http://schemas.openxmlformats.org/officeDocument/2006/relationships/slideLayout" Target="../slideLayouts/slideLayout15.xml"/></Relationships>
</file>

<file path=ppt/slideMasters/_rels/slideMaster6.xml.rels><?xml version="1.0" encoding="UTF-8" standalone="yes"?>
<Relationships xmlns="http://schemas.openxmlformats.org/package/2006/relationships"><Relationship Id="rId2" Type="http://schemas.openxmlformats.org/officeDocument/2006/relationships/theme" Target="../theme/theme6.xml"/><Relationship Id="rId1" Type="http://schemas.openxmlformats.org/officeDocument/2006/relationships/slideLayout" Target="../slideLayouts/slideLayout16.xml"/></Relationships>
</file>

<file path=ppt/slideMasters/_rels/slideMaster7.xml.rels><?xml version="1.0" encoding="UTF-8" standalone="yes"?>
<Relationships xmlns="http://schemas.openxmlformats.org/package/2006/relationships"><Relationship Id="rId2" Type="http://schemas.openxmlformats.org/officeDocument/2006/relationships/theme" Target="../theme/theme7.xml"/><Relationship Id="rId1" Type="http://schemas.openxmlformats.org/officeDocument/2006/relationships/slideLayout" Target="../slideLayouts/slideLayout17.xml"/></Relationships>
</file>

<file path=ppt/slideMasters/_rels/slideMaster8.xml.rels><?xml version="1.0" encoding="UTF-8" standalone="yes"?>
<Relationships xmlns="http://schemas.openxmlformats.org/package/2006/relationships"><Relationship Id="rId2" Type="http://schemas.openxmlformats.org/officeDocument/2006/relationships/theme" Target="../theme/theme8.xml"/><Relationship Id="rId1" Type="http://schemas.openxmlformats.org/officeDocument/2006/relationships/slideLayout" Target="../slideLayouts/slideLayout18.xml"/></Relationships>
</file>

<file path=ppt/slideMasters/_rels/slideMaster9.xml.rels><?xml version="1.0" encoding="UTF-8" standalone="yes"?>
<Relationships xmlns="http://schemas.openxmlformats.org/package/2006/relationships"><Relationship Id="rId2" Type="http://schemas.openxmlformats.org/officeDocument/2006/relationships/theme" Target="../theme/theme9.xml"/><Relationship Id="rId1" Type="http://schemas.openxmlformats.org/officeDocument/2006/relationships/slideLayout" Target="../slideLayouts/slideLayout19.xml"/></Relationships>
</file>

<file path=ppt/slideMasters/_rels/slideMaster10.xml.rels><?xml version="1.0" encoding="UTF-8" standalone="yes"?>
<Relationships xmlns="http://schemas.openxmlformats.org/package/2006/relationships"><Relationship Id="rId2" Type="http://schemas.openxmlformats.org/officeDocument/2006/relationships/theme" Target="../theme/theme10.xml"/><Relationship Id="rId1" Type="http://schemas.openxmlformats.org/officeDocument/2006/relationships/slideLayout" Target="../slideLayouts/slideLayout20.xml"/></Relationships>
</file>

<file path=ppt/slideMasters/_rels/slideMaster1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1.xml"/><Relationship Id="rId1" Type="http://schemas.openxmlformats.org/officeDocument/2006/relationships/slideLayout" Target="../slideLayouts/slideLayout2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hape 1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Arial" panose="020B0604020202090204"/>
              <a:buNone/>
              <a:defRPr sz="3300" b="0" i="0" u="none" strike="noStrike" cap="none">
                <a:solidFill>
                  <a:schemeClr val="dk1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9pPr>
          </a:lstStyle>
          <a:p/>
        </p:txBody>
      </p:sp>
      <p:sp>
        <p:nvSpPr>
          <p:cNvPr id="7" name="Shape 2"/>
          <p:cNvSpPr txBox="1"/>
          <p:nvPr>
            <p:ph type="body"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marR="0" lvl="0" indent="-36195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 panose="020B0604020202090204"/>
              <a:buChar char="•"/>
              <a:defRPr sz="2100" b="0" i="0" u="none" strike="noStrike" cap="none">
                <a:solidFill>
                  <a:schemeClr val="dk1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90204"/>
              <a:buChar char="•"/>
              <a:defRPr sz="1800" b="0" i="0" u="none" strike="noStrike" cap="none">
                <a:solidFill>
                  <a:schemeClr val="dk1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 panose="020B0604020202090204"/>
              <a:buChar char="•"/>
              <a:defRPr sz="1500" b="0" i="0" u="none" strike="noStrike" cap="none">
                <a:solidFill>
                  <a:schemeClr val="dk1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3pPr>
            <a:lvl4pPr marL="1828800" marR="0" lvl="3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90204"/>
              <a:buChar char="•"/>
              <a:defRPr sz="1400" b="0" i="0" u="none" strike="noStrike" cap="none">
                <a:solidFill>
                  <a:schemeClr val="dk1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4pPr>
            <a:lvl5pPr marL="2286000" marR="0" lvl="4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90204"/>
              <a:buChar char="•"/>
              <a:defRPr sz="1400" b="0" i="0" u="none" strike="noStrike" cap="none">
                <a:solidFill>
                  <a:schemeClr val="dk1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5pPr>
            <a:lvl6pPr marL="2743200" marR="0" lvl="5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90204"/>
              <a:buChar char="•"/>
              <a:defRPr sz="1400" b="0" i="0" u="none" strike="noStrike" cap="none">
                <a:solidFill>
                  <a:schemeClr val="dk1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6pPr>
            <a:lvl7pPr marL="3200400" marR="0" lvl="6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90204"/>
              <a:buChar char="•"/>
              <a:defRPr sz="1400" b="0" i="0" u="none" strike="noStrike" cap="none">
                <a:solidFill>
                  <a:schemeClr val="dk1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7pPr>
            <a:lvl8pPr marL="3657600" marR="0" lvl="7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90204"/>
              <a:buChar char="•"/>
              <a:defRPr sz="1400" b="0" i="0" u="none" strike="noStrike" cap="none">
                <a:solidFill>
                  <a:schemeClr val="dk1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8pPr>
            <a:lvl9pPr marL="4114800" marR="0" lvl="8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90204"/>
              <a:buChar char="•"/>
              <a:defRPr sz="1400" b="0" i="0" u="none" strike="noStrike" cap="none">
                <a:solidFill>
                  <a:schemeClr val="dk1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9pPr>
          </a:lstStyle>
          <a:p/>
        </p:txBody>
      </p:sp>
      <p:sp>
        <p:nvSpPr>
          <p:cNvPr id="8" name="Shape 3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9pPr>
          </a:lstStyle>
          <a:p/>
        </p:txBody>
      </p:sp>
      <p:sp>
        <p:nvSpPr>
          <p:cNvPr id="9" name="Shape 4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100"/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9pPr>
          </a:lstStyle>
          <a:p/>
        </p:txBody>
      </p:sp>
      <p:sp>
        <p:nvSpPr>
          <p:cNvPr id="10" name="Shape 5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1pPr>
            <a:lvl2pPr marL="0" marR="0" lvl="1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2pPr>
            <a:lvl3pPr marL="0" marR="0" lvl="2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3pPr>
            <a:lvl4pPr marL="0" marR="0" lvl="3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4pPr>
            <a:lvl5pPr marL="0" marR="0" lvl="4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5pPr>
            <a:lvl6pPr marL="0" marR="0" lvl="5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6pPr>
            <a:lvl7pPr marL="0" marR="0" lvl="6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7pPr>
            <a:lvl8pPr marL="0" marR="0" lvl="7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8pPr>
            <a:lvl9pPr marL="0" marR="0" lvl="8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id="2147483661" r:id="rId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id="2147483663" r:id="rId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id="2147483665" r:id="rId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id="2147483667" r:id="rId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9pPr>
    </p:otherStyle>
  </p:txStyles>
</p:sldMaster>
</file>

<file path=ppt/slideMasters/slideMaster6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id="2147483669" r:id="rId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9pPr>
    </p:otherStyle>
  </p:txStyles>
</p:sldMaster>
</file>

<file path=ppt/slideMasters/slideMaster7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id="2147483671" r:id="rId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9pPr>
    </p:otherStyle>
  </p:txStyles>
</p:sldMaster>
</file>

<file path=ppt/slideMasters/slideMaster8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id="2147483673" r:id="rId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9pPr>
    </p:otherStyle>
  </p:txStyles>
</p:sldMaster>
</file>

<file path=ppt/slideMasters/slideMaster9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id="2147483675" r:id="rId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9pPr>
    </p:otherStyle>
  </p:txStyles>
</p:sldMaster>
</file>

<file path=ppt/slideMasters/slideMaster10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id="2147483677" r:id="rId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9pPr>
    </p:otherStyle>
  </p:txStyles>
</p:sldMaster>
</file>

<file path=ppt/slideMasters/slideMaster1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id="2147483679" r:id="rId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1.xml"/><Relationship Id="rId4" Type="http://schemas.openxmlformats.org/officeDocument/2006/relationships/slideLayout" Target="../slideLayouts/slideLayout12.xml"/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image" Target="../media/image1.jpeg"/></Relationships>
</file>

<file path=ppt/slides/_rels/slide2.xml.rels><?xml version="1.0" encoding="UTF-8" standalone="yes"?>
<Relationships xmlns="http://schemas.openxmlformats.org/package/2006/relationships"><Relationship Id="rId9" Type="http://schemas.openxmlformats.org/officeDocument/2006/relationships/tags" Target="../tags/tag6.xml"/><Relationship Id="rId8" Type="http://schemas.openxmlformats.org/officeDocument/2006/relationships/tags" Target="../tags/tag5.xml"/><Relationship Id="rId7" Type="http://schemas.openxmlformats.org/officeDocument/2006/relationships/tags" Target="../tags/tag4.xml"/><Relationship Id="rId6" Type="http://schemas.openxmlformats.org/officeDocument/2006/relationships/tags" Target="../tags/tag3.xml"/><Relationship Id="rId5" Type="http://schemas.openxmlformats.org/officeDocument/2006/relationships/image" Target="../media/image5.svg"/><Relationship Id="rId4" Type="http://schemas.openxmlformats.org/officeDocument/2006/relationships/image" Target="../media/image4.png"/><Relationship Id="rId39" Type="http://schemas.openxmlformats.org/officeDocument/2006/relationships/notesSlide" Target="../notesSlides/notesSlide2.xml"/><Relationship Id="rId38" Type="http://schemas.openxmlformats.org/officeDocument/2006/relationships/slideLayout" Target="../slideLayouts/slideLayout12.xml"/><Relationship Id="rId37" Type="http://schemas.openxmlformats.org/officeDocument/2006/relationships/tags" Target="../tags/tag24.xml"/><Relationship Id="rId36" Type="http://schemas.openxmlformats.org/officeDocument/2006/relationships/tags" Target="../tags/tag23.xml"/><Relationship Id="rId35" Type="http://schemas.openxmlformats.org/officeDocument/2006/relationships/image" Target="../media/image15.svg"/><Relationship Id="rId34" Type="http://schemas.openxmlformats.org/officeDocument/2006/relationships/image" Target="../media/image14.png"/><Relationship Id="rId33" Type="http://schemas.openxmlformats.org/officeDocument/2006/relationships/tags" Target="../tags/tag22.xml"/><Relationship Id="rId32" Type="http://schemas.openxmlformats.org/officeDocument/2006/relationships/tags" Target="../tags/tag21.xml"/><Relationship Id="rId31" Type="http://schemas.openxmlformats.org/officeDocument/2006/relationships/tags" Target="../tags/tag20.xml"/><Relationship Id="rId30" Type="http://schemas.openxmlformats.org/officeDocument/2006/relationships/tags" Target="../tags/tag19.xml"/><Relationship Id="rId3" Type="http://schemas.openxmlformats.org/officeDocument/2006/relationships/tags" Target="../tags/tag2.xml"/><Relationship Id="rId29" Type="http://schemas.openxmlformats.org/officeDocument/2006/relationships/image" Target="../media/image13.svg"/><Relationship Id="rId28" Type="http://schemas.openxmlformats.org/officeDocument/2006/relationships/image" Target="../media/image12.png"/><Relationship Id="rId27" Type="http://schemas.openxmlformats.org/officeDocument/2006/relationships/tags" Target="../tags/tag18.xml"/><Relationship Id="rId26" Type="http://schemas.openxmlformats.org/officeDocument/2006/relationships/tags" Target="../tags/tag17.xml"/><Relationship Id="rId25" Type="http://schemas.openxmlformats.org/officeDocument/2006/relationships/tags" Target="../tags/tag16.xml"/><Relationship Id="rId24" Type="http://schemas.openxmlformats.org/officeDocument/2006/relationships/tags" Target="../tags/tag15.xml"/><Relationship Id="rId23" Type="http://schemas.openxmlformats.org/officeDocument/2006/relationships/image" Target="../media/image11.svg"/><Relationship Id="rId22" Type="http://schemas.openxmlformats.org/officeDocument/2006/relationships/image" Target="../media/image10.png"/><Relationship Id="rId21" Type="http://schemas.openxmlformats.org/officeDocument/2006/relationships/tags" Target="../tags/tag14.xml"/><Relationship Id="rId20" Type="http://schemas.openxmlformats.org/officeDocument/2006/relationships/tags" Target="../tags/tag13.xml"/><Relationship Id="rId2" Type="http://schemas.openxmlformats.org/officeDocument/2006/relationships/tags" Target="../tags/tag1.xml"/><Relationship Id="rId19" Type="http://schemas.openxmlformats.org/officeDocument/2006/relationships/tags" Target="../tags/tag12.xml"/><Relationship Id="rId18" Type="http://schemas.openxmlformats.org/officeDocument/2006/relationships/tags" Target="../tags/tag11.xml"/><Relationship Id="rId17" Type="http://schemas.openxmlformats.org/officeDocument/2006/relationships/image" Target="../media/image9.svg"/><Relationship Id="rId16" Type="http://schemas.openxmlformats.org/officeDocument/2006/relationships/image" Target="../media/image8.png"/><Relationship Id="rId15" Type="http://schemas.openxmlformats.org/officeDocument/2006/relationships/tags" Target="../tags/tag10.xml"/><Relationship Id="rId14" Type="http://schemas.openxmlformats.org/officeDocument/2006/relationships/tags" Target="../tags/tag9.xml"/><Relationship Id="rId13" Type="http://schemas.openxmlformats.org/officeDocument/2006/relationships/tags" Target="../tags/tag8.xml"/><Relationship Id="rId12" Type="http://schemas.openxmlformats.org/officeDocument/2006/relationships/tags" Target="../tags/tag7.xml"/><Relationship Id="rId11" Type="http://schemas.openxmlformats.org/officeDocument/2006/relationships/image" Target="../media/image7.svg"/><Relationship Id="rId10" Type="http://schemas.openxmlformats.org/officeDocument/2006/relationships/image" Target="../media/image6.png"/><Relationship Id="rId1" Type="http://schemas.openxmlformats.org/officeDocument/2006/relationships/image" Target="../media/image1.jpeg"/></Relationships>
</file>

<file path=ppt/slides/_rels/slide3.xml.rels><?xml version="1.0" encoding="UTF-8" standalone="yes"?>
<Relationships xmlns="http://schemas.openxmlformats.org/package/2006/relationships"><Relationship Id="rId9" Type="http://schemas.openxmlformats.org/officeDocument/2006/relationships/image" Target="../media/image22.svg"/><Relationship Id="rId8" Type="http://schemas.openxmlformats.org/officeDocument/2006/relationships/image" Target="../media/image21.png"/><Relationship Id="rId7" Type="http://schemas.openxmlformats.org/officeDocument/2006/relationships/image" Target="../media/image20.svg"/><Relationship Id="rId6" Type="http://schemas.openxmlformats.org/officeDocument/2006/relationships/image" Target="../media/image19.png"/><Relationship Id="rId5" Type="http://schemas.openxmlformats.org/officeDocument/2006/relationships/image" Target="../media/image18.svg"/><Relationship Id="rId4" Type="http://schemas.openxmlformats.org/officeDocument/2006/relationships/image" Target="../media/image17.png"/><Relationship Id="rId3" Type="http://schemas.openxmlformats.org/officeDocument/2006/relationships/image" Target="../media/image3.svg"/><Relationship Id="rId2" Type="http://schemas.openxmlformats.org/officeDocument/2006/relationships/image" Target="../media/image16.png"/><Relationship Id="rId15" Type="http://schemas.openxmlformats.org/officeDocument/2006/relationships/notesSlide" Target="../notesSlides/notesSlide3.xml"/><Relationship Id="rId14" Type="http://schemas.openxmlformats.org/officeDocument/2006/relationships/slideLayout" Target="../slideLayouts/slideLayout12.xml"/><Relationship Id="rId13" Type="http://schemas.openxmlformats.org/officeDocument/2006/relationships/image" Target="../media/image26.svg"/><Relationship Id="rId12" Type="http://schemas.openxmlformats.org/officeDocument/2006/relationships/image" Target="../media/image25.png"/><Relationship Id="rId11" Type="http://schemas.openxmlformats.org/officeDocument/2006/relationships/image" Target="../media/image24.svg"/><Relationship Id="rId10" Type="http://schemas.openxmlformats.org/officeDocument/2006/relationships/image" Target="../media/image23.png"/><Relationship Id="rId1" Type="http://schemas.openxmlformats.org/officeDocument/2006/relationships/image" Target="../media/image1.jpeg"/></Relationships>
</file>

<file path=ppt/slides/_rels/slide4.xml.rels><?xml version="1.0" encoding="UTF-8" standalone="yes"?>
<Relationships xmlns="http://schemas.openxmlformats.org/package/2006/relationships"><Relationship Id="rId9" Type="http://schemas.openxmlformats.org/officeDocument/2006/relationships/tags" Target="../tags/tag30.xml"/><Relationship Id="rId8" Type="http://schemas.openxmlformats.org/officeDocument/2006/relationships/tags" Target="../tags/tag29.xml"/><Relationship Id="rId7" Type="http://schemas.openxmlformats.org/officeDocument/2006/relationships/tags" Target="../tags/tag28.xml"/><Relationship Id="rId6" Type="http://schemas.openxmlformats.org/officeDocument/2006/relationships/tags" Target="../tags/tag27.xml"/><Relationship Id="rId5" Type="http://schemas.openxmlformats.org/officeDocument/2006/relationships/image" Target="../media/image28.svg"/><Relationship Id="rId4" Type="http://schemas.openxmlformats.org/officeDocument/2006/relationships/image" Target="../media/image27.png"/><Relationship Id="rId3" Type="http://schemas.openxmlformats.org/officeDocument/2006/relationships/tags" Target="../tags/tag26.xml"/><Relationship Id="rId26" Type="http://schemas.openxmlformats.org/officeDocument/2006/relationships/notesSlide" Target="../notesSlides/notesSlide4.xml"/><Relationship Id="rId25" Type="http://schemas.openxmlformats.org/officeDocument/2006/relationships/slideLayout" Target="../slideLayouts/slideLayout12.xml"/><Relationship Id="rId24" Type="http://schemas.openxmlformats.org/officeDocument/2006/relationships/image" Target="../media/image34.svg"/><Relationship Id="rId23" Type="http://schemas.openxmlformats.org/officeDocument/2006/relationships/image" Target="../media/image33.png"/><Relationship Id="rId22" Type="http://schemas.openxmlformats.org/officeDocument/2006/relationships/tags" Target="../tags/tag39.xml"/><Relationship Id="rId21" Type="http://schemas.openxmlformats.org/officeDocument/2006/relationships/tags" Target="../tags/tag38.xml"/><Relationship Id="rId20" Type="http://schemas.openxmlformats.org/officeDocument/2006/relationships/tags" Target="../tags/tag37.xml"/><Relationship Id="rId2" Type="http://schemas.openxmlformats.org/officeDocument/2006/relationships/tags" Target="../tags/tag25.xml"/><Relationship Id="rId19" Type="http://schemas.openxmlformats.org/officeDocument/2006/relationships/image" Target="../media/image32.svg"/><Relationship Id="rId18" Type="http://schemas.openxmlformats.org/officeDocument/2006/relationships/image" Target="../media/image31.png"/><Relationship Id="rId17" Type="http://schemas.openxmlformats.org/officeDocument/2006/relationships/tags" Target="../tags/tag36.xml"/><Relationship Id="rId16" Type="http://schemas.openxmlformats.org/officeDocument/2006/relationships/tags" Target="../tags/tag35.xml"/><Relationship Id="rId15" Type="http://schemas.openxmlformats.org/officeDocument/2006/relationships/tags" Target="../tags/tag34.xml"/><Relationship Id="rId14" Type="http://schemas.openxmlformats.org/officeDocument/2006/relationships/tags" Target="../tags/tag33.xml"/><Relationship Id="rId13" Type="http://schemas.openxmlformats.org/officeDocument/2006/relationships/tags" Target="../tags/tag32.xml"/><Relationship Id="rId12" Type="http://schemas.openxmlformats.org/officeDocument/2006/relationships/image" Target="../media/image30.svg"/><Relationship Id="rId11" Type="http://schemas.openxmlformats.org/officeDocument/2006/relationships/image" Target="../media/image29.png"/><Relationship Id="rId10" Type="http://schemas.openxmlformats.org/officeDocument/2006/relationships/tags" Target="../tags/tag31.xml"/><Relationship Id="rId1" Type="http://schemas.openxmlformats.org/officeDocument/2006/relationships/image" Target="../media/image1.jpe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2.xml"/><Relationship Id="rId1" Type="http://schemas.openxmlformats.org/officeDocument/2006/relationships/image" Target="../media/image35.png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9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0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1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5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5.xml"/><Relationship Id="rId4" Type="http://schemas.openxmlformats.org/officeDocument/2006/relationships/slideLayout" Target="../slideLayouts/slideLayout13.xml"/><Relationship Id="rId3" Type="http://schemas.openxmlformats.org/officeDocument/2006/relationships/image" Target="../media/image36.svg"/><Relationship Id="rId2" Type="http://schemas.openxmlformats.org/officeDocument/2006/relationships/image" Target="../media/image33.png"/><Relationship Id="rId1" Type="http://schemas.openxmlformats.org/officeDocument/2006/relationships/image" Target="../media/image1.jpeg"/></Relationships>
</file>

<file path=ppt/slides/_rels/slide16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6.xml"/><Relationship Id="rId4" Type="http://schemas.openxmlformats.org/officeDocument/2006/relationships/slideLayout" Target="../slideLayouts/slideLayout15.xml"/><Relationship Id="rId3" Type="http://schemas.openxmlformats.org/officeDocument/2006/relationships/image" Target="../media/image37.svg"/><Relationship Id="rId2" Type="http://schemas.openxmlformats.org/officeDocument/2006/relationships/image" Target="../media/image33.png"/><Relationship Id="rId1" Type="http://schemas.openxmlformats.org/officeDocument/2006/relationships/image" Target="../media/image1.jpeg"/></Relationships>
</file>

<file path=ppt/slides/_rels/slide17.xml.rels><?xml version="1.0" encoding="UTF-8" standalone="yes"?>
<Relationships xmlns="http://schemas.openxmlformats.org/package/2006/relationships"><Relationship Id="rId9" Type="http://schemas.openxmlformats.org/officeDocument/2006/relationships/notesSlide" Target="../notesSlides/notesSlide7.xml"/><Relationship Id="rId8" Type="http://schemas.openxmlformats.org/officeDocument/2006/relationships/slideLayout" Target="../slideLayouts/slideLayout12.xml"/><Relationship Id="rId7" Type="http://schemas.openxmlformats.org/officeDocument/2006/relationships/image" Target="../media/image32.svg"/><Relationship Id="rId6" Type="http://schemas.openxmlformats.org/officeDocument/2006/relationships/image" Target="../media/image31.png"/><Relationship Id="rId5" Type="http://schemas.openxmlformats.org/officeDocument/2006/relationships/image" Target="../media/image39.svg"/><Relationship Id="rId4" Type="http://schemas.openxmlformats.org/officeDocument/2006/relationships/image" Target="../media/image38.png"/><Relationship Id="rId3" Type="http://schemas.openxmlformats.org/officeDocument/2006/relationships/image" Target="../media/image28.svg"/><Relationship Id="rId2" Type="http://schemas.openxmlformats.org/officeDocument/2006/relationships/image" Target="../media/image27.png"/><Relationship Id="rId1" Type="http://schemas.openxmlformats.org/officeDocument/2006/relationships/image" Target="../media/image1.jpeg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22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8.xml"/><Relationship Id="rId4" Type="http://schemas.openxmlformats.org/officeDocument/2006/relationships/slideLayout" Target="../slideLayouts/slideLayout16.xml"/><Relationship Id="rId3" Type="http://schemas.openxmlformats.org/officeDocument/2006/relationships/image" Target="../media/image40.svg"/><Relationship Id="rId2" Type="http://schemas.openxmlformats.org/officeDocument/2006/relationships/image" Target="../media/image33.png"/><Relationship Id="rId1" Type="http://schemas.openxmlformats.org/officeDocument/2006/relationships/image" Target="../media/image1.jpeg"/></Relationships>
</file>

<file path=ppt/slides/_rels/slide23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9.xml"/><Relationship Id="rId5" Type="http://schemas.openxmlformats.org/officeDocument/2006/relationships/slideLayout" Target="../slideLayouts/slideLayout12.xml"/><Relationship Id="rId4" Type="http://schemas.openxmlformats.org/officeDocument/2006/relationships/image" Target="../media/image43.png"/><Relationship Id="rId3" Type="http://schemas.openxmlformats.org/officeDocument/2006/relationships/image" Target="../media/image42.svg"/><Relationship Id="rId2" Type="http://schemas.openxmlformats.org/officeDocument/2006/relationships/image" Target="../media/image41.png"/><Relationship Id="rId1" Type="http://schemas.openxmlformats.org/officeDocument/2006/relationships/image" Target="../media/image1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3366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3" name="AutoShape 3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003366">
              <a:alpha val="8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4" name="AutoShape 4"/>
          <p:cNvSpPr/>
          <p:nvPr/>
        </p:nvSpPr>
        <p:spPr>
          <a:xfrm>
            <a:off x="577215" y="1701800"/>
            <a:ext cx="11412855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54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大数据分析算法实验课方案</a:t>
            </a:r>
            <a:endParaRPr lang="en-US" sz="5400" b="1" i="0" u="none" strike="noStrike">
              <a:solidFill>
                <a:srgbClr val="FFFFFF"/>
              </a:solidFill>
              <a:latin typeface="Noto Sans SC"/>
              <a:ea typeface="Noto Sans SC"/>
              <a:cs typeface="Noto Sans SC"/>
              <a:sym typeface="Noto Sans SC"/>
            </a:endParaRPr>
          </a:p>
        </p:txBody>
      </p:sp>
      <p:sp>
        <p:nvSpPr>
          <p:cNvPr id="5" name="AutoShape 5"/>
          <p:cNvSpPr/>
          <p:nvPr/>
        </p:nvSpPr>
        <p:spPr>
          <a:xfrm>
            <a:off x="577215" y="2527300"/>
            <a:ext cx="11412855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3600" b="0" i="0" u="none" strike="noStrike">
                <a:solidFill>
                  <a:srgbClr val="4A90E2"/>
                </a:solidFill>
                <a:latin typeface="Noto Sans SC"/>
                <a:ea typeface="Noto Sans SC"/>
                <a:cs typeface="Noto Sans SC"/>
                <a:sym typeface="Noto Sans SC"/>
              </a:rPr>
              <a:t>第七、八周实验设计</a:t>
            </a:r>
            <a:endParaRPr lang="en-US" sz="3600" b="0" i="0" u="none" strike="noStrike">
              <a:solidFill>
                <a:srgbClr val="4A90E2"/>
              </a:solidFill>
              <a:latin typeface="Noto Sans SC"/>
              <a:ea typeface="Noto Sans SC"/>
              <a:cs typeface="Noto Sans SC"/>
              <a:sym typeface="Noto Sans SC"/>
            </a:endParaRPr>
          </a:p>
        </p:txBody>
      </p:sp>
      <p:cxnSp>
        <p:nvCxnSpPr>
          <p:cNvPr id="6" name="Connector 6"/>
          <p:cNvCxnSpPr/>
          <p:nvPr/>
        </p:nvCxnSpPr>
        <p:spPr>
          <a:xfrm rot="-34376">
            <a:off x="5461032" y="3486150"/>
            <a:ext cx="1270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F5F7FA">
                <a:alpha val="5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7" name="Picture 7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441700" y="3749040"/>
            <a:ext cx="441960" cy="441960"/>
          </a:xfrm>
          <a:prstGeom prst="rect">
            <a:avLst/>
          </a:prstGeom>
        </p:spPr>
      </p:pic>
      <p:sp>
        <p:nvSpPr>
          <p:cNvPr id="8" name="AutoShape 8"/>
          <p:cNvSpPr/>
          <p:nvPr/>
        </p:nvSpPr>
        <p:spPr>
          <a:xfrm>
            <a:off x="3957955" y="3810000"/>
            <a:ext cx="570611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800" b="0" i="0" u="none" strike="noStrike">
                <a:solidFill>
                  <a:srgbClr val="F5F7FA"/>
                </a:solidFill>
                <a:latin typeface="Noto Sans SC"/>
                <a:ea typeface="Noto Sans SC"/>
                <a:cs typeface="Noto Sans SC"/>
                <a:sym typeface="Noto Sans SC"/>
              </a:rPr>
              <a:t>课程名称：大数据分析算法（双语）</a:t>
            </a:r>
            <a:endParaRPr lang="en-US" sz="2800" b="0" i="0" u="none" strike="noStrike">
              <a:solidFill>
                <a:srgbClr val="F5F7FA"/>
              </a:solidFill>
              <a:latin typeface="Noto Sans SC"/>
              <a:ea typeface="Noto Sans SC"/>
              <a:cs typeface="Noto Sans SC"/>
              <a:sym typeface="Noto Sans SC"/>
            </a:endParaRPr>
          </a:p>
        </p:txBody>
      </p:sp>
      <p:sp>
        <p:nvSpPr>
          <p:cNvPr id="10" name="AutoShape 10"/>
          <p:cNvSpPr/>
          <p:nvPr/>
        </p:nvSpPr>
        <p:spPr>
          <a:xfrm>
            <a:off x="3957955" y="4254500"/>
            <a:ext cx="570611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endParaRPr lang="zh-CN" altLang="en-US" sz="2800" b="0" i="0" u="none" strike="noStrike">
              <a:solidFill>
                <a:srgbClr val="F5F7FA"/>
              </a:solidFill>
              <a:latin typeface="Noto Sans SC"/>
              <a:ea typeface="Noto Sans SC"/>
              <a:cs typeface="Noto Sans SC"/>
              <a:sym typeface="Noto Sans SC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3366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3" name="AutoShape 3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001428">
              <a:alpha val="8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4" name="AutoShape 4"/>
          <p:cNvSpPr/>
          <p:nvPr/>
        </p:nvSpPr>
        <p:spPr>
          <a:xfrm>
            <a:off x="762000" y="635000"/>
            <a:ext cx="10668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36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目录</a:t>
            </a:r>
            <a:endParaRPr lang="en-US" sz="1100"/>
          </a:p>
        </p:txBody>
      </p:sp>
      <p:cxnSp>
        <p:nvCxnSpPr>
          <p:cNvPr id="5" name="Connector 5"/>
          <p:cNvCxnSpPr/>
          <p:nvPr/>
        </p:nvCxnSpPr>
        <p:spPr>
          <a:xfrm rot="-57290">
            <a:off x="762053" y="1390650"/>
            <a:ext cx="762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50800" cap="flat" cmpd="sng">
            <a:solidFill>
              <a:srgbClr val="4A90E2">
                <a:alpha val="100000"/>
              </a:srgbClr>
            </a:solidFill>
            <a:prstDash val="solid"/>
            <a:round/>
            <a:headEnd type="none" w="lg" len="lg"/>
            <a:tailEnd type="none" w="lg" len="lg"/>
          </a:ln>
        </p:spPr>
      </p:cxnSp>
      <p:sp>
        <p:nvSpPr>
          <p:cNvPr id="6" name="AutoShape 6"/>
          <p:cNvSpPr/>
          <p:nvPr>
            <p:custDataLst>
              <p:tags r:id="rId2"/>
            </p:custDataLst>
          </p:nvPr>
        </p:nvSpPr>
        <p:spPr>
          <a:xfrm>
            <a:off x="762000" y="1905000"/>
            <a:ext cx="3302000" cy="1778000"/>
          </a:xfrm>
          <a:prstGeom prst="roundRect">
            <a:avLst>
              <a:gd name="adj" fmla="val 7142"/>
            </a:avLst>
          </a:prstGeom>
          <a:solidFill>
            <a:srgbClr val="FFFFFF">
              <a:alpha val="8000"/>
            </a:srgbClr>
          </a:solidFill>
          <a:ln w="12700" cap="flat" cmpd="sng">
            <a:solidFill>
              <a:srgbClr val="4A90E2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 sz="1600"/>
          </a:p>
        </p:txBody>
      </p:sp>
      <p:pic>
        <p:nvPicPr>
          <p:cNvPr id="7" name="Picture 7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016000" y="2159000"/>
            <a:ext cx="406400" cy="406400"/>
          </a:xfrm>
          <a:prstGeom prst="rect">
            <a:avLst/>
          </a:prstGeom>
        </p:spPr>
      </p:pic>
      <p:sp>
        <p:nvSpPr>
          <p:cNvPr id="8" name="AutoShape 8"/>
          <p:cNvSpPr/>
          <p:nvPr>
            <p:custDataLst>
              <p:tags r:id="rId6"/>
            </p:custDataLst>
          </p:nvPr>
        </p:nvSpPr>
        <p:spPr>
          <a:xfrm>
            <a:off x="1016000" y="2667000"/>
            <a:ext cx="2540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F5F7FA"/>
                </a:solidFill>
                <a:latin typeface="Noto Sans SC"/>
                <a:ea typeface="Noto Sans SC"/>
                <a:cs typeface="Noto Sans SC"/>
                <a:sym typeface="Noto Sans SC"/>
              </a:rPr>
              <a:t>01 实验背景</a:t>
            </a:r>
            <a:endParaRPr lang="en-US" sz="2000" b="1" i="0" u="none" strike="noStrike">
              <a:solidFill>
                <a:srgbClr val="F5F7FA"/>
              </a:solidFill>
              <a:latin typeface="Noto Sans SC"/>
              <a:ea typeface="Noto Sans SC"/>
              <a:cs typeface="Noto Sans SC"/>
              <a:sym typeface="Noto Sans SC"/>
            </a:endParaRPr>
          </a:p>
        </p:txBody>
      </p:sp>
      <p:sp>
        <p:nvSpPr>
          <p:cNvPr id="9" name="AutoShape 9"/>
          <p:cNvSpPr/>
          <p:nvPr>
            <p:custDataLst>
              <p:tags r:id="rId7"/>
            </p:custDataLst>
          </p:nvPr>
        </p:nvSpPr>
        <p:spPr>
          <a:xfrm>
            <a:off x="1016000" y="3048000"/>
            <a:ext cx="2794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b="0" i="0" u="none" strike="noStrike">
                <a:solidFill>
                  <a:srgbClr val="F5F7FA">
                    <a:alpha val="70196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介绍实验的研究背景与意义</a:t>
            </a:r>
            <a:endParaRPr lang="en-US" b="0" i="0" u="none" strike="noStrike">
              <a:solidFill>
                <a:srgbClr val="F5F7FA">
                  <a:alpha val="70196"/>
                </a:srgbClr>
              </a:solidFill>
              <a:latin typeface="Noto Sans SC"/>
              <a:ea typeface="Noto Sans SC"/>
              <a:cs typeface="Noto Sans SC"/>
              <a:sym typeface="Noto Sans SC"/>
            </a:endParaRPr>
          </a:p>
        </p:txBody>
      </p:sp>
      <p:sp>
        <p:nvSpPr>
          <p:cNvPr id="10" name="AutoShape 10"/>
          <p:cNvSpPr/>
          <p:nvPr>
            <p:custDataLst>
              <p:tags r:id="rId8"/>
            </p:custDataLst>
          </p:nvPr>
        </p:nvSpPr>
        <p:spPr>
          <a:xfrm>
            <a:off x="4445000" y="1905000"/>
            <a:ext cx="3302000" cy="1778000"/>
          </a:xfrm>
          <a:prstGeom prst="roundRect">
            <a:avLst>
              <a:gd name="adj" fmla="val 7142"/>
            </a:avLst>
          </a:prstGeom>
          <a:solidFill>
            <a:srgbClr val="FFFFFF">
              <a:alpha val="8000"/>
            </a:srgbClr>
          </a:solidFill>
          <a:ln w="12700" cap="flat" cmpd="sng">
            <a:solidFill>
              <a:srgbClr val="4A90E2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 sz="1600"/>
          </a:p>
        </p:txBody>
      </p:sp>
      <p:pic>
        <p:nvPicPr>
          <p:cNvPr id="11" name="Picture 11"/>
          <p:cNvPicPr>
            <a:picLocks noChangeAspect="1"/>
          </p:cNvPicPr>
          <p:nvPr>
            <p:custDataLst>
              <p:tags r:id="rId9"/>
            </p:custDataLst>
          </p:nvPr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4699000" y="2159000"/>
            <a:ext cx="406400" cy="406400"/>
          </a:xfrm>
          <a:prstGeom prst="rect">
            <a:avLst/>
          </a:prstGeom>
        </p:spPr>
      </p:pic>
      <p:sp>
        <p:nvSpPr>
          <p:cNvPr id="12" name="AutoShape 12"/>
          <p:cNvSpPr/>
          <p:nvPr>
            <p:custDataLst>
              <p:tags r:id="rId12"/>
            </p:custDataLst>
          </p:nvPr>
        </p:nvSpPr>
        <p:spPr>
          <a:xfrm>
            <a:off x="4699000" y="2667000"/>
            <a:ext cx="2540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F5F7FA"/>
                </a:solidFill>
                <a:latin typeface="Noto Sans SC"/>
                <a:ea typeface="Noto Sans SC"/>
                <a:cs typeface="Noto Sans SC"/>
                <a:sym typeface="Noto Sans SC"/>
              </a:rPr>
              <a:t>02 实验方案（基础版）</a:t>
            </a:r>
            <a:endParaRPr lang="en-US" sz="2000" b="1" i="0" u="none" strike="noStrike">
              <a:solidFill>
                <a:srgbClr val="F5F7FA"/>
              </a:solidFill>
              <a:latin typeface="Noto Sans SC"/>
              <a:ea typeface="Noto Sans SC"/>
              <a:cs typeface="Noto Sans SC"/>
              <a:sym typeface="Noto Sans SC"/>
            </a:endParaRPr>
          </a:p>
        </p:txBody>
      </p:sp>
      <p:sp>
        <p:nvSpPr>
          <p:cNvPr id="13" name="AutoShape 13"/>
          <p:cNvSpPr/>
          <p:nvPr>
            <p:custDataLst>
              <p:tags r:id="rId13"/>
            </p:custDataLst>
          </p:nvPr>
        </p:nvSpPr>
        <p:spPr>
          <a:xfrm>
            <a:off x="4699000" y="3048000"/>
            <a:ext cx="2794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b="0" i="0" u="none" strike="noStrike">
                <a:solidFill>
                  <a:srgbClr val="F5F7FA">
                    <a:alpha val="70196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基础实验流程与操作规范</a:t>
            </a:r>
            <a:endParaRPr lang="en-US" b="0" i="0" u="none" strike="noStrike">
              <a:solidFill>
                <a:srgbClr val="F5F7FA">
                  <a:alpha val="70196"/>
                </a:srgbClr>
              </a:solidFill>
              <a:latin typeface="Noto Sans SC"/>
              <a:ea typeface="Noto Sans SC"/>
              <a:cs typeface="Noto Sans SC"/>
              <a:sym typeface="Noto Sans SC"/>
            </a:endParaRPr>
          </a:p>
        </p:txBody>
      </p:sp>
      <p:sp>
        <p:nvSpPr>
          <p:cNvPr id="14" name="AutoShape 14"/>
          <p:cNvSpPr/>
          <p:nvPr>
            <p:custDataLst>
              <p:tags r:id="rId14"/>
            </p:custDataLst>
          </p:nvPr>
        </p:nvSpPr>
        <p:spPr>
          <a:xfrm>
            <a:off x="8128000" y="1905000"/>
            <a:ext cx="3302000" cy="1778000"/>
          </a:xfrm>
          <a:prstGeom prst="roundRect">
            <a:avLst>
              <a:gd name="adj" fmla="val 7142"/>
            </a:avLst>
          </a:prstGeom>
          <a:solidFill>
            <a:srgbClr val="FFFFFF">
              <a:alpha val="8000"/>
            </a:srgbClr>
          </a:solidFill>
          <a:ln w="12700" cap="flat" cmpd="sng">
            <a:solidFill>
              <a:srgbClr val="4A90E2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 sz="1600"/>
          </a:p>
        </p:txBody>
      </p:sp>
      <p:pic>
        <p:nvPicPr>
          <p:cNvPr id="15" name="Picture 15"/>
          <p:cNvPicPr>
            <a:picLocks noChangeAspect="1"/>
          </p:cNvPicPr>
          <p:nvPr>
            <p:custDataLst>
              <p:tags r:id="rId15"/>
            </p:custDataLst>
          </p:nvPr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7"/>
              </a:ext>
            </a:extLst>
          </a:blip>
          <a:stretch>
            <a:fillRect/>
          </a:stretch>
        </p:blipFill>
        <p:spPr>
          <a:xfrm>
            <a:off x="8382000" y="2159000"/>
            <a:ext cx="406400" cy="406400"/>
          </a:xfrm>
          <a:prstGeom prst="rect">
            <a:avLst/>
          </a:prstGeom>
        </p:spPr>
      </p:pic>
      <p:sp>
        <p:nvSpPr>
          <p:cNvPr id="16" name="AutoShape 16"/>
          <p:cNvSpPr/>
          <p:nvPr>
            <p:custDataLst>
              <p:tags r:id="rId18"/>
            </p:custDataLst>
          </p:nvPr>
        </p:nvSpPr>
        <p:spPr>
          <a:xfrm>
            <a:off x="8382000" y="2667000"/>
            <a:ext cx="2540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F5F7FA"/>
                </a:solidFill>
                <a:latin typeface="Noto Sans SC"/>
                <a:ea typeface="Noto Sans SC"/>
                <a:cs typeface="Noto Sans SC"/>
                <a:sym typeface="Noto Sans SC"/>
              </a:rPr>
              <a:t>03 实验方案（提高版）</a:t>
            </a:r>
            <a:endParaRPr lang="en-US" sz="2000" b="1" i="0" u="none" strike="noStrike">
              <a:solidFill>
                <a:srgbClr val="F5F7FA"/>
              </a:solidFill>
              <a:latin typeface="Noto Sans SC"/>
              <a:ea typeface="Noto Sans SC"/>
              <a:cs typeface="Noto Sans SC"/>
              <a:sym typeface="Noto Sans SC"/>
            </a:endParaRPr>
          </a:p>
        </p:txBody>
      </p:sp>
      <p:sp>
        <p:nvSpPr>
          <p:cNvPr id="17" name="AutoShape 17"/>
          <p:cNvSpPr/>
          <p:nvPr>
            <p:custDataLst>
              <p:tags r:id="rId19"/>
            </p:custDataLst>
          </p:nvPr>
        </p:nvSpPr>
        <p:spPr>
          <a:xfrm>
            <a:off x="8382000" y="3048000"/>
            <a:ext cx="2794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b="0" i="0" u="none" strike="noStrike">
                <a:solidFill>
                  <a:srgbClr val="F5F7FA">
                    <a:alpha val="70196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进阶技术参数与优化策略</a:t>
            </a:r>
            <a:endParaRPr lang="en-US" b="0" i="0" u="none" strike="noStrike">
              <a:solidFill>
                <a:srgbClr val="F5F7FA">
                  <a:alpha val="70196"/>
                </a:srgbClr>
              </a:solidFill>
              <a:latin typeface="Noto Sans SC"/>
              <a:ea typeface="Noto Sans SC"/>
              <a:cs typeface="Noto Sans SC"/>
              <a:sym typeface="Noto Sans SC"/>
            </a:endParaRPr>
          </a:p>
        </p:txBody>
      </p:sp>
      <p:sp>
        <p:nvSpPr>
          <p:cNvPr id="18" name="AutoShape 18"/>
          <p:cNvSpPr/>
          <p:nvPr>
            <p:custDataLst>
              <p:tags r:id="rId20"/>
            </p:custDataLst>
          </p:nvPr>
        </p:nvSpPr>
        <p:spPr>
          <a:xfrm>
            <a:off x="762000" y="3937000"/>
            <a:ext cx="3302000" cy="1778000"/>
          </a:xfrm>
          <a:prstGeom prst="roundRect">
            <a:avLst>
              <a:gd name="adj" fmla="val 7142"/>
            </a:avLst>
          </a:prstGeom>
          <a:solidFill>
            <a:srgbClr val="FFFFFF">
              <a:alpha val="8000"/>
            </a:srgbClr>
          </a:solidFill>
          <a:ln w="12700" cap="flat" cmpd="sng">
            <a:solidFill>
              <a:srgbClr val="4A90E2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 sz="1600"/>
          </a:p>
        </p:txBody>
      </p:sp>
      <p:pic>
        <p:nvPicPr>
          <p:cNvPr id="19" name="Picture 19"/>
          <p:cNvPicPr>
            <a:picLocks noChangeAspect="1"/>
          </p:cNvPicPr>
          <p:nvPr>
            <p:custDataLst>
              <p:tags r:id="rId21"/>
            </p:custDataLst>
          </p:nvPr>
        </p:nvPicPr>
        <p:blipFill>
          <a:blip r:embed="rId2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3"/>
              </a:ext>
            </a:extLst>
          </a:blip>
          <a:stretch>
            <a:fillRect/>
          </a:stretch>
        </p:blipFill>
        <p:spPr>
          <a:xfrm>
            <a:off x="1016000" y="4191000"/>
            <a:ext cx="406400" cy="406400"/>
          </a:xfrm>
          <a:prstGeom prst="rect">
            <a:avLst/>
          </a:prstGeom>
        </p:spPr>
      </p:pic>
      <p:sp>
        <p:nvSpPr>
          <p:cNvPr id="20" name="AutoShape 20"/>
          <p:cNvSpPr/>
          <p:nvPr>
            <p:custDataLst>
              <p:tags r:id="rId24"/>
            </p:custDataLst>
          </p:nvPr>
        </p:nvSpPr>
        <p:spPr>
          <a:xfrm>
            <a:off x="1016000" y="4699000"/>
            <a:ext cx="2540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F5F7FA"/>
                </a:solidFill>
                <a:latin typeface="Noto Sans SC"/>
                <a:ea typeface="Noto Sans SC"/>
                <a:cs typeface="Noto Sans SC"/>
                <a:sym typeface="Noto Sans SC"/>
              </a:rPr>
              <a:t>04 实验方案（科研版）</a:t>
            </a:r>
            <a:endParaRPr lang="en-US" sz="2000" b="1" i="0" u="none" strike="noStrike">
              <a:solidFill>
                <a:srgbClr val="F5F7FA"/>
              </a:solidFill>
              <a:latin typeface="Noto Sans SC"/>
              <a:ea typeface="Noto Sans SC"/>
              <a:cs typeface="Noto Sans SC"/>
              <a:sym typeface="Noto Sans SC"/>
            </a:endParaRPr>
          </a:p>
        </p:txBody>
      </p:sp>
      <p:sp>
        <p:nvSpPr>
          <p:cNvPr id="21" name="AutoShape 21"/>
          <p:cNvSpPr/>
          <p:nvPr>
            <p:custDataLst>
              <p:tags r:id="rId25"/>
            </p:custDataLst>
          </p:nvPr>
        </p:nvSpPr>
        <p:spPr>
          <a:xfrm>
            <a:off x="1016000" y="5080000"/>
            <a:ext cx="2794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b="0" i="0" u="none" strike="noStrike">
                <a:solidFill>
                  <a:srgbClr val="F5F7FA">
                    <a:alpha val="70196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创新性研究方法与探索</a:t>
            </a:r>
            <a:endParaRPr lang="en-US" b="0" i="0" u="none" strike="noStrike">
              <a:solidFill>
                <a:srgbClr val="F5F7FA">
                  <a:alpha val="70196"/>
                </a:srgbClr>
              </a:solidFill>
              <a:latin typeface="Noto Sans SC"/>
              <a:ea typeface="Noto Sans SC"/>
              <a:cs typeface="Noto Sans SC"/>
              <a:sym typeface="Noto Sans SC"/>
            </a:endParaRPr>
          </a:p>
        </p:txBody>
      </p:sp>
      <p:sp>
        <p:nvSpPr>
          <p:cNvPr id="22" name="AutoShape 22"/>
          <p:cNvSpPr/>
          <p:nvPr>
            <p:custDataLst>
              <p:tags r:id="rId26"/>
            </p:custDataLst>
          </p:nvPr>
        </p:nvSpPr>
        <p:spPr>
          <a:xfrm>
            <a:off x="4445000" y="3937000"/>
            <a:ext cx="3302000" cy="1778000"/>
          </a:xfrm>
          <a:prstGeom prst="roundRect">
            <a:avLst>
              <a:gd name="adj" fmla="val 7142"/>
            </a:avLst>
          </a:prstGeom>
          <a:solidFill>
            <a:srgbClr val="FFFFFF">
              <a:alpha val="8000"/>
            </a:srgbClr>
          </a:solidFill>
          <a:ln w="12700" cap="flat" cmpd="sng">
            <a:solidFill>
              <a:srgbClr val="4A90E2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 sz="1600"/>
          </a:p>
        </p:txBody>
      </p:sp>
      <p:pic>
        <p:nvPicPr>
          <p:cNvPr id="23" name="Picture 23"/>
          <p:cNvPicPr>
            <a:picLocks noChangeAspect="1"/>
          </p:cNvPicPr>
          <p:nvPr>
            <p:custDataLst>
              <p:tags r:id="rId27"/>
            </p:custDataLst>
          </p:nvPr>
        </p:nvPicPr>
        <p:blipFill>
          <a:blip r:embed="rId2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9"/>
              </a:ext>
            </a:extLst>
          </a:blip>
          <a:stretch>
            <a:fillRect/>
          </a:stretch>
        </p:blipFill>
        <p:spPr>
          <a:xfrm>
            <a:off x="4699000" y="4191000"/>
            <a:ext cx="406400" cy="406400"/>
          </a:xfrm>
          <a:prstGeom prst="rect">
            <a:avLst/>
          </a:prstGeom>
        </p:spPr>
      </p:pic>
      <p:sp>
        <p:nvSpPr>
          <p:cNvPr id="24" name="AutoShape 24"/>
          <p:cNvSpPr/>
          <p:nvPr>
            <p:custDataLst>
              <p:tags r:id="rId30"/>
            </p:custDataLst>
          </p:nvPr>
        </p:nvSpPr>
        <p:spPr>
          <a:xfrm>
            <a:off x="4699000" y="4699000"/>
            <a:ext cx="2540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F5F7FA"/>
                </a:solidFill>
                <a:latin typeface="Noto Sans SC"/>
                <a:ea typeface="Noto Sans SC"/>
                <a:cs typeface="Noto Sans SC"/>
                <a:sym typeface="Noto Sans SC"/>
              </a:rPr>
              <a:t>05 实验报告要求对比</a:t>
            </a:r>
            <a:endParaRPr lang="en-US" sz="2000" b="1" i="0" u="none" strike="noStrike">
              <a:solidFill>
                <a:srgbClr val="F5F7FA"/>
              </a:solidFill>
              <a:latin typeface="Noto Sans SC"/>
              <a:ea typeface="Noto Sans SC"/>
              <a:cs typeface="Noto Sans SC"/>
              <a:sym typeface="Noto Sans SC"/>
            </a:endParaRPr>
          </a:p>
        </p:txBody>
      </p:sp>
      <p:sp>
        <p:nvSpPr>
          <p:cNvPr id="25" name="AutoShape 25"/>
          <p:cNvSpPr/>
          <p:nvPr>
            <p:custDataLst>
              <p:tags r:id="rId31"/>
            </p:custDataLst>
          </p:nvPr>
        </p:nvSpPr>
        <p:spPr>
          <a:xfrm>
            <a:off x="4699000" y="5080000"/>
            <a:ext cx="2794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b="0" i="0" u="none" strike="noStrike">
                <a:solidFill>
                  <a:srgbClr val="F5F7FA">
                    <a:alpha val="70196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各版本报告的评分标准差异</a:t>
            </a:r>
            <a:endParaRPr lang="en-US" b="0" i="0" u="none" strike="noStrike">
              <a:solidFill>
                <a:srgbClr val="F5F7FA">
                  <a:alpha val="70196"/>
                </a:srgbClr>
              </a:solidFill>
              <a:latin typeface="Noto Sans SC"/>
              <a:ea typeface="Noto Sans SC"/>
              <a:cs typeface="Noto Sans SC"/>
              <a:sym typeface="Noto Sans SC"/>
            </a:endParaRPr>
          </a:p>
        </p:txBody>
      </p:sp>
      <p:sp>
        <p:nvSpPr>
          <p:cNvPr id="26" name="AutoShape 26"/>
          <p:cNvSpPr/>
          <p:nvPr>
            <p:custDataLst>
              <p:tags r:id="rId32"/>
            </p:custDataLst>
          </p:nvPr>
        </p:nvSpPr>
        <p:spPr>
          <a:xfrm>
            <a:off x="8128000" y="3937000"/>
            <a:ext cx="3302000" cy="1778000"/>
          </a:xfrm>
          <a:prstGeom prst="roundRect">
            <a:avLst>
              <a:gd name="adj" fmla="val 7142"/>
            </a:avLst>
          </a:prstGeom>
          <a:solidFill>
            <a:srgbClr val="FFFFFF">
              <a:alpha val="8000"/>
            </a:srgbClr>
          </a:solidFill>
          <a:ln w="12700" cap="flat" cmpd="sng">
            <a:solidFill>
              <a:srgbClr val="4A90E2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 sz="1600"/>
          </a:p>
        </p:txBody>
      </p:sp>
      <p:pic>
        <p:nvPicPr>
          <p:cNvPr id="27" name="Picture 27"/>
          <p:cNvPicPr>
            <a:picLocks noChangeAspect="1"/>
          </p:cNvPicPr>
          <p:nvPr>
            <p:custDataLst>
              <p:tags r:id="rId33"/>
            </p:custDataLst>
          </p:nvPr>
        </p:nvPicPr>
        <p:blipFill>
          <a:blip r:embed="rId3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5"/>
              </a:ext>
            </a:extLst>
          </a:blip>
          <a:stretch>
            <a:fillRect/>
          </a:stretch>
        </p:blipFill>
        <p:spPr>
          <a:xfrm>
            <a:off x="8382000" y="4191000"/>
            <a:ext cx="406400" cy="406400"/>
          </a:xfrm>
          <a:prstGeom prst="rect">
            <a:avLst/>
          </a:prstGeom>
        </p:spPr>
      </p:pic>
      <p:sp>
        <p:nvSpPr>
          <p:cNvPr id="28" name="AutoShape 28"/>
          <p:cNvSpPr/>
          <p:nvPr>
            <p:custDataLst>
              <p:tags r:id="rId36"/>
            </p:custDataLst>
          </p:nvPr>
        </p:nvSpPr>
        <p:spPr>
          <a:xfrm>
            <a:off x="8382000" y="4699000"/>
            <a:ext cx="2540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F5F7FA"/>
                </a:solidFill>
                <a:latin typeface="Noto Sans SC"/>
                <a:ea typeface="Noto Sans SC"/>
                <a:cs typeface="Noto Sans SC"/>
                <a:sym typeface="Noto Sans SC"/>
              </a:rPr>
              <a:t>06 总结与建议</a:t>
            </a:r>
            <a:endParaRPr lang="en-US" sz="2000" b="1" i="0" u="none" strike="noStrike">
              <a:solidFill>
                <a:srgbClr val="F5F7FA"/>
              </a:solidFill>
              <a:latin typeface="Noto Sans SC"/>
              <a:ea typeface="Noto Sans SC"/>
              <a:cs typeface="Noto Sans SC"/>
              <a:sym typeface="Noto Sans SC"/>
            </a:endParaRPr>
          </a:p>
        </p:txBody>
      </p:sp>
      <p:sp>
        <p:nvSpPr>
          <p:cNvPr id="29" name="AutoShape 29"/>
          <p:cNvSpPr/>
          <p:nvPr>
            <p:custDataLst>
              <p:tags r:id="rId37"/>
            </p:custDataLst>
          </p:nvPr>
        </p:nvSpPr>
        <p:spPr>
          <a:xfrm>
            <a:off x="8382000" y="5080000"/>
            <a:ext cx="2794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b="0" i="0" u="none" strike="noStrike">
                <a:solidFill>
                  <a:srgbClr val="F5F7FA">
                    <a:alpha val="70196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实验总结与未来改进方向</a:t>
            </a:r>
            <a:endParaRPr lang="en-US" b="0" i="0" u="none" strike="noStrike">
              <a:solidFill>
                <a:srgbClr val="F5F7FA">
                  <a:alpha val="70196"/>
                </a:srgbClr>
              </a:solidFill>
              <a:latin typeface="Noto Sans SC"/>
              <a:ea typeface="Noto Sans SC"/>
              <a:cs typeface="Noto Sans SC"/>
              <a:sym typeface="Noto Sans SC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3366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3" name="AutoShape 3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001428">
              <a:alpha val="8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4" name="AutoShape 4"/>
          <p:cNvSpPr/>
          <p:nvPr/>
        </p:nvSpPr>
        <p:spPr>
          <a:xfrm>
            <a:off x="762000" y="635000"/>
            <a:ext cx="10668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36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实验背景</a:t>
            </a:r>
            <a:endParaRPr lang="en-US" sz="1100"/>
          </a:p>
        </p:txBody>
      </p:sp>
      <p:sp>
        <p:nvSpPr>
          <p:cNvPr id="5" name="AutoShape 5"/>
          <p:cNvSpPr/>
          <p:nvPr/>
        </p:nvSpPr>
        <p:spPr>
          <a:xfrm>
            <a:off x="762000" y="1778000"/>
            <a:ext cx="5080000" cy="1397000"/>
          </a:xfrm>
          <a:prstGeom prst="roundRect">
            <a:avLst>
              <a:gd name="adj" fmla="val 9090"/>
            </a:avLst>
          </a:prstGeom>
          <a:solidFill>
            <a:srgbClr val="F5F7FA">
              <a:alpha val="95000"/>
            </a:srgbClr>
          </a:solidFill>
          <a:ln w="25400" cap="flat" cmpd="sng">
            <a:noFill/>
            <a:prstDash val="solid"/>
            <a:round/>
          </a:ln>
          <a:effectLst>
            <a:outerShdw blurRad="127000" dist="50800" dir="2700000" algn="tl" rotWithShape="0">
              <a:srgbClr val="000000">
                <a:alpha val="20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6" name="Picture 6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16000" y="1968500"/>
            <a:ext cx="406400" cy="406400"/>
          </a:xfrm>
          <a:prstGeom prst="rect">
            <a:avLst/>
          </a:prstGeom>
        </p:spPr>
      </p:pic>
      <p:sp>
        <p:nvSpPr>
          <p:cNvPr id="7" name="AutoShape 7"/>
          <p:cNvSpPr/>
          <p:nvPr/>
        </p:nvSpPr>
        <p:spPr>
          <a:xfrm>
            <a:off x="1424940" y="1930400"/>
            <a:ext cx="442849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003366"/>
                </a:solidFill>
                <a:latin typeface="Noto Sans SC"/>
                <a:ea typeface="Noto Sans SC"/>
                <a:cs typeface="Noto Sans SC"/>
                <a:sym typeface="Noto Sans SC"/>
              </a:rPr>
              <a:t>理论课对应章节</a:t>
            </a:r>
            <a:endParaRPr lang="en-US" sz="2000" b="1" i="0" u="none" strike="noStrike">
              <a:solidFill>
                <a:srgbClr val="003366"/>
              </a:solidFill>
              <a:latin typeface="Noto Sans SC"/>
              <a:ea typeface="Noto Sans SC"/>
              <a:cs typeface="Noto Sans SC"/>
              <a:sym typeface="Noto Sans SC"/>
            </a:endParaRPr>
          </a:p>
        </p:txBody>
      </p:sp>
      <p:sp>
        <p:nvSpPr>
          <p:cNvPr id="8" name="AutoShape 8"/>
          <p:cNvSpPr/>
          <p:nvPr/>
        </p:nvSpPr>
        <p:spPr>
          <a:xfrm>
            <a:off x="1424940" y="2311400"/>
            <a:ext cx="442849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600" b="0" i="0" u="none" strike="noStrike">
                <a:solidFill>
                  <a:srgbClr val="555555"/>
                </a:solidFill>
                <a:latin typeface="Noto Sans SC"/>
                <a:ea typeface="Noto Sans SC"/>
                <a:cs typeface="Noto Sans SC"/>
                <a:sym typeface="Noto Sans SC"/>
              </a:rPr>
              <a:t>第七、八章（图数据分析、推荐系统）</a:t>
            </a:r>
            <a:endParaRPr lang="en-US" sz="1600" b="0" i="0" u="none" strike="noStrike">
              <a:solidFill>
                <a:srgbClr val="555555"/>
              </a:solidFill>
              <a:latin typeface="Noto Sans SC"/>
              <a:ea typeface="Noto Sans SC"/>
              <a:cs typeface="Noto Sans SC"/>
              <a:sym typeface="Noto Sans SC"/>
            </a:endParaRPr>
          </a:p>
        </p:txBody>
      </p:sp>
      <p:sp>
        <p:nvSpPr>
          <p:cNvPr id="9" name="AutoShape 9"/>
          <p:cNvSpPr/>
          <p:nvPr/>
        </p:nvSpPr>
        <p:spPr>
          <a:xfrm>
            <a:off x="762000" y="3429000"/>
            <a:ext cx="5080000" cy="1397000"/>
          </a:xfrm>
          <a:prstGeom prst="roundRect">
            <a:avLst>
              <a:gd name="adj" fmla="val 9090"/>
            </a:avLst>
          </a:prstGeom>
          <a:solidFill>
            <a:srgbClr val="F5F7FA">
              <a:alpha val="95000"/>
            </a:srgbClr>
          </a:solidFill>
          <a:ln w="25400" cap="flat" cmpd="sng">
            <a:noFill/>
            <a:prstDash val="solid"/>
            <a:round/>
          </a:ln>
          <a:effectLst>
            <a:outerShdw blurRad="127000" dist="50800" dir="2700000" algn="tl" rotWithShape="0">
              <a:srgbClr val="000000">
                <a:alpha val="20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0" name="Picture 10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016000" y="3619500"/>
            <a:ext cx="406400" cy="406400"/>
          </a:xfrm>
          <a:prstGeom prst="rect">
            <a:avLst/>
          </a:prstGeom>
        </p:spPr>
      </p:pic>
      <p:sp>
        <p:nvSpPr>
          <p:cNvPr id="11" name="AutoShape 11"/>
          <p:cNvSpPr/>
          <p:nvPr/>
        </p:nvSpPr>
        <p:spPr>
          <a:xfrm>
            <a:off x="1424940" y="3581400"/>
            <a:ext cx="442849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003366"/>
                </a:solidFill>
                <a:latin typeface="Noto Sans SC"/>
                <a:ea typeface="Noto Sans SC"/>
                <a:cs typeface="Noto Sans SC"/>
                <a:sym typeface="Noto Sans SC"/>
              </a:rPr>
              <a:t>实验目的</a:t>
            </a:r>
            <a:endParaRPr lang="en-US" sz="2000" b="1" i="0" u="none" strike="noStrike">
              <a:solidFill>
                <a:srgbClr val="003366"/>
              </a:solidFill>
              <a:latin typeface="Noto Sans SC"/>
              <a:ea typeface="Noto Sans SC"/>
              <a:cs typeface="Noto Sans SC"/>
              <a:sym typeface="Noto Sans SC"/>
            </a:endParaRPr>
          </a:p>
        </p:txBody>
      </p:sp>
      <p:sp>
        <p:nvSpPr>
          <p:cNvPr id="12" name="AutoShape 12"/>
          <p:cNvSpPr/>
          <p:nvPr/>
        </p:nvSpPr>
        <p:spPr>
          <a:xfrm>
            <a:off x="1424940" y="3962400"/>
            <a:ext cx="442849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600" b="0" i="0" u="none" strike="noStrike">
                <a:solidFill>
                  <a:srgbClr val="555555"/>
                </a:solidFill>
                <a:latin typeface="Noto Sans SC"/>
                <a:ea typeface="Noto Sans SC"/>
                <a:cs typeface="Noto Sans SC"/>
                <a:sym typeface="Noto Sans SC"/>
              </a:rPr>
              <a:t>巩固理论知识，提升实践能力，培养创新思维</a:t>
            </a:r>
            <a:endParaRPr lang="en-US" sz="1600" b="0" i="0" u="none" strike="noStrike">
              <a:solidFill>
                <a:srgbClr val="555555"/>
              </a:solidFill>
              <a:latin typeface="Noto Sans SC"/>
              <a:ea typeface="Noto Sans SC"/>
              <a:cs typeface="Noto Sans SC"/>
              <a:sym typeface="Noto Sans SC"/>
            </a:endParaRPr>
          </a:p>
        </p:txBody>
      </p:sp>
      <p:sp>
        <p:nvSpPr>
          <p:cNvPr id="13" name="AutoShape 13"/>
          <p:cNvSpPr/>
          <p:nvPr/>
        </p:nvSpPr>
        <p:spPr>
          <a:xfrm>
            <a:off x="762000" y="5080000"/>
            <a:ext cx="5080000" cy="1397000"/>
          </a:xfrm>
          <a:prstGeom prst="roundRect">
            <a:avLst>
              <a:gd name="adj" fmla="val 9090"/>
            </a:avLst>
          </a:prstGeom>
          <a:solidFill>
            <a:srgbClr val="F5F7FA">
              <a:alpha val="95000"/>
            </a:srgbClr>
          </a:solidFill>
          <a:ln w="25400" cap="flat" cmpd="sng">
            <a:noFill/>
            <a:prstDash val="solid"/>
            <a:round/>
          </a:ln>
          <a:effectLst>
            <a:outerShdw blurRad="127000" dist="50800" dir="2700000" algn="tl" rotWithShape="0">
              <a:srgbClr val="000000">
                <a:alpha val="20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4" name="Picture 14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1016000" y="5270500"/>
            <a:ext cx="406400" cy="406400"/>
          </a:xfrm>
          <a:prstGeom prst="rect">
            <a:avLst/>
          </a:prstGeom>
        </p:spPr>
      </p:pic>
      <p:sp>
        <p:nvSpPr>
          <p:cNvPr id="15" name="AutoShape 15"/>
          <p:cNvSpPr/>
          <p:nvPr/>
        </p:nvSpPr>
        <p:spPr>
          <a:xfrm>
            <a:off x="1424940" y="5232400"/>
            <a:ext cx="442849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003366"/>
                </a:solidFill>
                <a:latin typeface="Noto Sans SC"/>
                <a:ea typeface="Noto Sans SC"/>
                <a:cs typeface="Noto Sans SC"/>
                <a:sym typeface="Noto Sans SC"/>
              </a:rPr>
              <a:t>课程目标支撑</a:t>
            </a:r>
            <a:endParaRPr lang="en-US" sz="2000" b="1" i="0" u="none" strike="noStrike">
              <a:solidFill>
                <a:srgbClr val="003366"/>
              </a:solidFill>
              <a:latin typeface="Noto Sans SC"/>
              <a:ea typeface="Noto Sans SC"/>
              <a:cs typeface="Noto Sans SC"/>
              <a:sym typeface="Noto Sans SC"/>
            </a:endParaRPr>
          </a:p>
        </p:txBody>
      </p:sp>
      <p:sp>
        <p:nvSpPr>
          <p:cNvPr id="16" name="AutoShape 16"/>
          <p:cNvSpPr/>
          <p:nvPr/>
        </p:nvSpPr>
        <p:spPr>
          <a:xfrm>
            <a:off x="1424940" y="5613400"/>
            <a:ext cx="442849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600" b="0" i="0" u="none" strike="noStrike">
                <a:solidFill>
                  <a:srgbClr val="555555"/>
                </a:solidFill>
                <a:latin typeface="Noto Sans SC"/>
                <a:ea typeface="Noto Sans SC"/>
                <a:cs typeface="Noto Sans SC"/>
                <a:sym typeface="Noto Sans SC"/>
              </a:rPr>
              <a:t>目标3（掌握典型算法）、目标4（应用现代工具）</a:t>
            </a:r>
            <a:endParaRPr lang="en-US" sz="1600" b="0" i="0" u="none" strike="noStrike">
              <a:solidFill>
                <a:srgbClr val="555555"/>
              </a:solidFill>
              <a:latin typeface="Noto Sans SC"/>
              <a:ea typeface="Noto Sans SC"/>
              <a:cs typeface="Noto Sans SC"/>
              <a:sym typeface="Noto Sans SC"/>
            </a:endParaRPr>
          </a:p>
        </p:txBody>
      </p:sp>
      <p:sp>
        <p:nvSpPr>
          <p:cNvPr id="17" name="AutoShape 17"/>
          <p:cNvSpPr/>
          <p:nvPr/>
        </p:nvSpPr>
        <p:spPr>
          <a:xfrm>
            <a:off x="6350000" y="1778000"/>
            <a:ext cx="5080000" cy="4699000"/>
          </a:xfrm>
          <a:prstGeom prst="roundRect">
            <a:avLst>
              <a:gd name="adj" fmla="val 2702"/>
            </a:avLst>
          </a:prstGeom>
          <a:solidFill>
            <a:srgbClr val="FFFFFF">
              <a:alpha val="5000"/>
            </a:srgbClr>
          </a:solidFill>
          <a:ln w="12700" cap="flat" cmpd="sng">
            <a:solidFill>
              <a:srgbClr val="4A90E2">
                <a:alpha val="5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8" name="AutoShape 18"/>
          <p:cNvSpPr/>
          <p:nvPr/>
        </p:nvSpPr>
        <p:spPr>
          <a:xfrm>
            <a:off x="6604000" y="2032000"/>
            <a:ext cx="4572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4A90E2"/>
                </a:solidFill>
                <a:latin typeface="Noto Sans SC"/>
                <a:ea typeface="Noto Sans SC"/>
                <a:cs typeface="Noto Sans SC"/>
                <a:sym typeface="Noto Sans SC"/>
              </a:rPr>
              <a:t>核心知识领域</a:t>
            </a:r>
            <a:endParaRPr lang="en-US" sz="1100"/>
          </a:p>
        </p:txBody>
      </p:sp>
      <p:cxnSp>
        <p:nvCxnSpPr>
          <p:cNvPr id="19" name="Connector 19"/>
          <p:cNvCxnSpPr/>
          <p:nvPr/>
        </p:nvCxnSpPr>
        <p:spPr>
          <a:xfrm rot="-9549">
            <a:off x="6604009" y="2470150"/>
            <a:ext cx="4572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4A90E2">
                <a:alpha val="3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20" name="Picture 20"/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6604000" y="2794000"/>
            <a:ext cx="609600" cy="609600"/>
          </a:xfrm>
          <a:prstGeom prst="rect">
            <a:avLst/>
          </a:prstGeom>
        </p:spPr>
      </p:pic>
      <p:sp>
        <p:nvSpPr>
          <p:cNvPr id="21" name="AutoShape 21"/>
          <p:cNvSpPr/>
          <p:nvPr/>
        </p:nvSpPr>
        <p:spPr>
          <a:xfrm>
            <a:off x="7366000" y="2794000"/>
            <a:ext cx="3810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图数据分析</a:t>
            </a:r>
            <a:endParaRPr lang="en-US" sz="1100"/>
          </a:p>
          <a:p>
            <a:pPr indent="0" algn="l">
              <a:lnSpc>
                <a:spcPct val="125000"/>
              </a:lnSpc>
            </a:pPr>
            <a:r>
              <a:rPr lang="en-US" sz="1300" b="0" i="0" u="none" strike="noStrike">
                <a:solidFill>
                  <a:srgbClr val="FFFFFF">
                    <a:alpha val="70196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构建复杂网络模型，挖掘数据间的关联关系</a:t>
            </a:r>
            <a:endParaRPr lang="en-US" sz="1300" b="0" i="0" u="none" strike="noStrike">
              <a:solidFill>
                <a:srgbClr val="FFFFFF">
                  <a:alpha val="70196"/>
                </a:srgbClr>
              </a:solidFill>
              <a:latin typeface="Noto Sans SC"/>
              <a:ea typeface="Noto Sans SC"/>
              <a:cs typeface="Noto Sans SC"/>
              <a:sym typeface="Noto Sans SC"/>
            </a:endParaRPr>
          </a:p>
        </p:txBody>
      </p:sp>
      <p:pic>
        <p:nvPicPr>
          <p:cNvPr id="22" name="Picture 22"/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6604000" y="3810000"/>
            <a:ext cx="609600" cy="609600"/>
          </a:xfrm>
          <a:prstGeom prst="rect">
            <a:avLst/>
          </a:prstGeom>
        </p:spPr>
      </p:pic>
      <p:sp>
        <p:nvSpPr>
          <p:cNvPr id="23" name="AutoShape 23"/>
          <p:cNvSpPr/>
          <p:nvPr/>
        </p:nvSpPr>
        <p:spPr>
          <a:xfrm>
            <a:off x="7366000" y="3810000"/>
            <a:ext cx="3810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推荐系统</a:t>
            </a:r>
            <a:endParaRPr lang="en-US" sz="1100"/>
          </a:p>
          <a:p>
            <a:pPr indent="0" algn="l">
              <a:lnSpc>
                <a:spcPct val="125000"/>
              </a:lnSpc>
            </a:pPr>
            <a:r>
              <a:rPr lang="en-US" sz="1300" b="0" i="0" u="none" strike="noStrike">
                <a:solidFill>
                  <a:srgbClr val="FFFFFF">
                    <a:alpha val="70196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基于协同过滤与深度学习，实现个性化推荐</a:t>
            </a:r>
            <a:endParaRPr lang="en-US" sz="1300" b="0" i="0" u="none" strike="noStrike">
              <a:solidFill>
                <a:srgbClr val="FFFFFF">
                  <a:alpha val="70196"/>
                </a:srgbClr>
              </a:solidFill>
              <a:latin typeface="Noto Sans SC"/>
              <a:ea typeface="Noto Sans SC"/>
              <a:cs typeface="Noto Sans SC"/>
              <a:sym typeface="Noto Sans SC"/>
            </a:endParaRPr>
          </a:p>
        </p:txBody>
      </p:sp>
      <p:pic>
        <p:nvPicPr>
          <p:cNvPr id="24" name="Picture 24"/>
          <p:cNvPicPr>
            <a:picLocks noChangeAspect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6604000" y="4826000"/>
            <a:ext cx="609600" cy="609600"/>
          </a:xfrm>
          <a:prstGeom prst="rect">
            <a:avLst/>
          </a:prstGeom>
        </p:spPr>
      </p:pic>
      <p:sp>
        <p:nvSpPr>
          <p:cNvPr id="25" name="AutoShape 25"/>
          <p:cNvSpPr/>
          <p:nvPr/>
        </p:nvSpPr>
        <p:spPr>
          <a:xfrm>
            <a:off x="7366000" y="4826000"/>
            <a:ext cx="3810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现代工具应用</a:t>
            </a:r>
            <a:endParaRPr lang="en-US" sz="1100"/>
          </a:p>
          <a:p>
            <a:pPr indent="0" algn="l">
              <a:lnSpc>
                <a:spcPct val="125000"/>
              </a:lnSpc>
            </a:pPr>
            <a:r>
              <a:rPr lang="en-US" sz="1300" b="0" i="0" u="none" strike="noStrike">
                <a:solidFill>
                  <a:srgbClr val="FFFFFF">
                    <a:alpha val="70196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熟练掌握主流机器学习框架与数据分析平台</a:t>
            </a:r>
            <a:endParaRPr lang="en-US" sz="1300" b="0" i="0" u="none" strike="noStrike">
              <a:solidFill>
                <a:srgbClr val="FFFFFF">
                  <a:alpha val="70196"/>
                </a:srgbClr>
              </a:solidFill>
              <a:latin typeface="Noto Sans SC"/>
              <a:ea typeface="Noto Sans SC"/>
              <a:cs typeface="Noto Sans SC"/>
              <a:sym typeface="Noto Sans SC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3366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3" name="AutoShape 3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001428">
              <a:alpha val="8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4" name="AutoShape 4"/>
          <p:cNvSpPr/>
          <p:nvPr/>
        </p:nvSpPr>
        <p:spPr>
          <a:xfrm>
            <a:off x="762000" y="635000"/>
            <a:ext cx="10668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36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 第七周实验</a:t>
            </a:r>
            <a:endParaRPr lang="en-US" sz="1100"/>
          </a:p>
        </p:txBody>
      </p:sp>
      <p:sp>
        <p:nvSpPr>
          <p:cNvPr id="5" name="AutoShape 5"/>
          <p:cNvSpPr/>
          <p:nvPr>
            <p:custDataLst>
              <p:tags r:id="rId2"/>
            </p:custDataLst>
          </p:nvPr>
        </p:nvSpPr>
        <p:spPr>
          <a:xfrm>
            <a:off x="762000" y="1651000"/>
            <a:ext cx="3429000" cy="2286000"/>
          </a:xfrm>
          <a:prstGeom prst="roundRect">
            <a:avLst>
              <a:gd name="adj" fmla="val 5555"/>
            </a:avLst>
          </a:prstGeom>
          <a:solidFill>
            <a:srgbClr val="F5F7FA">
              <a:alpha val="9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 sz="1600"/>
          </a:p>
        </p:txBody>
      </p:sp>
      <p:pic>
        <p:nvPicPr>
          <p:cNvPr id="6" name="Picture 6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016000" y="1905000"/>
            <a:ext cx="406400" cy="406400"/>
          </a:xfrm>
          <a:prstGeom prst="rect">
            <a:avLst/>
          </a:prstGeom>
        </p:spPr>
      </p:pic>
      <p:sp>
        <p:nvSpPr>
          <p:cNvPr id="7" name="AutoShape 7"/>
          <p:cNvSpPr/>
          <p:nvPr>
            <p:custDataLst>
              <p:tags r:id="rId6"/>
            </p:custDataLst>
          </p:nvPr>
        </p:nvSpPr>
        <p:spPr>
          <a:xfrm>
            <a:off x="1524000" y="1905000"/>
            <a:ext cx="2540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003366"/>
                </a:solidFill>
                <a:latin typeface="Noto Sans SC"/>
                <a:ea typeface="Noto Sans SC"/>
                <a:cs typeface="Noto Sans SC"/>
                <a:sym typeface="Noto Sans SC"/>
              </a:rPr>
              <a:t>实验目标</a:t>
            </a:r>
            <a:endParaRPr lang="en-US" sz="2000" b="1" i="0" u="none" strike="noStrike">
              <a:solidFill>
                <a:srgbClr val="003366"/>
              </a:solidFill>
              <a:latin typeface="Noto Sans SC"/>
              <a:ea typeface="Noto Sans SC"/>
              <a:cs typeface="Noto Sans SC"/>
              <a:sym typeface="Noto Sans SC"/>
            </a:endParaRPr>
          </a:p>
        </p:txBody>
      </p:sp>
      <p:cxnSp>
        <p:nvCxnSpPr>
          <p:cNvPr id="8" name="Connector 8"/>
          <p:cNvCxnSpPr/>
          <p:nvPr>
            <p:custDataLst>
              <p:tags r:id="rId7"/>
            </p:custDataLst>
          </p:nvPr>
        </p:nvCxnSpPr>
        <p:spPr>
          <a:xfrm rot="-14946">
            <a:off x="1016014" y="2343150"/>
            <a:ext cx="2921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25400" cap="flat" cmpd="sng">
            <a:solidFill>
              <a:srgbClr val="4A90E2">
                <a:alpha val="100000"/>
              </a:srgbClr>
            </a:solidFill>
            <a:prstDash val="solid"/>
            <a:round/>
            <a:headEnd type="none" w="lg" len="lg"/>
            <a:tailEnd type="none" w="lg" len="lg"/>
          </a:ln>
        </p:spPr>
      </p:cxnSp>
      <p:sp>
        <p:nvSpPr>
          <p:cNvPr id="9" name="AutoShape 9"/>
          <p:cNvSpPr/>
          <p:nvPr>
            <p:custDataLst>
              <p:tags r:id="rId8"/>
            </p:custDataLst>
          </p:nvPr>
        </p:nvSpPr>
        <p:spPr>
          <a:xfrm>
            <a:off x="1016000" y="2476500"/>
            <a:ext cx="2921000" cy="1270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600" b="0" i="0" u="none" strike="noStrike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结合图表示学习与 PageRank 算法，深入探究节点分类问题，验证算法在异构网络中的有效性。</a:t>
            </a:r>
            <a:endParaRPr lang="en-US" sz="1600" b="0" i="0" u="none" strike="noStrike">
              <a:solidFill>
                <a:srgbClr val="333333"/>
              </a:solidFill>
              <a:latin typeface="Noto Sans SC"/>
              <a:ea typeface="Noto Sans SC"/>
              <a:cs typeface="Noto Sans SC"/>
              <a:sym typeface="Noto Sans SC"/>
            </a:endParaRPr>
          </a:p>
        </p:txBody>
      </p:sp>
      <p:sp>
        <p:nvSpPr>
          <p:cNvPr id="10" name="AutoShape 10"/>
          <p:cNvSpPr/>
          <p:nvPr>
            <p:custDataLst>
              <p:tags r:id="rId9"/>
            </p:custDataLst>
          </p:nvPr>
        </p:nvSpPr>
        <p:spPr>
          <a:xfrm>
            <a:off x="4381500" y="1651000"/>
            <a:ext cx="3429000" cy="2286000"/>
          </a:xfrm>
          <a:prstGeom prst="roundRect">
            <a:avLst>
              <a:gd name="adj" fmla="val 5555"/>
            </a:avLst>
          </a:prstGeom>
          <a:solidFill>
            <a:srgbClr val="F5F7FA">
              <a:alpha val="9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 sz="1600"/>
          </a:p>
        </p:txBody>
      </p:sp>
      <p:pic>
        <p:nvPicPr>
          <p:cNvPr id="11" name="Picture 11"/>
          <p:cNvPicPr>
            <a:picLocks noChangeAspect="1"/>
          </p:cNvPicPr>
          <p:nvPr>
            <p:custDataLst>
              <p:tags r:id="rId10"/>
            </p:custDataLst>
          </p:nvPr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4635500" y="1905000"/>
            <a:ext cx="406400" cy="406400"/>
          </a:xfrm>
          <a:prstGeom prst="rect">
            <a:avLst/>
          </a:prstGeom>
        </p:spPr>
      </p:pic>
      <p:sp>
        <p:nvSpPr>
          <p:cNvPr id="12" name="AutoShape 12"/>
          <p:cNvSpPr/>
          <p:nvPr>
            <p:custDataLst>
              <p:tags r:id="rId13"/>
            </p:custDataLst>
          </p:nvPr>
        </p:nvSpPr>
        <p:spPr>
          <a:xfrm>
            <a:off x="5143500" y="1905000"/>
            <a:ext cx="2540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003366"/>
                </a:solidFill>
                <a:latin typeface="Noto Sans SC"/>
                <a:ea typeface="Noto Sans SC"/>
                <a:cs typeface="Noto Sans SC"/>
                <a:sym typeface="Noto Sans SC"/>
              </a:rPr>
              <a:t>核心内容</a:t>
            </a:r>
            <a:endParaRPr lang="en-US" sz="2000" b="1" i="0" u="none" strike="noStrike">
              <a:solidFill>
                <a:srgbClr val="003366"/>
              </a:solidFill>
              <a:latin typeface="Noto Sans SC"/>
              <a:ea typeface="Noto Sans SC"/>
              <a:cs typeface="Noto Sans SC"/>
              <a:sym typeface="Noto Sans SC"/>
            </a:endParaRPr>
          </a:p>
        </p:txBody>
      </p:sp>
      <p:cxnSp>
        <p:nvCxnSpPr>
          <p:cNvPr id="13" name="Connector 13"/>
          <p:cNvCxnSpPr/>
          <p:nvPr>
            <p:custDataLst>
              <p:tags r:id="rId14"/>
            </p:custDataLst>
          </p:nvPr>
        </p:nvCxnSpPr>
        <p:spPr>
          <a:xfrm rot="-14946">
            <a:off x="4635514" y="2343150"/>
            <a:ext cx="2921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25400" cap="flat" cmpd="sng">
            <a:solidFill>
              <a:srgbClr val="4A90E2">
                <a:alpha val="100000"/>
              </a:srgbClr>
            </a:solidFill>
            <a:prstDash val="solid"/>
            <a:round/>
            <a:headEnd type="none" w="lg" len="lg"/>
            <a:tailEnd type="none" w="lg" len="lg"/>
          </a:ln>
        </p:spPr>
      </p:cxnSp>
      <p:sp>
        <p:nvSpPr>
          <p:cNvPr id="14" name="AutoShape 14"/>
          <p:cNvSpPr/>
          <p:nvPr>
            <p:custDataLst>
              <p:tags r:id="rId15"/>
            </p:custDataLst>
          </p:nvPr>
        </p:nvSpPr>
        <p:spPr>
          <a:xfrm>
            <a:off x="4635500" y="2476500"/>
            <a:ext cx="2921000" cy="1270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177800" indent="-177800" algn="l">
              <a:lnSpc>
                <a:spcPct val="125000"/>
              </a:lnSpc>
              <a:buClr>
                <a:srgbClr val="333333"/>
              </a:buClr>
              <a:buChar char="•"/>
              <a:defRPr/>
            </a:pPr>
            <a:r>
              <a:rPr lang="en-US" sz="1600" b="0" i="0" u="none" strike="noStrike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构建引文网络</a:t>
            </a:r>
            <a:endParaRPr lang="en-US" sz="1200"/>
          </a:p>
          <a:p>
            <a:pPr marL="177800" indent="-177800" algn="l">
              <a:lnSpc>
                <a:spcPct val="125000"/>
              </a:lnSpc>
              <a:buClr>
                <a:srgbClr val="333333"/>
              </a:buClr>
              <a:buChar char="•"/>
            </a:pPr>
            <a:r>
              <a:rPr lang="en-US" sz="1600" b="0" i="0" u="none" strike="noStrike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Node2Vec 生成节点嵌入特征</a:t>
            </a:r>
            <a:endParaRPr lang="en-US" sz="1600" b="0" i="0" u="none" strike="noStrike">
              <a:solidFill>
                <a:srgbClr val="333333"/>
              </a:solidFill>
              <a:latin typeface="Noto Sans SC"/>
              <a:ea typeface="Noto Sans SC"/>
              <a:cs typeface="Noto Sans SC"/>
              <a:sym typeface="Noto Sans SC"/>
            </a:endParaRPr>
          </a:p>
          <a:p>
            <a:pPr marL="177800" indent="-177800" algn="l">
              <a:lnSpc>
                <a:spcPct val="125000"/>
              </a:lnSpc>
              <a:buClr>
                <a:srgbClr val="333333"/>
              </a:buClr>
              <a:buChar char="•"/>
            </a:pPr>
            <a:r>
              <a:rPr lang="en-US" sz="1600" b="0" i="0" u="none" strike="noStrike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结合结构特征进行分类评估</a:t>
            </a:r>
            <a:endParaRPr lang="en-US" sz="1600" b="0" i="0" u="none" strike="noStrike">
              <a:solidFill>
                <a:srgbClr val="333333"/>
              </a:solidFill>
              <a:latin typeface="Noto Sans SC"/>
              <a:ea typeface="Noto Sans SC"/>
              <a:cs typeface="Noto Sans SC"/>
              <a:sym typeface="Noto Sans SC"/>
            </a:endParaRPr>
          </a:p>
        </p:txBody>
      </p:sp>
      <p:sp>
        <p:nvSpPr>
          <p:cNvPr id="15" name="AutoShape 15"/>
          <p:cNvSpPr/>
          <p:nvPr>
            <p:custDataLst>
              <p:tags r:id="rId16"/>
            </p:custDataLst>
          </p:nvPr>
        </p:nvSpPr>
        <p:spPr>
          <a:xfrm>
            <a:off x="8001000" y="1651000"/>
            <a:ext cx="3429000" cy="2286000"/>
          </a:xfrm>
          <a:prstGeom prst="roundRect">
            <a:avLst>
              <a:gd name="adj" fmla="val 5555"/>
            </a:avLst>
          </a:prstGeom>
          <a:solidFill>
            <a:srgbClr val="F5F7FA">
              <a:alpha val="9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 sz="1600"/>
          </a:p>
        </p:txBody>
      </p:sp>
      <p:pic>
        <p:nvPicPr>
          <p:cNvPr id="16" name="Picture 16"/>
          <p:cNvPicPr>
            <a:picLocks noChangeAspect="1"/>
          </p:cNvPicPr>
          <p:nvPr>
            <p:custDataLst>
              <p:tags r:id="rId17"/>
            </p:custDataLst>
          </p:nvPr>
        </p:nvPicPr>
        <p:blipFill>
          <a:blip r:embed="rId1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9"/>
              </a:ext>
            </a:extLst>
          </a:blip>
          <a:stretch>
            <a:fillRect/>
          </a:stretch>
        </p:blipFill>
        <p:spPr>
          <a:xfrm>
            <a:off x="8255000" y="1905000"/>
            <a:ext cx="406400" cy="406400"/>
          </a:xfrm>
          <a:prstGeom prst="rect">
            <a:avLst/>
          </a:prstGeom>
        </p:spPr>
      </p:pic>
      <p:sp>
        <p:nvSpPr>
          <p:cNvPr id="17" name="AutoShape 17"/>
          <p:cNvSpPr/>
          <p:nvPr>
            <p:custDataLst>
              <p:tags r:id="rId20"/>
            </p:custDataLst>
          </p:nvPr>
        </p:nvSpPr>
        <p:spPr>
          <a:xfrm>
            <a:off x="8763000" y="1905000"/>
            <a:ext cx="2540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003366"/>
                </a:solidFill>
                <a:latin typeface="Noto Sans SC"/>
                <a:ea typeface="Noto Sans SC"/>
                <a:cs typeface="Noto Sans SC"/>
                <a:sym typeface="Noto Sans SC"/>
              </a:rPr>
              <a:t>实施步骤</a:t>
            </a:r>
            <a:endParaRPr lang="en-US" sz="2000" b="1" i="0" u="none" strike="noStrike">
              <a:solidFill>
                <a:srgbClr val="003366"/>
              </a:solidFill>
              <a:latin typeface="Noto Sans SC"/>
              <a:ea typeface="Noto Sans SC"/>
              <a:cs typeface="Noto Sans SC"/>
              <a:sym typeface="Noto Sans SC"/>
            </a:endParaRPr>
          </a:p>
        </p:txBody>
      </p:sp>
      <p:cxnSp>
        <p:nvCxnSpPr>
          <p:cNvPr id="18" name="Connector 18"/>
          <p:cNvCxnSpPr/>
          <p:nvPr>
            <p:custDataLst>
              <p:tags r:id="rId21"/>
            </p:custDataLst>
          </p:nvPr>
        </p:nvCxnSpPr>
        <p:spPr>
          <a:xfrm rot="-14946">
            <a:off x="8255014" y="2343150"/>
            <a:ext cx="2921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25400" cap="flat" cmpd="sng">
            <a:solidFill>
              <a:srgbClr val="4A90E2">
                <a:alpha val="100000"/>
              </a:srgbClr>
            </a:solidFill>
            <a:prstDash val="solid"/>
            <a:round/>
            <a:headEnd type="none" w="lg" len="lg"/>
            <a:tailEnd type="none" w="lg" len="lg"/>
          </a:ln>
        </p:spPr>
      </p:cxnSp>
      <p:sp>
        <p:nvSpPr>
          <p:cNvPr id="19" name="AutoShape 19"/>
          <p:cNvSpPr/>
          <p:nvPr>
            <p:custDataLst>
              <p:tags r:id="rId22"/>
            </p:custDataLst>
          </p:nvPr>
        </p:nvSpPr>
        <p:spPr>
          <a:xfrm>
            <a:off x="8255000" y="2476500"/>
            <a:ext cx="2921000" cy="1270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600" b="0" i="0" u="none" strike="noStrike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1. 数据预处理与网络构建</a:t>
            </a:r>
            <a:br>
              <a:rPr lang="en-US" sz="1600" b="0" i="0" u="none" strike="noStrike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</a:br>
            <a:r>
              <a:rPr lang="en-US" sz="1600" b="0" i="0" u="none" strike="noStrike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2. PageRank 节点重要性排序</a:t>
            </a:r>
            <a:br>
              <a:rPr lang="en-US" sz="1600" b="0" i="0" u="none" strike="noStrike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</a:br>
            <a:r>
              <a:rPr lang="en-US" sz="1600" b="0" i="0" u="none" strike="noStrike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3. 嵌入生成与分类模型训练</a:t>
            </a:r>
            <a:br>
              <a:rPr lang="en-US" sz="1600" b="0" i="0" u="none" strike="noStrike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</a:br>
            <a:r>
              <a:rPr lang="en-US" sz="1600" b="0" i="0" u="none" strike="noStrike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4. 指标计算与可视化分析</a:t>
            </a:r>
            <a:endParaRPr lang="en-US" sz="1600" b="0" i="0" u="none" strike="noStrike">
              <a:solidFill>
                <a:srgbClr val="333333"/>
              </a:solidFill>
              <a:latin typeface="Noto Sans SC"/>
              <a:ea typeface="Noto Sans SC"/>
              <a:cs typeface="Noto Sans SC"/>
              <a:sym typeface="Noto Sans SC"/>
            </a:endParaRPr>
          </a:p>
        </p:txBody>
      </p:sp>
      <p:sp>
        <p:nvSpPr>
          <p:cNvPr id="20" name="AutoShape 20"/>
          <p:cNvSpPr/>
          <p:nvPr/>
        </p:nvSpPr>
        <p:spPr>
          <a:xfrm>
            <a:off x="762000" y="4191000"/>
            <a:ext cx="10668000" cy="1905000"/>
          </a:xfrm>
          <a:prstGeom prst="roundRect">
            <a:avLst>
              <a:gd name="adj" fmla="val 6666"/>
            </a:avLst>
          </a:prstGeom>
          <a:solidFill>
            <a:srgbClr val="F5F7FA">
              <a:alpha val="9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 sz="1600"/>
          </a:p>
        </p:txBody>
      </p:sp>
      <p:pic>
        <p:nvPicPr>
          <p:cNvPr id="21" name="Picture 21"/>
          <p:cNvPicPr>
            <a:picLocks noChangeAspect="1"/>
          </p:cNvPicPr>
          <p:nvPr/>
        </p:nvPicPr>
        <p:blipFill>
          <a:blip r:embed="rId2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4"/>
              </a:ext>
            </a:extLst>
          </a:blip>
          <a:stretch>
            <a:fillRect/>
          </a:stretch>
        </p:blipFill>
        <p:spPr>
          <a:xfrm>
            <a:off x="1016000" y="4445000"/>
            <a:ext cx="406400" cy="406400"/>
          </a:xfrm>
          <a:prstGeom prst="rect">
            <a:avLst/>
          </a:prstGeom>
        </p:spPr>
      </p:pic>
      <p:sp>
        <p:nvSpPr>
          <p:cNvPr id="22" name="AutoShape 22"/>
          <p:cNvSpPr/>
          <p:nvPr/>
        </p:nvSpPr>
        <p:spPr>
          <a:xfrm>
            <a:off x="1524000" y="4445000"/>
            <a:ext cx="2540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003366"/>
                </a:solidFill>
                <a:latin typeface="Noto Sans SC"/>
                <a:ea typeface="Noto Sans SC"/>
                <a:cs typeface="Noto Sans SC"/>
                <a:sym typeface="Noto Sans SC"/>
              </a:rPr>
              <a:t>实验</a:t>
            </a:r>
            <a:r>
              <a:rPr lang="zh-CN" altLang="en-US" sz="2000" b="1" i="0" u="none" strike="noStrike">
                <a:solidFill>
                  <a:srgbClr val="003366"/>
                </a:solidFill>
                <a:latin typeface="Noto Sans SC"/>
                <a:ea typeface="Noto Sans SC"/>
                <a:cs typeface="Noto Sans SC"/>
                <a:sym typeface="Noto Sans SC"/>
              </a:rPr>
              <a:t>过程</a:t>
            </a:r>
            <a:r>
              <a:rPr lang="zh-CN" altLang="en-US" sz="2000" b="1" i="0" u="none" strike="noStrike">
                <a:solidFill>
                  <a:srgbClr val="003366"/>
                </a:solidFill>
                <a:latin typeface="Noto Sans SC"/>
                <a:ea typeface="Noto Sans SC"/>
                <a:cs typeface="Noto Sans SC"/>
                <a:sym typeface="Noto Sans SC"/>
              </a:rPr>
              <a:t>掌握</a:t>
            </a:r>
            <a:endParaRPr lang="zh-CN" altLang="en-US" sz="2000" b="1" i="0" u="none" strike="noStrike">
              <a:solidFill>
                <a:srgbClr val="003366"/>
              </a:solidFill>
              <a:latin typeface="Noto Sans SC"/>
              <a:ea typeface="Noto Sans SC"/>
              <a:cs typeface="Noto Sans SC"/>
              <a:sym typeface="Noto Sans SC"/>
            </a:endParaRPr>
          </a:p>
        </p:txBody>
      </p:sp>
      <p:cxnSp>
        <p:nvCxnSpPr>
          <p:cNvPr id="23" name="Connector 23"/>
          <p:cNvCxnSpPr/>
          <p:nvPr/>
        </p:nvCxnSpPr>
        <p:spPr>
          <a:xfrm rot="-4297">
            <a:off x="1016004" y="4883150"/>
            <a:ext cx="10160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25400" cap="flat" cmpd="sng">
            <a:solidFill>
              <a:srgbClr val="4A90E2">
                <a:alpha val="100000"/>
              </a:srgbClr>
            </a:solidFill>
            <a:prstDash val="solid"/>
            <a:round/>
            <a:headEnd type="none" w="lg" len="lg"/>
            <a:tailEnd type="none" w="lg" len="lg"/>
          </a:ln>
        </p:spPr>
      </p:cxnSp>
      <p:sp>
        <p:nvSpPr>
          <p:cNvPr id="24" name="AutoShape 24"/>
          <p:cNvSpPr/>
          <p:nvPr/>
        </p:nvSpPr>
        <p:spPr>
          <a:xfrm>
            <a:off x="1016000" y="5016500"/>
            <a:ext cx="101600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177800" indent="-177800" algn="l">
              <a:lnSpc>
                <a:spcPct val="125000"/>
              </a:lnSpc>
              <a:buClr>
                <a:srgbClr val="333333"/>
              </a:buClr>
              <a:buChar char="•"/>
              <a:defRPr/>
            </a:pPr>
            <a:r>
              <a:rPr lang="en-US" sz="1600" b="1" i="0" u="none" strike="noStrike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3</a:t>
            </a:r>
            <a:r>
              <a:rPr lang="zh-CN" altLang="en-US" sz="1600" b="1" i="0" u="none" strike="noStrike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个概念</a:t>
            </a:r>
            <a:r>
              <a:rPr lang="en-US" sz="1600" b="1" i="0" u="none" strike="noStrike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：</a:t>
            </a:r>
            <a:r>
              <a:rPr lang="zh-CN" altLang="en-US" sz="1600" b="1" i="0" u="none" strike="noStrike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引文网络</a:t>
            </a:r>
            <a:r>
              <a:rPr lang="en-US" altLang="zh-CN" sz="1600" b="1" i="0" u="none" strike="noStrike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、</a:t>
            </a:r>
            <a:r>
              <a:rPr lang="zh-CN" altLang="en-US" sz="1600" b="1" i="0" u="none" strike="noStrike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图表示学习</a:t>
            </a:r>
            <a:r>
              <a:rPr lang="en-US" altLang="zh-CN" sz="1600" b="1" i="0" u="none" strike="noStrike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、</a:t>
            </a:r>
            <a:r>
              <a:rPr lang="zh-CN" altLang="en-US" sz="1600" b="1" i="0" u="none" strike="noStrike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节点分类</a:t>
            </a:r>
            <a:endParaRPr lang="en-US" sz="1200"/>
          </a:p>
          <a:p>
            <a:pPr marL="177800" indent="-177800" algn="l">
              <a:lnSpc>
                <a:spcPct val="125000"/>
              </a:lnSpc>
              <a:buClr>
                <a:srgbClr val="333333"/>
              </a:buClr>
              <a:buChar char="•"/>
            </a:pPr>
            <a:r>
              <a:rPr lang="en-US" sz="1600" b="1" i="0" u="none" strike="noStrike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1</a:t>
            </a:r>
            <a:r>
              <a:rPr lang="zh-CN" altLang="en-US" sz="1600" b="1" i="0" u="none" strike="noStrike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个数据集</a:t>
            </a:r>
            <a:r>
              <a:rPr lang="en-US" sz="1600" b="1" i="0" u="none" strike="noStrike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：cora</a:t>
            </a:r>
            <a:r>
              <a:rPr lang="zh-CN" altLang="en-US" sz="1600" b="1" i="0" u="none" strike="noStrike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数据集</a:t>
            </a:r>
            <a:r>
              <a:rPr lang="en-US" sz="1600" b="0" i="0" u="none" strike="noStrike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。</a:t>
            </a:r>
            <a:endParaRPr lang="en-US" sz="1600" b="0" i="0" u="none" strike="noStrike">
              <a:solidFill>
                <a:srgbClr val="333333"/>
              </a:solidFill>
              <a:latin typeface="Noto Sans SC"/>
              <a:ea typeface="Noto Sans SC"/>
              <a:cs typeface="Noto Sans SC"/>
              <a:sym typeface="Noto Sans SC"/>
            </a:endParaRPr>
          </a:p>
          <a:p>
            <a:pPr marL="177800" indent="-177800" algn="l">
              <a:lnSpc>
                <a:spcPct val="125000"/>
              </a:lnSpc>
              <a:buClr>
                <a:srgbClr val="333333"/>
              </a:buClr>
              <a:buChar char="•"/>
            </a:pPr>
            <a:r>
              <a:rPr lang="en-US" altLang="zh-CN" sz="1600" b="1" i="0" u="none" strike="noStrike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4</a:t>
            </a:r>
            <a:r>
              <a:rPr lang="zh-CN" altLang="en-US" sz="1600" b="1" i="0" u="none" strike="noStrike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个技术</a:t>
            </a:r>
            <a:r>
              <a:rPr lang="en-US" sz="1600" b="1" i="0" u="none" strike="noStrike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：pagerank、node2vec、</a:t>
            </a:r>
            <a:r>
              <a:rPr lang="zh-CN" altLang="en-US" sz="1600" b="1" i="0" u="none" strike="noStrike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特征拼接</a:t>
            </a:r>
            <a:r>
              <a:rPr lang="en-US" altLang="zh-CN" sz="1600" b="1" i="0" u="none" strike="noStrike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、</a:t>
            </a:r>
            <a:r>
              <a:rPr lang="zh-CN" altLang="en-US" sz="1600" b="1" i="0" u="none" strike="noStrike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交叉验证</a:t>
            </a:r>
            <a:r>
              <a:rPr lang="en-US" sz="1600" b="0" i="0" u="none" strike="noStrike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。</a:t>
            </a:r>
            <a:endParaRPr lang="en-US" sz="1600" b="0" i="0" u="none" strike="noStrike">
              <a:solidFill>
                <a:srgbClr val="333333"/>
              </a:solidFill>
              <a:latin typeface="Noto Sans SC"/>
              <a:ea typeface="Noto Sans SC"/>
              <a:cs typeface="Noto Sans SC"/>
              <a:sym typeface="Noto Sans SC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文本框 1"/>
          <p:cNvSpPr txBox="1"/>
          <p:nvPr/>
        </p:nvSpPr>
        <p:spPr>
          <a:xfrm>
            <a:off x="440055" y="742950"/>
            <a:ext cx="11453495" cy="5046345"/>
          </a:xfrm>
          <a:prstGeom prst="rect">
            <a:avLst/>
          </a:prstGeom>
        </p:spPr>
        <p:txBody>
          <a:bodyPr wrap="square">
            <a:spAutoFit/>
          </a:bodyPr>
          <a:p>
            <a:pPr marL="0" indent="0" eaLnBrk="1" fontAlgn="auto" latinLnBrk="0" hangingPunct="1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</a:pPr>
            <a:r>
              <a:rPr lang="en-US" altLang="zh-CN" sz="2800" b="1" i="0">
                <a:solidFill>
                  <a:srgbClr val="000000"/>
                </a:solidFill>
                <a:latin typeface="-webkit-standard"/>
                <a:ea typeface="-webkit-standard"/>
              </a:rPr>
              <a:t>1. </a:t>
            </a:r>
            <a:r>
              <a:rPr lang="zh-CN" altLang="en-US" sz="2800" b="1" i="0">
                <a:solidFill>
                  <a:srgbClr val="000000"/>
                </a:solidFill>
                <a:latin typeface="-webkit-standard"/>
                <a:ea typeface="-webkit-standard"/>
              </a:rPr>
              <a:t>引文网络是什么，长什么样？</a:t>
            </a:r>
            <a:endParaRPr lang="en-US" altLang="zh-CN" sz="2800" b="1" i="0">
              <a:solidFill>
                <a:srgbClr val="000000"/>
              </a:solidFill>
              <a:latin typeface="-webkit-standard"/>
              <a:ea typeface="-webkit-standard"/>
            </a:endParaRPr>
          </a:p>
          <a:p>
            <a:pPr marL="0" indent="0" eaLnBrk="1" fontAlgn="auto" latinLnBrk="0" hangingPunct="1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</a:pPr>
            <a:r>
              <a:rPr lang="zh-CN" altLang="en-US" sz="2000" b="0" i="0">
                <a:solidFill>
                  <a:srgbClr val="000000"/>
                </a:solidFill>
                <a:latin typeface="-webkit-standard"/>
                <a:ea typeface="-webkit-standard"/>
              </a:rPr>
              <a:t>引文网络</a:t>
            </a:r>
            <a:r>
              <a:rPr lang="en-US" altLang="zh-CN" sz="2000" b="0" i="0">
                <a:solidFill>
                  <a:srgbClr val="000000"/>
                </a:solidFill>
                <a:latin typeface="-webkit-standard"/>
                <a:ea typeface="-webkit-standard"/>
              </a:rPr>
              <a:t> = </a:t>
            </a:r>
            <a:r>
              <a:rPr lang="zh-CN" altLang="en-US" sz="2000" b="0" i="0">
                <a:solidFill>
                  <a:srgbClr val="000000"/>
                </a:solidFill>
                <a:latin typeface="-webkit-standard"/>
                <a:ea typeface="-webkit-standard"/>
              </a:rPr>
              <a:t>论文之间互相引用形成的图</a:t>
            </a:r>
            <a:endParaRPr lang="zh-CN" altLang="en-US" sz="2000" b="0" i="0">
              <a:solidFill>
                <a:srgbClr val="000000"/>
              </a:solidFill>
              <a:latin typeface="-webkit-standard"/>
              <a:ea typeface="-webkit-standard"/>
            </a:endParaRPr>
          </a:p>
          <a:p>
            <a:pPr marL="0" indent="0" eaLnBrk="1" fontAlgn="auto" latinLnBrk="0" hangingPunct="1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</a:pPr>
            <a:r>
              <a:rPr lang="zh-CN" altLang="en-US" sz="2000" b="0" i="0">
                <a:solidFill>
                  <a:srgbClr val="000000"/>
                </a:solidFill>
                <a:latin typeface="-webkit-standard"/>
                <a:ea typeface="-webkit-standard"/>
              </a:rPr>
              <a:t>节点（</a:t>
            </a:r>
            <a:r>
              <a:rPr lang="en-US" altLang="zh-CN" sz="2000" b="0" i="0">
                <a:solidFill>
                  <a:srgbClr val="000000"/>
                </a:solidFill>
                <a:latin typeface="-webkit-standard"/>
                <a:ea typeface="-webkit-standard"/>
              </a:rPr>
              <a:t>Node</a:t>
            </a:r>
            <a:r>
              <a:rPr lang="zh-CN" altLang="en-US" sz="2000" b="0" i="0">
                <a:solidFill>
                  <a:srgbClr val="000000"/>
                </a:solidFill>
                <a:latin typeface="-webkit-standard"/>
                <a:ea typeface="-webkit-standard"/>
              </a:rPr>
              <a:t>）：一篇论文</a:t>
            </a:r>
            <a:endParaRPr lang="zh-CN" altLang="en-US" sz="2000" b="0" i="0">
              <a:solidFill>
                <a:srgbClr val="000000"/>
              </a:solidFill>
              <a:latin typeface="-webkit-standard"/>
              <a:ea typeface="-webkit-standard"/>
            </a:endParaRPr>
          </a:p>
          <a:p>
            <a:pPr marL="0" indent="0" eaLnBrk="1" fontAlgn="auto" latinLnBrk="0" hangingPunct="1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</a:pPr>
            <a:r>
              <a:rPr lang="zh-CN" altLang="en-US" sz="2000" b="0" i="0">
                <a:solidFill>
                  <a:srgbClr val="000000"/>
                </a:solidFill>
                <a:latin typeface="-webkit-standard"/>
                <a:ea typeface="-webkit-standard"/>
              </a:rPr>
              <a:t>边（</a:t>
            </a:r>
            <a:r>
              <a:rPr lang="en-US" altLang="zh-CN" sz="2000" b="0" i="0">
                <a:solidFill>
                  <a:srgbClr val="000000"/>
                </a:solidFill>
                <a:latin typeface="-webkit-standard"/>
                <a:ea typeface="-webkit-standard"/>
              </a:rPr>
              <a:t>Edge</a:t>
            </a:r>
            <a:r>
              <a:rPr lang="zh-CN" altLang="en-US" sz="2000" b="0" i="0">
                <a:solidFill>
                  <a:srgbClr val="000000"/>
                </a:solidFill>
                <a:latin typeface="-webkit-standard"/>
                <a:ea typeface="-webkit-standard"/>
              </a:rPr>
              <a:t>）：论文</a:t>
            </a:r>
            <a:r>
              <a:rPr lang="en-US" altLang="zh-CN" sz="2000" b="0" i="0">
                <a:solidFill>
                  <a:srgbClr val="000000"/>
                </a:solidFill>
                <a:latin typeface="-webkit-standard"/>
                <a:ea typeface="-webkit-standard"/>
              </a:rPr>
              <a:t> A </a:t>
            </a:r>
            <a:r>
              <a:rPr lang="zh-CN" altLang="en-US" sz="2000" b="0" i="0">
                <a:solidFill>
                  <a:srgbClr val="000000"/>
                </a:solidFill>
                <a:latin typeface="-webkit-standard"/>
                <a:ea typeface="-webkit-standard"/>
              </a:rPr>
              <a:t>引用了论文</a:t>
            </a:r>
            <a:r>
              <a:rPr lang="en-US" altLang="zh-CN" sz="2000" b="0" i="0">
                <a:solidFill>
                  <a:srgbClr val="000000"/>
                </a:solidFill>
                <a:latin typeface="-webkit-standard"/>
                <a:ea typeface="-webkit-standard"/>
              </a:rPr>
              <a:t> B</a:t>
            </a:r>
            <a:r>
              <a:rPr lang="zh-CN" altLang="en-US" sz="2000" b="0" i="0">
                <a:solidFill>
                  <a:srgbClr val="000000"/>
                </a:solidFill>
                <a:latin typeface="-webkit-standard"/>
                <a:ea typeface="-webkit-standard"/>
              </a:rPr>
              <a:t>，或者被</a:t>
            </a:r>
            <a:r>
              <a:rPr lang="en-US" altLang="zh-CN" sz="2000" b="0" i="0">
                <a:solidFill>
                  <a:srgbClr val="000000"/>
                </a:solidFill>
                <a:latin typeface="-webkit-standard"/>
                <a:ea typeface="-webkit-standard"/>
              </a:rPr>
              <a:t> B </a:t>
            </a:r>
            <a:r>
              <a:rPr lang="zh-CN" altLang="en-US" sz="2000" b="0" i="0">
                <a:solidFill>
                  <a:srgbClr val="000000"/>
                </a:solidFill>
                <a:latin typeface="-webkit-standard"/>
                <a:ea typeface="-webkit-standard"/>
              </a:rPr>
              <a:t>引用</a:t>
            </a:r>
            <a:endParaRPr lang="zh-CN" altLang="en-US" sz="2000" b="0" i="0">
              <a:solidFill>
                <a:srgbClr val="000000"/>
              </a:solidFill>
              <a:latin typeface="-webkit-standard"/>
              <a:ea typeface="-webkit-standard"/>
            </a:endParaRPr>
          </a:p>
          <a:p>
            <a:pPr marL="0" indent="0" eaLnBrk="1" fontAlgn="auto" latinLnBrk="0" hangingPunct="1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</a:pPr>
            <a:r>
              <a:rPr lang="zh-CN" altLang="en-US" sz="2000" b="0" i="0">
                <a:solidFill>
                  <a:srgbClr val="000000"/>
                </a:solidFill>
                <a:latin typeface="-webkit-standard"/>
                <a:ea typeface="-webkit-standard"/>
              </a:rPr>
              <a:t>标签（</a:t>
            </a:r>
            <a:r>
              <a:rPr lang="en-US" altLang="zh-CN" sz="2000" b="0" i="0">
                <a:solidFill>
                  <a:srgbClr val="000000"/>
                </a:solidFill>
                <a:latin typeface="-webkit-standard"/>
                <a:ea typeface="-webkit-standard"/>
              </a:rPr>
              <a:t>Label</a:t>
            </a:r>
            <a:r>
              <a:rPr lang="zh-CN" altLang="en-US" sz="2000" b="0" i="0">
                <a:solidFill>
                  <a:srgbClr val="000000"/>
                </a:solidFill>
                <a:latin typeface="-webkit-standard"/>
                <a:ea typeface="-webkit-standard"/>
              </a:rPr>
              <a:t>）：每篇论文属于哪个学科</a:t>
            </a:r>
            <a:endParaRPr lang="zh-CN" altLang="en-US" sz="2000" b="0" i="0">
              <a:solidFill>
                <a:srgbClr val="000000"/>
              </a:solidFill>
              <a:latin typeface="-webkit-standard"/>
              <a:ea typeface="-webkit-standard"/>
            </a:endParaRPr>
          </a:p>
          <a:p>
            <a:pPr marL="0" indent="0" eaLnBrk="1" fontAlgn="auto" latinLnBrk="0" hangingPunct="1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</a:pPr>
            <a:r>
              <a:rPr lang="zh-CN" altLang="en-US" sz="2000" b="0" i="0">
                <a:solidFill>
                  <a:srgbClr val="000000"/>
                </a:solidFill>
                <a:latin typeface="-webkit-standard"/>
                <a:ea typeface="-webkit-standard"/>
              </a:rPr>
              <a:t>特征：论文的标题</a:t>
            </a:r>
            <a:r>
              <a:rPr lang="en-US" altLang="zh-CN" sz="2000" b="0" i="0">
                <a:solidFill>
                  <a:srgbClr val="000000"/>
                </a:solidFill>
                <a:latin typeface="-webkit-standard"/>
                <a:ea typeface="-webkit-standard"/>
              </a:rPr>
              <a:t> / </a:t>
            </a:r>
            <a:r>
              <a:rPr lang="zh-CN" altLang="en-US" sz="2000" b="0" i="0">
                <a:solidFill>
                  <a:srgbClr val="000000"/>
                </a:solidFill>
                <a:latin typeface="-webkit-standard"/>
                <a:ea typeface="-webkit-standard"/>
              </a:rPr>
              <a:t>摘要单词向量</a:t>
            </a:r>
            <a:endParaRPr lang="zh-CN" altLang="en-US" sz="2000" b="0" i="0">
              <a:solidFill>
                <a:srgbClr val="000000"/>
              </a:solidFill>
              <a:latin typeface="-webkit-standard"/>
              <a:ea typeface="-webkit-standard"/>
            </a:endParaRPr>
          </a:p>
          <a:p>
            <a:pPr marL="0" indent="0" eaLnBrk="1" fontAlgn="auto" latinLnBrk="0" hangingPunct="1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</a:pPr>
            <a:r>
              <a:rPr lang="zh-CN" altLang="en-US" sz="2000" b="1" i="0">
                <a:solidFill>
                  <a:srgbClr val="000000"/>
                </a:solidFill>
                <a:latin typeface="-webkit-standard"/>
                <a:ea typeface="-webkit-standard"/>
              </a:rPr>
              <a:t>一句话总结</a:t>
            </a:r>
            <a:endParaRPr lang="en-US" altLang="zh-CN" sz="2000" b="1" i="0">
              <a:solidFill>
                <a:srgbClr val="000000"/>
              </a:solidFill>
              <a:latin typeface="-webkit-standard"/>
              <a:ea typeface="-webkit-standard"/>
            </a:endParaRPr>
          </a:p>
          <a:p>
            <a:pPr marL="0" indent="0" eaLnBrk="1" fontAlgn="auto" latinLnBrk="0" hangingPunct="1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</a:pPr>
            <a:r>
              <a:rPr lang="zh-CN" altLang="en-US" sz="2000" b="0" i="0">
                <a:solidFill>
                  <a:srgbClr val="000000"/>
                </a:solidFill>
                <a:latin typeface="-webkit-standard"/>
                <a:ea typeface="-webkit-standard"/>
              </a:rPr>
              <a:t>引文网络就是用</a:t>
            </a:r>
            <a:r>
              <a:rPr lang="en-US" altLang="zh-CN" sz="2000" b="0" i="0">
                <a:solidFill>
                  <a:srgbClr val="000000"/>
                </a:solidFill>
                <a:latin typeface="-webkit-standard"/>
                <a:ea typeface="-webkit-standard"/>
              </a:rPr>
              <a:t> “</a:t>
            </a:r>
            <a:r>
              <a:rPr lang="zh-CN" altLang="en-US" sz="2000" b="0" i="0">
                <a:solidFill>
                  <a:srgbClr val="000000"/>
                </a:solidFill>
                <a:latin typeface="-webkit-standard"/>
                <a:ea typeface="-webkit-standard"/>
              </a:rPr>
              <a:t>图</a:t>
            </a:r>
            <a:r>
              <a:rPr lang="en-US" altLang="zh-CN" sz="2000" b="0" i="0">
                <a:solidFill>
                  <a:srgbClr val="000000"/>
                </a:solidFill>
                <a:latin typeface="-webkit-standard"/>
                <a:ea typeface="-webkit-standard"/>
              </a:rPr>
              <a:t>” </a:t>
            </a:r>
            <a:r>
              <a:rPr lang="zh-CN" altLang="en-US" sz="2000" b="0" i="0">
                <a:solidFill>
                  <a:srgbClr val="000000"/>
                </a:solidFill>
                <a:latin typeface="-webkit-standard"/>
                <a:ea typeface="-webkit-standard"/>
              </a:rPr>
              <a:t>来表示</a:t>
            </a:r>
            <a:r>
              <a:rPr lang="en-US" altLang="zh-CN" sz="2000" b="0" i="0">
                <a:solidFill>
                  <a:srgbClr val="000000"/>
                </a:solidFill>
                <a:latin typeface="-webkit-standard"/>
                <a:ea typeface="-webkit-standard"/>
              </a:rPr>
              <a:t> “</a:t>
            </a:r>
            <a:r>
              <a:rPr lang="zh-CN" altLang="en-US" sz="2000" b="0" i="0">
                <a:solidFill>
                  <a:srgbClr val="000000"/>
                </a:solidFill>
                <a:latin typeface="-webkit-standard"/>
                <a:ea typeface="-webkit-standard"/>
              </a:rPr>
              <a:t>谁引用了谁</a:t>
            </a:r>
            <a:r>
              <a:rPr lang="en-US" altLang="zh-CN" sz="2000" b="0" i="0">
                <a:solidFill>
                  <a:srgbClr val="000000"/>
                </a:solidFill>
                <a:latin typeface="-webkit-standard"/>
                <a:ea typeface="-webkit-standard"/>
              </a:rPr>
              <a:t>”</a:t>
            </a:r>
            <a:r>
              <a:rPr lang="zh-CN" altLang="en-US" sz="2000" b="0" i="0">
                <a:solidFill>
                  <a:srgbClr val="000000"/>
                </a:solidFill>
                <a:latin typeface="-webkit-standard"/>
                <a:ea typeface="-webkit-standard"/>
              </a:rPr>
              <a:t>，节点是论文，边是引用关系。</a:t>
            </a:r>
            <a:endParaRPr lang="zh-CN" altLang="en-US" sz="2000" b="0" i="0">
              <a:solidFill>
                <a:srgbClr val="000000"/>
              </a:solidFill>
              <a:latin typeface="-webkit-standard"/>
              <a:ea typeface="-webkit-standard"/>
            </a:endParaRPr>
          </a:p>
        </p:txBody>
      </p:sp>
      <p:pic>
        <p:nvPicPr>
          <p:cNvPr id="3" name="图片 2" descr="05a3138fee98fa8f92db63b880202a02~tplv-a9rns2rl98-pc_smart_face_crop-v1-512-384.image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016750" y="742950"/>
            <a:ext cx="4876800" cy="3657600"/>
          </a:xfrm>
          <a:prstGeom prst="rect">
            <a:avLst/>
          </a:prstGeom>
        </p:spPr>
      </p:pic>
      <p:sp>
        <p:nvSpPr>
          <p:cNvPr id="4" name="文本框 3"/>
          <p:cNvSpPr txBox="1"/>
          <p:nvPr/>
        </p:nvSpPr>
        <p:spPr>
          <a:xfrm>
            <a:off x="440055" y="6000433"/>
            <a:ext cx="5080000" cy="706755"/>
          </a:xfrm>
          <a:prstGeom prst="rect">
            <a:avLst/>
          </a:prstGeom>
        </p:spPr>
        <p:txBody>
          <a:bodyPr>
            <a:spAutoFit/>
          </a:bodyPr>
          <a:p>
            <a:pPr marL="0" indent="0" algn="l">
              <a:lnSpc>
                <a:spcPts val="24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sz="1600" b="0" i="0">
                <a:solidFill>
                  <a:schemeClr val="accent2"/>
                </a:solidFill>
                <a:latin typeface="ui-sans-serif"/>
                <a:ea typeface="ui-sans-serif"/>
              </a:rPr>
              <a:t>同类论文高度聚集，形成明显的</a:t>
            </a:r>
            <a:r>
              <a:rPr lang="zh-CN" altLang="en-US" sz="1600" b="1" i="0">
                <a:solidFill>
                  <a:schemeClr val="accent2"/>
                </a:solidFill>
                <a:latin typeface="ui-sans-serif"/>
                <a:ea typeface="ui-sans-serif"/>
              </a:rPr>
              <a:t>社区 </a:t>
            </a:r>
            <a:r>
              <a:rPr lang="en-US" altLang="zh-CN" sz="1600" b="1" i="0">
                <a:solidFill>
                  <a:schemeClr val="accent2"/>
                </a:solidFill>
                <a:latin typeface="ui-sans-serif"/>
                <a:ea typeface="ui-sans-serif"/>
              </a:rPr>
              <a:t>/ </a:t>
            </a:r>
            <a:r>
              <a:rPr lang="zh-CN" altLang="en-US" sz="1600" b="1" i="0">
                <a:solidFill>
                  <a:schemeClr val="accent2"/>
                </a:solidFill>
                <a:latin typeface="ui-sans-serif"/>
                <a:ea typeface="ui-sans-serif"/>
              </a:rPr>
              <a:t>簇</a:t>
            </a:r>
            <a:endParaRPr lang="zh-CN" altLang="en-US" sz="1600" b="1" i="0">
              <a:solidFill>
                <a:schemeClr val="accent2"/>
              </a:solidFill>
              <a:latin typeface="ui-sans-serif"/>
              <a:ea typeface="ui-sans-serif"/>
            </a:endParaRPr>
          </a:p>
          <a:p>
            <a:pPr marL="0" indent="0" algn="l">
              <a:lnSpc>
                <a:spcPts val="24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sz="1600" b="0" i="0">
                <a:solidFill>
                  <a:schemeClr val="accent2"/>
                </a:solidFill>
                <a:latin typeface="ui-sans-serif"/>
                <a:ea typeface="ui-sans-serif"/>
              </a:rPr>
              <a:t>不同社区之间存在少量</a:t>
            </a:r>
            <a:r>
              <a:rPr lang="zh-CN" altLang="en-US" sz="1600" b="1" i="0">
                <a:solidFill>
                  <a:schemeClr val="accent2"/>
                </a:solidFill>
                <a:latin typeface="ui-sans-serif"/>
                <a:ea typeface="ui-sans-serif"/>
              </a:rPr>
              <a:t>跨领域引用</a:t>
            </a:r>
            <a:endParaRPr lang="zh-CN" altLang="en-US" sz="1600" b="1" i="0">
              <a:solidFill>
                <a:schemeClr val="accent2"/>
              </a:solidFill>
              <a:latin typeface="ui-sans-serif"/>
              <a:ea typeface="ui-sans-serif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文本框 1"/>
          <p:cNvSpPr txBox="1"/>
          <p:nvPr/>
        </p:nvSpPr>
        <p:spPr>
          <a:xfrm>
            <a:off x="440055" y="290195"/>
            <a:ext cx="11453495" cy="6277610"/>
          </a:xfrm>
          <a:prstGeom prst="rect">
            <a:avLst/>
          </a:prstGeom>
        </p:spPr>
        <p:txBody>
          <a:bodyPr wrap="square">
            <a:spAutoFit/>
          </a:bodyPr>
          <a:p>
            <a:pPr marL="0" indent="0" eaLnBrk="1" fontAlgn="auto" latinLnBrk="0" hangingPunct="1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</a:pPr>
            <a:r>
              <a:rPr lang="zh-CN" altLang="en-US" sz="2800" b="1" i="0">
                <a:solidFill>
                  <a:srgbClr val="000000"/>
                </a:solidFill>
                <a:latin typeface="-webkit-standard"/>
                <a:ea typeface="-webkit-standard"/>
              </a:rPr>
              <a:t>2. 图表示学习是什么，能干什么？</a:t>
            </a:r>
            <a:endParaRPr lang="zh-CN" altLang="en-US" sz="2800" b="1" i="0">
              <a:solidFill>
                <a:srgbClr val="000000"/>
              </a:solidFill>
              <a:latin typeface="-webkit-standard"/>
              <a:ea typeface="-webkit-standard"/>
            </a:endParaRPr>
          </a:p>
          <a:p>
            <a:pPr marL="0" indent="0" eaLnBrk="1" fontAlgn="auto" latinLnBrk="0" hangingPunct="1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</a:pPr>
            <a:r>
              <a:rPr lang="zh-CN" altLang="en-US" sz="2000" b="0" i="0">
                <a:solidFill>
                  <a:srgbClr val="000000"/>
                </a:solidFill>
                <a:latin typeface="-webkit-standard"/>
                <a:ea typeface="-webkit-standard"/>
              </a:rPr>
              <a:t>图表示学习</a:t>
            </a:r>
            <a:r>
              <a:rPr lang="en-US" altLang="zh-CN" sz="2000" b="0" i="0">
                <a:solidFill>
                  <a:srgbClr val="000000"/>
                </a:solidFill>
                <a:latin typeface="-webkit-standard"/>
                <a:ea typeface="-webkit-standard"/>
              </a:rPr>
              <a:t> = </a:t>
            </a:r>
            <a:r>
              <a:rPr lang="zh-CN" altLang="en-US" sz="2000" b="0" i="0">
                <a:solidFill>
                  <a:srgbClr val="000000"/>
                </a:solidFill>
                <a:latin typeface="-webkit-standard"/>
                <a:ea typeface="-webkit-standard"/>
              </a:rPr>
              <a:t>把图里的节点变成计算机能理解的向量（</a:t>
            </a:r>
            <a:r>
              <a:rPr lang="en-US" altLang="zh-CN" sz="2000" b="0" i="0">
                <a:solidFill>
                  <a:srgbClr val="000000"/>
                </a:solidFill>
                <a:latin typeface="-webkit-standard"/>
                <a:ea typeface="-webkit-standard"/>
              </a:rPr>
              <a:t>Embedding</a:t>
            </a:r>
            <a:r>
              <a:rPr lang="zh-CN" altLang="en-US" sz="2000" b="0" i="0">
                <a:solidFill>
                  <a:srgbClr val="000000"/>
                </a:solidFill>
                <a:latin typeface="-webkit-standard"/>
                <a:ea typeface="-webkit-standard"/>
              </a:rPr>
              <a:t>）</a:t>
            </a:r>
            <a:endParaRPr lang="zh-CN" altLang="en-US" sz="2000" b="0" i="0">
              <a:solidFill>
                <a:srgbClr val="000000"/>
              </a:solidFill>
              <a:latin typeface="-webkit-standard"/>
              <a:ea typeface="-webkit-standard"/>
            </a:endParaRPr>
          </a:p>
          <a:p>
            <a:pPr marL="0" indent="0" eaLnBrk="1" fontAlgn="auto" latinLnBrk="0" hangingPunct="1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</a:pPr>
            <a:r>
              <a:rPr lang="zh-CN" altLang="en-US" sz="2000" b="1" i="0">
                <a:solidFill>
                  <a:srgbClr val="000000"/>
                </a:solidFill>
                <a:latin typeface="-webkit-standard"/>
                <a:ea typeface="-webkit-standard"/>
              </a:rPr>
              <a:t>它在做什么？</a:t>
            </a:r>
            <a:endParaRPr lang="en-US" altLang="zh-CN" sz="2000" b="1" i="0">
              <a:solidFill>
                <a:srgbClr val="000000"/>
              </a:solidFill>
              <a:latin typeface="-webkit-standard"/>
              <a:ea typeface="-webkit-standard"/>
            </a:endParaRPr>
          </a:p>
          <a:p>
            <a:pPr marL="0" indent="0" eaLnBrk="1" fontAlgn="auto" latinLnBrk="0" hangingPunct="1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</a:pPr>
            <a:r>
              <a:rPr lang="zh-CN" altLang="en-US" sz="2000" b="0" i="0">
                <a:solidFill>
                  <a:srgbClr val="000000"/>
                </a:solidFill>
                <a:latin typeface="-webkit-standard"/>
                <a:ea typeface="-webkit-standard"/>
              </a:rPr>
              <a:t>让结构相似的节点，向量也相似</a:t>
            </a:r>
            <a:r>
              <a:rPr lang="en-US" altLang="zh-CN" sz="2000" b="0" i="0">
                <a:solidFill>
                  <a:srgbClr val="000000"/>
                </a:solidFill>
                <a:latin typeface="-webkit-standard"/>
                <a:ea typeface="-webkit-standard"/>
              </a:rPr>
              <a:t>。</a:t>
            </a:r>
            <a:r>
              <a:rPr lang="zh-CN" altLang="en-US" sz="2000" b="0" i="0">
                <a:solidFill>
                  <a:srgbClr val="000000"/>
                </a:solidFill>
                <a:latin typeface="-webkit-standard"/>
                <a:ea typeface="-webkit-standard"/>
              </a:rPr>
              <a:t>比如：经常互相引用的论文</a:t>
            </a:r>
            <a:r>
              <a:rPr lang="en-US" altLang="zh-CN" sz="2000" b="0" i="0">
                <a:solidFill>
                  <a:srgbClr val="000000"/>
                </a:solidFill>
                <a:latin typeface="-webkit-standard"/>
                <a:ea typeface="-webkit-standard"/>
              </a:rPr>
              <a:t> </a:t>
            </a:r>
            <a:r>
              <a:rPr lang="en-US" altLang="en-US" sz="2000" b="0" i="0">
                <a:solidFill>
                  <a:srgbClr val="000000"/>
                </a:solidFill>
                <a:latin typeface="-webkit-standard"/>
                <a:ea typeface="-webkit-standard"/>
              </a:rPr>
              <a:t>→</a:t>
            </a:r>
            <a:r>
              <a:rPr lang="en-US" altLang="zh-CN" sz="2000" b="0" i="0">
                <a:solidFill>
                  <a:srgbClr val="000000"/>
                </a:solidFill>
                <a:latin typeface="-webkit-standard"/>
                <a:ea typeface="-webkit-standard"/>
              </a:rPr>
              <a:t> </a:t>
            </a:r>
            <a:r>
              <a:rPr lang="zh-CN" altLang="en-US" sz="2000" b="0" i="0">
                <a:solidFill>
                  <a:srgbClr val="000000"/>
                </a:solidFill>
                <a:latin typeface="-webkit-standard"/>
                <a:ea typeface="-webkit-standard"/>
              </a:rPr>
              <a:t>向量靠得近</a:t>
            </a:r>
            <a:endParaRPr lang="en-US" altLang="zh-CN" sz="2000" b="0" i="0">
              <a:solidFill>
                <a:srgbClr val="000000"/>
              </a:solidFill>
              <a:latin typeface="-webkit-standard"/>
              <a:ea typeface="-webkit-standard"/>
            </a:endParaRPr>
          </a:p>
          <a:p>
            <a:pPr marL="0" indent="0" eaLnBrk="1" fontAlgn="auto" latinLnBrk="0" hangingPunct="1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</a:pPr>
            <a:r>
              <a:rPr lang="en-US" altLang="zh-CN" sz="2000" b="0" i="0">
                <a:solidFill>
                  <a:srgbClr val="000000"/>
                </a:solidFill>
                <a:latin typeface="-webkit-standard"/>
                <a:ea typeface="-webkit-standard"/>
              </a:rPr>
              <a:t>Node2Vec</a:t>
            </a:r>
            <a:r>
              <a:rPr lang="zh-CN" altLang="en-US" sz="2000" b="0" i="0">
                <a:solidFill>
                  <a:srgbClr val="000000"/>
                </a:solidFill>
                <a:latin typeface="-webkit-standard"/>
                <a:ea typeface="-webkit-standard"/>
              </a:rPr>
              <a:t>（图表示学习方法）让机器读懂</a:t>
            </a:r>
            <a:r>
              <a:rPr lang="en-US" altLang="zh-CN" sz="2000" b="0" i="0">
                <a:solidFill>
                  <a:srgbClr val="000000"/>
                </a:solidFill>
                <a:latin typeface="-webkit-standard"/>
                <a:ea typeface="-webkit-standard"/>
              </a:rPr>
              <a:t> “</a:t>
            </a:r>
            <a:r>
              <a:rPr lang="zh-CN" altLang="en-US" sz="2000" b="0" i="0">
                <a:solidFill>
                  <a:srgbClr val="000000"/>
                </a:solidFill>
                <a:latin typeface="-webkit-standard"/>
                <a:ea typeface="-webkit-standard"/>
              </a:rPr>
              <a:t>谁和谁相连</a:t>
            </a:r>
            <a:r>
              <a:rPr lang="en-US" altLang="zh-CN" sz="2000" b="0" i="0">
                <a:solidFill>
                  <a:srgbClr val="000000"/>
                </a:solidFill>
                <a:latin typeface="-webkit-standard"/>
                <a:ea typeface="-webkit-standard"/>
              </a:rPr>
              <a:t>”，</a:t>
            </a:r>
            <a:r>
              <a:rPr lang="zh-CN" altLang="en-US" sz="2000" b="0" i="0">
                <a:solidFill>
                  <a:srgbClr val="000000"/>
                </a:solidFill>
                <a:latin typeface="-webkit-standard"/>
                <a:ea typeface="-webkit-standard"/>
              </a:rPr>
              <a:t>输出：每个节点一个</a:t>
            </a:r>
            <a:r>
              <a:rPr lang="en-US" altLang="zh-CN" sz="2000" b="0" i="0">
                <a:solidFill>
                  <a:srgbClr val="000000"/>
                </a:solidFill>
                <a:latin typeface="-webkit-standard"/>
                <a:ea typeface="-webkit-standard"/>
              </a:rPr>
              <a:t> 128 </a:t>
            </a:r>
            <a:r>
              <a:rPr lang="zh-CN" altLang="en-US" sz="2000" b="0" i="0">
                <a:solidFill>
                  <a:srgbClr val="000000"/>
                </a:solidFill>
                <a:latin typeface="-webkit-standard"/>
                <a:ea typeface="-webkit-standard"/>
              </a:rPr>
              <a:t>维向量</a:t>
            </a:r>
            <a:endParaRPr lang="zh-CN" altLang="en-US" sz="2000" b="0" i="0">
              <a:solidFill>
                <a:srgbClr val="000000"/>
              </a:solidFill>
              <a:latin typeface="-webkit-standard"/>
              <a:ea typeface="-webkit-standard"/>
            </a:endParaRPr>
          </a:p>
          <a:p>
            <a:pPr marL="0" indent="0" eaLnBrk="1" fontAlgn="auto" latinLnBrk="0" hangingPunct="1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</a:pPr>
            <a:r>
              <a:rPr lang="en-US" altLang="zh-CN" sz="2000" b="0" i="0">
                <a:solidFill>
                  <a:srgbClr val="000000"/>
                </a:solidFill>
                <a:latin typeface="-webkit-standard"/>
                <a:ea typeface="-webkit-standard"/>
              </a:rPr>
              <a:t>PageRank</a:t>
            </a:r>
            <a:r>
              <a:rPr lang="zh-CN" altLang="en-US" sz="2000" b="0" i="0">
                <a:solidFill>
                  <a:srgbClr val="000000"/>
                </a:solidFill>
                <a:latin typeface="-webkit-standard"/>
                <a:ea typeface="-webkit-standard"/>
              </a:rPr>
              <a:t>（图重要性算法）衡量节点重要性</a:t>
            </a:r>
            <a:r>
              <a:rPr lang="en-US" altLang="zh-CN" sz="2000" b="0" i="0">
                <a:solidFill>
                  <a:srgbClr val="000000"/>
                </a:solidFill>
                <a:latin typeface="-webkit-standard"/>
                <a:ea typeface="-webkit-standard"/>
              </a:rPr>
              <a:t>，</a:t>
            </a:r>
            <a:r>
              <a:rPr lang="zh-CN" altLang="en-US" sz="2000" b="0" i="0">
                <a:solidFill>
                  <a:srgbClr val="000000"/>
                </a:solidFill>
                <a:latin typeface="-webkit-standard"/>
                <a:ea typeface="-webkit-standard"/>
              </a:rPr>
              <a:t>输出：每个节点一个</a:t>
            </a:r>
            <a:r>
              <a:rPr lang="en-US" altLang="zh-CN" sz="2000" b="0" i="0">
                <a:solidFill>
                  <a:srgbClr val="000000"/>
                </a:solidFill>
                <a:latin typeface="-webkit-standard"/>
                <a:ea typeface="-webkit-standard"/>
              </a:rPr>
              <a:t> </a:t>
            </a:r>
            <a:r>
              <a:rPr lang="zh-CN" altLang="en-US" sz="2000" b="0" i="0">
                <a:solidFill>
                  <a:srgbClr val="000000"/>
                </a:solidFill>
                <a:latin typeface="-webkit-standard"/>
                <a:ea typeface="-webkit-standard"/>
              </a:rPr>
              <a:t>重要性分数</a:t>
            </a:r>
            <a:endParaRPr lang="zh-CN" altLang="en-US" sz="2000" b="0" i="0">
              <a:solidFill>
                <a:srgbClr val="000000"/>
              </a:solidFill>
              <a:latin typeface="-webkit-standard"/>
              <a:ea typeface="-webkit-standard"/>
            </a:endParaRPr>
          </a:p>
          <a:p>
            <a:pPr marL="0" indent="0" eaLnBrk="1" fontAlgn="auto" latinLnBrk="0" hangingPunct="1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</a:pPr>
            <a:r>
              <a:rPr lang="zh-CN" altLang="en-US" sz="2000" b="1" i="0">
                <a:solidFill>
                  <a:srgbClr val="000000"/>
                </a:solidFill>
                <a:latin typeface="-webkit-standard"/>
                <a:ea typeface="-webkit-standard"/>
              </a:rPr>
              <a:t>图表示学习能干嘛？</a:t>
            </a:r>
            <a:endParaRPr lang="en-US" altLang="zh-CN" sz="2000" b="1" i="0">
              <a:solidFill>
                <a:srgbClr val="000000"/>
              </a:solidFill>
              <a:latin typeface="-webkit-standard"/>
              <a:ea typeface="-webkit-standard"/>
            </a:endParaRPr>
          </a:p>
          <a:p>
            <a:pPr marL="0" indent="0" eaLnBrk="1" fontAlgn="auto" latinLnBrk="0" hangingPunct="1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</a:pPr>
            <a:r>
              <a:rPr lang="zh-CN" altLang="en-US" sz="2000" b="0" i="0">
                <a:solidFill>
                  <a:srgbClr val="000000"/>
                </a:solidFill>
                <a:latin typeface="-webkit-standard"/>
                <a:ea typeface="-webkit-standard"/>
              </a:rPr>
              <a:t>节点分类</a:t>
            </a:r>
            <a:r>
              <a:rPr lang="en-US" altLang="zh-CN" sz="2000" b="0" i="0">
                <a:solidFill>
                  <a:srgbClr val="000000"/>
                </a:solidFill>
                <a:latin typeface="-webkit-standard"/>
                <a:ea typeface="-webkit-standard"/>
              </a:rPr>
              <a:t>、</a:t>
            </a:r>
            <a:r>
              <a:rPr lang="zh-CN" altLang="en-US" sz="2000" b="0" i="0">
                <a:solidFill>
                  <a:srgbClr val="000000"/>
                </a:solidFill>
                <a:latin typeface="-webkit-standard"/>
                <a:ea typeface="-webkit-standard"/>
              </a:rPr>
              <a:t>推荐系统</a:t>
            </a:r>
            <a:r>
              <a:rPr lang="en-US" altLang="zh-CN" sz="2000" b="0" i="0">
                <a:solidFill>
                  <a:srgbClr val="000000"/>
                </a:solidFill>
                <a:latin typeface="-webkit-standard"/>
                <a:ea typeface="-webkit-standard"/>
              </a:rPr>
              <a:t>、</a:t>
            </a:r>
            <a:r>
              <a:rPr lang="zh-CN" altLang="en-US" sz="2000" b="0" i="0">
                <a:solidFill>
                  <a:srgbClr val="000000"/>
                </a:solidFill>
                <a:latin typeface="-webkit-standard"/>
                <a:ea typeface="-webkit-standard"/>
              </a:rPr>
              <a:t>药物发现</a:t>
            </a:r>
            <a:r>
              <a:rPr lang="en-US" altLang="zh-CN" sz="2000" b="0" i="0">
                <a:solidFill>
                  <a:srgbClr val="000000"/>
                </a:solidFill>
                <a:latin typeface="-webkit-standard"/>
                <a:ea typeface="-webkit-standard"/>
              </a:rPr>
              <a:t>、</a:t>
            </a:r>
            <a:r>
              <a:rPr lang="zh-CN" altLang="en-US" sz="2000" b="0" i="0">
                <a:solidFill>
                  <a:srgbClr val="000000"/>
                </a:solidFill>
                <a:latin typeface="-webkit-standard"/>
                <a:ea typeface="-webkit-standard"/>
              </a:rPr>
              <a:t>欺诈检测</a:t>
            </a:r>
            <a:endParaRPr lang="zh-CN" altLang="en-US" sz="2000" b="0" i="0">
              <a:solidFill>
                <a:srgbClr val="000000"/>
              </a:solidFill>
              <a:latin typeface="-webkit-standard"/>
              <a:ea typeface="-webkit-standard"/>
            </a:endParaRPr>
          </a:p>
          <a:p>
            <a:pPr marL="0" indent="0" eaLnBrk="1" fontAlgn="auto" latinLnBrk="0" hangingPunct="1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</a:pPr>
            <a:r>
              <a:rPr lang="zh-CN" altLang="en-US" sz="2000" b="1" i="0">
                <a:solidFill>
                  <a:srgbClr val="000000"/>
                </a:solidFill>
                <a:latin typeface="-webkit-standard"/>
                <a:ea typeface="-webkit-standard"/>
              </a:rPr>
              <a:t>一句话总结</a:t>
            </a:r>
            <a:endParaRPr lang="en-US" altLang="zh-CN" sz="2000" b="1" i="0">
              <a:solidFill>
                <a:srgbClr val="000000"/>
              </a:solidFill>
              <a:latin typeface="-webkit-standard"/>
              <a:ea typeface="-webkit-standard"/>
            </a:endParaRPr>
          </a:p>
          <a:p>
            <a:pPr marL="0" indent="0" eaLnBrk="1" fontAlgn="auto" latinLnBrk="0" hangingPunct="1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</a:pPr>
            <a:r>
              <a:rPr lang="zh-CN" altLang="en-US" sz="2000" b="0" i="0">
                <a:solidFill>
                  <a:srgbClr val="000000"/>
                </a:solidFill>
                <a:latin typeface="-webkit-standard"/>
                <a:ea typeface="-webkit-standard"/>
              </a:rPr>
              <a:t>图表示学习就是把</a:t>
            </a:r>
            <a:r>
              <a:rPr lang="en-US" altLang="zh-CN" sz="2000" b="0" i="0">
                <a:solidFill>
                  <a:srgbClr val="000000"/>
                </a:solidFill>
                <a:latin typeface="-webkit-standard"/>
                <a:ea typeface="-webkit-standard"/>
              </a:rPr>
              <a:t> “</a:t>
            </a:r>
            <a:r>
              <a:rPr lang="zh-CN" altLang="en-US" sz="2000" b="0" i="0">
                <a:solidFill>
                  <a:srgbClr val="000000"/>
                </a:solidFill>
                <a:latin typeface="-webkit-standard"/>
                <a:ea typeface="-webkit-standard"/>
              </a:rPr>
              <a:t>图结构</a:t>
            </a:r>
            <a:r>
              <a:rPr lang="en-US" altLang="zh-CN" sz="2000" b="0" i="0">
                <a:solidFill>
                  <a:srgbClr val="000000"/>
                </a:solidFill>
                <a:latin typeface="-webkit-standard"/>
                <a:ea typeface="-webkit-standard"/>
              </a:rPr>
              <a:t>” </a:t>
            </a:r>
            <a:r>
              <a:rPr lang="zh-CN" altLang="en-US" sz="2000" b="0" i="0">
                <a:solidFill>
                  <a:srgbClr val="000000"/>
                </a:solidFill>
                <a:latin typeface="-webkit-standard"/>
                <a:ea typeface="-webkit-standard"/>
              </a:rPr>
              <a:t>翻译成</a:t>
            </a:r>
            <a:r>
              <a:rPr lang="en-US" altLang="zh-CN" sz="2000" b="0" i="0">
                <a:solidFill>
                  <a:srgbClr val="000000"/>
                </a:solidFill>
                <a:latin typeface="-webkit-standard"/>
                <a:ea typeface="-webkit-standard"/>
              </a:rPr>
              <a:t> “</a:t>
            </a:r>
            <a:r>
              <a:rPr lang="zh-CN" altLang="en-US" sz="2000" b="0" i="0">
                <a:solidFill>
                  <a:srgbClr val="000000"/>
                </a:solidFill>
                <a:latin typeface="-webkit-standard"/>
                <a:ea typeface="-webkit-standard"/>
              </a:rPr>
              <a:t>向量</a:t>
            </a:r>
            <a:r>
              <a:rPr lang="en-US" altLang="zh-CN" sz="2000" b="0" i="0">
                <a:solidFill>
                  <a:srgbClr val="000000"/>
                </a:solidFill>
                <a:latin typeface="-webkit-standard"/>
                <a:ea typeface="-webkit-standard"/>
              </a:rPr>
              <a:t>”</a:t>
            </a:r>
            <a:r>
              <a:rPr lang="zh-CN" altLang="en-US" sz="2000" b="0" i="0">
                <a:solidFill>
                  <a:srgbClr val="000000"/>
                </a:solidFill>
                <a:latin typeface="-webkit-standard"/>
                <a:ea typeface="-webkit-standard"/>
              </a:rPr>
              <a:t>，让</a:t>
            </a:r>
            <a:r>
              <a:rPr lang="en-US" altLang="zh-CN" sz="2000" b="0" i="0">
                <a:solidFill>
                  <a:srgbClr val="000000"/>
                </a:solidFill>
                <a:latin typeface="-webkit-standard"/>
                <a:ea typeface="-webkit-standard"/>
              </a:rPr>
              <a:t> AI </a:t>
            </a:r>
            <a:r>
              <a:rPr lang="zh-CN" altLang="en-US" sz="2000" b="0" i="0">
                <a:solidFill>
                  <a:srgbClr val="000000"/>
                </a:solidFill>
                <a:latin typeface="-webkit-standard"/>
                <a:ea typeface="-webkit-standard"/>
              </a:rPr>
              <a:t>能读懂网络关系。</a:t>
            </a:r>
            <a:endParaRPr lang="zh-CN" altLang="en-US" sz="2000" b="0" i="0">
              <a:solidFill>
                <a:srgbClr val="000000"/>
              </a:solidFill>
              <a:latin typeface="-webkit-standard"/>
              <a:ea typeface="-webkit-standard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文本框 1"/>
          <p:cNvSpPr txBox="1"/>
          <p:nvPr/>
        </p:nvSpPr>
        <p:spPr>
          <a:xfrm>
            <a:off x="597535" y="671830"/>
            <a:ext cx="11081385" cy="5784215"/>
          </a:xfrm>
          <a:prstGeom prst="rect">
            <a:avLst/>
          </a:prstGeom>
        </p:spPr>
        <p:txBody>
          <a:bodyPr wrap="square">
            <a:noAutofit/>
          </a:bodyPr>
          <a:p>
            <a:pPr marL="0" algn="l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SzTx/>
              <a:buNone/>
            </a:pPr>
            <a:r>
              <a:rPr lang="zh-CN" altLang="en-US" sz="2800" b="1" i="0">
                <a:latin typeface="-webkit-standard"/>
                <a:ea typeface="-webkit-standard"/>
              </a:rPr>
              <a:t>3. 什么是节点分类，可以怎么实现？</a:t>
            </a:r>
            <a:endParaRPr lang="zh-CN" altLang="en-US" sz="2800" b="1" i="0">
              <a:latin typeface="-webkit-standard"/>
              <a:ea typeface="-webkit-standard"/>
            </a:endParaRPr>
          </a:p>
          <a:p>
            <a:pPr marL="0" algn="l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SzTx/>
              <a:buNone/>
            </a:pPr>
            <a:r>
              <a:rPr lang="zh-CN" altLang="en-US" sz="2000" i="0">
                <a:latin typeface="-webkit-standard"/>
                <a:ea typeface="-webkit-standard"/>
              </a:rPr>
              <a:t>节点分类 = 给图里每个节点贴标签（分类）</a:t>
            </a:r>
            <a:endParaRPr lang="zh-CN" altLang="en-US" sz="2000" i="0">
              <a:latin typeface="-webkit-standard"/>
              <a:ea typeface="-webkit-standard"/>
            </a:endParaRPr>
          </a:p>
          <a:p>
            <a:pPr marL="0" algn="l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SzTx/>
              <a:buNone/>
            </a:pPr>
            <a:r>
              <a:rPr lang="zh-CN" altLang="en-US" sz="2000" b="0" i="0">
                <a:latin typeface="-webkit-standard"/>
                <a:ea typeface="-webkit-standard"/>
              </a:rPr>
              <a:t>在 Cora 里就是：</a:t>
            </a:r>
            <a:endParaRPr lang="zh-CN" altLang="en-US" sz="2000" b="0" i="0">
              <a:latin typeface="-webkit-standard"/>
              <a:ea typeface="-webkit-standard"/>
            </a:endParaRPr>
          </a:p>
          <a:p>
            <a:pPr marL="0" algn="l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SzTx/>
              <a:buNone/>
            </a:pPr>
            <a:r>
              <a:rPr lang="zh-CN" altLang="en-US" sz="2000" i="0">
                <a:latin typeface="-webkit-standard"/>
                <a:ea typeface="-webkit-standard"/>
              </a:rPr>
              <a:t>根据引用关系 → 判断这篇论文属于哪个学科</a:t>
            </a:r>
            <a:endParaRPr lang="zh-CN" altLang="en-US" sz="2000" i="0">
              <a:latin typeface="-webkit-standard"/>
              <a:ea typeface="-webkit-standard"/>
            </a:endParaRPr>
          </a:p>
          <a:p>
            <a:pPr marL="0" algn="l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SzTx/>
              <a:buNone/>
            </a:pPr>
            <a:r>
              <a:rPr lang="zh-CN" altLang="en-US" sz="2000" b="0" i="0">
                <a:latin typeface="-webkit-standard"/>
                <a:ea typeface="-webkit-standard"/>
              </a:rPr>
              <a:t>例子</a:t>
            </a:r>
            <a:endParaRPr lang="zh-CN" altLang="en-US" sz="2000" b="0" i="0">
              <a:latin typeface="-webkit-standard"/>
              <a:ea typeface="-webkit-standard"/>
            </a:endParaRPr>
          </a:p>
          <a:p>
            <a:pPr marL="0" algn="l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SzTx/>
              <a:buFont typeface="Arial" panose="020B0604020202090204"/>
              <a:buChar char="•"/>
            </a:pPr>
            <a:r>
              <a:rPr lang="zh-CN" altLang="en-US" sz="2000" b="0" i="0">
                <a:latin typeface="-webkit-standard"/>
                <a:ea typeface="-webkit-standard"/>
              </a:rPr>
              <a:t>论文 A 经常被 “神经网络” 领域的论文引用 → 分类为 </a:t>
            </a:r>
            <a:r>
              <a:rPr lang="zh-CN" altLang="en-US" sz="2000" i="0">
                <a:latin typeface="-webkit-standard"/>
                <a:ea typeface="-webkit-standard"/>
              </a:rPr>
              <a:t>Neural_Networks</a:t>
            </a:r>
            <a:endParaRPr lang="zh-CN" altLang="en-US" sz="2000" i="0">
              <a:latin typeface="-webkit-standard"/>
              <a:ea typeface="-webkit-standard"/>
            </a:endParaRPr>
          </a:p>
          <a:p>
            <a:pPr marL="0" algn="l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SzTx/>
              <a:buFont typeface="Arial" panose="020B0604020202090204"/>
              <a:buChar char="•"/>
            </a:pPr>
            <a:r>
              <a:rPr lang="zh-CN" altLang="en-US" sz="2000" b="0" i="0">
                <a:latin typeface="-webkit-standard"/>
                <a:ea typeface="-webkit-standard"/>
              </a:rPr>
              <a:t>论文 B 经常和 “遗传算法” 的论文相连 → 分类为 </a:t>
            </a:r>
            <a:r>
              <a:rPr lang="zh-CN" altLang="en-US" sz="2000" i="0">
                <a:latin typeface="-webkit-standard"/>
                <a:ea typeface="-webkit-standard"/>
              </a:rPr>
              <a:t>Genetic_Algorithms</a:t>
            </a:r>
            <a:endParaRPr lang="zh-CN" altLang="en-US" sz="2000" i="0">
              <a:latin typeface="-webkit-standard"/>
              <a:ea typeface="-webkit-standard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文本框 1"/>
          <p:cNvSpPr txBox="1"/>
          <p:nvPr/>
        </p:nvSpPr>
        <p:spPr>
          <a:xfrm>
            <a:off x="104140" y="0"/>
            <a:ext cx="11115675" cy="6708775"/>
          </a:xfrm>
          <a:prstGeom prst="rect">
            <a:avLst/>
          </a:prstGeom>
        </p:spPr>
        <p:txBody>
          <a:bodyPr wrap="square">
            <a:spAutoFit/>
          </a:bodyPr>
          <a:p>
            <a:pPr marL="0" algn="l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SzTx/>
              <a:buNone/>
            </a:pPr>
            <a:r>
              <a:rPr lang="zh-CN" altLang="en-US" sz="2000" b="1" i="0">
                <a:latin typeface="-webkit-standard"/>
                <a:ea typeface="-webkit-standard"/>
              </a:rPr>
              <a:t>节点分类怎么实现？</a:t>
            </a:r>
            <a:endParaRPr lang="zh-CN" altLang="en-US" sz="2000" b="1" i="0">
              <a:latin typeface="-webkit-standard"/>
              <a:ea typeface="-webkit-standard"/>
            </a:endParaRPr>
          </a:p>
          <a:p>
            <a:pPr marL="0" algn="l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SzTx/>
              <a:buNone/>
            </a:pPr>
            <a:r>
              <a:rPr lang="zh-CN" altLang="en-US" sz="2000" b="0" i="0">
                <a:latin typeface="-webkit-standard"/>
                <a:ea typeface="-webkit-standard"/>
              </a:rPr>
              <a:t>步骤 1：构建图</a:t>
            </a:r>
            <a:r>
              <a:rPr lang="en-US" altLang="zh-CN" sz="2000" b="0" i="0">
                <a:latin typeface="-webkit-standard"/>
                <a:ea typeface="-webkit-standard"/>
              </a:rPr>
              <a:t>，</a:t>
            </a:r>
            <a:r>
              <a:rPr lang="zh-CN" altLang="en-US" sz="2000" b="0" i="0">
                <a:latin typeface="-webkit-standard"/>
                <a:ea typeface="-webkit-standard"/>
              </a:rPr>
              <a:t>节点 = 论文，边 = 引用关系</a:t>
            </a:r>
            <a:endParaRPr lang="zh-CN" altLang="en-US" sz="2000" b="0" i="0">
              <a:latin typeface="-webkit-standard"/>
              <a:ea typeface="-webkit-standard"/>
            </a:endParaRPr>
          </a:p>
          <a:p>
            <a:pPr marL="0" algn="l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SzTx/>
              <a:buNone/>
            </a:pPr>
            <a:r>
              <a:rPr lang="zh-CN" altLang="en-US" sz="2000" b="0" i="0">
                <a:latin typeface="-webkit-standard"/>
                <a:ea typeface="-webkit-standard"/>
              </a:rPr>
              <a:t>步骤 2：提取特征</a:t>
            </a:r>
            <a:endParaRPr lang="zh-CN" altLang="en-US" sz="2000" b="0" i="0">
              <a:latin typeface="-webkit-standard"/>
              <a:ea typeface="-webkit-standard"/>
            </a:endParaRPr>
          </a:p>
          <a:p>
            <a:pPr marL="0" algn="l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SzTx/>
              <a:buAutoNum type="arabicPeriod"/>
            </a:pPr>
            <a:r>
              <a:rPr lang="zh-CN" altLang="en-US" sz="2000" i="0">
                <a:latin typeface="-webkit-standard"/>
                <a:ea typeface="-webkit-standard"/>
              </a:rPr>
              <a:t>Node2Vec 学习结构特征</a:t>
            </a:r>
            <a:r>
              <a:rPr lang="zh-CN" altLang="en-US" sz="2000" b="0" i="0">
                <a:latin typeface="-webkit-standard"/>
                <a:ea typeface="-webkit-standard"/>
              </a:rPr>
              <a:t>（节点向量）</a:t>
            </a:r>
            <a:endParaRPr lang="zh-CN" altLang="en-US" sz="2000" b="0" i="0">
              <a:latin typeface="-webkit-standard"/>
              <a:ea typeface="-webkit-standard"/>
            </a:endParaRPr>
          </a:p>
          <a:p>
            <a:pPr marL="0" algn="l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SzTx/>
              <a:buAutoNum type="arabicPeriod"/>
            </a:pPr>
            <a:r>
              <a:rPr lang="zh-CN" altLang="en-US" sz="2000" i="0">
                <a:latin typeface="-webkit-standard"/>
                <a:ea typeface="-webkit-standard"/>
              </a:rPr>
              <a:t>PageRank 计算重要性</a:t>
            </a:r>
            <a:r>
              <a:rPr lang="zh-CN" altLang="en-US" sz="2000" b="0" i="0">
                <a:latin typeface="-webkit-standard"/>
                <a:ea typeface="-webkit-standard"/>
              </a:rPr>
              <a:t>（重要性分数）</a:t>
            </a:r>
            <a:endParaRPr lang="zh-CN" altLang="en-US" sz="2000" b="0" i="0">
              <a:latin typeface="-webkit-standard"/>
              <a:ea typeface="-webkit-standard"/>
            </a:endParaRPr>
          </a:p>
          <a:p>
            <a:pPr marL="0" algn="l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SzTx/>
              <a:buAutoNum type="arabicPeriod"/>
            </a:pPr>
            <a:r>
              <a:rPr lang="zh-CN" altLang="en-US" sz="2000" i="0">
                <a:latin typeface="-webkit-standard"/>
                <a:ea typeface="-webkit-standard"/>
              </a:rPr>
              <a:t>特征拼接</a:t>
            </a:r>
            <a:endParaRPr lang="zh-CN" altLang="en-US" sz="2000" i="0">
              <a:latin typeface="-webkit-standard"/>
              <a:ea typeface="-webkit-standard"/>
            </a:endParaRPr>
          </a:p>
          <a:p>
            <a:pPr marL="0" algn="l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SzTx/>
              <a:buNone/>
            </a:pPr>
            <a:r>
              <a:rPr lang="zh-CN" altLang="en-US" sz="2000" b="0" i="0">
                <a:latin typeface="-webkit-standard"/>
                <a:ea typeface="-webkit-standard"/>
              </a:rPr>
              <a:t>Node2Vec向量 + PageRank分数 = 最终特征</a:t>
            </a:r>
            <a:endParaRPr lang="zh-CN" altLang="en-US" sz="2000" b="0" i="0">
              <a:latin typeface="-webkit-standard"/>
              <a:ea typeface="-webkit-standard"/>
            </a:endParaRPr>
          </a:p>
          <a:p>
            <a:pPr marL="0" algn="l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SzTx/>
              <a:buNone/>
            </a:pPr>
            <a:r>
              <a:rPr lang="zh-CN" altLang="en-US" sz="2000" b="0" i="0">
                <a:latin typeface="-webkit-standard"/>
                <a:ea typeface="-webkit-standard"/>
              </a:rPr>
              <a:t>步骤 3：训练分类器用逻辑回归</a:t>
            </a:r>
            <a:r>
              <a:rPr lang="en-US" altLang="zh-CN" sz="2000" b="0" i="0">
                <a:latin typeface="-webkit-standard"/>
                <a:ea typeface="-webkit-standard"/>
              </a:rPr>
              <a:t>，</a:t>
            </a:r>
            <a:r>
              <a:rPr lang="zh-CN" altLang="en-US" sz="2000" b="0" i="0">
                <a:latin typeface="-webkit-standard"/>
                <a:ea typeface="-webkit-standard"/>
              </a:rPr>
              <a:t>输入：拼接好的特征</a:t>
            </a:r>
            <a:r>
              <a:rPr lang="en-US" altLang="zh-CN" sz="2000" b="0" i="0">
                <a:latin typeface="-webkit-standard"/>
                <a:ea typeface="-webkit-standard"/>
              </a:rPr>
              <a:t>，</a:t>
            </a:r>
            <a:r>
              <a:rPr lang="zh-CN" altLang="en-US" sz="2000" b="0" i="0">
                <a:latin typeface="-webkit-standard"/>
                <a:ea typeface="-webkit-standard"/>
              </a:rPr>
              <a:t>输出：论文类别</a:t>
            </a:r>
            <a:endParaRPr lang="zh-CN" altLang="en-US" sz="2000" b="0" i="0">
              <a:latin typeface="-webkit-standard"/>
              <a:ea typeface="-webkit-standard"/>
            </a:endParaRPr>
          </a:p>
          <a:p>
            <a:pPr marL="0" algn="l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SzTx/>
              <a:buNone/>
            </a:pPr>
            <a:r>
              <a:rPr lang="zh-CN" altLang="en-US" sz="2000" b="0" i="0">
                <a:latin typeface="-webkit-standard"/>
                <a:ea typeface="-webkit-standard"/>
              </a:rPr>
              <a:t>步骤 4：评估效果</a:t>
            </a:r>
            <a:endParaRPr lang="zh-CN" altLang="en-US" sz="2000" b="0" i="0">
              <a:latin typeface="-webkit-standard"/>
              <a:ea typeface="-webkit-standard"/>
            </a:endParaRPr>
          </a:p>
          <a:p>
            <a:pPr marL="0" algn="l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SzTx/>
              <a:buFont typeface="Arial" panose="020B0604020202090204"/>
              <a:buChar char="•"/>
            </a:pPr>
            <a:r>
              <a:rPr lang="zh-CN" altLang="en-US" sz="2000" b="0" i="0">
                <a:latin typeface="-webkit-standard"/>
                <a:ea typeface="-webkit-standard"/>
              </a:rPr>
              <a:t>交叉验证（看模型稳不稳定）</a:t>
            </a:r>
            <a:endParaRPr lang="zh-CN" altLang="en-US" sz="2000" b="0" i="0">
              <a:latin typeface="-webkit-standard"/>
              <a:ea typeface="-webkit-standard"/>
            </a:endParaRPr>
          </a:p>
          <a:p>
            <a:pPr marL="0" algn="l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SzTx/>
              <a:buFont typeface="Arial" panose="020B0604020202090204"/>
              <a:buChar char="•"/>
            </a:pPr>
            <a:r>
              <a:rPr lang="zh-CN" altLang="en-US" sz="2000" b="0" i="0">
                <a:latin typeface="-webkit-standard"/>
                <a:ea typeface="-webkit-standard"/>
              </a:rPr>
              <a:t>测试集评估（看真实准确率）</a:t>
            </a:r>
            <a:endParaRPr lang="zh-CN" altLang="en-US" sz="2000" b="0" i="0">
              <a:latin typeface="-webkit-standard"/>
              <a:ea typeface="-webkit-standard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文本框 1"/>
          <p:cNvSpPr txBox="1"/>
          <p:nvPr/>
        </p:nvSpPr>
        <p:spPr>
          <a:xfrm>
            <a:off x="685165" y="502920"/>
            <a:ext cx="10821035" cy="504634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indent="0" eaLnBrk="1" fontAlgn="auto" latinLnBrk="0" hangingPunct="1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</a:pPr>
            <a:r>
              <a:rPr lang="zh-CN" altLang="en-US" sz="2400" b="1">
                <a:latin typeface="ui-sans-serif"/>
                <a:ea typeface="ui-sans-serif"/>
                <a:sym typeface="+mn-ea"/>
              </a:rPr>
              <a:t>数据集</a:t>
            </a:r>
            <a:r>
              <a:rPr lang="zh-CN" altLang="en-US" sz="2000">
                <a:latin typeface="-webkit-standard"/>
                <a:ea typeface="-webkit-standard"/>
                <a:sym typeface="+mn-ea"/>
              </a:rPr>
              <a:t>：</a:t>
            </a:r>
            <a:r>
              <a:rPr lang="en-US" altLang="zh-CN" sz="2000">
                <a:latin typeface="-webkit-standard"/>
                <a:ea typeface="-webkit-standard"/>
                <a:sym typeface="+mn-ea"/>
              </a:rPr>
              <a:t>Cora </a:t>
            </a:r>
            <a:r>
              <a:rPr lang="zh-CN" altLang="en-US" sz="2000">
                <a:latin typeface="-webkit-standard"/>
                <a:ea typeface="-webkit-standard"/>
                <a:sym typeface="+mn-ea"/>
              </a:rPr>
              <a:t>引文网络（自动下载）</a:t>
            </a:r>
            <a:endParaRPr lang="zh-CN" altLang="en-US" sz="2000" b="0" i="0">
              <a:solidFill>
                <a:srgbClr val="000000"/>
              </a:solidFill>
              <a:latin typeface="-webkit-standard"/>
              <a:ea typeface="-webkit-standard"/>
            </a:endParaRPr>
          </a:p>
          <a:p>
            <a:pPr marL="342900" indent="-342900" eaLnBrk="1" fontAlgn="auto" latinLnBrk="0" hangingPunct="1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Font typeface="Arial" panose="020B0604020202090204" pitchFamily="34" charset="0"/>
              <a:buChar char="•"/>
            </a:pPr>
            <a:r>
              <a:rPr lang="zh-CN" altLang="en-US" sz="2000">
                <a:latin typeface="-webkit-standard"/>
                <a:ea typeface="-webkit-standard"/>
                <a:sym typeface="+mn-ea"/>
              </a:rPr>
              <a:t>节点：</a:t>
            </a:r>
            <a:r>
              <a:rPr lang="en-US" altLang="zh-CN" sz="2000">
                <a:latin typeface="-webkit-standard"/>
                <a:ea typeface="-webkit-standard"/>
                <a:sym typeface="+mn-ea"/>
              </a:rPr>
              <a:t>2708 </a:t>
            </a:r>
            <a:r>
              <a:rPr lang="zh-CN" altLang="en-US" sz="2000">
                <a:latin typeface="-webkit-standard"/>
                <a:ea typeface="-webkit-standard"/>
                <a:sym typeface="+mn-ea"/>
              </a:rPr>
              <a:t>篇学术论文</a:t>
            </a:r>
            <a:endParaRPr lang="zh-CN" altLang="en-US" sz="2000" b="0" i="0">
              <a:solidFill>
                <a:srgbClr val="000000"/>
              </a:solidFill>
              <a:latin typeface="-webkit-standard"/>
              <a:ea typeface="-webkit-standard"/>
            </a:endParaRPr>
          </a:p>
          <a:p>
            <a:pPr marL="342900" indent="-342900" eaLnBrk="1" fontAlgn="auto" latinLnBrk="0" hangingPunct="1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Font typeface="Arial" panose="020B0604020202090204" pitchFamily="34" charset="0"/>
              <a:buChar char="•"/>
            </a:pPr>
            <a:r>
              <a:rPr lang="zh-CN" altLang="en-US" sz="2000">
                <a:latin typeface="-webkit-standard"/>
                <a:ea typeface="-webkit-standard"/>
                <a:sym typeface="+mn-ea"/>
              </a:rPr>
              <a:t>边：论文引用关系</a:t>
            </a:r>
            <a:endParaRPr lang="zh-CN" altLang="en-US" sz="2000" b="0" i="0">
              <a:solidFill>
                <a:srgbClr val="000000"/>
              </a:solidFill>
              <a:latin typeface="-webkit-standard"/>
              <a:ea typeface="-webkit-standard"/>
            </a:endParaRPr>
          </a:p>
          <a:p>
            <a:pPr marL="342900" indent="-342900" eaLnBrk="1" fontAlgn="auto" latinLnBrk="0" hangingPunct="1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Font typeface="Arial" panose="020B0604020202090204" pitchFamily="34" charset="0"/>
              <a:buChar char="•"/>
            </a:pPr>
            <a:r>
              <a:rPr lang="zh-CN" altLang="en-US" sz="2000">
                <a:latin typeface="-webkit-standard"/>
                <a:ea typeface="-webkit-standard"/>
                <a:sym typeface="+mn-ea"/>
              </a:rPr>
              <a:t>标签：</a:t>
            </a:r>
            <a:r>
              <a:rPr lang="en-US" altLang="zh-CN" sz="2000">
                <a:latin typeface="-webkit-standard"/>
                <a:ea typeface="-webkit-standard"/>
                <a:sym typeface="+mn-ea"/>
              </a:rPr>
              <a:t>7 </a:t>
            </a:r>
            <a:r>
              <a:rPr lang="zh-CN" altLang="en-US" sz="2000">
                <a:latin typeface="-webkit-standard"/>
                <a:ea typeface="-webkit-standard"/>
                <a:sym typeface="+mn-ea"/>
              </a:rPr>
              <a:t>个主题类别</a:t>
            </a:r>
            <a:endParaRPr lang="zh-CN" altLang="en-US" sz="2000" b="0" i="0">
              <a:solidFill>
                <a:srgbClr val="000000"/>
              </a:solidFill>
              <a:latin typeface="-webkit-standard"/>
              <a:ea typeface="-webkit-standard"/>
            </a:endParaRPr>
          </a:p>
          <a:p>
            <a:pPr marL="342900" indent="-342900" eaLnBrk="1" fontAlgn="auto" latinLnBrk="0" hangingPunct="1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Font typeface="Arial" panose="020B0604020202090204" pitchFamily="34" charset="0"/>
              <a:buChar char="•"/>
            </a:pPr>
            <a:r>
              <a:rPr lang="zh-CN" altLang="en-US" sz="2000">
                <a:latin typeface="-webkit-standard"/>
                <a:ea typeface="-webkit-standard"/>
                <a:sym typeface="+mn-ea"/>
              </a:rPr>
              <a:t>任务：根据网络结构对论文进行分类</a:t>
            </a:r>
            <a:endParaRPr lang="zh-CN" altLang="en-US" sz="2000" b="0" i="0">
              <a:solidFill>
                <a:srgbClr val="000000"/>
              </a:solidFill>
              <a:latin typeface="-webkit-standard"/>
              <a:ea typeface="-webkit-standard"/>
            </a:endParaRPr>
          </a:p>
          <a:p>
            <a:pPr marL="0" indent="0" eaLnBrk="1" fontAlgn="auto" latinLnBrk="0" hangingPunct="1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</a:pPr>
            <a:r>
              <a:rPr lang="zh-CN" altLang="en-US" sz="2400" b="1">
                <a:latin typeface="ui-sans-serif"/>
                <a:ea typeface="ui-sans-serif"/>
                <a:sym typeface="+mn-ea"/>
              </a:rPr>
              <a:t>核心方法</a:t>
            </a:r>
            <a:r>
              <a:rPr lang="zh-CN" altLang="en-US" sz="2000">
                <a:latin typeface="-webkit-standard"/>
                <a:ea typeface="-webkit-standard"/>
                <a:sym typeface="+mn-ea"/>
              </a:rPr>
              <a:t>：对比「纯 </a:t>
            </a:r>
            <a:r>
              <a:rPr lang="en-US" altLang="zh-CN" sz="2000">
                <a:latin typeface="-webkit-standard"/>
                <a:ea typeface="-webkit-standard"/>
                <a:sym typeface="+mn-ea"/>
              </a:rPr>
              <a:t>Node2Vec</a:t>
            </a:r>
            <a:r>
              <a:rPr lang="zh-CN" altLang="en-US" sz="2000">
                <a:latin typeface="-webkit-standard"/>
                <a:ea typeface="-webkit-standard"/>
                <a:sym typeface="+mn-ea"/>
              </a:rPr>
              <a:t>」</a:t>
            </a:r>
            <a:r>
              <a:rPr lang="en-US" altLang="zh-CN" sz="2000">
                <a:latin typeface="-webkit-standard"/>
                <a:ea typeface="-webkit-standard"/>
                <a:sym typeface="+mn-ea"/>
              </a:rPr>
              <a:t>/</a:t>
            </a:r>
            <a:r>
              <a:rPr lang="zh-CN" altLang="en-US" sz="2000">
                <a:latin typeface="-webkit-standard"/>
                <a:ea typeface="-webkit-standard"/>
                <a:sym typeface="+mn-ea"/>
              </a:rPr>
              <a:t>「</a:t>
            </a:r>
            <a:r>
              <a:rPr lang="en-US" altLang="zh-CN" sz="2000">
                <a:latin typeface="-webkit-standard"/>
                <a:ea typeface="-webkit-standard"/>
                <a:sym typeface="+mn-ea"/>
              </a:rPr>
              <a:t>Node2Vec+PageRank</a:t>
            </a:r>
            <a:r>
              <a:rPr lang="zh-CN" altLang="en-US" sz="2000">
                <a:latin typeface="-webkit-standard"/>
                <a:ea typeface="-webkit-standard"/>
                <a:sym typeface="+mn-ea"/>
              </a:rPr>
              <a:t>」两组实验</a:t>
            </a:r>
            <a:endParaRPr lang="zh-CN" altLang="en-US" sz="2000" b="0" i="0">
              <a:solidFill>
                <a:srgbClr val="000000"/>
              </a:solidFill>
              <a:latin typeface="-webkit-standard"/>
              <a:ea typeface="-webkit-standard"/>
            </a:endParaRPr>
          </a:p>
          <a:p>
            <a:pPr marL="342900" indent="-342900" eaLnBrk="1" fontAlgn="auto" latinLnBrk="0" hangingPunct="1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Font typeface="Arial" panose="020B0604020202090204" pitchFamily="34" charset="0"/>
              <a:buChar char="•"/>
            </a:pPr>
            <a:r>
              <a:rPr lang="zh-CN" altLang="en-US" sz="2000">
                <a:latin typeface="-webkit-standard"/>
                <a:ea typeface="-webkit-standard"/>
                <a:sym typeface="+mn-ea"/>
              </a:rPr>
              <a:t>改变</a:t>
            </a:r>
            <a:r>
              <a:rPr lang="en-US" altLang="zh-CN" sz="2000">
                <a:latin typeface="-webkit-standard"/>
                <a:ea typeface="-webkit-standard"/>
                <a:sym typeface="+mn-ea"/>
              </a:rPr>
              <a:t> Node2Vec </a:t>
            </a:r>
            <a:r>
              <a:rPr lang="zh-CN" altLang="en-US" sz="2000">
                <a:latin typeface="-webkit-standard"/>
                <a:ea typeface="-webkit-standard"/>
                <a:sym typeface="+mn-ea"/>
              </a:rPr>
              <a:t>嵌入维度（</a:t>
            </a:r>
            <a:r>
              <a:rPr lang="en-US" altLang="zh-CN" sz="2000">
                <a:latin typeface="-webkit-standard"/>
                <a:ea typeface="-webkit-standard"/>
                <a:sym typeface="+mn-ea"/>
              </a:rPr>
              <a:t>64/128/256</a:t>
            </a:r>
            <a:r>
              <a:rPr lang="zh-CN" altLang="en-US" sz="2000">
                <a:latin typeface="-webkit-standard"/>
                <a:ea typeface="-webkit-standard"/>
                <a:sym typeface="+mn-ea"/>
              </a:rPr>
              <a:t>），观察分类性能变化</a:t>
            </a:r>
            <a:endParaRPr lang="zh-CN" altLang="en-US" sz="2000" b="0" i="0">
              <a:solidFill>
                <a:srgbClr val="000000"/>
              </a:solidFill>
              <a:latin typeface="-webkit-standard"/>
              <a:ea typeface="-webkit-standard"/>
            </a:endParaRPr>
          </a:p>
          <a:p>
            <a:pPr marL="342900" indent="-342900" eaLnBrk="1" fontAlgn="auto" latinLnBrk="0" hangingPunct="1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Font typeface="Arial" panose="020B0604020202090204" pitchFamily="34" charset="0"/>
              <a:buChar char="•"/>
            </a:pPr>
            <a:r>
              <a:rPr lang="zh-CN" altLang="en-US" sz="2000">
                <a:latin typeface="-webkit-standard"/>
                <a:ea typeface="-webkit-standard"/>
                <a:sym typeface="+mn-ea"/>
              </a:rPr>
              <a:t>改变</a:t>
            </a:r>
            <a:r>
              <a:rPr lang="en-US" altLang="zh-CN" sz="2000">
                <a:latin typeface="-webkit-standard"/>
                <a:ea typeface="-webkit-standard"/>
                <a:sym typeface="+mn-ea"/>
              </a:rPr>
              <a:t> PageRank </a:t>
            </a:r>
            <a:r>
              <a:rPr lang="zh-CN" altLang="en-US" sz="2000">
                <a:latin typeface="-webkit-standard"/>
                <a:ea typeface="-webkit-standard"/>
                <a:sym typeface="+mn-ea"/>
              </a:rPr>
              <a:t>阻尼因子</a:t>
            </a:r>
            <a:r>
              <a:rPr lang="en-US" altLang="zh-CN" sz="2000">
                <a:latin typeface="-webkit-standard"/>
                <a:ea typeface="-webkit-standard"/>
                <a:sym typeface="+mn-ea"/>
              </a:rPr>
              <a:t> α</a:t>
            </a:r>
            <a:r>
              <a:rPr lang="zh-CN" altLang="en-US" sz="2000">
                <a:latin typeface="-webkit-standard"/>
                <a:ea typeface="-webkit-standard"/>
                <a:sym typeface="+mn-ea"/>
              </a:rPr>
              <a:t>（</a:t>
            </a:r>
            <a:r>
              <a:rPr lang="en-US" altLang="zh-CN" sz="2000">
                <a:latin typeface="-webkit-standard"/>
                <a:ea typeface="-webkit-standard"/>
                <a:sym typeface="+mn-ea"/>
              </a:rPr>
              <a:t>0.7 / 0.85 / 0.9</a:t>
            </a:r>
            <a:r>
              <a:rPr lang="zh-CN" altLang="en-US" sz="2000">
                <a:latin typeface="-webkit-standard"/>
                <a:ea typeface="-webkit-standard"/>
                <a:sym typeface="+mn-ea"/>
              </a:rPr>
              <a:t>），观察结果变化</a:t>
            </a:r>
            <a:endParaRPr lang="zh-CN" altLang="en-US" sz="2000">
              <a:latin typeface="-webkit-standard"/>
              <a:ea typeface="-webkit-standard"/>
              <a:sym typeface="+mn-ea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文本框 1"/>
          <p:cNvSpPr txBox="1"/>
          <p:nvPr/>
        </p:nvSpPr>
        <p:spPr>
          <a:xfrm>
            <a:off x="495300" y="1200785"/>
            <a:ext cx="10487025" cy="4861560"/>
          </a:xfrm>
          <a:prstGeom prst="rect">
            <a:avLst/>
          </a:prstGeom>
        </p:spPr>
        <p:txBody>
          <a:bodyPr wrap="square">
            <a:spAutoFit/>
          </a:bodyPr>
          <a:p>
            <a:pPr marL="0" indent="0" algn="l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SzTx/>
              <a:buFont typeface="Arial" panose="020B0604020202090204" pitchFamily="34" charset="0"/>
              <a:buNone/>
            </a:pPr>
            <a:r>
              <a:rPr lang="en-US" altLang="zh-CN" sz="2000" b="0" i="0">
                <a:latin typeface="-webkit-standard"/>
                <a:ea typeface="-webkit-standard"/>
              </a:rPr>
              <a:t>1. PageRank 是什么</a:t>
            </a:r>
            <a:endParaRPr lang="en-US" altLang="zh-CN" sz="2000" b="0" i="0">
              <a:latin typeface="-webkit-standard"/>
              <a:ea typeface="-webkit-standard"/>
            </a:endParaRPr>
          </a:p>
          <a:p>
            <a:pPr marL="342900" indent="-342900" algn="l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SzTx/>
              <a:buFont typeface="Arial" panose="020B0604020202090204" pitchFamily="34" charset="0"/>
              <a:buChar char="•"/>
            </a:pPr>
            <a:r>
              <a:rPr lang="en-US" altLang="zh-CN" sz="2000" b="0" i="0">
                <a:latin typeface="-webkit-standard"/>
                <a:ea typeface="-webkit-standard"/>
              </a:rPr>
              <a:t>PageRank = </a:t>
            </a:r>
            <a:r>
              <a:rPr lang="zh-CN" altLang="en-US" sz="2000" b="0" i="0">
                <a:latin typeface="-webkit-standard"/>
                <a:ea typeface="-webkit-standard"/>
              </a:rPr>
              <a:t>节点</a:t>
            </a:r>
            <a:r>
              <a:rPr lang="en-US" altLang="zh-CN" sz="2000" b="0" i="0">
                <a:latin typeface="-webkit-standard"/>
                <a:ea typeface="-webkit-standard"/>
              </a:rPr>
              <a:t>“</a:t>
            </a:r>
            <a:r>
              <a:rPr lang="zh-CN" altLang="en-US" sz="2000" b="0" i="0">
                <a:latin typeface="-webkit-standard"/>
                <a:ea typeface="-webkit-standard"/>
              </a:rPr>
              <a:t>重要性</a:t>
            </a:r>
            <a:r>
              <a:rPr lang="en-US" altLang="zh-CN" sz="2000" b="0" i="0">
                <a:latin typeface="-webkit-standard"/>
                <a:ea typeface="-webkit-standard"/>
              </a:rPr>
              <a:t>”</a:t>
            </a:r>
            <a:r>
              <a:rPr lang="zh-CN" altLang="en-US" sz="2000" b="0" i="0">
                <a:latin typeface="-webkit-standard"/>
                <a:ea typeface="-webkit-standard"/>
              </a:rPr>
              <a:t>分数</a:t>
            </a:r>
            <a:endParaRPr lang="zh-CN" altLang="en-US" sz="2000" b="0" i="0">
              <a:latin typeface="-webkit-standard"/>
              <a:ea typeface="-webkit-standard"/>
            </a:endParaRPr>
          </a:p>
          <a:p>
            <a:pPr marL="342900" indent="-342900" algn="l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SzTx/>
              <a:buFont typeface="Arial" panose="020B0604020202090204" pitchFamily="34" charset="0"/>
              <a:buChar char="•"/>
            </a:pPr>
            <a:r>
              <a:rPr lang="en-US" altLang="zh-CN" sz="2000" b="0" i="0">
                <a:latin typeface="-webkit-standard"/>
                <a:ea typeface="-webkit-standard"/>
              </a:rPr>
              <a:t>一篇论文被</a:t>
            </a:r>
            <a:r>
              <a:rPr lang="en-US" altLang="zh-CN" sz="2000" i="0">
                <a:latin typeface="-webkit-standard"/>
                <a:ea typeface="-webkit-standard"/>
              </a:rPr>
              <a:t>引用越多</a:t>
            </a:r>
            <a:r>
              <a:rPr lang="en-US" altLang="zh-CN" sz="2000" b="0" i="0">
                <a:latin typeface="-webkit-standard"/>
                <a:ea typeface="-webkit-standard"/>
              </a:rPr>
              <a:t>，PageRank 分数越高</a:t>
            </a:r>
            <a:endParaRPr lang="en-US" altLang="zh-CN" sz="2000" b="0" i="0">
              <a:latin typeface="-webkit-standard"/>
              <a:ea typeface="-webkit-standard"/>
            </a:endParaRPr>
          </a:p>
          <a:p>
            <a:pPr marL="342900" indent="-342900" algn="l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SzTx/>
              <a:buFont typeface="Arial" panose="020B0604020202090204" pitchFamily="34" charset="0"/>
              <a:buChar char="•"/>
            </a:pPr>
            <a:r>
              <a:rPr lang="en-US" altLang="zh-CN" sz="2000" b="0" i="0">
                <a:latin typeface="-webkit-standard"/>
                <a:ea typeface="-webkit-standard"/>
              </a:rPr>
              <a:t>输出：</a:t>
            </a:r>
            <a:r>
              <a:rPr lang="en-US" altLang="zh-CN" sz="2000" i="0">
                <a:latin typeface="-webkit-standard"/>
                <a:ea typeface="-webkit-standard"/>
              </a:rPr>
              <a:t>每个节点 1 维数字</a:t>
            </a:r>
            <a:r>
              <a:rPr lang="en-US" altLang="zh-CN" sz="2000" b="0" i="0">
                <a:latin typeface="-webkit-standard"/>
                <a:ea typeface="-webkit-standard"/>
              </a:rPr>
              <a:t>（表示重要程度）</a:t>
            </a:r>
            <a:endParaRPr lang="en-US" altLang="zh-CN" sz="2000" b="0" i="0">
              <a:latin typeface="-webkit-standard"/>
              <a:ea typeface="-webkit-standard"/>
            </a:endParaRPr>
          </a:p>
          <a:p>
            <a:pPr marL="342900" indent="-342900" algn="l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SzTx/>
              <a:buFont typeface="Arial" panose="020B0604020202090204" pitchFamily="34" charset="0"/>
              <a:buChar char="•"/>
            </a:pPr>
            <a:r>
              <a:rPr lang="en-US" altLang="zh-CN" sz="2000" b="0" i="0">
                <a:latin typeface="-webkit-standard"/>
                <a:ea typeface="-webkit-standard"/>
              </a:rPr>
              <a:t>作用：告诉模型 </a:t>
            </a:r>
            <a:r>
              <a:rPr lang="en-US" altLang="zh-CN" sz="2000" i="0">
                <a:latin typeface="-webkit-standard"/>
                <a:ea typeface="-webkit-standard"/>
              </a:rPr>
              <a:t>这个点重要不重要</a:t>
            </a:r>
            <a:endParaRPr lang="en-US" altLang="zh-CN" sz="2000" i="0">
              <a:latin typeface="-webkit-standard"/>
              <a:ea typeface="-webkit-standard"/>
            </a:endParaRPr>
          </a:p>
          <a:p>
            <a:pPr marL="342900" indent="-342900" algn="l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SzTx/>
              <a:buFont typeface="Arial" panose="020B0604020202090204" pitchFamily="34" charset="0"/>
              <a:buChar char="•"/>
            </a:pPr>
            <a:r>
              <a:rPr lang="en-US" altLang="zh-CN" sz="2000" b="0" i="0">
                <a:latin typeface="-webkit-standard"/>
                <a:ea typeface="-webkit-standard"/>
              </a:rPr>
              <a:t>例子：</a:t>
            </a:r>
            <a:endParaRPr lang="en-US" altLang="zh-CN" sz="2000" b="0" i="0">
              <a:latin typeface="-webkit-standard"/>
              <a:ea typeface="-webkit-standard"/>
            </a:endParaRPr>
          </a:p>
          <a:p>
            <a:pPr marL="342900" indent="-342900" algn="l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SzTx/>
              <a:buFont typeface="Arial" panose="020B0604020202090204" pitchFamily="34" charset="0"/>
              <a:buChar char="•"/>
            </a:pPr>
            <a:r>
              <a:rPr lang="en-US" altLang="zh-CN" sz="2000" b="0" i="0">
                <a:latin typeface="-webkit-standard"/>
                <a:ea typeface="-webkit-standard"/>
              </a:rPr>
              <a:t>核心论文 → PageRank 高</a:t>
            </a:r>
            <a:endParaRPr lang="en-US" altLang="zh-CN" sz="2000" b="0" i="0">
              <a:latin typeface="-webkit-standard"/>
              <a:ea typeface="-webkit-standard"/>
            </a:endParaRPr>
          </a:p>
          <a:p>
            <a:pPr marL="342900" indent="-342900" algn="l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SzTx/>
              <a:buFont typeface="Arial" panose="020B0604020202090204" pitchFamily="34" charset="0"/>
              <a:buChar char="•"/>
            </a:pPr>
            <a:r>
              <a:rPr lang="en-US" altLang="zh-CN" sz="2000" b="0" i="0">
                <a:latin typeface="-webkit-standard"/>
                <a:ea typeface="-webkit-standard"/>
              </a:rPr>
              <a:t>边缘论文 → PageRank 低</a:t>
            </a:r>
            <a:endParaRPr lang="en-US" altLang="zh-CN" sz="2000" b="0" i="0">
              <a:latin typeface="-webkit-standard"/>
              <a:ea typeface="-webkit-standard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495300" y="379730"/>
            <a:ext cx="6096000" cy="52197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en-US" altLang="zh-CN" sz="2800" b="1">
                <a:latin typeface="-webkit-standard"/>
                <a:ea typeface="-webkit-standard"/>
                <a:sym typeface="+mn-ea"/>
              </a:rPr>
              <a:t>1</a:t>
            </a:r>
            <a:r>
              <a:rPr lang="zh-CN" altLang="en-US" sz="2800" b="1">
                <a:latin typeface="-webkit-standard"/>
                <a:ea typeface="-webkit-standard"/>
                <a:sym typeface="+mn-ea"/>
              </a:rPr>
              <a:t>. </a:t>
            </a:r>
            <a:r>
              <a:rPr lang="en-US" altLang="zh-CN" sz="2800" b="1">
                <a:latin typeface="-webkit-standard"/>
                <a:ea typeface="-webkit-standard"/>
                <a:sym typeface="+mn-ea"/>
              </a:rPr>
              <a:t>Page</a:t>
            </a:r>
            <a:r>
              <a:rPr lang="en-US" altLang="zh-CN" sz="2800" b="1">
                <a:latin typeface="-webkit-standard"/>
                <a:ea typeface="-webkit-standard"/>
                <a:sym typeface="+mn-ea"/>
              </a:rPr>
              <a:t>Ran</a:t>
            </a:r>
            <a:r>
              <a:rPr lang="en-US" altLang="zh-CN" sz="2800" b="1">
                <a:latin typeface="-webkit-standard"/>
                <a:ea typeface="-webkit-standard"/>
                <a:sym typeface="+mn-ea"/>
              </a:rPr>
              <a:t>k</a:t>
            </a:r>
            <a:endParaRPr lang="en-US" altLang="zh-CN" sz="2800" b="1">
              <a:latin typeface="-webkit-standard"/>
              <a:ea typeface="-webkit-standard"/>
              <a:sym typeface="+mn-ea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文本框 1"/>
          <p:cNvSpPr txBox="1"/>
          <p:nvPr/>
        </p:nvSpPr>
        <p:spPr>
          <a:xfrm>
            <a:off x="495300" y="1200785"/>
            <a:ext cx="10487025" cy="4246245"/>
          </a:xfrm>
          <a:prstGeom prst="rect">
            <a:avLst/>
          </a:prstGeom>
        </p:spPr>
        <p:txBody>
          <a:bodyPr wrap="square">
            <a:spAutoFit/>
          </a:bodyPr>
          <a:p>
            <a:pPr marL="0" indent="0" algn="l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SzTx/>
              <a:buFont typeface="Arial" panose="020B0604020202090204" pitchFamily="34" charset="0"/>
              <a:buNone/>
            </a:pPr>
            <a:r>
              <a:rPr lang="en-US" altLang="zh-CN" sz="2000" b="0" i="0">
                <a:latin typeface="-webkit-standard"/>
                <a:ea typeface="-webkit-standard"/>
              </a:rPr>
              <a:t>2. Node2Vec </a:t>
            </a:r>
            <a:r>
              <a:rPr lang="zh-CN" altLang="en-US" sz="2000" b="0" i="0">
                <a:latin typeface="-webkit-standard"/>
                <a:ea typeface="-webkit-standard"/>
              </a:rPr>
              <a:t>是什么</a:t>
            </a:r>
            <a:endParaRPr lang="zh-CN" altLang="en-US" sz="2000" b="0" i="0">
              <a:latin typeface="-webkit-standard"/>
              <a:ea typeface="-webkit-standard"/>
            </a:endParaRPr>
          </a:p>
          <a:p>
            <a:pPr marL="342900" indent="-342900" algn="l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SzTx/>
              <a:buFont typeface="Arial" panose="020B0604020202090204" pitchFamily="34" charset="0"/>
              <a:buChar char="•"/>
            </a:pPr>
            <a:r>
              <a:rPr lang="en-US" altLang="zh-CN" sz="2000" b="0" i="0">
                <a:latin typeface="-webkit-standard"/>
                <a:ea typeface="-webkit-standard"/>
              </a:rPr>
              <a:t>Node2Vec = </a:t>
            </a:r>
            <a:r>
              <a:rPr lang="zh-CN" altLang="en-US" sz="2000" b="0" i="0">
                <a:latin typeface="-webkit-standard"/>
                <a:ea typeface="-webkit-standard"/>
              </a:rPr>
              <a:t>把节点变成向量（</a:t>
            </a:r>
            <a:r>
              <a:rPr lang="en-US" altLang="zh-CN" sz="2000" b="0" i="0">
                <a:latin typeface="-webkit-standard"/>
                <a:ea typeface="-webkit-standard"/>
              </a:rPr>
              <a:t>embedding</a:t>
            </a:r>
            <a:r>
              <a:rPr lang="zh-CN" altLang="en-US" sz="2000" b="0" i="0">
                <a:latin typeface="-webkit-standard"/>
                <a:ea typeface="-webkit-standard"/>
              </a:rPr>
              <a:t>）</a:t>
            </a:r>
            <a:endParaRPr lang="zh-CN" altLang="en-US" sz="2000" b="0" i="0">
              <a:latin typeface="-webkit-standard"/>
              <a:ea typeface="-webkit-standard"/>
            </a:endParaRPr>
          </a:p>
          <a:p>
            <a:pPr marL="342900" indent="-342900" algn="l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SzTx/>
              <a:buFont typeface="Arial" panose="020B0604020202090204" pitchFamily="34" charset="0"/>
              <a:buChar char="•"/>
            </a:pPr>
            <a:r>
              <a:rPr lang="zh-CN" altLang="en-US" sz="2000" b="0" i="0">
                <a:latin typeface="-webkit-standard"/>
                <a:ea typeface="-webkit-standard"/>
              </a:rPr>
              <a:t>学习网络结构：谁和谁相连、邻居是谁</a:t>
            </a:r>
            <a:endParaRPr lang="zh-CN" altLang="en-US" sz="2000" b="0" i="0">
              <a:latin typeface="-webkit-standard"/>
              <a:ea typeface="-webkit-standard"/>
            </a:endParaRPr>
          </a:p>
          <a:p>
            <a:pPr marL="342900" indent="-342900" algn="l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SzTx/>
              <a:buFont typeface="Arial" panose="020B0604020202090204" pitchFamily="34" charset="0"/>
              <a:buChar char="•"/>
            </a:pPr>
            <a:r>
              <a:rPr lang="zh-CN" altLang="en-US" sz="2000" b="0" i="0">
                <a:latin typeface="-webkit-standard"/>
                <a:ea typeface="-webkit-standard"/>
              </a:rPr>
              <a:t>输出：每个节点</a:t>
            </a:r>
            <a:r>
              <a:rPr lang="en-US" altLang="zh-CN" sz="2000" b="0" i="0">
                <a:latin typeface="-webkit-standard"/>
                <a:ea typeface="-webkit-standard"/>
              </a:rPr>
              <a:t> 64/128 </a:t>
            </a:r>
            <a:r>
              <a:rPr lang="zh-CN" altLang="en-US" sz="2000" b="0" i="0">
                <a:latin typeface="-webkit-standard"/>
                <a:ea typeface="-webkit-standard"/>
              </a:rPr>
              <a:t>维向量</a:t>
            </a:r>
            <a:endParaRPr lang="zh-CN" altLang="en-US" sz="2000" b="0" i="0">
              <a:latin typeface="-webkit-standard"/>
              <a:ea typeface="-webkit-standard"/>
            </a:endParaRPr>
          </a:p>
          <a:p>
            <a:pPr marL="342900" indent="-342900" algn="l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SzTx/>
              <a:buFont typeface="Arial" panose="020B0604020202090204" pitchFamily="34" charset="0"/>
              <a:buChar char="•"/>
            </a:pPr>
            <a:r>
              <a:rPr lang="zh-CN" altLang="en-US" sz="2000" b="0" i="0">
                <a:latin typeface="-webkit-standard"/>
                <a:ea typeface="-webkit-standard"/>
              </a:rPr>
              <a:t>作用：表示节点的结构相似性</a:t>
            </a:r>
            <a:endParaRPr lang="zh-CN" altLang="en-US" sz="2000" b="0" i="0">
              <a:latin typeface="-webkit-standard"/>
              <a:ea typeface="-webkit-standard"/>
            </a:endParaRPr>
          </a:p>
          <a:p>
            <a:pPr marL="342900" indent="-342900" algn="l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SzTx/>
              <a:buFont typeface="Arial" panose="020B0604020202090204" pitchFamily="34" charset="0"/>
              <a:buChar char="•"/>
            </a:pPr>
            <a:r>
              <a:rPr lang="zh-CN" altLang="en-US" sz="2000" b="0" i="0">
                <a:latin typeface="-webkit-standard"/>
                <a:ea typeface="-webkit-standard"/>
              </a:rPr>
              <a:t>例子：</a:t>
            </a:r>
            <a:endParaRPr lang="zh-CN" altLang="en-US" sz="2000" b="0" i="0">
              <a:latin typeface="-webkit-standard"/>
              <a:ea typeface="-webkit-standard"/>
            </a:endParaRPr>
          </a:p>
          <a:p>
            <a:pPr marL="342900" indent="-342900" algn="l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SzTx/>
              <a:buFont typeface="Arial" panose="020B0604020202090204" pitchFamily="34" charset="0"/>
              <a:buChar char="•"/>
            </a:pPr>
            <a:r>
              <a:rPr lang="zh-CN" altLang="en-US" sz="2000" b="0" i="0">
                <a:latin typeface="-webkit-standard"/>
                <a:ea typeface="-webkit-standard"/>
              </a:rPr>
              <a:t>经常连在一起的节点</a:t>
            </a:r>
            <a:r>
              <a:rPr lang="en-US" altLang="zh-CN" sz="2000" b="0" i="0">
                <a:latin typeface="-webkit-standard"/>
                <a:ea typeface="-webkit-standard"/>
              </a:rPr>
              <a:t> </a:t>
            </a:r>
            <a:r>
              <a:rPr lang="en-US" altLang="en-US" sz="2000" b="0" i="0">
                <a:latin typeface="-webkit-standard"/>
                <a:ea typeface="-webkit-standard"/>
              </a:rPr>
              <a:t>→</a:t>
            </a:r>
            <a:r>
              <a:rPr lang="en-US" altLang="zh-CN" sz="2000" b="0" i="0">
                <a:latin typeface="-webkit-standard"/>
                <a:ea typeface="-webkit-standard"/>
              </a:rPr>
              <a:t> </a:t>
            </a:r>
            <a:r>
              <a:rPr lang="zh-CN" altLang="en-US" sz="2000" b="0" i="0">
                <a:latin typeface="-webkit-standard"/>
                <a:ea typeface="-webkit-standard"/>
              </a:rPr>
              <a:t>向量很像</a:t>
            </a:r>
            <a:endParaRPr lang="zh-CN" altLang="en-US" sz="2000" b="0" i="0">
              <a:latin typeface="-webkit-standard"/>
              <a:ea typeface="-webkit-standard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495300" y="379730"/>
            <a:ext cx="6096000" cy="52197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en-US" altLang="zh-CN" sz="2800" b="1">
                <a:latin typeface="-webkit-standard"/>
                <a:ea typeface="-webkit-standard"/>
                <a:sym typeface="+mn-ea"/>
              </a:rPr>
              <a:t>2</a:t>
            </a:r>
            <a:r>
              <a:rPr lang="zh-CN" altLang="en-US" sz="2800" b="1">
                <a:latin typeface="-webkit-standard"/>
                <a:ea typeface="-webkit-standard"/>
                <a:sym typeface="+mn-ea"/>
              </a:rPr>
              <a:t>. </a:t>
            </a:r>
            <a:r>
              <a:rPr lang="en-US" altLang="zh-CN" sz="2800" b="1">
                <a:latin typeface="-webkit-standard"/>
                <a:ea typeface="-webkit-standard"/>
                <a:sym typeface="+mn-ea"/>
              </a:rPr>
              <a:t> Node2Vec</a:t>
            </a:r>
            <a:endParaRPr lang="en-US" altLang="zh-CN" sz="2800" b="1">
              <a:latin typeface="-webkit-standard"/>
              <a:ea typeface="-webkit-standard"/>
              <a:sym typeface="+mn-ea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文本框 1"/>
          <p:cNvSpPr txBox="1"/>
          <p:nvPr/>
        </p:nvSpPr>
        <p:spPr>
          <a:xfrm>
            <a:off x="495300" y="1200785"/>
            <a:ext cx="10487025" cy="4246245"/>
          </a:xfrm>
          <a:prstGeom prst="rect">
            <a:avLst/>
          </a:prstGeom>
        </p:spPr>
        <p:txBody>
          <a:bodyPr wrap="square">
            <a:spAutoFit/>
          </a:bodyPr>
          <a:p>
            <a:pPr marL="0" indent="0" algn="l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SzTx/>
              <a:buFont typeface="Arial" panose="020B0604020202090204" pitchFamily="34" charset="0"/>
              <a:buNone/>
            </a:pPr>
            <a:r>
              <a:rPr lang="en-US" altLang="zh-CN" sz="2000" b="0" i="0">
                <a:latin typeface="-webkit-standard"/>
                <a:ea typeface="-webkit-standard"/>
              </a:rPr>
              <a:t>3. </a:t>
            </a:r>
            <a:r>
              <a:rPr lang="zh-CN" altLang="en-US" sz="2000" b="0" i="0">
                <a:latin typeface="-webkit-standard"/>
                <a:ea typeface="-webkit-standard"/>
              </a:rPr>
              <a:t>特征拼接（特征连接）</a:t>
            </a:r>
            <a:endParaRPr lang="en-US" altLang="zh-CN" sz="2000" b="0" i="0">
              <a:latin typeface="-webkit-standard"/>
              <a:ea typeface="-webkit-standard"/>
            </a:endParaRPr>
          </a:p>
          <a:p>
            <a:pPr marL="342900" indent="-342900" algn="l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SzTx/>
              <a:buFont typeface="Arial" panose="020B0604020202090204" pitchFamily="34" charset="0"/>
              <a:buChar char="•"/>
            </a:pPr>
            <a:r>
              <a:rPr lang="en-US" altLang="zh-CN" sz="2000" b="0" i="0">
                <a:latin typeface="-webkit-standard"/>
                <a:ea typeface="-webkit-standard"/>
              </a:rPr>
              <a:t>Node2Vec</a:t>
            </a:r>
            <a:r>
              <a:rPr lang="zh-CN" altLang="en-US" sz="2000" b="0" i="0">
                <a:latin typeface="-webkit-standard"/>
                <a:ea typeface="-webkit-standard"/>
              </a:rPr>
              <a:t>向量</a:t>
            </a:r>
            <a:r>
              <a:rPr lang="en-US" altLang="zh-CN" sz="2000" b="0" i="0">
                <a:latin typeface="-webkit-standard"/>
                <a:ea typeface="-webkit-standard"/>
              </a:rPr>
              <a:t> + PageRank</a:t>
            </a:r>
            <a:r>
              <a:rPr lang="zh-CN" altLang="en-US" sz="2000" b="0" i="0">
                <a:latin typeface="-webkit-standard"/>
                <a:ea typeface="-webkit-standard"/>
              </a:rPr>
              <a:t>分数</a:t>
            </a:r>
            <a:r>
              <a:rPr lang="en-US" altLang="zh-CN" sz="2000" b="0" i="0">
                <a:latin typeface="-webkit-standard"/>
                <a:ea typeface="-webkit-standard"/>
              </a:rPr>
              <a:t> = </a:t>
            </a:r>
            <a:r>
              <a:rPr lang="zh-CN" altLang="en-US" sz="2000" b="0" i="0">
                <a:latin typeface="-webkit-standard"/>
                <a:ea typeface="-webkit-standard"/>
              </a:rPr>
              <a:t>最终特征</a:t>
            </a:r>
            <a:endParaRPr lang="zh-CN" altLang="en-US" sz="2000" b="0" i="0">
              <a:latin typeface="-webkit-standard"/>
              <a:ea typeface="-webkit-standard"/>
            </a:endParaRPr>
          </a:p>
          <a:p>
            <a:pPr marL="342900" indent="-342900" algn="l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SzTx/>
              <a:buFont typeface="Arial" panose="020B0604020202090204" pitchFamily="34" charset="0"/>
              <a:buChar char="•"/>
            </a:pPr>
            <a:r>
              <a:rPr lang="en-US" altLang="zh-CN" sz="2000" b="0" i="0">
                <a:latin typeface="-webkit-standard"/>
                <a:ea typeface="-webkit-standard"/>
              </a:rPr>
              <a:t>Node2Vec</a:t>
            </a:r>
            <a:r>
              <a:rPr lang="zh-CN" altLang="en-US" sz="2000" b="0" i="0">
                <a:latin typeface="-webkit-standard"/>
                <a:ea typeface="-webkit-standard"/>
              </a:rPr>
              <a:t>：结构信息（</a:t>
            </a:r>
            <a:r>
              <a:rPr lang="en-US" altLang="zh-CN" sz="2000" b="0" i="0">
                <a:latin typeface="-webkit-standard"/>
                <a:ea typeface="-webkit-standard"/>
              </a:rPr>
              <a:t>128 </a:t>
            </a:r>
            <a:r>
              <a:rPr lang="zh-CN" altLang="en-US" sz="2000" b="0" i="0">
                <a:latin typeface="-webkit-standard"/>
                <a:ea typeface="-webkit-standard"/>
              </a:rPr>
              <a:t>维）</a:t>
            </a:r>
            <a:endParaRPr lang="zh-CN" altLang="en-US" sz="2000" b="0" i="0">
              <a:latin typeface="-webkit-standard"/>
              <a:ea typeface="-webkit-standard"/>
            </a:endParaRPr>
          </a:p>
          <a:p>
            <a:pPr marL="342900" indent="-342900" algn="l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SzTx/>
              <a:buFont typeface="Arial" panose="020B0604020202090204" pitchFamily="34" charset="0"/>
              <a:buChar char="•"/>
            </a:pPr>
            <a:r>
              <a:rPr lang="en-US" altLang="zh-CN" sz="2000" b="0" i="0">
                <a:latin typeface="-webkit-standard"/>
                <a:ea typeface="-webkit-standard"/>
              </a:rPr>
              <a:t>PageRank</a:t>
            </a:r>
            <a:r>
              <a:rPr lang="zh-CN" altLang="en-US" sz="2000" b="0" i="0">
                <a:latin typeface="-webkit-standard"/>
                <a:ea typeface="-webkit-standard"/>
              </a:rPr>
              <a:t>：重要性信息（</a:t>
            </a:r>
            <a:r>
              <a:rPr lang="en-US" altLang="zh-CN" sz="2000" b="0" i="0">
                <a:latin typeface="-webkit-standard"/>
                <a:ea typeface="-webkit-standard"/>
              </a:rPr>
              <a:t>1 </a:t>
            </a:r>
            <a:r>
              <a:rPr lang="zh-CN" altLang="en-US" sz="2000" b="0" i="0">
                <a:latin typeface="-webkit-standard"/>
                <a:ea typeface="-webkit-standard"/>
              </a:rPr>
              <a:t>维）</a:t>
            </a:r>
            <a:endParaRPr lang="zh-CN" altLang="en-US" sz="2000" b="0" i="0">
              <a:latin typeface="-webkit-standard"/>
              <a:ea typeface="-webkit-standard"/>
            </a:endParaRPr>
          </a:p>
          <a:p>
            <a:pPr marL="342900" indent="-342900" algn="l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SzTx/>
              <a:buFont typeface="Arial" panose="020B0604020202090204" pitchFamily="34" charset="0"/>
              <a:buChar char="•"/>
            </a:pPr>
            <a:r>
              <a:rPr lang="zh-CN" altLang="en-US" sz="2000" b="0" i="0">
                <a:latin typeface="-webkit-standard"/>
                <a:ea typeface="-webkit-standard"/>
              </a:rPr>
              <a:t>拼起来变成：</a:t>
            </a:r>
            <a:endParaRPr lang="en-US" altLang="zh-CN" sz="2000" b="0" i="0">
              <a:latin typeface="-webkit-standard"/>
              <a:ea typeface="-webkit-standard"/>
            </a:endParaRPr>
          </a:p>
          <a:p>
            <a:pPr marL="342900" indent="-342900" algn="l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SzTx/>
              <a:buFont typeface="Arial" panose="020B0604020202090204" pitchFamily="34" charset="0"/>
              <a:buChar char="•"/>
            </a:pPr>
            <a:r>
              <a:rPr lang="en-US" altLang="zh-CN" sz="2000" b="0" i="0">
                <a:latin typeface="-webkit-standard"/>
                <a:ea typeface="-webkit-standard"/>
              </a:rPr>
              <a:t>[ </a:t>
            </a:r>
            <a:r>
              <a:rPr lang="zh-CN" altLang="en-US" sz="2000" b="0" i="0">
                <a:latin typeface="-webkit-standard"/>
                <a:ea typeface="-webkit-standard"/>
              </a:rPr>
              <a:t>节点向量</a:t>
            </a:r>
            <a:r>
              <a:rPr lang="en-US" altLang="zh-CN" sz="2000" b="0" i="0">
                <a:latin typeface="-webkit-standard"/>
                <a:ea typeface="-webkit-standard"/>
              </a:rPr>
              <a:t> ... ] + [ </a:t>
            </a:r>
            <a:r>
              <a:rPr lang="zh-CN" altLang="en-US" sz="2000" b="0" i="0">
                <a:latin typeface="-webkit-standard"/>
                <a:ea typeface="-webkit-standard"/>
              </a:rPr>
              <a:t>重要性</a:t>
            </a:r>
            <a:r>
              <a:rPr lang="en-US" altLang="zh-CN" sz="2000" b="0" i="0">
                <a:latin typeface="-webkit-standard"/>
                <a:ea typeface="-webkit-standard"/>
              </a:rPr>
              <a:t> ] = </a:t>
            </a:r>
            <a:r>
              <a:rPr lang="zh-CN" altLang="en-US" sz="2000" b="0" i="0">
                <a:latin typeface="-webkit-standard"/>
                <a:ea typeface="-webkit-standard"/>
              </a:rPr>
              <a:t>更强的特征</a:t>
            </a:r>
            <a:endParaRPr lang="zh-CN" altLang="en-US" sz="2000" b="0" i="0">
              <a:latin typeface="-webkit-standard"/>
              <a:ea typeface="-webkit-standard"/>
            </a:endParaRPr>
          </a:p>
          <a:p>
            <a:pPr marL="342900" indent="-342900" algn="l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SzTx/>
              <a:buFont typeface="Arial" panose="020B0604020202090204" pitchFamily="34" charset="0"/>
              <a:buChar char="•"/>
            </a:pPr>
            <a:r>
              <a:rPr lang="zh-CN" altLang="en-US" sz="2000" b="0" i="0">
                <a:latin typeface="-webkit-standard"/>
                <a:ea typeface="-webkit-standard"/>
              </a:rPr>
              <a:t>为什么拼接？结构</a:t>
            </a:r>
            <a:r>
              <a:rPr lang="en-US" altLang="zh-CN" sz="2000" b="0" i="0">
                <a:latin typeface="-webkit-standard"/>
                <a:ea typeface="-webkit-standard"/>
              </a:rPr>
              <a:t> + </a:t>
            </a:r>
            <a:r>
              <a:rPr lang="zh-CN" altLang="en-US" sz="2000" b="0" i="0">
                <a:latin typeface="-webkit-standard"/>
                <a:ea typeface="-webkit-standard"/>
              </a:rPr>
              <a:t>重要性</a:t>
            </a:r>
            <a:r>
              <a:rPr lang="en-US" altLang="zh-CN" sz="2000" b="0" i="0">
                <a:latin typeface="-webkit-standard"/>
                <a:ea typeface="-webkit-standard"/>
              </a:rPr>
              <a:t> </a:t>
            </a:r>
            <a:r>
              <a:rPr lang="en-US" altLang="en-US" sz="2000" b="0" i="0">
                <a:latin typeface="-webkit-standard"/>
                <a:ea typeface="-webkit-standard"/>
              </a:rPr>
              <a:t>→</a:t>
            </a:r>
            <a:r>
              <a:rPr lang="en-US" altLang="zh-CN" sz="2000" b="0" i="0">
                <a:latin typeface="-webkit-standard"/>
                <a:ea typeface="-webkit-standard"/>
              </a:rPr>
              <a:t> </a:t>
            </a:r>
            <a:r>
              <a:rPr lang="zh-CN" altLang="en-US" sz="2000" b="0" i="0">
                <a:latin typeface="-webkit-standard"/>
                <a:ea typeface="-webkit-standard"/>
              </a:rPr>
              <a:t>分类更准</a:t>
            </a:r>
            <a:endParaRPr lang="zh-CN" altLang="en-US" sz="2000" b="0" i="0">
              <a:latin typeface="-webkit-standard"/>
              <a:ea typeface="-webkit-standard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495300" y="379730"/>
            <a:ext cx="6096000" cy="52197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en-US" altLang="zh-CN" sz="2800" b="1">
                <a:latin typeface="-webkit-standard"/>
                <a:ea typeface="-webkit-standard"/>
                <a:sym typeface="+mn-ea"/>
              </a:rPr>
              <a:t>3</a:t>
            </a:r>
            <a:r>
              <a:rPr lang="zh-CN" altLang="en-US" sz="2800" b="1">
                <a:latin typeface="-webkit-standard"/>
                <a:ea typeface="-webkit-standard"/>
                <a:sym typeface="+mn-ea"/>
              </a:rPr>
              <a:t>. </a:t>
            </a:r>
            <a:r>
              <a:rPr lang="en-US" altLang="zh-CN" sz="2800" b="1">
                <a:latin typeface="-webkit-standard"/>
                <a:ea typeface="-webkit-standard"/>
                <a:sym typeface="+mn-ea"/>
              </a:rPr>
              <a:t> </a:t>
            </a:r>
            <a:r>
              <a:rPr lang="zh-CN" altLang="en-US" sz="2800" b="1">
                <a:latin typeface="-webkit-standard"/>
                <a:ea typeface="-webkit-standard"/>
                <a:sym typeface="+mn-ea"/>
              </a:rPr>
              <a:t>特征拼接</a:t>
            </a:r>
            <a:endParaRPr lang="zh-CN" altLang="en-US" sz="2800" b="1">
              <a:latin typeface="-webkit-standard"/>
              <a:ea typeface="-webkit-standard"/>
              <a:sym typeface="+mn-ea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文本框 1"/>
          <p:cNvSpPr txBox="1"/>
          <p:nvPr/>
        </p:nvSpPr>
        <p:spPr>
          <a:xfrm>
            <a:off x="495300" y="1200785"/>
            <a:ext cx="10487025" cy="4861560"/>
          </a:xfrm>
          <a:prstGeom prst="rect">
            <a:avLst/>
          </a:prstGeom>
        </p:spPr>
        <p:txBody>
          <a:bodyPr wrap="square">
            <a:spAutoFit/>
          </a:bodyPr>
          <a:p>
            <a:pPr marL="342900" indent="-342900" algn="l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SzTx/>
              <a:buFont typeface="Arial" panose="020B0604020202090204" pitchFamily="34" charset="0"/>
              <a:buChar char="•"/>
            </a:pPr>
            <a:r>
              <a:rPr lang="zh-CN" altLang="en-US" sz="2000" b="0" i="0">
                <a:latin typeface="-webkit-standard"/>
                <a:ea typeface="-webkit-standard"/>
              </a:rPr>
              <a:t>交叉验证（交叉验证）</a:t>
            </a:r>
            <a:endParaRPr lang="zh-CN" altLang="en-US" sz="2000" b="0" i="0">
              <a:latin typeface="-webkit-standard"/>
              <a:ea typeface="-webkit-standard"/>
            </a:endParaRPr>
          </a:p>
          <a:p>
            <a:pPr marL="342900" indent="-342900" algn="l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SzTx/>
              <a:buFont typeface="Arial" panose="020B0604020202090204" pitchFamily="34" charset="0"/>
              <a:buChar char="•"/>
            </a:pPr>
            <a:r>
              <a:rPr lang="zh-CN" altLang="en-US" sz="2000" b="0" i="0">
                <a:latin typeface="-webkit-standard"/>
                <a:ea typeface="-webkit-standard"/>
              </a:rPr>
              <a:t>交叉验证</a:t>
            </a:r>
            <a:r>
              <a:rPr lang="en-US" altLang="zh-CN" sz="2000" b="0" i="0">
                <a:latin typeface="-webkit-standard"/>
                <a:ea typeface="-webkit-standard"/>
              </a:rPr>
              <a:t> = </a:t>
            </a:r>
            <a:r>
              <a:rPr lang="zh-CN" altLang="en-US" sz="2000" b="0" i="0">
                <a:latin typeface="-webkit-standard"/>
                <a:ea typeface="-webkit-standard"/>
              </a:rPr>
              <a:t>把训练集切</a:t>
            </a:r>
            <a:r>
              <a:rPr lang="en-US" altLang="zh-CN" sz="2000" b="0" i="0">
                <a:latin typeface="-webkit-standard"/>
                <a:ea typeface="-webkit-standard"/>
              </a:rPr>
              <a:t>5</a:t>
            </a:r>
            <a:r>
              <a:rPr lang="zh-CN" altLang="en-US" sz="2000" b="0" i="0">
                <a:latin typeface="-webkit-standard"/>
                <a:ea typeface="-webkit-standard"/>
              </a:rPr>
              <a:t>份，轮流训练</a:t>
            </a:r>
            <a:r>
              <a:rPr lang="en-US" altLang="zh-CN" sz="2000" b="0" i="0">
                <a:latin typeface="-webkit-standard"/>
                <a:ea typeface="-webkit-standard"/>
              </a:rPr>
              <a:t>+</a:t>
            </a:r>
            <a:r>
              <a:rPr lang="zh-CN" altLang="en-US" sz="2000" b="0" i="0">
                <a:latin typeface="-webkit-standard"/>
                <a:ea typeface="-webkit-standard"/>
              </a:rPr>
              <a:t>验证</a:t>
            </a:r>
            <a:endParaRPr lang="zh-CN" altLang="en-US" sz="2000" b="0" i="0">
              <a:latin typeface="-webkit-standard"/>
              <a:ea typeface="-webkit-standard"/>
            </a:endParaRPr>
          </a:p>
          <a:p>
            <a:pPr marL="342900" indent="-342900" algn="l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SzTx/>
              <a:buFont typeface="Arial" panose="020B0604020202090204" pitchFamily="34" charset="0"/>
              <a:buChar char="•"/>
            </a:pPr>
            <a:r>
              <a:rPr lang="zh-CN" altLang="en-US" sz="2000" b="0" i="0">
                <a:latin typeface="-webkit-standard"/>
                <a:ea typeface="-webkit-standard"/>
              </a:rPr>
              <a:t>目的：看模型稳不稳定</a:t>
            </a:r>
            <a:r>
              <a:rPr lang="en-US" altLang="zh-CN" sz="2000" b="0" i="0">
                <a:latin typeface="-webkit-standard"/>
                <a:ea typeface="-webkit-standard"/>
              </a:rPr>
              <a:t>，</a:t>
            </a:r>
            <a:r>
              <a:rPr lang="zh-CN" altLang="en-US" sz="2000" b="0" i="0">
                <a:latin typeface="-webkit-standard"/>
                <a:ea typeface="-webkit-standard"/>
              </a:rPr>
              <a:t>避免运气好</a:t>
            </a:r>
            <a:r>
              <a:rPr lang="en-US" altLang="zh-CN" sz="2000" b="0" i="0">
                <a:latin typeface="-webkit-standard"/>
                <a:ea typeface="-webkit-standard"/>
              </a:rPr>
              <a:t> / </a:t>
            </a:r>
            <a:r>
              <a:rPr lang="zh-CN" altLang="en-US" sz="2000" b="0" i="0">
                <a:latin typeface="-webkit-standard"/>
                <a:ea typeface="-webkit-standard"/>
              </a:rPr>
              <a:t>运气差</a:t>
            </a:r>
            <a:endParaRPr lang="zh-CN" altLang="en-US" sz="2000" b="0" i="0">
              <a:latin typeface="-webkit-standard"/>
              <a:ea typeface="-webkit-standard"/>
            </a:endParaRPr>
          </a:p>
          <a:p>
            <a:pPr marL="342900" indent="-342900" algn="l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SzTx/>
              <a:buFont typeface="Arial" panose="020B0604020202090204" pitchFamily="34" charset="0"/>
              <a:buChar char="•"/>
            </a:pPr>
            <a:r>
              <a:rPr lang="zh-CN" altLang="en-US" sz="2000" b="0" i="0">
                <a:latin typeface="-webkit-standard"/>
                <a:ea typeface="-webkit-standard"/>
              </a:rPr>
              <a:t>流程（</a:t>
            </a:r>
            <a:r>
              <a:rPr lang="en-US" altLang="zh-CN" sz="2000" b="0" i="0">
                <a:latin typeface="-webkit-standard"/>
                <a:ea typeface="-webkit-standard"/>
              </a:rPr>
              <a:t>5 </a:t>
            </a:r>
            <a:r>
              <a:rPr lang="zh-CN" altLang="en-US" sz="2000" b="0" i="0">
                <a:latin typeface="-webkit-standard"/>
                <a:ea typeface="-webkit-standard"/>
              </a:rPr>
              <a:t>折）：</a:t>
            </a:r>
            <a:endParaRPr lang="zh-CN" altLang="en-US" sz="2000" b="0" i="0">
              <a:latin typeface="-webkit-standard"/>
              <a:ea typeface="-webkit-standard"/>
            </a:endParaRPr>
          </a:p>
          <a:p>
            <a:pPr marL="342900" indent="-342900" algn="l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SzTx/>
              <a:buFont typeface="Arial" panose="020B0604020202090204" pitchFamily="34" charset="0"/>
              <a:buChar char="•"/>
            </a:pPr>
            <a:r>
              <a:rPr lang="zh-CN" altLang="en-US" sz="2000" b="0" i="0">
                <a:latin typeface="-webkit-standard"/>
                <a:ea typeface="-webkit-standard"/>
              </a:rPr>
              <a:t>训练集</a:t>
            </a:r>
            <a:r>
              <a:rPr lang="en-US" altLang="zh-CN" sz="2000" b="0" i="0">
                <a:latin typeface="-webkit-standard"/>
                <a:ea typeface="-webkit-standard"/>
              </a:rPr>
              <a:t> </a:t>
            </a:r>
            <a:r>
              <a:rPr lang="en-US" altLang="en-US" sz="2000" b="0" i="0">
                <a:latin typeface="-webkit-standard"/>
                <a:ea typeface="-webkit-standard"/>
              </a:rPr>
              <a:t>→</a:t>
            </a:r>
            <a:r>
              <a:rPr lang="en-US" altLang="zh-CN" sz="2000" b="0" i="0">
                <a:latin typeface="-webkit-standard"/>
                <a:ea typeface="-webkit-standard"/>
              </a:rPr>
              <a:t> </a:t>
            </a:r>
            <a:r>
              <a:rPr lang="zh-CN" altLang="en-US" sz="2000" b="0" i="0">
                <a:latin typeface="-webkit-standard"/>
                <a:ea typeface="-webkit-standard"/>
              </a:rPr>
              <a:t>切成</a:t>
            </a:r>
            <a:r>
              <a:rPr lang="en-US" altLang="zh-CN" sz="2000" b="0" i="0">
                <a:latin typeface="-webkit-standard"/>
                <a:ea typeface="-webkit-standard"/>
              </a:rPr>
              <a:t> 5 </a:t>
            </a:r>
            <a:r>
              <a:rPr lang="zh-CN" altLang="en-US" sz="2000" b="0" i="0">
                <a:latin typeface="-webkit-standard"/>
                <a:ea typeface="-webkit-standard"/>
              </a:rPr>
              <a:t>份</a:t>
            </a:r>
            <a:endParaRPr lang="zh-CN" altLang="en-US" sz="2000" b="0" i="0">
              <a:latin typeface="-webkit-standard"/>
              <a:ea typeface="-webkit-standard"/>
            </a:endParaRPr>
          </a:p>
          <a:p>
            <a:pPr marL="342900" indent="-342900" algn="l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SzTx/>
              <a:buFont typeface="Arial" panose="020B0604020202090204" pitchFamily="34" charset="0"/>
              <a:buChar char="•"/>
            </a:pPr>
            <a:r>
              <a:rPr lang="zh-CN" altLang="en-US" sz="2000" b="0" i="0">
                <a:latin typeface="-webkit-standard"/>
                <a:ea typeface="-webkit-standard"/>
              </a:rPr>
              <a:t>用</a:t>
            </a:r>
            <a:r>
              <a:rPr lang="en-US" altLang="zh-CN" sz="2000" b="0" i="0">
                <a:latin typeface="-webkit-standard"/>
                <a:ea typeface="-webkit-standard"/>
              </a:rPr>
              <a:t> 4 </a:t>
            </a:r>
            <a:r>
              <a:rPr lang="zh-CN" altLang="en-US" sz="2000" b="0" i="0">
                <a:latin typeface="-webkit-standard"/>
                <a:ea typeface="-webkit-standard"/>
              </a:rPr>
              <a:t>份训练，</a:t>
            </a:r>
            <a:r>
              <a:rPr lang="en-US" altLang="zh-CN" sz="2000" b="0" i="0">
                <a:latin typeface="-webkit-standard"/>
                <a:ea typeface="-webkit-standard"/>
              </a:rPr>
              <a:t>1 </a:t>
            </a:r>
            <a:r>
              <a:rPr lang="zh-CN" altLang="en-US" sz="2000" b="0" i="0">
                <a:latin typeface="-webkit-standard"/>
                <a:ea typeface="-webkit-standard"/>
              </a:rPr>
              <a:t>份验证</a:t>
            </a:r>
            <a:r>
              <a:rPr lang="en-US" altLang="zh-CN" sz="2000" b="0" i="0">
                <a:latin typeface="-webkit-standard"/>
                <a:ea typeface="-webkit-standard"/>
              </a:rPr>
              <a:t>，</a:t>
            </a:r>
            <a:r>
              <a:rPr lang="zh-CN" altLang="en-US" sz="2000" b="0" i="0">
                <a:latin typeface="-webkit-standard"/>
                <a:ea typeface="-webkit-standard"/>
              </a:rPr>
              <a:t>轮换</a:t>
            </a:r>
            <a:r>
              <a:rPr lang="en-US" altLang="zh-CN" sz="2000" b="0" i="0">
                <a:latin typeface="-webkit-standard"/>
                <a:ea typeface="-webkit-standard"/>
              </a:rPr>
              <a:t> 5 </a:t>
            </a:r>
            <a:r>
              <a:rPr lang="zh-CN" altLang="en-US" sz="2000" b="0" i="0">
                <a:latin typeface="-webkit-standard"/>
                <a:ea typeface="-webkit-standard"/>
              </a:rPr>
              <a:t>次</a:t>
            </a:r>
            <a:r>
              <a:rPr lang="en-US" altLang="zh-CN" sz="2000" b="0" i="0">
                <a:latin typeface="-webkit-standard"/>
                <a:ea typeface="-webkit-standard"/>
              </a:rPr>
              <a:t>，</a:t>
            </a:r>
            <a:r>
              <a:rPr lang="zh-CN" altLang="en-US" sz="2000" b="0" i="0">
                <a:latin typeface="-webkit-standard"/>
                <a:ea typeface="-webkit-standard"/>
              </a:rPr>
              <a:t>取平均准确率</a:t>
            </a:r>
            <a:endParaRPr lang="zh-CN" altLang="en-US" sz="2000" b="0" i="0">
              <a:latin typeface="-webkit-standard"/>
              <a:ea typeface="-webkit-standard"/>
            </a:endParaRPr>
          </a:p>
          <a:p>
            <a:pPr marL="342900" indent="-342900" algn="l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SzTx/>
              <a:buFont typeface="Arial" panose="020B0604020202090204" pitchFamily="34" charset="0"/>
              <a:buChar char="•"/>
            </a:pPr>
            <a:r>
              <a:rPr lang="zh-CN" altLang="en-US" sz="2000" b="0" i="0">
                <a:latin typeface="-webkit-standard"/>
                <a:ea typeface="-webkit-standard"/>
              </a:rPr>
              <a:t>一句话：交叉验证</a:t>
            </a:r>
            <a:r>
              <a:rPr lang="en-US" altLang="zh-CN" sz="2000" b="0" i="0">
                <a:latin typeface="-webkit-standard"/>
                <a:ea typeface="-webkit-standard"/>
              </a:rPr>
              <a:t> = </a:t>
            </a:r>
            <a:r>
              <a:rPr lang="zh-CN" altLang="en-US" sz="2000" b="0" i="0">
                <a:latin typeface="-webkit-standard"/>
                <a:ea typeface="-webkit-standard"/>
              </a:rPr>
              <a:t>选最好、最稳的模型</a:t>
            </a:r>
            <a:endParaRPr lang="zh-CN" altLang="en-US" sz="2000" b="0" i="0">
              <a:latin typeface="-webkit-standard"/>
              <a:ea typeface="-webkit-standard"/>
            </a:endParaRPr>
          </a:p>
          <a:p>
            <a:pPr marL="0" indent="0" algn="l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SzTx/>
              <a:buFont typeface="Arial" panose="020B0604020202090204" pitchFamily="34" charset="0"/>
              <a:buNone/>
            </a:pPr>
            <a:endParaRPr lang="zh-CN" altLang="en-US" sz="2000" b="0" i="0">
              <a:latin typeface="-webkit-standard"/>
              <a:ea typeface="-webkit-standard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495300" y="379730"/>
            <a:ext cx="6096000" cy="52197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en-US" altLang="zh-CN" sz="2800" b="1">
                <a:latin typeface="-webkit-standard"/>
                <a:ea typeface="-webkit-standard"/>
                <a:sym typeface="+mn-ea"/>
              </a:rPr>
              <a:t>4</a:t>
            </a:r>
            <a:r>
              <a:rPr lang="zh-CN" altLang="en-US" sz="2800" b="1">
                <a:latin typeface="-webkit-standard"/>
                <a:ea typeface="-webkit-standard"/>
                <a:sym typeface="+mn-ea"/>
              </a:rPr>
              <a:t>. </a:t>
            </a:r>
            <a:r>
              <a:rPr lang="en-US" altLang="zh-CN" sz="2800" b="1">
                <a:latin typeface="-webkit-standard"/>
                <a:ea typeface="-webkit-standard"/>
                <a:sym typeface="+mn-ea"/>
              </a:rPr>
              <a:t> </a:t>
            </a:r>
            <a:r>
              <a:rPr lang="zh-CN" altLang="en-US" sz="2800" b="1">
                <a:latin typeface="-webkit-standard"/>
                <a:ea typeface="-webkit-standard"/>
                <a:sym typeface="+mn-ea"/>
              </a:rPr>
              <a:t>交叉验证</a:t>
            </a:r>
            <a:endParaRPr lang="zh-CN" altLang="en-US" sz="2800" b="1">
              <a:latin typeface="-webkit-standard"/>
              <a:ea typeface="-webkit-standard"/>
              <a:sym typeface="+mn-ea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文本框 1"/>
          <p:cNvSpPr txBox="1"/>
          <p:nvPr/>
        </p:nvSpPr>
        <p:spPr>
          <a:xfrm>
            <a:off x="1607185" y="1536700"/>
            <a:ext cx="9782810" cy="304609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indent="0" eaLnBrk="1" fontAlgn="auto" latinLnBrk="0" hangingPunct="1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sz="2800">
                <a:latin typeface="ui-sans-serif"/>
                <a:ea typeface="ui-sans-serif"/>
                <a:sym typeface="+mn-ea"/>
              </a:rPr>
              <a:t>思考</a:t>
            </a:r>
            <a:endParaRPr lang="zh-CN" altLang="en-US" sz="2800" b="0" i="0">
              <a:solidFill>
                <a:srgbClr val="000000"/>
              </a:solidFill>
              <a:latin typeface="ui-sans-serif"/>
              <a:ea typeface="ui-sans-serif"/>
            </a:endParaRPr>
          </a:p>
          <a:p>
            <a:pPr marL="0" indent="0" algn="l" eaLnBrk="1" fontAlgn="auto" latinLnBrk="0" hangingPunct="1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AutoNum type="arabicPeriod"/>
            </a:pPr>
            <a:r>
              <a:rPr lang="en-US" altLang="zh-CN" sz="2000">
                <a:latin typeface="ui-sans-serif"/>
                <a:ea typeface="ui-sans-serif"/>
                <a:sym typeface="+mn-ea"/>
              </a:rPr>
              <a:t>PageRank </a:t>
            </a:r>
            <a:r>
              <a:rPr lang="zh-CN" altLang="en-US" sz="2000">
                <a:latin typeface="ui-sans-serif"/>
                <a:ea typeface="ui-sans-serif"/>
                <a:sym typeface="+mn-ea"/>
              </a:rPr>
              <a:t>本质上是利用了图的什么信息？</a:t>
            </a:r>
            <a:endParaRPr lang="zh-CN" altLang="en-US" sz="2000" b="0" i="0">
              <a:solidFill>
                <a:srgbClr val="000000"/>
              </a:solidFill>
              <a:latin typeface="ui-sans-serif"/>
              <a:ea typeface="ui-sans-serif"/>
            </a:endParaRPr>
          </a:p>
          <a:p>
            <a:pPr marL="0" indent="0" algn="l" eaLnBrk="1" fontAlgn="auto" latinLnBrk="0" hangingPunct="1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AutoNum type="arabicPeriod"/>
            </a:pPr>
            <a:r>
              <a:rPr lang="en-US" altLang="zh-CN" sz="2000">
                <a:latin typeface="ui-sans-serif"/>
                <a:ea typeface="ui-sans-serif"/>
                <a:sym typeface="+mn-ea"/>
              </a:rPr>
              <a:t>Node2Vec </a:t>
            </a:r>
            <a:r>
              <a:rPr lang="zh-CN" altLang="en-US" sz="2000">
                <a:latin typeface="ui-sans-serif"/>
                <a:ea typeface="ui-sans-serif"/>
                <a:sym typeface="+mn-ea"/>
              </a:rPr>
              <a:t>学到的节点向量包含了哪些结构信息？</a:t>
            </a:r>
            <a:endParaRPr lang="zh-CN" altLang="en-US" sz="2000" b="0" i="0">
              <a:solidFill>
                <a:srgbClr val="000000"/>
              </a:solidFill>
              <a:latin typeface="ui-sans-serif"/>
              <a:ea typeface="ui-sans-serif"/>
            </a:endParaRPr>
          </a:p>
          <a:p>
            <a:pPr marL="0" indent="0" algn="l" eaLnBrk="1" fontAlgn="auto" latinLnBrk="0" hangingPunct="1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AutoNum type="arabicPeriod"/>
            </a:pPr>
            <a:r>
              <a:rPr lang="zh-CN" altLang="en-US" sz="2000">
                <a:latin typeface="ui-sans-serif"/>
                <a:ea typeface="ui-sans-serif"/>
                <a:sym typeface="+mn-ea"/>
              </a:rPr>
              <a:t>为什么融合 </a:t>
            </a:r>
            <a:r>
              <a:rPr lang="en-US" altLang="zh-CN" sz="2000">
                <a:latin typeface="ui-sans-serif"/>
                <a:ea typeface="ui-sans-serif"/>
                <a:sym typeface="+mn-ea"/>
              </a:rPr>
              <a:t>PageRank </a:t>
            </a:r>
            <a:r>
              <a:rPr lang="zh-CN" altLang="en-US" sz="2000">
                <a:latin typeface="ui-sans-serif"/>
                <a:ea typeface="ui-sans-serif"/>
                <a:sym typeface="+mn-ea"/>
              </a:rPr>
              <a:t>后分类效果通常会提升？</a:t>
            </a:r>
            <a:endParaRPr lang="zh-CN" altLang="en-US" sz="2000" b="0" i="0">
              <a:solidFill>
                <a:srgbClr val="000000"/>
              </a:solidFill>
              <a:latin typeface="ui-sans-serif"/>
              <a:ea typeface="ui-sans-serif"/>
            </a:endParaRPr>
          </a:p>
          <a:p>
            <a:pPr marL="0" indent="0" algn="l" eaLnBrk="1" fontAlgn="auto" latinLnBrk="0" hangingPunct="1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AutoNum type="arabicPeriod"/>
            </a:pPr>
            <a:r>
              <a:rPr lang="zh-CN" altLang="en-US" sz="2000">
                <a:latin typeface="ui-sans-serif"/>
                <a:ea typeface="ui-sans-serif"/>
                <a:sym typeface="+mn-ea"/>
              </a:rPr>
              <a:t>如果网络非常稀疏（边很少），</a:t>
            </a:r>
            <a:r>
              <a:rPr lang="en-US" altLang="zh-CN" sz="2000">
                <a:latin typeface="ui-sans-serif"/>
                <a:ea typeface="ui-sans-serif"/>
                <a:sym typeface="+mn-ea"/>
              </a:rPr>
              <a:t>Node2Vec </a:t>
            </a:r>
            <a:r>
              <a:rPr lang="zh-CN" altLang="en-US" sz="2000">
                <a:latin typeface="ui-sans-serif"/>
                <a:ea typeface="ui-sans-serif"/>
                <a:sym typeface="+mn-ea"/>
              </a:rPr>
              <a:t>还能学好吗？为什么？</a:t>
            </a:r>
            <a:endParaRPr lang="zh-CN" altLang="en-US" sz="2000" b="0" i="0">
              <a:solidFill>
                <a:srgbClr val="000000"/>
              </a:solidFill>
              <a:latin typeface="ui-sans-serif"/>
              <a:ea typeface="ui-sans-serif"/>
            </a:endParaRPr>
          </a:p>
          <a:p>
            <a:pPr marL="0" indent="0" algn="l" eaLnBrk="1" fontAlgn="auto" latinLnBrk="0" hangingPunct="1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AutoNum type="arabicPeriod"/>
            </a:pPr>
            <a:r>
              <a:rPr lang="zh-CN" altLang="en-US" sz="2000">
                <a:latin typeface="ui-sans-serif"/>
                <a:ea typeface="ui-sans-serif"/>
                <a:sym typeface="+mn-ea"/>
              </a:rPr>
              <a:t>在实际场景（如论文分类、用户推荐、风控图）中，</a:t>
            </a:r>
            <a:r>
              <a:rPr lang="en-US" altLang="zh-CN" sz="2000">
                <a:latin typeface="ui-sans-serif"/>
                <a:ea typeface="ui-sans-serif"/>
                <a:sym typeface="+mn-ea"/>
              </a:rPr>
              <a:t>PageRank </a:t>
            </a:r>
            <a:r>
              <a:rPr lang="zh-CN" altLang="en-US" sz="2000">
                <a:latin typeface="ui-sans-serif"/>
                <a:ea typeface="ui-sans-serif"/>
                <a:sym typeface="+mn-ea"/>
              </a:rPr>
              <a:t>可以用来做什么？</a:t>
            </a:r>
            <a:endParaRPr lang="zh-CN" altLang="en-US" sz="2000">
              <a:latin typeface="ui-sans-serif"/>
              <a:ea typeface="ui-sans-serif"/>
              <a:sym typeface="+mn-ea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3366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3" name="AutoShape 3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001428">
              <a:alpha val="8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4" name="AutoShape 4"/>
          <p:cNvSpPr/>
          <p:nvPr/>
        </p:nvSpPr>
        <p:spPr>
          <a:xfrm>
            <a:off x="762000" y="635000"/>
            <a:ext cx="10668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36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 </a:t>
            </a:r>
            <a:r>
              <a:rPr lang="zh-CN" altLang="en-US" sz="36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实验报告</a:t>
            </a:r>
            <a:r>
              <a:rPr lang="zh-CN" altLang="en-US" sz="36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要求</a:t>
            </a:r>
            <a:endParaRPr lang="zh-CN" altLang="en-US" sz="3600" b="1" i="0" u="none" strike="noStrike">
              <a:solidFill>
                <a:srgbClr val="FFFFFF"/>
              </a:solidFill>
              <a:latin typeface="Noto Sans SC"/>
              <a:ea typeface="Noto Sans SC"/>
              <a:cs typeface="Noto Sans SC"/>
              <a:sym typeface="Noto Sans SC"/>
            </a:endParaRPr>
          </a:p>
        </p:txBody>
      </p:sp>
      <p:sp>
        <p:nvSpPr>
          <p:cNvPr id="20" name="AutoShape 20"/>
          <p:cNvSpPr/>
          <p:nvPr/>
        </p:nvSpPr>
        <p:spPr>
          <a:xfrm>
            <a:off x="695960" y="1814195"/>
            <a:ext cx="10668000" cy="4301490"/>
          </a:xfrm>
          <a:prstGeom prst="roundRect">
            <a:avLst>
              <a:gd name="adj" fmla="val 6666"/>
            </a:avLst>
          </a:prstGeom>
          <a:solidFill>
            <a:srgbClr val="F5F7FA">
              <a:alpha val="9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21" name="Picture 2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49960" y="2068195"/>
            <a:ext cx="406400" cy="406400"/>
          </a:xfrm>
          <a:prstGeom prst="rect">
            <a:avLst/>
          </a:prstGeom>
        </p:spPr>
      </p:pic>
      <p:sp>
        <p:nvSpPr>
          <p:cNvPr id="22" name="AutoShape 22"/>
          <p:cNvSpPr/>
          <p:nvPr/>
        </p:nvSpPr>
        <p:spPr>
          <a:xfrm>
            <a:off x="1457960" y="2068195"/>
            <a:ext cx="2540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400" b="1" i="0" u="none" strike="noStrike">
                <a:solidFill>
                  <a:srgbClr val="003366"/>
                </a:solidFill>
                <a:latin typeface="Noto Sans SC"/>
                <a:ea typeface="Noto Sans SC"/>
                <a:cs typeface="Noto Sans SC"/>
                <a:sym typeface="Noto Sans SC"/>
              </a:rPr>
              <a:t>实验报告规范</a:t>
            </a:r>
            <a:endParaRPr lang="en-US" sz="2400" b="1" i="0" u="none" strike="noStrike">
              <a:solidFill>
                <a:srgbClr val="003366"/>
              </a:solidFill>
              <a:latin typeface="Noto Sans SC"/>
              <a:ea typeface="Noto Sans SC"/>
              <a:cs typeface="Noto Sans SC"/>
              <a:sym typeface="Noto Sans SC"/>
            </a:endParaRPr>
          </a:p>
        </p:txBody>
      </p:sp>
      <p:cxnSp>
        <p:nvCxnSpPr>
          <p:cNvPr id="23" name="Connector 23"/>
          <p:cNvCxnSpPr/>
          <p:nvPr/>
        </p:nvCxnSpPr>
        <p:spPr>
          <a:xfrm rot="-4297">
            <a:off x="949964" y="2506345"/>
            <a:ext cx="10160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25400" cap="flat" cmpd="sng">
            <a:solidFill>
              <a:srgbClr val="4A90E2">
                <a:alpha val="100000"/>
              </a:srgbClr>
            </a:solidFill>
            <a:prstDash val="solid"/>
            <a:round/>
            <a:headEnd type="none" w="lg" len="lg"/>
            <a:tailEnd type="none" w="lg" len="lg"/>
          </a:ln>
        </p:spPr>
      </p:cxnSp>
      <p:sp>
        <p:nvSpPr>
          <p:cNvPr id="24" name="AutoShape 24"/>
          <p:cNvSpPr/>
          <p:nvPr/>
        </p:nvSpPr>
        <p:spPr>
          <a:xfrm>
            <a:off x="727075" y="2160905"/>
            <a:ext cx="10667365" cy="364109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 eaLnBrk="1" fontAlgn="auto" latinLnBrk="0" hangingPunct="1">
              <a:lnSpc>
                <a:spcPct val="200000"/>
              </a:lnSpc>
              <a:buClr>
                <a:srgbClr val="333333"/>
              </a:buClr>
              <a:buNone/>
              <a:defRPr/>
            </a:pPr>
            <a:endParaRPr lang="en-US" sz="1100"/>
          </a:p>
          <a:p>
            <a:pPr marL="177800" indent="-177800" algn="l" eaLnBrk="1" fontAlgn="auto" latinLnBrk="0" hangingPunct="1">
              <a:lnSpc>
                <a:spcPct val="150000"/>
              </a:lnSpc>
              <a:buClr>
                <a:srgbClr val="333333"/>
              </a:buClr>
              <a:buChar char="•"/>
            </a:pPr>
            <a:r>
              <a:rPr lang="en-US" sz="1800" b="1" i="0" u="none" strike="noStrike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内容要求：</a:t>
            </a:r>
            <a:endParaRPr lang="en-US" sz="1800" b="1" i="0" u="none" strike="noStrike">
              <a:solidFill>
                <a:srgbClr val="333333"/>
              </a:solidFill>
              <a:latin typeface="Noto Sans SC"/>
              <a:ea typeface="Noto Sans SC"/>
              <a:cs typeface="Noto Sans SC"/>
              <a:sym typeface="Noto Sans SC"/>
            </a:endParaRPr>
          </a:p>
          <a:p>
            <a:pPr marL="342900" indent="-342900" eaLnBrk="1" fontAlgn="auto" latinLnBrk="0" hangingPunct="1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Font typeface="Arial" panose="020B0604020202090204" pitchFamily="34" charset="0"/>
              <a:buChar char="•"/>
            </a:pPr>
            <a:r>
              <a:rPr lang="en-US" sz="1800" b="1" i="0" u="none" strike="noStrike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1.</a:t>
            </a:r>
            <a:r>
              <a:rPr lang="zh-CN" altLang="en-US" sz="1800" b="1" i="0" u="none" strike="noStrike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固定任务</a:t>
            </a:r>
            <a:r>
              <a:rPr lang="en-US" altLang="zh-CN" sz="1800" b="1" i="0" u="none" strike="noStrike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：</a:t>
            </a:r>
            <a:r>
              <a:rPr lang="zh-CN" altLang="en-US" sz="1800">
                <a:latin typeface="-webkit-standard"/>
                <a:ea typeface="-webkit-standard"/>
                <a:sym typeface="+mn-ea"/>
              </a:rPr>
              <a:t>改变</a:t>
            </a:r>
            <a:r>
              <a:rPr lang="en-US" altLang="zh-CN" sz="1800">
                <a:latin typeface="-webkit-standard"/>
                <a:ea typeface="-webkit-standard"/>
                <a:sym typeface="+mn-ea"/>
              </a:rPr>
              <a:t> Node2Vec </a:t>
            </a:r>
            <a:r>
              <a:rPr lang="zh-CN" altLang="en-US" sz="1800">
                <a:latin typeface="-webkit-standard"/>
                <a:ea typeface="-webkit-standard"/>
                <a:sym typeface="+mn-ea"/>
              </a:rPr>
              <a:t>嵌入维度（</a:t>
            </a:r>
            <a:r>
              <a:rPr lang="en-US" altLang="zh-CN" sz="1800">
                <a:latin typeface="-webkit-standard"/>
                <a:ea typeface="-webkit-standard"/>
                <a:sym typeface="+mn-ea"/>
              </a:rPr>
              <a:t>64/128/256</a:t>
            </a:r>
            <a:r>
              <a:rPr lang="zh-CN" altLang="en-US" sz="1800">
                <a:latin typeface="-webkit-standard"/>
                <a:ea typeface="-webkit-standard"/>
                <a:sym typeface="+mn-ea"/>
              </a:rPr>
              <a:t>），观察分类性能变化</a:t>
            </a:r>
            <a:r>
              <a:rPr lang="en-US" altLang="zh-CN" sz="1800">
                <a:latin typeface="-webkit-standard"/>
                <a:ea typeface="-webkit-standard"/>
                <a:sym typeface="+mn-ea"/>
              </a:rPr>
              <a:t>；</a:t>
            </a:r>
            <a:r>
              <a:rPr lang="zh-CN" altLang="en-US" sz="1800">
                <a:latin typeface="-webkit-standard"/>
                <a:ea typeface="-webkit-standard"/>
                <a:sym typeface="+mn-ea"/>
              </a:rPr>
              <a:t>改变</a:t>
            </a:r>
            <a:r>
              <a:rPr lang="en-US" altLang="zh-CN" sz="1800">
                <a:latin typeface="-webkit-standard"/>
                <a:ea typeface="-webkit-standard"/>
                <a:sym typeface="+mn-ea"/>
              </a:rPr>
              <a:t> PageRank </a:t>
            </a:r>
            <a:r>
              <a:rPr lang="zh-CN" altLang="en-US" sz="1800">
                <a:latin typeface="-webkit-standard"/>
                <a:ea typeface="-webkit-standard"/>
                <a:sym typeface="+mn-ea"/>
              </a:rPr>
              <a:t>阻尼因子</a:t>
            </a:r>
            <a:r>
              <a:rPr lang="en-US" altLang="zh-CN" sz="1800">
                <a:latin typeface="-webkit-standard"/>
                <a:ea typeface="-webkit-standard"/>
                <a:sym typeface="+mn-ea"/>
              </a:rPr>
              <a:t> α</a:t>
            </a:r>
            <a:r>
              <a:rPr lang="zh-CN" altLang="en-US" sz="1800">
                <a:latin typeface="-webkit-standard"/>
                <a:ea typeface="-webkit-standard"/>
                <a:sym typeface="+mn-ea"/>
              </a:rPr>
              <a:t>（</a:t>
            </a:r>
            <a:r>
              <a:rPr lang="en-US" altLang="zh-CN" sz="1800">
                <a:latin typeface="-webkit-standard"/>
                <a:ea typeface="-webkit-standard"/>
                <a:sym typeface="+mn-ea"/>
              </a:rPr>
              <a:t>0.7 / 0.85 / 0.9</a:t>
            </a:r>
            <a:r>
              <a:rPr lang="zh-CN" altLang="en-US" sz="1800">
                <a:latin typeface="-webkit-standard"/>
                <a:ea typeface="-webkit-standard"/>
                <a:sym typeface="+mn-ea"/>
              </a:rPr>
              <a:t>），观察结果变化</a:t>
            </a:r>
            <a:endParaRPr lang="zh-CN" altLang="en-US" sz="1800">
              <a:latin typeface="-webkit-standard"/>
              <a:ea typeface="-webkit-standard"/>
              <a:sym typeface="+mn-ea"/>
            </a:endParaRPr>
          </a:p>
          <a:p>
            <a:pPr marL="342900" indent="-342900" eaLnBrk="1" fontAlgn="auto" latinLnBrk="0" hangingPunct="1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Font typeface="Arial" panose="020B0604020202090204" pitchFamily="34" charset="0"/>
              <a:buChar char="•"/>
            </a:pPr>
            <a:r>
              <a:rPr lang="en-US" altLang="zh-CN" sz="1800" b="1">
                <a:latin typeface="-webkit-standard"/>
                <a:ea typeface="-webkit-standard"/>
                <a:sym typeface="+mn-ea"/>
              </a:rPr>
              <a:t>2.</a:t>
            </a:r>
            <a:r>
              <a:rPr lang="zh-CN" altLang="en-US" sz="1800" b="1">
                <a:latin typeface="-webkit-standard"/>
                <a:ea typeface="-webkit-standard"/>
                <a:sym typeface="+mn-ea"/>
              </a:rPr>
              <a:t>开放任务</a:t>
            </a:r>
            <a:r>
              <a:rPr lang="en-US" altLang="zh-CN" sz="1800" b="1">
                <a:latin typeface="-webkit-standard"/>
                <a:ea typeface="-webkit-standard"/>
                <a:sym typeface="+mn-ea"/>
              </a:rPr>
              <a:t>：</a:t>
            </a:r>
            <a:r>
              <a:rPr lang="zh-CN" altLang="en-US" sz="1800">
                <a:latin typeface="-webkit-standard"/>
                <a:ea typeface="-webkit-standard"/>
                <a:sym typeface="+mn-ea"/>
              </a:rPr>
              <a:t>优化实验结果</a:t>
            </a:r>
            <a:r>
              <a:rPr lang="en-US" altLang="zh-CN" sz="1800">
                <a:latin typeface="-webkit-standard"/>
                <a:ea typeface="-webkit-standard"/>
                <a:sym typeface="+mn-ea"/>
              </a:rPr>
              <a:t>，</a:t>
            </a:r>
            <a:r>
              <a:rPr lang="zh-CN" altLang="en-US" sz="1800">
                <a:latin typeface="-webkit-standard"/>
                <a:ea typeface="-webkit-standard"/>
                <a:sym typeface="+mn-ea"/>
              </a:rPr>
              <a:t>包括但不限于</a:t>
            </a:r>
            <a:r>
              <a:rPr lang="zh-CN" altLang="en-US" sz="1800">
                <a:latin typeface="-webkit-standard"/>
                <a:ea typeface="-webkit-standard"/>
                <a:sym typeface="+mn-ea"/>
              </a:rPr>
              <a:t>尝试使用</a:t>
            </a:r>
            <a:r>
              <a:rPr lang="en-US" altLang="zh-CN" sz="1800">
                <a:latin typeface="-webkit-standard"/>
                <a:ea typeface="-webkit-standard"/>
                <a:sym typeface="+mn-ea"/>
              </a:rPr>
              <a:t>x</a:t>
            </a:r>
            <a:r>
              <a:rPr lang="zh-CN" altLang="en-US" sz="1800">
                <a:latin typeface="-webkit-standard"/>
                <a:ea typeface="-webkit-standard"/>
                <a:sym typeface="+mn-ea"/>
              </a:rPr>
              <a:t>特征</a:t>
            </a:r>
            <a:r>
              <a:rPr lang="en-US" altLang="zh-CN" sz="1800">
                <a:latin typeface="-webkit-standard"/>
                <a:ea typeface="-webkit-standard"/>
                <a:sym typeface="+mn-ea"/>
              </a:rPr>
              <a:t>、</a:t>
            </a:r>
            <a:r>
              <a:rPr lang="zh-CN" altLang="en-US" sz="1800">
                <a:latin typeface="-webkit-standard"/>
                <a:ea typeface="-webkit-standard"/>
                <a:sym typeface="+mn-ea"/>
              </a:rPr>
              <a:t>增大</a:t>
            </a:r>
            <a:r>
              <a:rPr lang="en-US" altLang="zh-CN" sz="1800">
                <a:latin typeface="-webkit-standard"/>
                <a:ea typeface="-webkit-standard"/>
                <a:sym typeface="+mn-ea"/>
              </a:rPr>
              <a:t> Node2Vec </a:t>
            </a:r>
            <a:r>
              <a:rPr lang="zh-CN" altLang="en-US" sz="1800">
                <a:latin typeface="-webkit-standard"/>
                <a:ea typeface="-webkit-standard"/>
                <a:sym typeface="+mn-ea"/>
              </a:rPr>
              <a:t>游走长度</a:t>
            </a:r>
            <a:r>
              <a:rPr lang="en-US" altLang="zh-CN" sz="1800">
                <a:latin typeface="-webkit-standard"/>
                <a:ea typeface="-webkit-standard"/>
                <a:sym typeface="+mn-ea"/>
              </a:rPr>
              <a:t>/</a:t>
            </a:r>
            <a:r>
              <a:rPr lang="zh-CN" altLang="en-US" sz="1800">
                <a:latin typeface="-webkit-standard"/>
                <a:ea typeface="-webkit-standard"/>
                <a:sym typeface="+mn-ea"/>
              </a:rPr>
              <a:t>次数、换随机种子多次平均等</a:t>
            </a:r>
            <a:r>
              <a:rPr lang="en-US" altLang="zh-CN" sz="1800">
                <a:latin typeface="-webkit-standard"/>
                <a:ea typeface="-webkit-standard"/>
                <a:sym typeface="+mn-ea"/>
              </a:rPr>
              <a:t>。</a:t>
            </a:r>
            <a:endParaRPr lang="en-US" sz="1800" b="1" i="0" u="none" strike="noStrike">
              <a:solidFill>
                <a:srgbClr val="333333"/>
              </a:solidFill>
              <a:latin typeface="Noto Sans SC"/>
              <a:ea typeface="Noto Sans SC"/>
              <a:cs typeface="Noto Sans SC"/>
              <a:sym typeface="Noto Sans SC"/>
            </a:endParaRPr>
          </a:p>
          <a:p>
            <a:pPr marL="177800" indent="-177800" algn="l" eaLnBrk="1" fontAlgn="auto" latinLnBrk="0" hangingPunct="1">
              <a:lnSpc>
                <a:spcPct val="150000"/>
              </a:lnSpc>
              <a:buClr>
                <a:srgbClr val="333333"/>
              </a:buClr>
              <a:buChar char="•"/>
            </a:pPr>
            <a:r>
              <a:rPr lang="en-US" sz="1800" b="1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格式要求：</a:t>
            </a:r>
            <a:r>
              <a:rPr lang="zh-CN" altLang="en-US" sz="1800" b="1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实验报告</a:t>
            </a:r>
            <a:r>
              <a:rPr lang="en-US" sz="1800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包含</a:t>
            </a:r>
            <a:r>
              <a:rPr lang="zh-CN" altLang="en-US" sz="1800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关键代码</a:t>
            </a:r>
            <a:r>
              <a:rPr lang="en-US" altLang="zh-CN" sz="1800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、</a:t>
            </a:r>
            <a:r>
              <a:rPr lang="en-US" sz="1800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方法、实验结果与结论。</a:t>
            </a:r>
            <a:r>
              <a:rPr lang="zh-CN" altLang="en-US" sz="1800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结论需要有运行结果截图</a:t>
            </a:r>
            <a:r>
              <a:rPr lang="en-US" altLang="zh-CN" sz="1800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、</a:t>
            </a:r>
            <a:r>
              <a:rPr lang="en-US" sz="1800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数据可视化图表</a:t>
            </a:r>
            <a:r>
              <a:rPr lang="zh-CN" altLang="en-US" sz="1800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支撑</a:t>
            </a:r>
            <a:r>
              <a:rPr lang="en-US" sz="1800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。</a:t>
            </a:r>
            <a:endParaRPr lang="en-US" sz="1800" b="0" i="0" u="none" strike="noStrike">
              <a:solidFill>
                <a:srgbClr val="333333"/>
              </a:solidFill>
              <a:latin typeface="Noto Sans SC"/>
              <a:ea typeface="Noto Sans SC"/>
              <a:cs typeface="Noto Sans SC"/>
              <a:sym typeface="Noto Sans SC"/>
            </a:endParaRPr>
          </a:p>
          <a:p>
            <a:pPr marL="0" indent="0" algn="l" eaLnBrk="1" fontAlgn="auto" latinLnBrk="0" hangingPunct="1">
              <a:lnSpc>
                <a:spcPct val="150000"/>
              </a:lnSpc>
              <a:buClr>
                <a:srgbClr val="333333"/>
              </a:buClr>
              <a:buNone/>
            </a:pPr>
            <a:endParaRPr lang="zh-CN" altLang="en-US" sz="1800" b="0" i="0" u="none" strike="noStrike">
              <a:solidFill>
                <a:srgbClr val="C00000"/>
              </a:solidFill>
              <a:latin typeface="Noto Sans SC"/>
              <a:ea typeface="Noto Sans SC"/>
              <a:cs typeface="Noto Sans SC"/>
              <a:sym typeface="Noto Sans SC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3366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3" name="AutoShape 3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001428">
              <a:alpha val="8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4" name="AutoShape 4"/>
          <p:cNvSpPr/>
          <p:nvPr/>
        </p:nvSpPr>
        <p:spPr>
          <a:xfrm>
            <a:off x="762000" y="635000"/>
            <a:ext cx="10668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36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 </a:t>
            </a:r>
            <a:r>
              <a:rPr lang="zh-CN" altLang="en-US" sz="36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实验报告评分</a:t>
            </a:r>
            <a:r>
              <a:rPr lang="zh-CN" altLang="en-US" sz="36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标准</a:t>
            </a:r>
            <a:endParaRPr lang="zh-CN" altLang="en-US" sz="3600" b="1" i="0" u="none" strike="noStrike">
              <a:solidFill>
                <a:srgbClr val="FFFFFF"/>
              </a:solidFill>
              <a:latin typeface="Noto Sans SC"/>
              <a:ea typeface="Noto Sans SC"/>
              <a:cs typeface="Noto Sans SC"/>
              <a:sym typeface="Noto Sans SC"/>
            </a:endParaRPr>
          </a:p>
        </p:txBody>
      </p:sp>
      <p:sp>
        <p:nvSpPr>
          <p:cNvPr id="20" name="AutoShape 20"/>
          <p:cNvSpPr/>
          <p:nvPr/>
        </p:nvSpPr>
        <p:spPr>
          <a:xfrm>
            <a:off x="695960" y="1814195"/>
            <a:ext cx="10668000" cy="4301490"/>
          </a:xfrm>
          <a:prstGeom prst="roundRect">
            <a:avLst>
              <a:gd name="adj" fmla="val 6666"/>
            </a:avLst>
          </a:prstGeom>
          <a:solidFill>
            <a:srgbClr val="F5F7FA">
              <a:alpha val="9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21" name="Picture 2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49960" y="2068195"/>
            <a:ext cx="406400" cy="406400"/>
          </a:xfrm>
          <a:prstGeom prst="rect">
            <a:avLst/>
          </a:prstGeom>
        </p:spPr>
      </p:pic>
      <p:sp>
        <p:nvSpPr>
          <p:cNvPr id="22" name="AutoShape 22"/>
          <p:cNvSpPr/>
          <p:nvPr/>
        </p:nvSpPr>
        <p:spPr>
          <a:xfrm>
            <a:off x="1457960" y="2068195"/>
            <a:ext cx="2540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zh-CN" altLang="en-US" sz="2400" b="1" i="0" u="none" strike="noStrike">
                <a:solidFill>
                  <a:srgbClr val="003366"/>
                </a:solidFill>
                <a:latin typeface="Noto Sans SC"/>
                <a:ea typeface="Noto Sans SC"/>
                <a:cs typeface="Noto Sans SC"/>
                <a:sym typeface="Noto Sans SC"/>
              </a:rPr>
              <a:t>评分标准</a:t>
            </a:r>
            <a:endParaRPr lang="zh-CN" altLang="en-US" sz="2400" b="1" i="0" u="none" strike="noStrike">
              <a:solidFill>
                <a:srgbClr val="003366"/>
              </a:solidFill>
              <a:latin typeface="Noto Sans SC"/>
              <a:ea typeface="Noto Sans SC"/>
              <a:cs typeface="Noto Sans SC"/>
              <a:sym typeface="Noto Sans SC"/>
            </a:endParaRPr>
          </a:p>
        </p:txBody>
      </p:sp>
      <p:cxnSp>
        <p:nvCxnSpPr>
          <p:cNvPr id="23" name="Connector 23"/>
          <p:cNvCxnSpPr/>
          <p:nvPr/>
        </p:nvCxnSpPr>
        <p:spPr>
          <a:xfrm rot="-4297">
            <a:off x="949964" y="2506345"/>
            <a:ext cx="10160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25400" cap="flat" cmpd="sng">
            <a:solidFill>
              <a:srgbClr val="4A90E2">
                <a:alpha val="100000"/>
              </a:srgbClr>
            </a:solidFill>
            <a:prstDash val="solid"/>
            <a:round/>
            <a:headEnd type="none" w="lg" len="lg"/>
            <a:tailEnd type="none" w="lg" len="lg"/>
          </a:ln>
        </p:spPr>
      </p:cxnSp>
      <p:sp>
        <p:nvSpPr>
          <p:cNvPr id="24" name="AutoShape 24"/>
          <p:cNvSpPr/>
          <p:nvPr/>
        </p:nvSpPr>
        <p:spPr>
          <a:xfrm>
            <a:off x="727075" y="2160905"/>
            <a:ext cx="10667365" cy="364109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 eaLnBrk="1" fontAlgn="auto" latinLnBrk="0" hangingPunct="1">
              <a:lnSpc>
                <a:spcPct val="200000"/>
              </a:lnSpc>
              <a:buClr>
                <a:srgbClr val="333333"/>
              </a:buClr>
              <a:buNone/>
              <a:defRPr/>
            </a:pPr>
            <a:endParaRPr lang="en-US" sz="1100"/>
          </a:p>
          <a:p>
            <a:pPr marL="457200" lvl="1" indent="0" algn="l" eaLnBrk="1" fontAlgn="auto" latinLnBrk="0" hangingPunct="1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Arial" panose="020B0604020202090204"/>
              <a:buChar char="•"/>
            </a:pPr>
            <a:r>
              <a:rPr lang="zh-CN" altLang="en-US" sz="1800">
                <a:latin typeface="ui-sans-serif"/>
                <a:ea typeface="ui-sans-serif"/>
                <a:sym typeface="+mn-ea"/>
              </a:rPr>
              <a:t>代码可正常运行、结果正确：</a:t>
            </a:r>
            <a:r>
              <a:rPr lang="en-US" altLang="zh-CN" sz="1800">
                <a:latin typeface="ui-sans-serif"/>
                <a:ea typeface="ui-sans-serif"/>
                <a:sym typeface="+mn-ea"/>
              </a:rPr>
              <a:t>10 </a:t>
            </a:r>
            <a:r>
              <a:rPr lang="zh-CN" altLang="en-US" sz="1800">
                <a:latin typeface="ui-sans-serif"/>
                <a:ea typeface="ui-sans-serif"/>
                <a:sym typeface="+mn-ea"/>
              </a:rPr>
              <a:t>分</a:t>
            </a:r>
            <a:endParaRPr lang="zh-CN" altLang="en-US" sz="1800" b="0" i="0">
              <a:solidFill>
                <a:srgbClr val="000000"/>
              </a:solidFill>
              <a:latin typeface="ui-sans-serif"/>
              <a:ea typeface="ui-sans-serif"/>
            </a:endParaRPr>
          </a:p>
          <a:p>
            <a:pPr marL="457200" lvl="1" indent="0" algn="l" eaLnBrk="1" fontAlgn="auto" latinLnBrk="0" hangingPunct="1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Arial" panose="020B0604020202090204"/>
              <a:buChar char="•"/>
            </a:pPr>
            <a:r>
              <a:rPr lang="zh-CN" altLang="en-US" sz="1800">
                <a:latin typeface="ui-sans-serif"/>
                <a:ea typeface="ui-sans-serif"/>
                <a:sym typeface="+mn-ea"/>
              </a:rPr>
              <a:t>完成固定任务：</a:t>
            </a:r>
            <a:r>
              <a:rPr lang="en-US" altLang="zh-CN" sz="1800">
                <a:latin typeface="ui-sans-serif"/>
                <a:ea typeface="ui-sans-serif"/>
                <a:sym typeface="+mn-ea"/>
              </a:rPr>
              <a:t>5 </a:t>
            </a:r>
            <a:r>
              <a:rPr lang="zh-CN" altLang="en-US" sz="1800">
                <a:latin typeface="ui-sans-serif"/>
                <a:ea typeface="ui-sans-serif"/>
                <a:sym typeface="+mn-ea"/>
              </a:rPr>
              <a:t>分</a:t>
            </a:r>
            <a:endParaRPr lang="zh-CN" altLang="en-US" sz="1800" b="0" i="0">
              <a:solidFill>
                <a:srgbClr val="000000"/>
              </a:solidFill>
              <a:latin typeface="ui-sans-serif"/>
              <a:ea typeface="ui-sans-serif"/>
            </a:endParaRPr>
          </a:p>
          <a:p>
            <a:pPr marL="457200" lvl="1" indent="0" algn="l" eaLnBrk="1" fontAlgn="auto" latinLnBrk="0" hangingPunct="1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Arial" panose="020B0604020202090204"/>
              <a:buChar char="•"/>
            </a:pPr>
            <a:r>
              <a:rPr lang="zh-CN" altLang="en-US" sz="1800">
                <a:latin typeface="ui-sans-serif"/>
                <a:ea typeface="ui-sans-serif"/>
                <a:sym typeface="+mn-ea"/>
              </a:rPr>
              <a:t>完成</a:t>
            </a:r>
            <a:r>
              <a:rPr lang="zh-CN" altLang="en-US" sz="1800">
                <a:latin typeface="ui-sans-serif"/>
                <a:ea typeface="ui-sans-serif"/>
                <a:sym typeface="+mn-ea"/>
              </a:rPr>
              <a:t>开放任务：</a:t>
            </a:r>
            <a:r>
              <a:rPr lang="en-US" altLang="zh-CN" sz="1800">
                <a:latin typeface="ui-sans-serif"/>
                <a:ea typeface="ui-sans-serif"/>
                <a:sym typeface="+mn-ea"/>
              </a:rPr>
              <a:t>0-45 </a:t>
            </a:r>
            <a:r>
              <a:rPr lang="zh-CN" altLang="en-US" sz="1800">
                <a:latin typeface="ui-sans-serif"/>
                <a:ea typeface="ui-sans-serif"/>
                <a:sym typeface="+mn-ea"/>
              </a:rPr>
              <a:t>分</a:t>
            </a:r>
            <a:endParaRPr lang="zh-CN" altLang="en-US" sz="1800" b="0" i="0">
              <a:solidFill>
                <a:srgbClr val="000000"/>
              </a:solidFill>
              <a:latin typeface="ui-sans-serif"/>
              <a:ea typeface="ui-sans-serif"/>
            </a:endParaRPr>
          </a:p>
          <a:p>
            <a:pPr marL="457200" lvl="1" indent="0" algn="l" eaLnBrk="1" fontAlgn="auto" latinLnBrk="0" hangingPunct="1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Arial" panose="020B0604020202090204"/>
              <a:buChar char="•"/>
            </a:pPr>
            <a:r>
              <a:rPr lang="zh-CN" altLang="en-US" sz="1800">
                <a:latin typeface="ui-sans-serif"/>
                <a:ea typeface="ui-sans-serif"/>
                <a:sym typeface="+mn-ea"/>
              </a:rPr>
              <a:t>图表规范、结果清晰：</a:t>
            </a:r>
            <a:r>
              <a:rPr lang="en-US" altLang="zh-CN" sz="1800">
                <a:latin typeface="ui-sans-serif"/>
                <a:ea typeface="ui-sans-serif"/>
                <a:sym typeface="+mn-ea"/>
              </a:rPr>
              <a:t>2</a:t>
            </a:r>
            <a:r>
              <a:rPr lang="en-US" altLang="zh-CN" sz="1800">
                <a:latin typeface="ui-sans-serif"/>
                <a:ea typeface="ui-sans-serif"/>
                <a:sym typeface="+mn-ea"/>
              </a:rPr>
              <a:t>5 </a:t>
            </a:r>
            <a:r>
              <a:rPr lang="zh-CN" altLang="en-US" sz="1800">
                <a:latin typeface="ui-sans-serif"/>
                <a:ea typeface="ui-sans-serif"/>
                <a:sym typeface="+mn-ea"/>
              </a:rPr>
              <a:t>分</a:t>
            </a:r>
            <a:endParaRPr lang="zh-CN" altLang="en-US" sz="1800" b="0" i="0">
              <a:solidFill>
                <a:srgbClr val="000000"/>
              </a:solidFill>
              <a:latin typeface="ui-sans-serif"/>
              <a:ea typeface="ui-sans-serif"/>
            </a:endParaRPr>
          </a:p>
          <a:p>
            <a:pPr marL="457200" lvl="1" indent="0" algn="l" eaLnBrk="1" fontAlgn="auto" latinLnBrk="0" hangingPunct="1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Arial" panose="020B0604020202090204"/>
              <a:buChar char="•"/>
            </a:pPr>
            <a:r>
              <a:rPr lang="zh-CN" altLang="en-US" sz="1800">
                <a:latin typeface="ui-sans-serif"/>
                <a:ea typeface="ui-sans-serif"/>
                <a:sym typeface="+mn-ea"/>
              </a:rPr>
              <a:t>分析深入、逻辑完整：</a:t>
            </a:r>
            <a:r>
              <a:rPr lang="en-US" altLang="zh-CN" sz="1800">
                <a:latin typeface="ui-sans-serif"/>
                <a:ea typeface="ui-sans-serif"/>
                <a:sym typeface="+mn-ea"/>
              </a:rPr>
              <a:t>15 </a:t>
            </a:r>
            <a:r>
              <a:rPr lang="zh-CN" altLang="en-US" sz="1800">
                <a:latin typeface="ui-sans-serif"/>
                <a:ea typeface="ui-sans-serif"/>
                <a:sym typeface="+mn-ea"/>
              </a:rPr>
              <a:t>分</a:t>
            </a:r>
            <a:endParaRPr lang="zh-CN" altLang="en-US" sz="1800" b="0" i="0">
              <a:solidFill>
                <a:srgbClr val="000000"/>
              </a:solidFill>
              <a:latin typeface="ui-sans-serif"/>
              <a:ea typeface="ui-sans-serif"/>
            </a:endParaRPr>
          </a:p>
          <a:p>
            <a:pPr marL="0" indent="0" algn="l" eaLnBrk="1" fontAlgn="auto" latinLnBrk="0" hangingPunct="1">
              <a:lnSpc>
                <a:spcPct val="150000"/>
              </a:lnSpc>
              <a:buClr>
                <a:srgbClr val="333333"/>
              </a:buClr>
              <a:buNone/>
            </a:pPr>
            <a:endParaRPr lang="zh-CN" altLang="en-US" sz="1800" b="0" i="0" u="none" strike="noStrike">
              <a:solidFill>
                <a:srgbClr val="333333"/>
              </a:solidFill>
              <a:latin typeface="Noto Sans SC"/>
              <a:ea typeface="Noto Sans SC"/>
              <a:cs typeface="Noto Sans SC"/>
              <a:sym typeface="Noto Sans SC"/>
            </a:endParaRPr>
          </a:p>
          <a:p>
            <a:pPr marL="0" indent="0" algn="l" eaLnBrk="1" fontAlgn="auto" latinLnBrk="0" hangingPunct="1">
              <a:lnSpc>
                <a:spcPct val="150000"/>
              </a:lnSpc>
              <a:buClr>
                <a:srgbClr val="333333"/>
              </a:buClr>
              <a:buNone/>
            </a:pPr>
            <a:r>
              <a:rPr lang="zh-CN" altLang="en-US" sz="1800" b="0" i="0" u="none" strike="noStrike">
                <a:solidFill>
                  <a:srgbClr val="C00000"/>
                </a:solidFill>
                <a:latin typeface="Noto Sans SC"/>
                <a:ea typeface="Noto Sans SC"/>
                <a:cs typeface="Noto Sans SC"/>
                <a:sym typeface="Noto Sans SC"/>
              </a:rPr>
              <a:t>⚠️</a:t>
            </a:r>
            <a:r>
              <a:rPr lang="zh-CN" altLang="en-US" sz="1800">
                <a:solidFill>
                  <a:srgbClr val="C00000"/>
                </a:solidFill>
                <a:latin typeface="Noto Sans SC"/>
                <a:ea typeface="Noto Sans SC"/>
                <a:cs typeface="Noto Sans SC"/>
                <a:sym typeface="Noto Sans SC"/>
              </a:rPr>
              <a:t>相似度高的</a:t>
            </a:r>
            <a:r>
              <a:rPr lang="zh-CN" altLang="en-US" sz="1800" b="0" i="0" u="none" strike="noStrike">
                <a:solidFill>
                  <a:srgbClr val="C00000"/>
                </a:solidFill>
                <a:latin typeface="Noto Sans SC"/>
                <a:ea typeface="Noto Sans SC"/>
                <a:cs typeface="Noto Sans SC"/>
                <a:sym typeface="Noto Sans SC"/>
              </a:rPr>
              <a:t>代码或报告内容计</a:t>
            </a:r>
            <a:r>
              <a:rPr lang="en-US" altLang="zh-CN" sz="1800" b="0" i="0" u="none" strike="noStrike">
                <a:solidFill>
                  <a:srgbClr val="C00000"/>
                </a:solidFill>
                <a:latin typeface="Noto Sans SC"/>
                <a:ea typeface="Noto Sans SC"/>
                <a:cs typeface="Noto Sans SC"/>
                <a:sym typeface="Noto Sans SC"/>
              </a:rPr>
              <a:t>0</a:t>
            </a:r>
            <a:r>
              <a:rPr lang="zh-CN" altLang="en-US" sz="1800" b="0" i="0" u="none" strike="noStrike">
                <a:solidFill>
                  <a:srgbClr val="C00000"/>
                </a:solidFill>
                <a:latin typeface="Noto Sans SC"/>
                <a:ea typeface="Noto Sans SC"/>
                <a:cs typeface="Noto Sans SC"/>
                <a:sym typeface="Noto Sans SC"/>
              </a:rPr>
              <a:t>分</a:t>
            </a:r>
            <a:endParaRPr lang="zh-CN" altLang="en-US" sz="1800" b="0" i="0" u="none" strike="noStrike">
              <a:solidFill>
                <a:srgbClr val="C00000"/>
              </a:solidFill>
              <a:latin typeface="Noto Sans SC"/>
              <a:ea typeface="Noto Sans SC"/>
              <a:cs typeface="Noto Sans SC"/>
              <a:sym typeface="Noto Sans SC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5334000" y="3954145"/>
            <a:ext cx="6096000" cy="101473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457200" lvl="1" indent="0" algn="l" eaLnBrk="1" fontAlgn="auto" latinLnBrk="0" hangingPunct="1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Arial" panose="020B0604020202090204"/>
              <a:buChar char="•"/>
            </a:pPr>
            <a:r>
              <a:rPr lang="zh-CN" altLang="en-US" sz="2000">
                <a:highlight>
                  <a:srgbClr val="FFFF00"/>
                </a:highlight>
                <a:latin typeface="ui-sans-serif"/>
                <a:ea typeface="ui-sans-serif"/>
                <a:sym typeface="+mn-ea"/>
              </a:rPr>
              <a:t>实验报告学委收齐发老师企业微信</a:t>
            </a:r>
            <a:endParaRPr lang="zh-CN" altLang="en-US" sz="2000">
              <a:highlight>
                <a:srgbClr val="FFFF00"/>
              </a:highlight>
              <a:latin typeface="ui-sans-serif"/>
              <a:ea typeface="ui-sans-serif"/>
              <a:sym typeface="+mn-ea"/>
            </a:endParaRPr>
          </a:p>
          <a:p>
            <a:pPr marL="457200" lvl="1" indent="0" algn="l" eaLnBrk="1" fontAlgn="auto" latinLnBrk="0" hangingPunct="1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Arial" panose="020B0604020202090204"/>
              <a:buChar char="•"/>
            </a:pPr>
            <a:r>
              <a:rPr lang="zh-CN" altLang="en-US" sz="2000">
                <a:highlight>
                  <a:srgbClr val="FFFF00"/>
                </a:highlight>
                <a:latin typeface="ui-sans-serif"/>
                <a:ea typeface="ui-sans-serif"/>
                <a:sym typeface="+mn-ea"/>
              </a:rPr>
              <a:t>实验报告命名</a:t>
            </a:r>
            <a:r>
              <a:rPr lang="en-US" altLang="zh-CN" sz="2000">
                <a:highlight>
                  <a:srgbClr val="FFFF00"/>
                </a:highlight>
                <a:latin typeface="ui-sans-serif"/>
                <a:ea typeface="ui-sans-serif"/>
                <a:sym typeface="+mn-ea"/>
              </a:rPr>
              <a:t>：</a:t>
            </a:r>
            <a:r>
              <a:rPr lang="zh-CN" altLang="en-US" sz="2000">
                <a:highlight>
                  <a:srgbClr val="FFFF00"/>
                </a:highlight>
                <a:latin typeface="ui-sans-serif"/>
                <a:ea typeface="ui-sans-serif"/>
                <a:sym typeface="+mn-ea"/>
              </a:rPr>
              <a:t>课程序号</a:t>
            </a:r>
            <a:r>
              <a:rPr lang="en-US" altLang="zh-CN" sz="2000">
                <a:highlight>
                  <a:srgbClr val="FFFF00"/>
                </a:highlight>
                <a:latin typeface="ui-sans-serif"/>
                <a:ea typeface="ui-sans-serif"/>
                <a:sym typeface="+mn-ea"/>
              </a:rPr>
              <a:t>-</a:t>
            </a:r>
            <a:r>
              <a:rPr lang="zh-CN" altLang="en-US" sz="2000">
                <a:highlight>
                  <a:srgbClr val="FFFF00"/>
                </a:highlight>
                <a:latin typeface="ui-sans-serif"/>
                <a:ea typeface="ui-sans-serif"/>
                <a:sym typeface="+mn-ea"/>
              </a:rPr>
              <a:t>姓名</a:t>
            </a:r>
            <a:endParaRPr lang="zh-CN" altLang="en-US" sz="2000">
              <a:highlight>
                <a:srgbClr val="FFFF00"/>
              </a:highlight>
              <a:latin typeface="ui-sans-serif"/>
              <a:ea typeface="ui-sans-serif"/>
              <a:sym typeface="+mn-ea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3366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3" name="AutoShape 3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000F1E">
              <a:alpha val="8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4" name="AutoShape 4"/>
          <p:cNvSpPr/>
          <p:nvPr/>
        </p:nvSpPr>
        <p:spPr>
          <a:xfrm>
            <a:off x="762000" y="635000"/>
            <a:ext cx="10668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36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第八周实验</a:t>
            </a:r>
            <a:endParaRPr lang="en-US" sz="1100"/>
          </a:p>
        </p:txBody>
      </p:sp>
      <p:sp>
        <p:nvSpPr>
          <p:cNvPr id="5" name="AutoShape 5"/>
          <p:cNvSpPr/>
          <p:nvPr/>
        </p:nvSpPr>
        <p:spPr>
          <a:xfrm>
            <a:off x="762000" y="1651000"/>
            <a:ext cx="5207000" cy="2413000"/>
          </a:xfrm>
          <a:prstGeom prst="roundRect">
            <a:avLst>
              <a:gd name="adj" fmla="val 5263"/>
            </a:avLst>
          </a:prstGeom>
          <a:solidFill>
            <a:srgbClr val="F5F7FA">
              <a:alpha val="9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 sz="1600"/>
          </a:p>
        </p:txBody>
      </p:sp>
      <p:pic>
        <p:nvPicPr>
          <p:cNvPr id="6" name="Picture 6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16000" y="1905000"/>
            <a:ext cx="406400" cy="406400"/>
          </a:xfrm>
          <a:prstGeom prst="rect">
            <a:avLst/>
          </a:prstGeom>
        </p:spPr>
      </p:pic>
      <p:sp>
        <p:nvSpPr>
          <p:cNvPr id="7" name="AutoShape 7"/>
          <p:cNvSpPr/>
          <p:nvPr/>
        </p:nvSpPr>
        <p:spPr>
          <a:xfrm>
            <a:off x="1524000" y="1905000"/>
            <a:ext cx="3810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003366"/>
                </a:solidFill>
                <a:latin typeface="Noto Sans SC"/>
                <a:ea typeface="Noto Sans SC"/>
                <a:cs typeface="Noto Sans SC"/>
                <a:sym typeface="Noto Sans SC"/>
              </a:rPr>
              <a:t>实验目标</a:t>
            </a:r>
            <a:endParaRPr lang="en-US" sz="2000" b="1" i="0" u="none" strike="noStrike">
              <a:solidFill>
                <a:srgbClr val="003366"/>
              </a:solidFill>
              <a:latin typeface="Noto Sans SC"/>
              <a:ea typeface="Noto Sans SC"/>
              <a:cs typeface="Noto Sans SC"/>
              <a:sym typeface="Noto Sans SC"/>
            </a:endParaRPr>
          </a:p>
        </p:txBody>
      </p:sp>
      <p:cxnSp>
        <p:nvCxnSpPr>
          <p:cNvPr id="8" name="Connector 8"/>
          <p:cNvCxnSpPr/>
          <p:nvPr/>
        </p:nvCxnSpPr>
        <p:spPr>
          <a:xfrm rot="-9291">
            <a:off x="1016009" y="2343150"/>
            <a:ext cx="4699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4A90E2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9" name="AutoShape 9"/>
          <p:cNvSpPr/>
          <p:nvPr/>
        </p:nvSpPr>
        <p:spPr>
          <a:xfrm>
            <a:off x="1016000" y="2476500"/>
            <a:ext cx="4699000" cy="1270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177800" indent="-177800" algn="l">
              <a:lnSpc>
                <a:spcPct val="125000"/>
              </a:lnSpc>
              <a:buClr>
                <a:srgbClr val="333333"/>
              </a:buClr>
              <a:buChar char="•"/>
              <a:defRPr/>
            </a:pPr>
            <a:r>
              <a:rPr lang="en-US" sz="1600" b="0" i="0" u="none" strike="noStrike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对比协同过滤与矩阵分解算法性能差异</a:t>
            </a:r>
            <a:endParaRPr lang="en-US" sz="1200"/>
          </a:p>
          <a:p>
            <a:pPr marL="177800" indent="-177800" algn="l">
              <a:lnSpc>
                <a:spcPct val="125000"/>
              </a:lnSpc>
              <a:buClr>
                <a:srgbClr val="333333"/>
              </a:buClr>
              <a:buChar char="•"/>
            </a:pPr>
            <a:r>
              <a:rPr lang="en-US" sz="1600" b="0" i="0" u="none" strike="noStrike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深入分析推荐系统在不同场景下的表现</a:t>
            </a:r>
            <a:endParaRPr lang="en-US" sz="1600" b="0" i="0" u="none" strike="noStrike">
              <a:solidFill>
                <a:srgbClr val="333333"/>
              </a:solidFill>
              <a:latin typeface="Noto Sans SC"/>
              <a:ea typeface="Noto Sans SC"/>
              <a:cs typeface="Noto Sans SC"/>
              <a:sym typeface="Noto Sans SC"/>
            </a:endParaRPr>
          </a:p>
        </p:txBody>
      </p:sp>
      <p:sp>
        <p:nvSpPr>
          <p:cNvPr id="10" name="AutoShape 10"/>
          <p:cNvSpPr/>
          <p:nvPr/>
        </p:nvSpPr>
        <p:spPr>
          <a:xfrm>
            <a:off x="6223000" y="1651000"/>
            <a:ext cx="5207000" cy="2413000"/>
          </a:xfrm>
          <a:prstGeom prst="roundRect">
            <a:avLst>
              <a:gd name="adj" fmla="val 5263"/>
            </a:avLst>
          </a:prstGeom>
          <a:solidFill>
            <a:srgbClr val="F5F7FA">
              <a:alpha val="9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 sz="1600"/>
          </a:p>
        </p:txBody>
      </p:sp>
      <p:pic>
        <p:nvPicPr>
          <p:cNvPr id="11" name="Picture 11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477000" y="1905000"/>
            <a:ext cx="406400" cy="406400"/>
          </a:xfrm>
          <a:prstGeom prst="rect">
            <a:avLst/>
          </a:prstGeom>
        </p:spPr>
      </p:pic>
      <p:sp>
        <p:nvSpPr>
          <p:cNvPr id="12" name="AutoShape 12"/>
          <p:cNvSpPr/>
          <p:nvPr/>
        </p:nvSpPr>
        <p:spPr>
          <a:xfrm>
            <a:off x="6985000" y="1905000"/>
            <a:ext cx="3810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003366"/>
                </a:solidFill>
                <a:latin typeface="Noto Sans SC"/>
                <a:ea typeface="Noto Sans SC"/>
                <a:cs typeface="Noto Sans SC"/>
                <a:sym typeface="Noto Sans SC"/>
              </a:rPr>
              <a:t>核心实验内容</a:t>
            </a:r>
            <a:endParaRPr lang="en-US" sz="2000" b="1" i="0" u="none" strike="noStrike">
              <a:solidFill>
                <a:srgbClr val="003366"/>
              </a:solidFill>
              <a:latin typeface="Noto Sans SC"/>
              <a:ea typeface="Noto Sans SC"/>
              <a:cs typeface="Noto Sans SC"/>
              <a:sym typeface="Noto Sans SC"/>
            </a:endParaRPr>
          </a:p>
        </p:txBody>
      </p:sp>
      <p:cxnSp>
        <p:nvCxnSpPr>
          <p:cNvPr id="13" name="Connector 13"/>
          <p:cNvCxnSpPr/>
          <p:nvPr/>
        </p:nvCxnSpPr>
        <p:spPr>
          <a:xfrm rot="-9291">
            <a:off x="6477009" y="2343150"/>
            <a:ext cx="4699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4A90E2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4" name="AutoShape 14"/>
          <p:cNvSpPr/>
          <p:nvPr/>
        </p:nvSpPr>
        <p:spPr>
          <a:xfrm>
            <a:off x="6477000" y="2476500"/>
            <a:ext cx="4699000" cy="1270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177800" indent="-177800" algn="l">
              <a:lnSpc>
                <a:spcPct val="125000"/>
              </a:lnSpc>
              <a:buClr>
                <a:srgbClr val="333333"/>
              </a:buClr>
              <a:buChar char="•"/>
              <a:defRPr/>
            </a:pPr>
            <a:r>
              <a:rPr lang="en-US" sz="1600" b="0" i="0" u="none" strike="noStrike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算法实现：ItemCF 协同过滤与矩阵分解(SVD)</a:t>
            </a:r>
            <a:endParaRPr lang="en-US" sz="1200"/>
          </a:p>
          <a:p>
            <a:pPr marL="177800" indent="-177800" algn="l">
              <a:lnSpc>
                <a:spcPct val="125000"/>
              </a:lnSpc>
              <a:buClr>
                <a:srgbClr val="333333"/>
              </a:buClr>
              <a:buChar char="•"/>
            </a:pPr>
            <a:r>
              <a:rPr lang="en-US" sz="1600" b="0" i="0" u="none" strike="noStrike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对比分析：统一数据集对比，评估冷启动与稀疏性影响</a:t>
            </a:r>
            <a:endParaRPr lang="en-US" sz="1600" b="0" i="0" u="none" strike="noStrike">
              <a:solidFill>
                <a:srgbClr val="333333"/>
              </a:solidFill>
              <a:latin typeface="Noto Sans SC"/>
              <a:ea typeface="Noto Sans SC"/>
              <a:cs typeface="Noto Sans SC"/>
              <a:sym typeface="Noto Sans SC"/>
            </a:endParaRPr>
          </a:p>
          <a:p>
            <a:pPr marL="177800" indent="-177800" algn="l">
              <a:lnSpc>
                <a:spcPct val="125000"/>
              </a:lnSpc>
              <a:buClr>
                <a:srgbClr val="333333"/>
              </a:buClr>
              <a:buChar char="•"/>
            </a:pPr>
            <a:r>
              <a:rPr lang="en-US" sz="1600" b="0" i="0" u="none" strike="noStrike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结论总结：基于实验数据给出最优模型结论</a:t>
            </a:r>
            <a:endParaRPr lang="en-US" sz="1600" b="0" i="0" u="none" strike="noStrike">
              <a:solidFill>
                <a:srgbClr val="333333"/>
              </a:solidFill>
              <a:latin typeface="Noto Sans SC"/>
              <a:ea typeface="Noto Sans SC"/>
              <a:cs typeface="Noto Sans SC"/>
              <a:sym typeface="Noto Sans SC"/>
            </a:endParaRPr>
          </a:p>
        </p:txBody>
      </p:sp>
      <p:sp>
        <p:nvSpPr>
          <p:cNvPr id="15" name="AutoShape 15"/>
          <p:cNvSpPr/>
          <p:nvPr/>
        </p:nvSpPr>
        <p:spPr>
          <a:xfrm>
            <a:off x="762000" y="4318000"/>
            <a:ext cx="10668000" cy="1905000"/>
          </a:xfrm>
          <a:prstGeom prst="roundRect">
            <a:avLst>
              <a:gd name="adj" fmla="val 6666"/>
            </a:avLst>
          </a:prstGeom>
          <a:solidFill>
            <a:srgbClr val="F5F7FA">
              <a:alpha val="9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 sz="1600"/>
          </a:p>
        </p:txBody>
      </p:sp>
      <p:pic>
        <p:nvPicPr>
          <p:cNvPr id="16" name="Picture 16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1016000" y="4572000"/>
            <a:ext cx="406400" cy="406400"/>
          </a:xfrm>
          <a:prstGeom prst="rect">
            <a:avLst/>
          </a:prstGeom>
        </p:spPr>
      </p:pic>
      <p:sp>
        <p:nvSpPr>
          <p:cNvPr id="17" name="AutoShape 17"/>
          <p:cNvSpPr/>
          <p:nvPr/>
        </p:nvSpPr>
        <p:spPr>
          <a:xfrm>
            <a:off x="1524000" y="4572000"/>
            <a:ext cx="3810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003366"/>
                </a:solidFill>
                <a:latin typeface="Noto Sans SC"/>
                <a:ea typeface="Noto Sans SC"/>
                <a:cs typeface="Noto Sans SC"/>
                <a:sym typeface="Noto Sans SC"/>
              </a:rPr>
              <a:t>实验步骤流程</a:t>
            </a:r>
            <a:endParaRPr lang="en-US" sz="2000" b="1" i="0" u="none" strike="noStrike">
              <a:solidFill>
                <a:srgbClr val="003366"/>
              </a:solidFill>
              <a:latin typeface="Noto Sans SC"/>
              <a:ea typeface="Noto Sans SC"/>
              <a:cs typeface="Noto Sans SC"/>
              <a:sym typeface="Noto Sans SC"/>
            </a:endParaRPr>
          </a:p>
        </p:txBody>
      </p:sp>
      <p:cxnSp>
        <p:nvCxnSpPr>
          <p:cNvPr id="18" name="Connector 18"/>
          <p:cNvCxnSpPr/>
          <p:nvPr/>
        </p:nvCxnSpPr>
        <p:spPr>
          <a:xfrm rot="-9291">
            <a:off x="1016009" y="5010150"/>
            <a:ext cx="4699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4A90E2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9" name="AutoShape 19"/>
          <p:cNvSpPr/>
          <p:nvPr/>
        </p:nvSpPr>
        <p:spPr>
          <a:xfrm>
            <a:off x="1016000" y="5143500"/>
            <a:ext cx="10248265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600" b="0" i="0" u="none" strike="noStrike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1. 算法实现与调优 → 2. 对比实验设计 → 3. 影响因素分析 → 4. 结论总结</a:t>
            </a:r>
            <a:endParaRPr lang="en-US" sz="1600" b="0" i="0" u="none" strike="noStrike">
              <a:solidFill>
                <a:srgbClr val="333333"/>
              </a:solidFill>
              <a:latin typeface="Noto Sans SC"/>
              <a:ea typeface="Noto Sans SC"/>
              <a:cs typeface="Noto Sans SC"/>
              <a:sym typeface="Noto Sans SC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文本框 1"/>
          <p:cNvSpPr txBox="1"/>
          <p:nvPr/>
        </p:nvSpPr>
        <p:spPr>
          <a:xfrm>
            <a:off x="440055" y="1851025"/>
            <a:ext cx="11453495" cy="2522855"/>
          </a:xfrm>
          <a:prstGeom prst="rect">
            <a:avLst/>
          </a:prstGeom>
        </p:spPr>
        <p:txBody>
          <a:bodyPr wrap="square">
            <a:spAutoFit/>
          </a:bodyPr>
          <a:p>
            <a:pPr marL="0" indent="0" eaLnBrk="1" fontAlgn="auto" latinLnBrk="0" hangingPunct="1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</a:pPr>
            <a:r>
              <a:rPr lang="zh-CN" altLang="en-US" sz="2400" b="1" i="0">
                <a:solidFill>
                  <a:srgbClr val="000000"/>
                </a:solidFill>
                <a:latin typeface="ui-sans-serif"/>
                <a:ea typeface="ui-sans-serif"/>
              </a:rPr>
              <a:t>研究问题</a:t>
            </a:r>
            <a:r>
              <a:rPr lang="zh-CN" altLang="en-US" sz="2000" b="0" i="0">
                <a:solidFill>
                  <a:srgbClr val="000000"/>
                </a:solidFill>
                <a:latin typeface="-webkit-standard"/>
                <a:ea typeface="-webkit-standard"/>
              </a:rPr>
              <a:t>：对比基于近邻的</a:t>
            </a:r>
            <a:r>
              <a:rPr lang="en-US" altLang="zh-CN" sz="2000" b="0" i="0">
                <a:solidFill>
                  <a:srgbClr val="000000"/>
                </a:solidFill>
                <a:latin typeface="-webkit-standard"/>
                <a:ea typeface="-webkit-standard"/>
              </a:rPr>
              <a:t> ItemCF </a:t>
            </a:r>
            <a:r>
              <a:rPr lang="zh-CN" altLang="en-US" sz="2000" b="0" i="0">
                <a:solidFill>
                  <a:srgbClr val="000000"/>
                </a:solidFill>
                <a:latin typeface="-webkit-standard"/>
                <a:ea typeface="-webkit-standard"/>
              </a:rPr>
              <a:t>协同过滤与基于模型的</a:t>
            </a:r>
            <a:r>
              <a:rPr lang="en-US" altLang="zh-CN" sz="2000" b="0" i="0">
                <a:solidFill>
                  <a:srgbClr val="000000"/>
                </a:solidFill>
                <a:latin typeface="-webkit-standard"/>
                <a:ea typeface="-webkit-standard"/>
              </a:rPr>
              <a:t> SVD </a:t>
            </a:r>
            <a:r>
              <a:rPr lang="zh-CN" altLang="en-US" sz="2000" b="0" i="0">
                <a:solidFill>
                  <a:srgbClr val="000000"/>
                </a:solidFill>
                <a:latin typeface="-webkit-standard"/>
                <a:ea typeface="-webkit-standard"/>
              </a:rPr>
              <a:t>矩阵分解在电影评分预测中的性能差异，分析冷启动场景下的表现</a:t>
            </a:r>
            <a:endParaRPr lang="zh-CN" altLang="en-US" sz="2000" b="0" i="0">
              <a:solidFill>
                <a:srgbClr val="000000"/>
              </a:solidFill>
              <a:latin typeface="-webkit-standard"/>
              <a:ea typeface="-webkit-standard"/>
            </a:endParaRPr>
          </a:p>
          <a:p>
            <a:pPr marL="0" indent="0" eaLnBrk="1" fontAlgn="auto" latinLnBrk="0" hangingPunct="1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</a:pPr>
            <a:r>
              <a:rPr lang="zh-CN" altLang="en-US" sz="2400" b="1" i="0">
                <a:solidFill>
                  <a:srgbClr val="000000"/>
                </a:solidFill>
                <a:latin typeface="ui-sans-serif"/>
                <a:ea typeface="ui-sans-serif"/>
              </a:rPr>
              <a:t>数据集</a:t>
            </a:r>
            <a:r>
              <a:rPr lang="zh-CN" altLang="en-US" sz="2000" b="0" i="0">
                <a:solidFill>
                  <a:srgbClr val="000000"/>
                </a:solidFill>
                <a:latin typeface="-webkit-standard"/>
                <a:ea typeface="-webkit-standard"/>
              </a:rPr>
              <a:t>：</a:t>
            </a:r>
            <a:r>
              <a:rPr lang="en-US" altLang="zh-CN" sz="2000" b="0" i="0">
                <a:solidFill>
                  <a:srgbClr val="000000"/>
                </a:solidFill>
                <a:latin typeface="-webkit-standard"/>
                <a:ea typeface="-webkit-standard"/>
              </a:rPr>
              <a:t>MovieLens-100K</a:t>
            </a:r>
            <a:r>
              <a:rPr lang="zh-CN" altLang="en-US" sz="2000" b="0" i="0">
                <a:solidFill>
                  <a:srgbClr val="000000"/>
                </a:solidFill>
                <a:latin typeface="-webkit-standard"/>
                <a:ea typeface="-webkit-standard"/>
              </a:rPr>
              <a:t>（自动下载）包含：</a:t>
            </a:r>
            <a:r>
              <a:rPr lang="en-US" altLang="zh-CN" sz="2000" b="0" i="0">
                <a:solidFill>
                  <a:srgbClr val="000000"/>
                </a:solidFill>
                <a:latin typeface="-webkit-standard"/>
                <a:ea typeface="-webkit-standard"/>
              </a:rPr>
              <a:t>943 </a:t>
            </a:r>
            <a:r>
              <a:rPr lang="zh-CN" altLang="en-US" sz="2000" b="0" i="0">
                <a:solidFill>
                  <a:srgbClr val="000000"/>
                </a:solidFill>
                <a:latin typeface="-webkit-standard"/>
                <a:ea typeface="-webkit-standard"/>
              </a:rPr>
              <a:t>个用户、</a:t>
            </a:r>
            <a:r>
              <a:rPr lang="en-US" altLang="zh-CN" sz="2000" b="0" i="0">
                <a:solidFill>
                  <a:srgbClr val="000000"/>
                </a:solidFill>
                <a:latin typeface="-webkit-standard"/>
                <a:ea typeface="-webkit-standard"/>
              </a:rPr>
              <a:t>1682 </a:t>
            </a:r>
            <a:r>
              <a:rPr lang="zh-CN" altLang="en-US" sz="2000" b="0" i="0">
                <a:solidFill>
                  <a:srgbClr val="000000"/>
                </a:solidFill>
                <a:latin typeface="-webkit-standard"/>
                <a:ea typeface="-webkit-standard"/>
              </a:rPr>
              <a:t>部电影、</a:t>
            </a:r>
            <a:r>
              <a:rPr lang="en-US" altLang="zh-CN" sz="2000" b="0" i="0">
                <a:solidFill>
                  <a:srgbClr val="000000"/>
                </a:solidFill>
                <a:latin typeface="-webkit-standard"/>
                <a:ea typeface="-webkit-standard"/>
              </a:rPr>
              <a:t>10 </a:t>
            </a:r>
            <a:r>
              <a:rPr lang="zh-CN" altLang="en-US" sz="2000" b="0" i="0">
                <a:solidFill>
                  <a:srgbClr val="000000"/>
                </a:solidFill>
                <a:latin typeface="-webkit-standard"/>
                <a:ea typeface="-webkit-standard"/>
              </a:rPr>
              <a:t>万条评分记录。</a:t>
            </a:r>
            <a:endParaRPr lang="zh-CN" altLang="en-US" sz="2000" b="0" i="0">
              <a:solidFill>
                <a:srgbClr val="000000"/>
              </a:solidFill>
              <a:latin typeface="-webkit-standard"/>
              <a:ea typeface="-webkit-standard"/>
            </a:endParaRPr>
          </a:p>
          <a:p>
            <a:pPr marL="0" indent="0" eaLnBrk="1" fontAlgn="auto" latinLnBrk="0" hangingPunct="1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</a:pPr>
            <a:r>
              <a:rPr lang="zh-CN" altLang="en-US" sz="2400" b="1" i="0">
                <a:solidFill>
                  <a:srgbClr val="000000"/>
                </a:solidFill>
                <a:latin typeface="ui-sans-serif"/>
                <a:ea typeface="ui-sans-serif"/>
              </a:rPr>
              <a:t>核心方法</a:t>
            </a:r>
            <a:r>
              <a:rPr lang="zh-CN" altLang="en-US" sz="2000" b="0" i="0">
                <a:solidFill>
                  <a:srgbClr val="000000"/>
                </a:solidFill>
                <a:latin typeface="-webkit-standard"/>
                <a:ea typeface="-webkit-standard"/>
              </a:rPr>
              <a:t>：手动实现</a:t>
            </a:r>
            <a:r>
              <a:rPr lang="en-US" altLang="zh-CN" sz="2000" b="0" i="0">
                <a:solidFill>
                  <a:srgbClr val="000000"/>
                </a:solidFill>
                <a:latin typeface="-webkit-standard"/>
                <a:ea typeface="-webkit-standard"/>
              </a:rPr>
              <a:t> ItemCF</a:t>
            </a:r>
            <a:r>
              <a:rPr lang="zh-CN" altLang="en-US" sz="2000" b="0" i="0">
                <a:solidFill>
                  <a:srgbClr val="000000"/>
                </a:solidFill>
                <a:latin typeface="-webkit-standard"/>
                <a:ea typeface="-webkit-standard"/>
              </a:rPr>
              <a:t>（余弦相似度）、</a:t>
            </a:r>
            <a:r>
              <a:rPr lang="en-US" altLang="zh-CN" sz="2000" b="0" i="0">
                <a:solidFill>
                  <a:srgbClr val="000000"/>
                </a:solidFill>
                <a:latin typeface="-webkit-standard"/>
                <a:ea typeface="-webkit-standard"/>
              </a:rPr>
              <a:t>SVD </a:t>
            </a:r>
            <a:r>
              <a:rPr lang="zh-CN" altLang="en-US" sz="2000" b="0" i="0">
                <a:solidFill>
                  <a:srgbClr val="000000"/>
                </a:solidFill>
                <a:latin typeface="-webkit-standard"/>
                <a:ea typeface="-webkit-standard"/>
              </a:rPr>
              <a:t>矩阵分解（</a:t>
            </a:r>
            <a:r>
              <a:rPr lang="en-US" altLang="zh-CN" sz="2000" b="0" i="0">
                <a:solidFill>
                  <a:srgbClr val="000000"/>
                </a:solidFill>
                <a:latin typeface="-webkit-standard"/>
                <a:ea typeface="-webkit-standard"/>
              </a:rPr>
              <a:t>surprise </a:t>
            </a:r>
            <a:r>
              <a:rPr lang="zh-CN" altLang="en-US" sz="2000" b="0" i="0">
                <a:solidFill>
                  <a:srgbClr val="000000"/>
                </a:solidFill>
                <a:latin typeface="-webkit-standard"/>
                <a:ea typeface="-webkit-standard"/>
              </a:rPr>
              <a:t>库）</a:t>
            </a:r>
            <a:endParaRPr lang="zh-CN" altLang="en-US" sz="2000" b="0" i="0">
              <a:solidFill>
                <a:srgbClr val="000000"/>
              </a:solidFill>
              <a:latin typeface="-webkit-standard"/>
              <a:ea typeface="-webkit-standard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文本框 1"/>
          <p:cNvSpPr txBox="1"/>
          <p:nvPr/>
        </p:nvSpPr>
        <p:spPr>
          <a:xfrm>
            <a:off x="1081405" y="1767205"/>
            <a:ext cx="8062595" cy="258445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indent="0" algn="l" eaLnBrk="1" fontAlgn="auto" latinLnBrk="0" hangingPunct="1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zh-CN" altLang="en-US" sz="2800" b="1">
                <a:latin typeface="ui-sans-serif"/>
                <a:ea typeface="ui-sans-serif"/>
                <a:sym typeface="+mn-ea"/>
              </a:rPr>
              <a:t>思考：</a:t>
            </a:r>
            <a:endParaRPr lang="zh-CN" altLang="en-US" sz="2800" b="1" i="0">
              <a:solidFill>
                <a:srgbClr val="000000"/>
              </a:solidFill>
              <a:latin typeface="ui-sans-serif"/>
              <a:ea typeface="ui-sans-serif"/>
            </a:endParaRPr>
          </a:p>
          <a:p>
            <a:pPr marL="342900" indent="-342900" algn="l" eaLnBrk="1" fontAlgn="auto" latinLnBrk="0" hangingPunct="1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Arial" panose="020B0604020202090204" pitchFamily="34" charset="0"/>
              <a:buChar char="•"/>
            </a:pPr>
            <a:r>
              <a:rPr lang="zh-CN" altLang="en-US" sz="2000">
                <a:latin typeface="ui-sans-serif"/>
                <a:ea typeface="ui-sans-serif"/>
                <a:sym typeface="+mn-ea"/>
              </a:rPr>
              <a:t>为什么协同过滤在数据稀疏时效果会急剧下降？</a:t>
            </a:r>
            <a:endParaRPr lang="zh-CN" altLang="en-US" sz="2000" b="0" i="0">
              <a:solidFill>
                <a:srgbClr val="000000"/>
              </a:solidFill>
              <a:latin typeface="ui-sans-serif"/>
              <a:ea typeface="ui-sans-serif"/>
            </a:endParaRPr>
          </a:p>
          <a:p>
            <a:pPr marL="342900" indent="-342900" algn="l" eaLnBrk="1" fontAlgn="auto" latinLnBrk="0" hangingPunct="1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Arial" panose="020B0604020202090204" pitchFamily="34" charset="0"/>
              <a:buChar char="•"/>
            </a:pPr>
            <a:r>
              <a:rPr lang="en-US" altLang="zh-CN" sz="2000">
                <a:latin typeface="ui-sans-serif"/>
                <a:ea typeface="ui-sans-serif"/>
                <a:sym typeface="+mn-ea"/>
              </a:rPr>
              <a:t>SVD </a:t>
            </a:r>
            <a:r>
              <a:rPr lang="zh-CN" altLang="en-US" sz="2000">
                <a:latin typeface="ui-sans-serif"/>
                <a:ea typeface="ui-sans-serif"/>
                <a:sym typeface="+mn-ea"/>
              </a:rPr>
              <a:t>为什么能缓解稀疏问题？它学到了什么？</a:t>
            </a:r>
            <a:endParaRPr lang="zh-CN" altLang="en-US" sz="2000" b="0" i="0">
              <a:solidFill>
                <a:srgbClr val="000000"/>
              </a:solidFill>
              <a:latin typeface="ui-sans-serif"/>
              <a:ea typeface="ui-sans-serif"/>
            </a:endParaRPr>
          </a:p>
          <a:p>
            <a:pPr marL="342900" indent="-342900" algn="l" eaLnBrk="1" fontAlgn="auto" latinLnBrk="0" hangingPunct="1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Arial" panose="020B0604020202090204" pitchFamily="34" charset="0"/>
              <a:buChar char="•"/>
            </a:pPr>
            <a:r>
              <a:rPr lang="zh-CN" altLang="en-US" sz="2000">
                <a:latin typeface="ui-sans-serif"/>
                <a:ea typeface="ui-sans-serif"/>
                <a:sym typeface="+mn-ea"/>
              </a:rPr>
              <a:t>在真实电商</a:t>
            </a:r>
            <a:r>
              <a:rPr lang="en-US" altLang="zh-CN" sz="2000">
                <a:latin typeface="ui-sans-serif"/>
                <a:ea typeface="ui-sans-serif"/>
                <a:sym typeface="+mn-ea"/>
              </a:rPr>
              <a:t> / </a:t>
            </a:r>
            <a:r>
              <a:rPr lang="zh-CN" altLang="en-US" sz="2000">
                <a:latin typeface="ui-sans-serif"/>
                <a:ea typeface="ui-sans-serif"/>
                <a:sym typeface="+mn-ea"/>
              </a:rPr>
              <a:t>短视频推荐中，</a:t>
            </a:r>
            <a:r>
              <a:rPr lang="en-US" altLang="zh-CN" sz="2000">
                <a:latin typeface="ui-sans-serif"/>
                <a:ea typeface="ui-sans-serif"/>
                <a:sym typeface="+mn-ea"/>
              </a:rPr>
              <a:t>ItemCF </a:t>
            </a:r>
            <a:r>
              <a:rPr lang="zh-CN" altLang="en-US" sz="2000">
                <a:latin typeface="ui-sans-serif"/>
                <a:ea typeface="ui-sans-serif"/>
                <a:sym typeface="+mn-ea"/>
              </a:rPr>
              <a:t>和</a:t>
            </a:r>
            <a:r>
              <a:rPr lang="en-US" altLang="zh-CN" sz="2000">
                <a:latin typeface="ui-sans-serif"/>
                <a:ea typeface="ui-sans-serif"/>
                <a:sym typeface="+mn-ea"/>
              </a:rPr>
              <a:t> SVD </a:t>
            </a:r>
            <a:r>
              <a:rPr lang="zh-CN" altLang="en-US" sz="2000">
                <a:latin typeface="ui-sans-serif"/>
                <a:ea typeface="ui-sans-serif"/>
                <a:sym typeface="+mn-ea"/>
              </a:rPr>
              <a:t>分别适合什么场景？</a:t>
            </a:r>
            <a:endParaRPr lang="zh-CN" altLang="en-US" sz="2000" b="0" i="0">
              <a:solidFill>
                <a:srgbClr val="000000"/>
              </a:solidFill>
              <a:latin typeface="ui-sans-serif"/>
              <a:ea typeface="ui-sans-serif"/>
            </a:endParaRPr>
          </a:p>
          <a:p>
            <a:pPr marL="342900" indent="-342900" algn="l" eaLnBrk="1" fontAlgn="auto" latinLnBrk="0" hangingPunct="1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Arial" panose="020B0604020202090204" pitchFamily="34" charset="0"/>
              <a:buChar char="•"/>
            </a:pPr>
            <a:r>
              <a:rPr lang="zh-CN" altLang="en-US" sz="2000">
                <a:latin typeface="ui-sans-serif"/>
                <a:ea typeface="ui-sans-serif"/>
                <a:sym typeface="+mn-ea"/>
              </a:rPr>
              <a:t>如果让你设计一个混合推荐系统，你会如何结合两种方法？</a:t>
            </a:r>
            <a:endParaRPr lang="zh-CN" altLang="en-US" sz="2000">
              <a:latin typeface="ui-sans-serif"/>
              <a:ea typeface="ui-sans-serif"/>
              <a:sym typeface="+mn-ea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文本框 1"/>
          <p:cNvSpPr txBox="1"/>
          <p:nvPr/>
        </p:nvSpPr>
        <p:spPr>
          <a:xfrm>
            <a:off x="0" y="-542925"/>
            <a:ext cx="12191365" cy="7016115"/>
          </a:xfrm>
          <a:prstGeom prst="rect">
            <a:avLst/>
          </a:prstGeom>
        </p:spPr>
        <p:txBody>
          <a:bodyPr wrap="square">
            <a:spAutoFit/>
          </a:bodyPr>
          <a:p>
            <a:pPr marL="0" indent="0" eaLnBrk="1" fontAlgn="auto" latinLnBrk="0" hangingPunct="1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endParaRPr lang="zh-CN" altLang="en-US" sz="2000" b="0" i="0">
              <a:solidFill>
                <a:srgbClr val="000000"/>
              </a:solidFill>
              <a:latin typeface="ui-sans-serif"/>
              <a:ea typeface="ui-sans-serif"/>
            </a:endParaRPr>
          </a:p>
          <a:p>
            <a:pPr marL="0" indent="0" eaLnBrk="1" fontAlgn="auto" latinLnBrk="0" hangingPunct="1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sz="2000" b="0" i="0">
                <a:solidFill>
                  <a:srgbClr val="000000"/>
                </a:solidFill>
                <a:latin typeface="ui-sans-serif"/>
                <a:ea typeface="ui-sans-serif"/>
              </a:rPr>
              <a:t>（一）必做任务</a:t>
            </a:r>
            <a:endParaRPr lang="zh-CN" altLang="en-US" sz="2000" b="0" i="0">
              <a:solidFill>
                <a:srgbClr val="000000"/>
              </a:solidFill>
              <a:latin typeface="ui-sans-serif"/>
              <a:ea typeface="ui-sans-serif"/>
            </a:endParaRPr>
          </a:p>
          <a:p>
            <a:pPr marL="0" indent="0" algn="l" eaLnBrk="1" fontAlgn="auto" latinLnBrk="0" hangingPunct="1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AutoNum type="arabicPeriod"/>
            </a:pPr>
            <a:r>
              <a:rPr lang="zh-CN" altLang="en-US" sz="2000" i="0">
                <a:solidFill>
                  <a:srgbClr val="000000"/>
                </a:solidFill>
                <a:latin typeface="ui-sans-serif"/>
                <a:ea typeface="ui-sans-serif"/>
              </a:rPr>
              <a:t>运行给定代码，完成 </a:t>
            </a:r>
            <a:r>
              <a:rPr lang="en-US" altLang="zh-CN" sz="2000" i="0">
                <a:solidFill>
                  <a:srgbClr val="000000"/>
                </a:solidFill>
                <a:latin typeface="ui-sans-serif"/>
                <a:ea typeface="ui-sans-serif"/>
              </a:rPr>
              <a:t>ItemCF </a:t>
            </a:r>
            <a:r>
              <a:rPr lang="zh-CN" altLang="en-US" sz="2000" i="0">
                <a:solidFill>
                  <a:srgbClr val="000000"/>
                </a:solidFill>
                <a:latin typeface="ui-sans-serif"/>
                <a:ea typeface="ui-sans-serif"/>
              </a:rPr>
              <a:t>和 </a:t>
            </a:r>
            <a:r>
              <a:rPr lang="en-US" altLang="zh-CN" sz="2000" i="0">
                <a:solidFill>
                  <a:srgbClr val="000000"/>
                </a:solidFill>
                <a:latin typeface="ui-sans-serif"/>
                <a:ea typeface="ui-sans-serif"/>
              </a:rPr>
              <a:t>SVD </a:t>
            </a:r>
            <a:r>
              <a:rPr lang="zh-CN" altLang="en-US" sz="2000" i="0">
                <a:solidFill>
                  <a:srgbClr val="000000"/>
                </a:solidFill>
                <a:latin typeface="ui-sans-serif"/>
                <a:ea typeface="ui-sans-serif"/>
              </a:rPr>
              <a:t>在 </a:t>
            </a:r>
            <a:r>
              <a:rPr lang="en-US" altLang="zh-CN" sz="2000" i="0">
                <a:solidFill>
                  <a:srgbClr val="000000"/>
                </a:solidFill>
                <a:latin typeface="ui-sans-serif"/>
                <a:ea typeface="ui-sans-serif"/>
              </a:rPr>
              <a:t>MovieLens-100K </a:t>
            </a:r>
            <a:r>
              <a:rPr lang="zh-CN" altLang="en-US" sz="2000" i="0">
                <a:solidFill>
                  <a:srgbClr val="000000"/>
                </a:solidFill>
                <a:latin typeface="ui-sans-serif"/>
                <a:ea typeface="ui-sans-serif"/>
              </a:rPr>
              <a:t>上的评分预测。</a:t>
            </a:r>
            <a:endParaRPr lang="zh-CN" altLang="en-US" sz="2000" i="0">
              <a:solidFill>
                <a:srgbClr val="000000"/>
              </a:solidFill>
              <a:latin typeface="ui-sans-serif"/>
              <a:ea typeface="ui-sans-serif"/>
            </a:endParaRPr>
          </a:p>
          <a:p>
            <a:pPr marL="0" indent="0" algn="l" eaLnBrk="1" fontAlgn="auto" latinLnBrk="0" hangingPunct="1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AutoNum type="arabicPeriod"/>
            </a:pPr>
            <a:r>
              <a:rPr lang="zh-CN" altLang="en-US" sz="2000" i="0">
                <a:solidFill>
                  <a:srgbClr val="000000"/>
                </a:solidFill>
                <a:latin typeface="ui-sans-serif"/>
                <a:ea typeface="ui-sans-serif"/>
              </a:rPr>
              <a:t>记录并对比两个模型的：</a:t>
            </a:r>
            <a:r>
              <a:rPr lang="en-US" altLang="zh-CN" sz="2000" i="0">
                <a:solidFill>
                  <a:srgbClr val="000000"/>
                </a:solidFill>
                <a:latin typeface="ui-sans-serif"/>
                <a:ea typeface="ui-sans-serif"/>
              </a:rPr>
              <a:t>RMSE、MAE，</a:t>
            </a:r>
            <a:r>
              <a:rPr lang="zh-CN" altLang="en-US" sz="2000" i="0">
                <a:solidFill>
                  <a:srgbClr val="000000"/>
                </a:solidFill>
                <a:latin typeface="ui-sans-serif"/>
                <a:ea typeface="ui-sans-serif"/>
              </a:rPr>
              <a:t>绘制实验结果对比柱状图（</a:t>
            </a:r>
            <a:r>
              <a:rPr lang="en-US" altLang="zh-CN" sz="2000" i="0">
                <a:solidFill>
                  <a:srgbClr val="000000"/>
                </a:solidFill>
                <a:latin typeface="ui-sans-serif"/>
                <a:ea typeface="ui-sans-serif"/>
              </a:rPr>
              <a:t>RMSE</a:t>
            </a:r>
            <a:r>
              <a:rPr lang="zh-CN" altLang="en-US" sz="2000" i="0">
                <a:solidFill>
                  <a:srgbClr val="000000"/>
                </a:solidFill>
                <a:latin typeface="ui-sans-serif"/>
                <a:ea typeface="ui-sans-serif"/>
              </a:rPr>
              <a:t>、</a:t>
            </a:r>
            <a:r>
              <a:rPr lang="en-US" altLang="zh-CN" sz="2000" i="0">
                <a:solidFill>
                  <a:srgbClr val="000000"/>
                </a:solidFill>
                <a:latin typeface="ui-sans-serif"/>
                <a:ea typeface="ui-sans-serif"/>
              </a:rPr>
              <a:t>MAE</a:t>
            </a:r>
            <a:r>
              <a:rPr lang="zh-CN" altLang="en-US" sz="2000" i="0">
                <a:solidFill>
                  <a:srgbClr val="000000"/>
                </a:solidFill>
                <a:latin typeface="ui-sans-serif"/>
                <a:ea typeface="ui-sans-serif"/>
              </a:rPr>
              <a:t>）。</a:t>
            </a:r>
            <a:endParaRPr lang="zh-CN" altLang="en-US" sz="2000" i="0">
              <a:solidFill>
                <a:srgbClr val="000000"/>
              </a:solidFill>
              <a:latin typeface="ui-sans-serif"/>
              <a:ea typeface="ui-sans-serif"/>
            </a:endParaRPr>
          </a:p>
          <a:p>
            <a:pPr marL="0" indent="0" algn="l" eaLnBrk="1" fontAlgn="auto" latinLnBrk="0" hangingPunct="1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AutoNum type="arabicPeriod"/>
            </a:pPr>
            <a:r>
              <a:rPr lang="zh-CN" altLang="en-US" sz="2000" i="0">
                <a:solidFill>
                  <a:srgbClr val="000000"/>
                </a:solidFill>
                <a:latin typeface="ui-sans-serif"/>
                <a:ea typeface="ui-sans-serif"/>
              </a:rPr>
              <a:t>观察并回答：哪个模型评分预测更准确？为什么？</a:t>
            </a:r>
            <a:r>
              <a:rPr lang="en-US" altLang="zh-CN" sz="2000" i="0">
                <a:solidFill>
                  <a:srgbClr val="000000"/>
                </a:solidFill>
                <a:latin typeface="ui-sans-serif"/>
                <a:ea typeface="ui-sans-serif"/>
              </a:rPr>
              <a:t>SVD </a:t>
            </a:r>
            <a:r>
              <a:rPr lang="zh-CN" altLang="en-US" sz="2000" i="0">
                <a:solidFill>
                  <a:srgbClr val="000000"/>
                </a:solidFill>
                <a:latin typeface="ui-sans-serif"/>
                <a:ea typeface="ui-sans-serif"/>
              </a:rPr>
              <a:t>为什么通常优于传统协同过滤？</a:t>
            </a:r>
            <a:endParaRPr lang="zh-CN" altLang="en-US" sz="2000" i="0">
              <a:solidFill>
                <a:srgbClr val="000000"/>
              </a:solidFill>
              <a:latin typeface="ui-sans-serif"/>
              <a:ea typeface="ui-sans-serif"/>
            </a:endParaRPr>
          </a:p>
          <a:p>
            <a:pPr marL="0" indent="0" algn="l" eaLnBrk="1" fontAlgn="auto" latinLnBrk="0" hangingPunct="1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AutoNum type="arabicPeriod"/>
            </a:pPr>
            <a:r>
              <a:rPr lang="zh-CN" altLang="en-US" sz="2000" i="0">
                <a:solidFill>
                  <a:srgbClr val="000000"/>
                </a:solidFill>
                <a:latin typeface="ui-sans-serif"/>
                <a:ea typeface="ui-sans-serif"/>
              </a:rPr>
              <a:t>冷启动模拟实验</a:t>
            </a:r>
            <a:r>
              <a:rPr lang="en-US" altLang="zh-CN" sz="2000" i="0">
                <a:solidFill>
                  <a:srgbClr val="000000"/>
                </a:solidFill>
                <a:latin typeface="ui-sans-serif"/>
                <a:ea typeface="ui-sans-serif"/>
              </a:rPr>
              <a:t>：</a:t>
            </a:r>
            <a:r>
              <a:rPr lang="zh-CN" altLang="en-US" sz="2000" i="0">
                <a:solidFill>
                  <a:srgbClr val="000000"/>
                </a:solidFill>
                <a:latin typeface="ui-sans-serif"/>
                <a:ea typeface="ui-sans-serif"/>
              </a:rPr>
              <a:t>构造一个 “新用户”，只给少量电影评分（</a:t>
            </a:r>
            <a:r>
              <a:rPr lang="en-US" altLang="zh-CN" sz="2000" i="0">
                <a:solidFill>
                  <a:srgbClr val="000000"/>
                </a:solidFill>
                <a:latin typeface="ui-sans-serif"/>
                <a:ea typeface="ui-sans-serif"/>
              </a:rPr>
              <a:t>1</a:t>
            </a:r>
            <a:r>
              <a:rPr lang="zh-CN" altLang="en-US" sz="2000" i="0">
                <a:solidFill>
                  <a:srgbClr val="000000"/>
                </a:solidFill>
                <a:latin typeface="ui-sans-serif"/>
                <a:ea typeface="ui-sans-serif"/>
              </a:rPr>
              <a:t>～</a:t>
            </a:r>
            <a:r>
              <a:rPr lang="en-US" altLang="zh-CN" sz="2000" i="0">
                <a:solidFill>
                  <a:srgbClr val="000000"/>
                </a:solidFill>
                <a:latin typeface="ui-sans-serif"/>
                <a:ea typeface="ui-sans-serif"/>
              </a:rPr>
              <a:t>5 </a:t>
            </a:r>
            <a:r>
              <a:rPr lang="zh-CN" altLang="en-US" sz="2000" i="0">
                <a:solidFill>
                  <a:srgbClr val="000000"/>
                </a:solidFill>
                <a:latin typeface="ui-sans-serif"/>
                <a:ea typeface="ui-sans-serif"/>
              </a:rPr>
              <a:t>条）。分别用 </a:t>
            </a:r>
            <a:r>
              <a:rPr lang="en-US" altLang="zh-CN" sz="2000" i="0">
                <a:solidFill>
                  <a:srgbClr val="000000"/>
                </a:solidFill>
                <a:latin typeface="ui-sans-serif"/>
                <a:ea typeface="ui-sans-serif"/>
              </a:rPr>
              <a:t>ItemCF </a:t>
            </a:r>
            <a:r>
              <a:rPr lang="zh-CN" altLang="en-US" sz="2000" i="0">
                <a:solidFill>
                  <a:srgbClr val="000000"/>
                </a:solidFill>
                <a:latin typeface="ui-sans-serif"/>
                <a:ea typeface="ui-sans-serif"/>
              </a:rPr>
              <a:t>和 </a:t>
            </a:r>
            <a:r>
              <a:rPr lang="en-US" altLang="zh-CN" sz="2000" i="0">
                <a:solidFill>
                  <a:srgbClr val="000000"/>
                </a:solidFill>
                <a:latin typeface="ui-sans-serif"/>
                <a:ea typeface="ui-sans-serif"/>
              </a:rPr>
              <a:t>SVD </a:t>
            </a:r>
            <a:r>
              <a:rPr lang="zh-CN" altLang="en-US" sz="2000" i="0">
                <a:solidFill>
                  <a:srgbClr val="000000"/>
                </a:solidFill>
                <a:latin typeface="ui-sans-serif"/>
                <a:ea typeface="ui-sans-serif"/>
              </a:rPr>
              <a:t>为该用户生成 </a:t>
            </a:r>
            <a:r>
              <a:rPr lang="en-US" altLang="zh-CN" sz="2000" i="0">
                <a:solidFill>
                  <a:srgbClr val="000000"/>
                </a:solidFill>
                <a:latin typeface="ui-sans-serif"/>
                <a:ea typeface="ui-sans-serif"/>
              </a:rPr>
              <a:t>Top-10 </a:t>
            </a:r>
            <a:r>
              <a:rPr lang="zh-CN" altLang="en-US" sz="2000" i="0">
                <a:solidFill>
                  <a:srgbClr val="000000"/>
                </a:solidFill>
                <a:latin typeface="ui-sans-serif"/>
                <a:ea typeface="ui-sans-serif"/>
              </a:rPr>
              <a:t>推荐列表。对比两种方法在冷启动用户上的推荐效果。</a:t>
            </a:r>
            <a:endParaRPr lang="zh-CN" altLang="en-US" sz="2000" i="0">
              <a:solidFill>
                <a:srgbClr val="000000"/>
              </a:solidFill>
              <a:latin typeface="ui-sans-serif"/>
              <a:ea typeface="ui-sans-serif"/>
            </a:endParaRPr>
          </a:p>
          <a:p>
            <a:pPr marL="0" indent="0" eaLnBrk="1" fontAlgn="auto" latinLnBrk="0" hangingPunct="1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sz="2000" b="0" i="0">
                <a:solidFill>
                  <a:srgbClr val="000000"/>
                </a:solidFill>
                <a:latin typeface="ui-sans-serif"/>
                <a:ea typeface="ui-sans-serif"/>
              </a:rPr>
              <a:t>（二）进阶任务</a:t>
            </a:r>
            <a:endParaRPr lang="zh-CN" altLang="en-US" sz="2000" b="0" i="0">
              <a:solidFill>
                <a:srgbClr val="000000"/>
              </a:solidFill>
              <a:latin typeface="ui-sans-serif"/>
              <a:ea typeface="ui-sans-serif"/>
            </a:endParaRPr>
          </a:p>
          <a:p>
            <a:pPr marL="0" indent="0" eaLnBrk="1" fontAlgn="auto" latinLnBrk="0" hangingPunct="1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sz="2000" b="0" i="0">
                <a:solidFill>
                  <a:srgbClr val="000000"/>
                </a:solidFill>
                <a:latin typeface="ui-sans-serif"/>
                <a:ea typeface="ui-sans-serif"/>
              </a:rPr>
              <a:t>从以下任选 </a:t>
            </a:r>
            <a:r>
              <a:rPr lang="en-US" altLang="zh-CN" sz="2000" b="0" i="0">
                <a:solidFill>
                  <a:srgbClr val="000000"/>
                </a:solidFill>
                <a:latin typeface="ui-sans-serif"/>
                <a:ea typeface="ui-sans-serif"/>
              </a:rPr>
              <a:t>2 </a:t>
            </a:r>
            <a:r>
              <a:rPr lang="zh-CN" altLang="en-US" sz="2000" b="0" i="0">
                <a:solidFill>
                  <a:srgbClr val="000000"/>
                </a:solidFill>
                <a:latin typeface="ui-sans-serif"/>
                <a:ea typeface="ui-sans-serif"/>
              </a:rPr>
              <a:t>个完成：</a:t>
            </a:r>
            <a:endParaRPr lang="zh-CN" altLang="en-US" sz="2000" b="0" i="0">
              <a:solidFill>
                <a:srgbClr val="000000"/>
              </a:solidFill>
              <a:latin typeface="ui-sans-serif"/>
              <a:ea typeface="ui-sans-serif"/>
            </a:endParaRPr>
          </a:p>
          <a:p>
            <a:pPr marL="0" indent="0" algn="l" eaLnBrk="1" fontAlgn="auto" latinLnBrk="0" hangingPunct="1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AutoNum type="arabicPeriod"/>
            </a:pPr>
            <a:r>
              <a:rPr lang="zh-CN" altLang="en-US" sz="2000" b="1" i="0">
                <a:solidFill>
                  <a:srgbClr val="000000"/>
                </a:solidFill>
                <a:latin typeface="ui-sans-serif"/>
                <a:ea typeface="ui-sans-serif"/>
              </a:rPr>
              <a:t>超参数敏感性实验</a:t>
            </a:r>
            <a:r>
              <a:rPr lang="en-US" altLang="zh-CN" sz="2000" b="1" i="0">
                <a:solidFill>
                  <a:srgbClr val="000000"/>
                </a:solidFill>
                <a:latin typeface="ui-sans-serif"/>
                <a:ea typeface="ui-sans-serif"/>
              </a:rPr>
              <a:t>：</a:t>
            </a:r>
            <a:r>
              <a:rPr lang="zh-CN" altLang="en-US" sz="2000" b="0" i="0">
                <a:solidFill>
                  <a:srgbClr val="000000"/>
                </a:solidFill>
                <a:latin typeface="ui-sans-serif"/>
                <a:ea typeface="ui-sans-serif"/>
              </a:rPr>
              <a:t>改变 </a:t>
            </a:r>
            <a:r>
              <a:rPr lang="en-US" altLang="zh-CN" sz="2000" b="0" i="0">
                <a:solidFill>
                  <a:srgbClr val="000000"/>
                </a:solidFill>
                <a:latin typeface="ui-sans-serif"/>
                <a:ea typeface="ui-sans-serif"/>
              </a:rPr>
              <a:t>ItemCF </a:t>
            </a:r>
            <a:r>
              <a:rPr lang="zh-CN" altLang="en-US" sz="2000" b="0" i="0">
                <a:solidFill>
                  <a:srgbClr val="000000"/>
                </a:solidFill>
                <a:latin typeface="ui-sans-serif"/>
                <a:ea typeface="ui-sans-serif"/>
              </a:rPr>
              <a:t>的近邻数 </a:t>
            </a:r>
            <a:r>
              <a:rPr lang="en-US" altLang="zh-CN" sz="2000" b="0" i="0">
                <a:solidFill>
                  <a:srgbClr val="000000"/>
                </a:solidFill>
                <a:latin typeface="ui-sans-serif"/>
                <a:ea typeface="ui-sans-serif"/>
              </a:rPr>
              <a:t>K</a:t>
            </a:r>
            <a:r>
              <a:rPr lang="zh-CN" altLang="en-US" sz="2000" b="0" i="0">
                <a:solidFill>
                  <a:srgbClr val="000000"/>
                </a:solidFill>
                <a:latin typeface="ui-sans-serif"/>
                <a:ea typeface="ui-sans-serif"/>
              </a:rPr>
              <a:t>（</a:t>
            </a:r>
            <a:r>
              <a:rPr lang="en-US" altLang="zh-CN" sz="2000" b="0" i="0">
                <a:solidFill>
                  <a:srgbClr val="000000"/>
                </a:solidFill>
                <a:latin typeface="ui-sans-serif"/>
                <a:ea typeface="ui-sans-serif"/>
              </a:rPr>
              <a:t>5/10/20/30</a:t>
            </a:r>
            <a:r>
              <a:rPr lang="zh-CN" altLang="en-US" sz="2000" b="0" i="0">
                <a:solidFill>
                  <a:srgbClr val="000000"/>
                </a:solidFill>
                <a:latin typeface="ui-sans-serif"/>
                <a:ea typeface="ui-sans-serif"/>
              </a:rPr>
              <a:t>），观察 </a:t>
            </a:r>
            <a:r>
              <a:rPr lang="en-US" altLang="zh-CN" sz="2000" b="0" i="0">
                <a:solidFill>
                  <a:srgbClr val="000000"/>
                </a:solidFill>
                <a:latin typeface="ui-sans-serif"/>
                <a:ea typeface="ui-sans-serif"/>
              </a:rPr>
              <a:t>RMSE </a:t>
            </a:r>
            <a:r>
              <a:rPr lang="zh-CN" altLang="en-US" sz="2000" b="0" i="0">
                <a:solidFill>
                  <a:srgbClr val="000000"/>
                </a:solidFill>
                <a:latin typeface="ui-sans-serif"/>
                <a:ea typeface="ui-sans-serif"/>
              </a:rPr>
              <a:t>变化。改变 </a:t>
            </a:r>
            <a:r>
              <a:rPr lang="en-US" altLang="zh-CN" sz="2000" b="0" i="0">
                <a:solidFill>
                  <a:srgbClr val="000000"/>
                </a:solidFill>
                <a:latin typeface="ui-sans-serif"/>
                <a:ea typeface="ui-sans-serif"/>
              </a:rPr>
              <a:t>SVD </a:t>
            </a:r>
            <a:r>
              <a:rPr lang="zh-CN" altLang="en-US" sz="2000" b="0" i="0">
                <a:solidFill>
                  <a:srgbClr val="000000"/>
                </a:solidFill>
                <a:latin typeface="ui-sans-serif"/>
                <a:ea typeface="ui-sans-serif"/>
              </a:rPr>
              <a:t>隐因子数量（</a:t>
            </a:r>
            <a:r>
              <a:rPr lang="en-US" altLang="zh-CN" sz="2000" b="0" i="0">
                <a:solidFill>
                  <a:srgbClr val="000000"/>
                </a:solidFill>
                <a:latin typeface="ui-sans-serif"/>
                <a:ea typeface="ui-sans-serif"/>
              </a:rPr>
              <a:t>50/100/200</a:t>
            </a:r>
            <a:r>
              <a:rPr lang="zh-CN" altLang="en-US" sz="2000" b="0" i="0">
                <a:solidFill>
                  <a:srgbClr val="000000"/>
                </a:solidFill>
                <a:latin typeface="ui-sans-serif"/>
                <a:ea typeface="ui-sans-serif"/>
              </a:rPr>
              <a:t>），观察性能变化。绘制折线图并分析最优参数。</a:t>
            </a:r>
            <a:r>
              <a:rPr lang="en-US" altLang="zh-CN" sz="2000" b="0" i="0">
                <a:solidFill>
                  <a:srgbClr val="000000"/>
                </a:solidFill>
                <a:latin typeface="ui-sans-serif"/>
                <a:ea typeface="ui-sans-serif"/>
              </a:rPr>
              <a:t>（5</a:t>
            </a:r>
            <a:r>
              <a:rPr lang="zh-CN" altLang="en-US" sz="2000" b="0" i="0">
                <a:solidFill>
                  <a:srgbClr val="000000"/>
                </a:solidFill>
                <a:latin typeface="ui-sans-serif"/>
                <a:ea typeface="ui-sans-serif"/>
              </a:rPr>
              <a:t>分</a:t>
            </a:r>
            <a:r>
              <a:rPr lang="en-US" altLang="zh-CN" sz="2000" b="0" i="0">
                <a:solidFill>
                  <a:srgbClr val="000000"/>
                </a:solidFill>
                <a:latin typeface="ui-sans-serif"/>
                <a:ea typeface="ui-sans-serif"/>
              </a:rPr>
              <a:t>）</a:t>
            </a:r>
            <a:endParaRPr lang="zh-CN" altLang="en-US" sz="2000" b="0" i="0">
              <a:solidFill>
                <a:srgbClr val="000000"/>
              </a:solidFill>
              <a:latin typeface="ui-sans-serif"/>
              <a:ea typeface="ui-sans-serif"/>
            </a:endParaRPr>
          </a:p>
          <a:p>
            <a:pPr marL="0" indent="0" algn="l" eaLnBrk="1" fontAlgn="auto" latinLnBrk="0" hangingPunct="1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AutoNum type="arabicPeriod"/>
            </a:pPr>
            <a:r>
              <a:rPr lang="zh-CN" altLang="en-US" sz="2000" b="1" i="0">
                <a:solidFill>
                  <a:srgbClr val="000000"/>
                </a:solidFill>
                <a:latin typeface="ui-sans-serif"/>
                <a:ea typeface="ui-sans-serif"/>
              </a:rPr>
              <a:t>数据稀疏性影响实验</a:t>
            </a:r>
            <a:r>
              <a:rPr lang="en-US" altLang="zh-CN" sz="2000" b="1" i="0">
                <a:solidFill>
                  <a:srgbClr val="000000"/>
                </a:solidFill>
                <a:latin typeface="ui-sans-serif"/>
                <a:ea typeface="ui-sans-serif"/>
              </a:rPr>
              <a:t>：</a:t>
            </a:r>
            <a:r>
              <a:rPr lang="zh-CN" altLang="en-US" sz="2000" b="0" i="0">
                <a:solidFill>
                  <a:srgbClr val="000000"/>
                </a:solidFill>
                <a:latin typeface="ui-sans-serif"/>
                <a:ea typeface="ui-sans-serif"/>
              </a:rPr>
              <a:t>随机删除一部分评分，构造不同稀疏度的数据集。对比 </a:t>
            </a:r>
            <a:r>
              <a:rPr lang="en-US" altLang="zh-CN" sz="2000" b="0" i="0">
                <a:solidFill>
                  <a:srgbClr val="000000"/>
                </a:solidFill>
                <a:latin typeface="ui-sans-serif"/>
                <a:ea typeface="ui-sans-serif"/>
              </a:rPr>
              <a:t>ItemCF </a:t>
            </a:r>
            <a:r>
              <a:rPr lang="zh-CN" altLang="en-US" sz="2000" b="0" i="0">
                <a:solidFill>
                  <a:srgbClr val="000000"/>
                </a:solidFill>
                <a:latin typeface="ui-sans-serif"/>
                <a:ea typeface="ui-sans-serif"/>
              </a:rPr>
              <a:t>和 </a:t>
            </a:r>
            <a:r>
              <a:rPr lang="en-US" altLang="zh-CN" sz="2000" b="0" i="0">
                <a:solidFill>
                  <a:srgbClr val="000000"/>
                </a:solidFill>
                <a:latin typeface="ui-sans-serif"/>
                <a:ea typeface="ui-sans-serif"/>
              </a:rPr>
              <a:t>SVD </a:t>
            </a:r>
            <a:r>
              <a:rPr lang="zh-CN" altLang="en-US" sz="2000" b="0" i="0">
                <a:solidFill>
                  <a:srgbClr val="000000"/>
                </a:solidFill>
                <a:latin typeface="ui-sans-serif"/>
                <a:ea typeface="ui-sans-serif"/>
              </a:rPr>
              <a:t>在稀疏数据上的鲁棒性。</a:t>
            </a:r>
            <a:endParaRPr lang="zh-CN" altLang="en-US" sz="2000" b="0" i="0">
              <a:solidFill>
                <a:srgbClr val="000000"/>
              </a:solidFill>
              <a:latin typeface="ui-sans-serif"/>
              <a:ea typeface="ui-sans-serif"/>
            </a:endParaRPr>
          </a:p>
          <a:p>
            <a:pPr marL="0" indent="0" algn="l" eaLnBrk="1" fontAlgn="auto" latinLnBrk="0" hangingPunct="1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AutoNum type="arabicPeriod"/>
            </a:pPr>
            <a:r>
              <a:rPr lang="zh-CN" altLang="en-US" sz="2000" b="1" i="0">
                <a:solidFill>
                  <a:srgbClr val="000000"/>
                </a:solidFill>
                <a:latin typeface="ui-sans-serif"/>
                <a:ea typeface="ui-sans-serif"/>
              </a:rPr>
              <a:t>实现 </a:t>
            </a:r>
            <a:r>
              <a:rPr lang="en-US" altLang="zh-CN" sz="2000" b="1" i="0">
                <a:solidFill>
                  <a:srgbClr val="000000"/>
                </a:solidFill>
                <a:latin typeface="ui-sans-serif"/>
                <a:ea typeface="ui-sans-serif"/>
              </a:rPr>
              <a:t>UserCF</a:t>
            </a:r>
            <a:r>
              <a:rPr lang="zh-CN" altLang="en-US" sz="2000" b="1" i="0">
                <a:solidFill>
                  <a:srgbClr val="000000"/>
                </a:solidFill>
                <a:latin typeface="ui-sans-serif"/>
                <a:ea typeface="ui-sans-serif"/>
              </a:rPr>
              <a:t>（用户协同过滤）</a:t>
            </a:r>
            <a:r>
              <a:rPr lang="en-US" altLang="zh-CN" sz="2000" b="1" i="0">
                <a:solidFill>
                  <a:srgbClr val="000000"/>
                </a:solidFill>
                <a:latin typeface="ui-sans-serif"/>
                <a:ea typeface="ui-sans-serif"/>
              </a:rPr>
              <a:t>：</a:t>
            </a:r>
            <a:r>
              <a:rPr lang="zh-CN" altLang="en-US" sz="2000" b="0" i="0">
                <a:solidFill>
                  <a:srgbClr val="000000"/>
                </a:solidFill>
                <a:latin typeface="ui-sans-serif"/>
                <a:ea typeface="ui-sans-serif"/>
              </a:rPr>
              <a:t>仿照 </a:t>
            </a:r>
            <a:r>
              <a:rPr lang="en-US" altLang="zh-CN" sz="2000" b="0" i="0">
                <a:solidFill>
                  <a:srgbClr val="000000"/>
                </a:solidFill>
                <a:latin typeface="ui-sans-serif"/>
                <a:ea typeface="ui-sans-serif"/>
              </a:rPr>
              <a:t>ItemCF </a:t>
            </a:r>
            <a:r>
              <a:rPr lang="zh-CN" altLang="en-US" sz="2000" b="0" i="0">
                <a:solidFill>
                  <a:srgbClr val="000000"/>
                </a:solidFill>
                <a:latin typeface="ui-sans-serif"/>
                <a:ea typeface="ui-sans-serif"/>
              </a:rPr>
              <a:t>代码，实现 </a:t>
            </a:r>
            <a:r>
              <a:rPr lang="en-US" altLang="zh-CN" sz="2000" b="0" i="0">
                <a:solidFill>
                  <a:srgbClr val="000000"/>
                </a:solidFill>
                <a:latin typeface="ui-sans-serif"/>
                <a:ea typeface="ui-sans-serif"/>
              </a:rPr>
              <a:t>UserCF </a:t>
            </a:r>
            <a:r>
              <a:rPr lang="zh-CN" altLang="en-US" sz="2000" b="0" i="0">
                <a:solidFill>
                  <a:srgbClr val="000000"/>
                </a:solidFill>
                <a:latin typeface="ui-sans-serif"/>
                <a:ea typeface="ui-sans-serif"/>
              </a:rPr>
              <a:t>并与 </a:t>
            </a:r>
            <a:r>
              <a:rPr lang="en-US" altLang="zh-CN" sz="2000" b="0" i="0">
                <a:solidFill>
                  <a:srgbClr val="000000"/>
                </a:solidFill>
                <a:latin typeface="ui-sans-serif"/>
                <a:ea typeface="ui-sans-serif"/>
              </a:rPr>
              <a:t>ItemCF </a:t>
            </a:r>
            <a:r>
              <a:rPr lang="zh-CN" altLang="en-US" sz="2000" b="0" i="0">
                <a:solidFill>
                  <a:srgbClr val="000000"/>
                </a:solidFill>
                <a:latin typeface="ui-sans-serif"/>
                <a:ea typeface="ui-sans-serif"/>
              </a:rPr>
              <a:t>对比。分析 </a:t>
            </a:r>
            <a:r>
              <a:rPr lang="en-US" altLang="zh-CN" sz="2000" b="0" i="0">
                <a:solidFill>
                  <a:srgbClr val="000000"/>
                </a:solidFill>
                <a:latin typeface="ui-sans-serif"/>
                <a:ea typeface="ui-sans-serif"/>
              </a:rPr>
              <a:t>UserCF </a:t>
            </a:r>
            <a:r>
              <a:rPr lang="zh-CN" altLang="en-US" sz="2000" b="0" i="0">
                <a:solidFill>
                  <a:srgbClr val="000000"/>
                </a:solidFill>
                <a:latin typeface="ui-sans-serif"/>
                <a:ea typeface="ui-sans-serif"/>
              </a:rPr>
              <a:t>与 </a:t>
            </a:r>
            <a:r>
              <a:rPr lang="en-US" altLang="zh-CN" sz="2000" b="0" i="0">
                <a:solidFill>
                  <a:srgbClr val="000000"/>
                </a:solidFill>
                <a:latin typeface="ui-sans-serif"/>
                <a:ea typeface="ui-sans-serif"/>
              </a:rPr>
              <a:t>ItemCF </a:t>
            </a:r>
            <a:r>
              <a:rPr lang="zh-CN" altLang="en-US" sz="2000" b="0" i="0">
                <a:solidFill>
                  <a:srgbClr val="000000"/>
                </a:solidFill>
                <a:latin typeface="ui-sans-serif"/>
                <a:ea typeface="ui-sans-serif"/>
              </a:rPr>
              <a:t>的适用场景。</a:t>
            </a:r>
            <a:endParaRPr lang="en-US" altLang="zh-CN" sz="2000" b="0" i="0">
              <a:solidFill>
                <a:srgbClr val="000000"/>
              </a:solidFill>
              <a:latin typeface="ui-sans-serif"/>
              <a:ea typeface="ui-sans-serif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文本框 1"/>
          <p:cNvSpPr txBox="1"/>
          <p:nvPr/>
        </p:nvSpPr>
        <p:spPr>
          <a:xfrm>
            <a:off x="182245" y="593090"/>
            <a:ext cx="11785600" cy="3876675"/>
          </a:xfrm>
          <a:prstGeom prst="rect">
            <a:avLst/>
          </a:prstGeom>
        </p:spPr>
        <p:txBody>
          <a:bodyPr wrap="square">
            <a:spAutoFit/>
          </a:bodyPr>
          <a:p>
            <a:pPr marL="0" indent="0" eaLnBrk="1" fontAlgn="auto" latinLnBrk="0" hangingPunct="1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sz="2400" b="1" i="0">
                <a:solidFill>
                  <a:srgbClr val="000000"/>
                </a:solidFill>
                <a:latin typeface="ui-sans-serif"/>
                <a:ea typeface="ui-sans-serif"/>
              </a:rPr>
              <a:t>实验报告要求（标准格式）</a:t>
            </a:r>
            <a:endParaRPr lang="zh-CN" altLang="en-US" sz="2400" b="1" i="0">
              <a:solidFill>
                <a:srgbClr val="000000"/>
              </a:solidFill>
              <a:latin typeface="ui-sans-serif"/>
              <a:ea typeface="ui-sans-serif"/>
            </a:endParaRPr>
          </a:p>
          <a:p>
            <a:pPr marL="0" indent="0" algn="l" eaLnBrk="1" fontAlgn="auto" latinLnBrk="0" hangingPunct="1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AutoNum type="arabicPeriod"/>
            </a:pPr>
            <a:r>
              <a:rPr lang="zh-CN" altLang="en-US" sz="2000" b="1" i="0">
                <a:solidFill>
                  <a:srgbClr val="000000"/>
                </a:solidFill>
                <a:latin typeface="ui-sans-serif"/>
                <a:ea typeface="ui-sans-serif"/>
              </a:rPr>
              <a:t>实验目的</a:t>
            </a:r>
            <a:endParaRPr lang="zh-CN" altLang="en-US" sz="2000" b="1" i="0">
              <a:solidFill>
                <a:srgbClr val="000000"/>
              </a:solidFill>
              <a:latin typeface="ui-sans-serif"/>
              <a:ea typeface="ui-sans-serif"/>
            </a:endParaRPr>
          </a:p>
          <a:p>
            <a:pPr marL="0" indent="0" algn="l" eaLnBrk="1" fontAlgn="auto" latinLnBrk="0" hangingPunct="1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AutoNum type="arabicPeriod"/>
            </a:pPr>
            <a:r>
              <a:rPr lang="zh-CN" altLang="en-US" sz="2000" b="1" i="0">
                <a:solidFill>
                  <a:srgbClr val="000000"/>
                </a:solidFill>
                <a:latin typeface="ui-sans-serif"/>
                <a:ea typeface="ui-sans-serif"/>
              </a:rPr>
              <a:t>实验原理</a:t>
            </a:r>
            <a:r>
              <a:rPr lang="en-US" altLang="zh-CN" sz="2000" b="1" i="0">
                <a:solidFill>
                  <a:srgbClr val="000000"/>
                </a:solidFill>
                <a:latin typeface="ui-sans-serif"/>
                <a:ea typeface="ui-sans-serif"/>
              </a:rPr>
              <a:t>：</a:t>
            </a:r>
            <a:r>
              <a:rPr lang="en-US" altLang="zh-CN" sz="2000" b="0" i="0">
                <a:solidFill>
                  <a:srgbClr val="000000"/>
                </a:solidFill>
                <a:latin typeface="ui-sans-serif"/>
                <a:ea typeface="ui-sans-serif"/>
              </a:rPr>
              <a:t>ItemCF </a:t>
            </a:r>
            <a:r>
              <a:rPr lang="zh-CN" altLang="en-US" sz="2000" b="0" i="0">
                <a:solidFill>
                  <a:srgbClr val="000000"/>
                </a:solidFill>
                <a:latin typeface="ui-sans-serif"/>
                <a:ea typeface="ui-sans-serif"/>
              </a:rPr>
              <a:t>物品相似度计算</a:t>
            </a:r>
            <a:r>
              <a:rPr lang="en-US" altLang="zh-CN" sz="2000" b="0" i="0">
                <a:solidFill>
                  <a:srgbClr val="000000"/>
                </a:solidFill>
                <a:latin typeface="ui-sans-serif"/>
                <a:ea typeface="ui-sans-serif"/>
              </a:rPr>
              <a:t>，SVD </a:t>
            </a:r>
            <a:r>
              <a:rPr lang="zh-CN" altLang="en-US" sz="2000" b="0" i="0">
                <a:solidFill>
                  <a:srgbClr val="000000"/>
                </a:solidFill>
                <a:latin typeface="ui-sans-serif"/>
                <a:ea typeface="ui-sans-serif"/>
              </a:rPr>
              <a:t>隐向量分解思想</a:t>
            </a:r>
            <a:r>
              <a:rPr lang="en-US" altLang="zh-CN" sz="2000" b="0" i="0">
                <a:solidFill>
                  <a:srgbClr val="000000"/>
                </a:solidFill>
                <a:latin typeface="ui-sans-serif"/>
                <a:ea typeface="ui-sans-serif"/>
              </a:rPr>
              <a:t>，</a:t>
            </a:r>
            <a:r>
              <a:rPr lang="zh-CN" altLang="en-US" sz="2000" b="0" i="0">
                <a:solidFill>
                  <a:srgbClr val="000000"/>
                </a:solidFill>
                <a:latin typeface="ui-sans-serif"/>
                <a:ea typeface="ui-sans-serif"/>
              </a:rPr>
              <a:t>评价指标 </a:t>
            </a:r>
            <a:r>
              <a:rPr lang="en-US" altLang="zh-CN" sz="2000" b="0" i="0">
                <a:solidFill>
                  <a:srgbClr val="000000"/>
                </a:solidFill>
                <a:latin typeface="ui-sans-serif"/>
                <a:ea typeface="ui-sans-serif"/>
              </a:rPr>
              <a:t>RMSE/MAE </a:t>
            </a:r>
            <a:r>
              <a:rPr lang="zh-CN" altLang="en-US" sz="2000" b="0" i="0">
                <a:solidFill>
                  <a:srgbClr val="000000"/>
                </a:solidFill>
                <a:latin typeface="ui-sans-serif"/>
                <a:ea typeface="ui-sans-serif"/>
              </a:rPr>
              <a:t>公式</a:t>
            </a:r>
            <a:endParaRPr lang="zh-CN" altLang="en-US" sz="2000" b="0" i="0">
              <a:solidFill>
                <a:srgbClr val="000000"/>
              </a:solidFill>
              <a:latin typeface="ui-sans-serif"/>
              <a:ea typeface="ui-sans-serif"/>
            </a:endParaRPr>
          </a:p>
          <a:p>
            <a:pPr marL="0" indent="0" algn="l" eaLnBrk="1" fontAlgn="auto" latinLnBrk="0" hangingPunct="1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AutoNum type="arabicPeriod"/>
            </a:pPr>
            <a:r>
              <a:rPr lang="zh-CN" altLang="en-US" sz="2000" b="1" i="0">
                <a:solidFill>
                  <a:srgbClr val="000000"/>
                </a:solidFill>
                <a:latin typeface="ui-sans-serif"/>
                <a:ea typeface="ui-sans-serif"/>
              </a:rPr>
              <a:t>实验步骤与代码说明</a:t>
            </a:r>
            <a:r>
              <a:rPr lang="en-US" altLang="zh-CN" sz="2000" b="1" i="0">
                <a:solidFill>
                  <a:srgbClr val="000000"/>
                </a:solidFill>
                <a:latin typeface="ui-sans-serif"/>
                <a:ea typeface="ui-sans-serif"/>
              </a:rPr>
              <a:t>：</a:t>
            </a:r>
            <a:r>
              <a:rPr lang="zh-CN" altLang="en-US" sz="2000" b="0" i="0">
                <a:solidFill>
                  <a:srgbClr val="000000"/>
                </a:solidFill>
                <a:latin typeface="ui-sans-serif"/>
                <a:ea typeface="ui-sans-serif"/>
              </a:rPr>
              <a:t>关键函数解释（相似度计算、预测、推荐）</a:t>
            </a:r>
            <a:endParaRPr lang="zh-CN" altLang="en-US" sz="2000" b="0" i="0">
              <a:solidFill>
                <a:srgbClr val="000000"/>
              </a:solidFill>
              <a:latin typeface="ui-sans-serif"/>
              <a:ea typeface="ui-sans-serif"/>
            </a:endParaRPr>
          </a:p>
          <a:p>
            <a:pPr marL="0" indent="0" algn="l" eaLnBrk="1" fontAlgn="auto" latinLnBrk="0" hangingPunct="1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AutoNum type="arabicPeriod"/>
            </a:pPr>
            <a:r>
              <a:rPr lang="zh-CN" altLang="en-US" sz="2000" b="1" i="0">
                <a:solidFill>
                  <a:srgbClr val="000000"/>
                </a:solidFill>
                <a:latin typeface="ui-sans-serif"/>
                <a:ea typeface="ui-sans-serif"/>
              </a:rPr>
              <a:t>实验结果</a:t>
            </a:r>
            <a:r>
              <a:rPr lang="en-US" altLang="zh-CN" sz="2000" b="1" i="0">
                <a:solidFill>
                  <a:srgbClr val="000000"/>
                </a:solidFill>
                <a:latin typeface="ui-sans-serif"/>
                <a:ea typeface="ui-sans-serif"/>
              </a:rPr>
              <a:t>：</a:t>
            </a:r>
            <a:r>
              <a:rPr lang="zh-CN" altLang="en-US" sz="2000" b="0" i="0">
                <a:solidFill>
                  <a:srgbClr val="000000"/>
                </a:solidFill>
                <a:latin typeface="ui-sans-serif"/>
                <a:ea typeface="ui-sans-serif"/>
              </a:rPr>
              <a:t>表格：</a:t>
            </a:r>
            <a:r>
              <a:rPr lang="en-US" altLang="zh-CN" sz="2000" b="0" i="0">
                <a:solidFill>
                  <a:srgbClr val="000000"/>
                </a:solidFill>
                <a:latin typeface="ui-sans-serif"/>
                <a:ea typeface="ui-sans-serif"/>
              </a:rPr>
              <a:t>RMSE</a:t>
            </a:r>
            <a:r>
              <a:rPr lang="zh-CN" altLang="en-US" sz="2000" b="0" i="0">
                <a:solidFill>
                  <a:srgbClr val="000000"/>
                </a:solidFill>
                <a:latin typeface="ui-sans-serif"/>
                <a:ea typeface="ui-sans-serif"/>
              </a:rPr>
              <a:t>、</a:t>
            </a:r>
            <a:r>
              <a:rPr lang="en-US" altLang="zh-CN" sz="2000" b="0" i="0">
                <a:solidFill>
                  <a:srgbClr val="000000"/>
                </a:solidFill>
                <a:latin typeface="ui-sans-serif"/>
                <a:ea typeface="ui-sans-serif"/>
              </a:rPr>
              <a:t>MAE；</a:t>
            </a:r>
            <a:r>
              <a:rPr lang="zh-CN" altLang="en-US" sz="2000" b="0" i="0">
                <a:solidFill>
                  <a:srgbClr val="000000"/>
                </a:solidFill>
                <a:latin typeface="ui-sans-serif"/>
                <a:ea typeface="ui-sans-serif"/>
              </a:rPr>
              <a:t>图片：对比图、冷启动命中率图</a:t>
            </a:r>
            <a:endParaRPr lang="zh-CN" altLang="en-US" sz="2000" b="0" i="0">
              <a:solidFill>
                <a:srgbClr val="000000"/>
              </a:solidFill>
              <a:latin typeface="ui-sans-serif"/>
              <a:ea typeface="ui-sans-serif"/>
            </a:endParaRPr>
          </a:p>
          <a:p>
            <a:pPr marL="0" indent="0" algn="l" eaLnBrk="1" fontAlgn="auto" latinLnBrk="0" hangingPunct="1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AutoNum type="arabicPeriod"/>
            </a:pPr>
            <a:r>
              <a:rPr lang="zh-CN" altLang="en-US" sz="2000" b="1" i="0">
                <a:solidFill>
                  <a:srgbClr val="000000"/>
                </a:solidFill>
                <a:latin typeface="ui-sans-serif"/>
                <a:ea typeface="ui-sans-serif"/>
              </a:rPr>
              <a:t>结果分析（重点）</a:t>
            </a:r>
            <a:r>
              <a:rPr lang="en-US" altLang="zh-CN" sz="2000" b="1" i="0">
                <a:solidFill>
                  <a:srgbClr val="000000"/>
                </a:solidFill>
                <a:latin typeface="ui-sans-serif"/>
                <a:ea typeface="ui-sans-serif"/>
              </a:rPr>
              <a:t>：</a:t>
            </a:r>
            <a:r>
              <a:rPr lang="zh-CN" altLang="en-US" sz="2000" b="0" i="0">
                <a:solidFill>
                  <a:srgbClr val="000000"/>
                </a:solidFill>
                <a:latin typeface="ui-sans-serif"/>
                <a:ea typeface="ui-sans-serif"/>
              </a:rPr>
              <a:t>哪个模型更好？为什么 </a:t>
            </a:r>
            <a:r>
              <a:rPr lang="en-US" altLang="zh-CN" sz="2000" b="0" i="0">
                <a:solidFill>
                  <a:srgbClr val="000000"/>
                </a:solidFill>
                <a:latin typeface="ui-sans-serif"/>
                <a:ea typeface="ui-sans-serif"/>
              </a:rPr>
              <a:t>SVD </a:t>
            </a:r>
            <a:r>
              <a:rPr lang="zh-CN" altLang="en-US" sz="2000" b="0" i="0">
                <a:solidFill>
                  <a:srgbClr val="000000"/>
                </a:solidFill>
                <a:latin typeface="ui-sans-serif"/>
                <a:ea typeface="ui-sans-serif"/>
              </a:rPr>
              <a:t>精度更高？为什么 </a:t>
            </a:r>
            <a:r>
              <a:rPr lang="en-US" altLang="zh-CN" sz="2000" b="0" i="0">
                <a:solidFill>
                  <a:srgbClr val="000000"/>
                </a:solidFill>
                <a:latin typeface="ui-sans-serif"/>
                <a:ea typeface="ui-sans-serif"/>
              </a:rPr>
              <a:t>ItemCF </a:t>
            </a:r>
            <a:r>
              <a:rPr lang="zh-CN" altLang="en-US" sz="2000" b="0" i="0">
                <a:solidFill>
                  <a:srgbClr val="000000"/>
                </a:solidFill>
                <a:latin typeface="ui-sans-serif"/>
                <a:ea typeface="ui-sans-serif"/>
              </a:rPr>
              <a:t>在冷启动时更稳定？</a:t>
            </a:r>
            <a:endParaRPr lang="zh-CN" altLang="en-US" sz="2000" b="0" i="0">
              <a:solidFill>
                <a:srgbClr val="000000"/>
              </a:solidFill>
              <a:latin typeface="ui-sans-serif"/>
              <a:ea typeface="ui-sans-serif"/>
            </a:endParaRPr>
          </a:p>
          <a:p>
            <a:pPr marL="0" indent="0" algn="l" eaLnBrk="1" fontAlgn="auto" latinLnBrk="0" hangingPunct="1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AutoNum type="arabicPeriod"/>
            </a:pPr>
            <a:r>
              <a:rPr lang="zh-CN" altLang="en-US" sz="2000" b="1" i="0">
                <a:solidFill>
                  <a:srgbClr val="000000"/>
                </a:solidFill>
                <a:latin typeface="ui-sans-serif"/>
                <a:ea typeface="ui-sans-serif"/>
              </a:rPr>
              <a:t>实验总结与思考</a:t>
            </a:r>
            <a:endParaRPr lang="zh-CN" altLang="en-US" sz="2000" b="1" i="0">
              <a:solidFill>
                <a:srgbClr val="000000"/>
              </a:solidFill>
              <a:latin typeface="ui-sans-serif"/>
              <a:ea typeface="ui-sans-serif"/>
            </a:endParaRPr>
          </a:p>
          <a:p>
            <a:pPr marL="0" indent="0" algn="l" eaLnBrk="1" fontAlgn="auto" latinLnBrk="0" hangingPunct="1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None/>
            </a:pPr>
            <a:endParaRPr lang="zh-CN" altLang="en-US" sz="2000" b="0" i="0">
              <a:solidFill>
                <a:srgbClr val="000000"/>
              </a:solidFill>
              <a:latin typeface="ui-sans-serif"/>
              <a:ea typeface="ui-sans-serif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3366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3" name="AutoShape 3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001428">
              <a:alpha val="8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4" name="AutoShape 4"/>
          <p:cNvSpPr/>
          <p:nvPr/>
        </p:nvSpPr>
        <p:spPr>
          <a:xfrm>
            <a:off x="762000" y="635000"/>
            <a:ext cx="10668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36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 第</a:t>
            </a:r>
            <a:r>
              <a:rPr lang="zh-CN" altLang="en-US" sz="36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八</a:t>
            </a:r>
            <a:r>
              <a:rPr lang="en-US" sz="36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周实验</a:t>
            </a:r>
            <a:endParaRPr lang="en-US" sz="1100"/>
          </a:p>
        </p:txBody>
      </p:sp>
      <p:sp>
        <p:nvSpPr>
          <p:cNvPr id="20" name="AutoShape 20"/>
          <p:cNvSpPr/>
          <p:nvPr/>
        </p:nvSpPr>
        <p:spPr>
          <a:xfrm>
            <a:off x="695960" y="1814195"/>
            <a:ext cx="10668000" cy="4301490"/>
          </a:xfrm>
          <a:prstGeom prst="roundRect">
            <a:avLst>
              <a:gd name="adj" fmla="val 6666"/>
            </a:avLst>
          </a:prstGeom>
          <a:solidFill>
            <a:srgbClr val="F5F7FA">
              <a:alpha val="9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21" name="Picture 2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49960" y="2068195"/>
            <a:ext cx="406400" cy="406400"/>
          </a:xfrm>
          <a:prstGeom prst="rect">
            <a:avLst/>
          </a:prstGeom>
        </p:spPr>
      </p:pic>
      <p:sp>
        <p:nvSpPr>
          <p:cNvPr id="22" name="AutoShape 22"/>
          <p:cNvSpPr/>
          <p:nvPr/>
        </p:nvSpPr>
        <p:spPr>
          <a:xfrm>
            <a:off x="1457960" y="2068195"/>
            <a:ext cx="2540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zh-CN" altLang="en-US" sz="2400" b="1" i="0" u="none" strike="noStrike">
                <a:solidFill>
                  <a:srgbClr val="003366"/>
                </a:solidFill>
                <a:latin typeface="Noto Sans SC"/>
                <a:ea typeface="Noto Sans SC"/>
                <a:cs typeface="Noto Sans SC"/>
                <a:sym typeface="Noto Sans SC"/>
              </a:rPr>
              <a:t>评分标准</a:t>
            </a:r>
            <a:endParaRPr lang="zh-CN" altLang="en-US" sz="2400" b="1" i="0" u="none" strike="noStrike">
              <a:solidFill>
                <a:srgbClr val="003366"/>
              </a:solidFill>
              <a:latin typeface="Noto Sans SC"/>
              <a:ea typeface="Noto Sans SC"/>
              <a:cs typeface="Noto Sans SC"/>
              <a:sym typeface="Noto Sans SC"/>
            </a:endParaRPr>
          </a:p>
        </p:txBody>
      </p:sp>
      <p:cxnSp>
        <p:nvCxnSpPr>
          <p:cNvPr id="23" name="Connector 23"/>
          <p:cNvCxnSpPr/>
          <p:nvPr/>
        </p:nvCxnSpPr>
        <p:spPr>
          <a:xfrm rot="-4297">
            <a:off x="949964" y="2506345"/>
            <a:ext cx="10160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25400" cap="flat" cmpd="sng">
            <a:solidFill>
              <a:srgbClr val="4A90E2">
                <a:alpha val="100000"/>
              </a:srgbClr>
            </a:solidFill>
            <a:prstDash val="solid"/>
            <a:round/>
            <a:headEnd type="none" w="lg" len="lg"/>
            <a:tailEnd type="none" w="lg" len="lg"/>
          </a:ln>
        </p:spPr>
      </p:cxnSp>
      <p:sp>
        <p:nvSpPr>
          <p:cNvPr id="24" name="AutoShape 24"/>
          <p:cNvSpPr/>
          <p:nvPr/>
        </p:nvSpPr>
        <p:spPr>
          <a:xfrm>
            <a:off x="727075" y="2160905"/>
            <a:ext cx="10667365" cy="364109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 eaLnBrk="1" fontAlgn="auto" latinLnBrk="0" hangingPunct="1">
              <a:lnSpc>
                <a:spcPct val="200000"/>
              </a:lnSpc>
              <a:buClr>
                <a:srgbClr val="333333"/>
              </a:buClr>
              <a:buNone/>
              <a:defRPr/>
            </a:pPr>
            <a:endParaRPr lang="en-US" sz="1100"/>
          </a:p>
          <a:p>
            <a:pPr marL="457200" lvl="1" indent="0" algn="l" eaLnBrk="1" fontAlgn="auto" latinLnBrk="0" hangingPunct="1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Arial" panose="020B0604020202090204"/>
              <a:buChar char="•"/>
            </a:pPr>
            <a:r>
              <a:rPr lang="zh-CN" altLang="en-US" sz="1800">
                <a:latin typeface="ui-sans-serif"/>
                <a:ea typeface="ui-sans-serif"/>
                <a:sym typeface="+mn-ea"/>
              </a:rPr>
              <a:t>必做任务</a:t>
            </a:r>
            <a:r>
              <a:rPr lang="zh-CN" altLang="en-US" sz="1800">
                <a:latin typeface="ui-sans-serif"/>
                <a:ea typeface="ui-sans-serif"/>
                <a:sym typeface="+mn-ea"/>
              </a:rPr>
              <a:t>代码正常运行、结果正确：</a:t>
            </a:r>
            <a:r>
              <a:rPr lang="en-US" altLang="zh-CN" sz="1800">
                <a:latin typeface="ui-sans-serif"/>
                <a:ea typeface="ui-sans-serif"/>
                <a:sym typeface="+mn-ea"/>
              </a:rPr>
              <a:t>5</a:t>
            </a:r>
            <a:r>
              <a:rPr lang="en-US" altLang="zh-CN" sz="1800">
                <a:latin typeface="ui-sans-serif"/>
                <a:ea typeface="ui-sans-serif"/>
                <a:sym typeface="+mn-ea"/>
              </a:rPr>
              <a:t>0 </a:t>
            </a:r>
            <a:r>
              <a:rPr lang="zh-CN" altLang="en-US" sz="1800">
                <a:latin typeface="ui-sans-serif"/>
                <a:ea typeface="ui-sans-serif"/>
                <a:sym typeface="+mn-ea"/>
              </a:rPr>
              <a:t>分</a:t>
            </a:r>
            <a:endParaRPr lang="zh-CN" altLang="en-US" sz="1800" b="0" i="0">
              <a:solidFill>
                <a:srgbClr val="000000"/>
              </a:solidFill>
              <a:latin typeface="ui-sans-serif"/>
              <a:ea typeface="ui-sans-serif"/>
            </a:endParaRPr>
          </a:p>
          <a:p>
            <a:pPr marL="457200" lvl="1" indent="0" algn="l" eaLnBrk="1" fontAlgn="auto" latinLnBrk="0" hangingPunct="1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Arial" panose="020B0604020202090204"/>
              <a:buChar char="•"/>
            </a:pPr>
            <a:r>
              <a:rPr lang="zh-CN" altLang="en-US" sz="1800">
                <a:latin typeface="ui-sans-serif"/>
                <a:ea typeface="ui-sans-serif"/>
                <a:sym typeface="+mn-ea"/>
              </a:rPr>
              <a:t>选</a:t>
            </a:r>
            <a:r>
              <a:rPr lang="zh-CN" altLang="en-US" sz="1800">
                <a:latin typeface="ui-sans-serif"/>
                <a:ea typeface="ui-sans-serif"/>
                <a:sym typeface="+mn-ea"/>
              </a:rPr>
              <a:t>做任务代码正常运行、结果正确</a:t>
            </a:r>
            <a:r>
              <a:rPr lang="zh-CN" altLang="en-US" sz="1800">
                <a:latin typeface="ui-sans-serif"/>
                <a:ea typeface="ui-sans-serif"/>
                <a:sym typeface="+mn-ea"/>
              </a:rPr>
              <a:t>：</a:t>
            </a:r>
            <a:r>
              <a:rPr lang="en-US" altLang="zh-CN" sz="1800">
                <a:latin typeface="ui-sans-serif"/>
                <a:ea typeface="ui-sans-serif"/>
                <a:sym typeface="+mn-ea"/>
              </a:rPr>
              <a:t>20 </a:t>
            </a:r>
            <a:r>
              <a:rPr lang="zh-CN" altLang="en-US" sz="1800">
                <a:latin typeface="ui-sans-serif"/>
                <a:ea typeface="ui-sans-serif"/>
                <a:sym typeface="+mn-ea"/>
              </a:rPr>
              <a:t>分</a:t>
            </a:r>
            <a:endParaRPr lang="zh-CN" altLang="en-US" sz="1800" b="0" i="0">
              <a:solidFill>
                <a:srgbClr val="000000"/>
              </a:solidFill>
              <a:latin typeface="ui-sans-serif"/>
              <a:ea typeface="ui-sans-serif"/>
            </a:endParaRPr>
          </a:p>
          <a:p>
            <a:pPr marL="457200" lvl="1" indent="0" algn="l" eaLnBrk="1" fontAlgn="auto" latinLnBrk="0" hangingPunct="1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Arial" panose="020B0604020202090204"/>
              <a:buChar char="•"/>
            </a:pPr>
            <a:r>
              <a:rPr lang="zh-CN" altLang="en-US" sz="1800">
                <a:latin typeface="ui-sans-serif"/>
                <a:ea typeface="ui-sans-serif"/>
                <a:sym typeface="+mn-ea"/>
              </a:rPr>
              <a:t>图表规范、结果清晰：</a:t>
            </a:r>
            <a:r>
              <a:rPr lang="en-US" altLang="zh-CN" sz="1800">
                <a:latin typeface="ui-sans-serif"/>
                <a:ea typeface="ui-sans-serif"/>
                <a:sym typeface="+mn-ea"/>
              </a:rPr>
              <a:t>15 </a:t>
            </a:r>
            <a:r>
              <a:rPr lang="zh-CN" altLang="en-US" sz="1800">
                <a:latin typeface="ui-sans-serif"/>
                <a:ea typeface="ui-sans-serif"/>
                <a:sym typeface="+mn-ea"/>
              </a:rPr>
              <a:t>分</a:t>
            </a:r>
            <a:endParaRPr lang="zh-CN" altLang="en-US" sz="1800" b="0" i="0">
              <a:solidFill>
                <a:srgbClr val="000000"/>
              </a:solidFill>
              <a:latin typeface="ui-sans-serif"/>
              <a:ea typeface="ui-sans-serif"/>
            </a:endParaRPr>
          </a:p>
          <a:p>
            <a:pPr marL="457200" lvl="1" indent="0" algn="l" eaLnBrk="1" fontAlgn="auto" latinLnBrk="0" hangingPunct="1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Arial" panose="020B0604020202090204"/>
              <a:buChar char="•"/>
            </a:pPr>
            <a:r>
              <a:rPr lang="zh-CN" altLang="en-US" sz="1800">
                <a:latin typeface="ui-sans-serif"/>
                <a:ea typeface="ui-sans-serif"/>
                <a:sym typeface="+mn-ea"/>
              </a:rPr>
              <a:t>分析深入、逻辑完整：</a:t>
            </a:r>
            <a:r>
              <a:rPr lang="en-US" altLang="zh-CN" sz="1800">
                <a:latin typeface="ui-sans-serif"/>
                <a:ea typeface="ui-sans-serif"/>
                <a:sym typeface="+mn-ea"/>
              </a:rPr>
              <a:t>15 </a:t>
            </a:r>
            <a:r>
              <a:rPr lang="zh-CN" altLang="en-US" sz="1800">
                <a:latin typeface="ui-sans-serif"/>
                <a:ea typeface="ui-sans-serif"/>
                <a:sym typeface="+mn-ea"/>
              </a:rPr>
              <a:t>分</a:t>
            </a:r>
            <a:endParaRPr lang="zh-CN" altLang="en-US" sz="1800" b="0" i="0">
              <a:solidFill>
                <a:srgbClr val="000000"/>
              </a:solidFill>
              <a:latin typeface="ui-sans-serif"/>
              <a:ea typeface="ui-sans-serif"/>
            </a:endParaRPr>
          </a:p>
          <a:p>
            <a:pPr marL="0" indent="0" algn="l" eaLnBrk="1" fontAlgn="auto" latinLnBrk="0" hangingPunct="1">
              <a:lnSpc>
                <a:spcPct val="150000"/>
              </a:lnSpc>
              <a:buClr>
                <a:srgbClr val="333333"/>
              </a:buClr>
              <a:buNone/>
            </a:pPr>
            <a:endParaRPr lang="zh-CN" altLang="en-US" sz="1800" b="0" i="0" u="none" strike="noStrike">
              <a:solidFill>
                <a:srgbClr val="C00000"/>
              </a:solidFill>
              <a:latin typeface="Noto Sans SC"/>
              <a:ea typeface="Noto Sans SC"/>
              <a:cs typeface="Noto Sans SC"/>
              <a:sym typeface="Noto Sans SC"/>
            </a:endParaRPr>
          </a:p>
          <a:p>
            <a:pPr marL="0" indent="0" algn="l" eaLnBrk="1" fontAlgn="auto" latinLnBrk="0" hangingPunct="1">
              <a:lnSpc>
                <a:spcPct val="150000"/>
              </a:lnSpc>
              <a:buClr>
                <a:srgbClr val="333333"/>
              </a:buClr>
              <a:buNone/>
            </a:pPr>
            <a:r>
              <a:rPr lang="zh-CN" altLang="en-US" sz="1800" b="0" i="0" u="none" strike="noStrike">
                <a:solidFill>
                  <a:srgbClr val="C00000"/>
                </a:solidFill>
                <a:latin typeface="Noto Sans SC"/>
                <a:ea typeface="Noto Sans SC"/>
                <a:cs typeface="Noto Sans SC"/>
                <a:sym typeface="Noto Sans SC"/>
              </a:rPr>
              <a:t>⚠️</a:t>
            </a:r>
            <a:r>
              <a:rPr lang="zh-CN" altLang="en-US" sz="1800">
                <a:solidFill>
                  <a:srgbClr val="C00000"/>
                </a:solidFill>
                <a:latin typeface="Noto Sans SC"/>
                <a:ea typeface="Noto Sans SC"/>
                <a:cs typeface="Noto Sans SC"/>
                <a:sym typeface="Noto Sans SC"/>
              </a:rPr>
              <a:t>相似度高的</a:t>
            </a:r>
            <a:r>
              <a:rPr lang="zh-CN" altLang="en-US" sz="1800" b="0" i="0" u="none" strike="noStrike">
                <a:solidFill>
                  <a:srgbClr val="C00000"/>
                </a:solidFill>
                <a:latin typeface="Noto Sans SC"/>
                <a:ea typeface="Noto Sans SC"/>
                <a:cs typeface="Noto Sans SC"/>
                <a:sym typeface="Noto Sans SC"/>
              </a:rPr>
              <a:t>代码</a:t>
            </a:r>
            <a:r>
              <a:rPr lang="en-US" altLang="zh-CN" sz="1800" b="0" i="0" u="none" strike="noStrike">
                <a:solidFill>
                  <a:srgbClr val="C00000"/>
                </a:solidFill>
                <a:latin typeface="Noto Sans SC"/>
                <a:ea typeface="Noto Sans SC"/>
                <a:cs typeface="Noto Sans SC"/>
                <a:sym typeface="Noto Sans SC"/>
              </a:rPr>
              <a:t>、</a:t>
            </a:r>
            <a:r>
              <a:rPr lang="zh-CN" altLang="en-US" sz="1800" b="0" i="0" u="none" strike="noStrike">
                <a:solidFill>
                  <a:srgbClr val="C00000"/>
                </a:solidFill>
                <a:latin typeface="Noto Sans SC"/>
                <a:ea typeface="Noto Sans SC"/>
                <a:cs typeface="Noto Sans SC"/>
                <a:sym typeface="Noto Sans SC"/>
              </a:rPr>
              <a:t>报告不得分</a:t>
            </a:r>
            <a:endParaRPr lang="zh-CN" altLang="en-US" sz="1800" b="0" i="0" u="none" strike="noStrike">
              <a:solidFill>
                <a:srgbClr val="C00000"/>
              </a:solidFill>
              <a:latin typeface="Noto Sans SC"/>
              <a:ea typeface="Noto Sans SC"/>
              <a:cs typeface="Noto Sans SC"/>
              <a:sym typeface="Noto Sans SC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3366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3" name="AutoShape 3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001428">
              <a:alpha val="7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4" name="AutoShape 4"/>
          <p:cNvSpPr/>
          <p:nvPr/>
        </p:nvSpPr>
        <p:spPr>
          <a:xfrm>
            <a:off x="1016000" y="2286000"/>
            <a:ext cx="10160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48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感谢观看！</a:t>
            </a:r>
            <a:endParaRPr lang="en-US" sz="4800" b="1" i="0" u="none" strike="noStrike">
              <a:solidFill>
                <a:srgbClr val="FFFFFF"/>
              </a:solidFill>
              <a:latin typeface="Noto Sans SC"/>
              <a:ea typeface="Noto Sans SC"/>
              <a:cs typeface="Noto Sans SC"/>
              <a:sym typeface="Noto Sans SC"/>
            </a:endParaRPr>
          </a:p>
        </p:txBody>
      </p:sp>
      <p:cxnSp>
        <p:nvCxnSpPr>
          <p:cNvPr id="5" name="Connector 5"/>
          <p:cNvCxnSpPr/>
          <p:nvPr/>
        </p:nvCxnSpPr>
        <p:spPr>
          <a:xfrm rot="-34376">
            <a:off x="5461032" y="3232150"/>
            <a:ext cx="1270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25400" cap="flat" cmpd="sng">
            <a:solidFill>
              <a:srgbClr val="4A90E2">
                <a:alpha val="100000"/>
              </a:srgbClr>
            </a:solidFill>
            <a:prstDash val="solid"/>
            <a:round/>
            <a:headEnd type="none" w="lg" len="lg"/>
            <a:tailEnd type="none" w="lg" len="lg"/>
          </a:ln>
        </p:spPr>
      </p:cxnSp>
      <p:sp>
        <p:nvSpPr>
          <p:cNvPr id="6" name="AutoShape 6"/>
          <p:cNvSpPr/>
          <p:nvPr/>
        </p:nvSpPr>
        <p:spPr>
          <a:xfrm>
            <a:off x="1016000" y="3492500"/>
            <a:ext cx="10160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2400" b="0" i="0" u="none" strike="noStrike">
                <a:solidFill>
                  <a:srgbClr val="F5F7FA"/>
                </a:solidFill>
                <a:latin typeface="Noto Sans SC"/>
                <a:ea typeface="Noto Sans SC"/>
                <a:cs typeface="Noto Sans SC"/>
                <a:sym typeface="Noto Sans SC"/>
              </a:rPr>
              <a:t>如有疑问，请随时联系，</a:t>
            </a:r>
            <a:r>
              <a:rPr lang="zh-CN" altLang="en-US" sz="2400" b="0" i="0" u="none" strike="noStrike">
                <a:solidFill>
                  <a:srgbClr val="F5F7FA"/>
                </a:solidFill>
                <a:latin typeface="Noto Sans SC"/>
                <a:ea typeface="Noto Sans SC"/>
                <a:cs typeface="Noto Sans SC"/>
                <a:sym typeface="Noto Sans SC"/>
              </a:rPr>
              <a:t>企业微信</a:t>
            </a:r>
            <a:endParaRPr lang="zh-CN" altLang="en-US" sz="2400" b="0" i="0" u="none" strike="noStrike">
              <a:solidFill>
                <a:srgbClr val="F5F7FA"/>
              </a:solidFill>
              <a:latin typeface="Noto Sans SC"/>
              <a:ea typeface="Noto Sans SC"/>
              <a:cs typeface="Noto Sans SC"/>
              <a:sym typeface="Noto Sans SC"/>
            </a:endParaRPr>
          </a:p>
        </p:txBody>
      </p:sp>
      <p:pic>
        <p:nvPicPr>
          <p:cNvPr id="7" name="Picture 7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377565" y="3594100"/>
            <a:ext cx="304800" cy="304800"/>
          </a:xfrm>
          <a:prstGeom prst="rect">
            <a:avLst/>
          </a:prstGeom>
        </p:spPr>
      </p:pic>
      <p:pic>
        <p:nvPicPr>
          <p:cNvPr id="8" name="Picture 8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668000" y="6190112"/>
            <a:ext cx="1524000" cy="667888"/>
          </a:xfrm>
          <a:prstGeom prst="rect">
            <a:avLst/>
          </a:prstGeom>
        </p:spPr>
      </p:pic>
    </p:spTree>
  </p:cSld>
  <p:clrMapOvr>
    <a:masterClrMapping/>
  </p:clrMapOvr>
</p:sld>
</file>

<file path=ppt/tags/tag1.xml><?xml version="1.0" encoding="utf-8"?>
<p:tagLst xmlns:p="http://schemas.openxmlformats.org/presentationml/2006/main">
  <p:tag name="KSO_WM_DIAGRAM_VIRTUALLY_FRAME" val="{&quot;height&quot;:300,&quot;left&quot;:60,&quot;top&quot;:150,&quot;width&quot;:840}"/>
</p:tagLst>
</file>

<file path=ppt/tags/tag2.xml><?xml version="1.0" encoding="utf-8"?>
<p:tagLst xmlns:p="http://schemas.openxmlformats.org/presentationml/2006/main">
  <p:tag name="KSO_WM_DIAGRAM_VIRTUALLY_FRAME" val="{&quot;height&quot;:300,&quot;left&quot;:60,&quot;top&quot;:150,&quot;width&quot;:840}"/>
</p:tagLst>
</file>

<file path=ppt/tags/tag3.xml><?xml version="1.0" encoding="utf-8"?>
<p:tagLst xmlns:p="http://schemas.openxmlformats.org/presentationml/2006/main">
  <p:tag name="KSO_WM_DIAGRAM_VIRTUALLY_FRAME" val="{&quot;height&quot;:300,&quot;left&quot;:60,&quot;top&quot;:150,&quot;width&quot;:840}"/>
</p:tagLst>
</file>

<file path=ppt/tags/tag4.xml><?xml version="1.0" encoding="utf-8"?>
<p:tagLst xmlns:p="http://schemas.openxmlformats.org/presentationml/2006/main">
  <p:tag name="KSO_WM_DIAGRAM_VIRTUALLY_FRAME" val="{&quot;height&quot;:300,&quot;left&quot;:60,&quot;top&quot;:150,&quot;width&quot;:840}"/>
</p:tagLst>
</file>

<file path=ppt/tags/tag5.xml><?xml version="1.0" encoding="utf-8"?>
<p:tagLst xmlns:p="http://schemas.openxmlformats.org/presentationml/2006/main">
  <p:tag name="KSO_WM_DIAGRAM_VIRTUALLY_FRAME" val="{&quot;height&quot;:300,&quot;left&quot;:60,&quot;top&quot;:150,&quot;width&quot;:840}"/>
</p:tagLst>
</file>

<file path=ppt/tags/tag6.xml><?xml version="1.0" encoding="utf-8"?>
<p:tagLst xmlns:p="http://schemas.openxmlformats.org/presentationml/2006/main">
  <p:tag name="KSO_WM_DIAGRAM_VIRTUALLY_FRAME" val="{&quot;height&quot;:300,&quot;left&quot;:60,&quot;top&quot;:150,&quot;width&quot;:840}"/>
</p:tagLst>
</file>

<file path=ppt/tags/tag7.xml><?xml version="1.0" encoding="utf-8"?>
<p:tagLst xmlns:p="http://schemas.openxmlformats.org/presentationml/2006/main">
  <p:tag name="KSO_WM_DIAGRAM_VIRTUALLY_FRAME" val="{&quot;height&quot;:300,&quot;left&quot;:60,&quot;top&quot;:150,&quot;width&quot;:840}"/>
</p:tagLst>
</file>

<file path=ppt/tags/tag8.xml><?xml version="1.0" encoding="utf-8"?>
<p:tagLst xmlns:p="http://schemas.openxmlformats.org/presentationml/2006/main">
  <p:tag name="KSO_WM_DIAGRAM_VIRTUALLY_FRAME" val="{&quot;height&quot;:300,&quot;left&quot;:60,&quot;top&quot;:150,&quot;width&quot;:840}"/>
</p:tagLst>
</file>

<file path=ppt/tags/tag9.xml><?xml version="1.0" encoding="utf-8"?>
<p:tagLst xmlns:p="http://schemas.openxmlformats.org/presentationml/2006/main">
  <p:tag name="KSO_WM_DIAGRAM_VIRTUALLY_FRAME" val="{&quot;height&quot;:300,&quot;left&quot;:60,&quot;top&quot;:150,&quot;width&quot;:840}"/>
</p:tagLst>
</file>

<file path=ppt/tags/tag10.xml><?xml version="1.0" encoding="utf-8"?>
<p:tagLst xmlns:p="http://schemas.openxmlformats.org/presentationml/2006/main">
  <p:tag name="KSO_WM_DIAGRAM_VIRTUALLY_FRAME" val="{&quot;height&quot;:300,&quot;left&quot;:60,&quot;top&quot;:150,&quot;width&quot;:840}"/>
</p:tagLst>
</file>

<file path=ppt/tags/tag11.xml><?xml version="1.0" encoding="utf-8"?>
<p:tagLst xmlns:p="http://schemas.openxmlformats.org/presentationml/2006/main">
  <p:tag name="KSO_WM_DIAGRAM_VIRTUALLY_FRAME" val="{&quot;height&quot;:300,&quot;left&quot;:60,&quot;top&quot;:150,&quot;width&quot;:840}"/>
</p:tagLst>
</file>

<file path=ppt/tags/tag12.xml><?xml version="1.0" encoding="utf-8"?>
<p:tagLst xmlns:p="http://schemas.openxmlformats.org/presentationml/2006/main">
  <p:tag name="KSO_WM_DIAGRAM_VIRTUALLY_FRAME" val="{&quot;height&quot;:300,&quot;left&quot;:60,&quot;top&quot;:150,&quot;width&quot;:840}"/>
</p:tagLst>
</file>

<file path=ppt/tags/tag13.xml><?xml version="1.0" encoding="utf-8"?>
<p:tagLst xmlns:p="http://schemas.openxmlformats.org/presentationml/2006/main">
  <p:tag name="KSO_WM_DIAGRAM_VIRTUALLY_FRAME" val="{&quot;height&quot;:300,&quot;left&quot;:60,&quot;top&quot;:150,&quot;width&quot;:840}"/>
</p:tagLst>
</file>

<file path=ppt/tags/tag14.xml><?xml version="1.0" encoding="utf-8"?>
<p:tagLst xmlns:p="http://schemas.openxmlformats.org/presentationml/2006/main">
  <p:tag name="KSO_WM_DIAGRAM_VIRTUALLY_FRAME" val="{&quot;height&quot;:300,&quot;left&quot;:60,&quot;top&quot;:150,&quot;width&quot;:840}"/>
</p:tagLst>
</file>

<file path=ppt/tags/tag15.xml><?xml version="1.0" encoding="utf-8"?>
<p:tagLst xmlns:p="http://schemas.openxmlformats.org/presentationml/2006/main">
  <p:tag name="KSO_WM_DIAGRAM_VIRTUALLY_FRAME" val="{&quot;height&quot;:300,&quot;left&quot;:60,&quot;top&quot;:150,&quot;width&quot;:840}"/>
</p:tagLst>
</file>

<file path=ppt/tags/tag16.xml><?xml version="1.0" encoding="utf-8"?>
<p:tagLst xmlns:p="http://schemas.openxmlformats.org/presentationml/2006/main">
  <p:tag name="KSO_WM_DIAGRAM_VIRTUALLY_FRAME" val="{&quot;height&quot;:300,&quot;left&quot;:60,&quot;top&quot;:150,&quot;width&quot;:840}"/>
</p:tagLst>
</file>

<file path=ppt/tags/tag17.xml><?xml version="1.0" encoding="utf-8"?>
<p:tagLst xmlns:p="http://schemas.openxmlformats.org/presentationml/2006/main">
  <p:tag name="KSO_WM_DIAGRAM_VIRTUALLY_FRAME" val="{&quot;height&quot;:300,&quot;left&quot;:60,&quot;top&quot;:150,&quot;width&quot;:840}"/>
</p:tagLst>
</file>

<file path=ppt/tags/tag18.xml><?xml version="1.0" encoding="utf-8"?>
<p:tagLst xmlns:p="http://schemas.openxmlformats.org/presentationml/2006/main">
  <p:tag name="KSO_WM_DIAGRAM_VIRTUALLY_FRAME" val="{&quot;height&quot;:300,&quot;left&quot;:60,&quot;top&quot;:150,&quot;width&quot;:840}"/>
</p:tagLst>
</file>

<file path=ppt/tags/tag19.xml><?xml version="1.0" encoding="utf-8"?>
<p:tagLst xmlns:p="http://schemas.openxmlformats.org/presentationml/2006/main">
  <p:tag name="KSO_WM_DIAGRAM_VIRTUALLY_FRAME" val="{&quot;height&quot;:300,&quot;left&quot;:60,&quot;top&quot;:150,&quot;width&quot;:840}"/>
</p:tagLst>
</file>

<file path=ppt/tags/tag20.xml><?xml version="1.0" encoding="utf-8"?>
<p:tagLst xmlns:p="http://schemas.openxmlformats.org/presentationml/2006/main">
  <p:tag name="KSO_WM_DIAGRAM_VIRTUALLY_FRAME" val="{&quot;height&quot;:300,&quot;left&quot;:60,&quot;top&quot;:150,&quot;width&quot;:840}"/>
</p:tagLst>
</file>

<file path=ppt/tags/tag21.xml><?xml version="1.0" encoding="utf-8"?>
<p:tagLst xmlns:p="http://schemas.openxmlformats.org/presentationml/2006/main">
  <p:tag name="KSO_WM_DIAGRAM_VIRTUALLY_FRAME" val="{&quot;height&quot;:300,&quot;left&quot;:60,&quot;top&quot;:150,&quot;width&quot;:840}"/>
</p:tagLst>
</file>

<file path=ppt/tags/tag22.xml><?xml version="1.0" encoding="utf-8"?>
<p:tagLst xmlns:p="http://schemas.openxmlformats.org/presentationml/2006/main">
  <p:tag name="KSO_WM_DIAGRAM_VIRTUALLY_FRAME" val="{&quot;height&quot;:300,&quot;left&quot;:60,&quot;top&quot;:150,&quot;width&quot;:840}"/>
</p:tagLst>
</file>

<file path=ppt/tags/tag23.xml><?xml version="1.0" encoding="utf-8"?>
<p:tagLst xmlns:p="http://schemas.openxmlformats.org/presentationml/2006/main">
  <p:tag name="KSO_WM_DIAGRAM_VIRTUALLY_FRAME" val="{&quot;height&quot;:300,&quot;left&quot;:60,&quot;top&quot;:150,&quot;width&quot;:840}"/>
</p:tagLst>
</file>

<file path=ppt/tags/tag24.xml><?xml version="1.0" encoding="utf-8"?>
<p:tagLst xmlns:p="http://schemas.openxmlformats.org/presentationml/2006/main">
  <p:tag name="KSO_WM_DIAGRAM_VIRTUALLY_FRAME" val="{&quot;height&quot;:300,&quot;left&quot;:60,&quot;top&quot;:150,&quot;width&quot;:840}"/>
</p:tagLst>
</file>

<file path=ppt/tags/tag25.xml><?xml version="1.0" encoding="utf-8"?>
<p:tagLst xmlns:p="http://schemas.openxmlformats.org/presentationml/2006/main">
  <p:tag name="KSO_WM_DIAGRAM_VIRTUALLY_FRAME" val="{&quot;height&quot;:180,&quot;left&quot;:60,&quot;top&quot;:130,&quot;width&quot;:840}"/>
</p:tagLst>
</file>

<file path=ppt/tags/tag26.xml><?xml version="1.0" encoding="utf-8"?>
<p:tagLst xmlns:p="http://schemas.openxmlformats.org/presentationml/2006/main">
  <p:tag name="KSO_WM_DIAGRAM_VIRTUALLY_FRAME" val="{&quot;height&quot;:180,&quot;left&quot;:60,&quot;top&quot;:130,&quot;width&quot;:840}"/>
</p:tagLst>
</file>

<file path=ppt/tags/tag27.xml><?xml version="1.0" encoding="utf-8"?>
<p:tagLst xmlns:p="http://schemas.openxmlformats.org/presentationml/2006/main">
  <p:tag name="KSO_WM_DIAGRAM_VIRTUALLY_FRAME" val="{&quot;height&quot;:180,&quot;left&quot;:60,&quot;top&quot;:130,&quot;width&quot;:840}"/>
</p:tagLst>
</file>

<file path=ppt/tags/tag28.xml><?xml version="1.0" encoding="utf-8"?>
<p:tagLst xmlns:p="http://schemas.openxmlformats.org/presentationml/2006/main">
  <p:tag name="KSO_WM_DIAGRAM_VIRTUALLY_FRAME" val="{&quot;height&quot;:180,&quot;left&quot;:60,&quot;top&quot;:130,&quot;width&quot;:840}"/>
</p:tagLst>
</file>

<file path=ppt/tags/tag29.xml><?xml version="1.0" encoding="utf-8"?>
<p:tagLst xmlns:p="http://schemas.openxmlformats.org/presentationml/2006/main">
  <p:tag name="KSO_WM_DIAGRAM_VIRTUALLY_FRAME" val="{&quot;height&quot;:180,&quot;left&quot;:60,&quot;top&quot;:130,&quot;width&quot;:840}"/>
</p:tagLst>
</file>

<file path=ppt/tags/tag30.xml><?xml version="1.0" encoding="utf-8"?>
<p:tagLst xmlns:p="http://schemas.openxmlformats.org/presentationml/2006/main">
  <p:tag name="KSO_WM_DIAGRAM_VIRTUALLY_FRAME" val="{&quot;height&quot;:180,&quot;left&quot;:60,&quot;top&quot;:130,&quot;width&quot;:840}"/>
</p:tagLst>
</file>

<file path=ppt/tags/tag31.xml><?xml version="1.0" encoding="utf-8"?>
<p:tagLst xmlns:p="http://schemas.openxmlformats.org/presentationml/2006/main">
  <p:tag name="KSO_WM_DIAGRAM_VIRTUALLY_FRAME" val="{&quot;height&quot;:180,&quot;left&quot;:60,&quot;top&quot;:130,&quot;width&quot;:840}"/>
</p:tagLst>
</file>

<file path=ppt/tags/tag32.xml><?xml version="1.0" encoding="utf-8"?>
<p:tagLst xmlns:p="http://schemas.openxmlformats.org/presentationml/2006/main">
  <p:tag name="KSO_WM_DIAGRAM_VIRTUALLY_FRAME" val="{&quot;height&quot;:180,&quot;left&quot;:60,&quot;top&quot;:130,&quot;width&quot;:840}"/>
</p:tagLst>
</file>

<file path=ppt/tags/tag33.xml><?xml version="1.0" encoding="utf-8"?>
<p:tagLst xmlns:p="http://schemas.openxmlformats.org/presentationml/2006/main">
  <p:tag name="KSO_WM_DIAGRAM_VIRTUALLY_FRAME" val="{&quot;height&quot;:180,&quot;left&quot;:60,&quot;top&quot;:130,&quot;width&quot;:840}"/>
</p:tagLst>
</file>

<file path=ppt/tags/tag34.xml><?xml version="1.0" encoding="utf-8"?>
<p:tagLst xmlns:p="http://schemas.openxmlformats.org/presentationml/2006/main">
  <p:tag name="KSO_WM_DIAGRAM_VIRTUALLY_FRAME" val="{&quot;height&quot;:180,&quot;left&quot;:60,&quot;top&quot;:130,&quot;width&quot;:840}"/>
</p:tagLst>
</file>

<file path=ppt/tags/tag35.xml><?xml version="1.0" encoding="utf-8"?>
<p:tagLst xmlns:p="http://schemas.openxmlformats.org/presentationml/2006/main">
  <p:tag name="KSO_WM_DIAGRAM_VIRTUALLY_FRAME" val="{&quot;height&quot;:180,&quot;left&quot;:60,&quot;top&quot;:130,&quot;width&quot;:840}"/>
</p:tagLst>
</file>

<file path=ppt/tags/tag36.xml><?xml version="1.0" encoding="utf-8"?>
<p:tagLst xmlns:p="http://schemas.openxmlformats.org/presentationml/2006/main">
  <p:tag name="KSO_WM_DIAGRAM_VIRTUALLY_FRAME" val="{&quot;height&quot;:180,&quot;left&quot;:60,&quot;top&quot;:130,&quot;width&quot;:840}"/>
</p:tagLst>
</file>

<file path=ppt/tags/tag37.xml><?xml version="1.0" encoding="utf-8"?>
<p:tagLst xmlns:p="http://schemas.openxmlformats.org/presentationml/2006/main">
  <p:tag name="KSO_WM_DIAGRAM_VIRTUALLY_FRAME" val="{&quot;height&quot;:180,&quot;left&quot;:60,&quot;top&quot;:130,&quot;width&quot;:840}"/>
</p:tagLst>
</file>

<file path=ppt/tags/tag38.xml><?xml version="1.0" encoding="utf-8"?>
<p:tagLst xmlns:p="http://schemas.openxmlformats.org/presentationml/2006/main">
  <p:tag name="KSO_WM_DIAGRAM_VIRTUALLY_FRAME" val="{&quot;height&quot;:180,&quot;left&quot;:60,&quot;top&quot;:130,&quot;width&quot;:840}"/>
</p:tagLst>
</file>

<file path=ppt/tags/tag39.xml><?xml version="1.0" encoding="utf-8"?>
<p:tagLst xmlns:p="http://schemas.openxmlformats.org/presentationml/2006/main">
  <p:tag name="KSO_WM_DIAGRAM_VIRTUALLY_FRAME" val="{&quot;height&quot;:180,&quot;left&quot;:60,&quot;top&quot;:130,&quot;width&quot;:840}"/>
</p:tagLst>
</file>

<file path=ppt/theme/theme1.xml><?xml version="1.0" encoding="utf-8"?>
<a:theme xmlns:a="http://schemas.openxmlformats.org/drawingml/2006/main" name="Office 主题​​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默认主题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2_默认主题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1_默认主题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5.xml><?xml version="1.0" encoding="utf-8"?>
<a:theme xmlns:a="http://schemas.openxmlformats.org/drawingml/2006/main" name="3_默认主题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6.xml><?xml version="1.0" encoding="utf-8"?>
<a:theme xmlns:a="http://schemas.openxmlformats.org/drawingml/2006/main" name="4_默认主题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7.xml><?xml version="1.0" encoding="utf-8"?>
<a:theme xmlns:a="http://schemas.openxmlformats.org/drawingml/2006/main" name="5_默认主题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8.xml><?xml version="1.0" encoding="utf-8"?>
<a:theme xmlns:a="http://schemas.openxmlformats.org/drawingml/2006/main" name="6_默认主题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9.xml><?xml version="1.0" encoding="utf-8"?>
<a:theme xmlns:a="http://schemas.openxmlformats.org/drawingml/2006/main" name="7_默认主题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10.xml><?xml version="1.0" encoding="utf-8"?>
<a:theme xmlns:a="http://schemas.openxmlformats.org/drawingml/2006/main" name="8_默认主题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11.xml><?xml version="1.0" encoding="utf-8"?>
<a:theme xmlns:a="http://schemas.openxmlformats.org/drawingml/2006/main" name="9_默认主题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12.xml><?xml version="1.0" encoding="utf-8"?>
<a:theme xmlns:a="http://schemas.openxmlformats.org/drawingml/2006/main" name="Office 主题​​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3794</Words>
  <Application>WPS 演示</Application>
  <PresentationFormat/>
  <Paragraphs>267</Paragraphs>
  <Slides>23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18</vt:i4>
      </vt:variant>
      <vt:variant>
        <vt:lpstr>主题</vt:lpstr>
      </vt:variant>
      <vt:variant>
        <vt:i4>11</vt:i4>
      </vt:variant>
      <vt:variant>
        <vt:lpstr>幻灯片标题</vt:lpstr>
      </vt:variant>
      <vt:variant>
        <vt:i4>23</vt:i4>
      </vt:variant>
    </vt:vector>
  </HeadingPairs>
  <TitlesOfParts>
    <vt:vector size="52" baseType="lpstr">
      <vt:lpstr>Arial</vt:lpstr>
      <vt:lpstr>宋体</vt:lpstr>
      <vt:lpstr>Wingdings</vt:lpstr>
      <vt:lpstr>Arial</vt:lpstr>
      <vt:lpstr>Noto Sans SC</vt:lpstr>
      <vt:lpstr>Thonburi</vt:lpstr>
      <vt:lpstr>-webkit-standard</vt:lpstr>
      <vt:lpstr>ui-sans-serif</vt:lpstr>
      <vt:lpstr>宋体</vt:lpstr>
      <vt:lpstr>汉仪书宋二KW</vt:lpstr>
      <vt:lpstr>微软雅黑</vt:lpstr>
      <vt:lpstr>汉仪旗黑</vt:lpstr>
      <vt:lpstr>Arial Unicode MS</vt:lpstr>
      <vt:lpstr>-webkit-standard</vt:lpstr>
      <vt:lpstr>Noto Sans SC</vt:lpstr>
      <vt:lpstr>ui-sans-serif</vt:lpstr>
      <vt:lpstr>苹方-简</vt:lpstr>
      <vt:lpstr>Apple Color Emoji</vt:lpstr>
      <vt:lpstr>Office 主题​​</vt:lpstr>
      <vt:lpstr>默认主题</vt:lpstr>
      <vt:lpstr>2_默认主题</vt:lpstr>
      <vt:lpstr>1_默认主题</vt:lpstr>
      <vt:lpstr>3_默认主题</vt:lpstr>
      <vt:lpstr>4_默认主题</vt:lpstr>
      <vt:lpstr>5_默认主题</vt:lpstr>
      <vt:lpstr>6_默认主题</vt:lpstr>
      <vt:lpstr>7_默认主题</vt:lpstr>
      <vt:lpstr>8_默认主题</vt:lpstr>
      <vt:lpstr>9_默认主题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>冷艳梅</cp:lastModifiedBy>
  <cp:revision>7</cp:revision>
  <dcterms:created xsi:type="dcterms:W3CDTF">2026-04-19T04:11:22Z</dcterms:created>
  <dcterms:modified xsi:type="dcterms:W3CDTF">2026-04-19T04:11:22Z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12A6B2DDEBA3E592C2A9C669540282FB_42</vt:lpwstr>
  </property>
  <property fmtid="{D5CDD505-2E9C-101B-9397-08002B2CF9AE}" pid="3" name="KSOProductBuildVer">
    <vt:lpwstr>2052-12.1.23141.23141</vt:lpwstr>
  </property>
</Properties>
</file>