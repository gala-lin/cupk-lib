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9"/>
  </p:handoutMasterIdLst>
  <p:sldIdLst>
    <p:sldId id="256" r:id="rId3"/>
    <p:sldId id="1597" r:id="rId5"/>
    <p:sldId id="1778" r:id="rId6"/>
    <p:sldId id="1779" r:id="rId7"/>
    <p:sldId id="1780" r:id="rId8"/>
    <p:sldId id="1781" r:id="rId9"/>
    <p:sldId id="1829" r:id="rId10"/>
    <p:sldId id="1782" r:id="rId11"/>
    <p:sldId id="1783" r:id="rId12"/>
    <p:sldId id="1830" r:id="rId13"/>
    <p:sldId id="1784" r:id="rId14"/>
    <p:sldId id="1785" r:id="rId15"/>
    <p:sldId id="1831" r:id="rId16"/>
    <p:sldId id="1833" r:id="rId17"/>
    <p:sldId id="1786" r:id="rId18"/>
    <p:sldId id="1787" r:id="rId19"/>
    <p:sldId id="1788" r:id="rId20"/>
    <p:sldId id="1789" r:id="rId21"/>
    <p:sldId id="1790" r:id="rId22"/>
    <p:sldId id="1792" r:id="rId23"/>
    <p:sldId id="1793" r:id="rId24"/>
    <p:sldId id="1834" r:id="rId25"/>
    <p:sldId id="1836" r:id="rId26"/>
    <p:sldId id="1794" r:id="rId27"/>
    <p:sldId id="1795" r:id="rId28"/>
    <p:sldId id="1796" r:id="rId29"/>
    <p:sldId id="1797" r:id="rId30"/>
    <p:sldId id="1798" r:id="rId31"/>
    <p:sldId id="1799" r:id="rId32"/>
    <p:sldId id="1800" r:id="rId33"/>
    <p:sldId id="1801" r:id="rId34"/>
    <p:sldId id="1802" r:id="rId35"/>
    <p:sldId id="1803" r:id="rId36"/>
    <p:sldId id="1804" r:id="rId37"/>
    <p:sldId id="1805" r:id="rId38"/>
    <p:sldId id="1806" r:id="rId39"/>
    <p:sldId id="1807" r:id="rId40"/>
    <p:sldId id="1808" r:id="rId41"/>
    <p:sldId id="1809" r:id="rId42"/>
    <p:sldId id="1810" r:id="rId43"/>
    <p:sldId id="1811" r:id="rId44"/>
    <p:sldId id="1814" r:id="rId45"/>
    <p:sldId id="1816" r:id="rId46"/>
    <p:sldId id="1817" r:id="rId47"/>
    <p:sldId id="1818" r:id="rId48"/>
    <p:sldId id="1819" r:id="rId49"/>
    <p:sldId id="1820" r:id="rId50"/>
    <p:sldId id="1821" r:id="rId51"/>
    <p:sldId id="1822" r:id="rId52"/>
    <p:sldId id="1823" r:id="rId53"/>
    <p:sldId id="1825" r:id="rId54"/>
    <p:sldId id="1826" r:id="rId55"/>
    <p:sldId id="1881" r:id="rId56"/>
    <p:sldId id="1827" r:id="rId57"/>
    <p:sldId id="1828" r:id="rId58"/>
  </p:sldIdLst>
  <p:sldSz cx="9144000" cy="6858000" type="letter"/>
  <p:notesSz cx="9163050" cy="6877050"/>
  <p:custDataLst>
    <p:tags r:id="rId63"/>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79"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79"/>
        <p:guide pos="288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122.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handoutMaster" Target="handoutMasters/handoutMaster1.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22.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tags" Target="../tags/tag36.xml"/><Relationship Id="rId1" Type="http://schemas.openxmlformats.org/officeDocument/2006/relationships/tags" Target="../tags/tag3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42.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46.xml"/><Relationship Id="rId1" Type="http://schemas.openxmlformats.org/officeDocument/2006/relationships/tags" Target="../tags/tag4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6.xml"/><Relationship Id="rId3" Type="http://schemas.openxmlformats.org/officeDocument/2006/relationships/image" Target="../media/image10.png"/><Relationship Id="rId2" Type="http://schemas.openxmlformats.org/officeDocument/2006/relationships/tags" Target="../tags/tag65.xml"/><Relationship Id="rId1" Type="http://schemas.openxmlformats.org/officeDocument/2006/relationships/tags" Target="../tags/tag6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image" Target="../media/image11.png"/><Relationship Id="rId2" Type="http://schemas.openxmlformats.org/officeDocument/2006/relationships/tags" Target="../tags/tag70.xml"/><Relationship Id="rId1" Type="http://schemas.openxmlformats.org/officeDocument/2006/relationships/tags" Target="../tags/tag69.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5.xml"/><Relationship Id="rId3" Type="http://schemas.openxmlformats.org/officeDocument/2006/relationships/image" Target="../media/image12.png"/><Relationship Id="rId2" Type="http://schemas.openxmlformats.org/officeDocument/2006/relationships/tags" Target="../tags/tag84.xml"/><Relationship Id="rId1" Type="http://schemas.openxmlformats.org/officeDocument/2006/relationships/tags" Target="../tags/tag83.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2.xml"/><Relationship Id="rId3" Type="http://schemas.openxmlformats.org/officeDocument/2006/relationships/image" Target="../media/image14.emf"/><Relationship Id="rId2" Type="http://schemas.openxmlformats.org/officeDocument/2006/relationships/tags" Target="../tags/tag101.xml"/><Relationship Id="rId1" Type="http://schemas.openxmlformats.org/officeDocument/2006/relationships/tags" Target="../tags/tag10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4.xml"/><Relationship Id="rId1" Type="http://schemas.openxmlformats.org/officeDocument/2006/relationships/tags" Target="../tags/tag103.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tags" Target="../tags/tag105.xml"/></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image" Target="../media/image15.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5.xml"/><Relationship Id="rId1" Type="http://schemas.openxmlformats.org/officeDocument/2006/relationships/tags" Target="../tags/tag114.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tags" Target="../tags/tag118.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1.xml"/><Relationship Id="rId1" Type="http://schemas.openxmlformats.org/officeDocument/2006/relationships/tags" Target="../tags/tag1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456690"/>
            <a:ext cx="8229600" cy="27863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Software process models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软件过程模型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Process activities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过程活动</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Coping with change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应对变化</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Process improvement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过程改进</a:t>
            </a:r>
            <a:endParaRPr lang="zh-CN" altLang="en-US" sz="3200" dirty="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7371715"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software process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软件过程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17411" name="Rectangle 3"/>
          <p:cNvSpPr>
            <a:spLocks noGrp="1" noChangeArrowheads="1"/>
          </p:cNvSpPr>
          <p:nvPr/>
        </p:nvSpPr>
        <p:spPr>
          <a:xfrm>
            <a:off x="160020" y="1313180"/>
            <a:ext cx="8827770" cy="47910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8000"/>
              </a:lnSpc>
              <a:spcBef>
                <a:spcPts val="800"/>
              </a:spcBef>
              <a:spcAft>
                <a:spcPts val="0"/>
              </a:spcAft>
            </a:pPr>
            <a:r>
              <a:rPr lang="en-US" altLang="en-GB" sz="2900" b="0" smtClean="0">
                <a:solidFill>
                  <a:schemeClr val="tx2">
                    <a:lumMod val="75000"/>
                    <a:lumOff val="25000"/>
                  </a:schemeClr>
                </a:solidFill>
                <a:latin typeface="Calibri" panose="020F0502020204030204" charset="0"/>
                <a:cs typeface="Calibri" panose="020F0502020204030204" charset="0"/>
              </a:rPr>
              <a:t> </a:t>
            </a:r>
            <a:r>
              <a:rPr lang="en-GB" sz="2900" b="0" smtClean="0">
                <a:solidFill>
                  <a:schemeClr val="tx2">
                    <a:lumMod val="75000"/>
                    <a:lumOff val="25000"/>
                  </a:schemeClr>
                </a:solidFill>
                <a:latin typeface="Calibri" panose="020F0502020204030204" charset="0"/>
                <a:cs typeface="Calibri" panose="020F0502020204030204" charset="0"/>
              </a:rPr>
              <a:t>A structured set of activities required to develop a software system.</a:t>
            </a:r>
            <a:r>
              <a:rPr lang="en-GB" sz="2900" smtClean="0">
                <a:solidFill>
                  <a:schemeClr val="tx2">
                    <a:lumMod val="75000"/>
                    <a:lumOff val="25000"/>
                  </a:schemeClr>
                </a:solidFill>
                <a:latin typeface="Calibri" panose="020F0502020204030204" charset="0"/>
                <a:cs typeface="Calibri" panose="020F0502020204030204" charset="0"/>
              </a:rPr>
              <a:t> </a:t>
            </a:r>
            <a:r>
              <a:rPr lang="en-US" altLang="en-GB" sz="290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开发软件的一组活动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8000"/>
              </a:lnSpc>
              <a:spcBef>
                <a:spcPts val="800"/>
              </a:spcBef>
              <a:spcAft>
                <a:spcPts val="0"/>
              </a:spcAft>
            </a:pPr>
            <a:r>
              <a:rPr lang="en-US" altLang="en-GB" sz="2900" smtClean="0">
                <a:solidFill>
                  <a:schemeClr val="tx2">
                    <a:lumMod val="75000"/>
                    <a:lumOff val="25000"/>
                  </a:schemeClr>
                </a:solidFill>
                <a:latin typeface="Calibri" panose="020F0502020204030204" charset="0"/>
                <a:cs typeface="Calibri" panose="020F0502020204030204" charset="0"/>
              </a:rPr>
              <a:t> </a:t>
            </a:r>
            <a:r>
              <a:rPr lang="en-GB" sz="2900" b="0" smtClean="0">
                <a:solidFill>
                  <a:schemeClr val="tx2">
                    <a:lumMod val="75000"/>
                    <a:lumOff val="25000"/>
                  </a:schemeClr>
                </a:solidFill>
                <a:latin typeface="Calibri" panose="020F0502020204030204" charset="0"/>
                <a:cs typeface="Calibri" panose="020F0502020204030204" charset="0"/>
              </a:rPr>
              <a:t>Many different software processes but all involve:</a:t>
            </a:r>
            <a:endParaRPr lang="en-GB" sz="2900" b="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500" b="0" smtClean="0">
                <a:latin typeface="Calibri" panose="020F0502020204030204" charset="0"/>
                <a:cs typeface="Calibri" panose="020F0502020204030204" charset="0"/>
              </a:rPr>
              <a:t>Specification – defining what the system should do;</a:t>
            </a:r>
            <a:r>
              <a:rPr lang="en-US" altLang="en-GB" sz="2500" b="0" smtClean="0">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规格说明</a:t>
            </a:r>
            <a:endParaRPr lang="en-GB" sz="2500" b="0" smtClean="0">
              <a:latin typeface="Calibri" panose="020F0502020204030204" charset="0"/>
              <a:cs typeface="Calibri" panose="020F0502020204030204" charset="0"/>
            </a:endParaRPr>
          </a:p>
          <a:p>
            <a:pPr lvl="1">
              <a:lnSpc>
                <a:spcPct val="88000"/>
              </a:lnSpc>
              <a:spcBef>
                <a:spcPts val="800"/>
              </a:spcBef>
              <a:spcAft>
                <a:spcPts val="0"/>
              </a:spcAft>
            </a:pPr>
            <a:r>
              <a:rPr lang="en-GB" sz="2500" b="0" smtClean="0">
                <a:latin typeface="Calibri" panose="020F0502020204030204" charset="0"/>
                <a:cs typeface="Calibri" panose="020F0502020204030204" charset="0"/>
              </a:rPr>
              <a:t>Design and implementation – defining the organization of the system and implementing the system;</a:t>
            </a:r>
            <a:r>
              <a:rPr lang="en-US" altLang="en-GB" sz="2500" b="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设计和实现</a:t>
            </a:r>
            <a:endParaRPr lang="en-GB" sz="2500" b="0" smtClean="0">
              <a:latin typeface="Calibri" panose="020F0502020204030204" charset="0"/>
              <a:cs typeface="Calibri" panose="020F0502020204030204" charset="0"/>
            </a:endParaRPr>
          </a:p>
          <a:p>
            <a:pPr lvl="1">
              <a:lnSpc>
                <a:spcPct val="88000"/>
              </a:lnSpc>
              <a:spcBef>
                <a:spcPts val="800"/>
              </a:spcBef>
              <a:spcAft>
                <a:spcPts val="0"/>
              </a:spcAft>
            </a:pPr>
            <a:r>
              <a:rPr lang="en-GB" sz="2500" b="0" smtClean="0">
                <a:latin typeface="Calibri" panose="020F0502020204030204" charset="0"/>
                <a:cs typeface="Calibri" panose="020F0502020204030204" charset="0"/>
              </a:rPr>
              <a:t>Validation – checking it does what the customer wants;</a:t>
            </a:r>
            <a:r>
              <a:rPr lang="en-US" altLang="en-GB" sz="2500" b="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确认</a:t>
            </a:r>
            <a:endParaRPr lang="en-GB" sz="2500" b="0" smtClean="0">
              <a:latin typeface="Calibri" panose="020F0502020204030204" charset="0"/>
              <a:cs typeface="Calibri" panose="020F0502020204030204" charset="0"/>
            </a:endParaRPr>
          </a:p>
          <a:p>
            <a:pPr lvl="1">
              <a:lnSpc>
                <a:spcPct val="88000"/>
              </a:lnSpc>
              <a:spcBef>
                <a:spcPts val="800"/>
              </a:spcBef>
              <a:spcAft>
                <a:spcPts val="0"/>
              </a:spcAft>
            </a:pPr>
            <a:r>
              <a:rPr lang="en-GB" sz="2500" b="0" smtClean="0">
                <a:latin typeface="Calibri" panose="020F0502020204030204" charset="0"/>
                <a:cs typeface="Calibri" panose="020F0502020204030204" charset="0"/>
              </a:rPr>
              <a:t>Evolution – changing the system in response to changing customer needs.</a:t>
            </a:r>
            <a:r>
              <a:rPr lang="en-US" altLang="en-GB" sz="2500" b="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演化</a:t>
            </a:r>
            <a:endParaRPr lang="en-GB" sz="2500" b="0" smtClean="0">
              <a:latin typeface="Calibri" panose="020F0502020204030204" charset="0"/>
              <a:cs typeface="Calibri" panose="020F0502020204030204" charset="0"/>
            </a:endParaRPr>
          </a:p>
          <a:p>
            <a:pPr>
              <a:lnSpc>
                <a:spcPct val="88000"/>
              </a:lnSpc>
              <a:spcBef>
                <a:spcPts val="800"/>
              </a:spcBef>
              <a:spcAft>
                <a:spcPts val="0"/>
              </a:spcAft>
            </a:pPr>
            <a:r>
              <a:rPr lang="en-US" altLang="en-GB" sz="2900" b="0" smtClean="0">
                <a:solidFill>
                  <a:schemeClr val="tx2">
                    <a:lumMod val="75000"/>
                    <a:lumOff val="25000"/>
                  </a:schemeClr>
                </a:solidFill>
                <a:latin typeface="Calibri" panose="020F0502020204030204" charset="0"/>
                <a:cs typeface="Calibri" panose="020F0502020204030204" charset="0"/>
              </a:rPr>
              <a:t> </a:t>
            </a:r>
            <a:r>
              <a:rPr lang="en-GB" sz="2900" b="0" u="sng" smtClean="0">
                <a:solidFill>
                  <a:schemeClr val="tx2">
                    <a:lumMod val="75000"/>
                    <a:lumOff val="25000"/>
                  </a:schemeClr>
                </a:solidFill>
                <a:latin typeface="Calibri" panose="020F0502020204030204" charset="0"/>
                <a:cs typeface="Calibri" panose="020F0502020204030204" charset="0"/>
              </a:rPr>
              <a:t>A software process model</a:t>
            </a:r>
            <a:r>
              <a:rPr lang="en-GB" sz="2900" b="0" smtClean="0">
                <a:solidFill>
                  <a:schemeClr val="tx2">
                    <a:lumMod val="75000"/>
                    <a:lumOff val="25000"/>
                  </a:schemeClr>
                </a:solidFill>
                <a:latin typeface="Calibri" panose="020F0502020204030204" charset="0"/>
                <a:cs typeface="Calibri" panose="020F0502020204030204" charset="0"/>
              </a:rPr>
              <a:t> is an abstract representation of a process. </a:t>
            </a:r>
            <a:r>
              <a:rPr lang="en-US" altLang="en-GB" sz="2900" b="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软件过程模型：过程的抽象表示</a:t>
            </a:r>
            <a:r>
              <a:rPr lang="en-US" altLang="en-GB" sz="2900" b="0" smtClean="0">
                <a:solidFill>
                  <a:schemeClr val="tx2">
                    <a:lumMod val="75000"/>
                    <a:lumOff val="25000"/>
                  </a:schemeClr>
                </a:solidFill>
                <a:latin typeface="Calibri" panose="020F0502020204030204" charset="0"/>
                <a:cs typeface="Calibri" panose="020F0502020204030204" charset="0"/>
              </a:rPr>
              <a:t>    </a:t>
            </a:r>
            <a:endParaRPr lang="en-US" altLang="en-GB" sz="2900" b="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56742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process descriptions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过程描述</a:t>
            </a:r>
            <a:r>
              <a:rPr lang="en-US" altLang="zh-CN" sz="3200" dirty="0">
                <a:solidFill>
                  <a:schemeClr val="accent1">
                    <a:lumMod val="75000"/>
                  </a:schemeClr>
                </a:solidFill>
                <a:ea typeface="宋体" panose="02010600030101010101" pitchFamily="2" charset="-122"/>
                <a:sym typeface="+mn-ea"/>
              </a:rPr>
              <a:t> </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51765" y="1313180"/>
            <a:ext cx="8837295" cy="49993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100" smtClean="0">
                <a:solidFill>
                  <a:schemeClr val="tx2">
                    <a:lumMod val="75000"/>
                    <a:lumOff val="25000"/>
                  </a:schemeClr>
                </a:solidFill>
                <a:latin typeface="Calibri" panose="020F0502020204030204" charset="0"/>
                <a:cs typeface="Calibri" panose="020F0502020204030204" charset="0"/>
              </a:rPr>
              <a:t> </a:t>
            </a:r>
            <a:r>
              <a:rPr lang="en-GB" sz="3100" smtClean="0">
                <a:solidFill>
                  <a:schemeClr val="tx2">
                    <a:lumMod val="75000"/>
                    <a:lumOff val="25000"/>
                  </a:schemeClr>
                </a:solidFill>
                <a:latin typeface="Calibri" panose="020F0502020204030204" charset="0"/>
                <a:cs typeface="Calibri" panose="020F0502020204030204" charset="0"/>
              </a:rPr>
              <a:t>When discuss processes, we usually talk about the </a:t>
            </a:r>
            <a:r>
              <a:rPr lang="en-GB" sz="3100" u="sng" smtClean="0">
                <a:solidFill>
                  <a:schemeClr val="tx2">
                    <a:lumMod val="75000"/>
                    <a:lumOff val="25000"/>
                  </a:schemeClr>
                </a:solidFill>
                <a:latin typeface="Calibri" panose="020F0502020204030204" charset="0"/>
                <a:cs typeface="Calibri" panose="020F0502020204030204" charset="0"/>
              </a:rPr>
              <a:t>activities</a:t>
            </a:r>
            <a:r>
              <a:rPr lang="en-GB" sz="3100" smtClean="0">
                <a:solidFill>
                  <a:schemeClr val="tx2">
                    <a:lumMod val="75000"/>
                    <a:lumOff val="25000"/>
                  </a:schemeClr>
                </a:solidFill>
                <a:latin typeface="Calibri" panose="020F0502020204030204" charset="0"/>
                <a:cs typeface="Calibri" panose="020F0502020204030204" charset="0"/>
              </a:rPr>
              <a:t> in these processes such as specifying a data model, designing a user interface, etc. and the </a:t>
            </a:r>
            <a:r>
              <a:rPr lang="en-GB" sz="3100" u="sng" smtClean="0">
                <a:solidFill>
                  <a:schemeClr val="tx2">
                    <a:lumMod val="75000"/>
                    <a:lumOff val="25000"/>
                  </a:schemeClr>
                </a:solidFill>
                <a:latin typeface="Calibri" panose="020F0502020204030204" charset="0"/>
                <a:cs typeface="Calibri" panose="020F0502020204030204" charset="0"/>
              </a:rPr>
              <a:t>ordering</a:t>
            </a:r>
            <a:r>
              <a:rPr lang="en-GB" sz="3100" smtClean="0">
                <a:solidFill>
                  <a:schemeClr val="tx2">
                    <a:lumMod val="75000"/>
                    <a:lumOff val="25000"/>
                  </a:schemeClr>
                </a:solidFill>
                <a:latin typeface="Calibri" panose="020F0502020204030204" charset="0"/>
                <a:cs typeface="Calibri" panose="020F0502020204030204" charset="0"/>
              </a:rPr>
              <a:t> of these activities.</a:t>
            </a:r>
            <a:r>
              <a:rPr lang="en-US" altLang="en-GB" sz="310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通常指</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活动及次序</a:t>
            </a:r>
            <a:endParaRPr lang="en-GB" sz="3100" smtClean="0">
              <a:solidFill>
                <a:schemeClr val="tx2">
                  <a:lumMod val="75000"/>
                  <a:lumOff val="2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200" smtClean="0">
                <a:solidFill>
                  <a:schemeClr val="tx2">
                    <a:lumMod val="75000"/>
                    <a:lumOff val="25000"/>
                  </a:schemeClr>
                </a:solidFill>
                <a:latin typeface="Calibri" panose="020F0502020204030204" charset="0"/>
                <a:cs typeface="Calibri" panose="020F0502020204030204" charset="0"/>
              </a:rPr>
              <a:t> </a:t>
            </a:r>
            <a:r>
              <a:rPr lang="en-GB" sz="3100" smtClean="0">
                <a:solidFill>
                  <a:schemeClr val="tx2">
                    <a:lumMod val="75000"/>
                    <a:lumOff val="25000"/>
                  </a:schemeClr>
                </a:solidFill>
                <a:latin typeface="Calibri" panose="020F0502020204030204" charset="0"/>
                <a:cs typeface="Calibri" panose="020F0502020204030204" charset="0"/>
              </a:rPr>
              <a:t>Process descriptions may also include:</a:t>
            </a:r>
            <a:r>
              <a:rPr lang="en-US" altLang="en-GB" sz="310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还包括</a:t>
            </a:r>
            <a:endParaRPr lang="en-GB" sz="310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u="sng" smtClean="0">
                <a:latin typeface="Calibri" panose="020F0502020204030204" charset="0"/>
                <a:cs typeface="Calibri" panose="020F0502020204030204" charset="0"/>
              </a:rPr>
              <a:t>Products</a:t>
            </a:r>
            <a:r>
              <a:rPr lang="en-GB" sz="2800" b="0" smtClean="0">
                <a:latin typeface="Calibri" panose="020F0502020204030204" charset="0"/>
                <a:cs typeface="Calibri" panose="020F0502020204030204" charset="0"/>
              </a:rPr>
              <a:t>, the outcomes of a process activity; </a:t>
            </a:r>
            <a:r>
              <a:rPr lang="en-US" altLang="en-GB" sz="2800" b="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产物</a:t>
            </a:r>
            <a:endParaRPr lang="en-GB" sz="2800" b="0" smtClean="0">
              <a:latin typeface="Calibri" panose="020F0502020204030204" charset="0"/>
              <a:cs typeface="Calibri" panose="020F0502020204030204" charset="0"/>
            </a:endParaRPr>
          </a:p>
          <a:p>
            <a:pPr lvl="1">
              <a:lnSpc>
                <a:spcPct val="90000"/>
              </a:lnSpc>
              <a:spcBef>
                <a:spcPts val="800"/>
              </a:spcBef>
              <a:spcAft>
                <a:spcPts val="0"/>
              </a:spcAft>
            </a:pPr>
            <a:r>
              <a:rPr lang="en-GB" sz="2800" b="0" u="sng" smtClean="0">
                <a:latin typeface="Calibri" panose="020F0502020204030204" charset="0"/>
                <a:cs typeface="Calibri" panose="020F0502020204030204" charset="0"/>
              </a:rPr>
              <a:t>Roles</a:t>
            </a:r>
            <a:r>
              <a:rPr lang="en-GB" sz="2800" b="0" smtClean="0">
                <a:latin typeface="Calibri" panose="020F0502020204030204" charset="0"/>
                <a:cs typeface="Calibri" panose="020F0502020204030204" charset="0"/>
              </a:rPr>
              <a:t>, which reflect the responsibilities of the people involved in the process;</a:t>
            </a:r>
            <a:r>
              <a:rPr lang="en-US" altLang="en-GB" sz="2800" b="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角色</a:t>
            </a:r>
            <a:endParaRPr lang="en-GB" sz="2800" b="0" smtClean="0">
              <a:latin typeface="Calibri" panose="020F0502020204030204" charset="0"/>
              <a:cs typeface="Calibri" panose="020F0502020204030204" charset="0"/>
            </a:endParaRPr>
          </a:p>
          <a:p>
            <a:pPr lvl="1">
              <a:lnSpc>
                <a:spcPct val="90000"/>
              </a:lnSpc>
              <a:spcBef>
                <a:spcPts val="800"/>
              </a:spcBef>
              <a:spcAft>
                <a:spcPts val="0"/>
              </a:spcAft>
            </a:pPr>
            <a:r>
              <a:rPr lang="en-GB" sz="2800" b="0" u="sng" smtClean="0">
                <a:latin typeface="Calibri" panose="020F0502020204030204" charset="0"/>
                <a:cs typeface="Calibri" panose="020F0502020204030204" charset="0"/>
              </a:rPr>
              <a:t>Pre- and post-conditions</a:t>
            </a:r>
            <a:r>
              <a:rPr lang="en-GB" sz="2800" b="0" smtClean="0">
                <a:latin typeface="Calibri" panose="020F0502020204030204" charset="0"/>
                <a:cs typeface="Calibri" panose="020F0502020204030204" charset="0"/>
              </a:rPr>
              <a:t>, which are statements that are true before and after a process activity has been enacted or a product produced.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前/后置条件</a:t>
            </a:r>
            <a:endParaRPr lang="zh-CN" altLang="en-US" sz="2800" b="0" dirty="0" smtClean="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0725"/>
            <a:ext cx="8801735" cy="5943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 Plan-driven and agile processes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两类过程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93345" y="1313180"/>
            <a:ext cx="8973185" cy="52666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8000"/>
              </a:lnSpc>
              <a:spcBef>
                <a:spcPts val="800"/>
              </a:spcBef>
              <a:spcAft>
                <a:spcPts val="0"/>
              </a:spcAft>
            </a:pPr>
            <a:r>
              <a:rPr lang="en-US" altLang="en-GB" sz="3100" smtClean="0">
                <a:solidFill>
                  <a:schemeClr val="tx2">
                    <a:lumMod val="75000"/>
                    <a:lumOff val="25000"/>
                  </a:schemeClr>
                </a:solidFill>
                <a:latin typeface="Calibri" panose="020F0502020204030204" charset="0"/>
                <a:cs typeface="Calibri" panose="020F0502020204030204" charset="0"/>
              </a:rPr>
              <a:t>Professional Professional software development is a managed activity, so planning is an inherent part of all processes.</a:t>
            </a:r>
            <a:r>
              <a:rPr lang="en-US" altLang="en-GB" sz="320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计划是所有过程的固有部分</a:t>
            </a:r>
            <a:endParaRPr lang="en-US" altLang="en-GB" sz="3200" smtClean="0">
              <a:solidFill>
                <a:schemeClr val="tx2">
                  <a:lumMod val="75000"/>
                  <a:lumOff val="25000"/>
                </a:schemeClr>
              </a:solidFill>
              <a:latin typeface="Calibri" panose="020F0502020204030204" charset="0"/>
              <a:cs typeface="Calibri" panose="020F0502020204030204" charset="0"/>
            </a:endParaRPr>
          </a:p>
          <a:p>
            <a:pPr lvl="1" algn="l">
              <a:lnSpc>
                <a:spcPct val="88000"/>
              </a:lnSpc>
              <a:spcBef>
                <a:spcPts val="800"/>
              </a:spcBef>
              <a:spcAft>
                <a:spcPts val="0"/>
              </a:spcAft>
            </a:pPr>
            <a:r>
              <a:rPr lang="en-GB" sz="2800" b="0" u="sng" smtClean="0">
                <a:latin typeface="Calibri" panose="020F0502020204030204" charset="0"/>
                <a:cs typeface="Calibri" panose="020F0502020204030204" charset="0"/>
                <a:sym typeface="+mn-ea"/>
              </a:rPr>
              <a:t>Plan-driven processes</a:t>
            </a:r>
            <a:r>
              <a:rPr lang="en-GB" sz="2800" b="0" smtClean="0">
                <a:latin typeface="Calibri" panose="020F0502020204030204" charset="0"/>
                <a:cs typeface="Calibri" panose="020F0502020204030204" charset="0"/>
                <a:sym typeface="+mn-ea"/>
              </a:rPr>
              <a:t> are processes where all of the process activities are </a:t>
            </a:r>
            <a:r>
              <a:rPr lang="en-GB" sz="2800" b="0" u="sng" smtClean="0">
                <a:latin typeface="Calibri" panose="020F0502020204030204" charset="0"/>
                <a:cs typeface="Calibri" panose="020F0502020204030204" charset="0"/>
                <a:sym typeface="+mn-ea"/>
              </a:rPr>
              <a:t>planned</a:t>
            </a:r>
            <a:r>
              <a:rPr lang="en-GB" sz="2800" b="0" smtClean="0">
                <a:latin typeface="Calibri" panose="020F0502020204030204" charset="0"/>
                <a:cs typeface="Calibri" panose="020F0502020204030204" charset="0"/>
                <a:sym typeface="+mn-ea"/>
              </a:rPr>
              <a:t> in advance and progress is </a:t>
            </a:r>
            <a:r>
              <a:rPr lang="en-GB" sz="2800" b="0" u="sng" smtClean="0">
                <a:latin typeface="Calibri" panose="020F0502020204030204" charset="0"/>
                <a:cs typeface="Calibri" panose="020F0502020204030204" charset="0"/>
                <a:sym typeface="+mn-ea"/>
              </a:rPr>
              <a:t>measured</a:t>
            </a:r>
            <a:r>
              <a:rPr lang="en-GB" sz="2800" b="0" smtClean="0">
                <a:latin typeface="Calibri" panose="020F0502020204030204" charset="0"/>
                <a:cs typeface="Calibri" panose="020F0502020204030204" charset="0"/>
                <a:sym typeface="+mn-ea"/>
              </a:rPr>
              <a:t> against this plan; </a:t>
            </a:r>
            <a:r>
              <a:rPr lang="en-US" altLang="en-GB" sz="2800" b="0" smtClean="0">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计划驱动的过程</a:t>
            </a:r>
            <a:endParaRPr lang="zh-CN" altLang="en-US" sz="2400" b="0" kern="0" dirty="0">
              <a:solidFill>
                <a:schemeClr val="accent1">
                  <a:lumMod val="75000"/>
                </a:schemeClr>
              </a:solidFill>
              <a:latin typeface="黑体" panose="02010609060101010101" pitchFamily="49" charset="-122"/>
              <a:ea typeface="黑体" panose="02010609060101010101" pitchFamily="49" charset="-122"/>
              <a:cs typeface="+mn-cs"/>
            </a:endParaRPr>
          </a:p>
          <a:p>
            <a:pPr lvl="1" algn="l">
              <a:lnSpc>
                <a:spcPct val="88000"/>
              </a:lnSpc>
              <a:spcBef>
                <a:spcPts val="800"/>
              </a:spcBef>
              <a:spcAft>
                <a:spcPts val="0"/>
              </a:spcAft>
            </a:pPr>
            <a:r>
              <a:rPr lang="en-GB" sz="2800" b="0" smtClean="0">
                <a:latin typeface="Calibri" panose="020F0502020204030204" charset="0"/>
                <a:cs typeface="Calibri" panose="020F0502020204030204" charset="0"/>
                <a:sym typeface="+mn-ea"/>
              </a:rPr>
              <a:t>In </a:t>
            </a:r>
            <a:r>
              <a:rPr lang="en-GB" sz="2800" b="0" u="sng" smtClean="0">
                <a:latin typeface="Calibri" panose="020F0502020204030204" charset="0"/>
                <a:cs typeface="Calibri" panose="020F0502020204030204" charset="0"/>
                <a:sym typeface="+mn-ea"/>
              </a:rPr>
              <a:t>agile processes</a:t>
            </a:r>
            <a:r>
              <a:rPr lang="en-GB" sz="2800" b="0" smtClean="0">
                <a:latin typeface="Calibri" panose="020F0502020204030204" charset="0"/>
                <a:cs typeface="Calibri" panose="020F0502020204030204" charset="0"/>
                <a:sym typeface="+mn-ea"/>
              </a:rPr>
              <a:t>, planning is </a:t>
            </a:r>
            <a:r>
              <a:rPr lang="en-GB" sz="2800" b="0" u="sng" smtClean="0">
                <a:latin typeface="Calibri" panose="020F0502020204030204" charset="0"/>
                <a:cs typeface="Calibri" panose="020F0502020204030204" charset="0"/>
                <a:sym typeface="+mn-ea"/>
              </a:rPr>
              <a:t>incremental</a:t>
            </a:r>
            <a:r>
              <a:rPr lang="en-GB" sz="2800" b="0" smtClean="0">
                <a:latin typeface="Calibri" panose="020F0502020204030204" charset="0"/>
                <a:cs typeface="Calibri" panose="020F0502020204030204" charset="0"/>
                <a:sym typeface="+mn-ea"/>
              </a:rPr>
              <a:t> and it is easier to </a:t>
            </a:r>
            <a:r>
              <a:rPr lang="en-GB" sz="2800" b="0" u="sng" smtClean="0">
                <a:latin typeface="Calibri" panose="020F0502020204030204" charset="0"/>
                <a:cs typeface="Calibri" panose="020F0502020204030204" charset="0"/>
                <a:sym typeface="+mn-ea"/>
              </a:rPr>
              <a:t>change</a:t>
            </a:r>
            <a:r>
              <a:rPr lang="en-GB" sz="2800" b="0" smtClean="0">
                <a:latin typeface="Calibri" panose="020F0502020204030204" charset="0"/>
                <a:cs typeface="Calibri" panose="020F0502020204030204" charset="0"/>
                <a:sym typeface="+mn-ea"/>
              </a:rPr>
              <a:t> the process to reflect changing customer requirements</a:t>
            </a:r>
            <a:r>
              <a:rPr lang="en-US" altLang="en-GB" sz="2800" b="0" smtClean="0">
                <a:latin typeface="Calibri" panose="020F0502020204030204" charset="0"/>
                <a:cs typeface="Calibri" panose="020F0502020204030204" charset="0"/>
                <a:sym typeface="+mn-ea"/>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敏捷过程</a:t>
            </a:r>
            <a:endParaRPr lang="en-US" altLang="en-GB" sz="3200" smtClean="0">
              <a:solidFill>
                <a:schemeClr val="tx2">
                  <a:lumMod val="75000"/>
                  <a:lumOff val="25000"/>
                </a:schemeClr>
              </a:solidFill>
              <a:latin typeface="Calibri" panose="020F0502020204030204" charset="0"/>
              <a:cs typeface="Calibri" panose="020F0502020204030204" charset="0"/>
            </a:endParaRPr>
          </a:p>
          <a:p>
            <a:pPr>
              <a:lnSpc>
                <a:spcPct val="88000"/>
              </a:lnSpc>
              <a:spcBef>
                <a:spcPts val="800"/>
              </a:spcBef>
              <a:spcAft>
                <a:spcPts val="0"/>
              </a:spcAft>
            </a:pPr>
            <a:r>
              <a:rPr lang="en-GB" sz="3100" smtClean="0">
                <a:solidFill>
                  <a:schemeClr val="tx2">
                    <a:lumMod val="75000"/>
                    <a:lumOff val="25000"/>
                  </a:schemeClr>
                </a:solidFill>
                <a:latin typeface="Calibri" panose="020F0502020204030204" charset="0"/>
                <a:cs typeface="Calibri" panose="020F0502020204030204" charset="0"/>
              </a:rPr>
              <a:t>Generally, for large systems, you need to find a </a:t>
            </a:r>
            <a:r>
              <a:rPr lang="en-GB" sz="3100" u="sng" smtClean="0">
                <a:solidFill>
                  <a:schemeClr val="tx2">
                    <a:lumMod val="75000"/>
                    <a:lumOff val="25000"/>
                  </a:schemeClr>
                </a:solidFill>
                <a:latin typeface="Calibri" panose="020F0502020204030204" charset="0"/>
                <a:cs typeface="Calibri" panose="020F0502020204030204" charset="0"/>
              </a:rPr>
              <a:t>balance</a:t>
            </a:r>
            <a:r>
              <a:rPr lang="en-US" altLang="en-GB" sz="3100" smtClean="0">
                <a:solidFill>
                  <a:schemeClr val="tx2">
                    <a:lumMod val="75000"/>
                    <a:lumOff val="25000"/>
                  </a:schemeClr>
                </a:solidFill>
                <a:latin typeface="Calibri" panose="020F0502020204030204" charset="0"/>
                <a:cs typeface="Calibri" panose="020F0502020204030204" charset="0"/>
              </a:rPr>
              <a:t> </a:t>
            </a:r>
            <a:r>
              <a:rPr lang="en-GB" sz="3100" smtClean="0">
                <a:solidFill>
                  <a:schemeClr val="tx2">
                    <a:lumMod val="75000"/>
                    <a:lumOff val="25000"/>
                  </a:schemeClr>
                </a:solidFill>
                <a:latin typeface="Calibri" panose="020F0502020204030204" charset="0"/>
                <a:cs typeface="Calibri" panose="020F0502020204030204" charset="0"/>
              </a:rPr>
              <a:t>between plan-driven and agile processes.</a:t>
            </a:r>
            <a:r>
              <a:rPr lang="en-US" altLang="en-GB" sz="310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对于大系统，要做权衡</a:t>
            </a:r>
            <a:endParaRPr lang="zh-CN" altLang="en-US" sz="310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75640"/>
            <a:ext cx="8785225" cy="5308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process models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软件过程模型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25603" name="Rectangle 3"/>
          <p:cNvSpPr>
            <a:spLocks noGrp="1" noChangeArrowheads="1"/>
          </p:cNvSpPr>
          <p:nvPr/>
        </p:nvSpPr>
        <p:spPr>
          <a:xfrm>
            <a:off x="88265" y="1241425"/>
            <a:ext cx="8994140" cy="54381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The waterfall model</a:t>
            </a: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瀑布模型</a:t>
            </a:r>
            <a:endParaRPr lang="en-GB" sz="3100" dirty="0" smtClean="0">
              <a:solidFill>
                <a:schemeClr val="tx2">
                  <a:lumMod val="75000"/>
                  <a:lumOff val="2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800" dirty="0" smtClean="0">
                <a:latin typeface="Calibri" panose="020F0502020204030204" charset="0"/>
                <a:cs typeface="Calibri" panose="020F0502020204030204" charset="0"/>
              </a:rPr>
              <a:t>Plan-driven model. </a:t>
            </a:r>
            <a:r>
              <a:rPr lang="en-US" altLang="en-GB" sz="2800" dirty="0" smtClean="0">
                <a:latin typeface="Calibri" panose="020F0502020204030204" charset="0"/>
                <a:cs typeface="Calibri" panose="020F0502020204030204" charset="0"/>
              </a:rPr>
              <a:t>T</a:t>
            </a:r>
            <a:r>
              <a:rPr lang="en-GB" sz="2800" dirty="0" smtClean="0">
                <a:latin typeface="Calibri" panose="020F0502020204030204" charset="0"/>
                <a:cs typeface="Calibri" panose="020F0502020204030204" charset="0"/>
              </a:rPr>
              <a:t>akes the fundamental process activities </a:t>
            </a:r>
            <a:r>
              <a:rPr lang="en-US" altLang="en-GB" sz="2800" dirty="0" smtClean="0">
                <a:latin typeface="Calibri" panose="020F0502020204030204" charset="0"/>
                <a:cs typeface="Calibri" panose="020F0502020204030204" charset="0"/>
              </a:rPr>
              <a:t>and </a:t>
            </a:r>
            <a:r>
              <a:rPr lang="en-GB" sz="2800" dirty="0" smtClean="0">
                <a:latin typeface="Calibri" panose="020F0502020204030204" charset="0"/>
                <a:cs typeface="Calibri" panose="020F0502020204030204" charset="0"/>
              </a:rPr>
              <a:t>represents them as separate</a:t>
            </a:r>
            <a:r>
              <a:rPr lang="en-US" altLang="en-GB" sz="2800" dirty="0" smtClean="0">
                <a:latin typeface="Calibri" panose="020F0502020204030204" charset="0"/>
                <a:cs typeface="Calibri" panose="020F0502020204030204" charset="0"/>
              </a:rPr>
              <a:t> </a:t>
            </a:r>
            <a:r>
              <a:rPr lang="en-GB" sz="2800" dirty="0" smtClean="0">
                <a:latin typeface="Calibri" panose="020F0502020204030204" charset="0"/>
                <a:cs typeface="Calibri" panose="020F0502020204030204" charset="0"/>
              </a:rPr>
              <a:t>process phases</a:t>
            </a:r>
            <a:r>
              <a:rPr lang="en-US" altLang="en-GB" sz="2800" dirty="0" smtClean="0">
                <a:latin typeface="Calibri" panose="020F0502020204030204" charset="0"/>
                <a:cs typeface="Calibri" panose="020F0502020204030204" charset="0"/>
              </a:rPr>
              <a:t> (</a:t>
            </a:r>
            <a:r>
              <a:rPr lang="en-US" altLang="en-GB" sz="1800" b="0" dirty="0" smtClean="0">
                <a:latin typeface="Calibri" panose="020F0502020204030204" charset="0"/>
                <a:cs typeface="Calibri" panose="020F0502020204030204" charset="0"/>
              </a:rPr>
              <a:t>requirements specification, software design, implementation, testing</a:t>
            </a:r>
            <a:r>
              <a:rPr lang="en-US" altLang="en-GB" sz="2800" dirty="0" smtClean="0">
                <a:latin typeface="Calibri" panose="020F0502020204030204" charset="0"/>
                <a:cs typeface="Calibri" panose="020F0502020204030204" charset="0"/>
              </a:rPr>
              <a:t>)</a:t>
            </a:r>
            <a:endParaRPr lang="en-GB" sz="280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Incremental development</a:t>
            </a: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增量式开发</a:t>
            </a:r>
            <a:endParaRPr lang="en-GB" sz="3100" dirty="0" smtClean="0">
              <a:solidFill>
                <a:schemeClr val="tx2">
                  <a:lumMod val="75000"/>
                  <a:lumOff val="2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800" dirty="0" smtClean="0">
                <a:latin typeface="Calibri" panose="020F0502020204030204" charset="0"/>
                <a:cs typeface="Calibri" panose="020F0502020204030204" charset="0"/>
              </a:rPr>
              <a:t>Specification, development and validation are interleaved. May be plan-driven or agile.</a:t>
            </a:r>
            <a:endParaRPr lang="en-GB" sz="280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Integration and configuration</a:t>
            </a: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集成和配置</a:t>
            </a:r>
            <a:endParaRPr lang="en-GB" sz="3100" dirty="0" smtClean="0">
              <a:solidFill>
                <a:schemeClr val="tx2">
                  <a:lumMod val="75000"/>
                  <a:lumOff val="2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800" dirty="0" smtClean="0">
                <a:latin typeface="Calibri" panose="020F0502020204030204" charset="0"/>
                <a:cs typeface="Calibri" panose="020F0502020204030204" charset="0"/>
              </a:rPr>
              <a:t>The system is assembled from existing configurable components. May be plan-driven or agile.</a:t>
            </a:r>
            <a:endParaRPr lang="en-GB" sz="280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smtClean="0">
                <a:solidFill>
                  <a:schemeClr val="tx2">
                    <a:lumMod val="75000"/>
                    <a:lumOff val="25000"/>
                  </a:schemeClr>
                </a:solidFill>
                <a:latin typeface="Calibri" panose="020F0502020204030204" charset="0"/>
                <a:cs typeface="Calibri" panose="020F0502020204030204" charset="0"/>
              </a:rPr>
              <a:t> </a:t>
            </a:r>
            <a:r>
              <a:rPr lang="en-GB" sz="3100" dirty="0" smtClean="0">
                <a:solidFill>
                  <a:schemeClr val="tx2">
                    <a:lumMod val="75000"/>
                    <a:lumOff val="25000"/>
                  </a:schemeClr>
                </a:solidFill>
                <a:latin typeface="Calibri" panose="020F0502020204030204" charset="0"/>
                <a:cs typeface="Calibri" panose="020F0502020204030204" charset="0"/>
              </a:rPr>
              <a:t>In practice, most large systems are developed using a process that </a:t>
            </a:r>
            <a:r>
              <a:rPr lang="en-GB" sz="3100" u="sng" dirty="0" smtClean="0">
                <a:solidFill>
                  <a:schemeClr val="tx2">
                    <a:lumMod val="75000"/>
                    <a:lumOff val="25000"/>
                  </a:schemeClr>
                </a:solidFill>
                <a:latin typeface="Calibri" panose="020F0502020204030204" charset="0"/>
                <a:cs typeface="Calibri" panose="020F0502020204030204" charset="0"/>
              </a:rPr>
              <a:t>incorporates elements</a:t>
            </a:r>
            <a:r>
              <a:rPr lang="en-GB" sz="3100" dirty="0" smtClean="0">
                <a:solidFill>
                  <a:schemeClr val="tx2">
                    <a:lumMod val="75000"/>
                    <a:lumOff val="25000"/>
                  </a:schemeClr>
                </a:solidFill>
                <a:latin typeface="Calibri" panose="020F0502020204030204" charset="0"/>
                <a:cs typeface="Calibri" panose="020F0502020204030204" charset="0"/>
              </a:rPr>
              <a:t> from all of these models.</a:t>
            </a:r>
            <a:endParaRPr lang="en-GB" sz="31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9150"/>
            <a:ext cx="8785225" cy="5308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知识链接</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25603" name="Rectangle 3"/>
          <p:cNvSpPr>
            <a:spLocks noGrp="1" noChangeArrowheads="1"/>
          </p:cNvSpPr>
          <p:nvPr/>
        </p:nvSpPr>
        <p:spPr>
          <a:xfrm>
            <a:off x="88265" y="4757420"/>
            <a:ext cx="8975725" cy="18516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600"/>
              </a:spcBef>
              <a:spcAft>
                <a:spcPts val="0"/>
              </a:spcAft>
              <a:buNone/>
            </a:pPr>
            <a:r>
              <a:rPr sz="2200" dirty="0">
                <a:latin typeface="宋体" panose="02010600030101010101" pitchFamily="2" charset="-122"/>
                <a:ea typeface="宋体" panose="02010600030101010101" pitchFamily="2" charset="-122"/>
                <a:cs typeface="宋体" panose="02010600030101010101" pitchFamily="2" charset="-122"/>
                <a:sym typeface="Symbol" panose="05050102010706020507" charset="0"/>
              </a:rPr>
              <a:t></a:t>
            </a:r>
            <a:r>
              <a:rPr lang="en-US" sz="2200" dirty="0">
                <a:latin typeface="宋体" panose="02010600030101010101" pitchFamily="2" charset="-122"/>
                <a:ea typeface="宋体" panose="02010600030101010101" pitchFamily="2" charset="-122"/>
                <a:cs typeface="宋体" panose="02010600030101010101" pitchFamily="2" charset="-122"/>
                <a:sym typeface="Symbol" panose="05050102010706020507" charset="0"/>
              </a:rPr>
              <a:t> </a:t>
            </a:r>
            <a:r>
              <a:rPr sz="2200" dirty="0">
                <a:latin typeface="华文仿宋" panose="02010600040101010101" charset="-122"/>
                <a:ea typeface="华文仿宋" panose="02010600040101010101" charset="-122"/>
                <a:cs typeface="华文仿宋" panose="02010600040101010101" charset="-122"/>
              </a:rPr>
              <a:t>有一些组织和</a:t>
            </a:r>
            <a:r>
              <a:rPr lang="zh-CN" sz="2200" dirty="0">
                <a:latin typeface="华文仿宋" panose="02010600040101010101" charset="-122"/>
                <a:ea typeface="华文仿宋" panose="02010600040101010101" charset="-122"/>
                <a:cs typeface="华文仿宋" panose="02010600040101010101" charset="-122"/>
              </a:rPr>
              <a:t>个</a:t>
            </a:r>
            <a:r>
              <a:rPr sz="2200" dirty="0">
                <a:latin typeface="华文仿宋" panose="02010600040101010101" charset="-122"/>
                <a:ea typeface="华文仿宋" panose="02010600040101010101" charset="-122"/>
                <a:cs typeface="华文仿宋" panose="02010600040101010101" charset="-122"/>
              </a:rPr>
              <a:t>人试图在所有这些通用模型基础上开发出一种“普遍适用”的过程模型</a:t>
            </a:r>
            <a:r>
              <a:rPr lang="zh-CN" sz="2200" dirty="0">
                <a:latin typeface="华文仿宋" panose="02010600040101010101" charset="-122"/>
                <a:ea typeface="华文仿宋" panose="02010600040101010101" charset="-122"/>
                <a:cs typeface="华文仿宋" panose="02010600040101010101" charset="-122"/>
              </a:rPr>
              <a:t>，其中</a:t>
            </a:r>
            <a:r>
              <a:rPr sz="2200" dirty="0">
                <a:latin typeface="华文仿宋" panose="02010600040101010101" charset="-122"/>
                <a:ea typeface="华文仿宋" panose="02010600040101010101" charset="-122"/>
                <a:cs typeface="华文仿宋" panose="02010600040101010101" charset="-122"/>
              </a:rPr>
              <a:t>最广为人知的是由美国的Rational</a:t>
            </a:r>
            <a:r>
              <a:rPr lang="zh-CN" sz="2200" dirty="0">
                <a:latin typeface="华文仿宋" panose="02010600040101010101" charset="-122"/>
                <a:ea typeface="华文仿宋" panose="02010600040101010101" charset="-122"/>
                <a:cs typeface="华文仿宋" panose="02010600040101010101" charset="-122"/>
              </a:rPr>
              <a:t>公司</a:t>
            </a:r>
            <a:r>
              <a:rPr sz="2200" dirty="0">
                <a:latin typeface="华文仿宋" panose="02010600040101010101" charset="-122"/>
                <a:ea typeface="华文仿宋" panose="02010600040101010101" charset="-122"/>
                <a:cs typeface="华文仿宋" panose="02010600040101010101" charset="-122"/>
              </a:rPr>
              <a:t>开发的Rational统一过程（Rational</a:t>
            </a:r>
            <a:r>
              <a:rPr lang="en-US" sz="2200" dirty="0">
                <a:latin typeface="华文仿宋" panose="02010600040101010101" charset="-122"/>
                <a:ea typeface="华文仿宋" panose="02010600040101010101" charset="-122"/>
                <a:cs typeface="华文仿宋" panose="02010600040101010101" charset="-122"/>
              </a:rPr>
              <a:t> </a:t>
            </a:r>
            <a:r>
              <a:rPr sz="2200" dirty="0">
                <a:latin typeface="华文仿宋" panose="02010600040101010101" charset="-122"/>
                <a:ea typeface="华文仿宋" panose="02010600040101010101" charset="-122"/>
                <a:cs typeface="华文仿宋" panose="02010600040101010101" charset="-122"/>
              </a:rPr>
              <a:t>Unified</a:t>
            </a:r>
            <a:r>
              <a:rPr lang="en-US" sz="2200" dirty="0">
                <a:latin typeface="华文仿宋" panose="02010600040101010101" charset="-122"/>
                <a:ea typeface="华文仿宋" panose="02010600040101010101" charset="-122"/>
                <a:cs typeface="华文仿宋" panose="02010600040101010101" charset="-122"/>
              </a:rPr>
              <a:t> </a:t>
            </a:r>
            <a:r>
              <a:rPr sz="2200" dirty="0">
                <a:latin typeface="华文仿宋" panose="02010600040101010101" charset="-122"/>
                <a:ea typeface="华文仿宋" panose="02010600040101010101" charset="-122"/>
                <a:cs typeface="华文仿宋" panose="02010600040101010101" charset="-122"/>
              </a:rPr>
              <a:t>Process，RUP）。RUP是一种灵活的模型，可以通过不同的方式进行实例化以创建与这里所介绍的任何一个通用过程模型相似的过程。RUP在一些大型软件公司（特别是IBM）得到了采用，但并没有被广泛接受。</a:t>
            </a:r>
            <a:endParaRPr sz="2200" dirty="0">
              <a:latin typeface="华文仿宋" panose="02010600040101010101" charset="-122"/>
              <a:ea typeface="华文仿宋" panose="02010600040101010101" charset="-122"/>
              <a:cs typeface="华文仿宋" panose="02010600040101010101" charset="-122"/>
            </a:endParaRPr>
          </a:p>
        </p:txBody>
      </p:sp>
      <p:pic>
        <p:nvPicPr>
          <p:cNvPr id="3" name="图片 2"/>
          <p:cNvPicPr>
            <a:picLocks noChangeAspect="1"/>
          </p:cNvPicPr>
          <p:nvPr/>
        </p:nvPicPr>
        <p:blipFill>
          <a:blip r:embed="rId3"/>
          <a:stretch>
            <a:fillRect/>
          </a:stretch>
        </p:blipFill>
        <p:spPr>
          <a:xfrm>
            <a:off x="160020" y="1422400"/>
            <a:ext cx="8818880" cy="315277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0735"/>
            <a:ext cx="7371715" cy="5861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waterfall model</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瀑布模型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24460" y="1539240"/>
            <a:ext cx="8896985" cy="5038725"/>
          </a:xfrm>
          <a:prstGeom prst="rect">
            <a:avLst/>
          </a:prstGeom>
        </p:spPr>
      </p:pic>
      <p:sp>
        <p:nvSpPr>
          <p:cNvPr id="5" name="文本框 4"/>
          <p:cNvSpPr txBox="1"/>
          <p:nvPr/>
        </p:nvSpPr>
        <p:spPr>
          <a:xfrm>
            <a:off x="4322445" y="1340485"/>
            <a:ext cx="4606925" cy="1630045"/>
          </a:xfrm>
          <a:prstGeom prst="rect">
            <a:avLst/>
          </a:prstGeom>
          <a:noFill/>
        </p:spPr>
        <p:txBody>
          <a:bodyPr wrap="square" rtlCol="0">
            <a:spAutoFit/>
          </a:bodyPr>
          <a:p>
            <a:r>
              <a:rPr lang="en-US" altLang="zh-CN" sz="2000" b="0">
                <a:solidFill>
                  <a:schemeClr val="tx1"/>
                </a:solidFill>
                <a:latin typeface="+mj-lt"/>
                <a:ea typeface="黑体" panose="02010609060101010101" pitchFamily="49" charset="-122"/>
                <a:cs typeface="+mj-lt"/>
                <a:sym typeface="Symbol" panose="05050102010706020507" charset="0"/>
              </a:rPr>
              <a:t></a:t>
            </a:r>
            <a:r>
              <a:rPr lang="en-US" altLang="zh-CN" sz="2000" b="0">
                <a:solidFill>
                  <a:schemeClr val="tx1"/>
                </a:solidFill>
                <a:latin typeface="+mj-lt"/>
                <a:ea typeface="黑体" panose="02010609060101010101" pitchFamily="49" charset="-122"/>
                <a:cs typeface="+mj-lt"/>
              </a:rPr>
              <a:t> It presents the software development process as a number of </a:t>
            </a:r>
            <a:r>
              <a:rPr lang="en-US" altLang="zh-CN" sz="2000" b="0" u="sng">
                <a:solidFill>
                  <a:schemeClr val="tx1"/>
                </a:solidFill>
                <a:latin typeface="+mj-lt"/>
                <a:ea typeface="黑体" panose="02010609060101010101" pitchFamily="49" charset="-122"/>
                <a:cs typeface="+mj-lt"/>
              </a:rPr>
              <a:t>stages</a:t>
            </a:r>
            <a:r>
              <a:rPr lang="en-US" altLang="zh-CN" sz="2000" b="0">
                <a:solidFill>
                  <a:schemeClr val="tx1"/>
                </a:solidFill>
                <a:latin typeface="+mj-lt"/>
                <a:ea typeface="黑体" panose="02010609060101010101" pitchFamily="49" charset="-122"/>
                <a:cs typeface="+mj-lt"/>
              </a:rPr>
              <a:t>. </a:t>
            </a:r>
            <a:endParaRPr lang="en-US" altLang="zh-CN" sz="2000" b="0">
              <a:solidFill>
                <a:schemeClr val="tx1"/>
              </a:solidFill>
              <a:latin typeface="+mj-lt"/>
              <a:ea typeface="黑体" panose="02010609060101010101" pitchFamily="49" charset="-122"/>
              <a:cs typeface="+mj-lt"/>
            </a:endParaRPr>
          </a:p>
          <a:p>
            <a:r>
              <a:rPr lang="en-US" altLang="zh-CN" sz="2000" b="0">
                <a:solidFill>
                  <a:schemeClr val="tx1"/>
                </a:solidFill>
                <a:latin typeface="+mj-lt"/>
                <a:ea typeface="黑体" panose="02010609060101010101" pitchFamily="49" charset="-122"/>
                <a:cs typeface="+mj-lt"/>
                <a:sym typeface="Symbol" panose="05050102010706020507" charset="0"/>
              </a:rPr>
              <a:t> </a:t>
            </a:r>
            <a:r>
              <a:rPr lang="en-US" altLang="zh-CN" sz="2000" b="0">
                <a:solidFill>
                  <a:schemeClr val="tx1"/>
                </a:solidFill>
                <a:latin typeface="+mj-lt"/>
                <a:ea typeface="黑体" panose="02010609060101010101" pitchFamily="49" charset="-122"/>
                <a:cs typeface="+mj-lt"/>
              </a:rPr>
              <a:t>In principle at least, you </a:t>
            </a:r>
            <a:r>
              <a:rPr lang="en-US" altLang="zh-CN" sz="2000" b="0" u="sng">
                <a:solidFill>
                  <a:schemeClr val="tx1"/>
                </a:solidFill>
                <a:latin typeface="+mj-lt"/>
                <a:ea typeface="黑体" panose="02010609060101010101" pitchFamily="49" charset="-122"/>
                <a:cs typeface="+mj-lt"/>
              </a:rPr>
              <a:t>plan and schedule</a:t>
            </a:r>
            <a:r>
              <a:rPr lang="en-US" altLang="zh-CN" sz="2000" b="0">
                <a:solidFill>
                  <a:schemeClr val="tx1"/>
                </a:solidFill>
                <a:latin typeface="+mj-lt"/>
                <a:ea typeface="黑体" panose="02010609060101010101" pitchFamily="49" charset="-122"/>
                <a:cs typeface="+mj-lt"/>
              </a:rPr>
              <a:t> all of the process activities before starting software development.</a:t>
            </a:r>
            <a:endParaRPr lang="en-US" altLang="zh-CN" sz="2000" b="0">
              <a:solidFill>
                <a:schemeClr val="tx1"/>
              </a:solidFill>
              <a:latin typeface="+mj-lt"/>
              <a:ea typeface="黑体" panose="02010609060101010101" pitchFamily="49" charset="-122"/>
              <a:cs typeface="+mj-lt"/>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7395"/>
            <a:ext cx="7371715" cy="6394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Waterfall model phases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阶段</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29699" name="Rectangle 3"/>
          <p:cNvSpPr>
            <a:spLocks noGrp="1" noChangeArrowheads="1"/>
          </p:cNvSpPr>
          <p:nvPr/>
        </p:nvSpPr>
        <p:spPr>
          <a:xfrm>
            <a:off x="151765" y="1313180"/>
            <a:ext cx="8856980" cy="50603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200" dirty="0" smtClean="0">
                <a:solidFill>
                  <a:schemeClr val="tx2">
                    <a:lumMod val="75000"/>
                    <a:lumOff val="25000"/>
                  </a:schemeClr>
                </a:solidFill>
                <a:latin typeface="Calibri" panose="020F0502020204030204" charset="0"/>
                <a:cs typeface="Calibri" panose="020F0502020204030204" charset="0"/>
              </a:rPr>
              <a:t> </a:t>
            </a:r>
            <a:r>
              <a:rPr lang="en-GB" sz="3200" dirty="0" smtClean="0">
                <a:solidFill>
                  <a:schemeClr val="tx2">
                    <a:lumMod val="75000"/>
                    <a:lumOff val="25000"/>
                  </a:schemeClr>
                </a:solidFill>
                <a:latin typeface="Calibri" panose="020F0502020204030204" charset="0"/>
                <a:cs typeface="Calibri" panose="020F0502020204030204" charset="0"/>
              </a:rPr>
              <a:t>There are separate identified phases in the waterfall model:</a:t>
            </a:r>
            <a:endParaRPr lang="en-GB" sz="3200" dirty="0" smtClean="0">
              <a:solidFill>
                <a:schemeClr val="tx2">
                  <a:lumMod val="75000"/>
                  <a:lumOff val="2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Requirements analysis and definition</a:t>
            </a:r>
            <a:r>
              <a:rPr lang="en-US" altLang="en-GB" sz="280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需求分析和定义</a:t>
            </a:r>
            <a:endParaRPr lang="en-GB" sz="28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System and software design</a:t>
            </a:r>
            <a:r>
              <a:rPr lang="en-US" altLang="en-GB" sz="280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系统和软件设计</a:t>
            </a:r>
            <a:endParaRPr lang="en-GB" sz="28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Implementation and unit testing</a:t>
            </a:r>
            <a:r>
              <a:rPr lang="en-US" altLang="en-GB" sz="280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实现和单元测试</a:t>
            </a:r>
            <a:endParaRPr lang="en-GB" sz="28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Integration and system testing</a:t>
            </a:r>
            <a:r>
              <a:rPr lang="en-US" altLang="en-GB" sz="280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集成和系统测试</a:t>
            </a:r>
            <a:endParaRPr lang="en-GB" sz="28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Operation and maintenance</a:t>
            </a:r>
            <a:r>
              <a:rPr lang="en-US" altLang="en-GB" sz="280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运行和维护</a:t>
            </a:r>
            <a:endParaRPr lang="en-GB" sz="2800" dirty="0" smtClean="0">
              <a:latin typeface="Calibri" panose="020F0502020204030204" charset="0"/>
              <a:cs typeface="Calibri" panose="020F0502020204030204" charset="0"/>
            </a:endParaRPr>
          </a:p>
          <a:p>
            <a:pPr>
              <a:lnSpc>
                <a:spcPct val="90000"/>
              </a:lnSpc>
              <a:spcBef>
                <a:spcPts val="600"/>
              </a:spcBef>
              <a:spcAft>
                <a:spcPts val="0"/>
              </a:spcAft>
            </a:pPr>
            <a:r>
              <a:rPr lang="en-US" altLang="en-GB" sz="3200" dirty="0" smtClean="0">
                <a:solidFill>
                  <a:schemeClr val="tx2">
                    <a:lumMod val="75000"/>
                    <a:lumOff val="25000"/>
                  </a:schemeClr>
                </a:solidFill>
                <a:latin typeface="Calibri" panose="020F0502020204030204" charset="0"/>
                <a:cs typeface="Calibri" panose="020F0502020204030204" charset="0"/>
              </a:rPr>
              <a:t> </a:t>
            </a:r>
            <a:r>
              <a:rPr lang="en-GB" sz="3200" dirty="0" smtClean="0">
                <a:solidFill>
                  <a:schemeClr val="tx2">
                    <a:lumMod val="75000"/>
                    <a:lumOff val="25000"/>
                  </a:schemeClr>
                </a:solidFill>
                <a:latin typeface="Calibri" panose="020F0502020204030204" charset="0"/>
                <a:cs typeface="Calibri" panose="020F0502020204030204" charset="0"/>
              </a:rPr>
              <a:t>The main </a:t>
            </a:r>
            <a:r>
              <a:rPr lang="en-GB" sz="3200" u="sng" dirty="0" smtClean="0">
                <a:solidFill>
                  <a:schemeClr val="tx2">
                    <a:lumMod val="75000"/>
                    <a:lumOff val="25000"/>
                  </a:schemeClr>
                </a:solidFill>
                <a:latin typeface="Calibri" panose="020F0502020204030204" charset="0"/>
                <a:cs typeface="Calibri" panose="020F0502020204030204" charset="0"/>
              </a:rPr>
              <a:t>drawback</a:t>
            </a:r>
            <a:r>
              <a:rPr lang="en-GB" sz="3200" dirty="0" smtClean="0">
                <a:solidFill>
                  <a:schemeClr val="tx2">
                    <a:lumMod val="75000"/>
                    <a:lumOff val="25000"/>
                  </a:schemeClr>
                </a:solidFill>
                <a:latin typeface="Calibri" panose="020F0502020204030204" charset="0"/>
                <a:cs typeface="Calibri" panose="020F0502020204030204" charset="0"/>
              </a:rPr>
              <a:t> of the waterfall model is the difficulty of accommodating change after the process is underway. In principle, a phase has to be complete before moving onto the next phase.</a:t>
            </a:r>
            <a:r>
              <a:rPr lang="en-US" altLang="en-GB" sz="3200" dirty="0" smtClean="0">
                <a:solidFill>
                  <a:schemeClr val="tx2">
                    <a:lumMod val="75000"/>
                    <a:lumOff val="25000"/>
                  </a:schemeClr>
                </a:solidFill>
                <a:latin typeface="Calibri" panose="020F0502020204030204" charset="0"/>
                <a:cs typeface="Calibri" panose="020F0502020204030204" charset="0"/>
              </a:rPr>
              <a:t> </a:t>
            </a:r>
            <a:endParaRPr lang="en-US" altLang="en-GB"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9150"/>
            <a:ext cx="8785225" cy="5308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知识链接</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7145" y="1412240"/>
            <a:ext cx="9123680" cy="328739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7395"/>
            <a:ext cx="7371715" cy="6394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Waterfall model problems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缺点</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29699" name="Rectangle 3"/>
          <p:cNvSpPr>
            <a:spLocks noGrp="1" noChangeArrowheads="1"/>
          </p:cNvSpPr>
          <p:nvPr/>
        </p:nvSpPr>
        <p:spPr>
          <a:xfrm>
            <a:off x="151765" y="1313180"/>
            <a:ext cx="8856980" cy="52673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200" dirty="0" smtClean="0">
                <a:solidFill>
                  <a:schemeClr val="tx2">
                    <a:lumMod val="75000"/>
                    <a:lumOff val="25000"/>
                  </a:schemeClr>
                </a:solidFill>
                <a:latin typeface="Calibri" panose="020F0502020204030204" charset="0"/>
                <a:cs typeface="Calibri" panose="020F0502020204030204" charset="0"/>
              </a:rPr>
              <a:t> </a:t>
            </a:r>
            <a:r>
              <a:rPr lang="en-GB" sz="3200" dirty="0" smtClean="0">
                <a:solidFill>
                  <a:schemeClr val="tx2">
                    <a:lumMod val="75000"/>
                    <a:lumOff val="25000"/>
                  </a:schemeClr>
                </a:solidFill>
                <a:latin typeface="Calibri" panose="020F0502020204030204" charset="0"/>
                <a:cs typeface="Calibri" panose="020F0502020204030204" charset="0"/>
              </a:rPr>
              <a:t>Inflexible partitioning of the project into distinct stages makes it difficult to respond to changing customer requirements.</a:t>
            </a:r>
            <a:r>
              <a:rPr lang="en-US" altLang="en-GB" sz="3200" dirty="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响应客户需求变化困难</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Therefore, this model is only appropriate when the requirements are well-understood and changes will be fairly limited during the design process</a:t>
            </a:r>
            <a:r>
              <a:rPr lang="en-US" altLang="en-GB" sz="2800" dirty="0" smtClean="0">
                <a:latin typeface="Calibri" panose="020F0502020204030204" charset="0"/>
                <a:cs typeface="Calibri" panose="020F0502020204030204" charset="0"/>
              </a:rPr>
              <a:t>.  </a:t>
            </a:r>
            <a:endParaRPr lang="en-GB" sz="28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Few business systems have stable requirements</a:t>
            </a:r>
            <a:r>
              <a:rPr lang="en-US" altLang="en-GB" sz="2800" dirty="0" smtClean="0">
                <a:latin typeface="Calibri" panose="020F0502020204030204" charset="0"/>
                <a:cs typeface="Calibri" panose="020F0502020204030204" charset="0"/>
              </a:rPr>
              <a:t>.</a:t>
            </a:r>
            <a:endParaRPr lang="en-GB" sz="2800" dirty="0" smtClean="0">
              <a:latin typeface="Calibri" panose="020F0502020204030204" charset="0"/>
              <a:cs typeface="Calibri" panose="020F0502020204030204" charset="0"/>
            </a:endParaRPr>
          </a:p>
          <a:p>
            <a:pPr lvl="0" algn="l">
              <a:lnSpc>
                <a:spcPct val="90000"/>
              </a:lnSpc>
              <a:spcBef>
                <a:spcPts val="600"/>
              </a:spcBef>
              <a:spcAft>
                <a:spcPts val="0"/>
              </a:spcAft>
            </a:pPr>
            <a:r>
              <a:rPr lang="en-US" altLang="en-GB" sz="3200" dirty="0" smtClean="0">
                <a:solidFill>
                  <a:schemeClr val="tx2">
                    <a:lumMod val="75000"/>
                    <a:lumOff val="25000"/>
                  </a:schemeClr>
                </a:solidFill>
                <a:latin typeface="Calibri" panose="020F0502020204030204" charset="0"/>
                <a:cs typeface="Calibri" panose="020F0502020204030204" charset="0"/>
                <a:sym typeface="+mn-ea"/>
              </a:rPr>
              <a:t> </a:t>
            </a:r>
            <a:r>
              <a:rPr lang="en-US" sz="3200" dirty="0" smtClean="0">
                <a:solidFill>
                  <a:schemeClr val="tx2">
                    <a:lumMod val="75000"/>
                    <a:lumOff val="25000"/>
                  </a:schemeClr>
                </a:solidFill>
                <a:latin typeface="Calibri" panose="020F0502020204030204" charset="0"/>
                <a:cs typeface="Calibri" panose="020F0502020204030204" charset="0"/>
                <a:sym typeface="+mn-ea"/>
              </a:rPr>
              <a:t>It</a:t>
            </a:r>
            <a:r>
              <a:rPr lang="en-GB" sz="3200" dirty="0" smtClean="0">
                <a:solidFill>
                  <a:schemeClr val="tx2">
                    <a:lumMod val="75000"/>
                    <a:lumOff val="25000"/>
                  </a:schemeClr>
                </a:solidFill>
                <a:latin typeface="Calibri" panose="020F0502020204030204" charset="0"/>
                <a:cs typeface="Calibri" panose="020F0502020204030204" charset="0"/>
                <a:sym typeface="+mn-ea"/>
              </a:rPr>
              <a:t> is mostly used for large engineering projects where a system is developed at several sites.</a:t>
            </a:r>
            <a:r>
              <a:rPr lang="en-US" altLang="en-GB" sz="3200" dirty="0" smtClean="0">
                <a:solidFill>
                  <a:schemeClr val="tx2">
                    <a:lumMod val="75000"/>
                    <a:lumOff val="25000"/>
                  </a:schemeClr>
                </a:solidFill>
                <a:latin typeface="Calibri" panose="020F0502020204030204" charset="0"/>
                <a:cs typeface="Calibri" panose="020F0502020204030204" charset="0"/>
                <a:sym typeface="+mn-ea"/>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多适用于大工程项目</a:t>
            </a:r>
            <a:endParaRPr lang="en-GB" sz="28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In those circumstances, the plan-driven nature of the waterfall model helps coordinate the work</a:t>
            </a:r>
            <a:r>
              <a:rPr lang="en-US" altLang="en-GB" sz="2800" dirty="0" smtClean="0">
                <a:latin typeface="Calibri" panose="020F0502020204030204" charset="0"/>
                <a:cs typeface="Calibri" panose="020F0502020204030204" charset="0"/>
              </a:rPr>
              <a:t>.</a:t>
            </a:r>
            <a:endParaRPr lang="en-US" altLang="en-GB" sz="2800" dirty="0" smtClean="0">
              <a:latin typeface="Calibri" panose="020F0502020204030204" charset="0"/>
              <a:cs typeface="Calibri" panose="020F050202020403020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6290"/>
            <a:ext cx="8141335" cy="5708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Incremental development</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增量式开发</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53340" y="1409065"/>
            <a:ext cx="9006840" cy="4875530"/>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825865" cy="5848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What is i</a:t>
            </a:r>
            <a:r>
              <a:rPr lang="zh-CN" altLang="en-US" sz="3200" dirty="0">
                <a:solidFill>
                  <a:schemeClr val="accent1">
                    <a:lumMod val="75000"/>
                  </a:schemeClr>
                </a:solidFill>
                <a:ea typeface="宋体" panose="02010600030101010101" pitchFamily="2" charset="-122"/>
                <a:sym typeface="+mn-ea"/>
              </a:rPr>
              <a:t>ncremental development</a:t>
            </a:r>
            <a:r>
              <a:rPr lang="en-US" altLang="zh-CN" sz="3200" dirty="0">
                <a:solidFill>
                  <a:schemeClr val="accent1">
                    <a:lumMod val="75000"/>
                  </a:schemeClr>
                </a:solidFill>
                <a:ea typeface="宋体" panose="02010600030101010101" pitchFamily="2" charset="-122"/>
                <a:sym typeface="+mn-ea"/>
              </a:rPr>
              <a:t> ?</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84935"/>
            <a:ext cx="8922385" cy="39890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It</a:t>
            </a:r>
            <a:r>
              <a:rPr sz="3100" dirty="0" smtClean="0">
                <a:solidFill>
                  <a:schemeClr val="accent2">
                    <a:lumMod val="75000"/>
                  </a:schemeClr>
                </a:solidFill>
                <a:latin typeface="Calibri" panose="020F0502020204030204" charset="0"/>
                <a:cs typeface="Calibri" panose="020F0502020204030204" charset="0"/>
              </a:rPr>
              <a:t> is based on the idea of developing an </a:t>
            </a:r>
            <a:r>
              <a:rPr sz="3100" u="sng" dirty="0" smtClean="0">
                <a:solidFill>
                  <a:schemeClr val="accent2">
                    <a:lumMod val="75000"/>
                  </a:schemeClr>
                </a:solidFill>
                <a:latin typeface="Calibri" panose="020F0502020204030204" charset="0"/>
                <a:cs typeface="Calibri" panose="020F0502020204030204" charset="0"/>
              </a:rPr>
              <a:t>initial</a:t>
            </a:r>
            <a:r>
              <a:rPr sz="3100" dirty="0" smtClean="0">
                <a:solidFill>
                  <a:schemeClr val="accent2">
                    <a:lumMod val="75000"/>
                  </a:schemeClr>
                </a:solidFill>
                <a:latin typeface="Calibri" panose="020F0502020204030204" charset="0"/>
                <a:cs typeface="Calibri" panose="020F0502020204030204" charset="0"/>
              </a:rPr>
              <a:t> implementation, getting </a:t>
            </a:r>
            <a:r>
              <a:rPr sz="3100" u="sng" dirty="0" smtClean="0">
                <a:solidFill>
                  <a:schemeClr val="accent2">
                    <a:lumMod val="75000"/>
                  </a:schemeClr>
                </a:solidFill>
                <a:latin typeface="Calibri" panose="020F0502020204030204" charset="0"/>
                <a:cs typeface="Calibri" panose="020F0502020204030204" charset="0"/>
              </a:rPr>
              <a:t>feedback</a:t>
            </a:r>
            <a:r>
              <a:rPr sz="3100" dirty="0" smtClean="0">
                <a:solidFill>
                  <a:schemeClr val="accent2">
                    <a:lumMod val="75000"/>
                  </a:schemeClr>
                </a:solidFill>
                <a:latin typeface="Calibri" panose="020F0502020204030204" charset="0"/>
                <a:cs typeface="Calibri" panose="020F0502020204030204" charset="0"/>
              </a:rPr>
              <a:t> from users and others, and </a:t>
            </a:r>
            <a:r>
              <a:rPr sz="3100" u="sng" dirty="0" smtClean="0">
                <a:solidFill>
                  <a:schemeClr val="accent2">
                    <a:lumMod val="75000"/>
                  </a:schemeClr>
                </a:solidFill>
                <a:latin typeface="Calibri" panose="020F0502020204030204" charset="0"/>
                <a:cs typeface="Calibri" panose="020F0502020204030204" charset="0"/>
              </a:rPr>
              <a:t>evolving</a:t>
            </a:r>
            <a:r>
              <a:rPr sz="3100" dirty="0" smtClean="0">
                <a:solidFill>
                  <a:schemeClr val="accent2">
                    <a:lumMod val="75000"/>
                  </a:schemeClr>
                </a:solidFill>
                <a:latin typeface="Calibri" panose="020F0502020204030204" charset="0"/>
                <a:cs typeface="Calibri" panose="020F0502020204030204" charset="0"/>
              </a:rPr>
              <a:t> the software through</a:t>
            </a: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several versions until the </a:t>
            </a:r>
            <a:r>
              <a:rPr sz="3100" u="sng" dirty="0" smtClean="0">
                <a:solidFill>
                  <a:schemeClr val="accent2">
                    <a:lumMod val="75000"/>
                  </a:schemeClr>
                </a:solidFill>
                <a:latin typeface="Calibri" panose="020F0502020204030204" charset="0"/>
                <a:cs typeface="Calibri" panose="020F0502020204030204" charset="0"/>
              </a:rPr>
              <a:t>required</a:t>
            </a:r>
            <a:r>
              <a:rPr sz="3100" dirty="0" smtClean="0">
                <a:solidFill>
                  <a:schemeClr val="accent2">
                    <a:lumMod val="75000"/>
                  </a:schemeClr>
                </a:solidFill>
                <a:latin typeface="Calibri" panose="020F0502020204030204" charset="0"/>
                <a:cs typeface="Calibri" panose="020F0502020204030204" charset="0"/>
              </a:rPr>
              <a:t> system has been developed.</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初始实现-&gt;用户反馈-&gt;多版本演化-&gt;最终版本</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1000"/>
              </a:spcBef>
              <a:spcAft>
                <a:spcPts val="0"/>
              </a:spcAft>
            </a:pPr>
            <a:r>
              <a:rPr sz="3100" dirty="0" smtClean="0">
                <a:solidFill>
                  <a:schemeClr val="accent2">
                    <a:lumMod val="75000"/>
                  </a:schemeClr>
                </a:solidFill>
                <a:latin typeface="Calibri" panose="020F0502020204030204" charset="0"/>
                <a:cs typeface="Calibri" panose="020F0502020204030204" charset="0"/>
              </a:rPr>
              <a:t>Specification, development, and validation activities are </a:t>
            </a:r>
            <a:r>
              <a:rPr sz="3100" u="sng" dirty="0" smtClean="0">
                <a:solidFill>
                  <a:schemeClr val="accent2">
                    <a:lumMod val="75000"/>
                  </a:schemeClr>
                </a:solidFill>
                <a:latin typeface="Calibri" panose="020F0502020204030204" charset="0"/>
                <a:cs typeface="Calibri" panose="020F0502020204030204" charset="0"/>
              </a:rPr>
              <a:t>interleaved</a:t>
            </a:r>
            <a:r>
              <a:rPr sz="3100" dirty="0" smtClean="0">
                <a:solidFill>
                  <a:schemeClr val="accent2">
                    <a:lumMod val="75000"/>
                  </a:schemeClr>
                </a:solidFill>
                <a:latin typeface="Calibri" panose="020F0502020204030204" charset="0"/>
                <a:cs typeface="Calibri" panose="020F0502020204030204" charset="0"/>
              </a:rPr>
              <a:t> rather than</a:t>
            </a: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separate, with </a:t>
            </a:r>
            <a:r>
              <a:rPr sz="3100" u="sng" dirty="0" smtClean="0">
                <a:solidFill>
                  <a:schemeClr val="accent2">
                    <a:lumMod val="75000"/>
                  </a:schemeClr>
                </a:solidFill>
                <a:latin typeface="Calibri" panose="020F0502020204030204" charset="0"/>
                <a:cs typeface="Calibri" panose="020F0502020204030204" charset="0"/>
              </a:rPr>
              <a:t>rapid feedback</a:t>
            </a:r>
            <a:r>
              <a:rPr sz="3100" dirty="0" smtClean="0">
                <a:solidFill>
                  <a:schemeClr val="accent2">
                    <a:lumMod val="75000"/>
                  </a:schemeClr>
                </a:solidFill>
                <a:latin typeface="Calibri" panose="020F0502020204030204" charset="0"/>
                <a:cs typeface="Calibri" panose="020F0502020204030204" charset="0"/>
              </a:rPr>
              <a:t> across activities.</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各个活动</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交织在一起，活动间快速反馈</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906510" cy="5848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What is i</a:t>
            </a:r>
            <a:r>
              <a:rPr lang="zh-CN" altLang="en-US" sz="3200" dirty="0">
                <a:solidFill>
                  <a:schemeClr val="accent1">
                    <a:lumMod val="75000"/>
                  </a:schemeClr>
                </a:solidFill>
                <a:ea typeface="宋体" panose="02010600030101010101" pitchFamily="2" charset="-122"/>
                <a:sym typeface="+mn-ea"/>
              </a:rPr>
              <a:t>ncremental development</a:t>
            </a:r>
            <a:r>
              <a:rPr lang="en-US" altLang="zh-CN" sz="3200" dirty="0">
                <a:solidFill>
                  <a:schemeClr val="accent1">
                    <a:lumMod val="75000"/>
                  </a:schemeClr>
                </a:solidFill>
                <a:ea typeface="宋体" panose="02010600030101010101" pitchFamily="2" charset="-122"/>
                <a:sym typeface="+mn-ea"/>
              </a:rPr>
              <a:t> ?  cont’d</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84935"/>
            <a:ext cx="8922385" cy="45027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It</a:t>
            </a:r>
            <a:r>
              <a:rPr sz="3100" dirty="0" smtClean="0">
                <a:solidFill>
                  <a:schemeClr val="accent2">
                    <a:lumMod val="75000"/>
                  </a:schemeClr>
                </a:solidFill>
                <a:latin typeface="Calibri" panose="020F0502020204030204" charset="0"/>
                <a:cs typeface="Calibri" panose="020F0502020204030204" charset="0"/>
              </a:rPr>
              <a:t> is now the most common approach for</a:t>
            </a: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the development of application systems</a:t>
            </a:r>
            <a:r>
              <a:rPr lang="en-US" sz="3100" dirty="0" smtClean="0">
                <a:solidFill>
                  <a:schemeClr val="accent2">
                    <a:lumMod val="75000"/>
                  </a:schemeClr>
                </a:solidFill>
                <a:latin typeface="Calibri" panose="020F0502020204030204" charset="0"/>
                <a:cs typeface="Calibri" panose="020F0502020204030204" charset="0"/>
              </a:rPr>
              <a:t> and software products.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目前最常见</a:t>
            </a:r>
            <a:endParaRPr lang="en-GB" sz="2700" b="0" dirty="0" smtClean="0">
              <a:latin typeface="Calibri" panose="020F0502020204030204" charset="0"/>
              <a:cs typeface="Calibri" panose="020F0502020204030204" charset="0"/>
            </a:endParaRPr>
          </a:p>
          <a:p>
            <a:pPr lvl="1" algn="l">
              <a:lnSpc>
                <a:spcPct val="90000"/>
              </a:lnSpc>
              <a:spcBef>
                <a:spcPts val="1000"/>
              </a:spcBef>
              <a:spcAft>
                <a:spcPts val="0"/>
              </a:spcAft>
            </a:pPr>
            <a:r>
              <a:rPr lang="en-GB" sz="2800" b="0" dirty="0" smtClean="0">
                <a:latin typeface="Calibri" panose="020F0502020204030204" charset="0"/>
                <a:cs typeface="Calibri" panose="020F0502020204030204" charset="0"/>
              </a:rPr>
              <a:t>This approach can</a:t>
            </a:r>
            <a:r>
              <a:rPr lang="en-US" altLang="en-GB" sz="2800" b="0" dirty="0" smtClean="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be either plan-driven, agile or, more usually, a mixture of these approaches. </a:t>
            </a:r>
            <a:endParaRPr lang="en-GB" sz="2800" b="0" dirty="0" smtClean="0">
              <a:latin typeface="Calibri" panose="020F0502020204030204" charset="0"/>
              <a:cs typeface="Calibri" panose="020F0502020204030204" charset="0"/>
            </a:endParaRPr>
          </a:p>
          <a:p>
            <a:pPr lvl="1" algn="l">
              <a:lnSpc>
                <a:spcPct val="90000"/>
              </a:lnSpc>
              <a:spcBef>
                <a:spcPts val="1000"/>
              </a:spcBef>
              <a:spcAft>
                <a:spcPts val="0"/>
              </a:spcAft>
            </a:pPr>
            <a:r>
              <a:rPr lang="en-GB" sz="2800" b="0" dirty="0" smtClean="0">
                <a:latin typeface="Calibri" panose="020F0502020204030204" charset="0"/>
                <a:cs typeface="Calibri" panose="020F0502020204030204" charset="0"/>
              </a:rPr>
              <a:t>In a</a:t>
            </a:r>
            <a:r>
              <a:rPr lang="en-US" altLang="en-GB" sz="2800" b="0" dirty="0" smtClean="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plan-driven approach, the system increments are identified in advance; </a:t>
            </a:r>
            <a:endParaRPr lang="en-GB" sz="2800" b="0" dirty="0" smtClean="0">
              <a:latin typeface="Calibri" panose="020F0502020204030204" charset="0"/>
              <a:cs typeface="Calibri" panose="020F0502020204030204" charset="0"/>
            </a:endParaRPr>
          </a:p>
          <a:p>
            <a:pPr lvl="1" algn="l">
              <a:lnSpc>
                <a:spcPct val="90000"/>
              </a:lnSpc>
              <a:spcBef>
                <a:spcPts val="1000"/>
              </a:spcBef>
              <a:spcAft>
                <a:spcPts val="0"/>
              </a:spcAft>
            </a:pPr>
            <a:r>
              <a:rPr lang="en-GB" sz="2800" b="0" dirty="0" smtClean="0">
                <a:latin typeface="Calibri" panose="020F0502020204030204" charset="0"/>
                <a:cs typeface="Calibri" panose="020F0502020204030204" charset="0"/>
              </a:rPr>
              <a:t>if an agile</a:t>
            </a:r>
            <a:r>
              <a:rPr lang="en-US" altLang="en-GB" sz="2800" b="0" dirty="0" smtClean="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approach is adopted, the early increments are identified, but the development of</a:t>
            </a:r>
            <a:r>
              <a:rPr lang="en-US" altLang="en-GB" sz="2800" b="0" dirty="0" smtClean="0">
                <a:latin typeface="Calibri" panose="020F0502020204030204" charset="0"/>
                <a:cs typeface="Calibri" panose="020F0502020204030204" charset="0"/>
              </a:rPr>
              <a:t> </a:t>
            </a:r>
            <a:r>
              <a:rPr lang="en-GB" sz="2800" b="0" dirty="0" smtClean="0">
                <a:latin typeface="Calibri" panose="020F0502020204030204" charset="0"/>
                <a:cs typeface="Calibri" panose="020F0502020204030204" charset="0"/>
              </a:rPr>
              <a:t>later increments depends on progress and customer priorities.</a:t>
            </a:r>
            <a:endParaRPr lang="en-GB" sz="2800" b="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610600" cy="5848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Incremental development benefits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优点</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45720" y="1241425"/>
            <a:ext cx="9080500" cy="54260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The cost of implementing requirements changes is reduced. </a:t>
            </a:r>
            <a:r>
              <a:rPr lang="en-US" altLang="en-GB" sz="3100" dirty="0" smtClean="0">
                <a:solidFill>
                  <a:schemeClr val="accent2">
                    <a:lumMod val="75000"/>
                  </a:schemeClr>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降低了</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需求变更的实现成本</a:t>
            </a:r>
            <a:r>
              <a:rPr lang="en-US" altLang="en-GB" sz="3100" dirty="0" smtClean="0">
                <a:solidFill>
                  <a:schemeClr val="accent2">
                    <a:lumMod val="75000"/>
                  </a:schemeClr>
                </a:solidFill>
                <a:latin typeface="Calibri" panose="020F0502020204030204" charset="0"/>
                <a:cs typeface="Calibri" panose="020F0502020204030204" charset="0"/>
              </a:rPr>
              <a:t> </a:t>
            </a:r>
            <a:endParaRPr lang="en-GB" sz="3100" dirty="0" smtClean="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800" b="0" dirty="0" smtClean="0">
                <a:latin typeface="Calibri" panose="020F0502020204030204" charset="0"/>
                <a:cs typeface="Calibri" panose="020F0502020204030204" charset="0"/>
              </a:rPr>
              <a:t>The amount of analysis and documentation that has to be redone is much less than is required with the waterfall model.</a:t>
            </a:r>
            <a:endParaRPr lang="en-GB" sz="2800" b="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It is easier to get customer feedback on the development work that has been done.</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更易得到反馈</a:t>
            </a:r>
            <a:endParaRPr lang="en-GB" sz="3100" dirty="0" smtClean="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800" b="0" dirty="0" smtClean="0">
                <a:latin typeface="Calibri" panose="020F0502020204030204" charset="0"/>
                <a:cs typeface="Calibri" panose="020F0502020204030204" charset="0"/>
              </a:rPr>
              <a:t>Customers can comment on demonstrations of the software and see how much has been implemented. </a:t>
            </a:r>
            <a:endParaRPr lang="en-GB" sz="2800" b="0" dirty="0" smtClean="0">
              <a:latin typeface="Calibri" panose="020F0502020204030204" charset="0"/>
              <a:cs typeface="Calibri" panose="020F0502020204030204" charset="0"/>
            </a:endParaRPr>
          </a:p>
          <a:p>
            <a:pPr>
              <a:lnSpc>
                <a:spcPct val="85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More rapid delivery and deployment of useful software to the customer is possible.</a:t>
            </a:r>
            <a:r>
              <a:rPr lang="en-US" altLang="en-GB"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快速交付和部署</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GB" sz="2800" b="0" dirty="0" smtClean="0">
                <a:latin typeface="Calibri" panose="020F0502020204030204" charset="0"/>
                <a:cs typeface="Calibri" panose="020F0502020204030204" charset="0"/>
              </a:rPr>
              <a:t>Customers are able to use and gain value from the software earlier than with a waterfall process.</a:t>
            </a:r>
            <a:r>
              <a:rPr lang="en-GB" sz="2800" b="0" dirty="0" smtClean="0"/>
              <a:t> </a:t>
            </a:r>
            <a:endParaRPr lang="en-GB" sz="2800" b="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8190"/>
            <a:ext cx="8792845" cy="6248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Incremental development problems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缺点</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13180"/>
            <a:ext cx="8922385" cy="48018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The process is not visible.</a:t>
            </a:r>
            <a:r>
              <a:rPr lang="en-GB" sz="3100" dirty="0" smtClean="0">
                <a:solidFill>
                  <a:schemeClr val="accent2">
                    <a:lumMod val="75000"/>
                  </a:schemeClr>
                </a:solidFill>
                <a:latin typeface="Calibri" panose="020F0502020204030204" charset="0"/>
                <a:cs typeface="Calibri" panose="020F0502020204030204" charset="0"/>
              </a:rPr>
              <a:t> </a:t>
            </a:r>
            <a:r>
              <a:rPr lang="en-US" altLang="en-GB"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过程不可见</a:t>
            </a:r>
            <a:endParaRPr lang="zh-CN" altLang="en-US" sz="31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dirty="0" smtClean="0">
                <a:latin typeface="Calibri" panose="020F0502020204030204" charset="0"/>
                <a:cs typeface="Calibri" panose="020F0502020204030204" charset="0"/>
              </a:rPr>
              <a:t>Managers need regular deliverables to measure progress. If systems are developed quickly, it is not cost-effective to produce documents that reflect every version of the system.</a:t>
            </a:r>
            <a:endParaRPr lang="en-GB" sz="2800" b="0" dirty="0" smtClean="0">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System structure tends to degrade as new increments are added. </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系统结构逐渐退化</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b="0" dirty="0" smtClean="0">
                <a:latin typeface="Calibri" panose="020F0502020204030204" charset="0"/>
                <a:cs typeface="Calibri" panose="020F0502020204030204" charset="0"/>
              </a:rPr>
              <a:t>Unless time and money is spent on </a:t>
            </a:r>
            <a:r>
              <a:rPr lang="en-GB" sz="2800" b="0" u="sng" dirty="0" smtClean="0">
                <a:latin typeface="Calibri" panose="020F0502020204030204" charset="0"/>
                <a:cs typeface="Calibri" panose="020F0502020204030204" charset="0"/>
              </a:rPr>
              <a:t>refactoring</a:t>
            </a:r>
            <a:r>
              <a:rPr lang="en-GB" sz="2800" b="0" dirty="0" smtClean="0">
                <a:latin typeface="Calibri" panose="020F0502020204030204" charset="0"/>
                <a:cs typeface="Calibri" panose="020F0502020204030204" charset="0"/>
              </a:rPr>
              <a:t> to improve the software, regular change tends to corrupt its structure. Incorporating further software changes becomes increasingly difficult and costly. </a:t>
            </a:r>
            <a:endParaRPr lang="en-GB" sz="2800" b="0"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8035"/>
            <a:ext cx="8649335"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Integration and configuration</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集成和配置</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84935"/>
            <a:ext cx="8922385" cy="48056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Based on software reuse where systems are integrated from existing components.</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基于软件重用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gn="l">
              <a:lnSpc>
                <a:spcPct val="90000"/>
              </a:lnSpc>
              <a:spcBef>
                <a:spcPts val="800"/>
              </a:spcBef>
              <a:spcAft>
                <a:spcPts val="0"/>
              </a:spcAft>
            </a:pPr>
            <a:r>
              <a:rPr lang="en-GB" sz="3200" dirty="0" smtClean="0">
                <a:solidFill>
                  <a:schemeClr val="accent2">
                    <a:lumMod val="75000"/>
                  </a:schemeClr>
                </a:solidFill>
                <a:latin typeface="Calibri" panose="020F0502020204030204" charset="0"/>
                <a:cs typeface="Calibri" panose="020F0502020204030204" charset="0"/>
              </a:rPr>
              <a:t>Reuse-oriented approaches rely on a</a:t>
            </a: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base of reusable software components and an integrating framework for the composition of these</a:t>
            </a: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components.</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软件组件+集成框架</a:t>
            </a:r>
            <a:endParaRPr lang="en-GB" sz="3200" dirty="0" smtClean="0">
              <a:solidFill>
                <a:schemeClr val="accent2">
                  <a:lumMod val="75000"/>
                </a:schemeClr>
              </a:solidFill>
              <a:latin typeface="Calibri" panose="020F0502020204030204" charset="0"/>
              <a:cs typeface="Calibri" panose="020F0502020204030204" charset="0"/>
            </a:endParaRPr>
          </a:p>
          <a:p>
            <a:pPr lvl="1" algn="l">
              <a:lnSpc>
                <a:spcPct val="90000"/>
              </a:lnSpc>
              <a:spcBef>
                <a:spcPts val="800"/>
              </a:spcBef>
              <a:spcAft>
                <a:spcPts val="0"/>
              </a:spcAft>
            </a:pPr>
            <a:r>
              <a:rPr lang="en-GB" sz="2800" b="0" dirty="0" smtClean="0">
                <a:latin typeface="Calibri" panose="020F0502020204030204" charset="0"/>
                <a:cs typeface="Calibri" panose="020F0502020204030204" charset="0"/>
                <a:sym typeface="+mn-ea"/>
              </a:rPr>
              <a:t>Reused elements may be configured to adapt their behaviour and functionality to a user’s requirements.</a:t>
            </a:r>
            <a:endParaRPr lang="en-US" altLang="en-GB"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Reuse is now the standard approach for building many types of business system. </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目前是标准方法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8035"/>
            <a:ext cx="7371715"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Types of reusable software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84935"/>
            <a:ext cx="8922385" cy="43186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Stand-alone application systems (sometimes called COTS) that are configured for use in a particular environment.</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COTS</a:t>
            </a:r>
            <a:endParaRPr sz="32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Collections of objects that are developed as a package to be integrated with a component framework such as .NET or J2EE.</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对象包</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Web services that are developed according to service standards and which are available for remote invocation</a:t>
            </a:r>
            <a:r>
              <a:rPr lang="en-GB" sz="3200" dirty="0" smtClean="0">
                <a:solidFill>
                  <a:schemeClr val="accent2">
                    <a:lumMod val="75000"/>
                  </a:schemeClr>
                </a:solidFill>
                <a:latin typeface="Calibri" panose="020F0502020204030204" charset="0"/>
                <a:cs typeface="Calibri" panose="020F0502020204030204" charset="0"/>
              </a:rPr>
              <a:t>. </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Web服务</a:t>
            </a:r>
            <a:endParaRPr lang="zh-CN" altLang="en-US" sz="3200" b="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
        <p:nvSpPr>
          <p:cNvPr id="2" name="文本框 1"/>
          <p:cNvSpPr txBox="1"/>
          <p:nvPr/>
        </p:nvSpPr>
        <p:spPr>
          <a:xfrm>
            <a:off x="642620" y="5854700"/>
            <a:ext cx="5258435" cy="460375"/>
          </a:xfrm>
          <a:prstGeom prst="rect">
            <a:avLst/>
          </a:prstGeom>
          <a:noFill/>
        </p:spPr>
        <p:txBody>
          <a:bodyPr wrap="square" rtlCol="0">
            <a:spAutoFit/>
          </a:bodyPr>
          <a:p>
            <a:r>
              <a:rPr lang="en-US" altLang="zh-CN">
                <a:solidFill>
                  <a:schemeClr val="tx1"/>
                </a:solidFill>
                <a:latin typeface="+mj-lt"/>
                <a:cs typeface="+mj-lt"/>
              </a:rPr>
              <a:t>COTS</a:t>
            </a:r>
            <a:r>
              <a:rPr lang="zh-CN" altLang="en-US">
                <a:solidFill>
                  <a:schemeClr val="tx1"/>
                </a:solidFill>
                <a:latin typeface="+mj-lt"/>
                <a:ea typeface="宋体" panose="02010600030101010101" pitchFamily="2" charset="-122"/>
                <a:cs typeface="+mj-lt"/>
              </a:rPr>
              <a:t>：</a:t>
            </a:r>
            <a:r>
              <a:rPr lang="zh-CN" altLang="en-US">
                <a:solidFill>
                  <a:schemeClr val="tx1"/>
                </a:solidFill>
                <a:latin typeface="+mj-lt"/>
                <a:cs typeface="+mj-lt"/>
              </a:rPr>
              <a:t>Commercial Off-The-Shelf</a:t>
            </a:r>
            <a:endParaRPr lang="zh-CN" altLang="en-US">
              <a:solidFill>
                <a:schemeClr val="tx1"/>
              </a:solidFill>
              <a:latin typeface="+mj-lt"/>
              <a:cs typeface="+mj-lt"/>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8035"/>
            <a:ext cx="8554085"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Reuse-oriented software engineering</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62865" y="1412240"/>
            <a:ext cx="9029065" cy="2734945"/>
          </a:xfrm>
          <a:prstGeom prst="rect">
            <a:avLst/>
          </a:prstGeom>
        </p:spPr>
      </p:pic>
      <p:sp>
        <p:nvSpPr>
          <p:cNvPr id="33795" name="Rectangle 3"/>
          <p:cNvSpPr>
            <a:spLocks noGrp="1" noChangeArrowheads="1"/>
          </p:cNvSpPr>
          <p:nvPr/>
        </p:nvSpPr>
        <p:spPr>
          <a:xfrm>
            <a:off x="602615" y="4075430"/>
            <a:ext cx="8119110" cy="26117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gn="l">
              <a:lnSpc>
                <a:spcPct val="85000"/>
              </a:lnSpc>
              <a:spcBef>
                <a:spcPts val="600"/>
              </a:spcBef>
              <a:spcAft>
                <a:spcPts val="0"/>
              </a:spcAft>
              <a:buNone/>
            </a:pPr>
            <a:r>
              <a:rPr sz="3000" dirty="0" smtClean="0">
                <a:solidFill>
                  <a:schemeClr val="accent2">
                    <a:lumMod val="75000"/>
                  </a:schemeClr>
                </a:solidFill>
                <a:latin typeface="Calibri" panose="020F0502020204030204" charset="0"/>
                <a:cs typeface="Calibri" panose="020F0502020204030204" charset="0"/>
                <a:sym typeface="Symbol" panose="05050102010706020507" charset="0"/>
              </a:rPr>
              <a:t></a:t>
            </a:r>
            <a:r>
              <a:rPr lang="en-US" sz="3000" dirty="0" smtClean="0">
                <a:solidFill>
                  <a:schemeClr val="accent2">
                    <a:lumMod val="75000"/>
                  </a:schemeClr>
                </a:solidFill>
                <a:latin typeface="Calibri" panose="020F0502020204030204" charset="0"/>
                <a:cs typeface="Calibri" panose="020F0502020204030204" charset="0"/>
                <a:sym typeface="Symbol" panose="05050102010706020507" charset="0"/>
              </a:rPr>
              <a:t> </a:t>
            </a:r>
            <a:r>
              <a:rPr sz="3000" dirty="0" smtClean="0">
                <a:solidFill>
                  <a:schemeClr val="accent2">
                    <a:lumMod val="75000"/>
                  </a:schemeClr>
                </a:solidFill>
                <a:latin typeface="Calibri" panose="020F0502020204030204" charset="0"/>
                <a:cs typeface="Calibri" panose="020F0502020204030204" charset="0"/>
              </a:rPr>
              <a:t>Key process stages</a:t>
            </a:r>
            <a:endParaRPr sz="3000" dirty="0" smtClean="0">
              <a:solidFill>
                <a:schemeClr val="accent2">
                  <a:lumMod val="75000"/>
                </a:schemeClr>
              </a:solidFill>
              <a:latin typeface="Calibri" panose="020F0502020204030204" charset="0"/>
              <a:cs typeface="Calibri" panose="020F0502020204030204" charset="0"/>
            </a:endParaRPr>
          </a:p>
          <a:p>
            <a:pPr marL="457200" lvl="1" indent="0" algn="l">
              <a:lnSpc>
                <a:spcPct val="85000"/>
              </a:lnSpc>
              <a:spcBef>
                <a:spcPts val="600"/>
              </a:spcBef>
              <a:spcAft>
                <a:spcPts val="0"/>
              </a:spcAft>
              <a:buNone/>
            </a:pPr>
            <a:r>
              <a:rPr lang="en-GB" sz="2600" b="0" dirty="0" smtClean="0">
                <a:latin typeface="Calibri" panose="020F0502020204030204" charset="0"/>
                <a:cs typeface="Calibri" panose="020F0502020204030204" charset="0"/>
                <a:sym typeface="Symbol" panose="05050102010706020507" charset="0"/>
              </a:rPr>
              <a:t></a:t>
            </a:r>
            <a:r>
              <a:rPr lang="en-US" altLang="en-GB" sz="2600" b="0" dirty="0" smtClean="0">
                <a:latin typeface="Calibri" panose="020F0502020204030204" charset="0"/>
                <a:cs typeface="Calibri" panose="020F0502020204030204" charset="0"/>
                <a:sym typeface="Symbol" panose="05050102010706020507" charset="0"/>
              </a:rPr>
              <a:t> </a:t>
            </a:r>
            <a:r>
              <a:rPr lang="en-GB" sz="2600" b="0" dirty="0" smtClean="0">
                <a:latin typeface="Calibri" panose="020F0502020204030204" charset="0"/>
                <a:cs typeface="Calibri" panose="020F0502020204030204" charset="0"/>
                <a:sym typeface="+mn-ea"/>
              </a:rPr>
              <a:t>Requirements specification</a:t>
            </a:r>
            <a:r>
              <a:rPr lang="en-US" altLang="en-GB" sz="2600" b="0" dirty="0" smtClean="0">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需求规格说明</a:t>
            </a:r>
            <a:endParaRPr lang="en-GB" sz="2600" b="0" dirty="0" smtClean="0">
              <a:latin typeface="Calibri" panose="020F0502020204030204" charset="0"/>
              <a:cs typeface="Calibri" panose="020F0502020204030204" charset="0"/>
              <a:sym typeface="+mn-ea"/>
            </a:endParaRPr>
          </a:p>
          <a:p>
            <a:pPr marL="457200" lvl="1" indent="0" algn="l">
              <a:lnSpc>
                <a:spcPct val="85000"/>
              </a:lnSpc>
              <a:spcBef>
                <a:spcPts val="600"/>
              </a:spcBef>
              <a:spcAft>
                <a:spcPts val="0"/>
              </a:spcAft>
              <a:buNone/>
            </a:pPr>
            <a:r>
              <a:rPr lang="en-GB" sz="2600" b="0" dirty="0" smtClean="0">
                <a:latin typeface="Calibri" panose="020F0502020204030204" charset="0"/>
                <a:cs typeface="Calibri" panose="020F0502020204030204" charset="0"/>
                <a:sym typeface="Symbol" panose="05050102010706020507" charset="0"/>
              </a:rPr>
              <a:t></a:t>
            </a:r>
            <a:r>
              <a:rPr lang="en-US" altLang="en-GB" sz="2600" b="0" dirty="0" smtClean="0">
                <a:latin typeface="Calibri" panose="020F0502020204030204" charset="0"/>
                <a:cs typeface="Calibri" panose="020F0502020204030204" charset="0"/>
                <a:sym typeface="Symbol" panose="05050102010706020507" charset="0"/>
              </a:rPr>
              <a:t> </a:t>
            </a:r>
            <a:r>
              <a:rPr lang="en-GB" sz="2600" b="0" dirty="0" smtClean="0">
                <a:latin typeface="Calibri" panose="020F0502020204030204" charset="0"/>
                <a:cs typeface="Calibri" panose="020F0502020204030204" charset="0"/>
                <a:sym typeface="+mn-ea"/>
              </a:rPr>
              <a:t>Software discovery and evaluation</a:t>
            </a:r>
            <a:r>
              <a:rPr lang="en-US" altLang="en-GB" sz="2600" b="0" dirty="0" smtClean="0">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软件发现和评估</a:t>
            </a:r>
            <a:endParaRPr lang="zh-CN" altLang="en-US" sz="2600"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a:p>
            <a:pPr marL="457200" lvl="1" indent="0" algn="l">
              <a:lnSpc>
                <a:spcPct val="85000"/>
              </a:lnSpc>
              <a:spcBef>
                <a:spcPts val="600"/>
              </a:spcBef>
              <a:spcAft>
                <a:spcPts val="0"/>
              </a:spcAft>
              <a:buNone/>
            </a:pPr>
            <a:r>
              <a:rPr lang="en-GB" sz="2600" b="0" dirty="0" smtClean="0">
                <a:latin typeface="Calibri" panose="020F0502020204030204" charset="0"/>
                <a:cs typeface="Calibri" panose="020F0502020204030204" charset="0"/>
                <a:sym typeface="Symbol" panose="05050102010706020507" charset="0"/>
              </a:rPr>
              <a:t></a:t>
            </a:r>
            <a:r>
              <a:rPr lang="en-US" altLang="en-GB" sz="2600" b="0" dirty="0" smtClean="0">
                <a:latin typeface="Calibri" panose="020F0502020204030204" charset="0"/>
                <a:cs typeface="Calibri" panose="020F0502020204030204" charset="0"/>
                <a:sym typeface="Symbol" panose="05050102010706020507" charset="0"/>
              </a:rPr>
              <a:t> </a:t>
            </a:r>
            <a:r>
              <a:rPr lang="en-GB" sz="2600" b="0" dirty="0" smtClean="0">
                <a:latin typeface="Calibri" panose="020F0502020204030204" charset="0"/>
                <a:cs typeface="Calibri" panose="020F0502020204030204" charset="0"/>
                <a:sym typeface="+mn-ea"/>
              </a:rPr>
              <a:t>Requirements refinement</a:t>
            </a:r>
            <a:r>
              <a:rPr lang="en-US" altLang="en-GB" sz="2600" b="0" dirty="0" smtClean="0">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需求精化</a:t>
            </a:r>
            <a:endParaRPr lang="en-GB" sz="2600" b="0" dirty="0" smtClean="0">
              <a:latin typeface="Calibri" panose="020F0502020204030204" charset="0"/>
              <a:cs typeface="Calibri" panose="020F0502020204030204" charset="0"/>
              <a:sym typeface="+mn-ea"/>
            </a:endParaRPr>
          </a:p>
          <a:p>
            <a:pPr marL="457200" lvl="1" indent="0" algn="l">
              <a:lnSpc>
                <a:spcPct val="85000"/>
              </a:lnSpc>
              <a:spcBef>
                <a:spcPts val="600"/>
              </a:spcBef>
              <a:spcAft>
                <a:spcPts val="0"/>
              </a:spcAft>
              <a:buNone/>
            </a:pPr>
            <a:r>
              <a:rPr lang="en-GB" sz="2600" b="0" dirty="0" smtClean="0">
                <a:latin typeface="Calibri" panose="020F0502020204030204" charset="0"/>
                <a:cs typeface="Calibri" panose="020F0502020204030204" charset="0"/>
                <a:sym typeface="Symbol" panose="05050102010706020507" charset="0"/>
              </a:rPr>
              <a:t></a:t>
            </a:r>
            <a:r>
              <a:rPr lang="en-US" altLang="en-GB" sz="2600" b="0" dirty="0" smtClean="0">
                <a:latin typeface="Calibri" panose="020F0502020204030204" charset="0"/>
                <a:cs typeface="Calibri" panose="020F0502020204030204" charset="0"/>
                <a:sym typeface="Symbol" panose="05050102010706020507" charset="0"/>
              </a:rPr>
              <a:t> </a:t>
            </a:r>
            <a:r>
              <a:rPr lang="en-GB" sz="2600" b="0" dirty="0" smtClean="0">
                <a:latin typeface="Calibri" panose="020F0502020204030204" charset="0"/>
                <a:cs typeface="Calibri" panose="020F0502020204030204" charset="0"/>
                <a:sym typeface="+mn-ea"/>
              </a:rPr>
              <a:t>Application system configuration</a:t>
            </a:r>
            <a:r>
              <a:rPr lang="en-US" altLang="en-GB" sz="2600" b="0" dirty="0" smtClean="0">
                <a:latin typeface="Calibri" panose="020F0502020204030204" charset="0"/>
                <a:cs typeface="Calibri" panose="020F0502020204030204" charset="0"/>
                <a:sym typeface="+mn-ea"/>
              </a:rPr>
              <a:t> </a:t>
            </a:r>
            <a:r>
              <a:rPr lang="en-US" altLang="en-GB" b="0" dirty="0" smtClean="0">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应用系统配置</a:t>
            </a:r>
            <a:endParaRPr lang="zh-CN" altLang="en-US" sz="2600"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a:p>
            <a:pPr marL="457200" lvl="1" indent="0" algn="l">
              <a:lnSpc>
                <a:spcPct val="85000"/>
              </a:lnSpc>
              <a:spcBef>
                <a:spcPts val="600"/>
              </a:spcBef>
              <a:spcAft>
                <a:spcPts val="0"/>
              </a:spcAft>
              <a:buNone/>
            </a:pPr>
            <a:r>
              <a:rPr lang="en-GB" sz="2600" b="0" dirty="0" smtClean="0">
                <a:latin typeface="Calibri" panose="020F0502020204030204" charset="0"/>
                <a:cs typeface="Calibri" panose="020F0502020204030204" charset="0"/>
                <a:sym typeface="Symbol" panose="05050102010706020507" charset="0"/>
              </a:rPr>
              <a:t></a:t>
            </a:r>
            <a:r>
              <a:rPr lang="en-US" altLang="en-GB" sz="2600" b="0" dirty="0" smtClean="0">
                <a:latin typeface="Calibri" panose="020F0502020204030204" charset="0"/>
                <a:cs typeface="Calibri" panose="020F0502020204030204" charset="0"/>
                <a:sym typeface="Symbol" panose="05050102010706020507" charset="0"/>
              </a:rPr>
              <a:t> </a:t>
            </a:r>
            <a:r>
              <a:rPr lang="en-GB" sz="2600" b="0" dirty="0" smtClean="0">
                <a:latin typeface="Calibri" panose="020F0502020204030204" charset="0"/>
                <a:cs typeface="Calibri" panose="020F0502020204030204" charset="0"/>
                <a:sym typeface="+mn-ea"/>
              </a:rPr>
              <a:t>Component adaptation and integration</a:t>
            </a:r>
            <a:r>
              <a:rPr lang="en-US" altLang="en-GB" sz="2600" b="0" dirty="0" smtClean="0">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构件适配和集成</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8035"/>
            <a:ext cx="8554085"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Advantages and disadvantages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优缺点</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84935"/>
            <a:ext cx="8922385" cy="42062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Reduced costs and risks as less software is developed from scratch</a:t>
            </a:r>
            <a:r>
              <a:rPr lang="en-US" sz="3200" dirty="0" smtClean="0">
                <a:solidFill>
                  <a:schemeClr val="accent2">
                    <a:lumMod val="75000"/>
                  </a:schemeClr>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降低成本和风险</a:t>
            </a:r>
            <a:endParaRPr sz="32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Faster delivery and deployment of system</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快速交付和部署</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But requirements compromises are inevitable so system may not meet real needs of users</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可能不满足用户的真正需求</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Loss of control over evolution of reused system elements</a:t>
            </a:r>
            <a:r>
              <a:rPr lang="en-GB" sz="3200" dirty="0" smtClean="0">
                <a:solidFill>
                  <a:schemeClr val="accent2">
                    <a:lumMod val="75000"/>
                  </a:schemeClr>
                </a:solidFill>
                <a:latin typeface="Calibri" panose="020F0502020204030204" charset="0"/>
                <a:cs typeface="Calibri" panose="020F0502020204030204" charset="0"/>
              </a:rPr>
              <a:t>. </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失去对重用系统演化的控制</a:t>
            </a:r>
            <a:endParaRPr lang="zh-CN" altLang="en-US" sz="3200" b="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8035"/>
            <a:ext cx="8554085"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Process activities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过程活动</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84935"/>
            <a:ext cx="8922385" cy="48266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1000"/>
              </a:spcBef>
              <a:spcAft>
                <a:spcPts val="0"/>
              </a:spcAft>
            </a:pPr>
            <a:r>
              <a:rPr sz="3100" dirty="0" smtClean="0">
                <a:solidFill>
                  <a:schemeClr val="accent2">
                    <a:lumMod val="75000"/>
                  </a:schemeClr>
                </a:solidFill>
                <a:latin typeface="Calibri" panose="020F0502020204030204" charset="0"/>
                <a:cs typeface="Calibri" panose="020F0502020204030204" charset="0"/>
              </a:rPr>
              <a:t>Real software processes are inter-leaved sequences of </a:t>
            </a:r>
            <a:r>
              <a:rPr sz="3100" u="sng" dirty="0" smtClean="0">
                <a:solidFill>
                  <a:schemeClr val="accent2">
                    <a:lumMod val="75000"/>
                  </a:schemeClr>
                </a:solidFill>
                <a:latin typeface="Calibri" panose="020F0502020204030204" charset="0"/>
                <a:cs typeface="Calibri" panose="020F0502020204030204" charset="0"/>
              </a:rPr>
              <a:t>technical</a:t>
            </a:r>
            <a:r>
              <a:rPr sz="3100" dirty="0" smtClean="0">
                <a:solidFill>
                  <a:schemeClr val="accent2">
                    <a:lumMod val="75000"/>
                  </a:schemeClr>
                </a:solidFill>
                <a:latin typeface="Calibri" panose="020F0502020204030204" charset="0"/>
                <a:cs typeface="Calibri" panose="020F0502020204030204" charset="0"/>
              </a:rPr>
              <a:t>, </a:t>
            </a:r>
            <a:r>
              <a:rPr sz="3100" u="sng" dirty="0" smtClean="0">
                <a:solidFill>
                  <a:schemeClr val="accent2">
                    <a:lumMod val="75000"/>
                  </a:schemeClr>
                </a:solidFill>
                <a:latin typeface="Calibri" panose="020F0502020204030204" charset="0"/>
                <a:cs typeface="Calibri" panose="020F0502020204030204" charset="0"/>
              </a:rPr>
              <a:t>collaborative</a:t>
            </a:r>
            <a:r>
              <a:rPr sz="3100" dirty="0" smtClean="0">
                <a:solidFill>
                  <a:schemeClr val="accent2">
                    <a:lumMod val="75000"/>
                  </a:schemeClr>
                </a:solidFill>
                <a:latin typeface="Calibri" panose="020F0502020204030204" charset="0"/>
                <a:cs typeface="Calibri" panose="020F0502020204030204" charset="0"/>
              </a:rPr>
              <a:t> and </a:t>
            </a:r>
            <a:r>
              <a:rPr sz="3100" u="sng" dirty="0" smtClean="0">
                <a:solidFill>
                  <a:schemeClr val="accent2">
                    <a:lumMod val="75000"/>
                  </a:schemeClr>
                </a:solidFill>
                <a:latin typeface="Calibri" panose="020F0502020204030204" charset="0"/>
                <a:cs typeface="Calibri" panose="020F0502020204030204" charset="0"/>
              </a:rPr>
              <a:t>managerial</a:t>
            </a:r>
            <a:r>
              <a:rPr sz="3100" dirty="0" smtClean="0">
                <a:solidFill>
                  <a:schemeClr val="accent2">
                    <a:lumMod val="75000"/>
                  </a:schemeClr>
                </a:solidFill>
                <a:latin typeface="Calibri" panose="020F0502020204030204" charset="0"/>
                <a:cs typeface="Calibri" panose="020F0502020204030204" charset="0"/>
              </a:rPr>
              <a:t> activities with the overall goal of specifying, designing, implementing and testing a software system. </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软件过程：技术、协作、管理三活动交织的过程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gn="l">
              <a:lnSpc>
                <a:spcPct val="90000"/>
              </a:lnSpc>
              <a:spcBef>
                <a:spcPts val="1000"/>
              </a:spcBef>
              <a:spcAft>
                <a:spcPts val="0"/>
              </a:spcAft>
            </a:pPr>
            <a:r>
              <a:rPr sz="3100" dirty="0" smtClean="0">
                <a:solidFill>
                  <a:schemeClr val="accent2">
                    <a:lumMod val="75000"/>
                  </a:schemeClr>
                </a:solidFill>
                <a:latin typeface="Calibri" panose="020F0502020204030204" charset="0"/>
                <a:cs typeface="Calibri" panose="020F0502020204030204" charset="0"/>
                <a:sym typeface="Symbol" panose="05050102010706020507" charset="0"/>
              </a:rPr>
              <a:t>Generally, processes are now </a:t>
            </a:r>
            <a:r>
              <a:rPr sz="3100" u="sng" dirty="0" smtClean="0">
                <a:solidFill>
                  <a:schemeClr val="accent2">
                    <a:lumMod val="75000"/>
                  </a:schemeClr>
                </a:solidFill>
                <a:latin typeface="Calibri" panose="020F0502020204030204" charset="0"/>
                <a:cs typeface="Calibri" panose="020F0502020204030204" charset="0"/>
                <a:sym typeface="Symbol" panose="05050102010706020507" charset="0"/>
              </a:rPr>
              <a:t>tool-supported</a:t>
            </a:r>
            <a:r>
              <a:rPr sz="3100" dirty="0" smtClean="0">
                <a:solidFill>
                  <a:schemeClr val="accent2">
                    <a:lumMod val="75000"/>
                  </a:schemeClr>
                </a:solidFill>
                <a:latin typeface="Calibri" panose="020F0502020204030204" charset="0"/>
                <a:cs typeface="Calibri" panose="020F0502020204030204" charset="0"/>
                <a:sym typeface="Symbol" panose="05050102010706020507" charset="0"/>
              </a:rPr>
              <a:t>. This </a:t>
            </a:r>
            <a:r>
              <a:rPr sz="3100" dirty="0" smtClean="0">
                <a:solidFill>
                  <a:schemeClr val="accent2">
                    <a:lumMod val="75000"/>
                  </a:schemeClr>
                </a:solidFill>
                <a:latin typeface="Calibri" panose="020F0502020204030204" charset="0"/>
                <a:cs typeface="Calibri" panose="020F0502020204030204" charset="0"/>
                <a:sym typeface="+mn-ea"/>
              </a:rPr>
              <a:t>means that software developers may use a range of software tools to help them, such as requirements management systems, design model editors, program editors, automated testing tools, and debuggers.</a:t>
            </a:r>
            <a:r>
              <a:rPr lang="en-US" sz="3100" dirty="0" smtClean="0">
                <a:solidFill>
                  <a:schemeClr val="accent2">
                    <a:lumMod val="75000"/>
                  </a:schemeClr>
                </a:solidFill>
                <a:latin typeface="Calibri" panose="020F0502020204030204" charset="0"/>
                <a:cs typeface="Calibri" panose="020F0502020204030204" charset="0"/>
                <a:sym typeface="+mn-ea"/>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是工具支持的</a:t>
            </a:r>
            <a:endParaRPr lang="en-GB" sz="3100"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7395"/>
            <a:ext cx="8785225" cy="5308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知识链接</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0" y="1289050"/>
            <a:ext cx="9144000" cy="5350510"/>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241425"/>
            <a:ext cx="8922385" cy="52304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800"/>
              </a:spcBef>
              <a:spcAft>
                <a:spcPts val="0"/>
              </a:spcAft>
            </a:pPr>
            <a:r>
              <a:rPr sz="3000" dirty="0" smtClean="0">
                <a:solidFill>
                  <a:schemeClr val="accent2">
                    <a:lumMod val="75000"/>
                  </a:schemeClr>
                </a:solidFill>
                <a:latin typeface="Calibri" panose="020F0502020204030204" charset="0"/>
                <a:cs typeface="Calibri" panose="020F0502020204030204" charset="0"/>
              </a:rPr>
              <a:t>Software specification or requirements engineering </a:t>
            </a:r>
            <a:r>
              <a:rPr lang="en-US" sz="3000" dirty="0" smtClean="0">
                <a:solidFill>
                  <a:schemeClr val="accent2">
                    <a:lumMod val="75000"/>
                  </a:schemeClr>
                </a:solidFill>
                <a:latin typeface="Calibri" panose="020F0502020204030204" charset="0"/>
                <a:cs typeface="Calibri" panose="020F0502020204030204" charset="0"/>
              </a:rPr>
              <a:t>(RE) </a:t>
            </a:r>
            <a:r>
              <a:rPr sz="3000" dirty="0" smtClean="0">
                <a:solidFill>
                  <a:schemeClr val="accent2">
                    <a:lumMod val="75000"/>
                  </a:schemeClr>
                </a:solidFill>
                <a:latin typeface="Calibri" panose="020F0502020204030204" charset="0"/>
                <a:cs typeface="Calibri" panose="020F0502020204030204" charset="0"/>
              </a:rPr>
              <a:t>is the process of understanding</a:t>
            </a:r>
            <a:r>
              <a:rPr lang="en-US" sz="3000" dirty="0" smtClean="0">
                <a:solidFill>
                  <a:schemeClr val="accent2">
                    <a:lumMod val="75000"/>
                  </a:schemeClr>
                </a:solidFill>
                <a:latin typeface="Calibri" panose="020F0502020204030204" charset="0"/>
                <a:cs typeface="Calibri" panose="020F0502020204030204" charset="0"/>
              </a:rPr>
              <a:t> </a:t>
            </a:r>
            <a:r>
              <a:rPr sz="3000" dirty="0" smtClean="0">
                <a:solidFill>
                  <a:schemeClr val="accent2">
                    <a:lumMod val="75000"/>
                  </a:schemeClr>
                </a:solidFill>
                <a:latin typeface="Calibri" panose="020F0502020204030204" charset="0"/>
                <a:cs typeface="Calibri" panose="020F0502020204030204" charset="0"/>
              </a:rPr>
              <a:t>and defining what services are required from the system and identifying the constraints on the system’s operation and development. </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服务需求+约束</a:t>
            </a:r>
            <a:endParaRPr sz="3200" dirty="0" smtClean="0">
              <a:solidFill>
                <a:schemeClr val="accent2">
                  <a:lumMod val="75000"/>
                </a:schemeClr>
              </a:solidFill>
              <a:latin typeface="Calibri" panose="020F0502020204030204" charset="0"/>
              <a:cs typeface="Calibri" panose="020F0502020204030204" charset="0"/>
            </a:endParaRPr>
          </a:p>
          <a:p>
            <a:pPr lvl="1" algn="l">
              <a:lnSpc>
                <a:spcPct val="90000"/>
              </a:lnSpc>
              <a:spcBef>
                <a:spcPts val="800"/>
              </a:spcBef>
              <a:spcAft>
                <a:spcPts val="0"/>
              </a:spcAft>
            </a:pPr>
            <a:r>
              <a:rPr lang="en-US" altLang="en-GB" sz="2600" b="0" dirty="0" smtClean="0">
                <a:latin typeface="Calibri" panose="020F0502020204030204" charset="0"/>
                <a:cs typeface="Calibri" panose="020F0502020204030204" charset="0"/>
                <a:sym typeface="+mn-ea"/>
              </a:rPr>
              <a:t>It</a:t>
            </a:r>
            <a:r>
              <a:rPr lang="en-GB" sz="2600" b="0" dirty="0" smtClean="0">
                <a:latin typeface="Calibri" panose="020F0502020204030204" charset="0"/>
                <a:cs typeface="Calibri" panose="020F0502020204030204" charset="0"/>
                <a:sym typeface="+mn-ea"/>
              </a:rPr>
              <a:t> is a particularly </a:t>
            </a:r>
            <a:r>
              <a:rPr lang="en-GB" sz="2600" b="0" u="sng" dirty="0" smtClean="0">
                <a:latin typeface="Calibri" panose="020F0502020204030204" charset="0"/>
                <a:cs typeface="Calibri" panose="020F0502020204030204" charset="0"/>
                <a:sym typeface="+mn-ea"/>
              </a:rPr>
              <a:t>critical</a:t>
            </a:r>
            <a:r>
              <a:rPr lang="en-GB" sz="2600" b="0" dirty="0" smtClean="0">
                <a:latin typeface="Calibri" panose="020F0502020204030204" charset="0"/>
                <a:cs typeface="Calibri" panose="020F0502020204030204" charset="0"/>
                <a:sym typeface="+mn-ea"/>
              </a:rPr>
              <a:t> stage of the software process, as mistakes made at this stage inevitably lead to later problems in the system design and implementation</a:t>
            </a:r>
            <a:r>
              <a:rPr lang="en-US" altLang="en-GB" sz="2600" b="0" dirty="0" smtClean="0">
                <a:latin typeface="Calibri" panose="020F0502020204030204" charset="0"/>
                <a:cs typeface="Calibri" panose="020F0502020204030204" charset="0"/>
                <a:sym typeface="+mn-ea"/>
              </a:rPr>
              <a:t>.</a:t>
            </a:r>
            <a:endParaRPr lang="en-US" altLang="en-GB" sz="2600" b="0" dirty="0" smtClean="0">
              <a:latin typeface="Calibri" panose="020F0502020204030204" charset="0"/>
              <a:cs typeface="Calibri" panose="020F0502020204030204" charset="0"/>
              <a:sym typeface="+mn-ea"/>
            </a:endParaRPr>
          </a:p>
          <a:p>
            <a:pPr lvl="1" algn="l">
              <a:lnSpc>
                <a:spcPct val="90000"/>
              </a:lnSpc>
              <a:spcBef>
                <a:spcPts val="800"/>
              </a:spcBef>
              <a:spcAft>
                <a:spcPts val="0"/>
              </a:spcAft>
            </a:pPr>
            <a:r>
              <a:rPr lang="en-US" altLang="en-GB" sz="2600" b="0" dirty="0" smtClean="0">
                <a:latin typeface="Calibri" panose="020F0502020204030204" charset="0"/>
                <a:cs typeface="Calibri" panose="020F0502020204030204" charset="0"/>
              </a:rPr>
              <a:t>It</a:t>
            </a:r>
            <a:r>
              <a:rPr lang="en-GB" sz="2600" b="0" dirty="0" smtClean="0">
                <a:latin typeface="Calibri" panose="020F0502020204030204" charset="0"/>
                <a:cs typeface="Calibri" panose="020F0502020204030204" charset="0"/>
              </a:rPr>
              <a:t> aims to produce an agreed </a:t>
            </a:r>
            <a:r>
              <a:rPr lang="en-GB" sz="2600" b="0" u="sng" dirty="0" smtClean="0">
                <a:latin typeface="Calibri" panose="020F0502020204030204" charset="0"/>
                <a:cs typeface="Calibri" panose="020F0502020204030204" charset="0"/>
              </a:rPr>
              <a:t>requirements document</a:t>
            </a:r>
            <a:r>
              <a:rPr lang="en-GB" sz="2600" b="0" dirty="0" smtClean="0">
                <a:latin typeface="Calibri" panose="020F0502020204030204" charset="0"/>
                <a:cs typeface="Calibri" panose="020F0502020204030204" charset="0"/>
              </a:rPr>
              <a:t> that specifies a system satisfying stakeholder requirements</a:t>
            </a:r>
            <a:r>
              <a:rPr lang="en-US" altLang="en-GB" sz="2600" b="0" dirty="0" smtClean="0">
                <a:latin typeface="Calibri" panose="020F0502020204030204" charset="0"/>
                <a:cs typeface="Calibri" panose="020F0502020204030204" charset="0"/>
              </a:rPr>
              <a:t>.</a:t>
            </a:r>
            <a:endParaRPr lang="en-GB" sz="2600" b="0" dirty="0" smtClean="0">
              <a:latin typeface="Calibri" panose="020F0502020204030204" charset="0"/>
              <a:cs typeface="Calibri" panose="020F0502020204030204" charset="0"/>
            </a:endParaRPr>
          </a:p>
          <a:p>
            <a:pPr lvl="1" algn="l">
              <a:lnSpc>
                <a:spcPct val="90000"/>
              </a:lnSpc>
              <a:spcBef>
                <a:spcPts val="800"/>
              </a:spcBef>
              <a:spcAft>
                <a:spcPts val="0"/>
              </a:spcAft>
            </a:pPr>
            <a:r>
              <a:rPr lang="en-GB" sz="2600" b="0" dirty="0" smtClean="0">
                <a:latin typeface="Calibri" panose="020F0502020204030204" charset="0"/>
                <a:cs typeface="Calibri" panose="020F0502020204030204" charset="0"/>
              </a:rPr>
              <a:t>Requirements are usually presented at </a:t>
            </a:r>
            <a:r>
              <a:rPr lang="en-GB" sz="2600" b="0" u="sng" dirty="0" smtClean="0">
                <a:latin typeface="Calibri" panose="020F0502020204030204" charset="0"/>
                <a:cs typeface="Calibri" panose="020F0502020204030204" charset="0"/>
              </a:rPr>
              <a:t>two levels</a:t>
            </a:r>
            <a:r>
              <a:rPr lang="en-GB" sz="2600" b="0" dirty="0" smtClean="0">
                <a:latin typeface="Calibri" panose="020F0502020204030204" charset="0"/>
                <a:cs typeface="Calibri" panose="020F0502020204030204" charset="0"/>
              </a:rPr>
              <a:t> of detail. </a:t>
            </a:r>
            <a:r>
              <a:rPr lang="en-GB" b="0" dirty="0" smtClean="0">
                <a:latin typeface="Calibri" panose="020F0502020204030204" charset="0"/>
                <a:cs typeface="Calibri" panose="020F0502020204030204" charset="0"/>
              </a:rPr>
              <a:t>End-users and customers need a high-level statement of the requirements; system developers need a more detailed system specification</a:t>
            </a:r>
            <a:r>
              <a:rPr lang="en-US" altLang="en-GB" b="0" dirty="0" smtClean="0">
                <a:latin typeface="Calibri" panose="020F0502020204030204" charset="0"/>
                <a:cs typeface="Calibri" panose="020F0502020204030204" charset="0"/>
              </a:rPr>
              <a:t>.</a:t>
            </a:r>
            <a:endParaRPr lang="en-US" altLang="en-GB" b="0" dirty="0" smtClean="0">
              <a:solidFill>
                <a:schemeClr val="accent2">
                  <a:lumMod val="75000"/>
                </a:schemeClr>
              </a:solidFill>
              <a:latin typeface="Calibri" panose="020F0502020204030204" charset="0"/>
              <a:cs typeface="Calibri" panose="020F0502020204030204" charset="0"/>
            </a:endParaRPr>
          </a:p>
        </p:txBody>
      </p:sp>
      <p:sp>
        <p:nvSpPr>
          <p:cNvPr id="3" name="Rectangle 3"/>
          <p:cNvSpPr>
            <a:spLocks noGrp="1" noRot="1"/>
          </p:cNvSpPr>
          <p:nvPr>
            <p:ph type="subTitle" idx="1"/>
            <p:custDataLst>
              <p:tags r:id="rId2"/>
            </p:custDataLst>
          </p:nvPr>
        </p:nvSpPr>
        <p:spPr>
          <a:xfrm>
            <a:off x="88900" y="716280"/>
            <a:ext cx="8851900"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requirements engineering </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需求工程</a:t>
            </a:r>
            <a:endParaRPr lang="zh-CN" altLang="en-US" sz="3200"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8035"/>
            <a:ext cx="8554085"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requirements engineering process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760730" y="1318895"/>
            <a:ext cx="7602220" cy="5344160"/>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8035"/>
            <a:ext cx="8554085" cy="5753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specification</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84995" name="Rectangle 3"/>
          <p:cNvSpPr>
            <a:spLocks noGrp="1" noChangeArrowheads="1"/>
          </p:cNvSpPr>
          <p:nvPr/>
        </p:nvSpPr>
        <p:spPr>
          <a:xfrm>
            <a:off x="89535" y="1313180"/>
            <a:ext cx="8943340" cy="52324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GB" sz="3100" dirty="0" smtClean="0">
                <a:solidFill>
                  <a:schemeClr val="accent2">
                    <a:lumMod val="75000"/>
                  </a:schemeClr>
                </a:solidFill>
                <a:latin typeface="Calibri" panose="020F0502020204030204" charset="0"/>
                <a:cs typeface="Calibri" panose="020F0502020204030204" charset="0"/>
              </a:rPr>
              <a:t>Th</a:t>
            </a:r>
            <a:r>
              <a:rPr lang="en-US" altLang="en-GB" sz="3100" dirty="0" smtClean="0">
                <a:solidFill>
                  <a:schemeClr val="accent2">
                    <a:lumMod val="75000"/>
                  </a:schemeClr>
                </a:solidFill>
                <a:latin typeface="Calibri" panose="020F0502020204030204" charset="0"/>
                <a:cs typeface="Calibri" panose="020F0502020204030204" charset="0"/>
              </a:rPr>
              <a:t>ree</a:t>
            </a:r>
            <a:r>
              <a:rPr lang="en-GB" sz="3100" dirty="0" smtClean="0">
                <a:solidFill>
                  <a:schemeClr val="accent2">
                    <a:lumMod val="75000"/>
                  </a:schemeClr>
                </a:solidFill>
                <a:latin typeface="Calibri" panose="020F0502020204030204" charset="0"/>
                <a:cs typeface="Calibri" panose="020F0502020204030204" charset="0"/>
              </a:rPr>
              <a:t> main activities in the</a:t>
            </a:r>
            <a:r>
              <a:rPr lang="en-US" altLang="en-GB" sz="3100" dirty="0" smtClean="0">
                <a:solidFill>
                  <a:schemeClr val="accent2">
                    <a:lumMod val="75000"/>
                  </a:schemeClr>
                </a:solidFill>
                <a:latin typeface="Calibri" panose="020F0502020204030204" charset="0"/>
                <a:cs typeface="Calibri" panose="020F0502020204030204" charset="0"/>
              </a:rPr>
              <a:t> RE</a:t>
            </a:r>
            <a:r>
              <a:rPr lang="en-GB" sz="3100" dirty="0" smtClean="0">
                <a:solidFill>
                  <a:schemeClr val="accent2">
                    <a:lumMod val="75000"/>
                  </a:schemeClr>
                </a:solidFill>
                <a:latin typeface="Calibri" panose="020F0502020204030204" charset="0"/>
                <a:cs typeface="Calibri" panose="020F0502020204030204" charset="0"/>
              </a:rPr>
              <a:t> process</a:t>
            </a:r>
            <a:r>
              <a:rPr lang="en-US" altLang="en-GB"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主要RE过程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Requirements elicitation and analysis</a:t>
            </a:r>
            <a:r>
              <a:rPr lang="en-US" altLang="en-GB" sz="2800" dirty="0" smtClean="0">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需求抽取和分析</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2">
              <a:lnSpc>
                <a:spcPct val="90000"/>
              </a:lnSpc>
              <a:spcBef>
                <a:spcPts val="600"/>
              </a:spcBef>
              <a:spcAft>
                <a:spcPts val="0"/>
              </a:spcAft>
            </a:pPr>
            <a:r>
              <a:rPr lang="en-GB" sz="2400" b="0" dirty="0" smtClean="0">
                <a:latin typeface="Calibri" panose="020F0502020204030204" charset="0"/>
                <a:cs typeface="Calibri" panose="020F0502020204030204" charset="0"/>
              </a:rPr>
              <a:t>What do the system stakeholders require from the system?</a:t>
            </a:r>
            <a:endParaRPr lang="en-GB" sz="2400" b="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Requirements specification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需求规格说明</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2">
              <a:lnSpc>
                <a:spcPct val="90000"/>
              </a:lnSpc>
              <a:spcBef>
                <a:spcPts val="600"/>
              </a:spcBef>
              <a:spcAft>
                <a:spcPts val="0"/>
              </a:spcAft>
            </a:pPr>
            <a:r>
              <a:rPr lang="en-GB" sz="2400" b="0" dirty="0" smtClean="0">
                <a:latin typeface="Calibri" panose="020F0502020204030204" charset="0"/>
                <a:cs typeface="Calibri" panose="020F0502020204030204" charset="0"/>
              </a:rPr>
              <a:t>Defining the requirements in detail</a:t>
            </a:r>
            <a:r>
              <a:rPr lang="en-US" altLang="en-GB" sz="2400" b="0" dirty="0" smtClean="0">
                <a:latin typeface="Calibri" panose="020F0502020204030204" charset="0"/>
                <a:cs typeface="Calibri" panose="020F0502020204030204" charset="0"/>
              </a:rPr>
              <a:t>.</a:t>
            </a:r>
            <a:endParaRPr lang="en-GB" sz="2400" b="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dirty="0" smtClean="0">
                <a:latin typeface="Calibri" panose="020F0502020204030204" charset="0"/>
                <a:cs typeface="Calibri" panose="020F0502020204030204" charset="0"/>
              </a:rPr>
              <a:t>Requirements validation</a:t>
            </a:r>
            <a:r>
              <a:rPr lang="en-US" altLang="en-GB" sz="2800" dirty="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需求确认</a:t>
            </a:r>
            <a:endParaRPr lang="en-GB" sz="2800" dirty="0" smtClean="0">
              <a:latin typeface="Calibri" panose="020F0502020204030204" charset="0"/>
              <a:cs typeface="Calibri" panose="020F0502020204030204" charset="0"/>
            </a:endParaRPr>
          </a:p>
          <a:p>
            <a:pPr lvl="2">
              <a:lnSpc>
                <a:spcPct val="90000"/>
              </a:lnSpc>
              <a:spcBef>
                <a:spcPts val="600"/>
              </a:spcBef>
              <a:spcAft>
                <a:spcPts val="0"/>
              </a:spcAft>
            </a:pPr>
            <a:r>
              <a:rPr lang="en-GB" sz="2400" b="0" dirty="0" smtClean="0">
                <a:latin typeface="Calibri" panose="020F0502020204030204" charset="0"/>
                <a:cs typeface="Calibri" panose="020F0502020204030204" charset="0"/>
              </a:rPr>
              <a:t>Checking the validity of the requirements</a:t>
            </a:r>
            <a:r>
              <a:rPr lang="en-US" altLang="en-GB" sz="2400" b="0" dirty="0" smtClean="0">
                <a:latin typeface="Calibri" panose="020F0502020204030204" charset="0"/>
                <a:cs typeface="Calibri" panose="020F0502020204030204" charset="0"/>
              </a:rPr>
              <a:t>.</a:t>
            </a:r>
            <a:endParaRPr lang="en-US" altLang="en-GB" sz="2400" b="0" dirty="0" smtClean="0">
              <a:latin typeface="Calibri" panose="020F0502020204030204" charset="0"/>
              <a:cs typeface="Calibri" panose="020F0502020204030204" charset="0"/>
            </a:endParaRPr>
          </a:p>
          <a:p>
            <a:pPr marL="342900" lvl="0" indent="-342900">
              <a:lnSpc>
                <a:spcPct val="90000"/>
              </a:lnSpc>
              <a:spcBef>
                <a:spcPts val="600"/>
              </a:spcBef>
              <a:spcAft>
                <a:spcPts val="0"/>
              </a:spcAft>
              <a:buFont typeface="Wingdings" panose="05000000000000000000" charset="0"/>
              <a:buChar char="²"/>
            </a:pPr>
            <a:r>
              <a:rPr lang="en-GB" sz="3100" dirty="0" smtClean="0">
                <a:solidFill>
                  <a:schemeClr val="accent2">
                    <a:lumMod val="75000"/>
                  </a:schemeClr>
                </a:solidFill>
                <a:latin typeface="Calibri" panose="020F0502020204030204" charset="0"/>
                <a:cs typeface="Calibri" panose="020F0502020204030204" charset="0"/>
              </a:rPr>
              <a:t>Requirements analysis continues during definition and specification, and new</a:t>
            </a:r>
            <a:r>
              <a:rPr lang="en-US" altLang="en-GB" sz="3100" dirty="0" smtClean="0">
                <a:solidFill>
                  <a:schemeClr val="accent2">
                    <a:lumMod val="75000"/>
                  </a:schemeClr>
                </a:solidFill>
                <a:latin typeface="Calibri" panose="020F0502020204030204" charset="0"/>
                <a:cs typeface="Calibri" panose="020F0502020204030204" charset="0"/>
              </a:rPr>
              <a:t> r</a:t>
            </a:r>
            <a:r>
              <a:rPr lang="en-GB" sz="3100" dirty="0" smtClean="0">
                <a:solidFill>
                  <a:schemeClr val="accent2">
                    <a:lumMod val="75000"/>
                  </a:schemeClr>
                </a:solidFill>
                <a:latin typeface="Calibri" panose="020F0502020204030204" charset="0"/>
                <a:cs typeface="Calibri" panose="020F0502020204030204" charset="0"/>
              </a:rPr>
              <a:t>equirements come to light throughout the process. Therefore, the activities of analysis, definition, and specification are interleaved.</a:t>
            </a:r>
            <a:r>
              <a:rPr lang="en-US" altLang="en-GB"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持续进行，新需求出现，活动交织</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8035"/>
            <a:ext cx="8917940" cy="5949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chemeClr val="accent1">
                    <a:lumMod val="75000"/>
                  </a:schemeClr>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Software design and implementation</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设计和实现</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86019" name="Rectangle 3"/>
          <p:cNvSpPr>
            <a:spLocks noGrp="1" noChangeArrowheads="1"/>
          </p:cNvSpPr>
          <p:nvPr/>
        </p:nvSpPr>
        <p:spPr>
          <a:xfrm>
            <a:off x="117475" y="1384935"/>
            <a:ext cx="8888730" cy="47148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GB" sz="3100" smtClean="0">
                <a:solidFill>
                  <a:schemeClr val="accent2">
                    <a:lumMod val="75000"/>
                  </a:schemeClr>
                </a:solidFill>
                <a:latin typeface="Calibri" panose="020F0502020204030204" charset="0"/>
                <a:cs typeface="Calibri" panose="020F0502020204030204" charset="0"/>
              </a:rPr>
              <a:t>The process of converting the system specification into an executable system.</a:t>
            </a:r>
            <a:r>
              <a:rPr lang="en-US" altLang="en-GB" sz="310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规格说明-&gt;可执行系统</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GB" sz="3100" smtClean="0">
                <a:solidFill>
                  <a:schemeClr val="accent2">
                    <a:lumMod val="75000"/>
                  </a:schemeClr>
                </a:solidFill>
                <a:latin typeface="Calibri" panose="020F0502020204030204" charset="0"/>
                <a:cs typeface="Calibri" panose="020F0502020204030204" charset="0"/>
              </a:rPr>
              <a:t>Software design</a:t>
            </a:r>
            <a:r>
              <a:rPr lang="en-US" altLang="en-GB" sz="310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设计</a:t>
            </a:r>
            <a:endParaRPr lang="en-GB" sz="310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smtClean="0">
                <a:latin typeface="Calibri" panose="020F0502020204030204" charset="0"/>
                <a:cs typeface="Calibri" panose="020F0502020204030204" charset="0"/>
              </a:rPr>
              <a:t>Design a software structure that realises the specification;</a:t>
            </a:r>
            <a:endParaRPr lang="en-GB" sz="2800" smtClean="0">
              <a:latin typeface="Calibri" panose="020F0502020204030204" charset="0"/>
              <a:cs typeface="Calibri" panose="020F0502020204030204" charset="0"/>
            </a:endParaRPr>
          </a:p>
          <a:p>
            <a:pPr>
              <a:lnSpc>
                <a:spcPct val="90000"/>
              </a:lnSpc>
              <a:spcBef>
                <a:spcPts val="800"/>
              </a:spcBef>
              <a:spcAft>
                <a:spcPts val="0"/>
              </a:spcAft>
            </a:pPr>
            <a:r>
              <a:rPr lang="en-GB" sz="3100" smtClean="0">
                <a:solidFill>
                  <a:schemeClr val="accent2">
                    <a:lumMod val="75000"/>
                  </a:schemeClr>
                </a:solidFill>
                <a:latin typeface="Calibri" panose="020F0502020204030204" charset="0"/>
                <a:cs typeface="Calibri" panose="020F0502020204030204" charset="0"/>
              </a:rPr>
              <a:t>Implementation</a:t>
            </a:r>
            <a:r>
              <a:rPr lang="en-US" altLang="en-GB" sz="310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实现</a:t>
            </a:r>
            <a:endParaRPr lang="en-GB" sz="310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smtClean="0">
                <a:latin typeface="Calibri" panose="020F0502020204030204" charset="0"/>
                <a:cs typeface="Calibri" panose="020F0502020204030204" charset="0"/>
              </a:rPr>
              <a:t>Translate this structure into an executable program;</a:t>
            </a:r>
            <a:endParaRPr lang="en-GB" sz="2800" smtClean="0">
              <a:latin typeface="Calibri" panose="020F0502020204030204" charset="0"/>
              <a:cs typeface="Calibri" panose="020F0502020204030204" charset="0"/>
            </a:endParaRPr>
          </a:p>
          <a:p>
            <a:pPr>
              <a:lnSpc>
                <a:spcPct val="90000"/>
              </a:lnSpc>
              <a:spcBef>
                <a:spcPts val="800"/>
              </a:spcBef>
              <a:spcAft>
                <a:spcPts val="0"/>
              </a:spcAft>
            </a:pPr>
            <a:r>
              <a:rPr lang="en-GB" sz="3100" smtClean="0">
                <a:solidFill>
                  <a:schemeClr val="accent2">
                    <a:lumMod val="75000"/>
                  </a:schemeClr>
                </a:solidFill>
                <a:latin typeface="Calibri" panose="020F0502020204030204" charset="0"/>
                <a:cs typeface="Calibri" panose="020F0502020204030204" charset="0"/>
              </a:rPr>
              <a:t>The activities of design and implementation are closely related and may be inter-leaved.</a:t>
            </a:r>
            <a:r>
              <a:rPr lang="en-US" altLang="en-GB" sz="310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设计与实现：紧密相关，相互交织</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2771140" y="739140"/>
            <a:ext cx="6292850" cy="5986780"/>
          </a:xfrm>
          <a:prstGeom prst="rect">
            <a:avLst/>
          </a:prstGeom>
        </p:spPr>
      </p:pic>
      <p:sp>
        <p:nvSpPr>
          <p:cNvPr id="15363" name="Rectangle 3"/>
          <p:cNvSpPr>
            <a:spLocks noGrp="1" noRot="1"/>
          </p:cNvSpPr>
          <p:nvPr>
            <p:ph type="subTitle" idx="1"/>
            <p:custDataLst>
              <p:tags r:id="rId2"/>
            </p:custDataLst>
          </p:nvPr>
        </p:nvSpPr>
        <p:spPr>
          <a:xfrm>
            <a:off x="88900" y="788035"/>
            <a:ext cx="3408680" cy="558101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A general model of the design process</a:t>
            </a:r>
            <a:endParaRPr lang="zh-CN" altLang="en-US" sz="2800" dirty="0">
              <a:solidFill>
                <a:schemeClr val="accent1">
                  <a:lumMod val="75000"/>
                </a:schemeClr>
              </a:solidFill>
              <a:ea typeface="宋体" panose="02010600030101010101" pitchFamily="2" charset="-122"/>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b="0" dirty="0">
                <a:solidFill>
                  <a:schemeClr val="tx1"/>
                </a:solidFill>
                <a:ea typeface="宋体" panose="02010600030101010101" pitchFamily="2" charset="-122"/>
                <a:sym typeface="+mn-ea"/>
              </a:rPr>
              <a:t>  </a:t>
            </a:r>
            <a:r>
              <a:rPr lang="en-US" altLang="zh-CN" b="0" dirty="0">
                <a:solidFill>
                  <a:schemeClr val="tx1"/>
                </a:solidFill>
                <a:ea typeface="宋体" panose="02010600030101010101" pitchFamily="2" charset="-122"/>
                <a:sym typeface="Symbol" panose="05050102010706020507" charset="0"/>
              </a:rPr>
              <a:t> </a:t>
            </a:r>
            <a:r>
              <a:rPr lang="en-US" altLang="zh-CN" b="0" dirty="0">
                <a:solidFill>
                  <a:schemeClr val="tx1"/>
                </a:solidFill>
                <a:ea typeface="宋体" panose="02010600030101010101" pitchFamily="2" charset="-122"/>
                <a:sym typeface="+mn-ea"/>
              </a:rPr>
              <a:t>The design process activities are both </a:t>
            </a:r>
            <a:r>
              <a:rPr lang="en-US" altLang="zh-CN" b="0" u="sng" dirty="0">
                <a:solidFill>
                  <a:schemeClr val="tx1"/>
                </a:solidFill>
                <a:ea typeface="宋体" panose="02010600030101010101" pitchFamily="2" charset="-122"/>
                <a:sym typeface="+mn-ea"/>
              </a:rPr>
              <a:t>interleaved</a:t>
            </a:r>
            <a:r>
              <a:rPr lang="en-US" altLang="zh-CN" b="0" dirty="0">
                <a:solidFill>
                  <a:schemeClr val="tx1"/>
                </a:solidFill>
                <a:ea typeface="宋体" panose="02010600030101010101" pitchFamily="2" charset="-122"/>
                <a:sym typeface="+mn-ea"/>
              </a:rPr>
              <a:t> and </a:t>
            </a:r>
            <a:r>
              <a:rPr lang="en-US" altLang="zh-CN" b="0" u="sng" dirty="0">
                <a:solidFill>
                  <a:schemeClr val="tx1"/>
                </a:solidFill>
                <a:ea typeface="宋体" panose="02010600030101010101" pitchFamily="2" charset="-122"/>
                <a:sym typeface="+mn-ea"/>
              </a:rPr>
              <a:t>interdependent</a:t>
            </a:r>
            <a:r>
              <a:rPr lang="en-US" altLang="zh-CN" b="0" dirty="0">
                <a:solidFill>
                  <a:schemeClr val="tx1"/>
                </a:solidFill>
                <a:ea typeface="宋体" panose="02010600030101010101" pitchFamily="2" charset="-122"/>
                <a:sym typeface="+mn-ea"/>
              </a:rPr>
              <a:t>. New information about the design is constantly being generated, and this affects previous design decisions. Design </a:t>
            </a:r>
            <a:r>
              <a:rPr lang="en-US" altLang="zh-CN" b="0" u="sng" dirty="0">
                <a:solidFill>
                  <a:schemeClr val="tx1"/>
                </a:solidFill>
                <a:ea typeface="宋体" panose="02010600030101010101" pitchFamily="2" charset="-122"/>
                <a:sym typeface="+mn-ea"/>
              </a:rPr>
              <a:t>rework</a:t>
            </a:r>
            <a:r>
              <a:rPr lang="en-US" altLang="zh-CN" b="0" dirty="0">
                <a:solidFill>
                  <a:schemeClr val="tx1"/>
                </a:solidFill>
                <a:ea typeface="宋体" panose="02010600030101010101" pitchFamily="2" charset="-122"/>
                <a:sym typeface="+mn-ea"/>
              </a:rPr>
              <a:t> is therefore inevitable.</a:t>
            </a:r>
            <a:endParaRPr lang="en-US" altLang="zh-CN" b="0" dirty="0">
              <a:solidFill>
                <a:schemeClr val="tx1"/>
              </a:solidFill>
              <a:ea typeface="宋体" panose="02010600030101010101" pitchFamily="2" charset="-122"/>
              <a:sym typeface="+mn-ea"/>
            </a:endParaRPr>
          </a:p>
        </p:txBody>
      </p:sp>
      <p:sp>
        <p:nvSpPr>
          <p:cNvPr id="4" name="Rectangle 2"/>
          <p:cNvSpPr>
            <a:spLocks noGrp="1"/>
          </p:cNvSpPr>
          <p:nvPr>
            <p:ph type="title"/>
            <p:custDataLst>
              <p:tags r:id="rId3"/>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4380"/>
            <a:ext cx="8554085" cy="5314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Design activities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设计活动</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13180"/>
            <a:ext cx="8922385" cy="53079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a:t>
            </a:r>
            <a:r>
              <a:rPr sz="3000" i="1" dirty="0" smtClean="0">
                <a:solidFill>
                  <a:schemeClr val="accent2">
                    <a:lumMod val="75000"/>
                  </a:schemeClr>
                </a:solidFill>
                <a:latin typeface="Calibri" panose="020F0502020204030204" charset="0"/>
                <a:cs typeface="Calibri" panose="020F0502020204030204" charset="0"/>
              </a:rPr>
              <a:t>Architectural design</a:t>
            </a:r>
            <a:r>
              <a:rPr sz="3000" dirty="0" smtClean="0">
                <a:solidFill>
                  <a:schemeClr val="accent2">
                    <a:lumMod val="75000"/>
                  </a:schemeClr>
                </a:solidFill>
                <a:latin typeface="Calibri" panose="020F0502020204030204" charset="0"/>
                <a:cs typeface="Calibri" panose="020F0502020204030204" charset="0"/>
              </a:rPr>
              <a:t>, </a:t>
            </a:r>
            <a:r>
              <a:rPr sz="3000" b="0" dirty="0" smtClean="0">
                <a:solidFill>
                  <a:schemeClr val="tx1"/>
                </a:solidFill>
                <a:latin typeface="Calibri" panose="020F0502020204030204" charset="0"/>
                <a:cs typeface="Calibri" panose="020F0502020204030204" charset="0"/>
              </a:rPr>
              <a:t>where you identify the overall structure of the system, the principal components (subsystems or modules), their relationships and how they are distributed.</a:t>
            </a:r>
            <a:r>
              <a:rPr lang="en-US" sz="30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架构设计</a:t>
            </a:r>
            <a:endParaRPr sz="3000" dirty="0" smtClean="0">
              <a:solidFill>
                <a:schemeClr val="accent2">
                  <a:lumMod val="75000"/>
                </a:schemeClr>
              </a:solidFill>
              <a:latin typeface="Calibri" panose="020F0502020204030204" charset="0"/>
              <a:cs typeface="Calibri" panose="020F0502020204030204" charset="0"/>
            </a:endParaRPr>
          </a:p>
          <a:p>
            <a:pPr algn="l">
              <a:lnSpc>
                <a:spcPct val="90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a:t>
            </a:r>
            <a:r>
              <a:rPr sz="3000" i="1" dirty="0" smtClean="0">
                <a:solidFill>
                  <a:schemeClr val="accent2">
                    <a:lumMod val="75000"/>
                  </a:schemeClr>
                </a:solidFill>
                <a:latin typeface="Calibri" panose="020F0502020204030204" charset="0"/>
                <a:cs typeface="Calibri" panose="020F0502020204030204" charset="0"/>
              </a:rPr>
              <a:t>Database design</a:t>
            </a:r>
            <a:r>
              <a:rPr sz="3000" dirty="0" smtClean="0">
                <a:solidFill>
                  <a:schemeClr val="accent2">
                    <a:lumMod val="75000"/>
                  </a:schemeClr>
                </a:solidFill>
                <a:latin typeface="Calibri" panose="020F0502020204030204" charset="0"/>
                <a:cs typeface="Calibri" panose="020F0502020204030204" charset="0"/>
              </a:rPr>
              <a:t>, </a:t>
            </a:r>
            <a:r>
              <a:rPr sz="3000" b="0" dirty="0" smtClean="0">
                <a:solidFill>
                  <a:schemeClr val="tx1"/>
                </a:solidFill>
                <a:latin typeface="Calibri" panose="020F0502020204030204" charset="0"/>
                <a:cs typeface="Calibri" panose="020F0502020204030204" charset="0"/>
              </a:rPr>
              <a:t>where you design the system data structures and how these are to be represented in a database. </a:t>
            </a:r>
            <a:r>
              <a:rPr lang="en-US" sz="30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数据库设计</a:t>
            </a:r>
            <a:endParaRPr sz="3000" dirty="0" smtClean="0">
              <a:solidFill>
                <a:schemeClr val="accent2">
                  <a:lumMod val="75000"/>
                </a:schemeClr>
              </a:solidFill>
              <a:latin typeface="Calibri" panose="020F0502020204030204" charset="0"/>
              <a:cs typeface="Calibri" panose="020F0502020204030204" charset="0"/>
            </a:endParaRPr>
          </a:p>
          <a:p>
            <a:pPr algn="l">
              <a:lnSpc>
                <a:spcPct val="90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a:t>
            </a:r>
            <a:r>
              <a:rPr sz="3000" i="1" dirty="0" smtClean="0">
                <a:solidFill>
                  <a:schemeClr val="accent2">
                    <a:lumMod val="75000"/>
                  </a:schemeClr>
                </a:solidFill>
                <a:latin typeface="Calibri" panose="020F0502020204030204" charset="0"/>
                <a:cs typeface="Calibri" panose="020F0502020204030204" charset="0"/>
              </a:rPr>
              <a:t>Interface design</a:t>
            </a:r>
            <a:r>
              <a:rPr sz="3000" dirty="0" smtClean="0">
                <a:solidFill>
                  <a:schemeClr val="accent2">
                    <a:lumMod val="75000"/>
                  </a:schemeClr>
                </a:solidFill>
                <a:latin typeface="Calibri" panose="020F0502020204030204" charset="0"/>
                <a:cs typeface="Calibri" panose="020F0502020204030204" charset="0"/>
              </a:rPr>
              <a:t>, </a:t>
            </a:r>
            <a:r>
              <a:rPr sz="3000" b="0" dirty="0" smtClean="0">
                <a:solidFill>
                  <a:schemeClr val="tx1"/>
                </a:solidFill>
                <a:latin typeface="Calibri" panose="020F0502020204030204" charset="0"/>
                <a:cs typeface="Calibri" panose="020F0502020204030204" charset="0"/>
              </a:rPr>
              <a:t>where you define the interfaces between system components.</a:t>
            </a:r>
            <a:r>
              <a:rPr sz="3000" dirty="0" smtClean="0">
                <a:solidFill>
                  <a:schemeClr val="accent2">
                    <a:lumMod val="75000"/>
                  </a:schemeClr>
                </a:solidFill>
                <a:latin typeface="Calibri" panose="020F0502020204030204" charset="0"/>
                <a:cs typeface="Calibri" panose="020F0502020204030204" charset="0"/>
              </a:rPr>
              <a:t> </a:t>
            </a:r>
            <a:r>
              <a:rPr lang="en-US" sz="30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接口设计</a:t>
            </a:r>
            <a:endParaRPr sz="3000" dirty="0" smtClean="0">
              <a:solidFill>
                <a:schemeClr val="accent2">
                  <a:lumMod val="75000"/>
                </a:schemeClr>
              </a:solidFill>
              <a:latin typeface="Calibri" panose="020F0502020204030204" charset="0"/>
              <a:cs typeface="Calibri" panose="020F0502020204030204" charset="0"/>
            </a:endParaRPr>
          </a:p>
          <a:p>
            <a:pPr algn="l">
              <a:lnSpc>
                <a:spcPct val="90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a:t>
            </a:r>
            <a:r>
              <a:rPr sz="3000" i="1" dirty="0" smtClean="0">
                <a:solidFill>
                  <a:schemeClr val="accent2">
                    <a:lumMod val="75000"/>
                  </a:schemeClr>
                </a:solidFill>
                <a:latin typeface="Calibri" panose="020F0502020204030204" charset="0"/>
                <a:cs typeface="Calibri" panose="020F0502020204030204" charset="0"/>
              </a:rPr>
              <a:t>Component selection and design</a:t>
            </a:r>
            <a:r>
              <a:rPr sz="3000" dirty="0" smtClean="0">
                <a:solidFill>
                  <a:schemeClr val="accent2">
                    <a:lumMod val="75000"/>
                  </a:schemeClr>
                </a:solidFill>
                <a:latin typeface="Calibri" panose="020F0502020204030204" charset="0"/>
                <a:cs typeface="Calibri" panose="020F0502020204030204" charset="0"/>
              </a:rPr>
              <a:t>, </a:t>
            </a:r>
            <a:r>
              <a:rPr sz="3000" b="0" dirty="0" smtClean="0">
                <a:solidFill>
                  <a:schemeClr val="tx1"/>
                </a:solidFill>
                <a:latin typeface="Calibri" panose="020F0502020204030204" charset="0"/>
                <a:cs typeface="Calibri" panose="020F0502020204030204" charset="0"/>
              </a:rPr>
              <a:t>where you search for reusable components. If unavailable, you design </a:t>
            </a:r>
            <a:r>
              <a:rPr lang="en-US" sz="3000" b="0" dirty="0" smtClean="0">
                <a:solidFill>
                  <a:schemeClr val="tx1"/>
                </a:solidFill>
                <a:latin typeface="Calibri" panose="020F0502020204030204" charset="0"/>
                <a:cs typeface="Calibri" panose="020F0502020204030204" charset="0"/>
              </a:rPr>
              <a:t>new </a:t>
            </a:r>
            <a:r>
              <a:rPr sz="3000" b="0" dirty="0" smtClean="0">
                <a:solidFill>
                  <a:schemeClr val="tx1"/>
                </a:solidFill>
                <a:latin typeface="Calibri" panose="020F0502020204030204" charset="0"/>
                <a:cs typeface="Calibri" panose="020F0502020204030204" charset="0"/>
                <a:sym typeface="+mn-ea"/>
              </a:rPr>
              <a:t>components</a:t>
            </a:r>
            <a:r>
              <a:rPr lang="en-US" sz="3000" b="0" dirty="0" smtClean="0">
                <a:solidFill>
                  <a:schemeClr val="tx1"/>
                </a:solidFill>
                <a:latin typeface="Calibri" panose="020F0502020204030204" charset="0"/>
                <a:cs typeface="Calibri" panose="020F0502020204030204" charset="0"/>
              </a:rPr>
              <a:t>.</a:t>
            </a:r>
            <a:r>
              <a:rPr lang="en-US" sz="30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组件选择和设计</a:t>
            </a:r>
            <a:endParaRPr lang="zh-CN" altLang="en-US" sz="3000" b="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4550"/>
            <a:ext cx="8554085" cy="5905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System implementation</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系统实现</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456690"/>
            <a:ext cx="8922385" cy="49650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10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The software is implemented either by developing a program or by configuring an application system.</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或者开发程序，或者配置系统</a:t>
            </a:r>
            <a:endParaRPr sz="32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10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Design and implementation are interleaved activities for most types of software system.</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多数系统：设计和实现交织  </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gn="l">
              <a:lnSpc>
                <a:spcPct val="90000"/>
              </a:lnSpc>
              <a:spcBef>
                <a:spcPts val="10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Programming is an individual activity with no standard process.</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编程无标准</a:t>
            </a:r>
            <a:endParaRPr sz="32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10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Debugging is the activity of finding program faults and correcting these faults.</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调试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3275"/>
            <a:ext cx="8554085" cy="6064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validation</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软件确认</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84935"/>
            <a:ext cx="8922385" cy="50717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Verification and validation (V &amp; V) is intended to show that a system conforms to its specification and meets the requirements of the system customer.</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验证和确认</a:t>
            </a:r>
            <a:endParaRPr sz="31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Involves checking and review processes and system testing.</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检查+评审+测试</a:t>
            </a:r>
            <a:endParaRPr sz="31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System testing involves executing the system with test cases that are derived from the real data to be processed by the system.</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系统测试</a:t>
            </a:r>
            <a:endParaRPr sz="31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8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Testing is the most commonly used V &amp; V activity.</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测试最常用</a:t>
            </a:r>
            <a:endParaRPr lang="zh-CN" altLang="en-US" sz="3100" b="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1520"/>
            <a:ext cx="8554085" cy="6064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Stages of testing</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测试的阶段</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 name="Rectangle 3"/>
          <p:cNvSpPr>
            <a:spLocks noGrp="1" noRot="1"/>
          </p:cNvSpPr>
          <p:nvPr>
            <p:custDataLst>
              <p:tags r:id="rId3"/>
            </p:custDataLst>
          </p:nvPr>
        </p:nvSpPr>
        <p:spPr>
          <a:xfrm>
            <a:off x="88900" y="3586480"/>
            <a:ext cx="8965565" cy="293116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800"/>
              </a:spcBef>
              <a:buSzTx/>
              <a:buFont typeface="Wingdings" panose="05000000000000000000" pitchFamily="2" charset="2"/>
              <a:buNone/>
            </a:pPr>
            <a:r>
              <a:rPr lang="en-US" altLang="zh-CN" b="0" dirty="0">
                <a:solidFill>
                  <a:schemeClr val="tx1"/>
                </a:solidFill>
                <a:ea typeface="宋体" panose="02010600030101010101" pitchFamily="2" charset="-122"/>
                <a:sym typeface="Symbol" panose="05050102010706020507" charset="0"/>
              </a:rPr>
              <a:t> </a:t>
            </a:r>
            <a:r>
              <a:rPr lang="en-US" altLang="zh-CN" b="0" dirty="0">
                <a:solidFill>
                  <a:schemeClr val="tx1"/>
                </a:solidFill>
                <a:ea typeface="宋体" panose="02010600030101010101" pitchFamily="2" charset="-122"/>
                <a:sym typeface="+mn-ea"/>
              </a:rPr>
              <a:t>Figure 2.6 shows a </a:t>
            </a:r>
            <a:r>
              <a:rPr lang="en-US" altLang="zh-CN" b="0" u="sng" dirty="0">
                <a:solidFill>
                  <a:schemeClr val="tx1"/>
                </a:solidFill>
                <a:ea typeface="宋体" panose="02010600030101010101" pitchFamily="2" charset="-122"/>
                <a:sym typeface="+mn-ea"/>
              </a:rPr>
              <a:t>three-stage testing process</a:t>
            </a:r>
            <a:r>
              <a:rPr lang="en-US" altLang="zh-CN" b="0" dirty="0">
                <a:solidFill>
                  <a:schemeClr val="tx1"/>
                </a:solidFill>
                <a:ea typeface="宋体" panose="02010600030101010101" pitchFamily="2" charset="-122"/>
                <a:sym typeface="+mn-ea"/>
              </a:rPr>
              <a:t> in which system components are individually tested, then the integrated system is tested.   </a:t>
            </a: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三阶段测试过程</a:t>
            </a:r>
            <a:endParaRPr lang="en-US" altLang="zh-CN" b="0" dirty="0">
              <a:solidFill>
                <a:schemeClr val="tx1"/>
              </a:solidFill>
              <a:ea typeface="宋体" panose="02010600030101010101" pitchFamily="2" charset="-122"/>
              <a:sym typeface="+mn-ea"/>
            </a:endParaRPr>
          </a:p>
          <a:p>
            <a:pPr marL="0" indent="0" algn="l" eaLnBrk="1" hangingPunct="1">
              <a:lnSpc>
                <a:spcPct val="90000"/>
              </a:lnSpc>
              <a:spcBef>
                <a:spcPts val="800"/>
              </a:spcBef>
              <a:buSzTx/>
              <a:buFont typeface="Wingdings" panose="05000000000000000000" pitchFamily="2" charset="2"/>
              <a:buNone/>
            </a:pPr>
            <a:r>
              <a:rPr lang="en-US" altLang="zh-CN" b="0" dirty="0">
                <a:ea typeface="宋体" panose="02010600030101010101" pitchFamily="2" charset="-122"/>
                <a:sym typeface="Symbol" panose="05050102010706020507" charset="0"/>
              </a:rPr>
              <a:t> </a:t>
            </a:r>
            <a:r>
              <a:rPr lang="en-US" altLang="zh-CN" b="0" dirty="0">
                <a:solidFill>
                  <a:schemeClr val="tx1"/>
                </a:solidFill>
                <a:ea typeface="宋体" panose="02010600030101010101" pitchFamily="2" charset="-122"/>
                <a:sym typeface="+mn-ea"/>
              </a:rPr>
              <a:t>For custom software, customer testing involves testing the system with real customer data.   </a:t>
            </a:r>
            <a:endParaRPr lang="en-US" altLang="zh-CN" b="0" dirty="0">
              <a:solidFill>
                <a:schemeClr val="tx1"/>
              </a:solidFill>
              <a:ea typeface="宋体" panose="02010600030101010101" pitchFamily="2" charset="-122"/>
              <a:sym typeface="+mn-ea"/>
            </a:endParaRPr>
          </a:p>
          <a:p>
            <a:pPr marL="0" indent="0" algn="l" eaLnBrk="1" hangingPunct="1">
              <a:lnSpc>
                <a:spcPct val="90000"/>
              </a:lnSpc>
              <a:spcBef>
                <a:spcPts val="800"/>
              </a:spcBef>
              <a:buSzTx/>
              <a:buFont typeface="Wingdings" panose="05000000000000000000" pitchFamily="2" charset="2"/>
              <a:buNone/>
            </a:pPr>
            <a:r>
              <a:rPr lang="en-US" altLang="zh-CN" b="0" dirty="0">
                <a:ea typeface="宋体" panose="02010600030101010101" pitchFamily="2" charset="-122"/>
                <a:sym typeface="Symbol" panose="05050102010706020507" charset="0"/>
              </a:rPr>
              <a:t> </a:t>
            </a:r>
            <a:r>
              <a:rPr lang="en-US" altLang="zh-CN" b="0" dirty="0">
                <a:solidFill>
                  <a:schemeClr val="tx1"/>
                </a:solidFill>
                <a:ea typeface="宋体" panose="02010600030101010101" pitchFamily="2" charset="-122"/>
                <a:sym typeface="+mn-ea"/>
              </a:rPr>
              <a:t>For products that are sold as applications, customer testing is sometimes called </a:t>
            </a:r>
            <a:r>
              <a:rPr lang="en-US" altLang="zh-CN" b="0" u="sng" dirty="0">
                <a:solidFill>
                  <a:schemeClr val="tx1"/>
                </a:solidFill>
                <a:ea typeface="宋体" panose="02010600030101010101" pitchFamily="2" charset="-122"/>
                <a:sym typeface="+mn-ea"/>
              </a:rPr>
              <a:t>beta testing</a:t>
            </a:r>
            <a:r>
              <a:rPr lang="en-US" altLang="zh-CN" b="0" dirty="0">
                <a:solidFill>
                  <a:schemeClr val="tx1"/>
                </a:solidFill>
                <a:ea typeface="宋体" panose="02010600030101010101" pitchFamily="2" charset="-122"/>
                <a:sym typeface="+mn-ea"/>
              </a:rPr>
              <a:t> where selected users try out and comment on the software.   </a:t>
            </a: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β测试</a:t>
            </a:r>
            <a:endParaRPr lang="zh-CN" altLang="en-US" b="0" dirty="0">
              <a:solidFill>
                <a:schemeClr val="tx1"/>
              </a:solidFill>
              <a:latin typeface="Arial" panose="020B0604020202020204" pitchFamily="34" charset="0"/>
              <a:ea typeface="宋体" panose="02010600030101010101" pitchFamily="2" charset="-122"/>
              <a:cs typeface="Arial" panose="020B0604020202020204" pitchFamily="34" charset="0"/>
              <a:sym typeface="+mn-ea"/>
            </a:endParaRPr>
          </a:p>
        </p:txBody>
      </p:sp>
      <p:pic>
        <p:nvPicPr>
          <p:cNvPr id="5" name="图片 4"/>
          <p:cNvPicPr>
            <a:picLocks noChangeAspect="1"/>
          </p:cNvPicPr>
          <p:nvPr/>
        </p:nvPicPr>
        <p:blipFill>
          <a:blip r:embed="rId4"/>
          <a:stretch>
            <a:fillRect/>
          </a:stretch>
        </p:blipFill>
        <p:spPr>
          <a:xfrm>
            <a:off x="894715" y="1328420"/>
            <a:ext cx="7488555" cy="213106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4865"/>
            <a:ext cx="8554085" cy="5937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Testing stages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测试阶段</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115715" name="Rectangle 3"/>
          <p:cNvSpPr>
            <a:spLocks noGrp="1" noChangeArrowheads="1"/>
          </p:cNvSpPr>
          <p:nvPr/>
        </p:nvSpPr>
        <p:spPr>
          <a:xfrm>
            <a:off x="128905" y="1456690"/>
            <a:ext cx="8885555" cy="47586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Component testing</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组件测试</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dirty="0" smtClean="0">
                <a:latin typeface="Calibri" panose="020F0502020204030204" charset="0"/>
                <a:cs typeface="Calibri" panose="020F0502020204030204" charset="0"/>
              </a:rPr>
              <a:t>Individual components are tested independently; </a:t>
            </a:r>
            <a:endParaRPr lang="en-GB" sz="2800" dirty="0" smtClean="0">
              <a:latin typeface="Calibri" panose="020F0502020204030204" charset="0"/>
              <a:cs typeface="Calibri" panose="020F0502020204030204" charset="0"/>
            </a:endParaRPr>
          </a:p>
          <a:p>
            <a:pPr lvl="1">
              <a:lnSpc>
                <a:spcPct val="90000"/>
              </a:lnSpc>
              <a:spcBef>
                <a:spcPts val="800"/>
              </a:spcBef>
              <a:spcAft>
                <a:spcPts val="0"/>
              </a:spcAft>
            </a:pPr>
            <a:r>
              <a:rPr lang="en-GB" sz="2800" dirty="0" smtClean="0">
                <a:latin typeface="Calibri" panose="020F0502020204030204" charset="0"/>
                <a:cs typeface="Calibri" panose="020F0502020204030204" charset="0"/>
              </a:rPr>
              <a:t>Components may be functions or objects or coherent groupings of these entities.</a:t>
            </a:r>
            <a:endParaRPr lang="en-GB" sz="2800" dirty="0" smtClean="0">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System testing</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系统测试</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dirty="0" smtClean="0">
                <a:latin typeface="Calibri" panose="020F0502020204030204" charset="0"/>
                <a:cs typeface="Calibri" panose="020F0502020204030204" charset="0"/>
              </a:rPr>
              <a:t>Testing of the system as a whole. Testing of emergent properties is particularly important.</a:t>
            </a:r>
            <a:endParaRPr lang="en-GB" sz="2800" dirty="0" smtClean="0">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Customer testing</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客户测试</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dirty="0" smtClean="0">
                <a:latin typeface="Calibri" panose="020F0502020204030204" charset="0"/>
                <a:cs typeface="Calibri" panose="020F0502020204030204" charset="0"/>
              </a:rPr>
              <a:t>Testing with customer data to check that the system meets the customer’s needs.</a:t>
            </a:r>
            <a:endParaRPr lang="en-GB" sz="2800" dirty="0">
              <a:latin typeface="Calibri" panose="020F0502020204030204" charset="0"/>
              <a:cs typeface="Calibri" panose="020F050202020403020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110"/>
            <a:ext cx="8874125" cy="5937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chemeClr val="accent1">
                    <a:lumMod val="75000"/>
                  </a:schemeClr>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Testing phases in a plan-driven software process</a:t>
            </a:r>
            <a:endParaRPr lang="zh-CN" altLang="en-US" sz="28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85420" y="1273810"/>
            <a:ext cx="8772525" cy="3162300"/>
          </a:xfrm>
          <a:prstGeom prst="rect">
            <a:avLst/>
          </a:prstGeom>
        </p:spPr>
      </p:pic>
      <p:sp>
        <p:nvSpPr>
          <p:cNvPr id="5" name="Rectangle 3"/>
          <p:cNvSpPr>
            <a:spLocks noGrp="1" noRot="1"/>
          </p:cNvSpPr>
          <p:nvPr>
            <p:custDataLst>
              <p:tags r:id="rId4"/>
            </p:custDataLst>
          </p:nvPr>
        </p:nvSpPr>
        <p:spPr>
          <a:xfrm>
            <a:off x="88900" y="4447540"/>
            <a:ext cx="8965565" cy="238188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600"/>
              </a:spcBef>
              <a:buSzTx/>
              <a:buFont typeface="Wingdings" panose="05000000000000000000" pitchFamily="2" charset="2"/>
              <a:buNone/>
            </a:pPr>
            <a:r>
              <a:rPr lang="en-US" altLang="zh-CN" sz="2000" b="0" dirty="0">
                <a:solidFill>
                  <a:schemeClr val="tx1"/>
                </a:solidFill>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When a plan-driven software process is used (e.g., for critical systems development), testing is driven by a set of test plans. An independent team of testers works from these test plans, which have been developed from the system specification and design. Figure 2.7 illustrates how test plans are the link between testing and development activities. </a:t>
            </a:r>
            <a:endParaRPr lang="en-US" altLang="zh-CN" sz="2000" b="0" dirty="0">
              <a:solidFill>
                <a:schemeClr val="tx1"/>
              </a:solidFill>
              <a:ea typeface="宋体" panose="02010600030101010101" pitchFamily="2" charset="-122"/>
              <a:sym typeface="+mn-ea"/>
            </a:endParaRPr>
          </a:p>
          <a:p>
            <a:pPr marL="0" indent="0" algn="l" eaLnBrk="1" hangingPunct="1">
              <a:lnSpc>
                <a:spcPct val="90000"/>
              </a:lnSpc>
              <a:spcBef>
                <a:spcPts val="600"/>
              </a:spcBef>
              <a:buSzTx/>
              <a:buFont typeface="Wingdings" panose="05000000000000000000" pitchFamily="2" charset="2"/>
              <a:buNone/>
            </a:pPr>
            <a:r>
              <a:rPr lang="en-US" altLang="zh-CN" sz="2000" b="0" dirty="0">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This is called the V-model of development (turn it on its side to see the V). The V-model shows the software validation activities that correspond to each stage of the waterfall process model.</a:t>
            </a:r>
            <a:endParaRPr lang="en-US" altLang="zh-CN" sz="2000" b="0" dirty="0">
              <a:solidFill>
                <a:schemeClr val="tx1"/>
              </a:solidFill>
              <a:ea typeface="宋体" panose="02010600030101010101" pitchFamily="2" charset="-122"/>
              <a:sym typeface="+mn-ea"/>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2795"/>
            <a:ext cx="8554085" cy="5905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evolution</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软件演化</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84935"/>
            <a:ext cx="8922385" cy="51212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Software is inherently flexible and can change.</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软件：灵活、可变化 </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gn="l">
              <a:lnSpc>
                <a:spcPct val="90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As requirements change through changing business circumstances, the software that supports the business must also evolve and change.</a:t>
            </a:r>
            <a:r>
              <a:rPr lang="en-US" sz="3100" dirty="0" smtClean="0">
                <a:solidFill>
                  <a:schemeClr val="accent2">
                    <a:lumMod val="75000"/>
                  </a:schemeClr>
                </a:solidFill>
                <a:latin typeface="Calibri" panose="020F0502020204030204" charset="0"/>
                <a:cs typeface="Calibri" panose="020F0502020204030204" charset="0"/>
              </a:rPr>
              <a:t>           </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软件随业务需求演化</a:t>
            </a:r>
            <a:endParaRPr sz="3200" dirty="0" smtClean="0">
              <a:solidFill>
                <a:schemeClr val="accent2">
                  <a:lumMod val="75000"/>
                </a:schemeClr>
              </a:solidFill>
              <a:latin typeface="Calibri" panose="020F0502020204030204" charset="0"/>
              <a:cs typeface="Calibri" panose="020F0502020204030204" charset="0"/>
            </a:endParaRPr>
          </a:p>
          <a:p>
            <a:pPr algn="l">
              <a:lnSpc>
                <a:spcPct val="90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This distinction between development and maintenance is increasingly irrelevant.</a:t>
            </a:r>
            <a:r>
              <a:rPr lang="en-US" sz="3100" dirty="0" smtClean="0">
                <a:solidFill>
                  <a:schemeClr val="accent2">
                    <a:lumMod val="75000"/>
                  </a:schemeClr>
                </a:solidFill>
                <a:latin typeface="Calibri" panose="020F0502020204030204" charset="0"/>
                <a:cs typeface="Calibri" panose="020F0502020204030204" charset="0"/>
              </a:rPr>
              <a:t> </a:t>
            </a:r>
            <a:r>
              <a:rPr sz="3100" dirty="0" smtClean="0">
                <a:solidFill>
                  <a:schemeClr val="accent2">
                    <a:lumMod val="75000"/>
                  </a:schemeClr>
                </a:solidFill>
                <a:latin typeface="Calibri" panose="020F0502020204030204" charset="0"/>
                <a:cs typeface="Calibri" panose="020F0502020204030204" charset="0"/>
              </a:rPr>
              <a:t>Very few software systems are completely new systems, and it makes much more</a:t>
            </a:r>
            <a:r>
              <a:rPr lang="en-US" sz="3100" dirty="0" smtClean="0">
                <a:solidFill>
                  <a:schemeClr val="accent2">
                    <a:lumMod val="75000"/>
                  </a:schemeClr>
                </a:solidFill>
                <a:latin typeface="Calibri" panose="020F0502020204030204" charset="0"/>
                <a:cs typeface="Calibri" panose="020F0502020204030204" charset="0"/>
              </a:rPr>
              <a:t> sense to see development and maintenance as a continuum</a:t>
            </a:r>
            <a:r>
              <a:rPr sz="3100" dirty="0" smtClean="0">
                <a:solidFill>
                  <a:schemeClr val="accent2">
                    <a:lumMod val="75000"/>
                  </a:schemeClr>
                </a:solidFill>
                <a:latin typeface="Calibri" panose="020F0502020204030204" charset="0"/>
                <a:cs typeface="Calibri" panose="020F0502020204030204" charset="0"/>
              </a:rPr>
              <a:t>.</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将开发和维护看做一个连续整体更合理</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4550"/>
            <a:ext cx="8554085" cy="5905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evolution</a:t>
            </a:r>
            <a:r>
              <a:rPr lang="en-US" altLang="zh-CN" sz="3200" dirty="0">
                <a:solidFill>
                  <a:schemeClr val="accent1">
                    <a:lumMod val="75000"/>
                  </a:schemeClr>
                </a:solidFill>
                <a:ea typeface="宋体" panose="02010600030101010101" pitchFamily="2" charset="-122"/>
                <a:sym typeface="+mn-ea"/>
              </a:rPr>
              <a:t>   cont’d</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46685" y="1562735"/>
            <a:ext cx="8851900" cy="2798445"/>
          </a:xfrm>
          <a:prstGeom prst="rect">
            <a:avLst/>
          </a:prstGeom>
        </p:spPr>
      </p:pic>
      <p:sp>
        <p:nvSpPr>
          <p:cNvPr id="5" name="Rectangle 3"/>
          <p:cNvSpPr>
            <a:spLocks noGrp="1" noRot="1"/>
          </p:cNvSpPr>
          <p:nvPr>
            <p:custDataLst>
              <p:tags r:id="rId4"/>
            </p:custDataLst>
          </p:nvPr>
        </p:nvSpPr>
        <p:spPr>
          <a:xfrm>
            <a:off x="88900" y="4519295"/>
            <a:ext cx="8965565" cy="139382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600"/>
              </a:spcBef>
              <a:buSzTx/>
              <a:buFont typeface="Wingdings" panose="05000000000000000000" pitchFamily="2" charset="2"/>
              <a:buNone/>
            </a:pPr>
            <a:r>
              <a:rPr lang="en-US" altLang="zh-CN" sz="2300" b="0" dirty="0">
                <a:solidFill>
                  <a:schemeClr val="tx1"/>
                </a:solidFill>
                <a:ea typeface="宋体" panose="02010600030101010101" pitchFamily="2" charset="-122"/>
                <a:sym typeface="Symbol" panose="05050102010706020507" charset="0"/>
              </a:rPr>
              <a:t> </a:t>
            </a:r>
            <a:r>
              <a:rPr lang="en-US" altLang="zh-CN" sz="2300" b="0" dirty="0">
                <a:solidFill>
                  <a:schemeClr val="tx1"/>
                </a:solidFill>
                <a:ea typeface="宋体" panose="02010600030101010101" pitchFamily="2" charset="-122"/>
                <a:sym typeface="+mn-ea"/>
              </a:rPr>
              <a:t>Rather than two separate processes, it is more realistic to think of software engineering as an </a:t>
            </a:r>
            <a:r>
              <a:rPr lang="en-US" altLang="zh-CN" sz="2300" b="0" u="sng" dirty="0">
                <a:solidFill>
                  <a:schemeClr val="tx1"/>
                </a:solidFill>
                <a:ea typeface="宋体" panose="02010600030101010101" pitchFamily="2" charset="-122"/>
                <a:sym typeface="+mn-ea"/>
              </a:rPr>
              <a:t>evolutionary process</a:t>
            </a:r>
            <a:r>
              <a:rPr lang="en-US" altLang="zh-CN" sz="2300" b="0" dirty="0">
                <a:solidFill>
                  <a:schemeClr val="tx1"/>
                </a:solidFill>
                <a:ea typeface="宋体" panose="02010600030101010101" pitchFamily="2" charset="-122"/>
                <a:sym typeface="+mn-ea"/>
              </a:rPr>
              <a:t> (Figure 2.8) where software is continually changed over its lifetime in response to changing requirements and customer needs.   </a:t>
            </a:r>
            <a:endParaRPr lang="en-US" altLang="zh-CN" sz="2300" b="0" dirty="0">
              <a:solidFill>
                <a:schemeClr val="tx1"/>
              </a:solidFill>
              <a:ea typeface="宋体" panose="02010600030101010101" pitchFamily="2" charset="-122"/>
              <a:sym typeface="+mn-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4865"/>
            <a:ext cx="8554085" cy="5937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Coping with change</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应付变化</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115715" name="Rectangle 3"/>
          <p:cNvSpPr>
            <a:spLocks noGrp="1" noChangeArrowheads="1"/>
          </p:cNvSpPr>
          <p:nvPr/>
        </p:nvSpPr>
        <p:spPr>
          <a:xfrm>
            <a:off x="128905" y="1456690"/>
            <a:ext cx="8885555" cy="49847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1000"/>
              </a:spcBef>
              <a:spcAft>
                <a:spcPts val="0"/>
              </a:spcAft>
            </a:pPr>
            <a:r>
              <a:rPr lang="en-US" altLang="en-GB" sz="3100" b="0" dirty="0" smtClean="0">
                <a:solidFill>
                  <a:schemeClr val="accent2">
                    <a:lumMod val="75000"/>
                  </a:schemeClr>
                </a:solidFill>
                <a:latin typeface="Calibri" panose="020F0502020204030204" charset="0"/>
                <a:cs typeface="Calibri" panose="020F0502020204030204" charset="0"/>
              </a:rPr>
              <a:t> </a:t>
            </a:r>
            <a:r>
              <a:rPr lang="en-GB" sz="3100" b="0" dirty="0" smtClean="0">
                <a:solidFill>
                  <a:schemeClr val="accent2">
                    <a:lumMod val="75000"/>
                  </a:schemeClr>
                </a:solidFill>
                <a:latin typeface="Calibri" panose="020F0502020204030204" charset="0"/>
                <a:cs typeface="Calibri" panose="020F0502020204030204" charset="0"/>
              </a:rPr>
              <a:t>Change is inevitable in all large software projects.</a:t>
            </a:r>
            <a:r>
              <a:rPr lang="en-US" altLang="en-GB" sz="3100" b="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变化不可避免</a:t>
            </a:r>
            <a:endParaRPr lang="en-GB" sz="3100" b="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1000"/>
              </a:spcBef>
              <a:spcAft>
                <a:spcPts val="0"/>
              </a:spcAft>
            </a:pPr>
            <a:r>
              <a:rPr lang="en-GB" sz="2800" dirty="0" smtClean="0">
                <a:latin typeface="Calibri" panose="020F0502020204030204" charset="0"/>
                <a:cs typeface="Calibri" panose="020F0502020204030204" charset="0"/>
              </a:rPr>
              <a:t>Business changes lead to new and changed system requirements</a:t>
            </a:r>
            <a:r>
              <a:rPr lang="en-US" altLang="en-GB" sz="2800" dirty="0" smtClean="0">
                <a:latin typeface="Calibri" panose="020F0502020204030204" charset="0"/>
                <a:cs typeface="Calibri" panose="020F0502020204030204" charset="0"/>
              </a:rPr>
              <a:t>.</a:t>
            </a:r>
            <a:endParaRPr lang="en-GB" sz="2800" dirty="0" smtClean="0">
              <a:latin typeface="Calibri" panose="020F0502020204030204" charset="0"/>
              <a:cs typeface="Calibri" panose="020F0502020204030204" charset="0"/>
            </a:endParaRPr>
          </a:p>
          <a:p>
            <a:pPr lvl="1">
              <a:lnSpc>
                <a:spcPct val="90000"/>
              </a:lnSpc>
              <a:spcBef>
                <a:spcPts val="1000"/>
              </a:spcBef>
              <a:spcAft>
                <a:spcPts val="0"/>
              </a:spcAft>
            </a:pPr>
            <a:r>
              <a:rPr lang="en-GB" sz="2800" dirty="0" smtClean="0">
                <a:latin typeface="Calibri" panose="020F0502020204030204" charset="0"/>
                <a:cs typeface="Calibri" panose="020F0502020204030204" charset="0"/>
              </a:rPr>
              <a:t>New technologies open up new possibilities for improving implementations</a:t>
            </a:r>
            <a:r>
              <a:rPr lang="en-US" altLang="en-GB" sz="2800" dirty="0" smtClean="0">
                <a:latin typeface="Calibri" panose="020F0502020204030204" charset="0"/>
                <a:cs typeface="Calibri" panose="020F0502020204030204" charset="0"/>
              </a:rPr>
              <a:t>.</a:t>
            </a:r>
            <a:endParaRPr lang="en-GB" sz="2800" dirty="0" smtClean="0">
              <a:latin typeface="Calibri" panose="020F0502020204030204" charset="0"/>
              <a:cs typeface="Calibri" panose="020F0502020204030204" charset="0"/>
            </a:endParaRPr>
          </a:p>
          <a:p>
            <a:pPr lvl="1">
              <a:lnSpc>
                <a:spcPct val="90000"/>
              </a:lnSpc>
              <a:spcBef>
                <a:spcPts val="1000"/>
              </a:spcBef>
              <a:spcAft>
                <a:spcPts val="0"/>
              </a:spcAft>
            </a:pPr>
            <a:r>
              <a:rPr lang="en-GB" sz="2800" dirty="0" smtClean="0">
                <a:latin typeface="Calibri" panose="020F0502020204030204" charset="0"/>
                <a:cs typeface="Calibri" panose="020F0502020204030204" charset="0"/>
              </a:rPr>
              <a:t>Changing platforms require application changes.</a:t>
            </a:r>
            <a:endParaRPr lang="en-GB" sz="2800" dirty="0" smtClean="0">
              <a:latin typeface="Calibri" panose="020F0502020204030204" charset="0"/>
              <a:cs typeface="Calibri" panose="020F0502020204030204" charset="0"/>
            </a:endParaRPr>
          </a:p>
          <a:p>
            <a:pPr algn="l">
              <a:lnSpc>
                <a:spcPct val="90000"/>
              </a:lnSpc>
              <a:spcBef>
                <a:spcPts val="1000"/>
              </a:spcBef>
              <a:spcAft>
                <a:spcPts val="0"/>
              </a:spcAft>
            </a:pPr>
            <a:r>
              <a:rPr lang="en-US" altLang="en-GB" sz="3100" b="0" dirty="0" smtClean="0">
                <a:solidFill>
                  <a:schemeClr val="accent2">
                    <a:lumMod val="75000"/>
                  </a:schemeClr>
                </a:solidFill>
                <a:latin typeface="Calibri" panose="020F0502020204030204" charset="0"/>
                <a:cs typeface="Calibri" panose="020F0502020204030204" charset="0"/>
              </a:rPr>
              <a:t> </a:t>
            </a:r>
            <a:r>
              <a:rPr lang="en-GB" sz="3100" b="0" dirty="0" smtClean="0">
                <a:solidFill>
                  <a:schemeClr val="accent2">
                    <a:lumMod val="75000"/>
                  </a:schemeClr>
                </a:solidFill>
                <a:latin typeface="Calibri" panose="020F0502020204030204" charset="0"/>
                <a:cs typeface="Calibri" panose="020F0502020204030204" charset="0"/>
              </a:rPr>
              <a:t>Change leads to rework so the costs of change include both rework (e.g. re-analysing requirements) as well as the costs of implementing new functionality</a:t>
            </a:r>
            <a:r>
              <a:rPr lang="en-US" altLang="en-GB" sz="3100" b="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变化-&gt;返工-&gt;成本(需求再分析+实现新功能)</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0895"/>
            <a:ext cx="8554085" cy="5905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Reducing the costs of rework</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降低返工成本</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115715" name="Rectangle 3"/>
          <p:cNvSpPr>
            <a:spLocks noGrp="1" noChangeArrowheads="1"/>
          </p:cNvSpPr>
          <p:nvPr/>
        </p:nvSpPr>
        <p:spPr>
          <a:xfrm>
            <a:off x="81280" y="1456690"/>
            <a:ext cx="8952230" cy="50393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2900" b="0" dirty="0" smtClean="0">
                <a:solidFill>
                  <a:schemeClr val="accent2">
                    <a:lumMod val="75000"/>
                  </a:schemeClr>
                </a:solidFill>
                <a:latin typeface="Calibri" panose="020F0502020204030204" charset="0"/>
                <a:cs typeface="Calibri" panose="020F0502020204030204" charset="0"/>
              </a:rPr>
              <a:t> </a:t>
            </a:r>
            <a:r>
              <a:rPr lang="en-GB" sz="2900" b="0" u="sng" dirty="0" smtClean="0">
                <a:solidFill>
                  <a:schemeClr val="accent2">
                    <a:lumMod val="75000"/>
                  </a:schemeClr>
                </a:solidFill>
                <a:latin typeface="Calibri" panose="020F0502020204030204" charset="0"/>
                <a:cs typeface="Calibri" panose="020F0502020204030204" charset="0"/>
              </a:rPr>
              <a:t>Change anticipation</a:t>
            </a:r>
            <a:r>
              <a:rPr lang="en-GB" sz="2900" b="0" dirty="0" smtClean="0">
                <a:solidFill>
                  <a:schemeClr val="accent2">
                    <a:lumMod val="75000"/>
                  </a:schemeClr>
                </a:solidFill>
                <a:latin typeface="Calibri" panose="020F0502020204030204" charset="0"/>
                <a:cs typeface="Calibri" panose="020F0502020204030204" charset="0"/>
              </a:rPr>
              <a:t>, where the software process includes activities that can anticipate possible changes before significant rework is required.</a:t>
            </a:r>
            <a:r>
              <a:rPr lang="en-US" altLang="en-GB" sz="2900" b="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变化预见</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GB" sz="2700" b="0" dirty="0" smtClean="0">
                <a:latin typeface="Calibri" panose="020F0502020204030204" charset="0"/>
                <a:cs typeface="Calibri" panose="020F0502020204030204" charset="0"/>
              </a:rPr>
              <a:t>For example, a </a:t>
            </a:r>
            <a:r>
              <a:rPr lang="en-GB" sz="2700" b="0" u="sng" dirty="0" smtClean="0">
                <a:latin typeface="Calibri" panose="020F0502020204030204" charset="0"/>
                <a:cs typeface="Calibri" panose="020F0502020204030204" charset="0"/>
              </a:rPr>
              <a:t>prototype</a:t>
            </a:r>
            <a:r>
              <a:rPr lang="en-GB" sz="2700" b="0" dirty="0" smtClean="0">
                <a:latin typeface="Calibri" panose="020F0502020204030204" charset="0"/>
                <a:cs typeface="Calibri" panose="020F0502020204030204" charset="0"/>
              </a:rPr>
              <a:t> may be developed to show some </a:t>
            </a:r>
            <a:r>
              <a:rPr lang="en-GB" sz="2700" b="0" u="sng" dirty="0" smtClean="0">
                <a:latin typeface="Calibri" panose="020F0502020204030204" charset="0"/>
                <a:cs typeface="Calibri" panose="020F0502020204030204" charset="0"/>
              </a:rPr>
              <a:t>key features</a:t>
            </a:r>
            <a:r>
              <a:rPr lang="en-GB" sz="2700" b="0" dirty="0" smtClean="0">
                <a:latin typeface="Calibri" panose="020F0502020204030204" charset="0"/>
                <a:cs typeface="Calibri" panose="020F0502020204030204" charset="0"/>
              </a:rPr>
              <a:t> of the system to customers.</a:t>
            </a:r>
            <a:r>
              <a:rPr lang="en-US" altLang="en-GB" sz="2700" b="0" dirty="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制作</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原型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GB" sz="2900" b="0" dirty="0" smtClean="0">
                <a:solidFill>
                  <a:schemeClr val="accent2">
                    <a:lumMod val="75000"/>
                  </a:schemeClr>
                </a:solidFill>
                <a:latin typeface="Calibri" panose="020F0502020204030204" charset="0"/>
                <a:cs typeface="Calibri" panose="020F0502020204030204" charset="0"/>
              </a:rPr>
              <a:t> </a:t>
            </a:r>
            <a:r>
              <a:rPr lang="en-GB" sz="2900" b="0" u="sng" dirty="0" smtClean="0">
                <a:solidFill>
                  <a:schemeClr val="accent2">
                    <a:lumMod val="75000"/>
                  </a:schemeClr>
                </a:solidFill>
                <a:latin typeface="Calibri" panose="020F0502020204030204" charset="0"/>
                <a:cs typeface="Calibri" panose="020F0502020204030204" charset="0"/>
              </a:rPr>
              <a:t>Change tolerance</a:t>
            </a:r>
            <a:r>
              <a:rPr lang="en-GB" sz="2900" b="0" dirty="0" smtClean="0">
                <a:solidFill>
                  <a:schemeClr val="accent2">
                    <a:lumMod val="75000"/>
                  </a:schemeClr>
                </a:solidFill>
                <a:latin typeface="Calibri" panose="020F0502020204030204" charset="0"/>
                <a:cs typeface="Calibri" panose="020F0502020204030204" charset="0"/>
              </a:rPr>
              <a:t>, </a:t>
            </a:r>
            <a:r>
              <a:rPr lang="en-US" altLang="en-GB" sz="2900" b="0" dirty="0" smtClean="0">
                <a:solidFill>
                  <a:schemeClr val="accent2">
                    <a:lumMod val="75000"/>
                  </a:schemeClr>
                </a:solidFill>
                <a:latin typeface="Calibri" panose="020F0502020204030204" charset="0"/>
                <a:cs typeface="Calibri" panose="020F0502020204030204" charset="0"/>
              </a:rPr>
              <a:t>where the software are designed so that changes can be easily made to the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变化容忍</a:t>
            </a:r>
            <a:endParaRPr lang="en-GB" sz="2900" b="0" dirty="0" smtClean="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GB" sz="2700" b="0" dirty="0" smtClean="0">
                <a:latin typeface="Calibri" panose="020F0502020204030204" charset="0"/>
                <a:cs typeface="Calibri" panose="020F0502020204030204" charset="0"/>
              </a:rPr>
              <a:t>This normally involves some form of </a:t>
            </a:r>
            <a:r>
              <a:rPr lang="en-GB" sz="2700" b="0" u="sng" dirty="0" smtClean="0">
                <a:latin typeface="Calibri" panose="020F0502020204030204" charset="0"/>
                <a:cs typeface="Calibri" panose="020F0502020204030204" charset="0"/>
              </a:rPr>
              <a:t>incremental</a:t>
            </a:r>
            <a:r>
              <a:rPr lang="en-GB" sz="2700" b="0" dirty="0" smtClean="0">
                <a:latin typeface="Calibri" panose="020F0502020204030204" charset="0"/>
                <a:cs typeface="Calibri" panose="020F0502020204030204" charset="0"/>
              </a:rPr>
              <a:t> development. Proposed changes may be </a:t>
            </a:r>
            <a:r>
              <a:rPr lang="en-GB" sz="2700" b="0" u="sng" dirty="0" smtClean="0">
                <a:latin typeface="Calibri" panose="020F0502020204030204" charset="0"/>
                <a:cs typeface="Calibri" panose="020F0502020204030204" charset="0"/>
              </a:rPr>
              <a:t>implemented in increments</a:t>
            </a:r>
            <a:r>
              <a:rPr lang="en-GB" sz="2700" b="0" dirty="0" smtClean="0">
                <a:latin typeface="Calibri" panose="020F0502020204030204" charset="0"/>
                <a:cs typeface="Calibri" panose="020F0502020204030204" charset="0"/>
              </a:rPr>
              <a:t> that have not yet been developed. If this is impossible, then only a single increment (a small part of the system) may have be altered to incorporate the change.</a:t>
            </a:r>
            <a:r>
              <a:rPr lang="en-US" altLang="en-GB" sz="2700" b="0" dirty="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增量式开发，变化以增量来实现，或者只修改单个增量</a:t>
            </a:r>
            <a:endParaRPr lang="zh-CN" altLang="en-US" sz="2700" b="0" dirty="0" smtClean="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2795"/>
            <a:ext cx="9017635" cy="5905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chemeClr val="accent1">
                    <a:lumMod val="75000"/>
                  </a:schemeClr>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Coping with changing requirements</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应付变化需求</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3795" name="Rectangle 3"/>
          <p:cNvSpPr>
            <a:spLocks noGrp="1" noChangeArrowheads="1"/>
          </p:cNvSpPr>
          <p:nvPr/>
        </p:nvSpPr>
        <p:spPr>
          <a:xfrm>
            <a:off x="117475" y="1313180"/>
            <a:ext cx="8922385" cy="52578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System prototyping, </a:t>
            </a:r>
            <a:r>
              <a:rPr sz="3100" b="0" dirty="0" smtClean="0">
                <a:solidFill>
                  <a:schemeClr val="tx1"/>
                </a:solidFill>
                <a:latin typeface="Calibri" panose="020F0502020204030204" charset="0"/>
                <a:cs typeface="Calibri" panose="020F0502020204030204" charset="0"/>
              </a:rPr>
              <a:t>where a version of the system or part of the system is developed quickly to check the customer’s requirements and the feasibility of design decisions. This approach supports </a:t>
            </a:r>
            <a:r>
              <a:rPr sz="3100" b="0" u="sng" dirty="0" smtClean="0">
                <a:solidFill>
                  <a:schemeClr val="tx1"/>
                </a:solidFill>
                <a:latin typeface="Calibri" panose="020F0502020204030204" charset="0"/>
                <a:cs typeface="Calibri" panose="020F0502020204030204" charset="0"/>
              </a:rPr>
              <a:t>change anticipation</a:t>
            </a:r>
            <a:r>
              <a:rPr sz="3100" b="0" dirty="0" smtClean="0">
                <a:solidFill>
                  <a:schemeClr val="tx1"/>
                </a:solidFill>
                <a:latin typeface="Calibri" panose="020F0502020204030204" charset="0"/>
                <a:cs typeface="Calibri" panose="020F0502020204030204" charset="0"/>
              </a:rPr>
              <a:t>.</a:t>
            </a:r>
            <a:r>
              <a:rPr sz="3200" dirty="0" smtClean="0">
                <a:solidFill>
                  <a:schemeClr val="accent2">
                    <a:lumMod val="75000"/>
                  </a:schemeClr>
                </a:solidFill>
                <a:latin typeface="Calibri" panose="020F0502020204030204" charset="0"/>
                <a:cs typeface="Calibri" panose="020F0502020204030204" charset="0"/>
              </a:rPr>
              <a:t> </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系统原型</a:t>
            </a:r>
            <a:endParaRPr sz="3200" dirty="0" smtClean="0">
              <a:solidFill>
                <a:schemeClr val="accent2">
                  <a:lumMod val="75000"/>
                </a:schemeClr>
              </a:solidFill>
              <a:latin typeface="Calibri" panose="020F0502020204030204" charset="0"/>
              <a:cs typeface="Calibri" panose="020F0502020204030204" charset="0"/>
            </a:endParaRPr>
          </a:p>
          <a:p>
            <a:pPr algn="l">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t>
            </a:r>
            <a:r>
              <a:rPr sz="3200" dirty="0" smtClean="0">
                <a:solidFill>
                  <a:schemeClr val="accent2">
                    <a:lumMod val="75000"/>
                  </a:schemeClr>
                </a:solidFill>
                <a:latin typeface="Calibri" panose="020F0502020204030204" charset="0"/>
                <a:cs typeface="Calibri" panose="020F0502020204030204" charset="0"/>
              </a:rPr>
              <a:t>Incremental delivery,</a:t>
            </a:r>
            <a:r>
              <a:rPr sz="3100" b="0" dirty="0" smtClean="0">
                <a:solidFill>
                  <a:schemeClr val="tx1"/>
                </a:solidFill>
                <a:latin typeface="Calibri" panose="020F0502020204030204" charset="0"/>
                <a:cs typeface="Calibri" panose="020F0502020204030204" charset="0"/>
              </a:rPr>
              <a:t> where system increments are delivered to the customer for comment and experimentation. This supports both </a:t>
            </a:r>
            <a:r>
              <a:rPr sz="3100" b="0" u="sng" dirty="0" smtClean="0">
                <a:solidFill>
                  <a:schemeClr val="tx1"/>
                </a:solidFill>
                <a:latin typeface="Calibri" panose="020F0502020204030204" charset="0"/>
                <a:cs typeface="Calibri" panose="020F0502020204030204" charset="0"/>
              </a:rPr>
              <a:t>change avoidance</a:t>
            </a:r>
            <a:r>
              <a:rPr sz="3100" b="0" dirty="0" smtClean="0">
                <a:solidFill>
                  <a:schemeClr val="tx1"/>
                </a:solidFill>
                <a:latin typeface="Calibri" panose="020F0502020204030204" charset="0"/>
                <a:cs typeface="Calibri" panose="020F0502020204030204" charset="0"/>
              </a:rPr>
              <a:t> and </a:t>
            </a:r>
            <a:r>
              <a:rPr sz="3100" b="0" u="sng" dirty="0" smtClean="0">
                <a:solidFill>
                  <a:schemeClr val="tx1"/>
                </a:solidFill>
                <a:latin typeface="Calibri" panose="020F0502020204030204" charset="0"/>
                <a:cs typeface="Calibri" panose="020F0502020204030204" charset="0"/>
              </a:rPr>
              <a:t>change tolerance</a:t>
            </a:r>
            <a:r>
              <a:rPr sz="3100" b="0" dirty="0" smtClean="0">
                <a:solidFill>
                  <a:schemeClr val="tx1"/>
                </a:solidFill>
                <a:latin typeface="Calibri" panose="020F0502020204030204" charset="0"/>
                <a:cs typeface="Calibri" panose="020F0502020204030204" charset="0"/>
              </a:rPr>
              <a:t>.</a:t>
            </a:r>
            <a:r>
              <a:rPr lang="en-US" sz="31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增量式交付</a:t>
            </a:r>
            <a:endParaRPr lang="zh-CN" altLang="en-US" sz="3100" b="0" dirty="0" smtClean="0">
              <a:solidFill>
                <a:schemeClr val="tx1"/>
              </a:solidFill>
              <a:latin typeface="Calibri" panose="020F0502020204030204" charset="0"/>
              <a:ea typeface="宋体" panose="02010600030101010101" pitchFamily="2" charset="-122"/>
              <a:cs typeface="Calibri" panose="020F0502020204030204" charset="0"/>
            </a:endParaRPr>
          </a:p>
        </p:txBody>
      </p:sp>
      <p:sp>
        <p:nvSpPr>
          <p:cNvPr id="3" name="Rectangle 3"/>
          <p:cNvSpPr>
            <a:spLocks noGrp="1" noRot="1"/>
          </p:cNvSpPr>
          <p:nvPr>
            <p:custDataLst>
              <p:tags r:id="rId3"/>
            </p:custDataLst>
          </p:nvPr>
        </p:nvSpPr>
        <p:spPr>
          <a:xfrm>
            <a:off x="88900" y="5452110"/>
            <a:ext cx="8965565" cy="107505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800"/>
              </a:spcBef>
              <a:buSzTx/>
              <a:buFont typeface="Wingdings" panose="05000000000000000000" pitchFamily="2" charset="2"/>
              <a:buNone/>
            </a:pPr>
            <a:r>
              <a:rPr lang="en-US" altLang="zh-CN" b="0" dirty="0">
                <a:solidFill>
                  <a:schemeClr val="tx1"/>
                </a:solidFill>
                <a:ea typeface="宋体" panose="02010600030101010101" pitchFamily="2" charset="-122"/>
                <a:sym typeface="Symbol" panose="05050102010706020507" charset="0"/>
              </a:rPr>
              <a:t> </a:t>
            </a:r>
            <a:r>
              <a:rPr lang="en-US" altLang="zh-CN" b="0" u="sng" dirty="0">
                <a:solidFill>
                  <a:schemeClr val="tx1"/>
                </a:solidFill>
                <a:ea typeface="宋体" panose="02010600030101010101" pitchFamily="2" charset="-122"/>
                <a:sym typeface="+mn-ea"/>
              </a:rPr>
              <a:t>Refactoring</a:t>
            </a:r>
            <a:r>
              <a:rPr lang="en-US" altLang="zh-CN" b="0" dirty="0">
                <a:solidFill>
                  <a:schemeClr val="tx1"/>
                </a:solidFill>
                <a:ea typeface="宋体" panose="02010600030101010101" pitchFamily="2" charset="-122"/>
                <a:sym typeface="+mn-ea"/>
              </a:rPr>
              <a:t>, namely, improving the structure and organization of a program, is also an important mechanism that supports change tolerance, which will be discussed in Chapter 3.  </a:t>
            </a: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重构</a:t>
            </a:r>
            <a:endParaRPr lang="zh-CN" altLang="en-US" b="0" dirty="0">
              <a:solidFill>
                <a:schemeClr val="tx1"/>
              </a:solidFill>
              <a:latin typeface="Arial" panose="020B0604020202020204" pitchFamily="34" charset="0"/>
              <a:ea typeface="宋体" panose="02010600030101010101" pitchFamily="2" charset="-122"/>
              <a:cs typeface="Arial" panose="020B0604020202020204" pitchFamily="34" charset="0"/>
              <a:sym typeface="+mn-ea"/>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4865"/>
            <a:ext cx="8554085" cy="5937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prototyping</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软件原型</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115715" name="Rectangle 3"/>
          <p:cNvSpPr>
            <a:spLocks noGrp="1" noChangeArrowheads="1"/>
          </p:cNvSpPr>
          <p:nvPr/>
        </p:nvSpPr>
        <p:spPr>
          <a:xfrm>
            <a:off x="128905" y="1384935"/>
            <a:ext cx="8885555" cy="51847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 prototype is an initial version of a system used to demonstrate concepts and try out design options.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用于演示概念和尝试设计选项</a:t>
            </a:r>
            <a:endParaRPr lang="en-US" altLang="en-GB"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A prototype can </a:t>
            </a:r>
            <a:r>
              <a:rPr lang="en-US" altLang="en-GB" sz="3200" dirty="0" smtClean="0">
                <a:solidFill>
                  <a:schemeClr val="accent2">
                    <a:lumMod val="75000"/>
                  </a:schemeClr>
                </a:solidFill>
                <a:latin typeface="Calibri" panose="020F0502020204030204" charset="0"/>
                <a:cs typeface="Calibri" panose="020F0502020204030204" charset="0"/>
              </a:rPr>
              <a:t>help anticipate changes </a:t>
            </a:r>
            <a:r>
              <a:rPr lang="en-GB" sz="3200" dirty="0" smtClean="0">
                <a:solidFill>
                  <a:schemeClr val="accent2">
                    <a:lumMod val="75000"/>
                  </a:schemeClr>
                </a:solidFill>
                <a:latin typeface="Calibri" panose="020F0502020204030204" charset="0"/>
                <a:cs typeface="Calibri" panose="020F0502020204030204" charset="0"/>
              </a:rPr>
              <a:t>in:</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有助于</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预见变化</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GB" sz="2800" dirty="0" smtClean="0">
                <a:latin typeface="Calibri" panose="020F0502020204030204" charset="0"/>
                <a:cs typeface="Calibri" panose="020F0502020204030204" charset="0"/>
              </a:rPr>
              <a:t>In the requirements engineering process, a prototype can help with the elicitation and validation of system requirements;</a:t>
            </a:r>
            <a:r>
              <a:rPr lang="en-US" altLang="en-GB" sz="280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在需求过程：有助于抽取和确认系统需求</a:t>
            </a:r>
            <a:endParaRPr lang="en-GB" sz="2800" dirty="0" smtClean="0">
              <a:latin typeface="Calibri" panose="020F0502020204030204" charset="0"/>
              <a:cs typeface="Calibri" panose="020F0502020204030204" charset="0"/>
            </a:endParaRPr>
          </a:p>
          <a:p>
            <a:pPr lvl="1">
              <a:lnSpc>
                <a:spcPct val="90000"/>
              </a:lnSpc>
              <a:spcBef>
                <a:spcPts val="800"/>
              </a:spcBef>
              <a:spcAft>
                <a:spcPts val="0"/>
              </a:spcAft>
            </a:pPr>
            <a:r>
              <a:rPr lang="en-GB" sz="2800" dirty="0" smtClean="0">
                <a:latin typeface="Calibri" panose="020F0502020204030204" charset="0"/>
                <a:cs typeface="Calibri" panose="020F0502020204030204" charset="0"/>
              </a:rPr>
              <a:t>In the system design process, a prototype can be used to explore software solutions and in the development of a user interface for the system.</a:t>
            </a:r>
            <a:r>
              <a:rPr lang="en-US" altLang="en-GB" sz="280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在设计过程：有助于探索解决方案，及用户界面开发</a:t>
            </a:r>
            <a:endParaRPr lang="en-GB" sz="32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4865"/>
            <a:ext cx="8554085" cy="5937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Benefits of prototyping</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原型的</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益处</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115715" name="Rectangle 3"/>
          <p:cNvSpPr>
            <a:spLocks noGrp="1" noChangeArrowheads="1"/>
          </p:cNvSpPr>
          <p:nvPr/>
        </p:nvSpPr>
        <p:spPr>
          <a:xfrm>
            <a:off x="89535" y="1456690"/>
            <a:ext cx="8985885" cy="51746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Prototypes allow potential users to see how well the system supports their work.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能看出:</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系统支持情况</a:t>
            </a:r>
            <a:endParaRPr lang="en-US" altLang="en-GB" sz="3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They may get new ideas for requirements and find strength and weakness in the software, then propose new system requirements.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发现强、弱点，提出新需求</a:t>
            </a:r>
            <a:endParaRPr lang="en-US" altLang="en-GB"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Furthermore, as the prototype is developed, it may reveal errors and omissions in the system requirements.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发现需求错误和遗漏</a:t>
            </a:r>
            <a:endParaRPr lang="en-US" altLang="en-GB" sz="30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GB" sz="3000" dirty="0" smtClean="0">
                <a:solidFill>
                  <a:schemeClr val="accent2">
                    <a:lumMod val="75000"/>
                  </a:schemeClr>
                </a:solidFill>
                <a:latin typeface="Calibri" panose="020F0502020204030204" charset="0"/>
                <a:cs typeface="Calibri" panose="020F0502020204030204" charset="0"/>
              </a:rPr>
              <a:t>A prototype may be used while the system is being designed to carry out</a:t>
            </a:r>
            <a:r>
              <a:rPr lang="en-US" altLang="en-GB" sz="3000" dirty="0" smtClean="0">
                <a:solidFill>
                  <a:schemeClr val="accent2">
                    <a:lumMod val="75000"/>
                  </a:schemeClr>
                </a:solidFill>
                <a:latin typeface="Calibri" panose="020F0502020204030204" charset="0"/>
                <a:cs typeface="Calibri" panose="020F0502020204030204" charset="0"/>
              </a:rPr>
              <a:t> </a:t>
            </a:r>
            <a:r>
              <a:rPr lang="en-GB" sz="3000" dirty="0" smtClean="0">
                <a:solidFill>
                  <a:schemeClr val="accent2">
                    <a:lumMod val="75000"/>
                  </a:schemeClr>
                </a:solidFill>
                <a:latin typeface="Calibri" panose="020F0502020204030204" charset="0"/>
                <a:cs typeface="Calibri" panose="020F0502020204030204" charset="0"/>
              </a:rPr>
              <a:t>design experiments to check the feasibility of a proposed design.</a:t>
            </a:r>
            <a:r>
              <a:rPr lang="en-US" altLang="en-GB" sz="30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检验设计的可行性</a:t>
            </a:r>
            <a:endParaRPr lang="zh-CN" altLang="en-US" sz="30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4865"/>
            <a:ext cx="8554085" cy="5937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process of prototype development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00965" y="1500505"/>
            <a:ext cx="8902700" cy="2604770"/>
          </a:xfrm>
          <a:prstGeom prst="rect">
            <a:avLst/>
          </a:prstGeom>
        </p:spPr>
      </p:pic>
      <p:sp>
        <p:nvSpPr>
          <p:cNvPr id="5" name="Rectangle 3"/>
          <p:cNvSpPr>
            <a:spLocks noGrp="1" noRot="1"/>
          </p:cNvSpPr>
          <p:nvPr>
            <p:custDataLst>
              <p:tags r:id="rId4"/>
            </p:custDataLst>
          </p:nvPr>
        </p:nvSpPr>
        <p:spPr>
          <a:xfrm>
            <a:off x="88900" y="4232275"/>
            <a:ext cx="8965565" cy="230632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600"/>
              </a:spcBef>
              <a:buSzTx/>
              <a:buFont typeface="Wingdings" panose="05000000000000000000" pitchFamily="2" charset="2"/>
              <a:buNone/>
            </a:pPr>
            <a:r>
              <a:rPr lang="en-US" altLang="zh-CN" b="0" dirty="0">
                <a:solidFill>
                  <a:schemeClr val="tx1"/>
                </a:solidFill>
                <a:ea typeface="宋体" panose="02010600030101010101" pitchFamily="2" charset="-122"/>
                <a:sym typeface="Symbol" panose="05050102010706020507" charset="0"/>
              </a:rPr>
              <a:t> </a:t>
            </a:r>
            <a:r>
              <a:rPr lang="en-US" altLang="zh-CN" b="0" dirty="0">
                <a:solidFill>
                  <a:schemeClr val="tx1"/>
                </a:solidFill>
                <a:ea typeface="宋体" panose="02010600030101010101" pitchFamily="2" charset="-122"/>
                <a:sym typeface="+mn-ea"/>
              </a:rPr>
              <a:t>The objectives of prototyping should be made explicit from the start of the process.   </a:t>
            </a: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明确原型目标</a:t>
            </a:r>
            <a:endParaRPr lang="zh-CN" altLang="en-US" kern="0" dirty="0">
              <a:solidFill>
                <a:schemeClr val="accent1">
                  <a:lumMod val="75000"/>
                </a:schemeClr>
              </a:solidFill>
              <a:latin typeface="黑体" panose="02010609060101010101" pitchFamily="49" charset="-122"/>
              <a:ea typeface="黑体" panose="02010609060101010101" pitchFamily="49" charset="-122"/>
              <a:sym typeface="+mn-ea"/>
            </a:endParaRPr>
          </a:p>
          <a:p>
            <a:pPr marL="0" indent="0" algn="l" eaLnBrk="1" hangingPunct="1">
              <a:lnSpc>
                <a:spcPct val="90000"/>
              </a:lnSpc>
              <a:spcBef>
                <a:spcPts val="600"/>
              </a:spcBef>
              <a:buSzTx/>
              <a:buFont typeface="Wingdings" panose="05000000000000000000" pitchFamily="2" charset="2"/>
              <a:buNone/>
            </a:pPr>
            <a:r>
              <a:rPr lang="en-US" altLang="zh-CN" b="0" dirty="0">
                <a:ea typeface="宋体" panose="02010600030101010101" pitchFamily="2" charset="-122"/>
                <a:sym typeface="Symbol" panose="05050102010706020507" charset="0"/>
              </a:rPr>
              <a:t> </a:t>
            </a:r>
            <a:r>
              <a:rPr lang="en-US" altLang="zh-CN" b="0" dirty="0">
                <a:solidFill>
                  <a:schemeClr val="tx1"/>
                </a:solidFill>
                <a:ea typeface="宋体" panose="02010600030101010101" pitchFamily="2" charset="-122"/>
                <a:sym typeface="+mn-ea"/>
              </a:rPr>
              <a:t>The next stage is to decide what to put into and, perhaps more importantly, what to leave out of the prototype system. </a:t>
            </a: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确定在</a:t>
            </a: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原型系统中纳入/排除</a:t>
            </a: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哪些功能</a:t>
            </a:r>
            <a:endParaRPr lang="en-US" altLang="zh-CN" b="0" dirty="0">
              <a:solidFill>
                <a:schemeClr val="tx1"/>
              </a:solidFill>
              <a:ea typeface="宋体" panose="02010600030101010101" pitchFamily="2" charset="-122"/>
              <a:sym typeface="+mn-ea"/>
            </a:endParaRPr>
          </a:p>
          <a:p>
            <a:pPr marL="0" indent="0" algn="l" eaLnBrk="1" hangingPunct="1">
              <a:lnSpc>
                <a:spcPct val="90000"/>
              </a:lnSpc>
              <a:spcBef>
                <a:spcPts val="600"/>
              </a:spcBef>
              <a:buSzTx/>
              <a:buFont typeface="Wingdings" panose="05000000000000000000" pitchFamily="2" charset="2"/>
              <a:buNone/>
            </a:pPr>
            <a:r>
              <a:rPr lang="en-US" altLang="zh-CN" b="0" dirty="0">
                <a:ea typeface="宋体" panose="02010600030101010101" pitchFamily="2" charset="-122"/>
                <a:sym typeface="Symbol" panose="05050102010706020507" charset="0"/>
              </a:rPr>
              <a:t> </a:t>
            </a:r>
            <a:r>
              <a:rPr lang="en-US" altLang="zh-CN" b="0" dirty="0">
                <a:solidFill>
                  <a:schemeClr val="tx1"/>
                </a:solidFill>
                <a:ea typeface="宋体" panose="02010600030101010101" pitchFamily="2" charset="-122"/>
                <a:sym typeface="+mn-ea"/>
              </a:rPr>
              <a:t>The final stage of the process is prototype evaluation.</a:t>
            </a: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原型评估</a:t>
            </a:r>
            <a:endParaRPr lang="zh-CN" altLang="en-US" kern="0" dirty="0">
              <a:solidFill>
                <a:schemeClr val="accent1">
                  <a:lumMod val="75000"/>
                </a:schemeClr>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3110"/>
            <a:ext cx="8554085" cy="5937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Incremental delivery</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增量式交付</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115715" name="Rectangle 3"/>
          <p:cNvSpPr>
            <a:spLocks noGrp="1" noChangeArrowheads="1"/>
          </p:cNvSpPr>
          <p:nvPr/>
        </p:nvSpPr>
        <p:spPr>
          <a:xfrm>
            <a:off x="128905" y="1313180"/>
            <a:ext cx="8885555" cy="53708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Rather than deliver the system as a single delivery, the delivery is broken down into increments with each increment delivering part of the required functionality.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交付分解为增量</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User requirements are prioritised and the highest priority requirements are included in early increments.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高优先权需求包含于早期增量中</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Once the development of an increment is started, the requirements are frozen though requirements for later increments can continue to evolve.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一旦开始开发，当前需求冻结，后续增量的需求继续演化</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4775" y="1302385"/>
            <a:ext cx="8934450" cy="3105150"/>
          </a:xfrm>
          <a:prstGeom prst="rect">
            <a:avLst/>
          </a:prstGeom>
        </p:spPr>
      </p:pic>
      <p:sp>
        <p:nvSpPr>
          <p:cNvPr id="15363" name="Rectangle 3"/>
          <p:cNvSpPr>
            <a:spLocks noGrp="1" noRot="1"/>
          </p:cNvSpPr>
          <p:nvPr>
            <p:ph type="subTitle" idx="1"/>
            <p:custDataLst>
              <p:tags r:id="rId2"/>
            </p:custDataLst>
          </p:nvPr>
        </p:nvSpPr>
        <p:spPr>
          <a:xfrm>
            <a:off x="88900" y="729615"/>
            <a:ext cx="8554085" cy="6172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Incremental delivery</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3"/>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5" name="Rectangle 3"/>
          <p:cNvSpPr>
            <a:spLocks noGrp="1" noRot="1"/>
          </p:cNvSpPr>
          <p:nvPr>
            <p:custDataLst>
              <p:tags r:id="rId4"/>
            </p:custDataLst>
          </p:nvPr>
        </p:nvSpPr>
        <p:spPr>
          <a:xfrm>
            <a:off x="88900" y="3371215"/>
            <a:ext cx="7292975" cy="1777365"/>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600"/>
              </a:spcBef>
              <a:buSzTx/>
              <a:buFont typeface="Wingdings" panose="05000000000000000000" pitchFamily="2" charset="2"/>
              <a:buNone/>
            </a:pPr>
            <a:r>
              <a:rPr lang="en-US" altLang="zh-CN" sz="2000" b="0" dirty="0">
                <a:solidFill>
                  <a:schemeClr val="tx1"/>
                </a:solidFill>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Once the increments have been identified, the requirements for the services to be delivered in the first increment are defined in detail and that increment is developed. </a:t>
            </a:r>
            <a:endParaRPr lang="en-US" altLang="zh-CN" sz="2000" b="0" dirty="0">
              <a:solidFill>
                <a:schemeClr val="tx1"/>
              </a:solidFill>
              <a:ea typeface="宋体" panose="02010600030101010101" pitchFamily="2" charset="-122"/>
              <a:sym typeface="+mn-ea"/>
            </a:endParaRPr>
          </a:p>
          <a:p>
            <a:pPr marL="0" indent="0" algn="l" eaLnBrk="1" hangingPunct="1">
              <a:lnSpc>
                <a:spcPct val="90000"/>
              </a:lnSpc>
              <a:spcBef>
                <a:spcPts val="600"/>
              </a:spcBef>
              <a:buSzTx/>
              <a:buFont typeface="Wingdings" panose="05000000000000000000" pitchFamily="2" charset="2"/>
              <a:buNone/>
            </a:pPr>
            <a:r>
              <a:rPr lang="en-US" altLang="zh-CN" sz="2000" b="0" dirty="0">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During development, further requirements analysis for later increments can take place, but requirements changes for the current increment are not accepted.</a:t>
            </a:r>
            <a:endParaRPr lang="en-US" altLang="zh-CN" sz="2000" b="0" dirty="0">
              <a:solidFill>
                <a:schemeClr val="tx1"/>
              </a:solidFill>
              <a:ea typeface="宋体" panose="02010600030101010101" pitchFamily="2" charset="-122"/>
              <a:sym typeface="+mn-ea"/>
            </a:endParaRPr>
          </a:p>
        </p:txBody>
      </p:sp>
      <p:sp>
        <p:nvSpPr>
          <p:cNvPr id="6" name="Rectangle 3"/>
          <p:cNvSpPr>
            <a:spLocks noGrp="1" noRot="1"/>
          </p:cNvSpPr>
          <p:nvPr>
            <p:custDataLst>
              <p:tags r:id="rId5"/>
            </p:custDataLst>
          </p:nvPr>
        </p:nvSpPr>
        <p:spPr>
          <a:xfrm>
            <a:off x="72390" y="5148580"/>
            <a:ext cx="8982710" cy="1511300"/>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600"/>
              </a:spcBef>
              <a:buSzTx/>
              <a:buFont typeface="Wingdings" panose="05000000000000000000" pitchFamily="2" charset="2"/>
              <a:buNone/>
            </a:pPr>
            <a:r>
              <a:rPr lang="en-US" altLang="zh-CN" sz="2000" b="0" dirty="0">
                <a:solidFill>
                  <a:schemeClr val="tx1"/>
                </a:solidFill>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Once an increment is completed and delivered, it is installed in the customer’s working environment. They can experiment with the system, and this helps them clarify their requirements for later system increments. </a:t>
            </a:r>
            <a:endParaRPr lang="en-US" altLang="zh-CN" sz="2000" b="0" dirty="0">
              <a:solidFill>
                <a:schemeClr val="tx1"/>
              </a:solidFill>
              <a:ea typeface="宋体" panose="02010600030101010101" pitchFamily="2" charset="-122"/>
              <a:sym typeface="+mn-ea"/>
            </a:endParaRPr>
          </a:p>
          <a:p>
            <a:pPr marL="0" indent="0" algn="l" eaLnBrk="1" hangingPunct="1">
              <a:lnSpc>
                <a:spcPct val="90000"/>
              </a:lnSpc>
              <a:spcBef>
                <a:spcPts val="600"/>
              </a:spcBef>
              <a:buSzTx/>
              <a:buFont typeface="Wingdings" panose="05000000000000000000" pitchFamily="2" charset="2"/>
              <a:buNone/>
            </a:pPr>
            <a:r>
              <a:rPr lang="en-US" altLang="zh-CN" sz="2000" b="0" dirty="0">
                <a:ea typeface="宋体" panose="02010600030101010101" pitchFamily="2" charset="-122"/>
                <a:sym typeface="Symbol" panose="05050102010706020507" charset="0"/>
              </a:rPr>
              <a:t> </a:t>
            </a:r>
            <a:r>
              <a:rPr lang="en-US" altLang="zh-CN" sz="2000" b="0" dirty="0">
                <a:solidFill>
                  <a:schemeClr val="tx1"/>
                </a:solidFill>
                <a:ea typeface="宋体" panose="02010600030101010101" pitchFamily="2" charset="-122"/>
                <a:sym typeface="+mn-ea"/>
              </a:rPr>
              <a:t>As new increments are completed, and integrated with existing increments, system functionality improves with each delivered increment.</a:t>
            </a:r>
            <a:endParaRPr lang="en-US" altLang="zh-CN" sz="2000" b="0" dirty="0">
              <a:solidFill>
                <a:schemeClr val="tx1"/>
              </a:solidFill>
              <a:ea typeface="宋体" panose="02010600030101010101" pitchFamily="2" charset="-122"/>
              <a:sym typeface="+mn-ea"/>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31850"/>
            <a:ext cx="8554085" cy="5149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Incremental delivery advantages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优势</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115715" name="Rectangle 3"/>
          <p:cNvSpPr>
            <a:spLocks noGrp="1" noChangeArrowheads="1"/>
          </p:cNvSpPr>
          <p:nvPr/>
        </p:nvSpPr>
        <p:spPr>
          <a:xfrm>
            <a:off x="128905" y="1384935"/>
            <a:ext cx="8885555" cy="51879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Early increments act as a prototype to help elicit requirements for later increments.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早期增量扮演原型角色，帮助抽取后续增量的需求</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Customers do not have to wait until the entire system is delivered before they can gain value from it.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早受益</a:t>
            </a:r>
            <a:endParaRPr lang="en-US" altLang="en-GB" sz="32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The process maintains the benefits of incremental development in that it is easy to incorporate changes into the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易引入改变</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The highest priority system services tend to receive the most testing.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高优先权服务获得最多测试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3580"/>
            <a:ext cx="8554085" cy="6038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Incremental delivery problems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存在的问题</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23825" y="1241425"/>
            <a:ext cx="8893175" cy="54971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5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Iterative delivery is problematic when the new system is intended to replace an existing system. </a:t>
            </a:r>
            <a:r>
              <a:rPr lang="en-GB" sz="2700" b="0" dirty="0" smtClean="0">
                <a:latin typeface="Calibri" panose="020F0502020204030204" charset="0"/>
                <a:cs typeface="Calibri" panose="020F0502020204030204" charset="0"/>
              </a:rPr>
              <a:t>Users need all of the functionality of the old system and are unwilling to experiment with an incomplete new system. </a:t>
            </a:r>
            <a:endParaRPr lang="en-US" altLang="en-GB" sz="3200" dirty="0" smtClean="0">
              <a:solidFill>
                <a:schemeClr val="accent2">
                  <a:lumMod val="75000"/>
                </a:schemeClr>
              </a:solidFill>
              <a:latin typeface="Calibri" panose="020F0502020204030204" charset="0"/>
              <a:cs typeface="Calibri" panose="020F0502020204030204" charset="0"/>
            </a:endParaRPr>
          </a:p>
          <a:p>
            <a:pPr>
              <a:lnSpc>
                <a:spcPct val="85000"/>
              </a:lnSpc>
              <a:spcBef>
                <a:spcPts val="5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Most systems require a set of basic facilities that are used by different parts of the system. </a:t>
            </a:r>
            <a:r>
              <a:rPr lang="en-US" altLang="en-GB" sz="3200" dirty="0" smtClean="0">
                <a:solidFill>
                  <a:schemeClr val="accent2">
                    <a:lumMod val="75000"/>
                  </a:schemeClr>
                </a:solidFill>
                <a:latin typeface="Calibri" panose="020F0502020204030204" charset="0"/>
                <a:cs typeface="Calibri" panose="020F0502020204030204" charset="0"/>
              </a:rPr>
              <a:t> </a:t>
            </a:r>
            <a:r>
              <a:rPr lang="en-GB" sz="2700" b="0" dirty="0" smtClean="0">
                <a:latin typeface="Calibri" panose="020F0502020204030204" charset="0"/>
                <a:cs typeface="Calibri" panose="020F0502020204030204" charset="0"/>
              </a:rPr>
              <a:t>As requirements are not defined in detail until an increment is to be implemented, it can be hard to identify common facilities that are needed by all increments. </a:t>
            </a:r>
            <a:endParaRPr lang="en-GB" sz="2700" b="0" dirty="0" smtClean="0">
              <a:latin typeface="Calibri" panose="020F0502020204030204" charset="0"/>
              <a:cs typeface="Calibri" panose="020F0502020204030204" charset="0"/>
            </a:endParaRPr>
          </a:p>
          <a:p>
            <a:pPr>
              <a:lnSpc>
                <a:spcPct val="85000"/>
              </a:lnSpc>
              <a:spcBef>
                <a:spcPts val="5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The essence of iterative processes is that the specification is developed in conjunction with the software.</a:t>
            </a:r>
            <a:r>
              <a:rPr lang="en-GB" dirty="0" smtClean="0">
                <a:solidFill>
                  <a:schemeClr val="accent2">
                    <a:lumMod val="75000"/>
                  </a:schemeClr>
                </a:solidFill>
                <a:latin typeface="Calibri" panose="020F0502020204030204" charset="0"/>
                <a:cs typeface="Calibri" panose="020F0502020204030204" charset="0"/>
              </a:rPr>
              <a:t> </a:t>
            </a:r>
            <a:r>
              <a:rPr lang="en-GB" sz="2700" b="0" dirty="0" smtClean="0">
                <a:latin typeface="Calibri" panose="020F0502020204030204" charset="0"/>
                <a:cs typeface="Calibri" panose="020F0502020204030204" charset="0"/>
              </a:rPr>
              <a:t>However, this conflicts with the procurement model of many organizations, where the complete system specification is part of the system development contract.</a:t>
            </a:r>
            <a:r>
              <a:rPr lang="en-GB" sz="2700" dirty="0" smtClean="0">
                <a:latin typeface="Calibri" panose="020F0502020204030204" charset="0"/>
                <a:cs typeface="Calibri" panose="020F0502020204030204" charset="0"/>
              </a:rPr>
              <a:t> </a:t>
            </a:r>
            <a:endParaRPr lang="en-GB" sz="2700" dirty="0" smtClean="0">
              <a:latin typeface="Calibri" panose="020F0502020204030204" charset="0"/>
              <a:cs typeface="Calibri" panose="020F050202020403020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4060"/>
            <a:ext cx="8554085" cy="6426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Process improvement</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过程改进</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45415" y="1313180"/>
            <a:ext cx="8867775" cy="49237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Many software companies have turned to software process improvement as a way of enhancing the quality of their software, reducing costs or accelerating their development processes. </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过程改进：</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作为增强软件质量、降低成本，加速开发过程的途径</a:t>
            </a:r>
            <a:endParaRPr lang="en-GB" dirty="0" smtClean="0">
              <a:solidFill>
                <a:schemeClr val="accent2">
                  <a:lumMod val="75000"/>
                </a:schemeClr>
              </a:solidFill>
              <a:latin typeface="Calibri" panose="020F0502020204030204" charset="0"/>
              <a:cs typeface="Calibri" panose="020F0502020204030204" charset="0"/>
            </a:endParaRPr>
          </a:p>
          <a:p>
            <a:pPr>
              <a:lnSpc>
                <a:spcPct val="90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Process improvement means understanding existing processes and changing these processes to increase product quality and/or reduce costs and development time.</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意味着：理解现有过程，改变这些过程，以提高产品质量、降低成本和开发时间</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4060"/>
            <a:ext cx="8776970" cy="6426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Approaches to improvement</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改进的途径：</a:t>
            </a:r>
            <a:r>
              <a:rPr lang="en-US" altLang="zh-CN" sz="2400" dirty="0">
                <a:solidFill>
                  <a:schemeClr val="accent1">
                    <a:lumMod val="75000"/>
                  </a:schemeClr>
                </a:solidFill>
                <a:latin typeface="黑体" panose="02010609060101010101" pitchFamily="49" charset="-122"/>
                <a:ea typeface="黑体" panose="02010609060101010101" pitchFamily="49" charset="-122"/>
                <a:sym typeface="+mn-ea"/>
              </a:rPr>
              <a:t>2</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种</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17475" y="1313180"/>
            <a:ext cx="8920480" cy="51911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5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lang="en-US" sz="3100" u="sng" dirty="0" smtClean="0">
                <a:solidFill>
                  <a:schemeClr val="accent2">
                    <a:lumMod val="75000"/>
                  </a:schemeClr>
                </a:solidFill>
                <a:latin typeface="Calibri" panose="020F0502020204030204" charset="0"/>
                <a:cs typeface="Calibri" panose="020F0502020204030204" charset="0"/>
              </a:rPr>
              <a:t>The process maturity approach</a:t>
            </a:r>
            <a:r>
              <a:rPr lang="en-US" sz="3100" dirty="0" smtClean="0">
                <a:solidFill>
                  <a:schemeClr val="accent2">
                    <a:lumMod val="75000"/>
                  </a:schemeClr>
                </a:solidFill>
                <a:latin typeface="Calibri" panose="020F0502020204030204" charset="0"/>
                <a:cs typeface="Calibri" panose="020F0502020204030204" charset="0"/>
              </a:rPr>
              <a:t>, which focuses on improving process and project management and introducing good software engineering practice.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过程成熟度方法</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关注过程改进和项目管理，引入好的软件工程实践。</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500"/>
              </a:spcBef>
              <a:spcAft>
                <a:spcPts val="0"/>
              </a:spcAft>
            </a:pPr>
            <a:r>
              <a:rPr lang="en-US" sz="2800" b="0" dirty="0" smtClean="0">
                <a:latin typeface="Calibri" panose="020F0502020204030204" charset="0"/>
                <a:cs typeface="Calibri" panose="020F0502020204030204" charset="0"/>
              </a:rPr>
              <a:t>The </a:t>
            </a:r>
            <a:r>
              <a:rPr lang="en-US" sz="2800" b="0" u="sng" dirty="0" smtClean="0">
                <a:latin typeface="Calibri" panose="020F0502020204030204" charset="0"/>
                <a:cs typeface="Calibri" panose="020F0502020204030204" charset="0"/>
              </a:rPr>
              <a:t>level of process maturity</a:t>
            </a:r>
            <a:r>
              <a:rPr lang="en-US" sz="2800" b="0" dirty="0" smtClean="0">
                <a:latin typeface="Calibri" panose="020F0502020204030204" charset="0"/>
                <a:cs typeface="Calibri" panose="020F0502020204030204" charset="0"/>
              </a:rPr>
              <a:t> reflects the extent to which good technical and management practice has been adopted in software development processes. </a:t>
            </a:r>
            <a:endParaRPr lang="en-GB" sz="2800" b="0" dirty="0" smtClean="0">
              <a:latin typeface="Calibri" panose="020F0502020204030204" charset="0"/>
              <a:cs typeface="Calibri" panose="020F0502020204030204" charset="0"/>
            </a:endParaRPr>
          </a:p>
          <a:p>
            <a:pPr>
              <a:lnSpc>
                <a:spcPct val="85000"/>
              </a:lnSpc>
              <a:spcBef>
                <a:spcPts val="5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a:t>
            </a:r>
            <a:r>
              <a:rPr lang="en-US" sz="3100" u="sng" dirty="0" smtClean="0">
                <a:solidFill>
                  <a:schemeClr val="accent2">
                    <a:lumMod val="75000"/>
                  </a:schemeClr>
                </a:solidFill>
                <a:latin typeface="Calibri" panose="020F0502020204030204" charset="0"/>
                <a:cs typeface="Calibri" panose="020F0502020204030204" charset="0"/>
              </a:rPr>
              <a:t>The agile approach</a:t>
            </a:r>
            <a:r>
              <a:rPr lang="en-US" sz="3100" dirty="0" smtClean="0">
                <a:solidFill>
                  <a:schemeClr val="accent2">
                    <a:lumMod val="75000"/>
                  </a:schemeClr>
                </a:solidFill>
                <a:latin typeface="Calibri" panose="020F0502020204030204" charset="0"/>
                <a:cs typeface="Calibri" panose="020F0502020204030204" charset="0"/>
              </a:rPr>
              <a:t>, which focuses on iterative development and the reduction of overheads in the software process.</a:t>
            </a:r>
            <a:r>
              <a:rPr lang="en-US" sz="3100" dirty="0" smtClean="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敏捷方法</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专注迭代开发和减少开销。</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gn="l">
              <a:lnSpc>
                <a:spcPct val="85000"/>
              </a:lnSpc>
              <a:spcBef>
                <a:spcPts val="500"/>
              </a:spcBef>
              <a:spcAft>
                <a:spcPts val="0"/>
              </a:spcAft>
              <a:buClrTx/>
              <a:buSzTx/>
            </a:pPr>
            <a:r>
              <a:rPr lang="en-US" sz="2800" b="0" dirty="0" smtClean="0">
                <a:latin typeface="Calibri" panose="020F0502020204030204" charset="0"/>
                <a:cs typeface="Calibri" panose="020F0502020204030204" charset="0"/>
              </a:rPr>
              <a:t>The primary characteristics of agile methods are rapid delivery of functionality and responsiveness to changing customer requirements.</a:t>
            </a:r>
            <a:endParaRPr lang="en-US" sz="2800" b="0" dirty="0" smtClean="0">
              <a:latin typeface="Calibri" panose="020F0502020204030204" charset="0"/>
              <a:cs typeface="Calibri" panose="020F0502020204030204"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5815"/>
            <a:ext cx="8814435" cy="6426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process improvement cycle</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过程改进循环</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pic>
        <p:nvPicPr>
          <p:cNvPr id="3" name="Content Placeholder 3" descr="26.3 Process improvement.eps"/>
          <p:cNvPicPr>
            <a:picLocks noGrp="1" noChangeAspect="1"/>
          </p:cNvPicPr>
          <p:nvPr/>
        </p:nvPicPr>
        <p:blipFill rotWithShape="1">
          <a:blip r:embed="rId3"/>
          <a:srcRect t="-5976" b="-2227"/>
          <a:stretch>
            <a:fillRect/>
          </a:stretch>
        </p:blipFill>
        <p:spPr>
          <a:xfrm>
            <a:off x="2771775" y="1356360"/>
            <a:ext cx="6132195" cy="5170170"/>
          </a:xfrm>
          <a:prstGeom prst="rect">
            <a:avLst/>
          </a:prstGeom>
        </p:spPr>
      </p:pic>
      <p:sp>
        <p:nvSpPr>
          <p:cNvPr id="5" name="Rectangle 3"/>
          <p:cNvSpPr>
            <a:spLocks noGrp="1" noRot="1"/>
          </p:cNvSpPr>
          <p:nvPr>
            <p:custDataLst>
              <p:tags r:id="rId4"/>
            </p:custDataLst>
          </p:nvPr>
        </p:nvSpPr>
        <p:spPr>
          <a:xfrm>
            <a:off x="232410" y="1433830"/>
            <a:ext cx="3133725" cy="3150235"/>
          </a:xfrm>
          <a:prstGeom prst="rect">
            <a:avLst/>
          </a:prstGeom>
          <a:solidFill>
            <a:schemeClr val="bg1"/>
          </a:solid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hangingPunct="1">
              <a:lnSpc>
                <a:spcPct val="90000"/>
              </a:lnSpc>
              <a:spcBef>
                <a:spcPts val="600"/>
              </a:spcBef>
              <a:buSzTx/>
              <a:buFont typeface="Wingdings" panose="05000000000000000000" pitchFamily="2" charset="2"/>
              <a:buNone/>
            </a:pPr>
            <a:r>
              <a:rPr lang="en-US" altLang="zh-CN" b="0" dirty="0">
                <a:solidFill>
                  <a:schemeClr val="tx1"/>
                </a:solidFill>
                <a:ea typeface="宋体" panose="02010600030101010101" pitchFamily="2" charset="-122"/>
                <a:sym typeface="Symbol" panose="05050102010706020507" charset="0"/>
              </a:rPr>
              <a:t> </a:t>
            </a:r>
            <a:r>
              <a:rPr lang="en-US" altLang="zh-CN" b="0" dirty="0">
                <a:solidFill>
                  <a:schemeClr val="tx1"/>
                </a:solidFill>
                <a:ea typeface="宋体" panose="02010600030101010101" pitchFamily="2" charset="-122"/>
                <a:sym typeface="+mn-ea"/>
              </a:rPr>
              <a:t>The general process improvement process </a:t>
            </a:r>
            <a:r>
              <a:rPr lang="en-US" altLang="zh-CN" b="0" u="sng" dirty="0">
                <a:solidFill>
                  <a:schemeClr val="tx1"/>
                </a:solidFill>
                <a:ea typeface="宋体" panose="02010600030101010101" pitchFamily="2" charset="-122"/>
                <a:sym typeface="+mn-ea"/>
              </a:rPr>
              <a:t>underlying the process maturity</a:t>
            </a:r>
            <a:r>
              <a:rPr lang="en-US" altLang="zh-CN" b="0" dirty="0">
                <a:solidFill>
                  <a:schemeClr val="tx1"/>
                </a:solidFill>
                <a:ea typeface="宋体" panose="02010600030101010101" pitchFamily="2" charset="-122"/>
                <a:sym typeface="+mn-ea"/>
              </a:rPr>
              <a:t> approach is a cyclical process, as shown in Figure 2.11.</a:t>
            </a:r>
            <a:endParaRPr lang="en-US" altLang="zh-CN" b="0" dirty="0">
              <a:solidFill>
                <a:schemeClr val="tx1"/>
              </a:solidFill>
              <a:ea typeface="宋体" panose="02010600030101010101" pitchFamily="2" charset="-122"/>
              <a:sym typeface="+mn-ea"/>
            </a:endParaRPr>
          </a:p>
          <a:p>
            <a:pPr marL="0" indent="0" algn="l" eaLnBrk="1" hangingPunct="1">
              <a:lnSpc>
                <a:spcPct val="90000"/>
              </a:lnSpc>
              <a:spcBef>
                <a:spcPts val="600"/>
              </a:spcBef>
              <a:buSzTx/>
              <a:buFont typeface="Wingdings" panose="05000000000000000000" pitchFamily="2" charset="2"/>
              <a:buNone/>
            </a:pPr>
            <a:r>
              <a:rPr lang="zh-CN" altLang="en-US" kern="0" dirty="0">
                <a:solidFill>
                  <a:schemeClr val="accent1">
                    <a:lumMod val="75000"/>
                  </a:schemeClr>
                </a:solidFill>
                <a:latin typeface="黑体" panose="02010609060101010101" pitchFamily="49" charset="-122"/>
                <a:ea typeface="黑体" panose="02010609060101010101" pitchFamily="49" charset="-122"/>
                <a:sym typeface="+mn-ea"/>
              </a:rPr>
              <a:t>基于过程成熟度的过程改进过程。</a:t>
            </a:r>
            <a:endParaRPr lang="zh-CN" altLang="en-US" b="0" dirty="0">
              <a:solidFill>
                <a:schemeClr val="tx1"/>
              </a:solidFill>
              <a:ea typeface="宋体" panose="02010600030101010101" pitchFamily="2" charset="-122"/>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2635"/>
            <a:ext cx="8815705" cy="5626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Process improvement activities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过程改</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进活动</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128905" y="1313180"/>
            <a:ext cx="8886825" cy="48837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800"/>
              </a:spcBef>
              <a:spcAft>
                <a:spcPts val="0"/>
              </a:spcAft>
            </a:pPr>
            <a:r>
              <a:rPr lang="en-US" sz="3200" i="1" dirty="0">
                <a:solidFill>
                  <a:schemeClr val="accent2">
                    <a:lumMod val="75000"/>
                  </a:schemeClr>
                </a:solidFill>
                <a:latin typeface="Calibri" panose="020F0502020204030204" charset="0"/>
                <a:cs typeface="Calibri" panose="020F0502020204030204" charset="0"/>
              </a:rPr>
              <a:t> Process measurement</a:t>
            </a:r>
            <a:r>
              <a:rPr lang="en-US" sz="3200" i="1" dirty="0">
                <a:latin typeface="Calibri" panose="020F0502020204030204" charset="0"/>
                <a:cs typeface="Calibri" panose="020F0502020204030204" charset="0"/>
              </a:rPr>
              <a:t> </a:t>
            </a:r>
            <a:r>
              <a:rPr lang="zh-CN" altLang="en-US" sz="3200" dirty="0">
                <a:latin typeface="Calibri" panose="020F0502020204030204" charset="0"/>
                <a:ea typeface="宋体" panose="02010600030101010101" pitchFamily="2" charset="-122"/>
                <a:cs typeface="Calibri" panose="020F0502020204030204" charset="0"/>
              </a:rPr>
              <a:t>：</a:t>
            </a:r>
            <a:r>
              <a:rPr lang="en-US" sz="2800" b="0" dirty="0" smtClean="0">
                <a:latin typeface="Calibri" panose="020F0502020204030204" charset="0"/>
                <a:cs typeface="Calibri" panose="020F0502020204030204" charset="0"/>
              </a:rPr>
              <a:t>You </a:t>
            </a:r>
            <a:r>
              <a:rPr lang="en-US" sz="2800" b="0" dirty="0">
                <a:latin typeface="Calibri" panose="020F0502020204030204" charset="0"/>
                <a:cs typeface="Calibri" panose="020F0502020204030204" charset="0"/>
              </a:rPr>
              <a:t>measure one or more attributes of the software process or product. These measurements forms a baseline that helps you decide if process improvements have been effective. </a:t>
            </a:r>
            <a:r>
              <a:rPr lang="en-GB" sz="2600" b="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过程度量</a:t>
            </a:r>
            <a:endParaRPr lang="en-GB" sz="2600" b="0" dirty="0">
              <a:latin typeface="Calibri" panose="020F0502020204030204" charset="0"/>
              <a:cs typeface="Calibri" panose="020F0502020204030204" charset="0"/>
            </a:endParaRPr>
          </a:p>
          <a:p>
            <a:pPr>
              <a:lnSpc>
                <a:spcPct val="85000"/>
              </a:lnSpc>
              <a:spcBef>
                <a:spcPts val="800"/>
              </a:spcBef>
              <a:spcAft>
                <a:spcPts val="0"/>
              </a:spcAft>
            </a:pPr>
            <a:r>
              <a:rPr lang="en-US" sz="3100" i="1" dirty="0" smtClean="0">
                <a:solidFill>
                  <a:schemeClr val="accent2">
                    <a:lumMod val="75000"/>
                  </a:schemeClr>
                </a:solidFill>
                <a:latin typeface="Calibri" panose="020F0502020204030204" charset="0"/>
                <a:cs typeface="Calibri" panose="020F0502020204030204" charset="0"/>
              </a:rPr>
              <a:t> </a:t>
            </a:r>
            <a:r>
              <a:rPr lang="en-US" sz="3200" i="1" dirty="0" smtClean="0">
                <a:solidFill>
                  <a:schemeClr val="accent2">
                    <a:lumMod val="75000"/>
                  </a:schemeClr>
                </a:solidFill>
                <a:latin typeface="Calibri" panose="020F0502020204030204" charset="0"/>
                <a:cs typeface="Calibri" panose="020F0502020204030204" charset="0"/>
              </a:rPr>
              <a:t>Process </a:t>
            </a:r>
            <a:r>
              <a:rPr lang="en-US" sz="3200" i="1" dirty="0">
                <a:solidFill>
                  <a:schemeClr val="accent2">
                    <a:lumMod val="75000"/>
                  </a:schemeClr>
                </a:solidFill>
                <a:latin typeface="Calibri" panose="020F0502020204030204" charset="0"/>
                <a:cs typeface="Calibri" panose="020F0502020204030204" charset="0"/>
              </a:rPr>
              <a:t>analysis</a:t>
            </a:r>
            <a:r>
              <a:rPr lang="en-US" sz="3200" dirty="0">
                <a:solidFill>
                  <a:schemeClr val="accent2">
                    <a:lumMod val="75000"/>
                  </a:schemeClr>
                </a:solidFill>
                <a:latin typeface="Calibri" panose="020F0502020204030204" charset="0"/>
                <a:cs typeface="Calibri" panose="020F0502020204030204" charset="0"/>
              </a:rPr>
              <a:t> </a:t>
            </a:r>
            <a:r>
              <a:rPr lang="zh-CN" altLang="en-US" sz="3200" dirty="0">
                <a:solidFill>
                  <a:schemeClr val="accent2">
                    <a:lumMod val="75000"/>
                  </a:schemeClr>
                </a:solidFill>
                <a:latin typeface="Calibri" panose="020F0502020204030204" charset="0"/>
                <a:ea typeface="宋体" panose="02010600030101010101" pitchFamily="2" charset="-122"/>
                <a:cs typeface="Calibri" panose="020F0502020204030204" charset="0"/>
              </a:rPr>
              <a:t>：</a:t>
            </a:r>
            <a:r>
              <a:rPr lang="en-US" sz="2800" b="0" dirty="0" smtClean="0">
                <a:latin typeface="Calibri" panose="020F0502020204030204" charset="0"/>
                <a:cs typeface="Calibri" panose="020F0502020204030204" charset="0"/>
              </a:rPr>
              <a:t>The </a:t>
            </a:r>
            <a:r>
              <a:rPr lang="en-US" sz="2800" b="0" dirty="0">
                <a:latin typeface="Calibri" panose="020F0502020204030204" charset="0"/>
                <a:cs typeface="Calibri" panose="020F0502020204030204" charset="0"/>
              </a:rPr>
              <a:t>current process is assessed, and process weaknesses and bottlenecks are identified. Process models (sometimes called process maps) that describe the process may be </a:t>
            </a:r>
            <a:r>
              <a:rPr lang="en-US" sz="2800" b="0" dirty="0" smtClean="0">
                <a:latin typeface="Calibri" panose="020F0502020204030204" charset="0"/>
                <a:cs typeface="Calibri" panose="020F0502020204030204" charset="0"/>
              </a:rPr>
              <a:t>developed. </a:t>
            </a:r>
            <a:r>
              <a:rPr lang="en-GB" sz="2600" b="0" dirty="0" smtClean="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过程分析</a:t>
            </a:r>
            <a:endParaRPr lang="en-GB" sz="2600" b="0" dirty="0">
              <a:latin typeface="Calibri" panose="020F0502020204030204" charset="0"/>
              <a:cs typeface="Calibri" panose="020F0502020204030204" charset="0"/>
            </a:endParaRPr>
          </a:p>
          <a:p>
            <a:pPr>
              <a:lnSpc>
                <a:spcPct val="85000"/>
              </a:lnSpc>
              <a:spcBef>
                <a:spcPts val="800"/>
              </a:spcBef>
              <a:spcAft>
                <a:spcPts val="0"/>
              </a:spcAft>
            </a:pPr>
            <a:r>
              <a:rPr lang="en-US" sz="3100" i="1" dirty="0" smtClean="0">
                <a:solidFill>
                  <a:schemeClr val="accent2">
                    <a:lumMod val="75000"/>
                  </a:schemeClr>
                </a:solidFill>
                <a:latin typeface="Calibri" panose="020F0502020204030204" charset="0"/>
                <a:cs typeface="Calibri" panose="020F0502020204030204" charset="0"/>
              </a:rPr>
              <a:t> </a:t>
            </a:r>
            <a:r>
              <a:rPr lang="en-US" sz="3200" i="1" dirty="0" smtClean="0">
                <a:solidFill>
                  <a:schemeClr val="accent2">
                    <a:lumMod val="75000"/>
                  </a:schemeClr>
                </a:solidFill>
                <a:latin typeface="Calibri" panose="020F0502020204030204" charset="0"/>
                <a:cs typeface="Calibri" panose="020F0502020204030204" charset="0"/>
              </a:rPr>
              <a:t>Process </a:t>
            </a:r>
            <a:r>
              <a:rPr lang="en-US" sz="3200" i="1" dirty="0">
                <a:solidFill>
                  <a:schemeClr val="accent2">
                    <a:lumMod val="75000"/>
                  </a:schemeClr>
                </a:solidFill>
                <a:latin typeface="Calibri" panose="020F0502020204030204" charset="0"/>
                <a:cs typeface="Calibri" panose="020F0502020204030204" charset="0"/>
              </a:rPr>
              <a:t>change </a:t>
            </a:r>
            <a:r>
              <a:rPr lang="zh-CN" altLang="en-US" sz="3200" dirty="0">
                <a:solidFill>
                  <a:schemeClr val="accent2">
                    <a:lumMod val="75000"/>
                  </a:schemeClr>
                </a:solidFill>
                <a:latin typeface="Calibri" panose="020F0502020204030204" charset="0"/>
                <a:ea typeface="宋体" panose="02010600030101010101" pitchFamily="2" charset="-122"/>
                <a:cs typeface="Calibri" panose="020F0502020204030204" charset="0"/>
              </a:rPr>
              <a:t>：</a:t>
            </a:r>
            <a:r>
              <a:rPr lang="en-US" sz="2800" b="0" dirty="0" smtClean="0">
                <a:latin typeface="Calibri" panose="020F0502020204030204" charset="0"/>
                <a:cs typeface="Calibri" panose="020F0502020204030204" charset="0"/>
              </a:rPr>
              <a:t>Process </a:t>
            </a:r>
            <a:r>
              <a:rPr lang="en-US" sz="2800" b="0" dirty="0">
                <a:latin typeface="Calibri" panose="020F0502020204030204" charset="0"/>
                <a:cs typeface="Calibri" panose="020F0502020204030204" charset="0"/>
              </a:rPr>
              <a:t>changes are proposed to address some of the identified process weaknesses. These are introduced and the cycle resumes to collect data about the effectiveness of the changes</a:t>
            </a:r>
            <a:r>
              <a:rPr lang="en-US" sz="2800" b="0" dirty="0" smtClean="0"/>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过程改变</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2150"/>
            <a:ext cx="8554085" cy="6127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About</a:t>
            </a:r>
            <a:r>
              <a:rPr lang="zh-CN" altLang="en-US" sz="3200" dirty="0">
                <a:solidFill>
                  <a:schemeClr val="accent1">
                    <a:lumMod val="75000"/>
                  </a:schemeClr>
                </a:solidFill>
                <a:ea typeface="宋体" panose="02010600030101010101" pitchFamily="2" charset="-122"/>
                <a:sym typeface="+mn-ea"/>
              </a:rPr>
              <a:t> process maturity </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关于过程成熟度</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117475" y="1241425"/>
            <a:ext cx="8920480" cy="52108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 notion of process maturity was introduced in the late 1980s when the Software Engineering Institute (SEI) proposed their model of process capability maturity.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过程成熟度观念的起源</a:t>
            </a:r>
            <a:endParaRPr lang="en-US" sz="3200" dirty="0" smtClean="0">
              <a:solidFill>
                <a:schemeClr val="accent2">
                  <a:lumMod val="75000"/>
                </a:schemeClr>
              </a:solidFill>
              <a:latin typeface="Calibri" panose="020F0502020204030204" charset="0"/>
              <a:cs typeface="Calibri" panose="020F0502020204030204" charset="0"/>
            </a:endParaRPr>
          </a:p>
          <a:p>
            <a:pPr lvl="1" algn="l">
              <a:lnSpc>
                <a:spcPct val="90000"/>
              </a:lnSpc>
              <a:spcBef>
                <a:spcPts val="800"/>
              </a:spcBef>
              <a:spcAft>
                <a:spcPts val="0"/>
              </a:spcAft>
            </a:pPr>
            <a:r>
              <a:rPr lang="en-US" sz="2700" b="0" dirty="0" smtClean="0">
                <a:latin typeface="Calibri" panose="020F0502020204030204" charset="0"/>
                <a:cs typeface="Calibri" panose="020F0502020204030204" charset="0"/>
                <a:sym typeface="+mn-ea"/>
              </a:rPr>
              <a:t>The maturity of a software company’s processes reflects the process management, measurement, and use of good software engineering practices in the company.</a:t>
            </a:r>
            <a:endParaRPr lang="en-US" sz="2700" b="0" dirty="0" smtClean="0">
              <a:latin typeface="Calibri" panose="020F0502020204030204" charset="0"/>
              <a:cs typeface="Calibri" panose="020F0502020204030204" charset="0"/>
              <a:sym typeface="+mn-ea"/>
            </a:endParaRPr>
          </a:p>
          <a:p>
            <a:pPr lvl="1" algn="l">
              <a:lnSpc>
                <a:spcPct val="90000"/>
              </a:lnSpc>
              <a:spcBef>
                <a:spcPts val="800"/>
              </a:spcBef>
              <a:spcAft>
                <a:spcPts val="0"/>
              </a:spcAft>
            </a:pPr>
            <a:r>
              <a:rPr lang="en-US" sz="2700" b="0" dirty="0" smtClean="0">
                <a:latin typeface="Calibri" panose="020F0502020204030204" charset="0"/>
                <a:cs typeface="Calibri" panose="020F0502020204030204" charset="0"/>
                <a:sym typeface="+mn-ea"/>
              </a:rPr>
              <a:t>This idea was introduced so that the U.S. Department of Defense could assess the SE capability of defense contractors, with a view to limiting contracts to those who had reached a required level of process maturity.</a:t>
            </a:r>
            <a:endParaRPr lang="en-US" sz="27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800"/>
              </a:spcBef>
              <a:spcAft>
                <a:spcPts val="0"/>
              </a:spcAft>
            </a:pPr>
            <a:r>
              <a:rPr lang="en-US" sz="2700" b="0" dirty="0" smtClean="0">
                <a:latin typeface="Calibri" panose="020F0502020204030204" charset="0"/>
                <a:cs typeface="Calibri" panose="020F0502020204030204" charset="0"/>
              </a:rPr>
              <a:t>Five levels of process maturity were proposed. </a:t>
            </a:r>
            <a:endParaRPr lang="en-US" sz="2700" b="0" dirty="0" smtClean="0">
              <a:latin typeface="Calibri" panose="020F0502020204030204" charset="0"/>
              <a:cs typeface="Calibri" panose="020F0502020204030204"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543560" y="1285240"/>
            <a:ext cx="8218170" cy="5313045"/>
          </a:xfrm>
          <a:prstGeom prst="rect">
            <a:avLst/>
          </a:prstGeom>
        </p:spPr>
      </p:pic>
      <p:sp>
        <p:nvSpPr>
          <p:cNvPr id="15363" name="Rectangle 3"/>
          <p:cNvSpPr>
            <a:spLocks noGrp="1" noRot="1"/>
          </p:cNvSpPr>
          <p:nvPr>
            <p:ph type="subTitle" idx="1"/>
            <p:custDataLst>
              <p:tags r:id="rId2"/>
            </p:custDataLst>
          </p:nvPr>
        </p:nvSpPr>
        <p:spPr>
          <a:xfrm>
            <a:off x="88900" y="763905"/>
            <a:ext cx="8554085" cy="6127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Capability maturity levels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能力成熟度等级</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3"/>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2" name="Rectangle 3"/>
          <p:cNvSpPr>
            <a:spLocks noGrp="1" noRot="1"/>
          </p:cNvSpPr>
          <p:nvPr>
            <p:custDataLst>
              <p:tags r:id="rId4"/>
            </p:custDataLst>
          </p:nvPr>
        </p:nvSpPr>
        <p:spPr>
          <a:xfrm>
            <a:off x="4879975" y="1464945"/>
            <a:ext cx="1196340" cy="48450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优化级</a:t>
            </a:r>
            <a:endParaRPr lang="zh-CN" altLang="en-US" sz="3200" dirty="0">
              <a:solidFill>
                <a:schemeClr val="accent1">
                  <a:lumMod val="75000"/>
                </a:schemeClr>
              </a:solidFill>
              <a:ea typeface="宋体" panose="02010600030101010101" pitchFamily="2" charset="-122"/>
              <a:sym typeface="+mn-ea"/>
            </a:endParaRPr>
          </a:p>
        </p:txBody>
      </p:sp>
      <p:sp>
        <p:nvSpPr>
          <p:cNvPr id="3" name="Rectangle 3"/>
          <p:cNvSpPr>
            <a:spLocks noGrp="1" noRot="1"/>
          </p:cNvSpPr>
          <p:nvPr>
            <p:custDataLst>
              <p:tags r:id="rId5"/>
            </p:custDataLst>
          </p:nvPr>
        </p:nvSpPr>
        <p:spPr>
          <a:xfrm>
            <a:off x="2616200" y="2596515"/>
            <a:ext cx="1828165" cy="48450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定量管理级</a:t>
            </a:r>
            <a:endParaRPr lang="zh-CN" altLang="en-US" sz="3200" dirty="0">
              <a:solidFill>
                <a:schemeClr val="accent1">
                  <a:lumMod val="75000"/>
                </a:schemeClr>
              </a:solidFill>
              <a:ea typeface="宋体" panose="02010600030101010101" pitchFamily="2" charset="-122"/>
              <a:sym typeface="+mn-ea"/>
            </a:endParaRPr>
          </a:p>
        </p:txBody>
      </p:sp>
      <p:sp>
        <p:nvSpPr>
          <p:cNvPr id="6" name="Rectangle 3"/>
          <p:cNvSpPr>
            <a:spLocks noGrp="1" noRot="1"/>
          </p:cNvSpPr>
          <p:nvPr>
            <p:custDataLst>
              <p:tags r:id="rId6"/>
            </p:custDataLst>
          </p:nvPr>
        </p:nvSpPr>
        <p:spPr>
          <a:xfrm>
            <a:off x="1236345" y="3656330"/>
            <a:ext cx="1452245" cy="48450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被定义级</a:t>
            </a:r>
            <a:endParaRPr lang="zh-CN" altLang="en-US" sz="3200" dirty="0">
              <a:solidFill>
                <a:schemeClr val="accent1">
                  <a:lumMod val="75000"/>
                </a:schemeClr>
              </a:solidFill>
              <a:ea typeface="宋体" panose="02010600030101010101" pitchFamily="2" charset="-122"/>
              <a:sym typeface="+mn-ea"/>
            </a:endParaRPr>
          </a:p>
        </p:txBody>
      </p:sp>
      <p:sp>
        <p:nvSpPr>
          <p:cNvPr id="7" name="Rectangle 3"/>
          <p:cNvSpPr>
            <a:spLocks noGrp="1" noRot="1"/>
          </p:cNvSpPr>
          <p:nvPr>
            <p:custDataLst>
              <p:tags r:id="rId7"/>
            </p:custDataLst>
          </p:nvPr>
        </p:nvSpPr>
        <p:spPr>
          <a:xfrm>
            <a:off x="4161790" y="4787900"/>
            <a:ext cx="1452245" cy="48450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受管理级</a:t>
            </a:r>
            <a:endParaRPr lang="zh-CN" altLang="en-US" sz="3200" dirty="0">
              <a:solidFill>
                <a:schemeClr val="accent1">
                  <a:lumMod val="75000"/>
                </a:schemeClr>
              </a:solidFill>
              <a:ea typeface="宋体" panose="02010600030101010101" pitchFamily="2" charset="-122"/>
              <a:sym typeface="+mn-ea"/>
            </a:endParaRPr>
          </a:p>
        </p:txBody>
      </p:sp>
      <p:sp>
        <p:nvSpPr>
          <p:cNvPr id="8" name="Rectangle 3"/>
          <p:cNvSpPr>
            <a:spLocks noGrp="1" noRot="1"/>
          </p:cNvSpPr>
          <p:nvPr>
            <p:custDataLst>
              <p:tags r:id="rId8"/>
            </p:custDataLst>
          </p:nvPr>
        </p:nvSpPr>
        <p:spPr>
          <a:xfrm>
            <a:off x="2638425" y="5847715"/>
            <a:ext cx="1162685" cy="48450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初始级</a:t>
            </a:r>
            <a:endParaRPr lang="zh-CN" altLang="en-US" sz="3200"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942340"/>
            <a:ext cx="8910320" cy="6076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chemeClr val="accent1">
                    <a:lumMod val="75000"/>
                  </a:schemeClr>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The SEI capability maturity model</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能力成熟度模型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43010" name="Rectangle 2"/>
          <p:cNvSpPr>
            <a:spLocks noGrp="1" noChangeArrowheads="1"/>
          </p:cNvSpPr>
          <p:nvPr/>
        </p:nvSpPr>
        <p:spPr>
          <a:xfrm>
            <a:off x="151765" y="1600200"/>
            <a:ext cx="8840470" cy="47421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1000"/>
              </a:spcBef>
              <a:spcAft>
                <a:spcPts val="0"/>
              </a:spcAft>
            </a:pPr>
            <a:r>
              <a:rPr lang="en-US" altLang="en-GB" sz="3200" smtClean="0">
                <a:solidFill>
                  <a:schemeClr val="accent2">
                    <a:lumMod val="75000"/>
                  </a:schemeClr>
                </a:solidFill>
                <a:latin typeface="Calibri" panose="020F0502020204030204" charset="0"/>
                <a:cs typeface="Calibri" panose="020F0502020204030204" charset="0"/>
              </a:rPr>
              <a:t> </a:t>
            </a:r>
            <a:r>
              <a:rPr lang="en-GB" sz="3200" i="1" smtClean="0">
                <a:solidFill>
                  <a:schemeClr val="accent2">
                    <a:lumMod val="75000"/>
                  </a:schemeClr>
                </a:solidFill>
                <a:latin typeface="Calibri" panose="020F0502020204030204" charset="0"/>
                <a:cs typeface="Calibri" panose="020F0502020204030204" charset="0"/>
              </a:rPr>
              <a:t>Initial</a:t>
            </a:r>
            <a:r>
              <a:rPr lang="en-US" altLang="en-GB" sz="3200" smtClean="0">
                <a:solidFill>
                  <a:schemeClr val="accent2">
                    <a:lumMod val="75000"/>
                  </a:schemeClr>
                </a:solidFill>
                <a:latin typeface="Calibri" panose="020F0502020204030204" charset="0"/>
                <a:cs typeface="Calibri" panose="020F0502020204030204" charset="0"/>
              </a:rPr>
              <a:t>:</a:t>
            </a:r>
            <a:r>
              <a:rPr lang="en-GB" sz="2800" smtClean="0">
                <a:solidFill>
                  <a:schemeClr val="accent2">
                    <a:lumMod val="75000"/>
                  </a:schemeClr>
                </a:solidFill>
                <a:latin typeface="Calibri" panose="020F0502020204030204" charset="0"/>
                <a:cs typeface="Calibri" panose="020F0502020204030204" charset="0"/>
              </a:rPr>
              <a:t> </a:t>
            </a:r>
            <a:r>
              <a:rPr lang="en-GB" sz="2800" b="0" smtClean="0">
                <a:solidFill>
                  <a:schemeClr val="tx1"/>
                </a:solidFill>
                <a:latin typeface="Calibri" panose="020F0502020204030204" charset="0"/>
                <a:cs typeface="Calibri" panose="020F0502020204030204" charset="0"/>
              </a:rPr>
              <a:t>The </a:t>
            </a:r>
            <a:r>
              <a:rPr lang="en-GB" sz="2800" b="0" u="sng" smtClean="0">
                <a:solidFill>
                  <a:schemeClr val="tx1"/>
                </a:solidFill>
                <a:latin typeface="Calibri" panose="020F0502020204030204" charset="0"/>
                <a:cs typeface="Calibri" panose="020F0502020204030204" charset="0"/>
              </a:rPr>
              <a:t>goals</a:t>
            </a:r>
            <a:r>
              <a:rPr lang="en-GB" sz="2800" b="0" smtClean="0">
                <a:solidFill>
                  <a:schemeClr val="tx1"/>
                </a:solidFill>
                <a:latin typeface="Calibri" panose="020F0502020204030204" charset="0"/>
                <a:cs typeface="Calibri" panose="020F0502020204030204" charset="0"/>
              </a:rPr>
              <a:t> associated with the process area are </a:t>
            </a:r>
            <a:r>
              <a:rPr lang="en-GB" sz="2800" b="0" u="sng" smtClean="0">
                <a:solidFill>
                  <a:schemeClr val="tx1"/>
                </a:solidFill>
                <a:latin typeface="Calibri" panose="020F0502020204030204" charset="0"/>
                <a:cs typeface="Calibri" panose="020F0502020204030204" charset="0"/>
              </a:rPr>
              <a:t>satisfied</a:t>
            </a:r>
            <a:r>
              <a:rPr lang="en-GB" sz="2800" b="0" smtClean="0">
                <a:solidFill>
                  <a:schemeClr val="tx1"/>
                </a:solidFill>
                <a:latin typeface="Calibri" panose="020F0502020204030204" charset="0"/>
                <a:cs typeface="Calibri" panose="020F0502020204030204" charset="0"/>
              </a:rPr>
              <a:t>, and for all processes the </a:t>
            </a:r>
            <a:r>
              <a:rPr lang="en-GB" sz="2800" b="0" u="sng" smtClean="0">
                <a:solidFill>
                  <a:schemeClr val="tx1"/>
                </a:solidFill>
                <a:latin typeface="Calibri" panose="020F0502020204030204" charset="0"/>
                <a:cs typeface="Calibri" panose="020F0502020204030204" charset="0"/>
              </a:rPr>
              <a:t>scope</a:t>
            </a:r>
            <a:r>
              <a:rPr lang="en-GB" sz="2800" b="0" smtClean="0">
                <a:solidFill>
                  <a:schemeClr val="tx1"/>
                </a:solidFill>
                <a:latin typeface="Calibri" panose="020F0502020204030204" charset="0"/>
                <a:cs typeface="Calibri" panose="020F0502020204030204" charset="0"/>
              </a:rPr>
              <a:t> of the work to be performed is explicitly </a:t>
            </a:r>
            <a:r>
              <a:rPr lang="en-GB" sz="2800" b="0" u="sng" smtClean="0">
                <a:solidFill>
                  <a:schemeClr val="tx1"/>
                </a:solidFill>
                <a:latin typeface="Calibri" panose="020F0502020204030204" charset="0"/>
                <a:cs typeface="Calibri" panose="020F0502020204030204" charset="0"/>
              </a:rPr>
              <a:t>set out and communicated</a:t>
            </a:r>
            <a:r>
              <a:rPr lang="en-GB" sz="2800" b="0" smtClean="0">
                <a:solidFill>
                  <a:schemeClr val="tx1"/>
                </a:solidFill>
                <a:latin typeface="Calibri" panose="020F0502020204030204" charset="0"/>
                <a:cs typeface="Calibri" panose="020F0502020204030204" charset="0"/>
              </a:rPr>
              <a:t> to the team members.</a:t>
            </a:r>
            <a:r>
              <a:rPr lang="en-US" altLang="en-GB" sz="2800" b="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初始级</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目标满足</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工作</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实施</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范围已界定并传达。</a:t>
            </a:r>
            <a:r>
              <a:rPr lang="en-US" altLang="en-GB" sz="3200" smtClean="0">
                <a:solidFill>
                  <a:schemeClr val="accent2">
                    <a:lumMod val="75000"/>
                  </a:schemeClr>
                </a:solidFill>
                <a:latin typeface="Calibri" panose="020F0502020204030204" charset="0"/>
                <a:cs typeface="Calibri" panose="020F0502020204030204" charset="0"/>
              </a:rPr>
              <a:t> </a:t>
            </a:r>
            <a:r>
              <a:rPr lang="en-US" altLang="en-GB" sz="3200" i="1" smtClean="0">
                <a:solidFill>
                  <a:schemeClr val="accent2">
                    <a:lumMod val="75000"/>
                  </a:schemeClr>
                </a:solidFill>
                <a:latin typeface="Calibri" panose="020F0502020204030204" charset="0"/>
                <a:cs typeface="Calibri" panose="020F0502020204030204" charset="0"/>
              </a:rPr>
              <a:t>Managed</a:t>
            </a:r>
            <a:r>
              <a:rPr lang="en-US" altLang="en-GB" sz="3200" smtClean="0">
                <a:solidFill>
                  <a:schemeClr val="accent2">
                    <a:lumMod val="75000"/>
                  </a:schemeClr>
                </a:solidFill>
                <a:latin typeface="Calibri" panose="020F0502020204030204" charset="0"/>
                <a:cs typeface="Calibri" panose="020F0502020204030204" charset="0"/>
              </a:rPr>
              <a:t>:</a:t>
            </a:r>
            <a:r>
              <a:rPr lang="en-US" altLang="en-GB" sz="2800" smtClean="0">
                <a:solidFill>
                  <a:schemeClr val="accent2">
                    <a:lumMod val="75000"/>
                  </a:schemeClr>
                </a:solidFill>
                <a:latin typeface="Calibri" panose="020F0502020204030204" charset="0"/>
                <a:cs typeface="Calibri" panose="020F0502020204030204" charset="0"/>
              </a:rPr>
              <a:t> </a:t>
            </a:r>
            <a:r>
              <a:rPr lang="en-US" altLang="en-GB" sz="2800" b="0" smtClean="0">
                <a:solidFill>
                  <a:schemeClr val="tx1"/>
                </a:solidFill>
                <a:latin typeface="Calibri" panose="020F0502020204030204" charset="0"/>
                <a:cs typeface="Calibri" panose="020F0502020204030204" charset="0"/>
              </a:rPr>
              <a:t>The </a:t>
            </a:r>
            <a:r>
              <a:rPr lang="en-US" altLang="en-GB" sz="2800" b="0" u="sng" smtClean="0">
                <a:solidFill>
                  <a:schemeClr val="tx1"/>
                </a:solidFill>
                <a:latin typeface="Calibri" panose="020F0502020204030204" charset="0"/>
                <a:cs typeface="Calibri" panose="020F0502020204030204" charset="0"/>
              </a:rPr>
              <a:t>goals</a:t>
            </a:r>
            <a:r>
              <a:rPr lang="en-US" altLang="en-GB" sz="2800" b="0" smtClean="0">
                <a:solidFill>
                  <a:schemeClr val="tx1"/>
                </a:solidFill>
                <a:latin typeface="Calibri" panose="020F0502020204030204" charset="0"/>
                <a:cs typeface="Calibri" panose="020F0502020204030204" charset="0"/>
              </a:rPr>
              <a:t> associated with the process area are</a:t>
            </a:r>
            <a:r>
              <a:rPr lang="en-US" altLang="en-GB" sz="2800" b="0" u="sng" smtClean="0">
                <a:solidFill>
                  <a:schemeClr val="tx1"/>
                </a:solidFill>
                <a:latin typeface="Calibri" panose="020F0502020204030204" charset="0"/>
                <a:cs typeface="Calibri" panose="020F0502020204030204" charset="0"/>
              </a:rPr>
              <a:t> met</a:t>
            </a:r>
            <a:r>
              <a:rPr lang="en-US" altLang="en-GB" sz="2800" b="0" smtClean="0">
                <a:solidFill>
                  <a:schemeClr val="tx1"/>
                </a:solidFill>
                <a:latin typeface="Calibri" panose="020F0502020204030204" charset="0"/>
                <a:cs typeface="Calibri" panose="020F0502020204030204" charset="0"/>
              </a:rPr>
              <a:t>, and </a:t>
            </a:r>
            <a:r>
              <a:rPr lang="en-US" altLang="en-GB" sz="2800" b="0" u="sng" smtClean="0">
                <a:solidFill>
                  <a:schemeClr val="tx1"/>
                </a:solidFill>
                <a:latin typeface="Calibri" panose="020F0502020204030204" charset="0"/>
                <a:cs typeface="Calibri" panose="020F0502020204030204" charset="0"/>
              </a:rPr>
              <a:t>organizational policies</a:t>
            </a:r>
            <a:r>
              <a:rPr lang="en-US" altLang="en-GB" sz="2800" b="0" smtClean="0">
                <a:solidFill>
                  <a:schemeClr val="tx1"/>
                </a:solidFill>
                <a:latin typeface="Calibri" panose="020F0502020204030204" charset="0"/>
                <a:cs typeface="Calibri" panose="020F0502020204030204" charset="0"/>
              </a:rPr>
              <a:t> are i</a:t>
            </a:r>
            <a:r>
              <a:rPr lang="en-US" altLang="en-GB" sz="2800" b="0" u="sng" smtClean="0">
                <a:solidFill>
                  <a:schemeClr val="tx1"/>
                </a:solidFill>
                <a:latin typeface="Calibri" panose="020F0502020204030204" charset="0"/>
                <a:cs typeface="Calibri" panose="020F0502020204030204" charset="0"/>
              </a:rPr>
              <a:t>n place</a:t>
            </a:r>
            <a:r>
              <a:rPr lang="en-US" altLang="en-GB" sz="2800" b="0" smtClean="0">
                <a:solidFill>
                  <a:schemeClr val="tx1"/>
                </a:solidFill>
                <a:latin typeface="Calibri" panose="020F0502020204030204" charset="0"/>
                <a:cs typeface="Calibri" panose="020F0502020204030204" charset="0"/>
              </a:rPr>
              <a:t> that define when each process should be used. There </a:t>
            </a:r>
            <a:r>
              <a:rPr lang="en-GB" sz="2800" b="0" smtClean="0">
                <a:solidFill>
                  <a:schemeClr val="tx1"/>
                </a:solidFill>
                <a:latin typeface="Calibri" panose="020F0502020204030204" charset="0"/>
                <a:cs typeface="Calibri" panose="020F0502020204030204" charset="0"/>
              </a:rPr>
              <a:t>must be </a:t>
            </a:r>
            <a:r>
              <a:rPr lang="en-GB" sz="2800" b="0" u="sng" smtClean="0">
                <a:solidFill>
                  <a:schemeClr val="tx1"/>
                </a:solidFill>
                <a:latin typeface="Calibri" panose="020F0502020204030204" charset="0"/>
                <a:cs typeface="Calibri" panose="020F0502020204030204" charset="0"/>
              </a:rPr>
              <a:t>documented project plans</a:t>
            </a:r>
            <a:r>
              <a:rPr lang="en-GB" sz="2800" b="0" smtClean="0">
                <a:solidFill>
                  <a:schemeClr val="tx1"/>
                </a:solidFill>
                <a:latin typeface="Calibri" panose="020F0502020204030204" charset="0"/>
                <a:cs typeface="Calibri" panose="020F0502020204030204" charset="0"/>
              </a:rPr>
              <a:t> that define the project goals. </a:t>
            </a:r>
            <a:r>
              <a:rPr lang="en-GB" sz="2800" b="0" u="sng" smtClean="0">
                <a:solidFill>
                  <a:schemeClr val="tx1"/>
                </a:solidFill>
                <a:latin typeface="Calibri" panose="020F0502020204030204" charset="0"/>
                <a:cs typeface="Calibri" panose="020F0502020204030204" charset="0"/>
              </a:rPr>
              <a:t>Resource management and process monitoring</a:t>
            </a:r>
            <a:r>
              <a:rPr lang="en-GB" sz="2800" b="0" smtClean="0">
                <a:solidFill>
                  <a:schemeClr val="tx1"/>
                </a:solidFill>
                <a:latin typeface="Calibri" panose="020F0502020204030204" charset="0"/>
                <a:cs typeface="Calibri" panose="020F0502020204030204" charset="0"/>
              </a:rPr>
              <a:t> procedures must be </a:t>
            </a:r>
            <a:r>
              <a:rPr lang="en-GB" sz="2800" b="0" u="sng" smtClean="0">
                <a:solidFill>
                  <a:schemeClr val="tx1"/>
                </a:solidFill>
                <a:latin typeface="Calibri" panose="020F0502020204030204" charset="0"/>
                <a:cs typeface="Calibri" panose="020F0502020204030204" charset="0"/>
              </a:rPr>
              <a:t>in place</a:t>
            </a:r>
            <a:r>
              <a:rPr lang="en-GB" sz="2800" b="0" smtClean="0">
                <a:solidFill>
                  <a:schemeClr val="tx1"/>
                </a:solidFill>
                <a:latin typeface="Calibri" panose="020F0502020204030204" charset="0"/>
                <a:cs typeface="Calibri" panose="020F0502020204030204" charset="0"/>
              </a:rPr>
              <a:t> across the institution.</a:t>
            </a:r>
            <a:r>
              <a:rPr lang="en-US" altLang="en-GB" sz="2800" b="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受管理级:</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目标满足</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组织的政策到位。必须有书面化的项目计划。资源管理及流程监控到位。</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55320"/>
            <a:ext cx="8554085" cy="6076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SEI capability maturity model</a:t>
            </a:r>
            <a:r>
              <a:rPr lang="en-US" altLang="zh-CN" sz="3200" dirty="0">
                <a:solidFill>
                  <a:schemeClr val="accent1">
                    <a:lumMod val="75000"/>
                  </a:schemeClr>
                </a:solidFill>
                <a:ea typeface="宋体" panose="02010600030101010101" pitchFamily="2" charset="-122"/>
                <a:sym typeface="+mn-ea"/>
              </a:rPr>
              <a:t>, cont’d</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43010" name="Rectangle 2"/>
          <p:cNvSpPr>
            <a:spLocks noGrp="1" noChangeArrowheads="1"/>
          </p:cNvSpPr>
          <p:nvPr/>
        </p:nvSpPr>
        <p:spPr>
          <a:xfrm>
            <a:off x="151765" y="1097915"/>
            <a:ext cx="8840470" cy="56642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300"/>
              </a:spcBef>
              <a:spcAft>
                <a:spcPts val="0"/>
              </a:spcAft>
            </a:pPr>
            <a:r>
              <a:rPr lang="en-US" altLang="en-GB" sz="3200" smtClean="0">
                <a:solidFill>
                  <a:schemeClr val="accent2">
                    <a:lumMod val="75000"/>
                  </a:schemeClr>
                </a:solidFill>
                <a:latin typeface="Calibri" panose="020F0502020204030204" charset="0"/>
                <a:cs typeface="Calibri" panose="020F0502020204030204" charset="0"/>
              </a:rPr>
              <a:t> </a:t>
            </a:r>
            <a:r>
              <a:rPr lang="en-GB" sz="3200" i="1" smtClean="0">
                <a:solidFill>
                  <a:schemeClr val="accent2">
                    <a:lumMod val="75000"/>
                  </a:schemeClr>
                </a:solidFill>
                <a:latin typeface="Calibri" panose="020F0502020204030204" charset="0"/>
                <a:cs typeface="Calibri" panose="020F0502020204030204" charset="0"/>
              </a:rPr>
              <a:t>Defined</a:t>
            </a:r>
            <a:r>
              <a:rPr lang="en-US" altLang="en-GB" sz="3200" smtClean="0">
                <a:solidFill>
                  <a:schemeClr val="accent2">
                    <a:lumMod val="75000"/>
                  </a:schemeClr>
                </a:solidFill>
                <a:latin typeface="Calibri" panose="020F0502020204030204" charset="0"/>
                <a:cs typeface="Calibri" panose="020F0502020204030204" charset="0"/>
              </a:rPr>
              <a:t>:</a:t>
            </a:r>
            <a:r>
              <a:rPr lang="en-US" altLang="en-GB" sz="2600" b="0" smtClean="0">
                <a:solidFill>
                  <a:schemeClr val="tx1"/>
                </a:solidFill>
                <a:latin typeface="Calibri" panose="020F0502020204030204" charset="0"/>
                <a:cs typeface="Calibri" panose="020F0502020204030204" charset="0"/>
              </a:rPr>
              <a:t> Focuses on </a:t>
            </a:r>
            <a:r>
              <a:rPr lang="en-US" altLang="en-GB" sz="2600" b="0" u="sng" smtClean="0">
                <a:solidFill>
                  <a:schemeClr val="tx1"/>
                </a:solidFill>
                <a:latin typeface="Calibri" panose="020F0502020204030204" charset="0"/>
                <a:cs typeface="Calibri" panose="020F0502020204030204" charset="0"/>
              </a:rPr>
              <a:t>organizational standardization</a:t>
            </a:r>
            <a:r>
              <a:rPr lang="en-US" altLang="en-GB" sz="2600" b="0" smtClean="0">
                <a:solidFill>
                  <a:schemeClr val="tx1"/>
                </a:solidFill>
                <a:latin typeface="Calibri" panose="020F0502020204030204" charset="0"/>
                <a:cs typeface="Calibri" panose="020F0502020204030204" charset="0"/>
              </a:rPr>
              <a:t> and </a:t>
            </a:r>
            <a:r>
              <a:rPr lang="en-US" altLang="en-GB" sz="2600" b="0" u="sng" smtClean="0">
                <a:solidFill>
                  <a:schemeClr val="tx1"/>
                </a:solidFill>
                <a:latin typeface="Calibri" panose="020F0502020204030204" charset="0"/>
                <a:cs typeface="Calibri" panose="020F0502020204030204" charset="0"/>
              </a:rPr>
              <a:t>deployment of </a:t>
            </a:r>
            <a:r>
              <a:rPr lang="en-GB" sz="2600" b="0" u="sng" smtClean="0">
                <a:solidFill>
                  <a:schemeClr val="tx1"/>
                </a:solidFill>
                <a:latin typeface="Calibri" panose="020F0502020204030204" charset="0"/>
                <a:cs typeface="Calibri" panose="020F0502020204030204" charset="0"/>
              </a:rPr>
              <a:t>processes</a:t>
            </a:r>
            <a:r>
              <a:rPr lang="en-GB" sz="2600" b="0" smtClean="0">
                <a:solidFill>
                  <a:schemeClr val="tx1"/>
                </a:solidFill>
                <a:latin typeface="Calibri" panose="020F0502020204030204" charset="0"/>
                <a:cs typeface="Calibri" panose="020F0502020204030204" charset="0"/>
              </a:rPr>
              <a:t>. Each project has a </a:t>
            </a:r>
            <a:r>
              <a:rPr lang="en-GB" sz="2600" b="0" u="sng" smtClean="0">
                <a:solidFill>
                  <a:schemeClr val="tx1"/>
                </a:solidFill>
                <a:latin typeface="Calibri" panose="020F0502020204030204" charset="0"/>
                <a:cs typeface="Calibri" panose="020F0502020204030204" charset="0"/>
              </a:rPr>
              <a:t>managed</a:t>
            </a:r>
            <a:r>
              <a:rPr lang="en-GB" sz="2600" b="0" smtClean="0">
                <a:solidFill>
                  <a:schemeClr val="tx1"/>
                </a:solidFill>
                <a:latin typeface="Calibri" panose="020F0502020204030204" charset="0"/>
                <a:cs typeface="Calibri" panose="020F0502020204030204" charset="0"/>
              </a:rPr>
              <a:t> process that is adapted to the project requirements from a </a:t>
            </a:r>
            <a:r>
              <a:rPr lang="en-GB" sz="2600" b="0" u="sng" smtClean="0">
                <a:solidFill>
                  <a:schemeClr val="tx1"/>
                </a:solidFill>
                <a:latin typeface="Calibri" panose="020F0502020204030204" charset="0"/>
                <a:cs typeface="Calibri" panose="020F0502020204030204" charset="0"/>
              </a:rPr>
              <a:t>defined set of organizational </a:t>
            </a:r>
            <a:r>
              <a:rPr lang="en-US" altLang="en-GB" sz="2600" b="0" u="sng" smtClean="0">
                <a:solidFill>
                  <a:schemeClr val="tx1"/>
                </a:solidFill>
                <a:latin typeface="Calibri" panose="020F0502020204030204" charset="0"/>
                <a:cs typeface="Calibri" panose="020F0502020204030204" charset="0"/>
              </a:rPr>
              <a:t>processes.</a:t>
            </a:r>
            <a:r>
              <a:rPr lang="en-US" altLang="en-GB" sz="2600" b="0" smtClean="0">
                <a:solidFill>
                  <a:schemeClr val="tx1"/>
                </a:solidFill>
                <a:latin typeface="Calibri" panose="020F0502020204030204" charset="0"/>
                <a:cs typeface="Calibri" panose="020F0502020204030204" charset="0"/>
              </a:rPr>
              <a:t> Process assets and process measurements must be collected and used for future process improvements.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被定义级:专注于组织标准化和流程部署。每个项目都有受管理的流程，这些流程适配已定义的组织过程的项目需求。</a:t>
            </a:r>
            <a:endParaRPr lang="zh-CN" altLang="en-US" sz="2600" smtClean="0">
              <a:solidFill>
                <a:schemeClr val="accent2">
                  <a:lumMod val="75000"/>
                </a:schemeClr>
              </a:solidFill>
              <a:latin typeface="Calibri" panose="020F0502020204030204" charset="0"/>
              <a:cs typeface="Calibri" panose="020F0502020204030204" charset="0"/>
            </a:endParaRPr>
          </a:p>
          <a:p>
            <a:pPr>
              <a:lnSpc>
                <a:spcPct val="85000"/>
              </a:lnSpc>
              <a:spcBef>
                <a:spcPts val="300"/>
              </a:spcBef>
              <a:spcAft>
                <a:spcPts val="0"/>
              </a:spcAft>
            </a:pPr>
            <a:r>
              <a:rPr lang="en-US" altLang="en-GB" sz="3200" i="1" smtClean="0">
                <a:solidFill>
                  <a:schemeClr val="accent2">
                    <a:lumMod val="75000"/>
                  </a:schemeClr>
                </a:solidFill>
                <a:latin typeface="Calibri" panose="020F0502020204030204" charset="0"/>
                <a:cs typeface="Calibri" panose="020F0502020204030204" charset="0"/>
              </a:rPr>
              <a:t> </a:t>
            </a:r>
            <a:r>
              <a:rPr lang="en-GB" sz="3200" i="1" smtClean="0">
                <a:solidFill>
                  <a:schemeClr val="accent2">
                    <a:lumMod val="75000"/>
                  </a:schemeClr>
                </a:solidFill>
                <a:latin typeface="Calibri" panose="020F0502020204030204" charset="0"/>
                <a:cs typeface="Calibri" panose="020F0502020204030204" charset="0"/>
              </a:rPr>
              <a:t>Quantitatively managed</a:t>
            </a:r>
            <a:r>
              <a:rPr lang="en-US" altLang="en-GB" sz="3200" smtClean="0">
                <a:solidFill>
                  <a:schemeClr val="accent2">
                    <a:lumMod val="75000"/>
                  </a:schemeClr>
                </a:solidFill>
                <a:latin typeface="Calibri" panose="020F0502020204030204" charset="0"/>
                <a:cs typeface="Calibri" panose="020F0502020204030204" charset="0"/>
              </a:rPr>
              <a:t>:</a:t>
            </a:r>
            <a:r>
              <a:rPr lang="en-US" altLang="en-GB" sz="2800" b="0" smtClean="0">
                <a:solidFill>
                  <a:schemeClr val="tx1"/>
                </a:solidFill>
                <a:latin typeface="Calibri" panose="020F0502020204030204" charset="0"/>
                <a:cs typeface="Calibri" panose="020F0502020204030204" charset="0"/>
              </a:rPr>
              <a:t> </a:t>
            </a:r>
            <a:r>
              <a:rPr lang="en-US" altLang="en-GB" sz="2600" b="0" smtClean="0">
                <a:solidFill>
                  <a:schemeClr val="tx1"/>
                </a:solidFill>
                <a:latin typeface="Calibri" panose="020F0502020204030204" charset="0"/>
                <a:cs typeface="Calibri" panose="020F0502020204030204" charset="0"/>
              </a:rPr>
              <a:t> There is an organizational responsibility to use statistical and other quantitative methods to control subprocesses. That is, collected process and product measurements must be used in process management.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定量管理级:组织运用统计和其他量化方法来控制子流程。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300"/>
              </a:spcBef>
              <a:spcAft>
                <a:spcPts val="0"/>
              </a:spcAft>
            </a:pPr>
            <a:r>
              <a:rPr lang="en-US" altLang="en-GB" sz="3200" smtClean="0">
                <a:solidFill>
                  <a:schemeClr val="accent2">
                    <a:lumMod val="75000"/>
                  </a:schemeClr>
                </a:solidFill>
                <a:latin typeface="Calibri" panose="020F0502020204030204" charset="0"/>
                <a:cs typeface="Calibri" panose="020F0502020204030204" charset="0"/>
              </a:rPr>
              <a:t> </a:t>
            </a:r>
            <a:r>
              <a:rPr lang="en-GB" sz="3200" i="1" smtClean="0">
                <a:solidFill>
                  <a:schemeClr val="accent2">
                    <a:lumMod val="75000"/>
                  </a:schemeClr>
                </a:solidFill>
                <a:latin typeface="Calibri" panose="020F0502020204030204" charset="0"/>
                <a:cs typeface="Calibri" panose="020F0502020204030204" charset="0"/>
              </a:rPr>
              <a:t>Optimizing</a:t>
            </a:r>
            <a:r>
              <a:rPr lang="en-US" altLang="en-GB" sz="3200" smtClean="0">
                <a:solidFill>
                  <a:schemeClr val="accent2">
                    <a:lumMod val="75000"/>
                  </a:schemeClr>
                </a:solidFill>
                <a:latin typeface="Calibri" panose="020F0502020204030204" charset="0"/>
                <a:cs typeface="Calibri" panose="020F0502020204030204" charset="0"/>
              </a:rPr>
              <a:t>:</a:t>
            </a:r>
            <a:r>
              <a:rPr lang="en-US" altLang="en-GB" sz="2600" b="0" smtClean="0">
                <a:solidFill>
                  <a:schemeClr val="tx1"/>
                </a:solidFill>
                <a:latin typeface="Calibri" panose="020F0502020204030204" charset="0"/>
                <a:cs typeface="Calibri" panose="020F0502020204030204" charset="0"/>
              </a:rPr>
              <a:t> The organization must use the process and product measurements to drive process improvement. Trends must be analyzed and the processes adapted to changing business needs.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优化级</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组织利用过程和产品的度量来驱动流程改进。</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8830"/>
            <a:ext cx="8554085" cy="6076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Key points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128905" y="1384935"/>
            <a:ext cx="8874760" cy="45262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Software processes are the activities involved in producing a software system. Software process models are abstract representations of these processes.</a:t>
            </a:r>
            <a:endParaRPr lang="en-GB"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General process models describe the organization of software processes.</a:t>
            </a:r>
            <a:r>
              <a:rPr lang="en-GB" sz="3100" dirty="0" smtClean="0">
                <a:latin typeface="Calibri" panose="020F0502020204030204" charset="0"/>
                <a:cs typeface="Calibri" panose="020F0502020204030204" charset="0"/>
              </a:rPr>
              <a:t> </a:t>
            </a:r>
            <a:endParaRPr lang="en-GB" sz="3100" dirty="0" smtClean="0">
              <a:latin typeface="Calibri" panose="020F0502020204030204" charset="0"/>
              <a:cs typeface="Calibri" panose="020F0502020204030204" charset="0"/>
            </a:endParaRPr>
          </a:p>
          <a:p>
            <a:pPr lvl="1">
              <a:lnSpc>
                <a:spcPct val="90000"/>
              </a:lnSpc>
              <a:spcBef>
                <a:spcPts val="600"/>
              </a:spcBef>
              <a:spcAft>
                <a:spcPts val="0"/>
              </a:spcAft>
            </a:pPr>
            <a:r>
              <a:rPr lang="en-GB" sz="2800" b="0" dirty="0" smtClean="0">
                <a:latin typeface="Calibri" panose="020F0502020204030204" charset="0"/>
                <a:cs typeface="Calibri" panose="020F0502020204030204" charset="0"/>
              </a:rPr>
              <a:t>Examples of these general models include the ‘waterfall’ model,  incremental development, and reuse-oriented development.</a:t>
            </a:r>
            <a:endParaRPr lang="en-GB" sz="2800" b="0" dirty="0" smtClean="0">
              <a:latin typeface="Calibri" panose="020F0502020204030204" charset="0"/>
              <a:cs typeface="Calibri" panose="020F0502020204030204" charset="0"/>
            </a:endParaRPr>
          </a:p>
          <a:p>
            <a:pPr>
              <a:lnSpc>
                <a:spcPct val="90000"/>
              </a:lnSpc>
              <a:spcBef>
                <a:spcPts val="600"/>
              </a:spcBef>
              <a:spcAft>
                <a:spcPts val="0"/>
              </a:spcAft>
            </a:pPr>
            <a:r>
              <a:rPr lang="en-US" altLang="en-GB" sz="3100" dirty="0">
                <a:solidFill>
                  <a:schemeClr val="accent2">
                    <a:lumMod val="75000"/>
                  </a:schemeClr>
                </a:solidFill>
                <a:latin typeface="Calibri" panose="020F0502020204030204" charset="0"/>
                <a:cs typeface="Calibri" panose="020F0502020204030204" charset="0"/>
              </a:rPr>
              <a:t> </a:t>
            </a:r>
            <a:r>
              <a:rPr lang="en-GB" sz="3100" dirty="0">
                <a:solidFill>
                  <a:schemeClr val="accent2">
                    <a:lumMod val="75000"/>
                  </a:schemeClr>
                </a:solidFill>
                <a:latin typeface="Calibri" panose="020F0502020204030204" charset="0"/>
                <a:cs typeface="Calibri" panose="020F0502020204030204" charset="0"/>
              </a:rPr>
              <a:t>Requirements </a:t>
            </a:r>
            <a:r>
              <a:rPr lang="en-GB" sz="3100" dirty="0" smtClean="0">
                <a:solidFill>
                  <a:schemeClr val="accent2">
                    <a:lumMod val="75000"/>
                  </a:schemeClr>
                </a:solidFill>
                <a:latin typeface="Calibri" panose="020F0502020204030204" charset="0"/>
                <a:cs typeface="Calibri" panose="020F0502020204030204" charset="0"/>
              </a:rPr>
              <a:t>engineering </a:t>
            </a:r>
            <a:r>
              <a:rPr lang="en-GB" sz="3100" dirty="0">
                <a:solidFill>
                  <a:schemeClr val="accent2">
                    <a:lumMod val="75000"/>
                  </a:schemeClr>
                </a:solidFill>
                <a:latin typeface="Calibri" panose="020F0502020204030204" charset="0"/>
                <a:cs typeface="Calibri" panose="020F0502020204030204" charset="0"/>
              </a:rPr>
              <a:t>is the process of developing a software specification.</a:t>
            </a:r>
            <a:endParaRPr lang="en-GB" sz="3100" dirty="0">
              <a:solidFill>
                <a:schemeClr val="accent2">
                  <a:lumMod val="75000"/>
                </a:schemeClr>
              </a:solidFill>
              <a:latin typeface="Calibri" panose="020F0502020204030204" charset="0"/>
              <a:cs typeface="Calibri" panose="020F0502020204030204" charset="0"/>
            </a:endParaRPr>
          </a:p>
          <a:p>
            <a:pPr lvl="1"/>
            <a:endParaRPr lang="en-GB" sz="31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8830"/>
            <a:ext cx="8554085" cy="6076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Key points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98729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2  Software Processes</a:t>
            </a:r>
            <a:endParaRPr lang="en-US" altLang="zh-CN" sz="2800" dirty="0">
              <a:solidFill>
                <a:srgbClr val="660066"/>
              </a:solidFill>
              <a:ea typeface="黑体" panose="02010609060101010101" pitchFamily="49" charset="-122"/>
              <a:cs typeface="+mj-lt"/>
            </a:endParaRPr>
          </a:p>
        </p:txBody>
      </p:sp>
      <p:sp>
        <p:nvSpPr>
          <p:cNvPr id="5" name="Content Placeholder 4"/>
          <p:cNvSpPr>
            <a:spLocks noGrp="1"/>
          </p:cNvSpPr>
          <p:nvPr/>
        </p:nvSpPr>
        <p:spPr>
          <a:xfrm>
            <a:off x="128905" y="1384935"/>
            <a:ext cx="8874760" cy="49771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Processes may be structured for iterative development and delivery so that changes may be made without disrupting the system as a whole.</a:t>
            </a:r>
            <a:endParaRPr lang="en-GB"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600"/>
              </a:spcBef>
              <a:spcAft>
                <a:spcPts val="0"/>
              </a:spcAft>
            </a:pPr>
            <a:r>
              <a:rPr lang="en-GB" sz="3100" dirty="0" smtClean="0">
                <a:solidFill>
                  <a:schemeClr val="accent2">
                    <a:lumMod val="75000"/>
                  </a:schemeClr>
                </a:solidFill>
                <a:latin typeface="Calibri" panose="020F0502020204030204" charset="0"/>
                <a:cs typeface="Calibri" panose="020F0502020204030204" charset="0"/>
              </a:rPr>
              <a:t> The principal approaches to process improvement are agile approaches, geared to reducing process overheads, and maturity-based approaches based on better process management and the use of good software engineering practice.</a:t>
            </a:r>
            <a:endParaRPr lang="en-GB" sz="3100" dirty="0" smtClean="0">
              <a:solidFill>
                <a:schemeClr val="accent2">
                  <a:lumMod val="75000"/>
                </a:schemeClr>
              </a:solidFill>
              <a:latin typeface="Calibri" panose="020F0502020204030204" charset="0"/>
              <a:cs typeface="Calibri" panose="020F0502020204030204" charset="0"/>
            </a:endParaRPr>
          </a:p>
          <a:p>
            <a:pPr>
              <a:lnSpc>
                <a:spcPct val="90000"/>
              </a:lnSpc>
              <a:spcBef>
                <a:spcPts val="600"/>
              </a:spcBef>
              <a:spcAft>
                <a:spcPts val="0"/>
              </a:spcAft>
            </a:pPr>
            <a:r>
              <a:rPr lang="en-US" altLang="en-GB" sz="3100" dirty="0" smtClean="0">
                <a:solidFill>
                  <a:schemeClr val="accent2">
                    <a:lumMod val="75000"/>
                  </a:schemeClr>
                </a:solidFill>
                <a:latin typeface="Calibri" panose="020F0502020204030204" charset="0"/>
                <a:cs typeface="Calibri" panose="020F0502020204030204" charset="0"/>
              </a:rPr>
              <a:t> </a:t>
            </a:r>
            <a:r>
              <a:rPr lang="en-GB" sz="3100" dirty="0" smtClean="0">
                <a:solidFill>
                  <a:schemeClr val="accent2">
                    <a:lumMod val="75000"/>
                  </a:schemeClr>
                </a:solidFill>
                <a:latin typeface="Calibri" panose="020F0502020204030204" charset="0"/>
                <a:cs typeface="Calibri" panose="020F0502020204030204" charset="0"/>
              </a:rPr>
              <a:t>The SEI process maturity framework identifies maturity levels that essentially correspond to the use of good software engineering practice.</a:t>
            </a:r>
            <a:endParaRPr lang="en-GB" sz="31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25668</Words>
  <Application>WPS 演示</Application>
  <PresentationFormat>信纸(8.5x11 英寸)</PresentationFormat>
  <Paragraphs>474</Paragraphs>
  <Slides>55</Slides>
  <Notes>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55</vt:i4>
      </vt:variant>
    </vt:vector>
  </HeadingPairs>
  <TitlesOfParts>
    <vt:vector size="70" baseType="lpstr">
      <vt:lpstr>Arial</vt:lpstr>
      <vt:lpstr>宋体</vt:lpstr>
      <vt:lpstr>Wingdings</vt:lpstr>
      <vt:lpstr>Times New Roman</vt:lpstr>
      <vt:lpstr>黑体</vt:lpstr>
      <vt:lpstr>仿宋</vt:lpstr>
      <vt:lpstr>Arial</vt:lpstr>
      <vt:lpstr>MS PGothic</vt:lpstr>
      <vt:lpstr>Calibri</vt:lpstr>
      <vt:lpstr>Symbol</vt:lpstr>
      <vt:lpstr>华文仿宋</vt:lpstr>
      <vt:lpstr>微软雅黑</vt:lpstr>
      <vt:lpstr>Arial Unicode MS</vt:lpstr>
      <vt:lpstr>Wingdings</vt:lpstr>
      <vt:lpstr>CS152-SP98</vt:lpstr>
      <vt:lpstr> Software Engineering</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lpstr>Chap. 2  Software Processes</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2073</cp:revision>
  <cp:lastPrinted>1999-08-22T22:40:00Z</cp:lastPrinted>
  <dcterms:created xsi:type="dcterms:W3CDTF">1997-08-19T16:58:00Z</dcterms:created>
  <dcterms:modified xsi:type="dcterms:W3CDTF">2025-09-21T15:27:31Z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3E2B1C6E25C54BFF8474069605F54195_13</vt:lpwstr>
  </property>
</Properties>
</file>