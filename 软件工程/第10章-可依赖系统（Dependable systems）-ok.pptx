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4" Type="http://schemas.openxmlformats.org/package/2006/relationships/metadata/thumbnail" Target="docProps/thumbnail.jpeg"/><Relationship Id="rId3" Type="http://schemas.openxmlformats.org/package/2006/relationships/metadata/core-properties" Target="docProps/core.xml"/><Relationship Id="rId2"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4"/>
  </p:notesMasterIdLst>
  <p:handoutMasterIdLst>
    <p:handoutMasterId r:id="rId27"/>
  </p:handoutMasterIdLst>
  <p:sldIdLst>
    <p:sldId id="256" r:id="rId3"/>
    <p:sldId id="1597" r:id="rId5"/>
    <p:sldId id="1890" r:id="rId6"/>
    <p:sldId id="1891" r:id="rId7"/>
    <p:sldId id="1892" r:id="rId8"/>
    <p:sldId id="1893" r:id="rId9"/>
    <p:sldId id="1894" r:id="rId10"/>
    <p:sldId id="1896" r:id="rId11"/>
    <p:sldId id="1897" r:id="rId12"/>
    <p:sldId id="1930" r:id="rId13"/>
    <p:sldId id="1899" r:id="rId14"/>
    <p:sldId id="1900" r:id="rId15"/>
    <p:sldId id="1901" r:id="rId16"/>
    <p:sldId id="1903" r:id="rId17"/>
    <p:sldId id="1955" r:id="rId18"/>
    <p:sldId id="1956" r:id="rId19"/>
    <p:sldId id="1911" r:id="rId20"/>
    <p:sldId id="1957" r:id="rId21"/>
    <p:sldId id="1912" r:id="rId22"/>
    <p:sldId id="1915" r:id="rId23"/>
    <p:sldId id="1959" r:id="rId24"/>
    <p:sldId id="1916" r:id="rId25"/>
    <p:sldId id="1922" r:id="rId26"/>
  </p:sldIdLst>
  <p:sldSz cx="9144000" cy="6858000" type="letter"/>
  <p:notesSz cx="9163050" cy="6877050"/>
  <p:custDataLst>
    <p:tags r:id="rId31"/>
  </p:custDataLst>
  <p:kinsoku lang="zh-CN" invalStChars="、。，．・：；？！゛゜ヽヾゝゞ々ー’”）〕］｝〉》」』】°‰′″℃￠％ぁぃぅぇぉっゃゅょゎァィゥェォッャュョヮヵヶ!%),.:;?]}｡｣､･ｧｨｩｪｫｬｭｮｯｰﾞﾟ" invalEndChars="‘“（〔［｛〈《「『【￥＄$([\{｢￡"/>
  <p:defaultTextStyle>
    <a:defPPr>
      <a:defRPr lang="en-US"/>
    </a:defPPr>
    <a:lvl1pPr marL="0" lvl="0"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1pPr>
    <a:lvl2pPr marL="457200" lvl="1"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2pPr>
    <a:lvl3pPr marL="914400" lvl="2"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3pPr>
    <a:lvl4pPr marL="1371600" lvl="3"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4pPr>
    <a:lvl5pPr marL="1828800" lvl="4"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5pPr>
    <a:lvl6pPr marL="2286000" lvl="5"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6pPr>
    <a:lvl7pPr marL="2743200" lvl="6"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7pPr>
    <a:lvl8pPr marL="3200400" lvl="7"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8pPr>
    <a:lvl9pPr marL="3657600" lvl="8" indent="0" algn="l" defTabSz="914400" rtl="0" eaLnBrk="1" fontAlgn="base" latinLnBrk="0" hangingPunct="1">
      <a:lnSpc>
        <a:spcPct val="100000"/>
      </a:lnSpc>
      <a:spcBef>
        <a:spcPct val="0"/>
      </a:spcBef>
      <a:spcAft>
        <a:spcPct val="0"/>
      </a:spcAft>
      <a:buFont typeface="Arial" panose="020B0604020202020204" pitchFamily="34" charset="0"/>
      <a:buNone/>
      <a:defRPr sz="2400" b="1" i="0" u="none" kern="1200" baseline="0">
        <a:solidFill>
          <a:schemeClr val="accent1"/>
        </a:solidFill>
        <a:latin typeface="Arial" panose="020B0604020202020204" pitchFamily="34" charset="0"/>
        <a:ea typeface="+mn-ea"/>
        <a:cs typeface="+mn-cs"/>
      </a:defRPr>
    </a:lvl9pPr>
  </p:defaultTextStyle>
  <p:extLst>
    <p:ext uri="{EFAFB233-063F-42B5-8137-9DF3F51BA10A}">
      <p15:sldGuideLst xmlns:p15="http://schemas.microsoft.com/office/powerpoint/2012/main">
        <p15:guide id="1" orient="horz" pos="2158" userDrawn="1">
          <p15:clr>
            <a:srgbClr val="A4A3A4"/>
          </p15:clr>
        </p15:guide>
        <p15:guide id="2" pos="287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2FDB2607-1784-4EEB-B798-7EB5836EED8A}">
        <p14:showMediaCtrls xmlns:p14="http://schemas.microsoft.com/office/powerpoint/2010/main" val="1"/>
      </p:ext>
    </p:extLst>
  </p:showPr>
  <p:clrMru>
    <a:srgbClr val="CC0000"/>
    <a:srgbClr val="134AD5"/>
    <a:srgbClr val="B3380D"/>
    <a:srgbClr val="E6E6E6"/>
    <a:srgbClr val="660066"/>
    <a:srgbClr val="FF0000"/>
    <a:srgbClr val="800000"/>
    <a:srgbClr val="000066"/>
    <a:srgbClr val="003300"/>
    <a:srgbClr val="0054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5940675A-B579-460E-94D1-54222C63F5DA}" styleName="无样式，网格型">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3646"/>
    <p:restoredTop sz="73912"/>
  </p:normalViewPr>
  <p:slideViewPr>
    <p:cSldViewPr showGuides="1">
      <p:cViewPr varScale="1">
        <p:scale>
          <a:sx n="75" d="100"/>
          <a:sy n="75" d="100"/>
        </p:scale>
        <p:origin x="-1092" y="-102"/>
      </p:cViewPr>
      <p:guideLst>
        <p:guide orient="horz" pos="2158"/>
        <p:guide pos="2878"/>
      </p:guideLst>
    </p:cSldViewPr>
  </p:slideViewPr>
  <p:outlineViewPr>
    <p:cViewPr>
      <p:scale>
        <a:sx n="33" d="100"/>
        <a:sy n="33" d="100"/>
      </p:scale>
      <p:origin x="0" y="0"/>
    </p:cViewPr>
  </p:outlineViewPr>
  <p:notesTextViewPr>
    <p:cViewPr>
      <p:scale>
        <a:sx n="100" d="100"/>
        <a:sy n="100" d="100"/>
      </p:scale>
      <p:origin x="0" y="0"/>
    </p:cViewPr>
  </p:notesTextViewPr>
  <p:sorterViewPr showFormatting="0">
    <p:cViewPr>
      <p:scale>
        <a:sx n="100" d="100"/>
        <a:sy n="100" d="100"/>
      </p:scale>
      <p:origin x="0" y="1812"/>
    </p:cViewPr>
  </p:sorter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1" Type="http://schemas.openxmlformats.org/officeDocument/2006/relationships/tags" Target="tags/tag46.xml"/><Relationship Id="rId30" Type="http://schemas.openxmlformats.org/officeDocument/2006/relationships/tableStyles" Target="tableStyles.xml"/><Relationship Id="rId3" Type="http://schemas.openxmlformats.org/officeDocument/2006/relationships/slide" Target="slides/slide1.xml"/><Relationship Id="rId29" Type="http://schemas.openxmlformats.org/officeDocument/2006/relationships/viewProps" Target="viewProps.xml"/><Relationship Id="rId28" Type="http://schemas.openxmlformats.org/officeDocument/2006/relationships/presProps" Target="presProps.xml"/><Relationship Id="rId27" Type="http://schemas.openxmlformats.org/officeDocument/2006/relationships/handoutMaster" Target="handoutMasters/handoutMaster1.xml"/><Relationship Id="rId26" Type="http://schemas.openxmlformats.org/officeDocument/2006/relationships/slide" Target="slides/slide23.xml"/><Relationship Id="rId25" Type="http://schemas.openxmlformats.org/officeDocument/2006/relationships/slide" Target="slides/slide22.xml"/><Relationship Id="rId24" Type="http://schemas.openxmlformats.org/officeDocument/2006/relationships/slide" Target="slides/slide21.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8194" name="Rectangle 2"/>
          <p:cNvSpPr>
            <a:spLocks noTextEdit="1"/>
          </p:cNvSpPr>
          <p:nvPr>
            <p:ph type="sldImg"/>
          </p:nvPr>
        </p:nvSpPr>
        <p:spPr>
          <a:xfrm>
            <a:off x="2878138" y="441325"/>
            <a:ext cx="3424237" cy="2568575"/>
          </a:xfrm>
          <a:prstGeom prst="rect">
            <a:avLst/>
          </a:prstGeom>
          <a:noFill/>
          <a:ln w="12700">
            <a:noFill/>
          </a:ln>
        </p:spPr>
      </p:sp>
      <p:sp>
        <p:nvSpPr>
          <p:cNvPr id="2051" name="Rectangle 3"/>
          <p:cNvSpPr>
            <a:spLocks noGrp="1" noChangeArrowheads="1"/>
          </p:cNvSpPr>
          <p:nvPr>
            <p:ph type="body" sz="quarter" idx="3"/>
          </p:nvPr>
        </p:nvSpPr>
        <p:spPr bwMode="auto">
          <a:xfrm>
            <a:off x="687388" y="3267075"/>
            <a:ext cx="7899400" cy="30924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12700">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0692" tIns="44550" rIns="90692" bIns="44550" numCol="1" anchor="t" anchorCtr="0" compatLnSpc="1"/>
          <a:lstStyle/>
          <a:p>
            <a:pPr marL="0" marR="0" lvl="0" indent="0" algn="just" defTabSz="914400" rtl="0" eaLnBrk="0" fontAlgn="base" latinLnBrk="0" hangingPunct="0">
              <a:lnSpc>
                <a:spcPct val="90000"/>
              </a:lnSpc>
              <a:spcBef>
                <a:spcPct val="40000"/>
              </a:spcBef>
              <a:spcAft>
                <a:spcPct val="0"/>
              </a:spcAft>
              <a:buClrTx/>
              <a:buSzTx/>
              <a:buFontTx/>
              <a:buNone/>
              <a:defRPr/>
            </a:pPr>
            <a:r>
              <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rPr>
              <a:t>We want this to be in font 11 and justify.</a:t>
            </a:r>
            <a:endParaRPr kumimoji="0" lang="en-US" altLang="zh-CN" sz="1100" b="0" i="0" u="none" strike="noStrike" kern="1200" cap="none" spc="0" normalizeH="0" baseline="0" noProof="0" smtClean="0">
              <a:ln>
                <a:noFill/>
              </a:ln>
              <a:solidFill>
                <a:schemeClr val="tx1"/>
              </a:solidFill>
              <a:effectLst/>
              <a:uLnTx/>
              <a:uFillTx/>
              <a:latin typeface="Arial" panose="020B0604020202020204" pitchFamily="34" charset="0"/>
              <a:ea typeface="+mn-ea"/>
              <a:cs typeface="+mn-cs"/>
            </a:endParaRPr>
          </a:p>
        </p:txBody>
      </p:sp>
    </p:spTree>
  </p:cSld>
  <p:clrMap bg1="lt1" tx1="dk1" bg2="lt2" tx2="dk2" accent1="accent1" accent2="accent2" accent3="accent3" accent4="accent4" accent5="accent5" accent6="accent6" hlink="hlink" folHlink="folHlink"/>
  <p:hf sldNum="0" hdr="0" ftr="0" dt="0"/>
  <p:notesStyle>
    <a:lvl1pPr algn="just" rtl="0" eaLnBrk="0" fontAlgn="base" hangingPunct="0">
      <a:lnSpc>
        <a:spcPct val="90000"/>
      </a:lnSpc>
      <a:spcBef>
        <a:spcPct val="40000"/>
      </a:spcBef>
      <a:spcAft>
        <a:spcPct val="0"/>
      </a:spcAft>
      <a:defRPr sz="1100" kern="1200">
        <a:solidFill>
          <a:schemeClr val="tx1"/>
        </a:solidFill>
        <a:latin typeface="Arial" panose="020B0604020202020204" pitchFamily="34" charset="0"/>
        <a:ea typeface="+mn-ea"/>
        <a:cs typeface="+mn-cs"/>
      </a:defRPr>
    </a:lvl1pPr>
    <a:lvl2pPr marL="742950" indent="-28575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2pPr>
    <a:lvl3pPr marL="11430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3pPr>
    <a:lvl4pPr marL="16002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4pPr>
    <a:lvl5pPr marL="2057400" indent="-228600" algn="l" rtl="0" eaLnBrk="0" fontAlgn="base" hangingPunct="0">
      <a:lnSpc>
        <a:spcPct val="90000"/>
      </a:lnSpc>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10241" name="Rectangle 2"/>
          <p:cNvSpPr>
            <a:spLocks noGrp="1"/>
          </p:cNvSpPr>
          <p:nvPr>
            <p:ph type="body"/>
          </p:nvPr>
        </p:nvSpPr>
        <p:spPr>
          <a:ln w="12700"/>
        </p:spPr>
        <p:txBody>
          <a:bodyPr wrap="square" lIns="90692" tIns="44550" rIns="90692" bIns="44550" anchor="t" anchorCtr="0"/>
          <a:p>
            <a:pPr lvl="0"/>
            <a:endParaRPr lang="en-US" altLang="zh-CN" dirty="0">
              <a:ea typeface="宋体" panose="02010600030101010101" pitchFamily="2" charset="-122"/>
            </a:endParaRPr>
          </a:p>
        </p:txBody>
      </p:sp>
      <p:sp>
        <p:nvSpPr>
          <p:cNvPr id="10242" name="Rectangle 3"/>
          <p:cNvSpPr>
            <a:spLocks noTextEdit="1"/>
          </p:cNvSpPr>
          <p:nvPr>
            <p:ph type="sldImg"/>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showMasterSp="0">
  <p:cSld name="标题幻灯片">
    <p:bg>
      <p:bgPr>
        <a:solidFill>
          <a:schemeClr val="bg1"/>
        </a:solidFill>
        <a:effectLst/>
      </p:bgPr>
    </p:bg>
    <p:spTree>
      <p:nvGrpSpPr>
        <p:cNvPr id="1" name=""/>
        <p:cNvGrpSpPr/>
        <p:nvPr/>
      </p:nvGrpSpPr>
      <p:grpSpPr>
        <a:xfrm>
          <a:off x="0" y="0"/>
          <a:ext cx="0" cy="0"/>
          <a:chOff x="0" y="0"/>
          <a:chExt cx="0" cy="0"/>
        </a:xfrm>
      </p:grpSpPr>
      <p:sp>
        <p:nvSpPr>
          <p:cNvPr id="87042" name="Rectangle 1026"/>
          <p:cNvSpPr>
            <a:spLocks noGrp="1" noChangeArrowheads="1"/>
          </p:cNvSpPr>
          <p:nvPr>
            <p:ph type="ctrTitle"/>
          </p:nvPr>
        </p:nvSpPr>
        <p:spPr>
          <a:xfrm>
            <a:off x="2378075" y="2020888"/>
            <a:ext cx="4325938" cy="368300"/>
          </a:xfrm>
        </p:spPr>
        <p:txBody>
          <a:bodyPr/>
          <a:lstStyle>
            <a:lvl1pPr>
              <a:defRPr>
                <a:solidFill>
                  <a:schemeClr val="accent2"/>
                </a:solidFill>
              </a:defRPr>
            </a:lvl1pPr>
          </a:lstStyle>
          <a:p>
            <a:pPr lvl="0" fontAlgn="base"/>
            <a:r>
              <a:rPr lang="en-US" altLang="zh-CN" strike="noStrike" noProof="0" smtClean="0"/>
              <a:t>Click to edit Master title style</a:t>
            </a:r>
            <a:endParaRPr lang="en-US" altLang="zh-CN" strike="noStrike" noProof="0" smtClean="0"/>
          </a:p>
        </p:txBody>
      </p:sp>
      <p:sp>
        <p:nvSpPr>
          <p:cNvPr id="87043" name="Rectangle 1027"/>
          <p:cNvSpPr>
            <a:spLocks noGrp="1" noChangeArrowheads="1"/>
          </p:cNvSpPr>
          <p:nvPr>
            <p:ph type="subTitle" idx="1"/>
          </p:nvPr>
        </p:nvSpPr>
        <p:spPr>
          <a:xfrm>
            <a:off x="1371600" y="3886200"/>
            <a:ext cx="6400800" cy="325438"/>
          </a:xfrm>
        </p:spPr>
        <p:txBody>
          <a:bodyPr/>
          <a:lstStyle>
            <a:lvl1pPr marL="0" indent="0" algn="ctr">
              <a:buFontTx/>
              <a:buNone/>
              <a:defRPr/>
            </a:lvl1pPr>
          </a:lstStyle>
          <a:p>
            <a:pPr lvl="0" fontAlgn="base"/>
            <a:r>
              <a:rPr lang="en-US" altLang="zh-CN" strike="noStrike" noProof="0" smtClean="0"/>
              <a:t>Click to edit Master subtitle style</a:t>
            </a:r>
            <a:endParaRPr lang="en-US" altLang="zh-CN" strike="noStrike" noProof="0" smtClean="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p:txBody>
          <a:body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lstStyle>
            <a:lvl1pPr algn="l">
              <a:defRPr sz="4000" b="1" cap="all"/>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sz="half" idx="1"/>
          </p:nvPr>
        </p:nvSpPr>
        <p:spPr>
          <a:xfrm>
            <a:off x="6858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内容占位符 3"/>
          <p:cNvSpPr>
            <a:spLocks noGrp="1"/>
          </p:cNvSpPr>
          <p:nvPr>
            <p:ph sz="half" idx="2"/>
          </p:nvPr>
        </p:nvSpPr>
        <p:spPr>
          <a:xfrm>
            <a:off x="4686300" y="1143000"/>
            <a:ext cx="3848100" cy="2209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pPr fontAlgn="base"/>
            <a:r>
              <a:rPr lang="zh-CN" altLang="en-US" strike="noStrike" noProof="1" smtClean="0"/>
              <a:t>单击此处编辑母版标题样式</a:t>
            </a:r>
            <a:endParaRPr lang="zh-CN" altLang="en-US" strike="noStrike" noProof="1"/>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fontAlgn="base"/>
            <a:r>
              <a:rPr lang="zh-CN" altLang="en-US" strike="noStrike" noProof="1" smtClean="0"/>
              <a:t>单击此处编辑母版文本样式</a:t>
            </a:r>
            <a:endParaRPr lang="zh-CN" altLang="en-US" strike="noStrike" noProof="1" smtClean="0"/>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pPr fontAlgn="base"/>
            <a:r>
              <a:rPr lang="zh-CN" altLang="en-US" strike="noStrike" noProof="1" smtClean="0"/>
              <a:t>单击此处编辑母版标题样式</a:t>
            </a:r>
            <a:endParaRPr lang="zh-CN" altLang="en-US" strike="noStrike" noProof="1"/>
          </a:p>
        </p:txBody>
      </p:sp>
      <p:sp>
        <p:nvSpPr>
          <p:cNvPr id="3" name="图片占位符 2"/>
          <p:cNvSpPr>
            <a:spLocks noGrp="1"/>
          </p:cNvSpPr>
          <p:nvPr>
            <p:ph type="pic" idx="1"/>
          </p:nvPr>
        </p:nvSpPr>
        <p:spPr>
          <a:xfrm>
            <a:off x="1792288" y="612775"/>
            <a:ext cx="5486400" cy="4114800"/>
          </a:xfrm>
        </p:spPr>
        <p:txBody>
          <a:bodyPr vert="horz" wrap="square" lIns="63500" tIns="25400" rIns="63500" bIns="25400" numCol="1" anchor="t" anchorCtr="0" compatLnSpc="1">
            <a:sp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marL="0" marR="0" lvl="0" indent="0" algn="l" defTabSz="914400" rtl="0" eaLnBrk="0" fontAlgn="base" latinLnBrk="0" hangingPunct="0">
              <a:lnSpc>
                <a:spcPct val="75000"/>
              </a:lnSpc>
              <a:spcBef>
                <a:spcPct val="65000"/>
              </a:spcBef>
              <a:spcAft>
                <a:spcPct val="0"/>
              </a:spcAft>
              <a:buClrTx/>
              <a:buSzPct val="100000"/>
              <a:buFontTx/>
              <a:buNone/>
              <a:defRPr/>
            </a:pPr>
            <a:endParaRPr kumimoji="0" lang="zh-CN" altLang="en-US" sz="3200" b="1" i="0" u="none" strike="noStrike" kern="0" cap="none" spc="0" normalizeH="0" baseline="0" noProof="0" smtClean="0">
              <a:ln>
                <a:noFill/>
              </a:ln>
              <a:solidFill>
                <a:schemeClr val="tx1"/>
              </a:solidFill>
              <a:effectLst/>
              <a:uLnTx/>
              <a:uFillTx/>
              <a:latin typeface="+mn-lt"/>
              <a:ea typeface="+mn-ea"/>
              <a:cs typeface="+mn-cs"/>
            </a:endParaRPr>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fontAlgn="base"/>
            <a:r>
              <a:rPr lang="zh-CN" altLang="en-US" strike="noStrike" noProof="1" smtClean="0"/>
              <a:t>单击此处编辑母版文本样式</a:t>
            </a:r>
            <a:endParaRPr lang="zh-CN" altLang="en-US" strike="noStrike" noProof="1" smtClean="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72250" y="304800"/>
            <a:ext cx="1962150" cy="3048000"/>
          </a:xfrm>
        </p:spPr>
        <p:txBody>
          <a:bodyPr vert="eaVert"/>
          <a:lstStyle/>
          <a:p>
            <a:pPr fontAlgn="base"/>
            <a:r>
              <a:rPr lang="zh-CN" altLang="en-US" strike="noStrike" noProof="1" smtClean="0"/>
              <a:t>单击此处编辑母版标题样式</a:t>
            </a:r>
            <a:endParaRPr lang="zh-CN" altLang="en-US" strike="noStrike" noProof="1"/>
          </a:p>
        </p:txBody>
      </p:sp>
      <p:sp>
        <p:nvSpPr>
          <p:cNvPr id="3" name="竖排文字占位符 2"/>
          <p:cNvSpPr>
            <a:spLocks noGrp="1"/>
          </p:cNvSpPr>
          <p:nvPr>
            <p:ph type="body" orient="vert" idx="1"/>
          </p:nvPr>
        </p:nvSpPr>
        <p:spPr>
          <a:xfrm>
            <a:off x="685800" y="304800"/>
            <a:ext cx="5734050" cy="3048000"/>
          </a:xfrm>
        </p:spPr>
        <p:txBody>
          <a:bodyPr vert="eaVert"/>
          <a:lstStyle/>
          <a:p>
            <a:pPr lvl="0" fontAlgn="base"/>
            <a:r>
              <a:rPr lang="zh-CN" altLang="en-US" strike="noStrike" noProof="1" smtClean="0"/>
              <a:t>单击此处编辑母版文本样式</a:t>
            </a:r>
            <a:endParaRPr lang="zh-CN" altLang="en-US" strike="noStrike" noProof="1" smtClean="0"/>
          </a:p>
          <a:p>
            <a:pPr lvl="1" fontAlgn="base"/>
            <a:r>
              <a:rPr lang="zh-CN" altLang="en-US" strike="noStrike" noProof="1" smtClean="0"/>
              <a:t>第二级</a:t>
            </a:r>
            <a:endParaRPr lang="zh-CN" altLang="en-US" strike="noStrike" noProof="1" smtClean="0"/>
          </a:p>
          <a:p>
            <a:pPr lvl="2" fontAlgn="base"/>
            <a:r>
              <a:rPr lang="zh-CN" altLang="en-US" strike="noStrike" noProof="1" smtClean="0"/>
              <a:t>第三级</a:t>
            </a:r>
            <a:endParaRPr lang="zh-CN" altLang="en-US" strike="noStrike" noProof="1" smtClean="0"/>
          </a:p>
          <a:p>
            <a:pPr lvl="3" fontAlgn="base"/>
            <a:r>
              <a:rPr lang="zh-CN" altLang="en-US" strike="noStrike" noProof="1" smtClean="0"/>
              <a:t>第四级</a:t>
            </a:r>
            <a:endParaRPr lang="zh-CN" altLang="en-US" strike="noStrike" noProof="1" smtClean="0"/>
          </a:p>
          <a:p>
            <a:pPr lvl="4" fontAlgn="base"/>
            <a:r>
              <a:rPr lang="zh-CN" altLang="en-US" strike="noStrike" noProof="1" smtClean="0"/>
              <a:t>第五级</a:t>
            </a:r>
            <a:endParaRPr lang="zh-CN" altLang="en-US" strike="noStrike" noProof="1"/>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2" Type="http://schemas.openxmlformats.org/officeDocument/2006/relationships/theme" Target="../theme/theme1.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p:sp>
        <p:nvSpPr>
          <p:cNvPr id="1026" name="Rectangle 2"/>
          <p:cNvSpPr>
            <a:spLocks noGrp="1"/>
          </p:cNvSpPr>
          <p:nvPr>
            <p:ph type="title"/>
          </p:nvPr>
        </p:nvSpPr>
        <p:spPr>
          <a:xfrm>
            <a:off x="762000" y="304800"/>
            <a:ext cx="752475" cy="368300"/>
          </a:xfrm>
          <a:prstGeom prst="rect">
            <a:avLst/>
          </a:prstGeom>
          <a:noFill/>
          <a:ln w="12700">
            <a:noFill/>
          </a:ln>
        </p:spPr>
        <p:txBody>
          <a:bodyPr wrap="none" lIns="63500" tIns="25400" rIns="63500" bIns="25400" anchor="t" anchorCtr="0">
            <a:spAutoFit/>
          </a:bodyPr>
          <a:p>
            <a:pPr lvl="0"/>
            <a:r>
              <a:rPr lang="en-US" altLang="zh-CN" dirty="0"/>
              <a:t>Title</a:t>
            </a:r>
            <a:endParaRPr lang="en-US" altLang="zh-CN" dirty="0"/>
          </a:p>
        </p:txBody>
      </p:sp>
      <p:sp>
        <p:nvSpPr>
          <p:cNvPr id="1027" name="Rectangle 5"/>
          <p:cNvSpPr>
            <a:spLocks noGrp="1"/>
          </p:cNvSpPr>
          <p:nvPr>
            <p:ph type="body"/>
          </p:nvPr>
        </p:nvSpPr>
        <p:spPr>
          <a:xfrm>
            <a:off x="685800" y="1143000"/>
            <a:ext cx="7848600" cy="2209800"/>
          </a:xfrm>
          <a:prstGeom prst="rect">
            <a:avLst/>
          </a:prstGeom>
          <a:noFill/>
          <a:ln w="12700">
            <a:noFill/>
          </a:ln>
        </p:spPr>
        <p:txBody>
          <a:bodyPr lIns="63500" tIns="25400" rIns="63500" bIns="25400" anchor="t" anchorCtr="0">
            <a:spAutoFit/>
          </a:bodyPr>
          <a:p>
            <a:pPr lvl="0"/>
            <a:r>
              <a:rPr lang="en-US" altLang="zh-CN" dirty="0"/>
              <a:t>This is our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a:p>
            <a:pPr lvl="0"/>
            <a:r>
              <a:rPr lang="en-US" altLang="zh-CN" dirty="0"/>
              <a:t>This is our next 1st Level Bullet</a:t>
            </a:r>
            <a:endParaRPr lang="en-US" altLang="zh-CN" dirty="0"/>
          </a:p>
          <a:p>
            <a:pPr lvl="1" indent="-190500"/>
            <a:r>
              <a:rPr lang="en-US" altLang="zh-CN" dirty="0"/>
              <a:t>This is our 2nd level bullet</a:t>
            </a:r>
            <a:endParaRPr lang="en-US" altLang="zh-CN" dirty="0"/>
          </a:p>
          <a:p>
            <a:pPr lvl="2" indent="-342900"/>
            <a:r>
              <a:rPr lang="en-US" altLang="zh-CN" dirty="0"/>
              <a:t>This is our 3rd level bullet</a:t>
            </a:r>
            <a:endParaRPr lang="en-US" altLang="zh-CN" dirty="0"/>
          </a:p>
        </p:txBody>
      </p:sp>
      <p:sp>
        <p:nvSpPr>
          <p:cNvPr id="1028" name="Line 7"/>
          <p:cNvSpPr/>
          <p:nvPr/>
        </p:nvSpPr>
        <p:spPr>
          <a:xfrm>
            <a:off x="609600" y="635000"/>
            <a:ext cx="8059738" cy="0"/>
          </a:xfrm>
          <a:prstGeom prst="line">
            <a:avLst/>
          </a:prstGeom>
          <a:ln w="47625" cap="flat" cmpd="thickThin">
            <a:solidFill>
              <a:schemeClr val="accent2"/>
            </a:solidFill>
            <a:prstDash val="solid"/>
            <a:round/>
            <a:headEnd type="none" w="sm" len="sm"/>
            <a:tailEnd type="none" w="sm" len="sm"/>
          </a:ln>
        </p:spPr>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l" rtl="0" eaLnBrk="0" fontAlgn="base" hangingPunct="0">
        <a:lnSpc>
          <a:spcPct val="87000"/>
        </a:lnSpc>
        <a:spcBef>
          <a:spcPct val="0"/>
        </a:spcBef>
        <a:spcAft>
          <a:spcPct val="0"/>
        </a:spcAft>
        <a:defRPr sz="2400" b="1">
          <a:solidFill>
            <a:schemeClr val="tx2"/>
          </a:solidFill>
          <a:latin typeface="+mj-lt"/>
          <a:ea typeface="+mj-ea"/>
          <a:cs typeface="+mj-cs"/>
        </a:defRPr>
      </a:lvl1pPr>
      <a:lvl2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2pPr>
      <a:lvl3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3pPr>
      <a:lvl4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4pPr>
      <a:lvl5pPr algn="l" rtl="0" eaLnBrk="0" fontAlgn="base" hangingPunct="0">
        <a:lnSpc>
          <a:spcPct val="87000"/>
        </a:lnSpc>
        <a:spcBef>
          <a:spcPct val="0"/>
        </a:spcBef>
        <a:spcAft>
          <a:spcPct val="0"/>
        </a:spcAft>
        <a:defRPr sz="2400" b="1">
          <a:solidFill>
            <a:schemeClr val="tx2"/>
          </a:solidFill>
          <a:latin typeface="Arial" panose="020B0604020202020204" pitchFamily="34" charset="0"/>
        </a:defRPr>
      </a:lvl5pPr>
      <a:lvl6pPr marL="4572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6pPr>
      <a:lvl7pPr marL="9144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7pPr>
      <a:lvl8pPr marL="13716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8pPr>
      <a:lvl9pPr marL="1828800" algn="l" rtl="0" eaLnBrk="0" fontAlgn="base" hangingPunct="0">
        <a:lnSpc>
          <a:spcPct val="87000"/>
        </a:lnSpc>
        <a:spcBef>
          <a:spcPct val="0"/>
        </a:spcBef>
        <a:spcAft>
          <a:spcPct val="0"/>
        </a:spcAft>
        <a:defRPr sz="2400" b="1">
          <a:solidFill>
            <a:schemeClr val="tx2"/>
          </a:solidFill>
          <a:latin typeface="Arial" panose="020B0604020202020204" pitchFamily="34" charset="0"/>
        </a:defRPr>
      </a:lvl9pPr>
    </p:titleStyle>
    <p:bodyStyle>
      <a:lvl1pPr marL="203200" indent="-203200" algn="l" rtl="0" eaLnBrk="0" fontAlgn="base" hangingPunct="0">
        <a:lnSpc>
          <a:spcPct val="75000"/>
        </a:lnSpc>
        <a:spcBef>
          <a:spcPct val="65000"/>
        </a:spcBef>
        <a:spcAft>
          <a:spcPct val="0"/>
        </a:spcAft>
        <a:buSzPct val="100000"/>
        <a:buChar char="°"/>
        <a:defRPr sz="2400" b="1">
          <a:solidFill>
            <a:schemeClr val="tx1"/>
          </a:solidFill>
          <a:latin typeface="+mn-lt"/>
          <a:ea typeface="+mn-ea"/>
          <a:cs typeface="+mn-cs"/>
        </a:defRPr>
      </a:lvl1pPr>
      <a:lvl2pPr marL="685800" indent="-190500" algn="l" rtl="0" eaLnBrk="0" fontAlgn="base" hangingPunct="0">
        <a:lnSpc>
          <a:spcPct val="85000"/>
        </a:lnSpc>
        <a:spcBef>
          <a:spcPct val="40000"/>
        </a:spcBef>
        <a:spcAft>
          <a:spcPct val="0"/>
        </a:spcAft>
        <a:buSzPct val="100000"/>
        <a:buChar char="•"/>
        <a:defRPr sz="2400" b="1">
          <a:solidFill>
            <a:schemeClr val="tx1"/>
          </a:solidFill>
          <a:latin typeface="+mn-lt"/>
        </a:defRPr>
      </a:lvl2pPr>
      <a:lvl3pPr marL="1257300" indent="-342900" algn="l" rtl="0" eaLnBrk="0" fontAlgn="base" hangingPunct="0">
        <a:lnSpc>
          <a:spcPct val="85000"/>
        </a:lnSpc>
        <a:spcBef>
          <a:spcPct val="40000"/>
        </a:spcBef>
        <a:spcAft>
          <a:spcPct val="0"/>
        </a:spcAft>
        <a:buSzPct val="100000"/>
        <a:buChar char="-"/>
        <a:defRPr sz="2400" b="1">
          <a:solidFill>
            <a:schemeClr val="tx1"/>
          </a:solidFill>
          <a:latin typeface="+mn-lt"/>
        </a:defRPr>
      </a:lvl3pPr>
      <a:lvl4pPr marL="17145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4pPr>
      <a:lvl5pPr marL="2171700" indent="-342900" algn="l" rtl="0" eaLnBrk="0" fontAlgn="base" hangingPunct="0">
        <a:lnSpc>
          <a:spcPct val="85000"/>
        </a:lnSpc>
        <a:spcBef>
          <a:spcPct val="20000"/>
        </a:spcBef>
        <a:spcAft>
          <a:spcPct val="0"/>
        </a:spcAft>
        <a:buChar char="»"/>
        <a:defRPr sz="2000">
          <a:solidFill>
            <a:schemeClr val="tx1"/>
          </a:solidFill>
          <a:latin typeface="Times New Roman" panose="02020603050405020304" pitchFamily="18" charset="0"/>
        </a:defRPr>
      </a:lvl5pPr>
      <a:lvl6pPr marL="26289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6pPr>
      <a:lvl7pPr marL="30861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7pPr>
      <a:lvl8pPr marL="35433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8pPr>
      <a:lvl9pPr marL="4000500" indent="-342900" algn="l" rtl="0" eaLnBrk="0" fontAlgn="base" hangingPunct="0">
        <a:spcBef>
          <a:spcPct val="20000"/>
        </a:spcBef>
        <a:spcAft>
          <a:spcPct val="0"/>
        </a:spcAft>
        <a:buChar char="»"/>
        <a:defRPr sz="2000">
          <a:solidFill>
            <a:schemeClr val="tx1"/>
          </a:solidFill>
          <a:latin typeface="Times New Roman" panose="02020603050405020304" pitchFamily="18" charset="0"/>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xml"/><Relationship Id="rId1" Type="http://schemas.openxmlformats.org/officeDocument/2006/relationships/tags" Target="../tags/tag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xml"/><Relationship Id="rId1" Type="http://schemas.openxmlformats.org/officeDocument/2006/relationships/tags" Target="../tags/tag3.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6.xml"/><Relationship Id="rId1" Type="http://schemas.openxmlformats.org/officeDocument/2006/relationships/tags" Target="../tags/tag5.xml"/></Relationships>
</file>

<file path=ppt/slides/_rels/slide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8.xml"/><Relationship Id="rId1" Type="http://schemas.openxmlformats.org/officeDocument/2006/relationships/tags" Target="../tags/tag7.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2.png"/><Relationship Id="rId3" Type="http://schemas.openxmlformats.org/officeDocument/2006/relationships/image" Target="../media/image1.png"/><Relationship Id="rId2" Type="http://schemas.openxmlformats.org/officeDocument/2006/relationships/tags" Target="../tags/tag10.xml"/><Relationship Id="rId1" Type="http://schemas.openxmlformats.org/officeDocument/2006/relationships/tags" Target="../tags/tag9.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2.xml"/><Relationship Id="rId1" Type="http://schemas.openxmlformats.org/officeDocument/2006/relationships/tags" Target="../tags/tag11.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4.xml"/><Relationship Id="rId1" Type="http://schemas.openxmlformats.org/officeDocument/2006/relationships/tags" Target="../tags/tag13.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6.xml"/><Relationship Id="rId1" Type="http://schemas.openxmlformats.org/officeDocument/2006/relationships/tags" Target="../tags/tag15.xml"/></Relationships>
</file>

<file path=ppt/slides/_rels/slide1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8.xml"/><Relationship Id="rId1" Type="http://schemas.openxmlformats.org/officeDocument/2006/relationships/tags" Target="../tags/tag17.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0.xml"/><Relationship Id="rId1" Type="http://schemas.openxmlformats.org/officeDocument/2006/relationships/tags" Target="../tags/tag19.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2.xml"/><Relationship Id="rId1" Type="http://schemas.openxmlformats.org/officeDocument/2006/relationships/tags" Target="../tags/tag21.xml"/></Relationships>
</file>

<file path=ppt/slides/_rels/slide1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image" Target="../media/image4.png"/><Relationship Id="rId3" Type="http://schemas.openxmlformats.org/officeDocument/2006/relationships/tags" Target="../tags/tag24.xml"/><Relationship Id="rId2" Type="http://schemas.openxmlformats.org/officeDocument/2006/relationships/tags" Target="../tags/tag23.xml"/><Relationship Id="rId1" Type="http://schemas.openxmlformats.org/officeDocument/2006/relationships/image" Target="../media/image3.png"/></Relationships>
</file>

<file path=ppt/slides/_rels/slide14.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6.xml"/><Relationship Id="rId1" Type="http://schemas.openxmlformats.org/officeDocument/2006/relationships/tags" Target="../tags/tag25.xml"/></Relationships>
</file>

<file path=ppt/slides/_rels/slide15.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28.xml"/><Relationship Id="rId1" Type="http://schemas.openxmlformats.org/officeDocument/2006/relationships/tags" Target="../tags/tag27.xml"/></Relationships>
</file>

<file path=ppt/slides/_rels/slide16.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0.xml"/><Relationship Id="rId1" Type="http://schemas.openxmlformats.org/officeDocument/2006/relationships/tags" Target="../tags/tag29.xml"/></Relationships>
</file>

<file path=ppt/slides/_rels/slide17.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2.xml"/><Relationship Id="rId1" Type="http://schemas.openxmlformats.org/officeDocument/2006/relationships/tags" Target="../tags/tag31.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4.xml"/><Relationship Id="rId1" Type="http://schemas.openxmlformats.org/officeDocument/2006/relationships/tags" Target="../tags/tag33.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6.xml"/><Relationship Id="rId1" Type="http://schemas.openxmlformats.org/officeDocument/2006/relationships/tags" Target="../tags/tag35.xml"/></Relationships>
</file>

<file path=ppt/slides/_rels/slide20.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38.xml"/><Relationship Id="rId1" Type="http://schemas.openxmlformats.org/officeDocument/2006/relationships/tags" Target="../tags/tag37.xml"/></Relationships>
</file>

<file path=ppt/slides/_rels/slide2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41.xml"/><Relationship Id="rId2" Type="http://schemas.openxmlformats.org/officeDocument/2006/relationships/tags" Target="../tags/tag40.xml"/><Relationship Id="rId1" Type="http://schemas.openxmlformats.org/officeDocument/2006/relationships/tags" Target="../tags/tag39.xml"/></Relationships>
</file>

<file path=ppt/slides/_rels/slide2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3.xml"/><Relationship Id="rId1" Type="http://schemas.openxmlformats.org/officeDocument/2006/relationships/tags" Target="../tags/tag42.xml"/></Relationships>
</file>

<file path=ppt/slides/_rels/slide23.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45.xml"/><Relationship Id="rId1" Type="http://schemas.openxmlformats.org/officeDocument/2006/relationships/tags" Target="../tags/tag4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9217" name="Rectangle 2"/>
          <p:cNvSpPr>
            <a:spLocks noGrp="1"/>
          </p:cNvSpPr>
          <p:nvPr>
            <p:ph type="ctrTitle"/>
          </p:nvPr>
        </p:nvSpPr>
        <p:spPr>
          <a:xfrm>
            <a:off x="1673543" y="1693228"/>
            <a:ext cx="5869940" cy="1096645"/>
          </a:xfrm>
        </p:spPr>
        <p:txBody>
          <a:bodyPr vert="horz" wrap="none" lIns="63500" tIns="25400" rIns="63500" bIns="25400" anchor="ctr" anchorCtr="0">
            <a:spAutoFit/>
          </a:bodyPr>
          <a:p>
            <a:pPr algn="ctr">
              <a:lnSpc>
                <a:spcPct val="100000"/>
              </a:lnSpc>
              <a:buClrTx/>
              <a:buSzTx/>
              <a:buFontTx/>
            </a:pPr>
            <a:br>
              <a:rPr lang="en-US" altLang="zh-CN" dirty="0">
                <a:latin typeface="+mj-lt"/>
                <a:ea typeface="宋体" panose="02010600030101010101" pitchFamily="2" charset="-122"/>
                <a:cs typeface="+mj-cs"/>
              </a:rPr>
            </a:br>
            <a:r>
              <a:rPr lang="en-US" altLang="zh-CN" sz="4400" dirty="0">
                <a:solidFill>
                  <a:srgbClr val="000066"/>
                </a:solidFill>
                <a:ea typeface="黑体" panose="02010609060101010101" pitchFamily="49" charset="-122"/>
                <a:cs typeface="+mj-lt"/>
              </a:rPr>
              <a:t>Software Engineering</a:t>
            </a:r>
            <a:endParaRPr lang="en-US" altLang="zh-CN" sz="4400" dirty="0">
              <a:solidFill>
                <a:srgbClr val="000066"/>
              </a:solidFill>
              <a:ea typeface="黑体" panose="02010609060101010101" pitchFamily="49" charset="-122"/>
              <a:cs typeface="+mj-lt"/>
            </a:endParaRPr>
          </a:p>
        </p:txBody>
      </p:sp>
      <p:sp>
        <p:nvSpPr>
          <p:cNvPr id="9219" name="Text Box 8"/>
          <p:cNvSpPr txBox="1"/>
          <p:nvPr/>
        </p:nvSpPr>
        <p:spPr>
          <a:xfrm>
            <a:off x="252095" y="3197860"/>
            <a:ext cx="8641080" cy="1579880"/>
          </a:xfrm>
          <a:prstGeom prst="rect">
            <a:avLst/>
          </a:prstGeom>
          <a:noFill/>
          <a:ln w="12700">
            <a:noFill/>
          </a:ln>
        </p:spPr>
        <p:txBody>
          <a:bodyPr anchor="t" anchorCtr="0">
            <a:noAutofit/>
          </a:bodyPr>
          <a:p>
            <a:pPr eaLnBrk="0" hangingPunct="0">
              <a:spcBef>
                <a:spcPct val="50000"/>
              </a:spcBef>
            </a:pPr>
            <a:r>
              <a:rPr lang="en-US" altLang="zh-CN" b="0" dirty="0">
                <a:solidFill>
                  <a:srgbClr val="005400"/>
                </a:solidFill>
                <a:latin typeface="Arial" panose="020B0604020202020204" pitchFamily="34" charset="0"/>
                <a:ea typeface="宋体" panose="02010600030101010101" pitchFamily="2" charset="-122"/>
              </a:rPr>
              <a:t>                                 Wei-Min Wu</a:t>
            </a:r>
            <a:r>
              <a:rPr lang="zh-CN" altLang="en-US" b="0" dirty="0">
                <a:solidFill>
                  <a:srgbClr val="005400"/>
                </a:solidFill>
                <a:latin typeface="Arial" panose="020B0604020202020204" pitchFamily="34" charset="0"/>
                <a:ea typeface="宋体" panose="02010600030101010101" pitchFamily="2" charset="-122"/>
              </a:rPr>
              <a:t>（</a:t>
            </a:r>
            <a:r>
              <a:rPr lang="zh-CN" altLang="en-US" sz="2800" b="0" dirty="0">
                <a:solidFill>
                  <a:srgbClr val="003300"/>
                </a:solidFill>
                <a:latin typeface="仿宋" panose="02010609060101010101" pitchFamily="49" charset="-122"/>
                <a:ea typeface="仿宋" panose="02010609060101010101" pitchFamily="49" charset="-122"/>
              </a:rPr>
              <a:t>吴为民）</a:t>
            </a:r>
            <a:endParaRPr lang="zh-CN" altLang="en-US" sz="2800" b="0" dirty="0">
              <a:solidFill>
                <a:srgbClr val="003300"/>
              </a:solidFill>
              <a:latin typeface="Arial" panose="020B0604020202020204" pitchFamily="34" charset="0"/>
              <a:ea typeface="宋体" panose="02010600030101010101" pitchFamily="2" charset="-122"/>
            </a:endParaRPr>
          </a:p>
          <a:p>
            <a:pPr eaLnBrk="0" hangingPunct="0">
              <a:spcBef>
                <a:spcPct val="50000"/>
              </a:spcBef>
            </a:pPr>
            <a:r>
              <a:rPr lang="en-US" altLang="zh-CN" sz="2800" b="0" dirty="0">
                <a:solidFill>
                  <a:srgbClr val="003300"/>
                </a:solidFill>
                <a:latin typeface="Arial" panose="020B0604020202020204" pitchFamily="34" charset="0"/>
                <a:ea typeface="宋体" panose="02010600030101010101" pitchFamily="2" charset="-122"/>
              </a:rPr>
              <a:t>                            </a:t>
            </a:r>
            <a:r>
              <a:rPr lang="zh-CN" altLang="en-US" sz="2800" b="0" dirty="0">
                <a:solidFill>
                  <a:srgbClr val="003300"/>
                </a:solidFill>
                <a:latin typeface="Arial" panose="020B0604020202020204" pitchFamily="34" charset="0"/>
                <a:ea typeface="宋体" panose="02010600030101010101" pitchFamily="2" charset="-122"/>
              </a:rPr>
              <a:t>School of Petroleum</a:t>
            </a:r>
            <a:endParaRPr lang="en-US" altLang="zh-CN" sz="2800" b="0" dirty="0">
              <a:solidFill>
                <a:srgbClr val="003300"/>
              </a:solidFill>
              <a:latin typeface="Arial" panose="020B0604020202020204" pitchFamily="34" charset="0"/>
              <a:ea typeface="宋体" panose="02010600030101010101" pitchFamily="2" charset="-122"/>
            </a:endParaRPr>
          </a:p>
          <a:p>
            <a:pPr eaLnBrk="0" hangingPunct="0">
              <a:spcBef>
                <a:spcPts val="0"/>
              </a:spcBef>
            </a:pPr>
            <a:r>
              <a:rPr lang="en-US" altLang="zh-CN" sz="2800" b="0" dirty="0">
                <a:solidFill>
                  <a:srgbClr val="003300"/>
                </a:solidFill>
                <a:latin typeface="Arial" panose="020B0604020202020204" pitchFamily="34" charset="0"/>
                <a:ea typeface="宋体" panose="02010600030101010101" pitchFamily="2" charset="-122"/>
              </a:rPr>
              <a:t>    China University of Petroleum - Beijing at Karamay</a:t>
            </a:r>
            <a:endParaRPr lang="zh-CN" altLang="en-US" sz="2800" b="0" dirty="0">
              <a:solidFill>
                <a:srgbClr val="003300"/>
              </a:solidFill>
              <a:latin typeface="Arial" panose="020B0604020202020204" pitchFamily="34" charset="0"/>
              <a:ea typeface="宋体" panose="02010600030101010101" pitchFamily="2" charset="-122"/>
            </a:endParaRPr>
          </a:p>
        </p:txBody>
      </p:sp>
      <p:sp>
        <p:nvSpPr>
          <p:cNvPr id="9220" name="Text Box 10"/>
          <p:cNvSpPr txBox="1"/>
          <p:nvPr/>
        </p:nvSpPr>
        <p:spPr>
          <a:xfrm>
            <a:off x="6589395" y="6022340"/>
            <a:ext cx="2022475" cy="398780"/>
          </a:xfrm>
          <a:prstGeom prst="rect">
            <a:avLst/>
          </a:prstGeom>
          <a:noFill/>
          <a:ln w="12700">
            <a:noFill/>
          </a:ln>
        </p:spPr>
        <p:txBody>
          <a:bodyPr wrap="square" anchor="t" anchorCtr="0">
            <a:spAutoFit/>
          </a:bodyPr>
          <a:p>
            <a:pPr eaLnBrk="0" hangingPunct="0">
              <a:spcBef>
                <a:spcPct val="50000"/>
              </a:spcBef>
            </a:pPr>
            <a:r>
              <a:rPr lang="en-US" altLang="zh-CN" sz="2000" b="0" i="1" dirty="0">
                <a:solidFill>
                  <a:schemeClr val="tx1"/>
                </a:solidFill>
                <a:latin typeface="Arial" panose="020B0604020202020204" pitchFamily="34" charset="0"/>
                <a:ea typeface="宋体" panose="02010600030101010101" pitchFamily="2" charset="-122"/>
              </a:rPr>
              <a:t>Fall, 2025</a:t>
            </a:r>
            <a:endParaRPr lang="zh-CN" altLang="en-US" sz="2000" b="0" i="1" dirty="0">
              <a:solidFill>
                <a:schemeClr val="tx1"/>
              </a:solidFill>
              <a:latin typeface="Arial" panose="020B0604020202020204" pitchFamily="34" charset="0"/>
              <a:ea typeface="宋体" panose="02010600030101010101" pitchFamily="2" charset="-122"/>
            </a:endParaRPr>
          </a:p>
        </p:txBody>
      </p:sp>
    </p:spTree>
  </p:cSld>
  <p:clrMapOvr>
    <a:masterClrMapping/>
  </p:clrMapOvr>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67410"/>
            <a:ext cx="8977630" cy="66294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Topics covered</a:t>
            </a:r>
            <a:endParaRPr lang="zh-CN" altLang="en-US" b="1" dirty="0" smtClean="0">
              <a:solidFill>
                <a:srgbClr val="134AD5"/>
              </a:solidFill>
              <a:latin typeface="+mn-lt"/>
              <a:ea typeface="宋体" panose="02010600030101010101" pitchFamily="2" charset="-122"/>
              <a:cs typeface="+mn-cs"/>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57200" y="1528445"/>
            <a:ext cx="8229600" cy="36436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Dependability properties   </a:t>
            </a:r>
            <a:r>
              <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可依赖属性</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Sociotechnical systems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社会技术系统</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Redundancy and diversity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冗余和多样性</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Dependable processes    </a:t>
            </a:r>
            <a:r>
              <a:rPr lang="zh-CN" altLang="en-US" sz="2400"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可依赖过程</a:t>
            </a:r>
            <a:endParaRPr lang="en-US" sz="3200" dirty="0" smtClean="0">
              <a:solidFill>
                <a:schemeClr val="tx2">
                  <a:lumMod val="75000"/>
                  <a:lumOff val="25000"/>
                </a:schemeClr>
              </a:solidFill>
              <a:latin typeface="Calibri" panose="020F0502020204030204" charset="0"/>
              <a:cs typeface="Calibri" panose="020F0502020204030204" charset="0"/>
            </a:endParaRPr>
          </a:p>
          <a:p>
            <a:pPr>
              <a:spcBef>
                <a:spcPts val="1000"/>
              </a:spcBef>
            </a:pPr>
            <a:r>
              <a:rPr lang="en-US" sz="3200" dirty="0" smtClean="0">
                <a:solidFill>
                  <a:schemeClr val="tx2">
                    <a:lumMod val="75000"/>
                    <a:lumOff val="25000"/>
                  </a:schemeClr>
                </a:solidFill>
                <a:latin typeface="Calibri" panose="020F0502020204030204" charset="0"/>
                <a:cs typeface="Calibri" panose="020F0502020204030204" charset="0"/>
              </a:rPr>
              <a:t> Formal methods and dependability (</a:t>
            </a:r>
            <a:r>
              <a:rPr lang="zh-CN" altLang="en-US" dirty="0" smtClean="0">
                <a:solidFill>
                  <a:schemeClr val="accent5">
                    <a:lumMod val="50000"/>
                  </a:schemeClr>
                </a:solidFill>
                <a:latin typeface="黑体" panose="02010609060101010101" pitchFamily="49" charset="-122"/>
                <a:ea typeface="黑体" panose="02010609060101010101" pitchFamily="49" charset="-122"/>
                <a:cs typeface="Calibri" panose="020F0502020204030204" charset="0"/>
              </a:rPr>
              <a:t>留作自学</a:t>
            </a:r>
            <a:r>
              <a:rPr lang="en-US" sz="3200" dirty="0" smtClean="0">
                <a:solidFill>
                  <a:schemeClr val="tx2">
                    <a:lumMod val="75000"/>
                    <a:lumOff val="25000"/>
                  </a:schemeClr>
                </a:solidFill>
                <a:latin typeface="Calibri" panose="020F0502020204030204" charset="0"/>
                <a:cs typeface="Calibri" panose="020F0502020204030204" charset="0"/>
              </a:rPr>
              <a:t>) </a:t>
            </a:r>
            <a:endParaRPr lang="en-US" sz="32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977630" cy="5391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System dependability</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系统可依赖性</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4610" y="1241425"/>
            <a:ext cx="9023985" cy="527177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Because software-intensive systems are so important to governments, companies, and individuals, we have to be able to trust these systems. </a:t>
            </a:r>
            <a:r>
              <a:rPr lang="en-US" sz="2800" b="0" dirty="0" smtClean="0">
                <a:solidFill>
                  <a:schemeClr val="tx1"/>
                </a:solidFill>
                <a:latin typeface="Calibri" panose="020F0502020204030204" charset="0"/>
                <a:cs typeface="Calibri" panose="020F0502020204030204" charset="0"/>
              </a:rPr>
              <a:t>The software should be available when it is needed, and it should operate correctly without undesirable side effects, such as unauthorized information disclosure. In short, we should be able to depend on our software systems.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软件密集型系统如此重要,必须可信赖</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The term dependability was proposed to cover the related systems attributes of availability, reliability, safety, and security. These properties are inextricably linked, so having a single term to cover them all makes sense.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术语“可依赖性”的由来</a:t>
            </a:r>
            <a:endParaRPr lang="zh-CN" altLang="en-US" sz="3200" dirty="0" smtClean="0">
              <a:solidFill>
                <a:schemeClr val="tx2">
                  <a:lumMod val="75000"/>
                  <a:lumOff val="25000"/>
                </a:schemeClr>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977630" cy="1232535"/>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en-US" altLang="zh-CN" sz="2800" dirty="0">
                <a:solidFill>
                  <a:schemeClr val="accent1">
                    <a:lumMod val="75000"/>
                  </a:schemeClr>
                </a:solidFill>
                <a:ea typeface="宋体" panose="02010600030101010101" pitchFamily="2" charset="-122"/>
                <a:sym typeface="+mn-ea"/>
              </a:rPr>
              <a:t>The dependability of systems is usually more important than their detailed functionality for the following reasons: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可依赖性通常比详细的功能更重要</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48895" y="1958975"/>
            <a:ext cx="9017635" cy="470344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System failures</a:t>
            </a:r>
            <a:r>
              <a:rPr lang="en-US" sz="3000" b="0" dirty="0" smtClean="0">
                <a:solidFill>
                  <a:schemeClr val="tx1"/>
                </a:solidFill>
                <a:latin typeface="Calibri" panose="020F0502020204030204" charset="0"/>
                <a:cs typeface="Calibri" panose="020F0502020204030204" charset="0"/>
              </a:rPr>
              <a:t> </a:t>
            </a:r>
            <a:r>
              <a:rPr lang="en-US" sz="3000" dirty="0" smtClean="0">
                <a:solidFill>
                  <a:schemeClr val="tx2">
                    <a:lumMod val="75000"/>
                    <a:lumOff val="25000"/>
                  </a:schemeClr>
                </a:solidFill>
                <a:latin typeface="Calibri" panose="020F0502020204030204" charset="0"/>
                <a:cs typeface="Calibri" panose="020F0502020204030204" charset="0"/>
              </a:rPr>
              <a:t>affect a large number of people: </a:t>
            </a:r>
            <a:r>
              <a:rPr lang="en-US" sz="2600" b="0" dirty="0" smtClean="0">
                <a:solidFill>
                  <a:schemeClr val="tx1"/>
                </a:solidFill>
                <a:latin typeface="Calibri" panose="020F0502020204030204" charset="0"/>
                <a:cs typeface="Calibri" panose="020F0502020204030204" charset="0"/>
              </a:rPr>
              <a:t>System failures that affect the availability of a system potentially affect all users of the system.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系统失效影响大量人</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Users often reject systems that are unreliable, unsafe, or insecure:</a:t>
            </a:r>
            <a:r>
              <a:rPr lang="en-US" sz="2600" b="0" dirty="0" smtClean="0">
                <a:solidFill>
                  <a:schemeClr val="tx1"/>
                </a:solidFill>
                <a:latin typeface="Calibri" panose="020F0502020204030204" charset="0"/>
                <a:cs typeface="Calibri" panose="020F0502020204030204" charset="0"/>
              </a:rPr>
              <a:t> If a system is unreliable or insecure, users will refuse to use it.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用户经常拒绝不可靠、不安全或信息安全有问题的系统</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System failure costs may be enormous:</a:t>
            </a:r>
            <a:r>
              <a:rPr lang="en-US" sz="2600" b="0" dirty="0" smtClean="0">
                <a:solidFill>
                  <a:schemeClr val="tx1"/>
                </a:solidFill>
                <a:latin typeface="Calibri" panose="020F0502020204030204" charset="0"/>
                <a:cs typeface="Calibri" panose="020F0502020204030204" charset="0"/>
              </a:rPr>
              <a:t> Failures in systems that control critical infrastructure such as the power network have widespread economic consequences. </a:t>
            </a:r>
            <a:r>
              <a:rPr lang="en-US" sz="20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系统失效的代价是巨大的</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000" dirty="0" smtClean="0">
                <a:solidFill>
                  <a:schemeClr val="tx2">
                    <a:lumMod val="75000"/>
                    <a:lumOff val="25000"/>
                  </a:schemeClr>
                </a:solidFill>
                <a:latin typeface="Calibri" panose="020F0502020204030204" charset="0"/>
                <a:cs typeface="Calibri" panose="020F0502020204030204" charset="0"/>
              </a:rPr>
              <a:t> Undependable systems may cause information loss:</a:t>
            </a:r>
            <a:r>
              <a:rPr lang="en-US" sz="2800" b="0" dirty="0" smtClean="0">
                <a:solidFill>
                  <a:schemeClr val="tx1"/>
                </a:solidFill>
                <a:latin typeface="Calibri" panose="020F0502020204030204" charset="0"/>
                <a:cs typeface="Calibri" panose="020F0502020204030204" charset="0"/>
              </a:rPr>
              <a:t> </a:t>
            </a:r>
            <a:r>
              <a:rPr lang="en-US" sz="2600" b="0" dirty="0" smtClean="0">
                <a:solidFill>
                  <a:schemeClr val="tx1"/>
                </a:solidFill>
                <a:latin typeface="Calibri" panose="020F0502020204030204" charset="0"/>
                <a:cs typeface="Calibri" panose="020F0502020204030204" charset="0"/>
              </a:rPr>
              <a:t>The cost of recovering lost or corrupt data is usually very high.</a:t>
            </a:r>
            <a:r>
              <a:rPr lang="en-US" sz="2800" b="0" dirty="0" smtClean="0">
                <a:solidFill>
                  <a:schemeClr val="tx1"/>
                </a:solidFill>
                <a:latin typeface="Calibri" panose="020F0502020204030204" charset="0"/>
                <a:cs typeface="Calibri" panose="020F0502020204030204" charset="0"/>
              </a:rPr>
              <a:t>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不可依赖的系统可能导致信息丢失</a:t>
            </a:r>
            <a:endParaRPr lang="en-US" sz="2000" dirty="0" smtClean="0">
              <a:solidFill>
                <a:schemeClr val="tx2">
                  <a:lumMod val="75000"/>
                  <a:lumOff val="25000"/>
                </a:schemeClr>
              </a:solidFill>
              <a:latin typeface="Calibri" panose="020F0502020204030204" charset="0"/>
              <a:cs typeface="Calibri" panose="020F0502020204030204" charset="0"/>
            </a:endParaRPr>
          </a:p>
        </p:txBody>
      </p:sp>
    </p:spTree>
  </p:cSld>
  <p:clrMapOvr>
    <a:masterClrMapping/>
  </p:clrMapOvr>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8825"/>
            <a:ext cx="8977630" cy="5772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Causes of failure</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失效的原因</a:t>
            </a:r>
            <a:r>
              <a:rPr lang="en-US" altLang="zh-CN" sz="3200" dirty="0">
                <a:solidFill>
                  <a:schemeClr val="accent1">
                    <a:lumMod val="75000"/>
                  </a:schemeClr>
                </a:solidFill>
                <a:ea typeface="宋体" panose="02010600030101010101" pitchFamily="2" charset="-122"/>
                <a:sym typeface="+mn-ea"/>
              </a:rPr>
              <a:t>  </a:t>
            </a:r>
            <a:endParaRPr lang="en-US" altLang="zh-CN"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99331" name="Rectangle 1027"/>
          <p:cNvSpPr>
            <a:spLocks noGrp="1" noChangeArrowheads="1"/>
          </p:cNvSpPr>
          <p:nvPr/>
        </p:nvSpPr>
        <p:spPr>
          <a:xfrm>
            <a:off x="47625" y="1285240"/>
            <a:ext cx="9018905" cy="507492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Hardware failure:</a:t>
            </a:r>
            <a:r>
              <a:rPr lang="en-US" sz="2800" b="0" dirty="0" smtClean="0">
                <a:solidFill>
                  <a:schemeClr val="tx1"/>
                </a:solidFill>
                <a:latin typeface="Calibri" panose="020F0502020204030204" charset="0"/>
                <a:cs typeface="Calibri" panose="020F0502020204030204" charset="0"/>
              </a:rPr>
              <a:t> System hardware may fail because of mistakes in its design, because components fail as a result of manufacturing errors, because of environmental factors such as dampness or high temperatures, or because components have reached the end of natural life.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硬件失效</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Software failure:</a:t>
            </a:r>
            <a:r>
              <a:rPr lang="en-US" sz="2800" b="0" dirty="0" smtClean="0">
                <a:solidFill>
                  <a:schemeClr val="tx1"/>
                </a:solidFill>
                <a:latin typeface="Calibri" panose="020F0502020204030204" charset="0"/>
                <a:cs typeface="Calibri" panose="020F0502020204030204" charset="0"/>
              </a:rPr>
              <a:t> System software may fail because of mistakes in its specification, design, or implementation.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软件失效</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200" dirty="0" smtClean="0">
                <a:solidFill>
                  <a:schemeClr val="tx2">
                    <a:lumMod val="75000"/>
                    <a:lumOff val="25000"/>
                  </a:schemeClr>
                </a:solidFill>
                <a:latin typeface="Calibri" panose="020F0502020204030204" charset="0"/>
                <a:cs typeface="Calibri" panose="020F0502020204030204" charset="0"/>
              </a:rPr>
              <a:t> Operational failure:</a:t>
            </a:r>
            <a:r>
              <a:rPr lang="en-US" sz="2800" b="0" dirty="0" smtClean="0">
                <a:solidFill>
                  <a:schemeClr val="tx1"/>
                </a:solidFill>
                <a:latin typeface="Calibri" panose="020F0502020204030204" charset="0"/>
                <a:cs typeface="Calibri" panose="020F0502020204030204" charset="0"/>
              </a:rPr>
              <a:t> Human users may fail to use or operate the system as intended by its designers. As hardware and software have become more reliable, failures in operation are now, perhaps, the largest single cause of system failures.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操作失效</a:t>
            </a:r>
            <a:endParaRPr lang="en-US" sz="2800" b="0" dirty="0" smtClean="0"/>
          </a:p>
        </p:txBody>
      </p:sp>
    </p:spTree>
  </p:cSld>
  <p:clrMapOvr>
    <a:masterClrMapping/>
  </p:clrMapOvr>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8510"/>
            <a:ext cx="8977630" cy="59182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10.1 Dependability properties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可依赖属性</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99331" name="Rectangle 1027"/>
          <p:cNvSpPr>
            <a:spLocks noGrp="1" noChangeArrowheads="1"/>
          </p:cNvSpPr>
          <p:nvPr/>
        </p:nvSpPr>
        <p:spPr>
          <a:xfrm>
            <a:off x="88900" y="1356995"/>
            <a:ext cx="8975090" cy="95567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panose="020B0604020202020204"/>
              <a:buChar char="•"/>
              <a:defRPr sz="2000" kern="1200">
                <a:solidFill>
                  <a:schemeClr val="tx1"/>
                </a:solidFill>
                <a:latin typeface="+mn-lt"/>
                <a:ea typeface="+mn-ea"/>
                <a:cs typeface="+mn-cs"/>
              </a:defRPr>
            </a:lvl9pPr>
          </a:lstStyle>
          <a:p>
            <a:pPr>
              <a:lnSpc>
                <a:spcPct val="85000"/>
              </a:lnSpc>
            </a:pPr>
            <a:r>
              <a:rPr lang="en-US" sz="3200" dirty="0" smtClean="0">
                <a:solidFill>
                  <a:schemeClr val="tx2">
                    <a:lumMod val="75000"/>
                    <a:lumOff val="25000"/>
                  </a:schemeClr>
                </a:solidFill>
                <a:latin typeface="Calibri" panose="020F0502020204030204" charset="0"/>
                <a:cs typeface="Calibri" panose="020F0502020204030204" charset="0"/>
              </a:rPr>
              <a:t> There are five principal dimensions to dependability, as I have shown in Figure 10.1.</a:t>
            </a:r>
            <a:endParaRPr lang="en-US" sz="3200" dirty="0" smtClean="0">
              <a:solidFill>
                <a:schemeClr val="tx2">
                  <a:lumMod val="75000"/>
                  <a:lumOff val="25000"/>
                </a:schemeClr>
              </a:solidFill>
              <a:latin typeface="Calibri" panose="020F0502020204030204" charset="0"/>
              <a:cs typeface="Calibri" panose="020F0502020204030204" charset="0"/>
            </a:endParaRPr>
          </a:p>
        </p:txBody>
      </p:sp>
      <p:pic>
        <p:nvPicPr>
          <p:cNvPr id="3" name="图片 2"/>
          <p:cNvPicPr>
            <a:picLocks noChangeAspect="1"/>
          </p:cNvPicPr>
          <p:nvPr/>
        </p:nvPicPr>
        <p:blipFill>
          <a:blip r:embed="rId3"/>
          <a:stretch>
            <a:fillRect/>
          </a:stretch>
        </p:blipFill>
        <p:spPr>
          <a:xfrm>
            <a:off x="38100" y="2335530"/>
            <a:ext cx="9067800" cy="3190875"/>
          </a:xfrm>
          <a:prstGeom prst="rect">
            <a:avLst/>
          </a:prstGeom>
        </p:spPr>
      </p:pic>
      <p:sp>
        <p:nvSpPr>
          <p:cNvPr id="7" name="Content Placeholder 2"/>
          <p:cNvSpPr>
            <a:spLocks noGrp="1"/>
          </p:cNvSpPr>
          <p:nvPr/>
        </p:nvSpPr>
        <p:spPr>
          <a:xfrm>
            <a:off x="80010" y="5601970"/>
            <a:ext cx="8984615" cy="102933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altLang="en-GB" sz="2200" b="0" dirty="0">
                <a:sym typeface="Symbol" panose="05050102010706020507" charset="0"/>
              </a:rPr>
              <a:t> </a:t>
            </a:r>
            <a:r>
              <a:rPr sz="2200" b="0" dirty="0"/>
              <a:t>The dependability properties shown in Figure 10.1 are complex properties that</a:t>
            </a:r>
            <a:r>
              <a:rPr lang="en-US" sz="2200" b="0" dirty="0"/>
              <a:t> </a:t>
            </a:r>
            <a:r>
              <a:rPr sz="2200" b="0" dirty="0"/>
              <a:t>can be broken down into several simpler properties.</a:t>
            </a:r>
            <a:endParaRPr sz="2200" b="0" dirty="0"/>
          </a:p>
          <a:p>
            <a:pPr marL="0" indent="0">
              <a:lnSpc>
                <a:spcPct val="85000"/>
              </a:lnSpc>
              <a:spcBef>
                <a:spcPts val="300"/>
              </a:spcBef>
              <a:spcAft>
                <a:spcPts val="0"/>
              </a:spcAft>
              <a:buNone/>
            </a:pPr>
            <a:r>
              <a:rPr lang="en-US" altLang="en-GB" sz="2200" b="0" dirty="0">
                <a:sym typeface="Symbol" panose="05050102010706020507" charset="0"/>
              </a:rPr>
              <a:t> Of course, not all dependability properties are critical for all systems.</a:t>
            </a:r>
            <a:endParaRPr lang="en-US" altLang="en-GB" sz="2200" b="0" dirty="0">
              <a:sym typeface="Symbol" panose="05050102010706020507" charset="0"/>
            </a:endParaRPr>
          </a:p>
        </p:txBody>
      </p:sp>
      <p:pic>
        <p:nvPicPr>
          <p:cNvPr id="5" name="图片 4"/>
          <p:cNvPicPr>
            <a:picLocks noChangeAspect="1"/>
          </p:cNvPicPr>
          <p:nvPr/>
        </p:nvPicPr>
        <p:blipFill>
          <a:blip r:embed="rId4"/>
          <a:stretch>
            <a:fillRect/>
          </a:stretch>
        </p:blipFill>
        <p:spPr>
          <a:xfrm>
            <a:off x="6156325" y="2348865"/>
            <a:ext cx="1647825" cy="647700"/>
          </a:xfrm>
          <a:prstGeom prst="rect">
            <a:avLst/>
          </a:prstGeom>
        </p:spPr>
      </p:pic>
    </p:spTree>
  </p:cSld>
  <p:clrMapOvr>
    <a:masterClrMapping/>
  </p:clrMapOvr>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8190"/>
            <a:ext cx="8977630" cy="556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Principal properties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主要的可依赖性质</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7945" y="1313180"/>
            <a:ext cx="8997950" cy="53555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Availability: </a:t>
            </a:r>
            <a:r>
              <a:rPr lang="en-US" sz="2800" b="0" dirty="0" smtClean="0">
                <a:solidFill>
                  <a:schemeClr val="tx1"/>
                </a:solidFill>
                <a:latin typeface="Calibri" panose="020F0502020204030204" charset="0"/>
                <a:cs typeface="Calibri" panose="020F0502020204030204" charset="0"/>
              </a:rPr>
              <a:t>is the probability that it will be up and running and able to deliver useful services to users at any given time.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可用性</a:t>
            </a:r>
            <a:endParaRPr lang="en-US" sz="28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Reliability:</a:t>
            </a:r>
            <a:r>
              <a:rPr lang="en-US" sz="2800" b="0" dirty="0" smtClean="0">
                <a:solidFill>
                  <a:schemeClr val="tx1"/>
                </a:solidFill>
                <a:latin typeface="Calibri" panose="020F0502020204030204" charset="0"/>
                <a:cs typeface="Calibri" panose="020F0502020204030204" charset="0"/>
              </a:rPr>
              <a:t> is the probability, over a given period of time, that the system will correctly deliver services as expected by the user.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可靠性</a:t>
            </a:r>
            <a:endParaRPr lang="en-US" sz="28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Safety:</a:t>
            </a:r>
            <a:r>
              <a:rPr lang="en-US" sz="2800" b="0" dirty="0" smtClean="0">
                <a:solidFill>
                  <a:schemeClr val="tx1"/>
                </a:solidFill>
                <a:latin typeface="Calibri" panose="020F0502020204030204" charset="0"/>
                <a:cs typeface="Calibri" panose="020F0502020204030204" charset="0"/>
              </a:rPr>
              <a:t> is a judgment of how likely it is that the system will cause damage to people or its environment.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安全性</a:t>
            </a:r>
            <a:endParaRPr lang="en-US" sz="28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Security:</a:t>
            </a:r>
            <a:r>
              <a:rPr lang="en-US" sz="2800" b="0" dirty="0" smtClean="0">
                <a:solidFill>
                  <a:schemeClr val="tx1"/>
                </a:solidFill>
                <a:latin typeface="Calibri" panose="020F0502020204030204" charset="0"/>
                <a:cs typeface="Calibri" panose="020F0502020204030204" charset="0"/>
              </a:rPr>
              <a:t> is a judgment of how likely it is that the system can resist accidental or deliberate intrusions.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信息安全性</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 </a:t>
            </a:r>
            <a:r>
              <a:rPr lang="en-US" sz="3200" dirty="0" smtClean="0">
                <a:solidFill>
                  <a:schemeClr val="accent2">
                    <a:lumMod val="75000"/>
                  </a:schemeClr>
                </a:solidFill>
                <a:latin typeface="Calibri" panose="020F0502020204030204" charset="0"/>
                <a:cs typeface="Calibri" panose="020F0502020204030204" charset="0"/>
              </a:rPr>
              <a:t>Resilience:</a:t>
            </a:r>
            <a:r>
              <a:rPr lang="en-US" sz="2800" b="0" dirty="0" smtClean="0">
                <a:solidFill>
                  <a:schemeClr val="tx1"/>
                </a:solidFill>
                <a:latin typeface="Calibri" panose="020F0502020204030204" charset="0"/>
                <a:cs typeface="Calibri" panose="020F0502020204030204" charset="0"/>
              </a:rPr>
              <a:t> is a judgment of how well that system can maintain the continuity of its critical services in the presence of disruptive events.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韧性</a:t>
            </a:r>
            <a:endParaRPr lang="zh-CN" altLang="en-US" sz="28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899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Other dependability properties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7945" y="1528445"/>
            <a:ext cx="8997950" cy="45053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Repairability:</a:t>
            </a:r>
            <a:r>
              <a:rPr lang="en-US" sz="2800" b="0" dirty="0" smtClean="0">
                <a:solidFill>
                  <a:schemeClr val="tx1"/>
                </a:solidFill>
                <a:latin typeface="Calibri" panose="020F0502020204030204" charset="0"/>
                <a:cs typeface="Calibri" panose="020F0502020204030204" charset="0"/>
              </a:rPr>
              <a:t> System failures are inevitable, but the disruption caused by failure can be minimized if the system can be repaired quickly.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可维修性</a:t>
            </a:r>
            <a:r>
              <a:rPr lang="en-US" sz="2800" b="0" dirty="0" smtClean="0">
                <a:solidFill>
                  <a:schemeClr val="tx1"/>
                </a:solidFill>
                <a:latin typeface="Calibri" panose="020F0502020204030204" charset="0"/>
                <a:cs typeface="Calibri" panose="020F0502020204030204" charset="0"/>
              </a:rPr>
              <a:t>  </a:t>
            </a:r>
            <a:endParaRPr lang="en-US" sz="28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Maintainability:</a:t>
            </a:r>
            <a:r>
              <a:rPr lang="en-US" sz="2800" b="0" dirty="0" smtClean="0">
                <a:solidFill>
                  <a:schemeClr val="tx1"/>
                </a:solidFill>
                <a:latin typeface="Calibri" panose="020F0502020204030204" charset="0"/>
                <a:cs typeface="Calibri" panose="020F0502020204030204" charset="0"/>
              </a:rPr>
              <a:t> As systems are used, new requirements emerge, and it is important to maintain the value of a system by changing it to include these new requirements.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可维护性  </a:t>
            </a:r>
            <a:endParaRPr lang="en-US" sz="28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Error tolerance:</a:t>
            </a:r>
            <a:r>
              <a:rPr lang="en-US" sz="2800" b="0" dirty="0" smtClean="0">
                <a:solidFill>
                  <a:schemeClr val="tx1"/>
                </a:solidFill>
                <a:latin typeface="Calibri" panose="020F0502020204030204" charset="0"/>
                <a:cs typeface="Calibri" panose="020F0502020204030204" charset="0"/>
              </a:rPr>
              <a:t> This property can be considered as part of usability and reflects the extent to which the system has been designed, so that user input errors are avoided and tolerated.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容错</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977630" cy="60960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Inter-</a:t>
            </a:r>
            <a:r>
              <a:rPr lang="zh-CN" altLang="en-US" sz="3200" dirty="0">
                <a:solidFill>
                  <a:schemeClr val="accent1">
                    <a:lumMod val="75000"/>
                  </a:schemeClr>
                </a:solidFill>
                <a:ea typeface="宋体" panose="02010600030101010101" pitchFamily="2" charset="-122"/>
                <a:sym typeface="+mn-ea"/>
              </a:rPr>
              <a:t>dependencies</a:t>
            </a:r>
            <a:r>
              <a:rPr lang="en-US" altLang="zh-CN" sz="3200" dirty="0">
                <a:solidFill>
                  <a:schemeClr val="accent1">
                    <a:lumMod val="75000"/>
                  </a:schemeClr>
                </a:solidFill>
                <a:ea typeface="宋体" panose="02010600030101010101" pitchFamily="2" charset="-122"/>
                <a:sym typeface="+mn-ea"/>
              </a:rPr>
              <a:t> among d</a:t>
            </a:r>
            <a:r>
              <a:rPr lang="zh-CN" altLang="en-US" sz="3200" dirty="0">
                <a:solidFill>
                  <a:schemeClr val="accent1">
                    <a:lumMod val="75000"/>
                  </a:schemeClr>
                </a:solidFill>
                <a:ea typeface="宋体" panose="02010600030101010101" pitchFamily="2" charset="-122"/>
                <a:sym typeface="+mn-ea"/>
              </a:rPr>
              <a:t>ependability attribute</a:t>
            </a:r>
            <a:r>
              <a:rPr lang="en-US" altLang="zh-CN" sz="3200" dirty="0">
                <a:solidFill>
                  <a:schemeClr val="accent1">
                    <a:lumMod val="75000"/>
                  </a:schemeClr>
                </a:solidFill>
                <a:ea typeface="宋体" panose="02010600030101010101" pitchFamily="2" charset="-122"/>
                <a:sym typeface="+mn-ea"/>
              </a:rPr>
              <a:t>s</a:t>
            </a:r>
            <a:r>
              <a:rPr lang="zh-CN" altLang="en-US"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可依赖属性之间的相互依赖</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6515" y="1671955"/>
            <a:ext cx="9010015" cy="478028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Dependability properties of availability, security, reliability, safety, and resilience are closely related.</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可依赖属性之间密切相关</a:t>
            </a:r>
            <a:r>
              <a:rPr lang="en-US" sz="3200" dirty="0" smtClean="0">
                <a:solidFill>
                  <a:schemeClr val="accent2">
                    <a:lumMod val="75000"/>
                  </a:schemeClr>
                </a:solidFill>
                <a:latin typeface="Calibri" panose="020F0502020204030204" charset="0"/>
                <a:cs typeface="Calibri" panose="020F0502020204030204" charset="0"/>
              </a:rPr>
              <a:t> </a:t>
            </a:r>
            <a:endParaRPr lang="en-US" sz="3200" dirty="0" smtClean="0">
              <a:solidFill>
                <a:schemeClr val="accent2">
                  <a:lumMod val="75000"/>
                </a:schemeClr>
              </a:solidFill>
              <a:latin typeface="Calibri" panose="020F0502020204030204" charset="0"/>
              <a:cs typeface="Calibri" panose="020F0502020204030204" charset="0"/>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 Safe system operation usually depends on the system being available and operating reliably. </a:t>
            </a:r>
            <a:r>
              <a:rPr lang="zh-CN" altLang="en-US" kern="0" dirty="0">
                <a:solidFill>
                  <a:schemeClr val="accent1">
                    <a:lumMod val="75000"/>
                  </a:schemeClr>
                </a:solidFill>
                <a:latin typeface="黑体" panose="02010609060101010101" pitchFamily="49" charset="-122"/>
                <a:ea typeface="黑体" panose="02010609060101010101" pitchFamily="49" charset="-122"/>
                <a:cs typeface="+mn-cs"/>
              </a:rPr>
              <a:t>安全依赖可用和可靠</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 A system may become unreliable because an intruder has corrupted its data.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sym typeface="+mn-ea"/>
              </a:rPr>
              <a:t>可靠依赖</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信息安全</a:t>
            </a:r>
            <a:endParaRPr lang="en-US" sz="2800" b="0" dirty="0" smtClean="0">
              <a:solidFill>
                <a:schemeClr val="tx1"/>
              </a:solidFill>
              <a:latin typeface="Calibri" panose="020F0502020204030204" charset="0"/>
              <a:cs typeface="Calibri" panose="020F0502020204030204" charset="0"/>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 Denial-of-service attacks on a system are intended to compromise the system’s availability.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可用依赖信息安全</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Aft>
                <a:spcPts val="0"/>
              </a:spcAft>
            </a:pPr>
            <a:r>
              <a:rPr lang="en-US" sz="2800" b="0" dirty="0" smtClean="0">
                <a:solidFill>
                  <a:schemeClr val="tx1"/>
                </a:solidFill>
                <a:latin typeface="Calibri" panose="020F0502020204030204" charset="0"/>
                <a:cs typeface="Calibri" panose="020F0502020204030204" charset="0"/>
              </a:rPr>
              <a:t> If a system is infected with a virus, you cannot then be confident in its reliability or safety because the virus may change its behavior.   </a:t>
            </a:r>
            <a:r>
              <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rPr>
              <a:t>可靠和安全依赖信息安全</a:t>
            </a:r>
            <a:endParaRPr lang="zh-CN" altLang="en-US" sz="20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848995"/>
            <a:ext cx="8977630" cy="87249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To develop dependable software, you need to ensure that:</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要开发可依赖软件，要确保</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endPar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3185" y="1743710"/>
            <a:ext cx="8983345" cy="43541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Avoid the introduction of accidental errors into the system during software specification and development.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避免引入意外错误</a:t>
            </a:r>
            <a:endParaRPr lang="en-US" sz="32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Design verification and validation processes that are effective in discovering residual errors that affect the dependability of the system.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设计有效的验证和确认过程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Design the system to be fault tolerant so that it can continue working when things go wrong.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rPr>
              <a:t>将系统设计成可容错</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p:txBody>
      </p:sp>
    </p:spTree>
  </p:cSld>
  <p:clrMapOvr>
    <a:masterClrMapping/>
  </p:clrMapOvr>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Rectangle 2"/>
          <p:cNvSpPr>
            <a:spLocks noGrp="1"/>
          </p:cNvSpPr>
          <p:nvPr>
            <p:ph type="title"/>
            <p:custDataLst>
              <p:tags r:id="rId1"/>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62865" y="1600200"/>
            <a:ext cx="9003665" cy="506666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sym typeface="+mn-ea"/>
              </a:rPr>
              <a:t> Design protection mechanisms that guard against external attacks that compromise the availability or security of the system. </a:t>
            </a:r>
            <a:r>
              <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设计保护机制防范外部攻击</a:t>
            </a:r>
            <a:endParaRPr lang="en-US" dirty="0" smtClean="0">
              <a:solidFill>
                <a:schemeClr val="accent2">
                  <a:lumMod val="75000"/>
                </a:schemeClr>
              </a:solidFill>
              <a:latin typeface="Calibri" panose="020F0502020204030204" charset="0"/>
              <a:cs typeface="Calibri" panose="020F0502020204030204" charset="0"/>
              <a:sym typeface="+mn-ea"/>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sym typeface="+mn-ea"/>
              </a:rPr>
              <a:t> Configure the deployed system and its supporting software correctly for its operating environment. </a:t>
            </a:r>
            <a:r>
              <a:rPr lang="en-US" dirty="0" smtClean="0">
                <a:solidFill>
                  <a:schemeClr val="accent2">
                    <a:lumMod val="75000"/>
                  </a:schemeClr>
                </a:solidFill>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正确配置已部署系统及其支持软件</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sym typeface="+mn-ea"/>
              </a:rPr>
              <a:t> Include system capabilities to recognize external cyberattacks and to resist these attacks.</a:t>
            </a:r>
            <a:r>
              <a:rPr lang="en-US" dirty="0" smtClean="0">
                <a:solidFill>
                  <a:schemeClr val="accent2">
                    <a:lumMod val="75000"/>
                  </a:schemeClr>
                </a:solidFill>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包含识别和抵御外部网络攻击的能力</a:t>
            </a:r>
            <a:endPar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sym typeface="+mn-ea"/>
              </a:rPr>
              <a:t> Design systems so that they quickly recover from system failures and cyberattacks without loss of critical data.</a:t>
            </a:r>
            <a:r>
              <a:rPr lang="en-US" dirty="0" smtClean="0">
                <a:solidFill>
                  <a:schemeClr val="accent2">
                    <a:lumMod val="75000"/>
                  </a:schemeClr>
                </a:solidFill>
                <a:latin typeface="Calibri" panose="020F0502020204030204" charset="0"/>
                <a:cs typeface="Calibri" panose="020F0502020204030204" charset="0"/>
                <a:sym typeface="+mn-ea"/>
              </a:rPr>
              <a:t>  </a:t>
            </a:r>
            <a:r>
              <a:rPr lang="zh-CN" altLang="en-US" kern="0"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设计系统使之能快速从失效和网络攻击中恢复</a:t>
            </a:r>
            <a:endParaRPr lang="en-US" dirty="0" smtClean="0">
              <a:solidFill>
                <a:srgbClr val="46424D"/>
              </a:solidFill>
              <a:latin typeface="Calibri" panose="020F0502020204030204" charset="0"/>
              <a:cs typeface="Calibri" panose="020F0502020204030204" charset="0"/>
            </a:endParaRPr>
          </a:p>
        </p:txBody>
      </p:sp>
      <p:sp>
        <p:nvSpPr>
          <p:cNvPr id="5" name="Rectangle 3"/>
          <p:cNvSpPr>
            <a:spLocks noGrp="1" noRot="1"/>
          </p:cNvSpPr>
          <p:nvPr>
            <p:ph type="subTitle" idx="1"/>
            <p:custDataLst>
              <p:tags r:id="rId2"/>
            </p:custDataLst>
          </p:nvPr>
        </p:nvSpPr>
        <p:spPr>
          <a:xfrm>
            <a:off x="88900" y="777240"/>
            <a:ext cx="8977630" cy="872490"/>
          </a:xfrm>
        </p:spPr>
        <p:txBody>
          <a:bodyPr vert="horz" wrap="square" lIns="91440" tIns="45720" rIns="91440" bIns="45720" anchor="t" anchorCtr="0">
            <a:noAutofit/>
          </a:bodyPr>
          <a:p>
            <a:pPr algn="l" eaLnBrk="1" latinLnBrk="0" hangingPunct="1">
              <a:lnSpc>
                <a:spcPct val="85000"/>
              </a:lnSpc>
              <a:spcBef>
                <a:spcPts val="600"/>
              </a:spcBef>
              <a:buSzTx/>
              <a:buFont typeface="Wingdings" panose="05000000000000000000" pitchFamily="2" charset="2"/>
              <a:buChar char="§"/>
            </a:pPr>
            <a:r>
              <a:rPr lang="en-US" altLang="zh-CN" sz="3000" dirty="0">
                <a:solidFill>
                  <a:srgbClr val="0070C0"/>
                </a:solidFill>
                <a:ea typeface="宋体" panose="02010600030101010101" pitchFamily="2" charset="-122"/>
                <a:sym typeface="+mn-ea"/>
              </a:rPr>
              <a:t> </a:t>
            </a:r>
            <a:r>
              <a:rPr lang="zh-CN" altLang="en-US" sz="3000" dirty="0">
                <a:solidFill>
                  <a:schemeClr val="accent1">
                    <a:lumMod val="75000"/>
                  </a:schemeClr>
                </a:solidFill>
                <a:ea typeface="宋体" panose="02010600030101010101" pitchFamily="2" charset="-122"/>
                <a:sym typeface="+mn-ea"/>
              </a:rPr>
              <a:t>To develop dependable software, you need to ensure that:</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要开发可依赖软件，要确保</a:t>
            </a:r>
            <a:r>
              <a:rPr lang="en-US" altLang="zh-CN"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a:t>
            </a:r>
            <a:r>
              <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rPr>
              <a:t>（续）</a:t>
            </a:r>
            <a:endParaRPr lang="zh-CN" altLang="en-US" dirty="0">
              <a:solidFill>
                <a:schemeClr val="accent1">
                  <a:lumMod val="75000"/>
                </a:schemeClr>
              </a:solidFill>
              <a:latin typeface="黑体" panose="02010609060101010101" pitchFamily="49" charset="-122"/>
              <a:ea typeface="黑体" panose="02010609060101010101" pitchFamily="49" charset="-122"/>
              <a:cs typeface="黑体" panose="02010609060101010101" pitchFamily="49" charset="-122"/>
              <a:sym typeface="+mn-ea"/>
            </a:endParaRPr>
          </a:p>
        </p:txBody>
      </p:sp>
    </p:spTree>
  </p:cSld>
  <p:clrMapOvr>
    <a:masterClrMapping/>
  </p:clrMapOvr>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Dependability costs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可依赖性代价</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59690" y="1241425"/>
            <a:ext cx="9006205" cy="536575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Building dependable systems is expensive.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是昂贵的</a:t>
            </a:r>
            <a:endParaRPr lang="en-US" sz="3100" dirty="0" smtClean="0">
              <a:solidFill>
                <a:schemeClr val="accent2">
                  <a:lumMod val="75000"/>
                </a:schemeClr>
              </a:solidFill>
              <a:latin typeface="Calibri" panose="020F0502020204030204" charset="0"/>
              <a:cs typeface="Calibri" panose="020F0502020204030204" charset="0"/>
            </a:endParaRPr>
          </a:p>
          <a:p>
            <a:pPr>
              <a:lnSpc>
                <a:spcPct val="85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Increasing the dependability means that you incur extra costs for system design, implementation, and validation.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意味着额外设计、实现和确认成本</a:t>
            </a:r>
            <a:endParaRPr lang="en-US" sz="3100" dirty="0" smtClean="0">
              <a:solidFill>
                <a:schemeClr val="accent2">
                  <a:lumMod val="75000"/>
                </a:schemeClr>
              </a:solidFill>
              <a:latin typeface="Calibri" panose="020F0502020204030204" charset="0"/>
              <a:cs typeface="Calibri" panose="020F0502020204030204" charset="0"/>
            </a:endParaRPr>
          </a:p>
          <a:p>
            <a:pPr lvl="1">
              <a:lnSpc>
                <a:spcPct val="85000"/>
              </a:lnSpc>
              <a:spcAft>
                <a:spcPts val="0"/>
              </a:spcAft>
            </a:pPr>
            <a:r>
              <a:rPr lang="en-US" sz="2700" b="0" dirty="0" smtClean="0">
                <a:solidFill>
                  <a:schemeClr val="tx1"/>
                </a:solidFill>
                <a:latin typeface="Calibri" panose="020F0502020204030204" charset="0"/>
                <a:cs typeface="Calibri" panose="020F0502020204030204" charset="0"/>
              </a:rPr>
              <a:t>Verification and validation costs are particularly high for systems that must be ultra-dependable such as safety-critical control systems. As well as validating that the system meets its requirements, the validation process may have to prove to an external regulator that the system is safe.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对超可依赖系统，成本尤其高</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Aft>
                <a:spcPts val="0"/>
              </a:spcAft>
            </a:pPr>
            <a:r>
              <a:rPr lang="en-US" sz="2700" b="0" dirty="0" smtClean="0">
                <a:solidFill>
                  <a:schemeClr val="tx1"/>
                </a:solidFill>
                <a:latin typeface="Calibri" panose="020F0502020204030204" charset="0"/>
                <a:cs typeface="Calibri" panose="020F0502020204030204" charset="0"/>
              </a:rPr>
              <a:t>For example, aircraft systems have to demonstrate to regulators, such as the Federal Aviation Authority, that the probability of a catastrophic system failure that affects aircraft safety is extremely low.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例如: 航空器系统</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endParaRPr>
          </a:p>
        </p:txBody>
      </p:sp>
    </p:spTree>
  </p:cSld>
  <p:clrMapOvr>
    <a:masterClrMapping/>
  </p:clrMapOvr>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pic>
        <p:nvPicPr>
          <p:cNvPr id="3" name="图片 2"/>
          <p:cNvPicPr>
            <a:picLocks noChangeAspect="1"/>
          </p:cNvPicPr>
          <p:nvPr/>
        </p:nvPicPr>
        <p:blipFill>
          <a:blip r:embed="rId1"/>
          <a:stretch>
            <a:fillRect/>
          </a:stretch>
        </p:blipFill>
        <p:spPr>
          <a:xfrm>
            <a:off x="3852545" y="1146175"/>
            <a:ext cx="5123180" cy="4500245"/>
          </a:xfrm>
          <a:prstGeom prst="rect">
            <a:avLst/>
          </a:prstGeom>
        </p:spPr>
      </p:pic>
      <p:sp>
        <p:nvSpPr>
          <p:cNvPr id="15363" name="Rectangle 3"/>
          <p:cNvSpPr>
            <a:spLocks noGrp="1" noRot="1"/>
          </p:cNvSpPr>
          <p:nvPr>
            <p:ph type="subTitle" idx="1"/>
            <p:custDataLst>
              <p:tags r:id="rId2"/>
            </p:custDataLst>
          </p:nvPr>
        </p:nvSpPr>
        <p:spPr>
          <a:xfrm>
            <a:off x="88900" y="70548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Cost/dependability curve</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3"/>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7" name="Content Placeholder 2"/>
          <p:cNvSpPr>
            <a:spLocks noGrp="1"/>
          </p:cNvSpPr>
          <p:nvPr/>
        </p:nvSpPr>
        <p:spPr>
          <a:xfrm>
            <a:off x="151765" y="1583690"/>
            <a:ext cx="3836670" cy="309816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altLang="en-GB" sz="1900" b="0" dirty="0">
                <a:sym typeface="Symbol" panose="05050102010706020507" charset="0"/>
              </a:rPr>
              <a:t> </a:t>
            </a:r>
            <a:r>
              <a:rPr sz="1900" b="0" dirty="0"/>
              <a:t>Fig</a:t>
            </a:r>
            <a:r>
              <a:rPr lang="en-US" sz="1900" b="0" dirty="0"/>
              <a:t>.</a:t>
            </a:r>
            <a:r>
              <a:rPr sz="1900" b="0" dirty="0"/>
              <a:t> 10.2 shows the relationship between costs and incremental</a:t>
            </a:r>
            <a:r>
              <a:rPr lang="en-US" sz="1900" b="0" dirty="0"/>
              <a:t> </a:t>
            </a:r>
            <a:r>
              <a:rPr sz="1900" b="0" dirty="0"/>
              <a:t>improvements</a:t>
            </a:r>
            <a:r>
              <a:rPr lang="en-US" sz="1900" b="0" dirty="0"/>
              <a:t> </a:t>
            </a:r>
            <a:r>
              <a:rPr sz="1900" b="0" dirty="0"/>
              <a:t>in dependability. </a:t>
            </a:r>
            <a:endParaRPr sz="1900" b="0" dirty="0"/>
          </a:p>
          <a:p>
            <a:pPr marL="0" indent="0">
              <a:lnSpc>
                <a:spcPct val="85000"/>
              </a:lnSpc>
              <a:spcBef>
                <a:spcPts val="300"/>
              </a:spcBef>
              <a:spcAft>
                <a:spcPts val="0"/>
              </a:spcAft>
              <a:buNone/>
            </a:pPr>
            <a:r>
              <a:rPr lang="en-US" altLang="en-GB" sz="1900" b="0" dirty="0">
                <a:sym typeface="Symbol" panose="05050102010706020507" charset="0"/>
              </a:rPr>
              <a:t> </a:t>
            </a:r>
            <a:r>
              <a:rPr sz="1900" b="0" dirty="0"/>
              <a:t>If your software is not very dependable, you can get significant</a:t>
            </a:r>
            <a:r>
              <a:rPr lang="en-US" sz="1900" b="0" dirty="0"/>
              <a:t> </a:t>
            </a:r>
            <a:r>
              <a:rPr sz="1900" b="0" dirty="0"/>
              <a:t>improvements fairly cheaply by using better software engineering</a:t>
            </a:r>
            <a:r>
              <a:rPr lang="en-US" sz="1900" b="0" dirty="0"/>
              <a:t>; </a:t>
            </a:r>
            <a:r>
              <a:rPr sz="1900" b="0" dirty="0"/>
              <a:t>However, if you</a:t>
            </a:r>
            <a:r>
              <a:rPr lang="en-US" sz="1900" b="0" dirty="0"/>
              <a:t> </a:t>
            </a:r>
            <a:r>
              <a:rPr sz="1900" b="0" dirty="0"/>
              <a:t>are already using good practice, the costs of improvement are much greater, and the</a:t>
            </a:r>
            <a:r>
              <a:rPr lang="en-US" sz="1900" b="0" dirty="0"/>
              <a:t> </a:t>
            </a:r>
            <a:r>
              <a:rPr sz="1900" b="0" dirty="0"/>
              <a:t>benefits from that improvement are less.</a:t>
            </a:r>
            <a:endParaRPr lang="en-US" altLang="en-GB" sz="1900" b="0" dirty="0">
              <a:sym typeface="Symbol" panose="05050102010706020507" charset="0"/>
            </a:endParaRPr>
          </a:p>
        </p:txBody>
      </p:sp>
      <p:pic>
        <p:nvPicPr>
          <p:cNvPr id="5" name="图片 4"/>
          <p:cNvPicPr>
            <a:picLocks noChangeAspect="1"/>
          </p:cNvPicPr>
          <p:nvPr/>
        </p:nvPicPr>
        <p:blipFill>
          <a:blip r:embed="rId4"/>
          <a:stretch>
            <a:fillRect/>
          </a:stretch>
        </p:blipFill>
        <p:spPr>
          <a:xfrm>
            <a:off x="5374005" y="1550035"/>
            <a:ext cx="1552575" cy="457200"/>
          </a:xfrm>
          <a:prstGeom prst="rect">
            <a:avLst/>
          </a:prstGeom>
        </p:spPr>
      </p:pic>
      <p:sp>
        <p:nvSpPr>
          <p:cNvPr id="6" name="Content Placeholder 2"/>
          <p:cNvSpPr>
            <a:spLocks noGrp="1"/>
          </p:cNvSpPr>
          <p:nvPr/>
        </p:nvSpPr>
        <p:spPr>
          <a:xfrm>
            <a:off x="35560" y="5661660"/>
            <a:ext cx="9031605" cy="1119505"/>
          </a:xfrm>
          <a:prstGeom prst="rect">
            <a:avLst/>
          </a:prstGeom>
          <a:noFill/>
          <a:extLst>
            <a:ext uri="{909E8E84-426E-40DD-AFC4-6F175D3DCCD1}">
              <a14:hiddenFill xmlns:a14="http://schemas.microsoft.com/office/drawing/2010/main">
                <a:solidFill>
                  <a:schemeClr val="bg1"/>
                </a:solidFill>
              </a14:hiddenFill>
            </a:ext>
          </a:extLst>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marL="0" indent="0">
              <a:lnSpc>
                <a:spcPct val="85000"/>
              </a:lnSpc>
              <a:spcBef>
                <a:spcPts val="300"/>
              </a:spcBef>
              <a:spcAft>
                <a:spcPts val="0"/>
              </a:spcAft>
              <a:buNone/>
            </a:pPr>
            <a:r>
              <a:rPr lang="en-US" altLang="en-GB" sz="1900" b="0" dirty="0">
                <a:sym typeface="Symbol" panose="05050102010706020507" charset="0"/>
              </a:rPr>
              <a:t> </a:t>
            </a:r>
            <a:r>
              <a:rPr sz="1900" b="0" dirty="0"/>
              <a:t>There is also the problem of testing software to demonstrate that it is dependable.</a:t>
            </a:r>
            <a:r>
              <a:rPr lang="en-US" sz="1900" b="0" dirty="0"/>
              <a:t> </a:t>
            </a:r>
            <a:r>
              <a:rPr sz="1900" b="0" dirty="0"/>
              <a:t>As software becomes more dependable, </a:t>
            </a:r>
            <a:r>
              <a:rPr lang="en-US" sz="1900" b="0" dirty="0"/>
              <a:t>more and more tests are needed to try and assess how </a:t>
            </a:r>
            <a:r>
              <a:rPr sz="1900" b="0" dirty="0"/>
              <a:t>many problems remain in the software</a:t>
            </a:r>
            <a:r>
              <a:rPr lang="en-US" sz="1900" b="0" dirty="0"/>
              <a:t>, </a:t>
            </a:r>
            <a:r>
              <a:rPr sz="1900" b="0" dirty="0"/>
              <a:t>this</a:t>
            </a:r>
            <a:r>
              <a:rPr lang="en-US" sz="1900" b="0" dirty="0"/>
              <a:t> </a:t>
            </a:r>
            <a:r>
              <a:rPr sz="1900" b="0" dirty="0"/>
              <a:t>can significantly increase the cost of high-dependability systems.</a:t>
            </a:r>
            <a:endParaRPr lang="en-US" altLang="en-GB" sz="1900" b="0" dirty="0">
              <a:sym typeface="Symbol" panose="05050102010706020507" charset="0"/>
            </a:endParaRPr>
          </a:p>
        </p:txBody>
      </p:sp>
    </p:spTree>
  </p:cSld>
  <p:clrMapOvr>
    <a:masterClrMapping/>
  </p:clrMapOvr>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95885" y="798195"/>
            <a:ext cx="8977630" cy="6597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10.2 Sociotechnical systems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社会技术系统</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6995" y="1384935"/>
            <a:ext cx="8986520" cy="484568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One of the fundamental characteristics of a system—it is more than the sum of its parts. </a:t>
            </a:r>
            <a:r>
              <a:rPr lang="en-US" sz="2800" b="0" dirty="0" smtClean="0">
                <a:solidFill>
                  <a:schemeClr val="tx1"/>
                </a:solidFill>
                <a:latin typeface="Calibri" panose="020F0502020204030204" charset="0"/>
                <a:cs typeface="Calibri" panose="020F0502020204030204" charset="0"/>
              </a:rPr>
              <a:t>Systems have properties that become apparent only when their components are integrated and operate together.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系统的基本特性之一：系统大于其部分之和</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Software systems are not isolated systems but are part of more extensive systems that have a human, social, or organizational purpose. Therefore software engineering is not an isolated activity but is an intrinsic part of systems engineering.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软件系统是更广泛系统的组成部分；软件工程是系统工程的固有组成部分。</a:t>
            </a:r>
            <a:endParaRPr lang="en-US" sz="2800" dirty="0" smtClean="0">
              <a:latin typeface="Calibri" panose="020F0502020204030204" charset="0"/>
              <a:cs typeface="Calibri" panose="020F0502020204030204" charset="0"/>
              <a:sym typeface="+mn-ea"/>
            </a:endParaRPr>
          </a:p>
        </p:txBody>
      </p:sp>
    </p:spTree>
  </p:cSld>
  <p:clrMapOvr>
    <a:masterClrMapping/>
  </p:clrMapOvr>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95885" y="798195"/>
            <a:ext cx="8977630" cy="65976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Example: wilderness weather system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举例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6995" y="1456690"/>
            <a:ext cx="8986520" cy="450659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sym typeface="+mn-ea"/>
              </a:rPr>
              <a:t> The wilderness weather system software controls the instruments in a weather station. </a:t>
            </a:r>
            <a:endParaRPr lang="en-US" sz="3200" dirty="0" smtClean="0">
              <a:solidFill>
                <a:schemeClr val="accent2">
                  <a:lumMod val="75000"/>
                </a:schemeClr>
              </a:solidFill>
              <a:latin typeface="Calibri" panose="020F0502020204030204" charset="0"/>
              <a:cs typeface="Calibri" panose="020F0502020204030204" charset="0"/>
              <a:sym typeface="+mn-ea"/>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sym typeface="+mn-ea"/>
              </a:rPr>
              <a:t> It communicates with other software systems and is a part of wider national and international weather forecasting systems. </a:t>
            </a:r>
            <a:endParaRPr lang="en-US" sz="2800" b="0" dirty="0" smtClean="0">
              <a:solidFill>
                <a:schemeClr val="tx1"/>
              </a:solidFill>
              <a:latin typeface="Calibri" panose="020F0502020204030204" charset="0"/>
              <a:cs typeface="Calibri" panose="020F0502020204030204" charset="0"/>
              <a:sym typeface="+mn-ea"/>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sym typeface="+mn-ea"/>
              </a:rPr>
              <a:t> As well as hardware and software, these systems include processes for forecasting the weather and people who operate the system and analyze its outputs. </a:t>
            </a:r>
            <a:endParaRPr lang="en-US" sz="2800" b="0" dirty="0" smtClean="0">
              <a:solidFill>
                <a:schemeClr val="tx1"/>
              </a:solidFill>
              <a:latin typeface="Calibri" panose="020F0502020204030204" charset="0"/>
              <a:cs typeface="Calibri" panose="020F0502020204030204" charset="0"/>
              <a:sym typeface="+mn-ea"/>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sym typeface="+mn-ea"/>
              </a:rPr>
              <a:t> The system also includes the organizations that depend on the system to help them provide weather forecasts to individuals, government and industry.</a:t>
            </a:r>
            <a:endParaRPr lang="en-US" sz="2800" b="0" dirty="0" smtClean="0">
              <a:solidFill>
                <a:schemeClr val="tx1"/>
              </a:solidFill>
              <a:latin typeface="Calibri" panose="020F0502020204030204" charset="0"/>
              <a:cs typeface="Calibri" panose="020F0502020204030204" charset="0"/>
              <a:sym typeface="+mn-ea"/>
            </a:endParaRPr>
          </a:p>
        </p:txBody>
      </p:sp>
    </p:spTree>
  </p:cSld>
  <p:clrMapOvr>
    <a:masterClrMapping/>
  </p:clrMapOvr>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95885" y="733425"/>
            <a:ext cx="8977630" cy="93853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Concept: </a:t>
            </a:r>
            <a:r>
              <a:rPr lang="zh-CN" altLang="en-US" sz="3200" dirty="0">
                <a:solidFill>
                  <a:schemeClr val="accent1">
                    <a:lumMod val="75000"/>
                  </a:schemeClr>
                </a:solidFill>
                <a:ea typeface="宋体" panose="02010600030101010101" pitchFamily="2" charset="-122"/>
                <a:sym typeface="+mn-ea"/>
              </a:rPr>
              <a:t>Sociotechnical systems</a:t>
            </a:r>
            <a:r>
              <a:rPr lang="en-US" altLang="zh-CN" sz="30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社会技术系统概念</a:t>
            </a:r>
            <a:endParaRPr lang="en-US" altLang="zh-CN"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86995" y="1671955"/>
            <a:ext cx="8986520" cy="485013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These broader systems are called sociotechnical systems.</a:t>
            </a:r>
            <a:r>
              <a:rPr lang="en-US" sz="2800" b="0" dirty="0" smtClean="0">
                <a:solidFill>
                  <a:schemeClr val="tx1"/>
                </a:solidFill>
                <a:latin typeface="Calibri" panose="020F0502020204030204" charset="0"/>
                <a:cs typeface="Calibri" panose="020F0502020204030204" charset="0"/>
              </a:rPr>
              <a:t> They include nontechnical elements such as people, processes, and regulations, as well as technical components such as computers, software, and other equipment.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这些更一般的系统称为社会技术系统</a:t>
            </a:r>
            <a:endParaRPr lang="en-US" sz="2800" b="0" dirty="0" smtClean="0">
              <a:solidFill>
                <a:schemeClr val="tx1"/>
              </a:solidFill>
              <a:latin typeface="Calibri" panose="020F0502020204030204" charset="0"/>
              <a:cs typeface="Calibri" panose="020F0502020204030204" charset="0"/>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System dependability is influenced by all of the elements in a sociotechnical system—hardware, software, people, and organizations.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系统的可依赖性受社会技术系统的所有基本元素的影响</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Sociotechnical systems are so complex that it is impossible to understand them as a whole.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过于复杂，无法作为整体来理解</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58190"/>
            <a:ext cx="8977630" cy="55689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10.3 Redundancy and diversity</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冗余和多样性</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2705" y="1313180"/>
            <a:ext cx="9014460" cy="521652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Bef>
                <a:spcPts val="600"/>
              </a:spcBef>
              <a:spcAft>
                <a:spcPts val="0"/>
              </a:spcAft>
            </a:pPr>
            <a:r>
              <a:rPr lang="en-US" sz="3200" dirty="0" smtClean="0">
                <a:solidFill>
                  <a:schemeClr val="accent2">
                    <a:lumMod val="75000"/>
                  </a:schemeClr>
                </a:solidFill>
                <a:latin typeface="Calibri" panose="020F0502020204030204" charset="0"/>
                <a:cs typeface="Calibri" panose="020F0502020204030204" charset="0"/>
              </a:rPr>
              <a:t> Strategies to achieve and enhance dependability rely on both redundancy and diversity.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达到可依赖性的策略：冗余和多样性</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Redundancy means that spare capacity is included in a system that can be used if part of that system fails.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冗余</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5000"/>
              </a:lnSpc>
              <a:spcBef>
                <a:spcPts val="600"/>
              </a:spcBef>
              <a:spcAft>
                <a:spcPts val="0"/>
              </a:spcAft>
            </a:pPr>
            <a:r>
              <a:rPr lang="en-US" sz="2800" b="0" dirty="0" smtClean="0">
                <a:solidFill>
                  <a:schemeClr val="tx1"/>
                </a:solidFill>
                <a:latin typeface="Calibri" panose="020F0502020204030204" charset="0"/>
                <a:cs typeface="Calibri" panose="020F0502020204030204" charset="0"/>
              </a:rPr>
              <a:t>Diversity means that redundant components of system are of different types, thus increasing the chances that they will not fail in exactly the same way.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多样性</a:t>
            </a:r>
            <a:endParaRPr lang="en-US" sz="2800" b="0" dirty="0" smtClean="0">
              <a:solidFill>
                <a:schemeClr val="tx1"/>
              </a:solidFill>
              <a:latin typeface="Calibri" panose="020F0502020204030204" charset="0"/>
              <a:cs typeface="Calibri" panose="020F0502020204030204" charset="0"/>
            </a:endParaRPr>
          </a:p>
          <a:p>
            <a:pPr marL="342900" lvl="0" indent="-342900">
              <a:lnSpc>
                <a:spcPct val="85000"/>
              </a:lnSpc>
              <a:spcBef>
                <a:spcPts val="600"/>
              </a:spcBef>
              <a:spcAft>
                <a:spcPts val="0"/>
              </a:spcAft>
              <a:buFont typeface="Wingdings" panose="05000000000000000000" charset="0"/>
              <a:buChar char="²"/>
            </a:pPr>
            <a:r>
              <a:rPr lang="en-US" sz="3200" dirty="0" smtClean="0">
                <a:solidFill>
                  <a:schemeClr val="accent2">
                    <a:lumMod val="75000"/>
                  </a:schemeClr>
                </a:solidFill>
                <a:latin typeface="Calibri" panose="020F0502020204030204" charset="0"/>
                <a:cs typeface="Calibri" panose="020F0502020204030204" charset="0"/>
              </a:rPr>
              <a:t> We use redundancy and diversity to enhance dependability in our everyday lives.</a:t>
            </a:r>
            <a:r>
              <a:rPr lang="en-US" sz="2800" b="0" dirty="0" smtClean="0">
                <a:solidFill>
                  <a:schemeClr val="tx1"/>
                </a:solidFill>
                <a:latin typeface="Calibri" panose="020F0502020204030204" charset="0"/>
                <a:cs typeface="Calibri" panose="020F0502020204030204" charset="0"/>
              </a:rPr>
              <a:t> We should back up our computers to maintain redundant copies of our data. To avoid problems with disk failure, backups should be kept on a separate, diverse, external device.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例子</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zh-CN" altLang="en-US" sz="3200" dirty="0">
                <a:solidFill>
                  <a:schemeClr val="accent1">
                    <a:lumMod val="75000"/>
                  </a:schemeClr>
                </a:solidFill>
                <a:ea typeface="宋体" panose="02010600030101010101" pitchFamily="2" charset="-122"/>
                <a:sym typeface="+mn-ea"/>
              </a:rPr>
              <a:t> </a:t>
            </a:r>
            <a:r>
              <a:rPr lang="en-US" altLang="zh-CN" sz="3200" dirty="0">
                <a:solidFill>
                  <a:schemeClr val="accent1">
                    <a:lumMod val="75000"/>
                  </a:schemeClr>
                </a:solidFill>
                <a:ea typeface="宋体" panose="02010600030101010101" pitchFamily="2" charset="-122"/>
                <a:sym typeface="+mn-ea"/>
              </a:rPr>
              <a:t>D</a:t>
            </a:r>
            <a:r>
              <a:rPr lang="zh-CN" altLang="en-US" sz="3200" dirty="0">
                <a:solidFill>
                  <a:schemeClr val="accent1">
                    <a:lumMod val="75000"/>
                  </a:schemeClr>
                </a:solidFill>
                <a:ea typeface="宋体" panose="02010600030101010101" pitchFamily="2" charset="-122"/>
                <a:sym typeface="+mn-ea"/>
              </a:rPr>
              <a:t>esigned for dependability</a:t>
            </a:r>
            <a:r>
              <a:rPr lang="en-US" altLang="zh-CN" sz="3200" dirty="0">
                <a:solidFill>
                  <a:schemeClr val="accent1">
                    <a:lumMod val="75000"/>
                  </a:schemeClr>
                </a:solidFill>
                <a:ea typeface="宋体" panose="02010600030101010101" pitchFamily="2" charset="-122"/>
                <a:sym typeface="+mn-ea"/>
              </a:rPr>
              <a:t>  </a:t>
            </a:r>
            <a:r>
              <a:rPr lang="zh-CN" altLang="en-US" sz="2400" dirty="0">
                <a:solidFill>
                  <a:schemeClr val="accent1">
                    <a:lumMod val="75000"/>
                  </a:schemeClr>
                </a:solidFill>
                <a:latin typeface="黑体" panose="02010609060101010101" pitchFamily="49" charset="-122"/>
                <a:ea typeface="黑体" panose="02010609060101010101" pitchFamily="49" charset="-122"/>
                <a:sym typeface="+mn-ea"/>
              </a:rPr>
              <a:t>为</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可依赖性的设计</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48260" y="1241425"/>
            <a:ext cx="9018905" cy="551561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2900" dirty="0" smtClean="0">
                <a:solidFill>
                  <a:schemeClr val="accent2">
                    <a:lumMod val="75000"/>
                  </a:schemeClr>
                </a:solidFill>
                <a:latin typeface="Calibri" panose="020F0502020204030204" charset="0"/>
                <a:cs typeface="Calibri" panose="020F0502020204030204" charset="0"/>
              </a:rPr>
              <a:t> Software systems that are designed for dependability may include redundant components that provide the same functionality.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可加入提供相同系统功能的冗余组件</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700" b="0" dirty="0" smtClean="0">
                <a:solidFill>
                  <a:schemeClr val="tx1"/>
                </a:solidFill>
                <a:latin typeface="Calibri" panose="020F0502020204030204" charset="0"/>
                <a:cs typeface="Calibri" panose="020F0502020204030204" charset="0"/>
              </a:rPr>
              <a:t>These are switched into the system if the primary component fails. If these redundant components are diverse, a common fault in replicated components will not result in a system failure.</a:t>
            </a:r>
            <a:r>
              <a:rPr lang="en-US"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若主构件失效,则切换入系统;若有多样性,就不会导致相同失效</a:t>
            </a:r>
            <a:endParaRPr lang="en-US" sz="2800" b="0" dirty="0" smtClean="0">
              <a:solidFill>
                <a:schemeClr val="tx1"/>
              </a:solidFill>
              <a:latin typeface="Calibri" panose="020F0502020204030204" charset="0"/>
              <a:cs typeface="Calibri" panose="020F0502020204030204" charset="0"/>
            </a:endParaRPr>
          </a:p>
          <a:p>
            <a:pPr marL="342900" lvl="0" indent="-342900">
              <a:lnSpc>
                <a:spcPct val="82000"/>
              </a:lnSpc>
              <a:spcBef>
                <a:spcPts val="600"/>
              </a:spcBef>
              <a:spcAft>
                <a:spcPts val="0"/>
              </a:spcAft>
              <a:buFont typeface="Wingdings" panose="05000000000000000000" charset="0"/>
              <a:buChar char="²"/>
            </a:pPr>
            <a:r>
              <a:rPr lang="en-US" sz="2900" dirty="0" smtClean="0">
                <a:solidFill>
                  <a:schemeClr val="accent2">
                    <a:lumMod val="75000"/>
                  </a:schemeClr>
                </a:solidFill>
                <a:latin typeface="Calibri" panose="020F0502020204030204" charset="0"/>
                <a:cs typeface="Calibri" panose="020F0502020204030204" charset="0"/>
              </a:rPr>
              <a:t> Another form of redundancy is the inclusion of checking code, which is not strictly necessary for the system to function.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另一种冗余，</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sym typeface="+mn-ea"/>
              </a:rPr>
              <a:t>可加入检查代码</a:t>
            </a:r>
            <a:endParaRPr lang="zh-CN" altLang="en-US" sz="2700" kern="0" dirty="0">
              <a:solidFill>
                <a:schemeClr val="accent1">
                  <a:lumMod val="75000"/>
                </a:schemeClr>
              </a:solidFill>
              <a:latin typeface="黑体" panose="02010609060101010101" pitchFamily="49" charset="-122"/>
              <a:ea typeface="黑体" panose="02010609060101010101" pitchFamily="49" charset="-122"/>
              <a:cs typeface="+mn-cs"/>
            </a:endParaRPr>
          </a:p>
          <a:p>
            <a:pPr marL="742950" lvl="1" indent="-285750">
              <a:lnSpc>
                <a:spcPct val="82000"/>
              </a:lnSpc>
              <a:spcBef>
                <a:spcPts val="600"/>
              </a:spcBef>
              <a:spcAft>
                <a:spcPts val="0"/>
              </a:spcAft>
              <a:buFont typeface="Wingdings" panose="05000000000000000000" charset="0"/>
              <a:buChar char="§"/>
            </a:pPr>
            <a:r>
              <a:rPr lang="en-US" sz="2700" b="0" dirty="0" smtClean="0">
                <a:solidFill>
                  <a:schemeClr val="tx1"/>
                </a:solidFill>
                <a:latin typeface="Calibri" panose="020F0502020204030204" charset="0"/>
                <a:cs typeface="Calibri" panose="020F0502020204030204" charset="0"/>
              </a:rPr>
              <a:t>This code can detect some kinds of problems, such as data corruption, before they cause failures. It can invoke recovery mechanisms to correct problems to ensure that the system continues to operate.</a:t>
            </a:r>
            <a:r>
              <a:rPr lang="en-US"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检测问题、激发恢复机制</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p:txBody>
      </p:sp>
    </p:spTree>
  </p:cSld>
  <p:clrMapOvr>
    <a:masterClrMapping/>
  </p:clrMapOvr>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000" dirty="0">
                <a:solidFill>
                  <a:schemeClr val="accent1">
                    <a:lumMod val="75000"/>
                  </a:schemeClr>
                </a:solidFill>
                <a:ea typeface="宋体" panose="02010600030101010101" pitchFamily="2" charset="-122"/>
                <a:sym typeface="+mn-ea"/>
              </a:rPr>
              <a:t> Main Uses of redundancy and diversity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主要用途</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80010" y="1241425"/>
            <a:ext cx="8985885" cy="546989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In systems for which availability is a critical requirement, redundant servers are normally used. </a:t>
            </a:r>
            <a:r>
              <a:rPr lang="en-US" sz="2700" b="0" dirty="0" smtClean="0">
                <a:solidFill>
                  <a:schemeClr val="tx1"/>
                </a:solidFill>
                <a:latin typeface="Calibri" panose="020F0502020204030204" charset="0"/>
                <a:cs typeface="Calibri" panose="020F0502020204030204" charset="0"/>
              </a:rPr>
              <a:t>These automatically come into operation if a designated server fails. Sometimes, to ensure that attacks on the system cannot exploit a common vulnerability, these servers may be of different types and may run different operating systems.</a:t>
            </a:r>
            <a:r>
              <a:rPr lang="en-US"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当可用性是关键需求时</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2000"/>
              </a:lnSpc>
              <a:spcAft>
                <a:spcPts val="0"/>
              </a:spcAft>
            </a:pPr>
            <a:r>
              <a:rPr lang="en-US" sz="3100" dirty="0" smtClean="0">
                <a:solidFill>
                  <a:schemeClr val="accent2">
                    <a:lumMod val="75000"/>
                  </a:schemeClr>
                </a:solidFill>
                <a:latin typeface="Calibri" panose="020F0502020204030204" charset="0"/>
                <a:cs typeface="Calibri" panose="020F0502020204030204" charset="0"/>
              </a:rPr>
              <a:t> Diversity and redundancy may also be also used in the design of dependable software development processes.</a:t>
            </a:r>
            <a:r>
              <a:rPr lang="en-US" sz="3200" dirty="0" smtClean="0">
                <a:solidFill>
                  <a:schemeClr val="accent2">
                    <a:lumMod val="75000"/>
                  </a:schemeClr>
                </a:solidFill>
                <a:latin typeface="Calibri" panose="020F0502020204030204" charset="0"/>
                <a:cs typeface="Calibri" panose="020F0502020204030204" charset="0"/>
              </a:rPr>
              <a:t> </a:t>
            </a:r>
            <a:r>
              <a:rPr lang="en-US" sz="2700" b="0" dirty="0" smtClean="0">
                <a:solidFill>
                  <a:schemeClr val="tx1"/>
                </a:solidFill>
                <a:latin typeface="Calibri" panose="020F0502020204030204" charset="0"/>
                <a:cs typeface="Calibri" panose="020F0502020204030204" charset="0"/>
              </a:rPr>
              <a:t>In a dependable process, activities such as software validation do not rely on a single tool or technique. This improves software dependability because it reduces the chances of process failure, where human errors made during the software development process lead to software errors.</a:t>
            </a:r>
            <a:r>
              <a:rPr lang="en-US" sz="2800" b="0" dirty="0" smtClean="0">
                <a:solidFill>
                  <a:schemeClr val="tx1"/>
                </a:solidFill>
                <a:latin typeface="Calibri" panose="020F0502020204030204" charset="0"/>
                <a:cs typeface="Calibri" panose="020F0502020204030204" charset="0"/>
              </a:rPr>
              <a: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当设计可依赖软件开发过程时</a:t>
            </a:r>
            <a:endParaRPr lang="en-US" sz="2800" b="0" dirty="0" smtClean="0">
              <a:solidFill>
                <a:schemeClr val="tx1"/>
              </a:solidFill>
              <a:latin typeface="Calibri" panose="020F0502020204030204" charset="0"/>
              <a:cs typeface="Calibri" panose="020F0502020204030204" charset="0"/>
            </a:endParaRPr>
          </a:p>
        </p:txBody>
      </p:sp>
    </p:spTree>
  </p:cSld>
  <p:clrMapOvr>
    <a:masterClrMapping/>
  </p:clrMapOvr>
  <p:transition/>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chemeClr val="accent1">
                    <a:lumMod val="75000"/>
                  </a:schemeClr>
                </a:solidFill>
                <a:ea typeface="宋体" panose="02010600030101010101" pitchFamily="2" charset="-122"/>
                <a:sym typeface="+mn-ea"/>
              </a:rPr>
              <a:t> 10.4 </a:t>
            </a:r>
            <a:r>
              <a:rPr lang="zh-CN" altLang="en-US" sz="3200" dirty="0">
                <a:solidFill>
                  <a:schemeClr val="accent1">
                    <a:lumMod val="75000"/>
                  </a:schemeClr>
                </a:solidFill>
                <a:ea typeface="宋体" panose="02010600030101010101" pitchFamily="2" charset="-122"/>
                <a:sym typeface="+mn-ea"/>
              </a:rPr>
              <a:t>Dependable processes</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可依赖的过程</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3" name="Content Placeholder 2"/>
          <p:cNvSpPr>
            <a:spLocks noGrp="1"/>
          </p:cNvSpPr>
          <p:nvPr/>
        </p:nvSpPr>
        <p:spPr>
          <a:xfrm>
            <a:off x="71755" y="1384935"/>
            <a:ext cx="8994775" cy="4996815"/>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Dependable software processes are software processes that are designed to produce dependable software.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含义</a:t>
            </a:r>
            <a:r>
              <a:rPr lang="en-US" altLang="zh-CN" sz="2400" kern="0" dirty="0">
                <a:solidFill>
                  <a:schemeClr val="accent1">
                    <a:lumMod val="75000"/>
                  </a:schemeClr>
                </a:solidFill>
                <a:latin typeface="黑体" panose="02010609060101010101" pitchFamily="49" charset="-122"/>
                <a:ea typeface="黑体" panose="02010609060101010101" pitchFamily="49" charset="-122"/>
                <a:cs typeface="+mn-cs"/>
              </a:rPr>
              <a:t>:</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产生可依赖软件的软件过程</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a:lnSpc>
                <a:spcPct val="85000"/>
              </a:lnSpc>
              <a:spcAft>
                <a:spcPts val="0"/>
              </a:spcAft>
            </a:pPr>
            <a:r>
              <a:rPr lang="en-US" sz="3200" dirty="0" smtClean="0">
                <a:solidFill>
                  <a:schemeClr val="accent2">
                    <a:lumMod val="75000"/>
                  </a:schemeClr>
                </a:solidFill>
                <a:latin typeface="Calibri" panose="020F0502020204030204" charset="0"/>
                <a:cs typeface="Calibri" panose="020F0502020204030204" charset="0"/>
              </a:rPr>
              <a:t> The rationale for investing in dependable processes is that a good software process is likely to lead to delivered software that contains fewer errors and is therefore less likely to fail in execution. </a:t>
            </a:r>
            <a:r>
              <a:rPr lang="en-US" sz="2800" b="0" dirty="0" smtClean="0">
                <a:solidFill>
                  <a:schemeClr val="tx1"/>
                </a:solidFill>
                <a:latin typeface="Calibri" panose="020F0502020204030204" charset="0"/>
                <a:cs typeface="Calibri" panose="020F0502020204030204" charset="0"/>
              </a:rPr>
              <a:t>A company using a dependable process can be sure that the process has been properly enacted and documented and that appropriate development techniques have been used for critical systems development.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投资可依赖过程的根本原因</a:t>
            </a:r>
            <a:r>
              <a:rPr lang="en-US" sz="3100" dirty="0" smtClean="0">
                <a:solidFill>
                  <a:schemeClr val="accent2">
                    <a:lumMod val="75000"/>
                  </a:schemeClr>
                </a:solidFill>
                <a:latin typeface="Calibri" panose="020F0502020204030204" charset="0"/>
                <a:cs typeface="Calibri" panose="020F0502020204030204" charset="0"/>
              </a:rPr>
              <a:t> </a:t>
            </a:r>
            <a:endParaRPr lang="en-US" sz="3100" dirty="0" smtClean="0">
              <a:solidFill>
                <a:schemeClr val="accent2">
                  <a:lumMod val="75000"/>
                </a:schemeClr>
              </a:solidFill>
              <a:latin typeface="Calibri" panose="020F0502020204030204" charset="0"/>
              <a:cs typeface="Calibri" panose="020F0502020204030204" charset="0"/>
            </a:endParaRPr>
          </a:p>
        </p:txBody>
      </p:sp>
    </p:spTree>
  </p:cSld>
  <p:clrMapOvr>
    <a:masterClrMapping/>
  </p:clrMapOvr>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977630" cy="609600"/>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Attributes of dependable processes</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graphicFrame>
        <p:nvGraphicFramePr>
          <p:cNvPr id="6" name="Table 5"/>
          <p:cNvGraphicFramePr>
            <a:graphicFrameLocks noGrp="1"/>
          </p:cNvGraphicFramePr>
          <p:nvPr>
            <p:custDataLst>
              <p:tags r:id="rId3"/>
            </p:custDataLst>
          </p:nvPr>
        </p:nvGraphicFramePr>
        <p:xfrm>
          <a:off x="138430" y="1286510"/>
          <a:ext cx="8852535" cy="5387975"/>
        </p:xfrm>
        <a:graphic>
          <a:graphicData uri="http://schemas.openxmlformats.org/drawingml/2006/table">
            <a:tbl>
              <a:tblPr firstRow="1" bandRow="1">
                <a:effectLst/>
                <a:tableStyleId>{5940675A-B579-460E-94D1-54222C63F5DA}</a:tableStyleId>
              </a:tblPr>
              <a:tblGrid>
                <a:gridCol w="1966595"/>
                <a:gridCol w="6885940"/>
              </a:tblGrid>
              <a:tr h="755650">
                <a:tc>
                  <a:txBody>
                    <a:bodyPr/>
                    <a:p>
                      <a:pPr algn="ctr">
                        <a:spcAft>
                          <a:spcPts val="0"/>
                        </a:spcAft>
                      </a:pPr>
                      <a:r>
                        <a:rPr lang="en-GB" sz="2000" b="1" dirty="0">
                          <a:solidFill>
                            <a:schemeClr val="bg1"/>
                          </a:solidFill>
                          <a:latin typeface="Helvetica"/>
                          <a:ea typeface="Times New Roman" panose="02020603050405020304"/>
                          <a:cs typeface="Helvetica"/>
                        </a:rPr>
                        <a:t>Process characteristic</a:t>
                      </a:r>
                      <a:endParaRPr lang="en-GB" sz="2000" b="1" dirty="0">
                        <a:solidFill>
                          <a:schemeClr val="bg1"/>
                        </a:solidFill>
                        <a:latin typeface="Helvetica"/>
                        <a:ea typeface="Times New Roman" panose="02020603050405020304"/>
                        <a:cs typeface="Helvetica"/>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c>
                  <a:txBody>
                    <a:bodyPr/>
                    <a:p>
                      <a:pPr algn="ctr">
                        <a:spcAft>
                          <a:spcPts val="0"/>
                        </a:spcAft>
                      </a:pPr>
                      <a:r>
                        <a:rPr lang="en-GB" sz="2000" b="1" dirty="0" smtClean="0">
                          <a:solidFill>
                            <a:schemeClr val="bg1"/>
                          </a:solidFill>
                          <a:latin typeface="Helvetica"/>
                          <a:ea typeface="Times New Roman" panose="02020603050405020304"/>
                          <a:cs typeface="Helvetica"/>
                        </a:rPr>
                        <a:t>Description</a:t>
                      </a:r>
                      <a:endParaRPr lang="en-GB" sz="2000" b="1" dirty="0" smtClean="0">
                        <a:solidFill>
                          <a:schemeClr val="bg1"/>
                        </a:solidFill>
                        <a:latin typeface="Helvetica"/>
                        <a:ea typeface="Times New Roman" panose="02020603050405020304"/>
                        <a:cs typeface="Helvetica"/>
                      </a:endParaRPr>
                    </a:p>
                  </a:txBody>
                  <a:tcPr marL="73025" marR="73025" marT="73025" marB="73025">
                    <a:lnL w="12700" cmpd="sng">
                      <a:solidFill>
                        <a:sysClr val="window" lastClr="FFFFFF"/>
                      </a:solidFill>
                    </a:lnL>
                    <a:lnR w="12700" cmpd="sng">
                      <a:solidFill>
                        <a:sysClr val="window" lastClr="FFFFFF"/>
                      </a:solidFill>
                    </a:lnR>
                    <a:lnT w="12700" cmpd="sng">
                      <a:solidFill>
                        <a:sysClr val="window" lastClr="FFFFFF"/>
                      </a:solidFill>
                    </a:lnT>
                    <a:lnB w="38100" cmpd="sng">
                      <a:solidFill>
                        <a:sysClr val="window" lastClr="FFFFFF"/>
                      </a:solidFill>
                    </a:lnB>
                    <a:solidFill>
                      <a:srgbClr val="4F81BD"/>
                    </a:solidFill>
                  </a:tcPr>
                </a:tc>
              </a:tr>
              <a:tr h="1292225">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Auditable</a:t>
                      </a:r>
                      <a:r>
                        <a:rPr lang="en-US" altLang="en-GB" sz="2000" dirty="0">
                          <a:solidFill>
                            <a:srgbClr val="000000"/>
                          </a:solidFill>
                          <a:latin typeface="Helvetica"/>
                          <a:ea typeface="Times New Roman" panose="02020603050405020304"/>
                          <a:cs typeface="Helvetica"/>
                        </a:rPr>
                        <a:t>        </a:t>
                      </a:r>
                      <a:r>
                        <a:rPr lang="zh-CN" altLang="en-GB" sz="2000" dirty="0">
                          <a:solidFill>
                            <a:schemeClr val="accent5">
                              <a:lumMod val="50000"/>
                            </a:schemeClr>
                          </a:solidFill>
                          <a:latin typeface="黑体" panose="02010609060101010101" pitchFamily="49" charset="-122"/>
                          <a:ea typeface="黑体" panose="02010609060101010101" pitchFamily="49" charset="-122"/>
                          <a:cs typeface="Helvetica"/>
                        </a:rPr>
                        <a:t>可审计</a:t>
                      </a:r>
                      <a:endParaRPr lang="zh-CN" altLang="en-GB" sz="2000" dirty="0">
                        <a:solidFill>
                          <a:schemeClr val="accent5">
                            <a:lumMod val="50000"/>
                          </a:schemeClr>
                        </a:solidFill>
                        <a:latin typeface="黑体" panose="02010609060101010101" pitchFamily="49" charset="-122"/>
                        <a:ea typeface="黑体" panose="02010609060101010101" pitchFamily="49" charset="-122"/>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The process should be understandable by people apart from process participants, who can check that process standards are being followed and make suggestions for process improvement.</a:t>
                      </a:r>
                      <a:endParaRPr lang="en-GB" sz="2000" dirty="0">
                        <a:solidFill>
                          <a:srgbClr val="000000"/>
                        </a:solidFill>
                        <a:latin typeface="Helvetica"/>
                        <a:ea typeface="Times New Roman" panose="02020603050405020304"/>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682625">
                <a:tc>
                  <a:txBody>
                    <a:bodyPr/>
                    <a:p>
                      <a:pPr algn="l">
                        <a:spcBef>
                          <a:spcPts val="600"/>
                        </a:spcBef>
                        <a:spcAft>
                          <a:spcPts val="0"/>
                        </a:spcAft>
                      </a:pPr>
                      <a:r>
                        <a:rPr lang="en-GB" sz="2000">
                          <a:solidFill>
                            <a:srgbClr val="000000"/>
                          </a:solidFill>
                          <a:latin typeface="Helvetica"/>
                          <a:ea typeface="Times New Roman" panose="02020603050405020304"/>
                          <a:cs typeface="Helvetica"/>
                        </a:rPr>
                        <a:t>Diverse</a:t>
                      </a:r>
                      <a:r>
                        <a:rPr lang="en-US" altLang="en-GB" sz="2000">
                          <a:solidFill>
                            <a:srgbClr val="000000"/>
                          </a:solidFill>
                          <a:latin typeface="Helvetica"/>
                          <a:ea typeface="Times New Roman" panose="02020603050405020304"/>
                          <a:cs typeface="Helvetica"/>
                        </a:rPr>
                        <a:t> </a:t>
                      </a:r>
                      <a:r>
                        <a:rPr lang="zh-CN" altLang="en-GB" sz="2000" dirty="0">
                          <a:solidFill>
                            <a:schemeClr val="accent5">
                              <a:lumMod val="50000"/>
                            </a:schemeClr>
                          </a:solidFill>
                          <a:latin typeface="黑体" panose="02010609060101010101" pitchFamily="49" charset="-122"/>
                          <a:ea typeface="黑体" panose="02010609060101010101" pitchFamily="49" charset="-122"/>
                          <a:cs typeface="Helvetica"/>
                        </a:rPr>
                        <a:t>多样性</a:t>
                      </a:r>
                      <a:endParaRPr lang="zh-CN" altLang="en-GB" sz="2000">
                        <a:solidFill>
                          <a:srgbClr val="000000"/>
                        </a:solidFill>
                        <a:latin typeface="Helvetica"/>
                        <a:ea typeface="宋体" panose="02010600030101010101" pitchFamily="2" charset="-122"/>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The process should include redundant and diverse verification and validation activities.</a:t>
                      </a:r>
                      <a:endParaRPr lang="en-GB" sz="2000" dirty="0">
                        <a:solidFill>
                          <a:srgbClr val="000000"/>
                        </a:solidFill>
                        <a:latin typeface="Helvetica"/>
                        <a:ea typeface="Times New Roman" panose="02020603050405020304"/>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987425">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Documentable</a:t>
                      </a:r>
                      <a:r>
                        <a:rPr lang="zh-CN" altLang="en-GB" sz="2000" dirty="0">
                          <a:solidFill>
                            <a:schemeClr val="accent5">
                              <a:lumMod val="50000"/>
                            </a:schemeClr>
                          </a:solidFill>
                          <a:latin typeface="黑体" panose="02010609060101010101" pitchFamily="49" charset="-122"/>
                          <a:ea typeface="黑体" panose="02010609060101010101" pitchFamily="49" charset="-122"/>
                          <a:cs typeface="Helvetica"/>
                        </a:rPr>
                        <a:t>可文档化</a:t>
                      </a:r>
                      <a:endParaRPr lang="zh-CN" altLang="en-GB" sz="2000" dirty="0">
                        <a:solidFill>
                          <a:srgbClr val="000000"/>
                        </a:solidFill>
                        <a:latin typeface="Helvetica"/>
                        <a:ea typeface="宋体" panose="02010600030101010101" pitchFamily="2" charset="-122"/>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The process should have a defined process model that sets out the activities in the process and the documentation that is to be produced during these activities.</a:t>
                      </a:r>
                      <a:endParaRPr lang="en-GB" sz="2000" dirty="0">
                        <a:solidFill>
                          <a:srgbClr val="000000"/>
                        </a:solidFill>
                        <a:latin typeface="Helvetica"/>
                        <a:ea typeface="Times New Roman" panose="02020603050405020304"/>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r h="682625">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Robust</a:t>
                      </a:r>
                      <a:r>
                        <a:rPr lang="en-US" altLang="en-GB" sz="2000" dirty="0">
                          <a:solidFill>
                            <a:srgbClr val="000000"/>
                          </a:solidFill>
                          <a:latin typeface="Helvetica"/>
                          <a:ea typeface="Times New Roman" panose="02020603050405020304"/>
                          <a:cs typeface="Helvetica"/>
                        </a:rPr>
                        <a:t> </a:t>
                      </a:r>
                      <a:r>
                        <a:rPr lang="zh-CN" altLang="en-GB" sz="2000" dirty="0">
                          <a:solidFill>
                            <a:schemeClr val="accent5">
                              <a:lumMod val="50000"/>
                            </a:schemeClr>
                          </a:solidFill>
                          <a:latin typeface="黑体" panose="02010609060101010101" pitchFamily="49" charset="-122"/>
                          <a:ea typeface="黑体" panose="02010609060101010101" pitchFamily="49" charset="-122"/>
                          <a:cs typeface="Helvetica"/>
                        </a:rPr>
                        <a:t>鲁棒性</a:t>
                      </a:r>
                      <a:endParaRPr lang="zh-CN" altLang="en-GB" sz="2000" dirty="0">
                        <a:solidFill>
                          <a:schemeClr val="accent5">
                            <a:lumMod val="50000"/>
                          </a:schemeClr>
                        </a:solidFill>
                        <a:latin typeface="黑体" panose="02010609060101010101" pitchFamily="49" charset="-122"/>
                        <a:ea typeface="黑体" panose="02010609060101010101" pitchFamily="49" charset="-122"/>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The process should be able to recover from failures of individual process activities.</a:t>
                      </a:r>
                      <a:endParaRPr lang="en-GB" sz="2000" dirty="0">
                        <a:solidFill>
                          <a:srgbClr val="000000"/>
                        </a:solidFill>
                        <a:latin typeface="Helvetica"/>
                        <a:ea typeface="Times New Roman" panose="02020603050405020304"/>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20000"/>
                      </a:srgbClr>
                    </a:solidFill>
                  </a:tcPr>
                </a:tc>
              </a:tr>
              <a:tr h="987425">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Standardized</a:t>
                      </a:r>
                      <a:r>
                        <a:rPr lang="en-US" altLang="en-GB" sz="2000" dirty="0">
                          <a:solidFill>
                            <a:srgbClr val="000000"/>
                          </a:solidFill>
                          <a:latin typeface="Helvetica"/>
                          <a:ea typeface="Times New Roman" panose="02020603050405020304"/>
                          <a:cs typeface="Helvetica"/>
                        </a:rPr>
                        <a:t>  </a:t>
                      </a:r>
                      <a:r>
                        <a:rPr lang="zh-CN" altLang="en-GB" sz="2000" dirty="0">
                          <a:solidFill>
                            <a:schemeClr val="accent5">
                              <a:lumMod val="50000"/>
                            </a:schemeClr>
                          </a:solidFill>
                          <a:latin typeface="黑体" panose="02010609060101010101" pitchFamily="49" charset="-122"/>
                          <a:ea typeface="黑体" panose="02010609060101010101" pitchFamily="49" charset="-122"/>
                          <a:cs typeface="Helvetica"/>
                        </a:rPr>
                        <a:t>标准化</a:t>
                      </a:r>
                      <a:endParaRPr lang="zh-CN" altLang="en-GB" sz="2000" dirty="0">
                        <a:solidFill>
                          <a:schemeClr val="accent5">
                            <a:lumMod val="50000"/>
                          </a:schemeClr>
                        </a:solidFill>
                        <a:latin typeface="黑体" panose="02010609060101010101" pitchFamily="49" charset="-122"/>
                        <a:ea typeface="黑体" panose="02010609060101010101" pitchFamily="49" charset="-122"/>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c>
                  <a:txBody>
                    <a:bodyPr/>
                    <a:p>
                      <a:pPr algn="l">
                        <a:spcBef>
                          <a:spcPts val="600"/>
                        </a:spcBef>
                        <a:spcAft>
                          <a:spcPts val="0"/>
                        </a:spcAft>
                      </a:pPr>
                      <a:r>
                        <a:rPr lang="en-GB" sz="2000" dirty="0">
                          <a:solidFill>
                            <a:srgbClr val="000000"/>
                          </a:solidFill>
                          <a:latin typeface="Helvetica"/>
                          <a:ea typeface="Times New Roman" panose="02020603050405020304"/>
                          <a:cs typeface="Helvetica"/>
                        </a:rPr>
                        <a:t>A comprehensive set of software development standards covering software production and documentation should be available.</a:t>
                      </a:r>
                      <a:endParaRPr lang="en-GB" sz="2000" dirty="0">
                        <a:solidFill>
                          <a:srgbClr val="000000"/>
                        </a:solidFill>
                        <a:latin typeface="Helvetica"/>
                        <a:ea typeface="Times New Roman" panose="02020603050405020304"/>
                        <a:cs typeface="Helvetica"/>
                      </a:endParaRPr>
                    </a:p>
                  </a:txBody>
                  <a:tcPr marL="73025" marR="73025" marT="0" marB="73025">
                    <a:lnL w="12700" cmpd="sng">
                      <a:solidFill>
                        <a:sysClr val="window" lastClr="FFFFFF"/>
                      </a:solidFill>
                    </a:lnL>
                    <a:lnR w="12700" cmpd="sng">
                      <a:solidFill>
                        <a:sysClr val="window" lastClr="FFFFFF"/>
                      </a:solidFill>
                    </a:lnR>
                    <a:lnT w="12700" cmpd="sng">
                      <a:solidFill>
                        <a:sysClr val="window" lastClr="FFFFFF"/>
                      </a:solidFill>
                    </a:lnT>
                    <a:lnB w="12700" cmpd="sng">
                      <a:solidFill>
                        <a:sysClr val="window" lastClr="FFFFFF"/>
                      </a:solidFill>
                    </a:lnB>
                    <a:solidFill>
                      <a:srgbClr val="4F81BD">
                        <a:tint val="40000"/>
                      </a:srgbClr>
                    </a:solidFill>
                  </a:tcPr>
                </a:tc>
              </a:tr>
            </a:tbl>
          </a:graphicData>
        </a:graphic>
      </p:graphicFrame>
    </p:spTree>
  </p:cSld>
  <p:clrMapOvr>
    <a:masterClrMapping/>
  </p:clrMapOvr>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05485"/>
            <a:ext cx="8977630" cy="51625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2800" dirty="0">
                <a:solidFill>
                  <a:srgbClr val="0070C0"/>
                </a:solidFill>
                <a:ea typeface="宋体" panose="02010600030101010101" pitchFamily="2" charset="-122"/>
                <a:sym typeface="+mn-ea"/>
              </a:rPr>
              <a:t> </a:t>
            </a:r>
            <a:r>
              <a:rPr lang="zh-CN" altLang="en-US" sz="2800" dirty="0">
                <a:solidFill>
                  <a:schemeClr val="accent1">
                    <a:lumMod val="75000"/>
                  </a:schemeClr>
                </a:solidFill>
                <a:ea typeface="宋体" panose="02010600030101010101" pitchFamily="2" charset="-122"/>
                <a:sym typeface="+mn-ea"/>
              </a:rPr>
              <a:t>Dependable process characteristics</a:t>
            </a:r>
            <a:r>
              <a:rPr lang="en-US" altLang="zh-CN" sz="28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可依赖过程特性</a:t>
            </a:r>
            <a:endParaRPr lang="zh-CN" altLang="en-US" dirty="0">
              <a:solidFill>
                <a:schemeClr val="accent1">
                  <a:lumMod val="75000"/>
                </a:schemeClr>
              </a:solidFill>
              <a:latin typeface="黑体" panose="02010609060101010101" pitchFamily="49" charset="-122"/>
              <a:ea typeface="黑体" panose="02010609060101010101" pitchFamily="49"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
        <p:nvSpPr>
          <p:cNvPr id="2" name="Content Placeholder 2"/>
          <p:cNvSpPr>
            <a:spLocks noGrp="1"/>
          </p:cNvSpPr>
          <p:nvPr/>
        </p:nvSpPr>
        <p:spPr>
          <a:xfrm>
            <a:off x="58420" y="1169670"/>
            <a:ext cx="9023350" cy="5600700"/>
          </a:xfrm>
          <a:prstGeom prst="rect">
            <a:avLst/>
          </a:prstGeom>
        </p:spPr>
        <p:txBody>
          <a:bodyPr/>
          <a:lstStyle>
            <a:lvl1pPr marL="342900" indent="-342900" algn="l" defTabSz="457200" rtl="0" eaLnBrk="1" fontAlgn="base" hangingPunct="1">
              <a:spcBef>
                <a:spcPts val="600"/>
              </a:spcBef>
              <a:spcAft>
                <a:spcPts val="600"/>
              </a:spcAft>
              <a:buFont typeface="Wingdings" panose="05000000000000000000" pitchFamily="2" charset="2"/>
              <a:buChar char="²"/>
              <a:defRPr sz="2400" kern="1200">
                <a:solidFill>
                  <a:srgbClr val="46424D"/>
                </a:solidFill>
                <a:latin typeface="Arial" panose="020B0604020202020204"/>
                <a:ea typeface="MS PGothic" panose="020B0600070205080204" charset="-128"/>
                <a:cs typeface="Arial" panose="020B0604020202020204"/>
              </a:defRPr>
            </a:lvl1pPr>
            <a:lvl2pPr marL="742950" indent="-285750" algn="l" defTabSz="457200" rtl="0" eaLnBrk="1" fontAlgn="base" hangingPunct="1">
              <a:spcBef>
                <a:spcPts val="300"/>
              </a:spcBef>
              <a:spcAft>
                <a:spcPts val="300"/>
              </a:spcAft>
              <a:buFont typeface="Wingdings" panose="05000000000000000000" pitchFamily="2" charset="2"/>
              <a:buChar char="§"/>
              <a:defRPr sz="2000" kern="1200">
                <a:solidFill>
                  <a:srgbClr val="46424D"/>
                </a:solidFill>
                <a:latin typeface="Arial" panose="020B0604020202020204"/>
                <a:ea typeface="MS PGothic" panose="020B0600070205080204" charset="-128"/>
                <a:cs typeface="Arial" panose="020B0604020202020204"/>
              </a:defRPr>
            </a:lvl2pPr>
            <a:lvl3pPr marL="11430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3pPr>
            <a:lvl4pPr marL="16002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4pPr>
            <a:lvl5pPr marL="2057400" indent="-228600" algn="l" defTabSz="457200" rtl="0" eaLnBrk="1" fontAlgn="base" hangingPunct="1">
              <a:spcBef>
                <a:spcPct val="20000"/>
              </a:spcBef>
              <a:spcAft>
                <a:spcPct val="0"/>
              </a:spcAft>
              <a:buFont typeface="Arial" panose="020B0604020202020204" pitchFamily="34" charset="0"/>
              <a:buChar char="»"/>
              <a:defRPr sz="1800" kern="1200">
                <a:solidFill>
                  <a:srgbClr val="46424D"/>
                </a:solidFill>
                <a:latin typeface="Arial" panose="020B0604020202020204"/>
                <a:ea typeface="MS PGothic" panose="020B0600070205080204" charset="-128"/>
                <a:cs typeface="Arial" panose="020B0604020202020204"/>
              </a:defRPr>
            </a:lvl5pPr>
            <a:lvl6pPr marL="25146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6pPr>
            <a:lvl7pPr marL="29718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7pPr>
            <a:lvl8pPr marL="34290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8pPr>
            <a:lvl9pPr marL="3886200" indent="-228600" algn="l" defTabSz="457200" rtl="0" eaLnBrk="1" latinLnBrk="0" hangingPunct="1">
              <a:spcBef>
                <a:spcPct val="20000"/>
              </a:spcBef>
              <a:buFont typeface="Arial" panose="020B0604020202020204"/>
              <a:buChar char="•"/>
              <a:defRPr sz="2000" kern="1200">
                <a:solidFill>
                  <a:sysClr val="windowText" lastClr="000000"/>
                </a:solidFill>
                <a:latin typeface="Calibri" panose="020F0502020204030204" charset="0"/>
                <a:ea typeface="+mn-ea"/>
                <a:cs typeface="+mn-ea"/>
              </a:defRPr>
            </a:lvl9pPr>
          </a:lstStyle>
          <a:p>
            <a:pPr>
              <a:lnSpc>
                <a:spcPct val="82000"/>
              </a:lnSpc>
              <a:spcBef>
                <a:spcPts val="600"/>
              </a:spcBef>
              <a:spcAft>
                <a:spcPts val="0"/>
              </a:spcAft>
            </a:pPr>
            <a:r>
              <a:rPr lang="en-US" sz="3100" dirty="0" smtClean="0">
                <a:solidFill>
                  <a:schemeClr val="accent2">
                    <a:lumMod val="75000"/>
                  </a:schemeClr>
                </a:solidFill>
                <a:latin typeface="Calibri" panose="020F0502020204030204" charset="0"/>
                <a:cs typeface="Calibri" panose="020F0502020204030204" charset="0"/>
              </a:rPr>
              <a:t> The evidence that a dependable process has been used is often important.</a:t>
            </a:r>
            <a:r>
              <a:rPr lang="en-US" sz="2600" b="0" dirty="0" smtClean="0">
                <a:solidFill>
                  <a:schemeClr val="tx1"/>
                </a:solidFill>
                <a:latin typeface="Calibri" panose="020F0502020204030204" charset="0"/>
                <a:cs typeface="Calibri" panose="020F0502020204030204" charset="0"/>
              </a:rPr>
              <a:t> System developers will normally present a model of the process to a regulator, along with evidence that the process has been followed. The regulator also has to be convinced that the process is used consistently by all of the process participants. This means that the process must be: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可依赖过程被使用的证据通常很重要</a:t>
            </a:r>
            <a:endPar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endParaRPr>
          </a:p>
          <a:p>
            <a:pPr lvl="1">
              <a:lnSpc>
                <a:spcPct val="82000"/>
              </a:lnSpc>
              <a:spcBef>
                <a:spcPts val="600"/>
              </a:spcBef>
              <a:spcAft>
                <a:spcPts val="0"/>
              </a:spcAft>
            </a:pPr>
            <a:r>
              <a:rPr lang="en-US" sz="2700" dirty="0" smtClean="0">
                <a:solidFill>
                  <a:schemeClr val="tx1"/>
                </a:solidFill>
                <a:latin typeface="Calibri" panose="020F0502020204030204" charset="0"/>
                <a:cs typeface="Calibri" panose="020F0502020204030204" charset="0"/>
              </a:rPr>
              <a:t> Explicitly defined</a:t>
            </a:r>
            <a:r>
              <a:rPr lang="en-US" sz="2700" b="0" dirty="0" smtClean="0">
                <a:solidFill>
                  <a:schemeClr val="tx1"/>
                </a:solidFill>
                <a:latin typeface="Calibri" panose="020F0502020204030204" charset="0"/>
                <a:cs typeface="Calibri" panose="020F0502020204030204" charset="0"/>
              </a:rPr>
              <a:t>:</a:t>
            </a:r>
            <a:r>
              <a:rPr lang="en-US" sz="2600" b="0" dirty="0" smtClean="0">
                <a:solidFill>
                  <a:schemeClr val="tx1"/>
                </a:solidFill>
                <a:latin typeface="Calibri" panose="020F0502020204030204" charset="0"/>
                <a:cs typeface="Calibri" panose="020F0502020204030204" charset="0"/>
              </a:rPr>
              <a:t> A process that has a defined process model that is used to drive the software production process. Data must be collected during the process that proves that the development team has followed the process as defined in the process model.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明确定义的</a:t>
            </a:r>
            <a:endParaRPr lang="en-US" sz="2700" b="0" dirty="0" smtClean="0">
              <a:solidFill>
                <a:schemeClr val="tx1"/>
              </a:solidFill>
              <a:latin typeface="Calibri" panose="020F0502020204030204" charset="0"/>
              <a:cs typeface="Calibri" panose="020F0502020204030204" charset="0"/>
            </a:endParaRPr>
          </a:p>
          <a:p>
            <a:pPr lvl="1">
              <a:lnSpc>
                <a:spcPct val="82000"/>
              </a:lnSpc>
              <a:spcBef>
                <a:spcPts val="600"/>
              </a:spcBef>
              <a:spcAft>
                <a:spcPts val="0"/>
              </a:spcAft>
            </a:pPr>
            <a:r>
              <a:rPr lang="en-US" sz="2700" dirty="0" smtClean="0">
                <a:solidFill>
                  <a:schemeClr val="tx1"/>
                </a:solidFill>
                <a:latin typeface="Calibri" panose="020F0502020204030204" charset="0"/>
                <a:cs typeface="Calibri" panose="020F0502020204030204" charset="0"/>
              </a:rPr>
              <a:t> Repeatable:</a:t>
            </a:r>
            <a:r>
              <a:rPr lang="en-US" sz="2600" dirty="0" smtClean="0">
                <a:solidFill>
                  <a:schemeClr val="accent2">
                    <a:lumMod val="75000"/>
                  </a:schemeClr>
                </a:solidFill>
                <a:latin typeface="Calibri" panose="020F0502020204030204" charset="0"/>
                <a:cs typeface="Calibri" panose="020F0502020204030204" charset="0"/>
              </a:rPr>
              <a:t> </a:t>
            </a:r>
            <a:r>
              <a:rPr lang="en-US" sz="2600" b="0" dirty="0" smtClean="0">
                <a:solidFill>
                  <a:schemeClr val="tx1"/>
                </a:solidFill>
                <a:latin typeface="Calibri" panose="020F0502020204030204" charset="0"/>
                <a:cs typeface="Calibri" panose="020F0502020204030204" charset="0"/>
              </a:rPr>
              <a:t>A process that does not rely on individual interpretation and judgment. Rather, the process can be repeated across projects and with different team members.  </a:t>
            </a:r>
            <a:r>
              <a:rPr lang="zh-CN" altLang="en-US" sz="2400" kern="0" dirty="0">
                <a:solidFill>
                  <a:schemeClr val="accent1">
                    <a:lumMod val="75000"/>
                  </a:schemeClr>
                </a:solidFill>
                <a:latin typeface="黑体" panose="02010609060101010101" pitchFamily="49" charset="-122"/>
                <a:ea typeface="黑体" panose="02010609060101010101" pitchFamily="49" charset="-122"/>
                <a:cs typeface="+mn-cs"/>
              </a:rPr>
              <a:t>可重复的</a:t>
            </a:r>
            <a:endParaRPr lang="zh-CN" altLang="en-US" sz="2700" b="0" dirty="0" smtClean="0">
              <a:solidFill>
                <a:schemeClr val="tx1"/>
              </a:solidFill>
              <a:latin typeface="Calibri" panose="020F0502020204030204" charset="0"/>
              <a:ea typeface="宋体" panose="02010600030101010101" pitchFamily="2" charset="-122"/>
              <a:cs typeface="Calibri" panose="020F0502020204030204" charset="0"/>
            </a:endParaRPr>
          </a:p>
        </p:txBody>
      </p:sp>
    </p:spTree>
  </p:cSld>
  <p:clrMapOvr>
    <a:masterClrMapping/>
  </p:clrMapOvr>
  <p:transition/>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5363" name="Rectangle 3"/>
          <p:cNvSpPr>
            <a:spLocks noGrp="1" noRot="1"/>
          </p:cNvSpPr>
          <p:nvPr>
            <p:ph type="subTitle" idx="1"/>
            <p:custDataLst>
              <p:tags r:id="rId1"/>
            </p:custDataLst>
          </p:nvPr>
        </p:nvSpPr>
        <p:spPr>
          <a:xfrm>
            <a:off x="88900" y="777240"/>
            <a:ext cx="8977630" cy="501015"/>
          </a:xfrm>
        </p:spPr>
        <p:txBody>
          <a:bodyPr vert="horz" wrap="square" lIns="91440" tIns="45720" rIns="91440" bIns="45720" anchor="t" anchorCtr="0">
            <a:noAutofit/>
          </a:bodyPr>
          <a:p>
            <a:pPr algn="l" eaLnBrk="1" latinLnBrk="0" hangingPunct="1">
              <a:lnSpc>
                <a:spcPct val="100000"/>
              </a:lnSpc>
              <a:spcBef>
                <a:spcPts val="1200"/>
              </a:spcBef>
              <a:buSzTx/>
              <a:buFont typeface="Wingdings" panose="05000000000000000000" pitchFamily="2" charset="2"/>
              <a:buChar char="§"/>
            </a:pPr>
            <a:r>
              <a:rPr lang="en-US" altLang="zh-CN" sz="3200" dirty="0">
                <a:solidFill>
                  <a:srgbClr val="0070C0"/>
                </a:solidFill>
                <a:ea typeface="宋体" panose="02010600030101010101" pitchFamily="2" charset="-122"/>
                <a:sym typeface="+mn-ea"/>
              </a:rPr>
              <a:t> </a:t>
            </a:r>
            <a:r>
              <a:rPr lang="zh-CN" altLang="en-US" sz="3200" dirty="0">
                <a:solidFill>
                  <a:schemeClr val="accent1">
                    <a:lumMod val="75000"/>
                  </a:schemeClr>
                </a:solidFill>
                <a:ea typeface="宋体" panose="02010600030101010101" pitchFamily="2" charset="-122"/>
                <a:sym typeface="+mn-ea"/>
              </a:rPr>
              <a:t>Formal methods and dependability</a:t>
            </a:r>
            <a:r>
              <a:rPr lang="en-US" altLang="zh-CN" sz="3200" dirty="0">
                <a:solidFill>
                  <a:schemeClr val="accent1">
                    <a:lumMod val="75000"/>
                  </a:schemeClr>
                </a:solidFill>
                <a:ea typeface="宋体" panose="02010600030101010101" pitchFamily="2" charset="-122"/>
                <a:sym typeface="+mn-ea"/>
              </a:rPr>
              <a:t> (</a:t>
            </a:r>
            <a:r>
              <a:rPr lang="zh-CN" altLang="en-US" dirty="0">
                <a:solidFill>
                  <a:schemeClr val="accent1">
                    <a:lumMod val="75000"/>
                  </a:schemeClr>
                </a:solidFill>
                <a:latin typeface="黑体" panose="02010609060101010101" pitchFamily="49" charset="-122"/>
                <a:ea typeface="黑体" panose="02010609060101010101" pitchFamily="49" charset="-122"/>
                <a:sym typeface="+mn-ea"/>
              </a:rPr>
              <a:t>留作自学</a:t>
            </a:r>
            <a:r>
              <a:rPr lang="en-US" altLang="zh-CN" sz="3200" dirty="0">
                <a:solidFill>
                  <a:schemeClr val="accent1">
                    <a:lumMod val="75000"/>
                  </a:schemeClr>
                </a:solidFill>
                <a:ea typeface="宋体" panose="02010600030101010101" pitchFamily="2" charset="-122"/>
                <a:sym typeface="+mn-ea"/>
              </a:rPr>
              <a:t>)</a:t>
            </a:r>
            <a:endParaRPr lang="zh-CN" altLang="en-US" sz="3200" dirty="0">
              <a:solidFill>
                <a:schemeClr val="accent1">
                  <a:lumMod val="75000"/>
                </a:schemeClr>
              </a:solidFill>
              <a:ea typeface="宋体" panose="02010600030101010101" pitchFamily="2" charset="-122"/>
              <a:sym typeface="+mn-ea"/>
            </a:endParaRPr>
          </a:p>
        </p:txBody>
      </p:sp>
      <p:sp>
        <p:nvSpPr>
          <p:cNvPr id="4" name="Rectangle 2"/>
          <p:cNvSpPr>
            <a:spLocks noGrp="1"/>
          </p:cNvSpPr>
          <p:nvPr>
            <p:ph type="title"/>
            <p:custDataLst>
              <p:tags r:id="rId2"/>
            </p:custDataLst>
          </p:nvPr>
        </p:nvSpPr>
        <p:spPr>
          <a:xfrm>
            <a:off x="617538" y="198755"/>
            <a:ext cx="5381625" cy="424815"/>
          </a:xfrm>
        </p:spPr>
        <p:txBody>
          <a:bodyPr vert="horz" wrap="none" lIns="63500" tIns="25400" rIns="63500" bIns="25400" anchor="t" anchorCtr="0">
            <a:spAutoFit/>
          </a:bodyPr>
          <a:p>
            <a:pPr algn="l"/>
            <a:r>
              <a:rPr lang="en-US" altLang="zh-CN" sz="2800" dirty="0">
                <a:solidFill>
                  <a:srgbClr val="660066"/>
                </a:solidFill>
                <a:ea typeface="黑体" panose="02010609060101010101" pitchFamily="49" charset="-122"/>
                <a:cs typeface="+mj-lt"/>
              </a:rPr>
              <a:t>Chap. 10  Dependable Systems</a:t>
            </a:r>
            <a:endParaRPr lang="en-US" altLang="zh-CN" sz="2800" dirty="0">
              <a:solidFill>
                <a:srgbClr val="660066"/>
              </a:solidFill>
              <a:ea typeface="黑体" panose="02010609060101010101" pitchFamily="49" charset="-122"/>
              <a:cs typeface="+mj-lt"/>
            </a:endParaRPr>
          </a:p>
        </p:txBody>
      </p:sp>
    </p:spTree>
  </p:cSld>
  <p:clrMapOvr>
    <a:masterClrMapping/>
  </p:clrMapOvr>
  <p:transition/>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BEAUTIFY_FLAG" val=""/>
</p:tagLst>
</file>

<file path=ppt/tags/tag3.xml><?xml version="1.0" encoding="utf-8"?>
<p:tagLst xmlns:p="http://schemas.openxmlformats.org/presentationml/2006/main">
  <p:tag name="KSO_WM_BEAUTIFY_FLAG" val=""/>
</p:tagLst>
</file>

<file path=ppt/tags/tag4.xml><?xml version="1.0" encoding="utf-8"?>
<p:tagLst xmlns:p="http://schemas.openxmlformats.org/presentationml/2006/main">
  <p:tag name="KSO_WM_BEAUTIFY_FLAG" val=""/>
</p:tagLst>
</file>

<file path=ppt/tags/tag5.xml><?xml version="1.0" encoding="utf-8"?>
<p:tagLst xmlns:p="http://schemas.openxmlformats.org/presentationml/2006/main">
  <p:tag name="KSO_WM_BEAUTIFY_FLAG" val=""/>
</p:tagLst>
</file>

<file path=ppt/tags/tag6.xml><?xml version="1.0" encoding="utf-8"?>
<p:tagLst xmlns:p="http://schemas.openxmlformats.org/presentationml/2006/main">
  <p:tag name="KSO_WM_BEAUTIFY_FLAG" val=""/>
</p:tagLst>
</file>

<file path=ppt/tags/tag7.xml><?xml version="1.0" encoding="utf-8"?>
<p:tagLst xmlns:p="http://schemas.openxmlformats.org/presentationml/2006/main">
  <p:tag name="KSO_WM_BEAUTIFY_FLAG" val=""/>
</p:tagLst>
</file>

<file path=ppt/tags/tag8.xml><?xml version="1.0" encoding="utf-8"?>
<p:tagLst xmlns:p="http://schemas.openxmlformats.org/presentationml/2006/main">
  <p:tag name="KSO_WM_BEAUTIFY_FLAG" val=""/>
</p:tagLst>
</file>

<file path=ppt/tags/tag9.xml><?xml version="1.0" encoding="utf-8"?>
<p:tagLst xmlns:p="http://schemas.openxmlformats.org/presentationml/2006/main">
  <p:tag name="KSO_WM_BEAUTIFY_FLAG" val=""/>
</p:tagLst>
</file>

<file path=ppt/tags/tag10.xml><?xml version="1.0" encoding="utf-8"?>
<p:tagLst xmlns:p="http://schemas.openxmlformats.org/presentationml/2006/main">
  <p:tag name="KSO_WM_BEAUTIFY_FLAG" val=""/>
</p:tagLst>
</file>

<file path=ppt/tags/tag11.xml><?xml version="1.0" encoding="utf-8"?>
<p:tagLst xmlns:p="http://schemas.openxmlformats.org/presentationml/2006/main">
  <p:tag name="KSO_WM_BEAUTIFY_FLAG" val=""/>
</p:tagLst>
</file>

<file path=ppt/tags/tag12.xml><?xml version="1.0" encoding="utf-8"?>
<p:tagLst xmlns:p="http://schemas.openxmlformats.org/presentationml/2006/main">
  <p:tag name="KSO_WM_BEAUTIFY_FLAG" val=""/>
</p:tagLst>
</file>

<file path=ppt/tags/tag13.xml><?xml version="1.0" encoding="utf-8"?>
<p:tagLst xmlns:p="http://schemas.openxmlformats.org/presentationml/2006/main">
  <p:tag name="KSO_WM_BEAUTIFY_FLAG" val=""/>
</p:tagLst>
</file>

<file path=ppt/tags/tag14.xml><?xml version="1.0" encoding="utf-8"?>
<p:tagLst xmlns:p="http://schemas.openxmlformats.org/presentationml/2006/main">
  <p:tag name="KSO_WM_BEAUTIFY_FLAG" val=""/>
</p:tagLst>
</file>

<file path=ppt/tags/tag15.xml><?xml version="1.0" encoding="utf-8"?>
<p:tagLst xmlns:p="http://schemas.openxmlformats.org/presentationml/2006/main">
  <p:tag name="KSO_WM_BEAUTIFY_FLAG" val=""/>
</p:tagLst>
</file>

<file path=ppt/tags/tag16.xml><?xml version="1.0" encoding="utf-8"?>
<p:tagLst xmlns:p="http://schemas.openxmlformats.org/presentationml/2006/main">
  <p:tag name="KSO_WM_BEAUTIFY_FLAG" val=""/>
</p:tagLst>
</file>

<file path=ppt/tags/tag17.xml><?xml version="1.0" encoding="utf-8"?>
<p:tagLst xmlns:p="http://schemas.openxmlformats.org/presentationml/2006/main">
  <p:tag name="KSO_WM_BEAUTIFY_FLAG" val=""/>
</p:tagLst>
</file>

<file path=ppt/tags/tag18.xml><?xml version="1.0" encoding="utf-8"?>
<p:tagLst xmlns:p="http://schemas.openxmlformats.org/presentationml/2006/main">
  <p:tag name="KSO_WM_BEAUTIFY_FLAG" val=""/>
</p:tagLst>
</file>

<file path=ppt/tags/tag19.xml><?xml version="1.0" encoding="utf-8"?>
<p:tagLst xmlns:p="http://schemas.openxmlformats.org/presentationml/2006/main">
  <p:tag name="KSO_WM_BEAUTIFY_FLAG" val=""/>
</p:tagLst>
</file>

<file path=ppt/tags/tag20.xml><?xml version="1.0" encoding="utf-8"?>
<p:tagLst xmlns:p="http://schemas.openxmlformats.org/presentationml/2006/main">
  <p:tag name="KSO_WM_BEAUTIFY_FLAG" val=""/>
</p:tagLst>
</file>

<file path=ppt/tags/tag21.xml><?xml version="1.0" encoding="utf-8"?>
<p:tagLst xmlns:p="http://schemas.openxmlformats.org/presentationml/2006/main">
  <p:tag name="KSO_WM_BEAUTIFY_FLAG" val=""/>
</p:tagLst>
</file>

<file path=ppt/tags/tag22.xml><?xml version="1.0" encoding="utf-8"?>
<p:tagLst xmlns:p="http://schemas.openxmlformats.org/presentationml/2006/main">
  <p:tag name="KSO_WM_BEAUTIFY_FLAG" val=""/>
</p:tagLst>
</file>

<file path=ppt/tags/tag23.xml><?xml version="1.0" encoding="utf-8"?>
<p:tagLst xmlns:p="http://schemas.openxmlformats.org/presentationml/2006/main">
  <p:tag name="KSO_WM_BEAUTIFY_FLAG" val=""/>
</p:tagLst>
</file>

<file path=ppt/tags/tag24.xml><?xml version="1.0" encoding="utf-8"?>
<p:tagLst xmlns:p="http://schemas.openxmlformats.org/presentationml/2006/main">
  <p:tag name="KSO_WM_BEAUTIFY_FLAG" val=""/>
</p:tagLst>
</file>

<file path=ppt/tags/tag25.xml><?xml version="1.0" encoding="utf-8"?>
<p:tagLst xmlns:p="http://schemas.openxmlformats.org/presentationml/2006/main">
  <p:tag name="KSO_WM_BEAUTIFY_FLAG" val=""/>
</p:tagLst>
</file>

<file path=ppt/tags/tag26.xml><?xml version="1.0" encoding="utf-8"?>
<p:tagLst xmlns:p="http://schemas.openxmlformats.org/presentationml/2006/main">
  <p:tag name="KSO_WM_BEAUTIFY_FLAG" val=""/>
</p:tagLst>
</file>

<file path=ppt/tags/tag27.xml><?xml version="1.0" encoding="utf-8"?>
<p:tagLst xmlns:p="http://schemas.openxmlformats.org/presentationml/2006/main">
  <p:tag name="KSO_WM_BEAUTIFY_FLAG" val=""/>
</p:tagLst>
</file>

<file path=ppt/tags/tag28.xml><?xml version="1.0" encoding="utf-8"?>
<p:tagLst xmlns:p="http://schemas.openxmlformats.org/presentationml/2006/main">
  <p:tag name="KSO_WM_BEAUTIFY_FLAG" val=""/>
</p:tagLst>
</file>

<file path=ppt/tags/tag29.xml><?xml version="1.0" encoding="utf-8"?>
<p:tagLst xmlns:p="http://schemas.openxmlformats.org/presentationml/2006/main">
  <p:tag name="KSO_WM_BEAUTIFY_FLAG" val=""/>
</p:tagLst>
</file>

<file path=ppt/tags/tag30.xml><?xml version="1.0" encoding="utf-8"?>
<p:tagLst xmlns:p="http://schemas.openxmlformats.org/presentationml/2006/main">
  <p:tag name="KSO_WM_BEAUTIFY_FLAG" val=""/>
</p:tagLst>
</file>

<file path=ppt/tags/tag31.xml><?xml version="1.0" encoding="utf-8"?>
<p:tagLst xmlns:p="http://schemas.openxmlformats.org/presentationml/2006/main">
  <p:tag name="KSO_WM_BEAUTIFY_FLAG" val=""/>
</p:tagLst>
</file>

<file path=ppt/tags/tag32.xml><?xml version="1.0" encoding="utf-8"?>
<p:tagLst xmlns:p="http://schemas.openxmlformats.org/presentationml/2006/main">
  <p:tag name="KSO_WM_BEAUTIFY_FLAG" val=""/>
</p:tagLst>
</file>

<file path=ppt/tags/tag33.xml><?xml version="1.0" encoding="utf-8"?>
<p:tagLst xmlns:p="http://schemas.openxmlformats.org/presentationml/2006/main">
  <p:tag name="KSO_WM_BEAUTIFY_FLAG" val=""/>
</p:tagLst>
</file>

<file path=ppt/tags/tag34.xml><?xml version="1.0" encoding="utf-8"?>
<p:tagLst xmlns:p="http://schemas.openxmlformats.org/presentationml/2006/main">
  <p:tag name="KSO_WM_BEAUTIFY_FLAG" val=""/>
</p:tagLst>
</file>

<file path=ppt/tags/tag35.xml><?xml version="1.0" encoding="utf-8"?>
<p:tagLst xmlns:p="http://schemas.openxmlformats.org/presentationml/2006/main">
  <p:tag name="KSO_WM_BEAUTIFY_FLAG" val=""/>
</p:tagLst>
</file>

<file path=ppt/tags/tag36.xml><?xml version="1.0" encoding="utf-8"?>
<p:tagLst xmlns:p="http://schemas.openxmlformats.org/presentationml/2006/main">
  <p:tag name="KSO_WM_BEAUTIFY_FLAG" val=""/>
</p:tagLst>
</file>

<file path=ppt/tags/tag37.xml><?xml version="1.0" encoding="utf-8"?>
<p:tagLst xmlns:p="http://schemas.openxmlformats.org/presentationml/2006/main">
  <p:tag name="KSO_WM_BEAUTIFY_FLAG" val=""/>
</p:tagLst>
</file>

<file path=ppt/tags/tag38.xml><?xml version="1.0" encoding="utf-8"?>
<p:tagLst xmlns:p="http://schemas.openxmlformats.org/presentationml/2006/main">
  <p:tag name="KSO_WM_BEAUTIFY_FLAG" val=""/>
</p:tagLst>
</file>

<file path=ppt/tags/tag39.xml><?xml version="1.0" encoding="utf-8"?>
<p:tagLst xmlns:p="http://schemas.openxmlformats.org/presentationml/2006/main">
  <p:tag name="KSO_WM_BEAUTIFY_FLAG" val=""/>
</p:tagLst>
</file>

<file path=ppt/tags/tag40.xml><?xml version="1.0" encoding="utf-8"?>
<p:tagLst xmlns:p="http://schemas.openxmlformats.org/presentationml/2006/main">
  <p:tag name="KSO_WM_BEAUTIFY_FLAG" val=""/>
</p:tagLst>
</file>

<file path=ppt/tags/tag41.xml><?xml version="1.0" encoding="utf-8"?>
<p:tagLst xmlns:p="http://schemas.openxmlformats.org/presentationml/2006/main">
  <p:tag name="TABLE_ENDDRAG_ORIGIN_RECT" val="697*420"/>
  <p:tag name="TABLE_ENDDRAG_RECT" val="10*101*697*420"/>
</p:tagLst>
</file>

<file path=ppt/tags/tag42.xml><?xml version="1.0" encoding="utf-8"?>
<p:tagLst xmlns:p="http://schemas.openxmlformats.org/presentationml/2006/main">
  <p:tag name="KSO_WM_BEAUTIFY_FLAG" val=""/>
</p:tagLst>
</file>

<file path=ppt/tags/tag43.xml><?xml version="1.0" encoding="utf-8"?>
<p:tagLst xmlns:p="http://schemas.openxmlformats.org/presentationml/2006/main">
  <p:tag name="KSO_WM_BEAUTIFY_FLAG" val=""/>
</p:tagLst>
</file>

<file path=ppt/tags/tag44.xml><?xml version="1.0" encoding="utf-8"?>
<p:tagLst xmlns:p="http://schemas.openxmlformats.org/presentationml/2006/main">
  <p:tag name="KSO_WM_BEAUTIFY_FLAG" val=""/>
</p:tagLst>
</file>

<file path=ppt/tags/tag45.xml><?xml version="1.0" encoding="utf-8"?>
<p:tagLst xmlns:p="http://schemas.openxmlformats.org/presentationml/2006/main">
  <p:tag name="KSO_WM_BEAUTIFY_FLAG" val=""/>
</p:tagLst>
</file>

<file path=ppt/tags/tag46.xml><?xml version="1.0" encoding="utf-8"?>
<p:tagLst xmlns:p="http://schemas.openxmlformats.org/presentationml/2006/main">
  <p:tag name="KSO_WPP_MARK_KEY" val="49d2eca4-30e1-4ef7-9bc7-486bee5195f9"/>
  <p:tag name="COMMONDATA" val="eyJoZGlkIjoiYWU0ZmM3NzM2M2MzNjY4OGU3MWVlODFhMGQ0MTAxM2IifQ=="/>
</p:tagLst>
</file>

<file path=ppt/theme/theme1.xml><?xml version="1.0" encoding="utf-8"?>
<a:theme xmlns:a="http://schemas.openxmlformats.org/drawingml/2006/main" name="CS152-SP98">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CS152-SP98">
      <a:majorFont>
        <a:latin typeface="Arial"/>
        <a:ea typeface=""/>
        <a:cs typeface=""/>
      </a:majorFont>
      <a:minorFont>
        <a:latin typeface="Arial"/>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spDef>
    <a:lnDef>
      <a:spPr bwMode="auto">
        <a:xfrm>
          <a:off x="0" y="0"/>
          <a:ext cx="1" cy="1"/>
        </a:xfrm>
        <a:custGeom>
          <a:avLst/>
          <a:gdLst/>
          <a:ahLst/>
          <a:cxnLst/>
          <a:rect l="0" t="0" r="0" b="0"/>
          <a:pathLst/>
        </a:custGeom>
        <a:noFill/>
        <a:ln w="12700" cap="flat" cmpd="sng" algn="ctr">
          <a:solidFill>
            <a:schemeClr val="tx1"/>
          </a:solidFill>
          <a:prstDash val="solid"/>
          <a:round/>
          <a:headEnd type="none" w="med" len="med"/>
          <a:tailEnd type="none" w="med" len="med"/>
        </a:ln>
      </a:spPr>
      <a:bodyPr vert="horz" wrap="square" lIns="90000" tIns="46800" rIns="90000" bIns="46800" numCol="1" anchor="t" anchorCtr="0" compatLnSpc="1">
        <a:spAutoFit/>
      </a:bodyPr>
      <a:lstStyle>
        <a:defPPr marL="0" marR="0" indent="0" algn="l" defTabSz="914400" rtl="0" eaLnBrk="0" fontAlgn="base" latinLnBrk="0" hangingPunct="0">
          <a:lnSpc>
            <a:spcPct val="100000"/>
          </a:lnSpc>
          <a:spcBef>
            <a:spcPct val="0"/>
          </a:spcBef>
          <a:spcAft>
            <a:spcPct val="0"/>
          </a:spcAft>
          <a:buClrTx/>
          <a:buSzTx/>
          <a:buFontTx/>
          <a:buNone/>
          <a:defRPr kumimoji="0" lang="en-US" altLang="zh-CN" sz="2400" b="1" i="0" u="none" strike="noStrike" cap="none" normalizeH="0" baseline="0" smtClean="0">
            <a:ln>
              <a:noFill/>
            </a:ln>
            <a:solidFill>
              <a:schemeClr val="accent1"/>
            </a:solidFill>
            <a:effectLst/>
            <a:latin typeface="Arial" panose="020B0604020202020204" pitchFamily="34" charset="0"/>
          </a:defRPr>
        </a:defPPr>
      </a:lstStyle>
    </a:lnDef>
  </a:objectDefaults>
  <a:extraClrSchemeLst>
    <a:extraClrScheme>
      <a:clrScheme name="CS152-SP98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CS152-SP98 2">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CS152-SP98 3">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CS152-SP98 4">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CS152-SP98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CS152-SP98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CS152-SP98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主题​​">
  <a:themeElements>
    <a:clrScheme name="">
      <a:dk1>
        <a:srgbClr val="000000"/>
      </a:dk1>
      <a:lt1>
        <a:srgbClr val="FFFFFF"/>
      </a:lt1>
      <a:dk2>
        <a:srgbClr val="081D58"/>
      </a:dk2>
      <a:lt2>
        <a:srgbClr val="919191"/>
      </a:lt2>
      <a:accent1>
        <a:srgbClr val="FC0128"/>
      </a:accent1>
      <a:accent2>
        <a:srgbClr val="063DE8"/>
      </a:accent2>
      <a:accent3>
        <a:srgbClr val="FFFFFF"/>
      </a:accent3>
      <a:accent4>
        <a:srgbClr val="000000"/>
      </a:accent4>
      <a:accent5>
        <a:srgbClr val="FDAAAC"/>
      </a:accent5>
      <a:accent6>
        <a:srgbClr val="0536D2"/>
      </a:accent6>
      <a:hlink>
        <a:srgbClr val="00DFCA"/>
      </a:hlink>
      <a:folHlink>
        <a:srgbClr val="EAEC5E"/>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13753</Words>
  <Application>WPS 演示</Application>
  <PresentationFormat>信纸(8.5x11 英寸)</PresentationFormat>
  <Paragraphs>210</Paragraphs>
  <Slides>23</Slides>
  <Notes>6</Notes>
  <HiddenSlides>0</HiddenSlides>
  <MMClips>0</MMClips>
  <ScaleCrop>false</ScaleCrop>
  <HeadingPairs>
    <vt:vector size="6" baseType="variant">
      <vt:variant>
        <vt:lpstr>已用的字体</vt:lpstr>
      </vt:variant>
      <vt:variant>
        <vt:i4>15</vt:i4>
      </vt:variant>
      <vt:variant>
        <vt:lpstr>主题</vt:lpstr>
      </vt:variant>
      <vt:variant>
        <vt:i4>1</vt:i4>
      </vt:variant>
      <vt:variant>
        <vt:lpstr>幻灯片标题</vt:lpstr>
      </vt:variant>
      <vt:variant>
        <vt:i4>23</vt:i4>
      </vt:variant>
    </vt:vector>
  </HeadingPairs>
  <TitlesOfParts>
    <vt:vector size="39" baseType="lpstr">
      <vt:lpstr>Arial</vt:lpstr>
      <vt:lpstr>宋体</vt:lpstr>
      <vt:lpstr>Wingdings</vt:lpstr>
      <vt:lpstr>Times New Roman</vt:lpstr>
      <vt:lpstr>黑体</vt:lpstr>
      <vt:lpstr>仿宋</vt:lpstr>
      <vt:lpstr>Arial</vt:lpstr>
      <vt:lpstr>MS PGothic</vt:lpstr>
      <vt:lpstr>Calibri</vt:lpstr>
      <vt:lpstr>Symbol</vt:lpstr>
      <vt:lpstr>微软雅黑</vt:lpstr>
      <vt:lpstr>Arial Unicode MS</vt:lpstr>
      <vt:lpstr>Wingdings</vt:lpstr>
      <vt:lpstr>Helvetica</vt:lpstr>
      <vt:lpstr>Times New Roman</vt:lpstr>
      <vt:lpstr>CS152-SP98</vt:lpstr>
      <vt:lpstr> Software Engineering</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lpstr>Chap. 10  Dependable Systems</vt:lpstr>
    </vt:vector>
  </TitlesOfParts>
  <Company>UC Berkeley</Company>
  <LinksUpToDate>false</LinksUpToDate>
  <SharedDoc>false</SharedDoc>
  <HyperlinksChanged>false</HyperlinksChanged>
  <AppVersion>14.0000</AppVersion>
  <Pages>47</Page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Computer Architecture</dc:title>
  <dc:creator/>
  <cp:lastModifiedBy>WPS_1662112355</cp:lastModifiedBy>
  <cp:revision>2100</cp:revision>
  <cp:lastPrinted>1999-08-22T22:40:00Z</cp:lastPrinted>
  <dcterms:created xsi:type="dcterms:W3CDTF">1997-08-19T16:58:00Z</dcterms:created>
  <dcterms:modified xsi:type="dcterms:W3CDTF">2025-11-18T13:33:48Z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2052-12.1.0.23542</vt:lpwstr>
  </property>
  <property fmtid="{D5CDD505-2E9C-101B-9397-08002B2CF9AE}" pid="3" name="ICV">
    <vt:lpwstr>3E2B1C6E25C54BFF8474069605F54195_13</vt:lpwstr>
  </property>
</Properties>
</file>