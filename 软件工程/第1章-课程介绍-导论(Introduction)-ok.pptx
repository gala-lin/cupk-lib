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0"/>
  </p:handoutMasterIdLst>
  <p:sldIdLst>
    <p:sldId id="256" r:id="rId3"/>
    <p:sldId id="741" r:id="rId5"/>
    <p:sldId id="1108" r:id="rId6"/>
    <p:sldId id="1109" r:id="rId7"/>
    <p:sldId id="1110" r:id="rId8"/>
    <p:sldId id="1061" r:id="rId9"/>
    <p:sldId id="1597" r:id="rId10"/>
    <p:sldId id="1764" r:id="rId11"/>
    <p:sldId id="1765" r:id="rId12"/>
    <p:sldId id="1817" r:id="rId13"/>
    <p:sldId id="1766" r:id="rId14"/>
    <p:sldId id="1818" r:id="rId15"/>
    <p:sldId id="1819" r:id="rId16"/>
    <p:sldId id="1767" r:id="rId17"/>
    <p:sldId id="1820" r:id="rId18"/>
    <p:sldId id="1768" r:id="rId19"/>
    <p:sldId id="1822" r:id="rId20"/>
    <p:sldId id="1769" r:id="rId21"/>
    <p:sldId id="1770" r:id="rId22"/>
    <p:sldId id="1874" r:id="rId23"/>
    <p:sldId id="1771" r:id="rId24"/>
    <p:sldId id="1772" r:id="rId25"/>
    <p:sldId id="1773" r:id="rId26"/>
    <p:sldId id="1774" r:id="rId27"/>
    <p:sldId id="1775" r:id="rId28"/>
    <p:sldId id="1824" r:id="rId29"/>
    <p:sldId id="1776" r:id="rId30"/>
    <p:sldId id="1778" r:id="rId31"/>
    <p:sldId id="1779" r:id="rId32"/>
    <p:sldId id="1875" r:id="rId33"/>
    <p:sldId id="1876" r:id="rId34"/>
    <p:sldId id="1877" r:id="rId35"/>
    <p:sldId id="1878" r:id="rId36"/>
    <p:sldId id="1879" r:id="rId37"/>
    <p:sldId id="1880" r:id="rId38"/>
    <p:sldId id="1881" r:id="rId39"/>
    <p:sldId id="1882" r:id="rId40"/>
    <p:sldId id="1883" r:id="rId41"/>
    <p:sldId id="1884" r:id="rId42"/>
    <p:sldId id="1885" r:id="rId43"/>
    <p:sldId id="1886" r:id="rId44"/>
    <p:sldId id="1887" r:id="rId45"/>
    <p:sldId id="1888" r:id="rId46"/>
    <p:sldId id="1889" r:id="rId47"/>
    <p:sldId id="1890" r:id="rId48"/>
    <p:sldId id="1891" r:id="rId49"/>
    <p:sldId id="1892" r:id="rId50"/>
    <p:sldId id="1893" r:id="rId51"/>
    <p:sldId id="1894" r:id="rId52"/>
    <p:sldId id="1895" r:id="rId53"/>
    <p:sldId id="1896" r:id="rId54"/>
    <p:sldId id="1897" r:id="rId55"/>
    <p:sldId id="1898" r:id="rId56"/>
    <p:sldId id="1899" r:id="rId57"/>
    <p:sldId id="1900" r:id="rId58"/>
    <p:sldId id="1901" r:id="rId59"/>
    <p:sldId id="1902" r:id="rId60"/>
    <p:sldId id="1903" r:id="rId61"/>
    <p:sldId id="1904" r:id="rId62"/>
    <p:sldId id="1905" r:id="rId63"/>
    <p:sldId id="1906" r:id="rId64"/>
    <p:sldId id="1907" r:id="rId65"/>
    <p:sldId id="1908" r:id="rId66"/>
    <p:sldId id="1909" r:id="rId67"/>
    <p:sldId id="1910" r:id="rId68"/>
    <p:sldId id="1911" r:id="rId69"/>
  </p:sldIdLst>
  <p:sldSz cx="9144000" cy="6858000" type="letter"/>
  <p:notesSz cx="9163050" cy="6877050"/>
  <p:custDataLst>
    <p:tags r:id="rId74"/>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005400"/>
    <a:srgbClr val="CC0000"/>
    <a:srgbClr val="134AD5"/>
    <a:srgbClr val="B3380D"/>
    <a:srgbClr val="E6E6E6"/>
    <a:srgbClr val="660066"/>
    <a:srgbClr val="FF0000"/>
    <a:srgbClr val="800000"/>
    <a:srgbClr val="0000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42"/>
        <p:guide pos="289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137.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rgbClr val="FFFFFF">
        <a:alpha val="90000"/>
      </a:srgbClr>
    </dgm:fillClrLst>
    <dgm:linClrLst meth="repeat">
      <a:srgbClr val="33CCCC"/>
    </dgm:linClrLst>
    <dgm:effectClrLst/>
    <dgm:txLinClrLst/>
    <dgm:txFillClrLst meth="repeat">
      <a:srgbClr val="000000"/>
    </dgm:txFillClrLst>
    <dgm:txEffectClrLst/>
  </dgm:styleLbl>
  <dgm:styleLbl name="alignAccFollowNode1">
    <dgm:fillClrLst meth="repeat">
      <a:srgbClr val="33CCCC">
        <a:alpha val="90000"/>
        <a:tint val="40000"/>
      </a:srgbClr>
    </dgm:fillClrLst>
    <dgm:linClrLst meth="repeat">
      <a:srgbClr val="33CCCC">
        <a:alpha val="90000"/>
        <a:tint val="40000"/>
      </a:srgbClr>
    </dgm:linClrLst>
    <dgm:effectClrLst/>
    <dgm:txLinClrLst/>
    <dgm:txFillClrLst meth="repeat">
      <a:srgbClr val="000000"/>
    </dgm:txFillClrLst>
    <dgm:txEffectClrLst/>
  </dgm:styleLbl>
  <dgm:styleLbl name="alignImgPlace1">
    <dgm:fillClrLst meth="repeat">
      <a:srgbClr val="33CCCC">
        <a:tint val="50000"/>
      </a:srgbClr>
    </dgm:fillClrLst>
    <dgm:linClrLst meth="repeat">
      <a:srgbClr val="FFFFFF"/>
    </dgm:linClrLst>
    <dgm:effectClrLst/>
    <dgm:txLinClrLst/>
    <dgm:txFillClrLst meth="repeat">
      <a:srgbClr val="FFFFFF"/>
    </dgm:txFillClrLst>
    <dgm:txEffectClrLst/>
  </dgm:styleLbl>
  <dgm:styleLbl name="alignNode1">
    <dgm:fillClrLst meth="repeat">
      <a:srgbClr val="33CCCC"/>
    </dgm:fillClrLst>
    <dgm:linClrLst meth="repeat">
      <a:srgbClr val="33CCCC"/>
    </dgm:linClrLst>
    <dgm:effectClrLst/>
    <dgm:txLinClrLst/>
    <dgm:txFillClrLst/>
    <dgm:txEffectClrLst/>
  </dgm:styleLbl>
  <dgm:styleLbl name="asst0">
    <dgm:fillClrLst meth="repeat">
      <a:srgbClr val="33CCCC"/>
    </dgm:fillClrLst>
    <dgm:linClrLst meth="repeat">
      <a:srgbClr val="FFFFFF"/>
    </dgm:linClrLst>
    <dgm:effectClrLst/>
    <dgm:txLinClrLst/>
    <dgm:txFillClrLst/>
    <dgm:txEffectClrLst/>
  </dgm:styleLbl>
  <dgm:styleLbl name="asst1">
    <dgm:fillClrLst meth="repeat">
      <a:srgbClr val="33CCCC"/>
    </dgm:fillClrLst>
    <dgm:linClrLst meth="repeat">
      <a:srgbClr val="FFFFFF"/>
    </dgm:linClrLst>
    <dgm:effectClrLst/>
    <dgm:txLinClrLst/>
    <dgm:txFillClrLst/>
    <dgm:txEffectClrLst/>
  </dgm:styleLbl>
  <dgm:styleLbl name="asst2">
    <dgm:fillClrLst meth="repeat">
      <a:srgbClr val="33CCCC"/>
    </dgm:fillClrLst>
    <dgm:linClrLst meth="repeat">
      <a:srgbClr val="FFFFFF"/>
    </dgm:linClrLst>
    <dgm:effectClrLst/>
    <dgm:txLinClrLst/>
    <dgm:txFillClrLst/>
    <dgm:txEffectClrLst/>
  </dgm:styleLbl>
  <dgm:styleLbl name="asst3">
    <dgm:fillClrLst meth="repeat">
      <a:srgbClr val="33CCCC"/>
    </dgm:fillClrLst>
    <dgm:linClrLst meth="repeat">
      <a:srgbClr val="FFFFFF"/>
    </dgm:linClrLst>
    <dgm:effectClrLst/>
    <dgm:txLinClrLst/>
    <dgm:txFillClrLst/>
    <dgm:txEffectClrLst/>
  </dgm:styleLbl>
  <dgm:styleLbl name="asst4">
    <dgm:fillClrLst meth="repeat">
      <a:srgbClr val="33CCCC"/>
    </dgm:fillClrLst>
    <dgm:linClrLst meth="repeat">
      <a:srgbClr val="FFFFFF"/>
    </dgm:linClrLst>
    <dgm:effectClrLst/>
    <dgm:txLinClrLst/>
    <dgm:txFillClrLst/>
    <dgm:txEffectClrLst/>
  </dgm:styleLbl>
  <dgm:styleLbl name="bgAcc1">
    <dgm:fillClrLst meth="repeat">
      <a:srgbClr val="FFFFFF">
        <a:alpha val="90000"/>
      </a:srgbClr>
    </dgm:fillClrLst>
    <dgm:linClrLst meth="repeat">
      <a:srgbClr val="33CCCC"/>
    </dgm:linClrLst>
    <dgm:effectClrLst/>
    <dgm:txLinClrLst/>
    <dgm:txFillClrLst meth="repeat">
      <a:srgbClr val="000000"/>
    </dgm:txFillClrLst>
    <dgm:txEffectClrLst/>
  </dgm:styleLbl>
  <dgm:styleLbl name="bgAccFollowNode1">
    <dgm:fillClrLst meth="repeat">
      <a:srgbClr val="33CCCC">
        <a:alpha val="90000"/>
        <a:tint val="40000"/>
      </a:srgbClr>
    </dgm:fillClrLst>
    <dgm:linClrLst meth="repeat">
      <a:srgbClr val="33CCCC">
        <a:alpha val="90000"/>
        <a:tint val="40000"/>
      </a:srgbClr>
    </dgm:linClrLst>
    <dgm:effectClrLst/>
    <dgm:txLinClrLst/>
    <dgm:txFillClrLst meth="repeat">
      <a:srgbClr val="000000"/>
    </dgm:txFillClrLst>
    <dgm:txEffectClrLst/>
  </dgm:styleLbl>
  <dgm:styleLbl name="bgImgPlace1">
    <dgm:fillClrLst meth="repeat">
      <a:srgbClr val="33CCCC">
        <a:tint val="50000"/>
      </a:srgbClr>
    </dgm:fillClrLst>
    <dgm:linClrLst meth="repeat">
      <a:srgbClr val="FFFFFF"/>
    </dgm:linClrLst>
    <dgm:effectClrLst/>
    <dgm:txLinClrLst/>
    <dgm:txFillClrLst meth="repeat">
      <a:srgbClr val="FFFFFF"/>
    </dgm:txFillClrLst>
    <dgm:txEffectClrLst/>
  </dgm:styleLbl>
  <dgm:styleLbl name="bgShp">
    <dgm:fillClrLst meth="repeat">
      <a:srgbClr val="33CCCC">
        <a:tint val="40000"/>
      </a:srgbClr>
    </dgm:fillClrLst>
    <dgm:linClrLst meth="repeat">
      <a:srgbClr val="33CCCC"/>
    </dgm:linClrLst>
    <dgm:effectClrLst/>
    <dgm:txLinClrLst/>
    <dgm:txFillClrLst meth="repeat">
      <a:srgbClr val="000000"/>
    </dgm:txFillClrLst>
    <dgm:txEffectClrLst/>
  </dgm:styleLbl>
  <dgm:styleLbl name="bgSibTrans2D1">
    <dgm:fillClrLst meth="repeat">
      <a:srgbClr val="33CCCC">
        <a:tint val="60000"/>
      </a:srgbClr>
    </dgm:fillClrLst>
    <dgm:linClrLst meth="repeat">
      <a:srgbClr val="33CCCC">
        <a:tint val="60000"/>
      </a:srgbClr>
    </dgm:linClrLst>
    <dgm:effectClrLst/>
    <dgm:txLinClrLst/>
    <dgm:txFillClrLst/>
    <dgm:txEffectClrLst/>
  </dgm:styleLbl>
  <dgm:styleLbl name="callout">
    <dgm:fillClrLst meth="repeat">
      <a:srgbClr val="33CCCC"/>
    </dgm:fillClrLst>
    <dgm:linClrLst meth="repeat">
      <a:srgbClr val="33CCCC">
        <a:tint val="50000"/>
      </a:srgbClr>
    </dgm:linClrLst>
    <dgm:effectClrLst/>
    <dgm:txLinClrLst/>
    <dgm:txFillClrLst meth="repeat">
      <a:srgbClr val="000000"/>
    </dgm:txFillClrLst>
    <dgm:txEffectClrLst/>
  </dgm:styleLbl>
  <dgm:styleLbl name="conFgAcc1">
    <dgm:fillClrLst meth="repeat">
      <a:srgbClr val="FFFFFF">
        <a:alpha val="90000"/>
      </a:srgbClr>
    </dgm:fillClrLst>
    <dgm:linClrLst meth="repeat">
      <a:srgbClr val="33CCCC"/>
    </dgm:linClrLst>
    <dgm:effectClrLst/>
    <dgm:txLinClrLst/>
    <dgm:txFillClrLst meth="repeat">
      <a:srgbClr val="000000"/>
    </dgm:txFillClrLst>
    <dgm:txEffectClrLst/>
  </dgm:styleLbl>
  <dgm:styleLbl name="dkBgShp">
    <dgm:fillClrLst meth="repeat">
      <a:srgbClr val="33CCCC">
        <a:shade val="80000"/>
      </a:srgbClr>
    </dgm:fillClrLst>
    <dgm:linClrLst meth="repeat">
      <a:srgbClr val="33CCCC"/>
    </dgm:linClrLst>
    <dgm:effectClrLst/>
    <dgm:txLinClrLst/>
    <dgm:txFillClrLst meth="repeat">
      <a:srgbClr val="FFFFFF"/>
    </dgm:txFillClrLst>
    <dgm:txEffectClrLst/>
  </dgm:styleLbl>
  <dgm:styleLbl name="fgAcc0">
    <dgm:fillClrLst meth="repeat">
      <a:srgbClr val="FFFFFF">
        <a:alpha val="90000"/>
      </a:srgbClr>
    </dgm:fillClrLst>
    <dgm:linClrLst meth="repeat">
      <a:srgbClr val="33CCCC"/>
    </dgm:linClrLst>
    <dgm:effectClrLst/>
    <dgm:txLinClrLst/>
    <dgm:txFillClrLst meth="repeat">
      <a:srgbClr val="000000"/>
    </dgm:txFillClrLst>
    <dgm:txEffectClrLst/>
  </dgm:styleLbl>
  <dgm:styleLbl name="fgAcc1">
    <dgm:fillClrLst meth="repeat">
      <a:srgbClr val="FFFFFF">
        <a:alpha val="90000"/>
      </a:srgbClr>
    </dgm:fillClrLst>
    <dgm:linClrLst meth="repeat">
      <a:srgbClr val="33CCCC"/>
    </dgm:linClrLst>
    <dgm:effectClrLst/>
    <dgm:txLinClrLst/>
    <dgm:txFillClrLst meth="repeat">
      <a:srgbClr val="000000"/>
    </dgm:txFillClrLst>
    <dgm:txEffectClrLst/>
  </dgm:styleLbl>
  <dgm:styleLbl name="fgAcc2">
    <dgm:fillClrLst meth="repeat">
      <a:srgbClr val="FFFFFF">
        <a:alpha val="90000"/>
      </a:srgbClr>
    </dgm:fillClrLst>
    <dgm:linClrLst meth="repeat">
      <a:srgbClr val="33CCCC"/>
    </dgm:linClrLst>
    <dgm:effectClrLst/>
    <dgm:txLinClrLst/>
    <dgm:txFillClrLst meth="repeat">
      <a:srgbClr val="000000"/>
    </dgm:txFillClrLst>
    <dgm:txEffectClrLst/>
  </dgm:styleLbl>
  <dgm:styleLbl name="fgAcc3">
    <dgm:fillClrLst meth="repeat">
      <a:srgbClr val="FFFFFF">
        <a:alpha val="90000"/>
      </a:srgbClr>
    </dgm:fillClrLst>
    <dgm:linClrLst meth="repeat">
      <a:srgbClr val="33CCCC"/>
    </dgm:linClrLst>
    <dgm:effectClrLst/>
    <dgm:txLinClrLst/>
    <dgm:txFillClrLst meth="repeat">
      <a:srgbClr val="000000"/>
    </dgm:txFillClrLst>
    <dgm:txEffectClrLst/>
  </dgm:styleLbl>
  <dgm:styleLbl name="fgAcc4">
    <dgm:fillClrLst meth="repeat">
      <a:srgbClr val="FFFFFF">
        <a:alpha val="90000"/>
      </a:srgbClr>
    </dgm:fillClrLst>
    <dgm:linClrLst meth="repeat">
      <a:srgbClr val="33CCCC"/>
    </dgm:linClrLst>
    <dgm:effectClrLst/>
    <dgm:txLinClrLst/>
    <dgm:txFillClrLst meth="repeat">
      <a:srgbClr val="000000"/>
    </dgm:txFillClrLst>
    <dgm:txEffectClrLst/>
  </dgm:styleLbl>
  <dgm:styleLbl name="fgAccFollowNode1">
    <dgm:fillClrLst meth="repeat">
      <a:srgbClr val="33CCCC">
        <a:alpha val="90000"/>
        <a:tint val="40000"/>
      </a:srgbClr>
    </dgm:fillClrLst>
    <dgm:linClrLst meth="repeat">
      <a:srgbClr val="33CCCC">
        <a:alpha val="90000"/>
        <a:tint val="40000"/>
      </a:srgbClr>
    </dgm:linClrLst>
    <dgm:effectClrLst/>
    <dgm:txLinClrLst/>
    <dgm:txFillClrLst meth="repeat">
      <a:srgbClr val="000000"/>
    </dgm:txFillClrLst>
    <dgm:txEffectClrLst/>
  </dgm:styleLbl>
  <dgm:styleLbl name="fgImgPlace1">
    <dgm:fillClrLst meth="repeat">
      <a:srgbClr val="33CCCC">
        <a:tint val="50000"/>
      </a:srgbClr>
    </dgm:fillClrLst>
    <dgm:linClrLst meth="repeat">
      <a:srgbClr val="FFFFFF"/>
    </dgm:linClrLst>
    <dgm:effectClrLst/>
    <dgm:txLinClrLst/>
    <dgm:txFillClrLst meth="repeat">
      <a:srgbClr val="FFFFFF"/>
    </dgm:txFillClrLst>
    <dgm:txEffectClrLst/>
  </dgm:styleLbl>
  <dgm:styleLbl name="fgShp">
    <dgm:fillClrLst meth="repeat">
      <a:srgbClr val="33CCCC">
        <a:tint val="60000"/>
      </a:srgbClr>
    </dgm:fillClrLst>
    <dgm:linClrLst meth="repeat">
      <a:srgbClr val="FFFFFF"/>
    </dgm:linClrLst>
    <dgm:effectClrLst/>
    <dgm:txLinClrLst/>
    <dgm:txFillClrLst meth="repeat">
      <a:srgbClr val="000000"/>
    </dgm:txFillClrLst>
    <dgm:txEffectClrLst/>
  </dgm:styleLbl>
  <dgm:styleLbl name="fgSibTrans2D1">
    <dgm:fillClrLst meth="repeat">
      <a:srgbClr val="33CCCC">
        <a:tint val="60000"/>
      </a:srgbClr>
    </dgm:fillClrLst>
    <dgm:linClrLst meth="repeat">
      <a:srgbClr val="33CCCC">
        <a:tint val="60000"/>
      </a:srgbClr>
    </dgm:linClrLst>
    <dgm:effectClrLst/>
    <dgm:txLinClrLst/>
    <dgm:txFillClrLst/>
    <dgm:txEffectClrLst/>
  </dgm:styleLbl>
  <dgm:styleLbl name="lnNode1">
    <dgm:fillClrLst meth="repeat">
      <a:srgbClr val="33CCCC"/>
    </dgm:fillClrLst>
    <dgm:linClrLst meth="repeat">
      <a:srgbClr val="FFFFFF"/>
    </dgm:linClrLst>
    <dgm:effectClrLst/>
    <dgm:txLinClrLst/>
    <dgm:txFillClrLst/>
    <dgm:txEffectClrLst/>
  </dgm:styleLbl>
  <dgm:styleLbl name="node0">
    <dgm:fillClrLst meth="repeat">
      <a:srgbClr val="33CCCC"/>
    </dgm:fillClrLst>
    <dgm:linClrLst meth="repeat">
      <a:srgbClr val="FFFFFF"/>
    </dgm:linClrLst>
    <dgm:effectClrLst/>
    <dgm:txLinClrLst/>
    <dgm:txFillClrLst/>
    <dgm:txEffectClrLst/>
  </dgm:styleLbl>
  <dgm:styleLbl name="node1">
    <dgm:fillClrLst meth="repeat">
      <a:srgbClr val="33CCCC"/>
    </dgm:fillClrLst>
    <dgm:linClrLst meth="repeat">
      <a:srgbClr val="FFFFFF"/>
    </dgm:linClrLst>
    <dgm:effectClrLst/>
    <dgm:txLinClrLst/>
    <dgm:txFillClrLst/>
    <dgm:txEffectClrLst/>
  </dgm:styleLbl>
  <dgm:styleLbl name="node2">
    <dgm:fillClrLst meth="repeat">
      <a:srgbClr val="33CCCC"/>
    </dgm:fillClrLst>
    <dgm:linClrLst meth="repeat">
      <a:srgbClr val="FFFFFF"/>
    </dgm:linClrLst>
    <dgm:effectClrLst/>
    <dgm:txLinClrLst/>
    <dgm:txFillClrLst/>
    <dgm:txEffectClrLst/>
  </dgm:styleLbl>
  <dgm:styleLbl name="node3">
    <dgm:fillClrLst meth="repeat">
      <a:srgbClr val="33CCCC"/>
    </dgm:fillClrLst>
    <dgm:linClrLst meth="repeat">
      <a:srgbClr val="FFFFFF"/>
    </dgm:linClrLst>
    <dgm:effectClrLst/>
    <dgm:txLinClrLst/>
    <dgm:txFillClrLst/>
    <dgm:txEffectClrLst/>
  </dgm:styleLbl>
  <dgm:styleLbl name="node4">
    <dgm:fillClrLst meth="repeat">
      <a:srgbClr val="33CCCC"/>
    </dgm:fillClrLst>
    <dgm:linClrLst meth="repeat">
      <a:srgbClr val="FFFFFF"/>
    </dgm:linClrLst>
    <dgm:effectClrLst/>
    <dgm:txLinClrLst/>
    <dgm:txFillClrLst/>
    <dgm:txEffectClrLst/>
  </dgm:styleLbl>
  <dgm:styleLbl name="parChTrans1D1">
    <dgm:fillClrLst meth="repeat">
      <a:srgbClr val="33CCCC"/>
    </dgm:fillClrLst>
    <dgm:linClrLst meth="repeat">
      <a:srgbClr val="33CCCC">
        <a:shade val="60000"/>
      </a:srgbClr>
    </dgm:linClrLst>
    <dgm:effectClrLst/>
    <dgm:txLinClrLst/>
    <dgm:txFillClrLst meth="repeat">
      <a:srgbClr val="000000"/>
    </dgm:txFillClrLst>
    <dgm:txEffectClrLst/>
  </dgm:styleLbl>
  <dgm:styleLbl name="parChTrans1D2">
    <dgm:fillClrLst meth="repeat">
      <a:srgbClr val="33CCCC"/>
    </dgm:fillClrLst>
    <dgm:linClrLst meth="repeat">
      <a:srgbClr val="33CCCC">
        <a:shade val="60000"/>
      </a:srgbClr>
    </dgm:linClrLst>
    <dgm:effectClrLst/>
    <dgm:txLinClrLst/>
    <dgm:txFillClrLst meth="repeat">
      <a:srgbClr val="000000"/>
    </dgm:txFillClrLst>
    <dgm:txEffectClrLst/>
  </dgm:styleLbl>
  <dgm:styleLbl name="parChTrans1D3">
    <dgm:fillClrLst meth="repeat">
      <a:srgbClr val="33CCCC"/>
    </dgm:fillClrLst>
    <dgm:linClrLst meth="repeat">
      <a:srgbClr val="33CCCC">
        <a:shade val="80000"/>
      </a:srgbClr>
    </dgm:linClrLst>
    <dgm:effectClrLst/>
    <dgm:txLinClrLst/>
    <dgm:txFillClrLst meth="repeat">
      <a:srgbClr val="000000"/>
    </dgm:txFillClrLst>
    <dgm:txEffectClrLst/>
  </dgm:styleLbl>
  <dgm:styleLbl name="parChTrans1D4">
    <dgm:fillClrLst meth="repeat">
      <a:srgbClr val="33CCCC"/>
    </dgm:fillClrLst>
    <dgm:linClrLst meth="repeat">
      <a:srgbClr val="33CCCC">
        <a:shade val="80000"/>
      </a:srgbClr>
    </dgm:linClrLst>
    <dgm:effectClrLst/>
    <dgm:txLinClrLst/>
    <dgm:txFillClrLst meth="repeat">
      <a:srgbClr val="000000"/>
    </dgm:txFillClrLst>
    <dgm:txEffectClrLst/>
  </dgm:styleLbl>
  <dgm:styleLbl name="parChTrans2D1">
    <dgm:fillClrLst meth="repeat">
      <a:srgbClr val="33CCCC">
        <a:tint val="60000"/>
      </a:srgbClr>
    </dgm:fillClrLst>
    <dgm:linClrLst meth="repeat">
      <a:srgbClr val="33CCCC">
        <a:tint val="60000"/>
      </a:srgbClr>
    </dgm:linClrLst>
    <dgm:effectClrLst/>
    <dgm:txLinClrLst/>
    <dgm:txFillClrLst meth="repeat">
      <a:srgbClr val="FFFFFF"/>
    </dgm:txFillClrLst>
    <dgm:txEffectClrLst/>
  </dgm:styleLbl>
  <dgm:styleLbl name="parChTrans2D2">
    <dgm:fillClrLst meth="repeat">
      <a:srgbClr val="33CCCC"/>
    </dgm:fillClrLst>
    <dgm:linClrLst meth="repeat">
      <a:srgbClr val="33CCCC"/>
    </dgm:linClrLst>
    <dgm:effectClrLst/>
    <dgm:txLinClrLst/>
    <dgm:txFillClrLst meth="repeat">
      <a:srgbClr val="FFFFFF"/>
    </dgm:txFillClrLst>
    <dgm:txEffectClrLst/>
  </dgm:styleLbl>
  <dgm:styleLbl name="parChTrans2D3">
    <dgm:fillClrLst meth="repeat">
      <a:srgbClr val="33CCCC"/>
    </dgm:fillClrLst>
    <dgm:linClrLst meth="repeat">
      <a:srgbClr val="33CCCC"/>
    </dgm:linClrLst>
    <dgm:effectClrLst/>
    <dgm:txLinClrLst/>
    <dgm:txFillClrLst meth="repeat">
      <a:srgbClr val="FFFFFF"/>
    </dgm:txFillClrLst>
    <dgm:txEffectClrLst/>
  </dgm:styleLbl>
  <dgm:styleLbl name="parChTrans2D4">
    <dgm:fillClrLst meth="repeat">
      <a:srgbClr val="33CCCC"/>
    </dgm:fillClrLst>
    <dgm:linClrLst meth="repeat">
      <a:srgbClr val="33CCCC"/>
    </dgm:linClrLst>
    <dgm:effectClrLst/>
    <dgm:txLinClrLst/>
    <dgm:txFillClrLst meth="repeat">
      <a:srgbClr val="FFFFFF"/>
    </dgm:txFillClrLst>
    <dgm:txEffectClrLst/>
  </dgm:styleLbl>
  <dgm:styleLbl name="revTx">
    <dgm:fillClrLst meth="repeat">
      <a:srgbClr val="FFFFFF">
        <a:alpha val="0"/>
      </a:srgbClr>
    </dgm:fillClrLst>
    <dgm:linClrLst meth="repeat">
      <a:srgbClr val="000000">
        <a:alpha val="0"/>
      </a:srgbClr>
    </dgm:linClrLst>
    <dgm:effectClrLst/>
    <dgm:txLinClrLst/>
    <dgm:txFillClrLst meth="repeat">
      <a:srgbClr val="000000"/>
    </dgm:txFillClrLst>
    <dgm:txEffectClrLst/>
  </dgm:styleLbl>
  <dgm:styleLbl name="sibTrans1D1">
    <dgm:fillClrLst meth="repeat">
      <a:srgbClr val="33CCCC"/>
    </dgm:fillClrLst>
    <dgm:linClrLst meth="repeat">
      <a:srgbClr val="33CCCC"/>
    </dgm:linClrLst>
    <dgm:effectClrLst/>
    <dgm:txLinClrLst/>
    <dgm:txFillClrLst meth="repeat">
      <a:srgbClr val="000000"/>
    </dgm:txFillClrLst>
    <dgm:txEffectClrLst/>
  </dgm:styleLbl>
  <dgm:styleLbl name="sibTrans2D1">
    <dgm:fillClrLst meth="repeat">
      <a:srgbClr val="33CCCC">
        <a:tint val="60000"/>
      </a:srgbClr>
    </dgm:fillClrLst>
    <dgm:linClrLst meth="repeat">
      <a:srgbClr val="33CCCC">
        <a:tint val="60000"/>
      </a:srgbClr>
    </dgm:linClrLst>
    <dgm:effectClrLst/>
    <dgm:txLinClrLst/>
    <dgm:txFillClrLst/>
    <dgm:txEffectClrLst/>
  </dgm:styleLbl>
  <dgm:styleLbl name="solidAlignAcc1">
    <dgm:fillClrLst meth="repeat">
      <a:srgbClr val="FFFFFF"/>
    </dgm:fillClrLst>
    <dgm:linClrLst meth="repeat">
      <a:srgbClr val="33CCCC"/>
    </dgm:linClrLst>
    <dgm:effectClrLst/>
    <dgm:txLinClrLst/>
    <dgm:txFillClrLst meth="repeat">
      <a:srgbClr val="000000"/>
    </dgm:txFillClrLst>
    <dgm:txEffectClrLst/>
  </dgm:styleLbl>
  <dgm:styleLbl name="solidBgAcc1">
    <dgm:fillClrLst meth="repeat">
      <a:srgbClr val="FFFFFF"/>
    </dgm:fillClrLst>
    <dgm:linClrLst meth="repeat">
      <a:srgbClr val="33CCCC"/>
    </dgm:linClrLst>
    <dgm:effectClrLst/>
    <dgm:txLinClrLst/>
    <dgm:txFillClrLst meth="repeat">
      <a:srgbClr val="000000"/>
    </dgm:txFillClrLst>
    <dgm:txEffectClrLst/>
  </dgm:styleLbl>
  <dgm:styleLbl name="solidFgAcc1">
    <dgm:fillClrLst meth="repeat">
      <a:srgbClr val="FFFFFF"/>
    </dgm:fillClrLst>
    <dgm:linClrLst meth="repeat">
      <a:srgbClr val="33CCCC"/>
    </dgm:linClrLst>
    <dgm:effectClrLst/>
    <dgm:txLinClrLst/>
    <dgm:txFillClrLst meth="repeat">
      <a:srgbClr val="000000"/>
    </dgm:txFillClrLst>
    <dgm:txEffectClrLst/>
  </dgm:styleLbl>
  <dgm:styleLbl name="trAlignAcc1">
    <dgm:fillClrLst meth="repeat">
      <a:srgbClr val="FFFFFF">
        <a:alpha val="40000"/>
      </a:srgbClr>
    </dgm:fillClrLst>
    <dgm:linClrLst meth="repeat">
      <a:srgbClr val="33CCCC"/>
    </dgm:linClrLst>
    <dgm:effectClrLst/>
    <dgm:txLinClrLst/>
    <dgm:txFillClrLst meth="repeat">
      <a:srgbClr val="000000"/>
    </dgm:txFillClrLst>
    <dgm:txEffectClrLst/>
  </dgm:styleLbl>
  <dgm:styleLbl name="trBgShp">
    <dgm:fillClrLst meth="repeat">
      <a:srgbClr val="33CCCC">
        <a:tint val="50000"/>
        <a:alpha val="40000"/>
      </a:srgbClr>
    </dgm:fillClrLst>
    <dgm:linClrLst meth="repeat">
      <a:srgbClr val="33CCCC"/>
    </dgm:linClrLst>
    <dgm:effectClrLst/>
    <dgm:txLinClrLst/>
    <dgm:txFillClrLst meth="repeat">
      <a:srgbClr val="FFFFFF"/>
    </dgm:txFillClrLst>
    <dgm:txEffectClrLst/>
  </dgm:styleLbl>
  <dgm:styleLbl name="vennNode1">
    <dgm:fillClrLst meth="repeat">
      <a:srgbClr val="33CCCC">
        <a:alpha val="50000"/>
      </a:srgbClr>
    </dgm:fillClrLst>
    <dgm:linClrLst meth="repeat">
      <a:srgbClr val="FFFFFF"/>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C2FFD9A-4AE4-4F61-BBA0-50025735F99C}" type="doc">
      <dgm:prSet loTypeId="list" loCatId="list" qsTypeId="urn:microsoft.com/office/officeart/2005/8/quickstyle/simple1" qsCatId="simple" csTypeId="urn:microsoft.com/office/officeart/2005/8/colors/accent1_2" csCatId="accent1" phldr="1"/>
      <dgm:spPr/>
      <dgm:t>
        <a:bodyPr/>
        <a:lstStyle/>
        <a:p>
          <a:endParaRPr lang="zh-CN" altLang="en-US"/>
        </a:p>
      </dgm:t>
    </dgm:pt>
    <dgm:pt modelId="{050B071C-40C8-42FC-9BB6-1ED0D067A0D7}">
      <dgm:prSet phldr="0" custT="0"/>
      <dgm:spPr/>
      <dgm:t>
        <a:bodyPr vert="horz" wrap="square"/>
        <a:p>
          <a:pPr>
            <a:lnSpc>
              <a:spcPct val="100000"/>
            </a:lnSpc>
            <a:spcBef>
              <a:spcPct val="0"/>
            </a:spcBef>
            <a:spcAft>
              <a:spcPct val="35000"/>
            </a:spcAft>
          </a:pPr>
          <a:r>
            <a:rPr lang="zh-CN" altLang="en-US" b="1" dirty="0">
              <a:ea typeface="宋体" panose="02010600030101010101" pitchFamily="2" charset="-122"/>
            </a:rPr>
            <a:t>会议在</a:t>
          </a:r>
          <a:r>
            <a:rPr lang="zh-CN" b="1" dirty="0"/>
            <a:t>在原西德加密斯（</a:t>
          </a:r>
          <a:r>
            <a:rPr lang="en-US" b="1" dirty="0" err="1"/>
            <a:t>Garmish</a:t>
          </a:r>
          <a:r>
            <a:rPr lang="zh-CN" b="1" dirty="0"/>
            <a:t>）召开，名为：北大西洋公约组织（</a:t>
          </a:r>
          <a:r>
            <a:rPr lang="en-US" b="1" dirty="0"/>
            <a:t>NATO</a:t>
          </a:r>
          <a:r>
            <a:rPr lang="zh-CN" b="1" dirty="0"/>
            <a:t>）科学委员会会议。</a:t>
          </a:r>
          <a:r>
            <a:rPr lang="zh-CN" b="1">
              <a:sym typeface="+mn-ea"/>
            </a:rPr>
            <a:t>会议上首次提出了软件危机的概念，通过该概念试图建立并使用正确的软件工程方法，开发出低成本、高可靠性的软件，从而解决或缓解软件危机。</a:t>
          </a:r>
          <a:r>
            <a:rPr lang="zh-CN" altLang="en-US" b="1" dirty="0">
              <a:ea typeface="宋体" panose="02010600030101010101" pitchFamily="2" charset="-122"/>
            </a:rPr>
            <a:t/>
          </a:r>
          <a:endParaRPr lang="zh-CN" altLang="en-US" b="1" dirty="0">
            <a:ea typeface="宋体" panose="02010600030101010101" pitchFamily="2" charset="-122"/>
          </a:endParaRPr>
        </a:p>
      </dgm:t>
    </dgm:pt>
    <dgm:pt modelId="{D5344D72-42CE-4B61-82D6-86E304CF956E}" cxnId="{AED35588-6E4C-4447-B9C5-4F7F5641663B}" type="parTrans">
      <dgm:prSet/>
      <dgm:spPr/>
      <dgm:t>
        <a:bodyPr/>
        <a:lstStyle/>
        <a:p>
          <a:endParaRPr lang="zh-CN" altLang="en-US"/>
        </a:p>
      </dgm:t>
    </dgm:pt>
    <dgm:pt modelId="{DD063EA2-F114-4A88-976E-8F1CB2B5C38D}" cxnId="{AED35588-6E4C-4447-B9C5-4F7F5641663B}" type="sibTrans">
      <dgm:prSet/>
      <dgm:spPr/>
      <dgm:t>
        <a:bodyPr/>
        <a:lstStyle/>
        <a:p>
          <a:endParaRPr lang="zh-CN" altLang="en-US"/>
        </a:p>
      </dgm:t>
    </dgm:pt>
    <dgm:pt modelId="{33B34F71-B4B1-4139-971E-864AF408C8E6}" type="pres">
      <dgm:prSet presAssocID="{3C2FFD9A-4AE4-4F61-BBA0-50025735F99C}" presName="linear" presStyleCnt="0">
        <dgm:presLayoutVars>
          <dgm:animLvl val="lvl"/>
          <dgm:resizeHandles val="exact"/>
        </dgm:presLayoutVars>
      </dgm:prSet>
      <dgm:spPr/>
    </dgm:pt>
    <dgm:pt modelId="{2024E97A-FFEA-4C31-9D4D-AD8D524E3C74}" type="pres">
      <dgm:prSet presAssocID="{050B071C-40C8-42FC-9BB6-1ED0D067A0D7}" presName="parentText" presStyleLbl="node1" presStyleIdx="0" presStyleCnt="1">
        <dgm:presLayoutVars>
          <dgm:chMax val="0"/>
          <dgm:bulletEnabled val="1"/>
        </dgm:presLayoutVars>
      </dgm:prSet>
      <dgm:spPr/>
    </dgm:pt>
  </dgm:ptLst>
  <dgm:cxnLst>
    <dgm:cxn modelId="{AED35588-6E4C-4447-B9C5-4F7F5641663B}" srcId="{3C2FFD9A-4AE4-4F61-BBA0-50025735F99C}" destId="{050B071C-40C8-42FC-9BB6-1ED0D067A0D7}" srcOrd="0" destOrd="0" parTransId="{D5344D72-42CE-4B61-82D6-86E304CF956E}" sibTransId="{DD063EA2-F114-4A88-976E-8F1CB2B5C38D}"/>
    <dgm:cxn modelId="{0FE1D6F4-5DBF-43EB-9E36-2272153A0160}" type="presOf" srcId="{3C2FFD9A-4AE4-4F61-BBA0-50025735F99C}" destId="{33B34F71-B4B1-4139-971E-864AF408C8E6}" srcOrd="0" destOrd="0" presId="urn:microsoft.com/office/officeart/2005/8/layout/vList2"/>
    <dgm:cxn modelId="{E1E48855-FD53-4070-9D76-417F7027A06E}" type="presParOf" srcId="{33B34F71-B4B1-4139-971E-864AF408C8E6}" destId="{2024E97A-FFEA-4C31-9D4D-AD8D524E3C74}" srcOrd="0" destOrd="0" presId="urn:microsoft.com/office/officeart/2005/8/layout/vList2"/>
    <dgm:cxn modelId="{4B536F07-F28F-4C07-8A10-8BF562F61E5C}" type="presOf" srcId="{050B071C-40C8-42FC-9BB6-1ED0D067A0D7}" destId="{2024E97A-FFEA-4C31-9D4D-AD8D524E3C7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298315" cy="2437130"/>
        <a:chOff x="0" y="0"/>
        <a:chExt cx="4298315" cy="2437130"/>
      </a:xfrm>
    </dsp:grpSpPr>
    <dsp:sp modelId="{2024E97A-FFEA-4C31-9D4D-AD8D524E3C74}">
      <dsp:nvSpPr>
        <dsp:cNvPr id="3" name="圆角矩形 2"/>
        <dsp:cNvSpPr/>
      </dsp:nvSpPr>
      <dsp:spPr bwMode="white">
        <a:xfrm>
          <a:off x="0" y="14923"/>
          <a:ext cx="4298315" cy="2407285"/>
        </a:xfrm>
        <a:prstGeom prst="roundRect">
          <a:avLst/>
        </a:prstGeom>
      </dsp:spPr>
      <dsp:style>
        <a:lnRef idx="2">
          <a:srgbClr val="FFFFFF"/>
        </a:lnRef>
        <a:fillRef idx="1">
          <a:srgbClr val="33CCCC"/>
        </a:fillRef>
        <a:effectRef idx="0">
          <a:scrgbClr r="0" g="0" b="0"/>
        </a:effectRef>
        <a:fontRef idx="minor">
          <a:srgbClr val="FFFFFF"/>
        </a:fontRef>
      </dsp:style>
      <dsp:txBody>
        <a:bodyPr vert="horz" wrap="square" lIns="72390" tIns="72390" rIns="72390" bIns="7239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b="1" dirty="0">
              <a:ea typeface="宋体" panose="02010600030101010101" pitchFamily="2" charset="-122"/>
            </a:rPr>
            <a:t>会议在</a:t>
          </a:r>
          <a:r>
            <a:rPr lang="zh-CN" b="1" dirty="0"/>
            <a:t>在原西德加密斯（</a:t>
          </a:r>
          <a:r>
            <a:rPr lang="en-US" b="1" dirty="0" err="1"/>
            <a:t>Garmish</a:t>
          </a:r>
          <a:r>
            <a:rPr lang="zh-CN" b="1" dirty="0"/>
            <a:t>）召开，名为：北大西洋公约组织（</a:t>
          </a:r>
          <a:r>
            <a:rPr lang="en-US" b="1" dirty="0"/>
            <a:t>NATO</a:t>
          </a:r>
          <a:r>
            <a:rPr lang="zh-CN" b="1" dirty="0"/>
            <a:t>）科学委员会会议。</a:t>
          </a:r>
          <a:r>
            <a:rPr lang="zh-CN" b="1">
              <a:sym typeface="+mn-ea"/>
            </a:rPr>
            <a:t>会议上首次提出了软件危机的概念，通过该概念试图建立并使用正确的软件工程方法，开发出低成本、高可靠性的软件，从而解决或缓解软件危机。</a:t>
          </a:r>
          <a:endParaRPr lang="zh-CN" altLang="en-US" b="1" dirty="0">
            <a:ea typeface="宋体" panose="02010600030101010101" pitchFamily="2" charset="-122"/>
          </a:endParaRPr>
        </a:p>
      </dsp:txBody>
      <dsp:txXfrm>
        <a:off x="0" y="14923"/>
        <a:ext cx="4298315" cy="24072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rgbClr val="FFFFFF"/>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rgbClr val="FFFFFF"/>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rgbClr val="FFFFFF"/>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rgbClr val="FFFFFF"/>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rgbClr val="000000"/>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4338" name="Rectangle 3"/>
          <p:cNvSpPr>
            <a:spLocks noTextEdit="1"/>
          </p:cNvSpPr>
          <p:nvPr>
            <p:ph type="sldImg"/>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6386" name="Rectangle 3"/>
          <p:cNvSpPr>
            <a:spLocks noTextEdit="1"/>
          </p:cNvSpPr>
          <p:nvPr>
            <p:ph type="sldImg"/>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9" Type="http://schemas.openxmlformats.org/officeDocument/2006/relationships/diagramQuickStyle" Target="../diagrams/quickStyle1.xml"/><Relationship Id="rId8" Type="http://schemas.openxmlformats.org/officeDocument/2006/relationships/diagramLayout" Target="../diagrams/layout1.xml"/><Relationship Id="rId7" Type="http://schemas.openxmlformats.org/officeDocument/2006/relationships/diagramData" Target="../diagrams/data1.xml"/><Relationship Id="rId6" Type="http://schemas.openxmlformats.org/officeDocument/2006/relationships/tags" Target="../tags/tag20.xml"/><Relationship Id="rId5" Type="http://schemas.openxmlformats.org/officeDocument/2006/relationships/image" Target="../media/image5.png"/><Relationship Id="rId4" Type="http://schemas.openxmlformats.org/officeDocument/2006/relationships/tags" Target="../tags/tag19.xml"/><Relationship Id="rId3" Type="http://schemas.openxmlformats.org/officeDocument/2006/relationships/image" Target="../media/image4.png"/><Relationship Id="rId2" Type="http://schemas.openxmlformats.org/officeDocument/2006/relationships/tags" Target="../tags/tag18.xml"/><Relationship Id="rId12" Type="http://schemas.openxmlformats.org/officeDocument/2006/relationships/slideLayout" Target="../slideLayouts/slideLayout2.xml"/><Relationship Id="rId11" Type="http://schemas.microsoft.com/office/2007/relationships/diagramDrawing" Target="../diagrams/drawing1.xml"/><Relationship Id="rId10" Type="http://schemas.openxmlformats.org/officeDocument/2006/relationships/diagramColors" Target="../diagrams/colors1.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94.xml"/><Relationship Id="rId1" Type="http://schemas.openxmlformats.org/officeDocument/2006/relationships/tags" Target="../tags/tag93.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96.xml"/><Relationship Id="rId1" Type="http://schemas.openxmlformats.org/officeDocument/2006/relationships/tags" Target="../tags/tag95.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tags" Target="../tags/tag103.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106.xml"/><Relationship Id="rId1" Type="http://schemas.openxmlformats.org/officeDocument/2006/relationships/tags" Target="../tags/tag105.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tags" Target="../tags/tag10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5.xml"/><Relationship Id="rId3" Type="http://schemas.openxmlformats.org/officeDocument/2006/relationships/image" Target="../media/image10.png"/><Relationship Id="rId2" Type="http://schemas.openxmlformats.org/officeDocument/2006/relationships/tags" Target="../tags/tag114.xml"/><Relationship Id="rId1" Type="http://schemas.openxmlformats.org/officeDocument/2006/relationships/tags" Target="../tags/tag113.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0.xml"/><Relationship Id="rId1" Type="http://schemas.openxmlformats.org/officeDocument/2006/relationships/tags" Target="../tags/tag129.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2.xml"/><Relationship Id="rId1" Type="http://schemas.openxmlformats.org/officeDocument/2006/relationships/tags" Target="../tags/tag13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617538" y="198755"/>
            <a:ext cx="3541395" cy="424815"/>
          </a:xfrm>
        </p:spPr>
        <p:txBody>
          <a:bodyPr vert="horz" wrap="none" lIns="63500" tIns="25400" rIns="63500" bIns="25400" anchor="t" anchorCtr="0">
            <a:spAutoFit/>
          </a:bodyPr>
          <a:p>
            <a:pPr algn="l"/>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Course Introduction</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15363" name="Rectangle 3"/>
          <p:cNvSpPr>
            <a:spLocks noGrp="1" noRot="1"/>
          </p:cNvSpPr>
          <p:nvPr>
            <p:ph type="subTitle" idx="1"/>
            <p:custDataLst>
              <p:tags r:id="rId1"/>
            </p:custDataLst>
          </p:nvPr>
        </p:nvSpPr>
        <p:spPr>
          <a:xfrm>
            <a:off x="111125" y="795655"/>
            <a:ext cx="8883650" cy="577342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chemeClr val="tx2">
                    <a:lumMod val="90000"/>
                    <a:lumOff val="10000"/>
                  </a:schemeClr>
                </a:solidFill>
                <a:latin typeface="黑体" panose="02010609060101010101" pitchFamily="49" charset="-122"/>
                <a:ea typeface="黑体" panose="02010609060101010101" pitchFamily="49" charset="-122"/>
                <a:sym typeface="+mn-ea"/>
              </a:rPr>
              <a:t>《</a:t>
            </a:r>
            <a:r>
              <a:rPr lang="zh-CN" altLang="en-US" sz="2800" dirty="0">
                <a:solidFill>
                  <a:schemeClr val="tx2">
                    <a:lumMod val="90000"/>
                    <a:lumOff val="10000"/>
                  </a:schemeClr>
                </a:solidFill>
                <a:latin typeface="黑体" panose="02010609060101010101" pitchFamily="49" charset="-122"/>
                <a:ea typeface="黑体" panose="02010609060101010101" pitchFamily="49" charset="-122"/>
                <a:sym typeface="+mn-ea"/>
              </a:rPr>
              <a:t>软件工程</a:t>
            </a:r>
            <a:r>
              <a:rPr lang="en-US" altLang="zh-CN" sz="2800" dirty="0">
                <a:solidFill>
                  <a:schemeClr val="tx2">
                    <a:lumMod val="90000"/>
                    <a:lumOff val="10000"/>
                  </a:schemeClr>
                </a:solidFill>
                <a:latin typeface="黑体" panose="02010609060101010101" pitchFamily="49" charset="-122"/>
                <a:ea typeface="黑体" panose="02010609060101010101" pitchFamily="49" charset="-122"/>
                <a:sym typeface="+mn-ea"/>
              </a:rPr>
              <a:t>》</a:t>
            </a:r>
            <a:r>
              <a:rPr lang="zh-CN" altLang="en-US" sz="2800" dirty="0">
                <a:solidFill>
                  <a:schemeClr val="tx2">
                    <a:lumMod val="90000"/>
                    <a:lumOff val="10000"/>
                  </a:schemeClr>
                </a:solidFill>
                <a:latin typeface="黑体" panose="02010609060101010101" pitchFamily="49" charset="-122"/>
                <a:ea typeface="黑体" panose="02010609060101010101" pitchFamily="49" charset="-122"/>
                <a:sym typeface="+mn-ea"/>
              </a:rPr>
              <a:t>（双语）是一门什么样的课程？</a:t>
            </a:r>
            <a:r>
              <a:rPr lang="en-US" altLang="zh-CN" sz="2800" dirty="0">
                <a:solidFill>
                  <a:schemeClr val="tx2">
                    <a:lumMod val="90000"/>
                    <a:lumOff val="10000"/>
                  </a:schemeClr>
                </a:solidFill>
                <a:ea typeface="宋体" panose="02010600030101010101" pitchFamily="2" charset="-122"/>
                <a:sym typeface="+mn-ea"/>
              </a:rPr>
              <a:t> </a:t>
            </a:r>
            <a:endParaRPr lang="zh-CN" altLang="en-US" sz="2800" dirty="0">
              <a:solidFill>
                <a:schemeClr val="tx2">
                  <a:lumMod val="90000"/>
                  <a:lumOff val="10000"/>
                </a:schemeClr>
              </a:solidFill>
              <a:sym typeface="+mn-ea"/>
            </a:endParaRPr>
          </a:p>
          <a:p>
            <a:pPr marL="0" indent="0" algn="just" eaLnBrk="1" latinLnBrk="0" hangingPunct="1">
              <a:lnSpc>
                <a:spcPct val="100000"/>
              </a:lnSpc>
              <a:spcBef>
                <a:spcPts val="1000"/>
              </a:spcBef>
              <a:buSzTx/>
              <a:buFont typeface="Wingdings" panose="05000000000000000000" pitchFamily="2" charset="2"/>
              <a:buNone/>
            </a:pPr>
            <a:r>
              <a:rPr lang="en-US" altLang="zh-CN" sz="2300" b="1" dirty="0">
                <a:solidFill>
                  <a:schemeClr val="tx1"/>
                </a:solidFill>
                <a:latin typeface="+mn-lt"/>
                <a:ea typeface="+mn-ea"/>
                <a:cs typeface="+mn-cs"/>
              </a:rPr>
              <a:t>    * </a:t>
            </a:r>
            <a:r>
              <a:rPr lang="zh-CN" altLang="en-US" sz="2300" dirty="0">
                <a:sym typeface="+mn-ea"/>
              </a:rPr>
              <a:t>是软件工程专业的一门重要的必修课程。</a:t>
            </a:r>
            <a:endParaRPr lang="zh-CN" altLang="en-US" sz="2300" dirty="0">
              <a:sym typeface="+mn-ea"/>
            </a:endParaRPr>
          </a:p>
          <a:p>
            <a:pPr marL="0" indent="0" algn="just" eaLnBrk="1" latinLnBrk="0" hangingPunct="1">
              <a:lnSpc>
                <a:spcPct val="100000"/>
              </a:lnSpc>
              <a:spcBef>
                <a:spcPts val="1000"/>
              </a:spcBef>
              <a:buSzTx/>
              <a:buFont typeface="Wingdings" panose="05000000000000000000" pitchFamily="2" charset="2"/>
              <a:buNone/>
            </a:pPr>
            <a:r>
              <a:rPr lang="zh-CN" altLang="en-US" sz="2300" dirty="0">
                <a:sym typeface="+mn-ea"/>
              </a:rPr>
              <a:t> </a:t>
            </a:r>
            <a:r>
              <a:rPr lang="en-US" altLang="zh-CN" sz="2300" dirty="0">
                <a:sym typeface="+mn-ea"/>
              </a:rPr>
              <a:t>   * </a:t>
            </a:r>
            <a:r>
              <a:rPr lang="zh-CN" altLang="en-US" sz="2300" dirty="0">
                <a:sym typeface="+mn-ea"/>
              </a:rPr>
              <a:t>软件工程作为一门工程学科，所研究的是</a:t>
            </a:r>
            <a:r>
              <a:rPr lang="zh-CN" altLang="en-US" sz="2300" dirty="0">
                <a:solidFill>
                  <a:srgbClr val="005400"/>
                </a:solidFill>
                <a:sym typeface="+mn-ea"/>
              </a:rPr>
              <a:t>软件设计</a:t>
            </a:r>
            <a:r>
              <a:rPr lang="zh-CN" altLang="en-US" sz="2300" dirty="0">
                <a:sym typeface="+mn-ea"/>
              </a:rPr>
              <a:t>、</a:t>
            </a:r>
            <a:r>
              <a:rPr lang="zh-CN" altLang="en-US" sz="2300" dirty="0">
                <a:solidFill>
                  <a:srgbClr val="005400"/>
                </a:solidFill>
                <a:sym typeface="+mn-ea"/>
              </a:rPr>
              <a:t>开发</a:t>
            </a:r>
            <a:r>
              <a:rPr lang="zh-CN" altLang="en-US" sz="2300" dirty="0">
                <a:sym typeface="+mn-ea"/>
              </a:rPr>
              <a:t>、</a:t>
            </a:r>
            <a:r>
              <a:rPr lang="zh-CN" altLang="en-US" sz="2300" dirty="0">
                <a:solidFill>
                  <a:srgbClr val="005400"/>
                </a:solidFill>
                <a:sym typeface="+mn-ea"/>
              </a:rPr>
              <a:t>测试</a:t>
            </a:r>
            <a:r>
              <a:rPr lang="zh-CN" altLang="en-US" sz="2300" dirty="0">
                <a:sym typeface="+mn-ea"/>
              </a:rPr>
              <a:t>、</a:t>
            </a:r>
            <a:r>
              <a:rPr lang="zh-CN" altLang="en-US" sz="2300" dirty="0">
                <a:solidFill>
                  <a:srgbClr val="005400"/>
                </a:solidFill>
                <a:sym typeface="+mn-ea"/>
              </a:rPr>
              <a:t>维护</a:t>
            </a:r>
            <a:r>
              <a:rPr lang="zh-CN" altLang="en-US" sz="2300" dirty="0">
                <a:sym typeface="+mn-ea"/>
              </a:rPr>
              <a:t>以及</a:t>
            </a:r>
            <a:r>
              <a:rPr lang="zh-CN" altLang="en-US" sz="2300" dirty="0">
                <a:solidFill>
                  <a:srgbClr val="005400"/>
                </a:solidFill>
                <a:sym typeface="+mn-ea"/>
              </a:rPr>
              <a:t>管理</a:t>
            </a:r>
            <a:r>
              <a:rPr lang="zh-CN" altLang="en-US" sz="2300" dirty="0">
                <a:sym typeface="+mn-ea"/>
              </a:rPr>
              <a:t>的</a:t>
            </a:r>
            <a:r>
              <a:rPr lang="zh-CN" altLang="en-US" sz="2300" dirty="0">
                <a:solidFill>
                  <a:srgbClr val="005400"/>
                </a:solidFill>
                <a:sym typeface="+mn-ea"/>
              </a:rPr>
              <a:t>方法学</a:t>
            </a:r>
            <a:r>
              <a:rPr lang="zh-CN" altLang="en-US" sz="2300" dirty="0">
                <a:sym typeface="+mn-ea"/>
              </a:rPr>
              <a:t>。因此，本课程是学生们在至少学习了一门编程语言后，在软件设计理念上进一步加以提升的课程。</a:t>
            </a:r>
            <a:endParaRPr lang="zh-CN" altLang="en-US" sz="2300" dirty="0">
              <a:sym typeface="+mn-ea"/>
            </a:endParaRPr>
          </a:p>
          <a:p>
            <a:pPr marL="0" indent="0" algn="just" eaLnBrk="1" latinLnBrk="0" hangingPunct="1">
              <a:lnSpc>
                <a:spcPct val="100000"/>
              </a:lnSpc>
              <a:spcBef>
                <a:spcPts val="1000"/>
              </a:spcBef>
              <a:buSzTx/>
              <a:buFont typeface="Wingdings" panose="05000000000000000000" pitchFamily="2" charset="2"/>
              <a:buNone/>
            </a:pPr>
            <a:r>
              <a:rPr lang="zh-CN" altLang="en-US" sz="2300" dirty="0">
                <a:sym typeface="+mn-ea"/>
              </a:rPr>
              <a:t> </a:t>
            </a:r>
            <a:r>
              <a:rPr lang="en-US" altLang="zh-CN" sz="2300" dirty="0">
                <a:sym typeface="+mn-ea"/>
              </a:rPr>
              <a:t>   * </a:t>
            </a:r>
            <a:r>
              <a:rPr lang="zh-CN" altLang="en-US" sz="2300" dirty="0">
                <a:sym typeface="+mn-ea"/>
              </a:rPr>
              <a:t>为此，课程内容将全面涵盖软件工程领域的基本主题，包括：</a:t>
            </a:r>
            <a:r>
              <a:rPr lang="zh-CN" altLang="en-US" sz="2300" u="sng" dirty="0">
                <a:sym typeface="+mn-ea"/>
              </a:rPr>
              <a:t>软件工程概述</a:t>
            </a:r>
            <a:r>
              <a:rPr lang="zh-CN" altLang="en-US" sz="2300" dirty="0">
                <a:sym typeface="+mn-ea"/>
              </a:rPr>
              <a:t>、</a:t>
            </a:r>
            <a:r>
              <a:rPr lang="zh-CN" altLang="en-US" sz="2300" u="sng" dirty="0">
                <a:sym typeface="+mn-ea"/>
              </a:rPr>
              <a:t>软件过程</a:t>
            </a:r>
            <a:r>
              <a:rPr lang="zh-CN" altLang="en-US" sz="2300" dirty="0">
                <a:sym typeface="+mn-ea"/>
              </a:rPr>
              <a:t>、</a:t>
            </a:r>
            <a:r>
              <a:rPr lang="zh-CN" altLang="en-US" sz="2300" u="sng" dirty="0">
                <a:sym typeface="+mn-ea"/>
              </a:rPr>
              <a:t>敏捷软件开发</a:t>
            </a:r>
            <a:r>
              <a:rPr lang="zh-CN" altLang="en-US" sz="2300" dirty="0">
                <a:sym typeface="+mn-ea"/>
              </a:rPr>
              <a:t>、</a:t>
            </a:r>
            <a:r>
              <a:rPr lang="zh-CN" altLang="en-US" sz="2300" u="sng" dirty="0">
                <a:sym typeface="+mn-ea"/>
              </a:rPr>
              <a:t>需求工程</a:t>
            </a:r>
            <a:r>
              <a:rPr lang="zh-CN" altLang="en-US" sz="2300" dirty="0">
                <a:sym typeface="+mn-ea"/>
              </a:rPr>
              <a:t>、</a:t>
            </a:r>
            <a:r>
              <a:rPr lang="zh-CN" altLang="en-US" sz="2300" u="sng" dirty="0">
                <a:sym typeface="+mn-ea"/>
              </a:rPr>
              <a:t>系统建模</a:t>
            </a:r>
            <a:r>
              <a:rPr lang="zh-CN" altLang="en-US" sz="2300" dirty="0">
                <a:sym typeface="+mn-ea"/>
              </a:rPr>
              <a:t>、</a:t>
            </a:r>
            <a:r>
              <a:rPr lang="zh-CN" altLang="en-US" sz="2300" u="sng" dirty="0">
                <a:sym typeface="+mn-ea"/>
              </a:rPr>
              <a:t>体系结构设计</a:t>
            </a:r>
            <a:r>
              <a:rPr lang="zh-CN" altLang="en-US" sz="2300" dirty="0">
                <a:sym typeface="+mn-ea"/>
              </a:rPr>
              <a:t>、</a:t>
            </a:r>
            <a:r>
              <a:rPr lang="zh-CN" altLang="en-US" sz="2300" u="sng" dirty="0">
                <a:sym typeface="+mn-ea"/>
              </a:rPr>
              <a:t>设计和实现</a:t>
            </a:r>
            <a:r>
              <a:rPr lang="zh-CN" altLang="en-US" sz="2300" dirty="0">
                <a:sym typeface="+mn-ea"/>
              </a:rPr>
              <a:t>、</a:t>
            </a:r>
            <a:r>
              <a:rPr lang="zh-CN" altLang="en-US" sz="2300" u="sng" dirty="0">
                <a:sym typeface="+mn-ea"/>
              </a:rPr>
              <a:t>软件测试</a:t>
            </a:r>
            <a:r>
              <a:rPr lang="zh-CN" altLang="en-US" sz="2300" dirty="0">
                <a:sym typeface="+mn-ea"/>
              </a:rPr>
              <a:t>、</a:t>
            </a:r>
            <a:r>
              <a:rPr lang="zh-CN" altLang="en-US" sz="2300" u="sng" dirty="0">
                <a:sym typeface="+mn-ea"/>
              </a:rPr>
              <a:t>软件演化</a:t>
            </a:r>
            <a:r>
              <a:rPr lang="zh-CN" altLang="en-US" sz="2300" dirty="0">
                <a:sym typeface="+mn-ea"/>
              </a:rPr>
              <a:t>。此外，作为扩展，还加进了</a:t>
            </a:r>
            <a:r>
              <a:rPr lang="zh-CN" altLang="en-US" sz="2300" u="sng" dirty="0">
                <a:sym typeface="+mn-ea"/>
              </a:rPr>
              <a:t>可依赖系统</a:t>
            </a:r>
            <a:r>
              <a:rPr lang="zh-CN" altLang="en-US" sz="2300" dirty="0">
                <a:sym typeface="+mn-ea"/>
              </a:rPr>
              <a:t>、</a:t>
            </a:r>
            <a:r>
              <a:rPr lang="zh-CN" altLang="en-US" sz="2300" u="sng" dirty="0">
                <a:sym typeface="+mn-ea"/>
              </a:rPr>
              <a:t>软件复用</a:t>
            </a:r>
            <a:r>
              <a:rPr lang="zh-CN" altLang="en-US" sz="2300" dirty="0">
                <a:sym typeface="+mn-ea"/>
              </a:rPr>
              <a:t>、及</a:t>
            </a:r>
            <a:r>
              <a:rPr lang="zh-CN" altLang="en-US" sz="2300" u="sng" dirty="0">
                <a:sym typeface="+mn-ea"/>
              </a:rPr>
              <a:t>项目管理</a:t>
            </a:r>
            <a:r>
              <a:rPr lang="zh-CN" altLang="en-US" sz="2300" dirty="0">
                <a:sym typeface="+mn-ea"/>
              </a:rPr>
              <a:t>三个高级主题。</a:t>
            </a:r>
            <a:endParaRPr lang="zh-CN" altLang="en-US" sz="2300" dirty="0">
              <a:sym typeface="+mn-ea"/>
            </a:endParaRPr>
          </a:p>
          <a:p>
            <a:pPr marL="0" indent="0" algn="just" eaLnBrk="1" latinLnBrk="0" hangingPunct="1">
              <a:lnSpc>
                <a:spcPct val="100000"/>
              </a:lnSpc>
              <a:spcBef>
                <a:spcPts val="1000"/>
              </a:spcBef>
              <a:buSzTx/>
              <a:buFont typeface="Wingdings" panose="05000000000000000000" pitchFamily="2" charset="2"/>
              <a:buNone/>
            </a:pPr>
            <a:r>
              <a:rPr lang="zh-CN" altLang="en-US" sz="2300" dirty="0">
                <a:sym typeface="+mn-ea"/>
              </a:rPr>
              <a:t> </a:t>
            </a:r>
            <a:r>
              <a:rPr lang="en-US" altLang="zh-CN" sz="2300" dirty="0">
                <a:sym typeface="+mn-ea"/>
              </a:rPr>
              <a:t>   * </a:t>
            </a:r>
            <a:r>
              <a:rPr lang="zh-CN" altLang="en-US" sz="2300" dirty="0">
                <a:sym typeface="+mn-ea"/>
              </a:rPr>
              <a:t>只有掌握了这些知识，才能进一步研习软件工程的更高级的主题，如安全工程、分布式系统、服务系统等等。所以，本课程无疑具有承上启下的作用。</a:t>
            </a:r>
            <a:endParaRPr lang="zh-CN" altLang="en-US" sz="2300" dirty="0">
              <a:sym typeface="+mn-ea"/>
            </a:endParaRPr>
          </a:p>
          <a:p>
            <a:pPr marL="0" indent="0" algn="just" eaLnBrk="1" latinLnBrk="0" hangingPunct="1">
              <a:lnSpc>
                <a:spcPct val="100000"/>
              </a:lnSpc>
              <a:spcBef>
                <a:spcPts val="1000"/>
              </a:spcBef>
              <a:buSzTx/>
              <a:buFont typeface="Wingdings" panose="05000000000000000000" pitchFamily="2" charset="2"/>
              <a:buNone/>
            </a:pPr>
            <a:r>
              <a:rPr lang="en-US" altLang="zh-CN" sz="2300" b="1" dirty="0">
                <a:solidFill>
                  <a:schemeClr val="tx1"/>
                </a:solidFill>
                <a:latin typeface="+mn-lt"/>
                <a:cs typeface="+mn-cs"/>
              </a:rPr>
              <a:t>    * 本课程是双语课程，旨在提高学生的英文阅读理解能力，鼓励学生通过阅读原文来更准确地理解教材和文献的内容。</a:t>
            </a:r>
            <a:endParaRPr lang="en-US" altLang="zh-CN" sz="2300" b="1" dirty="0">
              <a:solidFill>
                <a:schemeClr val="tx1"/>
              </a:solidFill>
              <a:latin typeface="+mn-lt"/>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617538" y="198755"/>
            <a:ext cx="155702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课程介绍</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15363" name="Rectangle 3"/>
          <p:cNvSpPr>
            <a:spLocks noGrp="1" noRot="1"/>
          </p:cNvSpPr>
          <p:nvPr>
            <p:ph type="subTitle" idx="1"/>
            <p:custDataLst>
              <p:tags r:id="rId1"/>
            </p:custDataLst>
          </p:nvPr>
        </p:nvSpPr>
        <p:spPr>
          <a:xfrm>
            <a:off x="111125" y="939165"/>
            <a:ext cx="8883650" cy="39439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先导课程</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dirty="0">
                <a:solidFill>
                  <a:schemeClr val="tx2">
                    <a:lumMod val="75000"/>
                    <a:lumOff val="25000"/>
                  </a:schemeClr>
                </a:solidFill>
                <a:sym typeface="+mn-ea"/>
              </a:rPr>
              <a:t>    * 一门面向对象编程语言（C++或Java）</a:t>
            </a:r>
            <a:r>
              <a:rPr lang="zh-CN" altLang="en-US" dirty="0">
                <a:solidFill>
                  <a:schemeClr val="tx2">
                    <a:lumMod val="75000"/>
                    <a:lumOff val="25000"/>
                  </a:schemeClr>
                </a:solidFill>
                <a:sym typeface="+mn-ea"/>
              </a:rPr>
              <a:t>。</a:t>
            </a:r>
            <a:endParaRPr lang="zh-CN" altLang="en-US" dirty="0">
              <a:solidFill>
                <a:schemeClr val="tx2">
                  <a:lumMod val="75000"/>
                  <a:lumOff val="25000"/>
                </a:schemeClr>
              </a:solidFill>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b="1" dirty="0">
                <a:solidFill>
                  <a:schemeClr val="tx2">
                    <a:lumMod val="75000"/>
                    <a:lumOff val="25000"/>
                  </a:schemeClr>
                </a:solidFill>
                <a:latin typeface="+mn-lt"/>
                <a:ea typeface="宋体" panose="02010600030101010101" pitchFamily="2" charset="-122"/>
                <a:cs typeface="+mn-cs"/>
              </a:rPr>
              <a:t>    * </a:t>
            </a:r>
            <a:r>
              <a:rPr lang="zh-CN" altLang="en-US" b="1" dirty="0">
                <a:solidFill>
                  <a:schemeClr val="tx2">
                    <a:lumMod val="75000"/>
                    <a:lumOff val="25000"/>
                  </a:schemeClr>
                </a:solidFill>
                <a:latin typeface="+mn-lt"/>
                <a:ea typeface="宋体" panose="02010600030101010101" pitchFamily="2" charset="-122"/>
                <a:cs typeface="+mn-cs"/>
              </a:rPr>
              <a:t>大学</a:t>
            </a:r>
            <a:r>
              <a:rPr lang="en-US" altLang="zh-CN" dirty="0">
                <a:solidFill>
                  <a:schemeClr val="tx2">
                    <a:lumMod val="75000"/>
                    <a:lumOff val="25000"/>
                  </a:schemeClr>
                </a:solidFill>
                <a:sym typeface="+mn-ea"/>
              </a:rPr>
              <a:t>计算机基础</a:t>
            </a:r>
            <a:r>
              <a:rPr lang="zh-CN" altLang="en-US" b="1" dirty="0">
                <a:solidFill>
                  <a:schemeClr val="tx2">
                    <a:lumMod val="75000"/>
                    <a:lumOff val="25000"/>
                  </a:schemeClr>
                </a:solidFill>
                <a:latin typeface="+mn-lt"/>
                <a:ea typeface="宋体" panose="02010600030101010101" pitchFamily="2" charset="-122"/>
                <a:cs typeface="+mn-cs"/>
              </a:rPr>
              <a:t>。</a:t>
            </a:r>
            <a:endParaRPr lang="en-US" altLang="zh-CN" b="1" dirty="0">
              <a:solidFill>
                <a:schemeClr val="tx2">
                  <a:lumMod val="75000"/>
                  <a:lumOff val="25000"/>
                </a:schemeClr>
              </a:solidFill>
              <a:latin typeface="+mn-lt"/>
              <a:ea typeface="宋体" panose="02010600030101010101" pitchFamily="2" charset="-122"/>
              <a:cs typeface="+mn-cs"/>
            </a:endParaRPr>
          </a:p>
          <a:p>
            <a:pPr algn="l" eaLnBrk="1" latinLnBrk="0" hangingPunct="1">
              <a:lnSpc>
                <a:spcPct val="100000"/>
              </a:lnSpc>
              <a:spcBef>
                <a:spcPts val="1200"/>
              </a:spcBef>
              <a:buClrTx/>
              <a:buSzTx/>
              <a:buFont typeface="Wingdings" panose="05000000000000000000" pitchFamily="2" charset="2"/>
              <a:buChar char="§"/>
            </a:pPr>
            <a:endParaRPr lang="en-US" altLang="zh-CN" dirty="0">
              <a:solidFill>
                <a:schemeClr val="accent1"/>
              </a:solidFill>
              <a:ea typeface="宋体" panose="02010600030101010101" pitchFamily="2" charset="-122"/>
              <a:sym typeface="+mn-ea"/>
            </a:endParaRPr>
          </a:p>
          <a:p>
            <a:pPr algn="l" eaLnBrk="1" latinLnBrk="0" hangingPunct="1">
              <a:lnSpc>
                <a:spcPct val="100000"/>
              </a:lnSpc>
              <a:spcBef>
                <a:spcPts val="1200"/>
              </a:spcBef>
              <a:buClrTx/>
              <a:buSzTx/>
              <a:buFont typeface="Wingdings" panose="05000000000000000000" pitchFamily="2" charset="2"/>
              <a:buChar char="§"/>
            </a:pPr>
            <a:r>
              <a:rPr lang="en-US" altLang="zh-CN" sz="2800" dirty="0">
                <a:solidFill>
                  <a:schemeClr val="accent1">
                    <a:lumMod val="75000"/>
                  </a:schemeClr>
                </a:solidFill>
                <a:latin typeface="黑体" panose="02010609060101010101" pitchFamily="49" charset="-122"/>
                <a:ea typeface="黑体" panose="02010609060101010101" pitchFamily="49" charset="-122"/>
                <a:sym typeface="+mn-ea"/>
              </a:rPr>
              <a:t>联系方式</a:t>
            </a:r>
            <a:endParaRPr lang="en-US" altLang="zh-CN" sz="2800" dirty="0">
              <a:solidFill>
                <a:schemeClr val="accent1">
                  <a:lumMod val="75000"/>
                </a:schemeClr>
              </a:solidFill>
              <a:latin typeface="黑体" panose="02010609060101010101" pitchFamily="49" charset="-122"/>
              <a:ea typeface="黑体" panose="02010609060101010101" pitchFamily="49" charset="-122"/>
            </a:endParaRPr>
          </a:p>
          <a:p>
            <a:pPr marL="457200" indent="-457200" latinLnBrk="0">
              <a:lnSpc>
                <a:spcPct val="100000"/>
              </a:lnSpc>
              <a:spcBef>
                <a:spcPts val="1200"/>
              </a:spcBef>
              <a:buNone/>
            </a:pPr>
            <a:r>
              <a:rPr lang="zh-CN" altLang="en-US" dirty="0">
                <a:solidFill>
                  <a:schemeClr val="tx2">
                    <a:lumMod val="75000"/>
                    <a:lumOff val="25000"/>
                  </a:schemeClr>
                </a:solidFill>
                <a:ea typeface="宋体" panose="02010600030101010101" pitchFamily="2" charset="-122"/>
                <a:sym typeface="+mn-ea"/>
              </a:rPr>
              <a:t>  （</a:t>
            </a:r>
            <a:r>
              <a:rPr lang="en-US" altLang="zh-CN" dirty="0">
                <a:solidFill>
                  <a:schemeClr val="tx2">
                    <a:lumMod val="75000"/>
                    <a:lumOff val="25000"/>
                  </a:schemeClr>
                </a:solidFill>
                <a:ea typeface="宋体" panose="02010600030101010101" pitchFamily="2" charset="-122"/>
                <a:sym typeface="+mn-ea"/>
              </a:rPr>
              <a:t>1</a:t>
            </a:r>
            <a:r>
              <a:rPr lang="zh-CN" altLang="en-US" dirty="0">
                <a:solidFill>
                  <a:schemeClr val="tx2">
                    <a:lumMod val="75000"/>
                    <a:lumOff val="25000"/>
                  </a:schemeClr>
                </a:solidFill>
                <a:ea typeface="宋体" panose="02010600030101010101" pitchFamily="2" charset="-122"/>
                <a:sym typeface="+mn-ea"/>
              </a:rPr>
              <a:t>）微信群：将在校区企业微信群中建立课程班级的微信群。</a:t>
            </a:r>
            <a:endParaRPr lang="zh-CN" altLang="en-US" dirty="0">
              <a:solidFill>
                <a:schemeClr val="tx2">
                  <a:lumMod val="75000"/>
                  <a:lumOff val="25000"/>
                </a:schemeClr>
              </a:solidFill>
              <a:ea typeface="宋体" panose="02010600030101010101" pitchFamily="2" charset="-122"/>
              <a:sym typeface="+mn-ea"/>
            </a:endParaRPr>
          </a:p>
          <a:p>
            <a:pPr marL="457200" indent="-457200" latinLnBrk="0">
              <a:lnSpc>
                <a:spcPct val="100000"/>
              </a:lnSpc>
              <a:spcBef>
                <a:spcPts val="1200"/>
              </a:spcBef>
              <a:buNone/>
            </a:pPr>
            <a:r>
              <a:rPr lang="zh-CN" altLang="en-US" dirty="0">
                <a:solidFill>
                  <a:schemeClr val="tx2">
                    <a:lumMod val="75000"/>
                    <a:lumOff val="25000"/>
                  </a:schemeClr>
                </a:solidFill>
                <a:ea typeface="宋体" panose="02010600030101010101" pitchFamily="2" charset="-122"/>
                <a:sym typeface="+mn-ea"/>
              </a:rPr>
              <a:t>  （</a:t>
            </a:r>
            <a:r>
              <a:rPr lang="en-US" altLang="zh-CN" dirty="0">
                <a:solidFill>
                  <a:schemeClr val="tx2">
                    <a:lumMod val="75000"/>
                    <a:lumOff val="25000"/>
                  </a:schemeClr>
                </a:solidFill>
                <a:ea typeface="宋体" panose="02010600030101010101" pitchFamily="2" charset="-122"/>
                <a:sym typeface="+mn-ea"/>
              </a:rPr>
              <a:t>2</a:t>
            </a:r>
            <a:r>
              <a:rPr lang="zh-CN" altLang="en-US" dirty="0">
                <a:solidFill>
                  <a:schemeClr val="tx2">
                    <a:lumMod val="75000"/>
                    <a:lumOff val="25000"/>
                  </a:schemeClr>
                </a:solidFill>
                <a:ea typeface="宋体" panose="02010600030101010101" pitchFamily="2" charset="-122"/>
                <a:sym typeface="+mn-ea"/>
              </a:rPr>
              <a:t>）课程网站：作业在</a:t>
            </a:r>
            <a:r>
              <a:rPr lang="zh-CN" altLang="en-US" u="sng" dirty="0">
                <a:solidFill>
                  <a:schemeClr val="tx2">
                    <a:lumMod val="75000"/>
                    <a:lumOff val="25000"/>
                  </a:schemeClr>
                </a:solidFill>
                <a:ea typeface="宋体" panose="02010600030101010101" pitchFamily="2" charset="-122"/>
                <a:sym typeface="+mn-ea"/>
              </a:rPr>
              <a:t>雨课堂</a:t>
            </a:r>
            <a:r>
              <a:rPr lang="zh-CN" altLang="en-US" dirty="0">
                <a:solidFill>
                  <a:schemeClr val="tx2">
                    <a:lumMod val="75000"/>
                    <a:lumOff val="25000"/>
                  </a:schemeClr>
                </a:solidFill>
                <a:ea typeface="宋体" panose="02010600030101010101" pitchFamily="2" charset="-122"/>
                <a:sym typeface="+mn-ea"/>
              </a:rPr>
              <a:t>上布置和提交。</a:t>
            </a:r>
            <a:endParaRPr lang="zh-CN" altLang="en-US" b="1" dirty="0">
              <a:solidFill>
                <a:schemeClr val="tx2">
                  <a:lumMod val="75000"/>
                  <a:lumOff val="25000"/>
                </a:schemeClr>
              </a:solidFill>
              <a:latin typeface="+mn-lt"/>
              <a:ea typeface="宋体" panose="02010600030101010101" pitchFamily="2" charset="-122"/>
              <a:cs typeface="+mn-cs"/>
              <a:sym typeface="+mn-ea"/>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p:cNvSpPr>
          <p:nvPr>
            <p:ph idx="1"/>
          </p:nvPr>
        </p:nvSpPr>
        <p:spPr>
          <a:xfrm>
            <a:off x="123825" y="693420"/>
            <a:ext cx="9003030" cy="3046095"/>
          </a:xfrm>
        </p:spPr>
        <p:txBody>
          <a:bodyPr vert="horz" wrap="square" lIns="28800" tIns="25400" rIns="28800" bIns="25400" anchor="t" anchorCtr="0">
            <a:noAutofit/>
          </a:bodyPr>
          <a:p>
            <a:pPr algn="l" eaLnBrk="1" latinLnBrk="0" hangingPunct="1">
              <a:lnSpc>
                <a:spcPct val="100000"/>
              </a:lnSpc>
              <a:spcBef>
                <a:spcPts val="500"/>
              </a:spcBef>
              <a:buClrTx/>
              <a:buSzTx/>
              <a:buFont typeface="Wingdings" panose="05000000000000000000" pitchFamily="2" charset="2"/>
              <a:buChar char="§"/>
            </a:pPr>
            <a:r>
              <a:rPr lang="en-US" altLang="zh-CN" sz="2800" dirty="0">
                <a:solidFill>
                  <a:schemeClr val="accent1">
                    <a:lumMod val="75000"/>
                  </a:schemeClr>
                </a:solidFill>
                <a:ea typeface="宋体" panose="02010600030101010101" pitchFamily="2" charset="-122"/>
                <a:sym typeface="Symbol" panose="05050102010706020507" pitchFamily="18" charset="2"/>
              </a:rPr>
              <a:t> Textbook</a:t>
            </a:r>
            <a:endParaRPr lang="en-US" altLang="zh-CN" sz="2800" dirty="0">
              <a:solidFill>
                <a:schemeClr val="accent1">
                  <a:lumMod val="75000"/>
                </a:schemeClr>
              </a:solidFill>
              <a:ea typeface="宋体" panose="02010600030101010101" pitchFamily="2" charset="-122"/>
              <a:sym typeface="Symbol" panose="05050102010706020507" pitchFamily="18" charset="2"/>
            </a:endParaRPr>
          </a:p>
          <a:p>
            <a:pPr marL="457200" indent="-457200" latinLnBrk="0">
              <a:lnSpc>
                <a:spcPct val="100000"/>
              </a:lnSpc>
              <a:spcBef>
                <a:spcPts val="500"/>
              </a:spcBef>
              <a:buNone/>
            </a:pPr>
            <a:r>
              <a:rPr lang="en-US" altLang="zh-CN" sz="2000" dirty="0">
                <a:solidFill>
                  <a:schemeClr val="tx2">
                    <a:lumMod val="75000"/>
                    <a:lumOff val="25000"/>
                  </a:schemeClr>
                </a:solidFill>
                <a:ea typeface="宋体" panose="02010600030101010101" pitchFamily="2" charset="-122"/>
                <a:sym typeface="Symbol" panose="05050102010706020507" pitchFamily="18" charset="2"/>
              </a:rPr>
              <a:t>1. </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《软件工程》（原著第10版），伊恩.萨默维尔，彭鑫，赵文耘译，机械工业出版社，20</a:t>
            </a:r>
            <a:r>
              <a:rPr lang="en-US" altLang="zh-CN" sz="2000" dirty="0">
                <a:solidFill>
                  <a:schemeClr val="tx2">
                    <a:lumMod val="75000"/>
                    <a:lumOff val="25000"/>
                  </a:schemeClr>
                </a:solidFill>
                <a:ea typeface="宋体" panose="02010600030101010101" pitchFamily="2" charset="-122"/>
                <a:sym typeface="Symbol" panose="05050102010706020507" pitchFamily="18" charset="2"/>
              </a:rPr>
              <a:t>18.2</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a:t>
            </a:r>
            <a:endParaRPr lang="zh-CN" altLang="en-US" sz="2000" dirty="0">
              <a:solidFill>
                <a:schemeClr val="tx2">
                  <a:lumMod val="75000"/>
                  <a:lumOff val="25000"/>
                </a:schemeClr>
              </a:solidFill>
              <a:ea typeface="宋体" panose="02010600030101010101" pitchFamily="2" charset="-122"/>
              <a:sym typeface="Symbol" panose="05050102010706020507" pitchFamily="18" charset="2"/>
            </a:endParaRPr>
          </a:p>
          <a:p>
            <a:pPr algn="l" eaLnBrk="1" latinLnBrk="0" hangingPunct="1">
              <a:lnSpc>
                <a:spcPct val="100000"/>
              </a:lnSpc>
              <a:spcBef>
                <a:spcPts val="500"/>
              </a:spcBef>
              <a:buClrTx/>
              <a:buSzTx/>
              <a:buFont typeface="Wingdings" panose="05000000000000000000" pitchFamily="2" charset="2"/>
              <a:buChar char="§"/>
            </a:pPr>
            <a:r>
              <a:rPr lang="en-US" altLang="zh-CN" sz="2800" dirty="0">
                <a:solidFill>
                  <a:schemeClr val="accent1">
                    <a:lumMod val="75000"/>
                  </a:schemeClr>
                </a:solidFill>
                <a:ea typeface="宋体" panose="02010600030101010101" pitchFamily="2" charset="-122"/>
                <a:sym typeface="Symbol" panose="05050102010706020507" pitchFamily="18" charset="2"/>
              </a:rPr>
              <a:t> References</a:t>
            </a:r>
            <a:endParaRPr lang="en-US" altLang="zh-CN" sz="2800" dirty="0">
              <a:solidFill>
                <a:schemeClr val="accent1">
                  <a:lumMod val="75000"/>
                </a:schemeClr>
              </a:solidFill>
              <a:ea typeface="宋体" panose="02010600030101010101" pitchFamily="2" charset="-122"/>
              <a:sym typeface="Symbol" panose="05050102010706020507" pitchFamily="18" charset="2"/>
            </a:endParaRPr>
          </a:p>
          <a:p>
            <a:pPr marL="457200" indent="-457200" latinLnBrk="0">
              <a:lnSpc>
                <a:spcPct val="100000"/>
              </a:lnSpc>
              <a:spcBef>
                <a:spcPts val="500"/>
              </a:spcBef>
              <a:buNone/>
            </a:pPr>
            <a:r>
              <a:rPr lang="en-US" altLang="zh-CN" sz="2000" dirty="0">
                <a:solidFill>
                  <a:schemeClr val="tx2">
                    <a:lumMod val="75000"/>
                    <a:lumOff val="25000"/>
                  </a:schemeClr>
                </a:solidFill>
                <a:ea typeface="宋体" panose="02010600030101010101" pitchFamily="2" charset="-122"/>
                <a:sym typeface="Symbol" panose="05050102010706020507" pitchFamily="18" charset="2"/>
              </a:rPr>
              <a:t>1. </a:t>
            </a:r>
            <a:r>
              <a:rPr sz="2000" i="1" dirty="0">
                <a:solidFill>
                  <a:schemeClr val="tx2">
                    <a:lumMod val="75000"/>
                    <a:lumOff val="25000"/>
                  </a:schemeClr>
                </a:solidFill>
                <a:ea typeface="宋体" panose="02010600030101010101" pitchFamily="2" charset="-122"/>
                <a:sym typeface="Symbol" panose="05050102010706020507" pitchFamily="18" charset="2"/>
              </a:rPr>
              <a:t>Software Engineering</a:t>
            </a:r>
            <a:r>
              <a:rPr lang="en-US" sz="2000" dirty="0">
                <a:solidFill>
                  <a:schemeClr val="tx2">
                    <a:lumMod val="75000"/>
                    <a:lumOff val="25000"/>
                  </a:schemeClr>
                </a:solidFill>
                <a:ea typeface="宋体" panose="02010600030101010101" pitchFamily="2" charset="-122"/>
                <a:sym typeface="Symbol" panose="05050102010706020507" pitchFamily="18" charset="2"/>
              </a:rPr>
              <a:t>, 10th Edition, Ian Sommerville, Pearson Education Limited, 2016.</a:t>
            </a:r>
            <a:endParaRPr lang="zh-CN" altLang="en-US" sz="2000" dirty="0">
              <a:solidFill>
                <a:schemeClr val="tx2">
                  <a:lumMod val="75000"/>
                  <a:lumOff val="25000"/>
                </a:schemeClr>
              </a:solidFill>
              <a:ea typeface="宋体" panose="02010600030101010101" pitchFamily="2" charset="-122"/>
              <a:sym typeface="Symbol" panose="05050102010706020507" pitchFamily="18" charset="2"/>
            </a:endParaRPr>
          </a:p>
          <a:p>
            <a:pPr marL="457200" indent="-457200" latinLnBrk="0">
              <a:lnSpc>
                <a:spcPct val="100000"/>
              </a:lnSpc>
              <a:spcBef>
                <a:spcPts val="500"/>
              </a:spcBef>
              <a:buNone/>
            </a:pPr>
            <a:r>
              <a:rPr lang="zh-CN" altLang="en-US" sz="2000" dirty="0">
                <a:solidFill>
                  <a:schemeClr val="tx2">
                    <a:lumMod val="75000"/>
                    <a:lumOff val="25000"/>
                  </a:schemeClr>
                </a:solidFill>
                <a:ea typeface="宋体" panose="02010600030101010101" pitchFamily="2" charset="-122"/>
                <a:sym typeface="Symbol" panose="05050102010706020507" pitchFamily="18" charset="2"/>
              </a:rPr>
              <a:t>2. 《软件工程：实践者的研究方法》</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（原著第</a:t>
            </a:r>
            <a:r>
              <a:rPr lang="en-US" altLang="zh-CN" sz="2000" dirty="0">
                <a:solidFill>
                  <a:schemeClr val="tx2">
                    <a:lumMod val="75000"/>
                    <a:lumOff val="25000"/>
                  </a:schemeClr>
                </a:solidFill>
                <a:ea typeface="宋体" panose="02010600030101010101" pitchFamily="2" charset="-122"/>
                <a:sym typeface="Symbol" panose="05050102010706020507" pitchFamily="18" charset="2"/>
              </a:rPr>
              <a:t>8</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版）</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，罗杰 S. 普莱斯曼，郑人杰译，</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机械工业</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出版社，2016</a:t>
            </a:r>
            <a:r>
              <a:rPr lang="en-US" altLang="zh-CN" sz="2000" dirty="0">
                <a:solidFill>
                  <a:schemeClr val="tx2">
                    <a:lumMod val="75000"/>
                    <a:lumOff val="25000"/>
                  </a:schemeClr>
                </a:solidFill>
                <a:ea typeface="宋体" panose="02010600030101010101" pitchFamily="2" charset="-122"/>
                <a:sym typeface="Symbol" panose="05050102010706020507" pitchFamily="18" charset="2"/>
              </a:rPr>
              <a:t>.11</a:t>
            </a:r>
            <a:r>
              <a:rPr lang="zh-CN" altLang="en-US" sz="2000" dirty="0">
                <a:solidFill>
                  <a:schemeClr val="tx2">
                    <a:lumMod val="75000"/>
                    <a:lumOff val="25000"/>
                  </a:schemeClr>
                </a:solidFill>
                <a:ea typeface="宋体" panose="02010600030101010101" pitchFamily="2" charset="-122"/>
                <a:sym typeface="Symbol" panose="05050102010706020507" pitchFamily="18" charset="2"/>
              </a:rPr>
              <a:t>。</a:t>
            </a:r>
            <a:endParaRPr lang="zh-CN" altLang="en-US" sz="2000" dirty="0">
              <a:solidFill>
                <a:schemeClr val="tx2">
                  <a:lumMod val="75000"/>
                  <a:lumOff val="25000"/>
                </a:schemeClr>
              </a:solidFill>
              <a:ea typeface="宋体" panose="02010600030101010101" pitchFamily="2" charset="-122"/>
              <a:sym typeface="Symbol" panose="05050102010706020507" pitchFamily="18" charset="2"/>
            </a:endParaRPr>
          </a:p>
        </p:txBody>
      </p:sp>
      <p:sp>
        <p:nvSpPr>
          <p:cNvPr id="19457" name="Rectangle 2"/>
          <p:cNvSpPr>
            <a:spLocks noGrp="1"/>
          </p:cNvSpPr>
          <p:nvPr>
            <p:ph type="title"/>
            <p:custDataLst>
              <p:tags r:id="rId1"/>
            </p:custDataLst>
          </p:nvPr>
        </p:nvSpPr>
        <p:spPr>
          <a:xfrm>
            <a:off x="617538" y="198755"/>
            <a:ext cx="155702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课程介绍</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p:nvPr/>
        </p:nvPicPr>
        <p:blipFill>
          <a:blip r:embed="rId2"/>
        </p:blipFill>
        <p:spPr>
          <a:xfrm>
            <a:off x="6513195" y="3717290"/>
            <a:ext cx="1664970" cy="2842895"/>
          </a:xfrm>
          <a:prstGeom prst="rect">
            <a:avLst/>
          </a:prstGeom>
        </p:spPr>
      </p:pic>
      <p:pic>
        <p:nvPicPr>
          <p:cNvPr id="4" name="图片 3"/>
          <p:cNvPicPr>
            <a:picLocks noChangeAspect="1"/>
          </p:cNvPicPr>
          <p:nvPr/>
        </p:nvPicPr>
        <p:blipFill>
          <a:blip r:embed="rId3"/>
          <a:stretch>
            <a:fillRect/>
          </a:stretch>
        </p:blipFill>
        <p:spPr>
          <a:xfrm>
            <a:off x="3561080" y="3789045"/>
            <a:ext cx="2264410" cy="2785745"/>
          </a:xfrm>
          <a:prstGeom prst="rect">
            <a:avLst/>
          </a:prstGeom>
        </p:spPr>
      </p:pic>
      <p:pic>
        <p:nvPicPr>
          <p:cNvPr id="5" name="图片 4"/>
          <p:cNvPicPr>
            <a:picLocks noChangeAspect="1"/>
          </p:cNvPicPr>
          <p:nvPr/>
        </p:nvPicPr>
        <p:blipFill>
          <a:blip r:embed="rId4"/>
          <a:stretch>
            <a:fillRect/>
          </a:stretch>
        </p:blipFill>
        <p:spPr>
          <a:xfrm>
            <a:off x="899160" y="3717290"/>
            <a:ext cx="1914525" cy="291782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p:cNvSpPr>
          <p:nvPr>
            <p:ph idx="1"/>
          </p:nvPr>
        </p:nvSpPr>
        <p:spPr>
          <a:xfrm>
            <a:off x="178435" y="2343785"/>
            <a:ext cx="8812530" cy="3020695"/>
          </a:xfrm>
        </p:spPr>
        <p:txBody>
          <a:bodyPr vert="horz" wrap="square" lIns="28800" tIns="25400" rIns="28800" bIns="25400" anchor="t" anchorCtr="0">
            <a:spAutoFit/>
          </a:bodyPr>
          <a:p>
            <a:pPr marL="457200" indent="-457200" latinLnBrk="0">
              <a:lnSpc>
                <a:spcPct val="100000"/>
              </a:lnSpc>
              <a:spcBef>
                <a:spcPts val="1200"/>
              </a:spcBef>
              <a:buNone/>
            </a:pPr>
            <a:r>
              <a:rPr lang="en-US" altLang="zh-CN" sz="2800" dirty="0">
                <a:solidFill>
                  <a:schemeClr val="accent1">
                    <a:lumMod val="75000"/>
                  </a:schemeClr>
                </a:solidFill>
                <a:latin typeface="黑体" panose="02010609060101010101" pitchFamily="49" charset="-122"/>
                <a:ea typeface="黑体" panose="02010609060101010101" pitchFamily="49" charset="-122"/>
                <a:sym typeface="Symbol" panose="05050102010706020507" pitchFamily="18" charset="2"/>
              </a:rPr>
              <a:t>考核方式</a:t>
            </a:r>
            <a:endParaRPr lang="zh-CN" altLang="en-US" sz="3200" dirty="0">
              <a:solidFill>
                <a:srgbClr val="800000"/>
              </a:solidFill>
              <a:ea typeface="宋体" panose="02010600030101010101" pitchFamily="2" charset="-122"/>
            </a:endParaRPr>
          </a:p>
          <a:p>
            <a:pPr marL="457200" indent="-457200" latinLnBrk="0">
              <a:lnSpc>
                <a:spcPct val="100000"/>
              </a:lnSpc>
              <a:spcBef>
                <a:spcPts val="1200"/>
              </a:spcBef>
              <a:buNone/>
            </a:pPr>
            <a:r>
              <a:rPr lang="en-US" altLang="zh-CN" sz="2500" dirty="0">
                <a:ea typeface="宋体" panose="02010600030101010101" pitchFamily="2" charset="-122"/>
              </a:rPr>
              <a:t>   * 总评成绩 = 平时成绩</a:t>
            </a:r>
            <a:r>
              <a:rPr lang="en-US" altLang="zh-CN" sz="2500" dirty="0">
                <a:ea typeface="宋体" panose="02010600030101010101" pitchFamily="2" charset="-122"/>
                <a:sym typeface="Symbol" panose="05050102010706020507" charset="0"/>
              </a:rPr>
              <a:t>40%</a:t>
            </a:r>
            <a:r>
              <a:rPr lang="en-US" altLang="zh-CN" sz="2500" dirty="0">
                <a:ea typeface="宋体" panose="02010600030101010101" pitchFamily="2" charset="-122"/>
              </a:rPr>
              <a:t> + </a:t>
            </a:r>
            <a:r>
              <a:rPr lang="zh-CN" altLang="en-US" sz="2500" dirty="0">
                <a:ea typeface="宋体" panose="02010600030101010101" pitchFamily="2" charset="-122"/>
              </a:rPr>
              <a:t>结课</a:t>
            </a:r>
            <a:r>
              <a:rPr lang="en-US" altLang="zh-CN" sz="2500" dirty="0">
                <a:ea typeface="宋体" panose="02010600030101010101" pitchFamily="2" charset="-122"/>
              </a:rPr>
              <a:t>考试成绩</a:t>
            </a:r>
            <a:r>
              <a:rPr lang="en-US" altLang="zh-CN" sz="2500" dirty="0">
                <a:ea typeface="宋体" panose="02010600030101010101" pitchFamily="2" charset="-122"/>
                <a:sym typeface="Symbol" panose="05050102010706020507" charset="0"/>
              </a:rPr>
              <a:t>60%</a:t>
            </a:r>
            <a:endParaRPr lang="en-US" altLang="zh-CN" sz="2500" dirty="0">
              <a:ea typeface="宋体" panose="02010600030101010101" pitchFamily="2" charset="-122"/>
            </a:endParaRPr>
          </a:p>
          <a:p>
            <a:pPr marL="457200" indent="-457200" latinLnBrk="0">
              <a:lnSpc>
                <a:spcPct val="100000"/>
              </a:lnSpc>
              <a:spcBef>
                <a:spcPts val="1200"/>
              </a:spcBef>
              <a:buNone/>
            </a:pPr>
            <a:r>
              <a:rPr lang="en-US" altLang="zh-CN" sz="2500" dirty="0">
                <a:ea typeface="宋体" panose="02010600030101010101" pitchFamily="2" charset="-122"/>
              </a:rPr>
              <a:t>        </a:t>
            </a:r>
            <a:r>
              <a:rPr lang="zh-CN" altLang="en-US" sz="2500" u="sng"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注意！</a:t>
            </a:r>
            <a:r>
              <a:rPr lang="en-US" altLang="zh-CN" sz="2500" u="sng"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 </a:t>
            </a:r>
            <a:r>
              <a:rPr lang="zh-CN" altLang="en-US" sz="2500" u="sng"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若结课考试成绩低于40分，其课程总评成绩评定为不合格，总评成绩按结课考试成绩记。</a:t>
            </a:r>
            <a:endParaRPr lang="zh-CN" altLang="en-US" sz="2500" dirty="0">
              <a:ea typeface="宋体" panose="02010600030101010101" pitchFamily="2" charset="-122"/>
            </a:endParaRPr>
          </a:p>
          <a:p>
            <a:pPr marL="457200" indent="-457200" latinLnBrk="0">
              <a:lnSpc>
                <a:spcPct val="100000"/>
              </a:lnSpc>
              <a:spcBef>
                <a:spcPts val="1200"/>
              </a:spcBef>
              <a:buNone/>
            </a:pPr>
            <a:r>
              <a:rPr lang="en-US" altLang="zh-CN" sz="2500" dirty="0">
                <a:ea typeface="宋体" panose="02010600030101010101" pitchFamily="2" charset="-122"/>
              </a:rPr>
              <a:t>   * </a:t>
            </a:r>
            <a:r>
              <a:rPr lang="zh-CN" altLang="en-US" sz="2500" dirty="0">
                <a:ea typeface="宋体" panose="02010600030101010101" pitchFamily="2" charset="-122"/>
              </a:rPr>
              <a:t>平时成绩</a:t>
            </a:r>
            <a:r>
              <a:rPr lang="en-US" altLang="zh-CN" sz="2500" dirty="0">
                <a:ea typeface="宋体" panose="02010600030101010101" pitchFamily="2" charset="-122"/>
              </a:rPr>
              <a:t> = 考勤/</a:t>
            </a:r>
            <a:r>
              <a:rPr lang="zh-CN" altLang="en-US" sz="2500" dirty="0">
                <a:ea typeface="宋体" panose="02010600030101010101" pitchFamily="2" charset="-122"/>
              </a:rPr>
              <a:t>提问</a:t>
            </a:r>
            <a:r>
              <a:rPr lang="en-US" altLang="zh-CN" sz="2500" dirty="0">
                <a:ea typeface="宋体" panose="02010600030101010101" pitchFamily="2" charset="-122"/>
                <a:sym typeface="Symbol" panose="05050102010706020507" charset="0"/>
              </a:rPr>
              <a:t>2</a:t>
            </a:r>
            <a:r>
              <a:rPr lang="en-US" altLang="zh-CN" sz="2500" dirty="0">
                <a:ea typeface="宋体" panose="02010600030101010101" pitchFamily="2" charset="-122"/>
              </a:rPr>
              <a:t>0%+平时作业</a:t>
            </a:r>
            <a:r>
              <a:rPr lang="en-US" altLang="zh-CN" sz="2500" dirty="0">
                <a:ea typeface="宋体" panose="02010600030101010101" pitchFamily="2" charset="-122"/>
                <a:sym typeface="Symbol" panose="05050102010706020507" charset="0"/>
              </a:rPr>
              <a:t>8</a:t>
            </a:r>
            <a:r>
              <a:rPr lang="en-US" altLang="zh-CN" sz="2500" dirty="0">
                <a:ea typeface="宋体" panose="02010600030101010101" pitchFamily="2" charset="-122"/>
              </a:rPr>
              <a:t>0%</a:t>
            </a:r>
            <a:endParaRPr lang="en-US" altLang="zh-CN" sz="2500" dirty="0">
              <a:ea typeface="宋体" panose="02010600030101010101" pitchFamily="2" charset="-122"/>
            </a:endParaRPr>
          </a:p>
          <a:p>
            <a:pPr marL="457200" indent="-457200" latinLnBrk="0">
              <a:lnSpc>
                <a:spcPct val="100000"/>
              </a:lnSpc>
              <a:spcBef>
                <a:spcPts val="1200"/>
              </a:spcBef>
              <a:buNone/>
            </a:pPr>
            <a:r>
              <a:rPr lang="en-US" altLang="zh-CN" sz="2500" dirty="0">
                <a:ea typeface="宋体" panose="02010600030101010101" pitchFamily="2" charset="-122"/>
              </a:rPr>
              <a:t>   * </a:t>
            </a:r>
            <a:r>
              <a:rPr lang="zh-CN" altLang="en-US" sz="2500" dirty="0">
                <a:ea typeface="宋体" panose="02010600030101010101" pitchFamily="2" charset="-122"/>
              </a:rPr>
              <a:t>结课考试：笔试（闭卷），英文试卷。</a:t>
            </a:r>
            <a:endParaRPr lang="zh-CN" altLang="en-US" sz="2500" dirty="0">
              <a:ea typeface="宋体" panose="02010600030101010101" pitchFamily="2" charset="-122"/>
            </a:endParaRPr>
          </a:p>
        </p:txBody>
      </p:sp>
      <p:sp>
        <p:nvSpPr>
          <p:cNvPr id="13314" name="Rectangle 3"/>
          <p:cNvSpPr>
            <a:spLocks noGrp="1"/>
          </p:cNvSpPr>
          <p:nvPr>
            <p:custDataLst>
              <p:tags r:id="rId1"/>
            </p:custDataLst>
          </p:nvPr>
        </p:nvSpPr>
        <p:spPr>
          <a:xfrm>
            <a:off x="193675" y="1052195"/>
            <a:ext cx="8771255" cy="1019810"/>
          </a:xfrm>
          <a:prstGeom prst="rect">
            <a:avLst/>
          </a:prstGeom>
          <a:noFill/>
          <a:ln w="12700">
            <a:noFill/>
          </a:ln>
        </p:spPr>
        <p:txBody>
          <a:bodyPr vert="horz" wrap="square" lIns="28800" tIns="25400" rIns="28800" bIns="25400" anchor="t" anchorCtr="0">
            <a:sp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a:lnSpc>
                <a:spcPct val="100000"/>
              </a:lnSpc>
              <a:spcBef>
                <a:spcPts val="1200"/>
              </a:spcBef>
              <a:buNone/>
            </a:pPr>
            <a:r>
              <a:rPr lang="en-US" altLang="zh-CN" sz="2800" kern="0" dirty="0">
                <a:solidFill>
                  <a:schemeClr val="accent1">
                    <a:lumMod val="75000"/>
                  </a:schemeClr>
                </a:solidFill>
                <a:latin typeface="黑体" panose="02010609060101010101" pitchFamily="49" charset="-122"/>
                <a:ea typeface="黑体" panose="02010609060101010101" pitchFamily="49" charset="-122"/>
              </a:rPr>
              <a:t>学时分配</a:t>
            </a:r>
            <a:endParaRPr lang="en-US" altLang="zh-CN" sz="2800" kern="0" dirty="0">
              <a:solidFill>
                <a:schemeClr val="accent1">
                  <a:lumMod val="75000"/>
                </a:schemeClr>
              </a:solidFill>
              <a:latin typeface="黑体" panose="02010609060101010101" pitchFamily="49" charset="-122"/>
              <a:ea typeface="黑体" panose="02010609060101010101" pitchFamily="49" charset="-122"/>
            </a:endParaRPr>
          </a:p>
          <a:p>
            <a:pPr marL="457200" indent="-457200">
              <a:lnSpc>
                <a:spcPct val="100000"/>
              </a:lnSpc>
              <a:spcBef>
                <a:spcPts val="1200"/>
              </a:spcBef>
              <a:buNone/>
            </a:pPr>
            <a:r>
              <a:rPr lang="en-US" altLang="zh-CN" sz="2500" dirty="0">
                <a:ea typeface="宋体" panose="02010600030101010101" pitchFamily="2" charset="-122"/>
              </a:rPr>
              <a:t>    </a:t>
            </a:r>
            <a:r>
              <a:rPr lang="en-US" altLang="zh-CN" sz="2500" dirty="0">
                <a:ea typeface="宋体" panose="02010600030101010101" pitchFamily="2" charset="-122"/>
                <a:sym typeface="+mn-ea"/>
              </a:rPr>
              <a:t>共48学时</a:t>
            </a:r>
            <a:r>
              <a:rPr lang="zh-CN" altLang="en-US" sz="2500" dirty="0">
                <a:ea typeface="宋体" panose="02010600030101010101" pitchFamily="2" charset="-122"/>
                <a:sym typeface="+mn-ea"/>
              </a:rPr>
              <a:t>（</a:t>
            </a:r>
            <a:r>
              <a:rPr lang="en-US" altLang="zh-CN" sz="2500" dirty="0">
                <a:ea typeface="宋体" panose="02010600030101010101" pitchFamily="2" charset="-122"/>
                <a:sym typeface="+mn-ea"/>
              </a:rPr>
              <a:t>24次课</a:t>
            </a:r>
            <a:r>
              <a:rPr lang="zh-CN" altLang="en-US" sz="2500" dirty="0">
                <a:ea typeface="宋体" panose="02010600030101010101" pitchFamily="2" charset="-122"/>
                <a:sym typeface="+mn-ea"/>
              </a:rPr>
              <a:t>），全部采取</a:t>
            </a:r>
            <a:r>
              <a:rPr lang="en-US" altLang="zh-CN" sz="2500" dirty="0">
                <a:ea typeface="宋体" panose="02010600030101010101" pitchFamily="2" charset="-122"/>
                <a:sym typeface="+mn-ea"/>
              </a:rPr>
              <a:t>课堂讲授</a:t>
            </a:r>
            <a:r>
              <a:rPr lang="zh-CN" altLang="en-US" sz="2500" dirty="0">
                <a:ea typeface="宋体" panose="02010600030101010101" pitchFamily="2" charset="-122"/>
                <a:sym typeface="+mn-ea"/>
              </a:rPr>
              <a:t>方式教学</a:t>
            </a:r>
            <a:r>
              <a:rPr lang="en-US" altLang="zh-CN" sz="2500" dirty="0">
                <a:ea typeface="宋体" panose="02010600030101010101" pitchFamily="2" charset="-122"/>
                <a:sym typeface="+mn-ea"/>
              </a:rPr>
              <a:t>。</a:t>
            </a:r>
            <a:endParaRPr lang="en-US" altLang="zh-CN" sz="2500" dirty="0">
              <a:ea typeface="宋体" panose="02010600030101010101" pitchFamily="2" charset="-122"/>
            </a:endParaRPr>
          </a:p>
        </p:txBody>
      </p:sp>
      <p:sp>
        <p:nvSpPr>
          <p:cNvPr id="19457" name="Rectangle 2"/>
          <p:cNvSpPr>
            <a:spLocks noGrp="1"/>
          </p:cNvSpPr>
          <p:nvPr>
            <p:ph type="title"/>
            <p:custDataLst>
              <p:tags r:id="rId2"/>
            </p:custDataLst>
          </p:nvPr>
        </p:nvSpPr>
        <p:spPr>
          <a:xfrm>
            <a:off x="617538" y="198755"/>
            <a:ext cx="155702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课程介绍</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617538" y="198755"/>
            <a:ext cx="155702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课程介绍</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15363" name="Rectangle 3"/>
          <p:cNvSpPr>
            <a:spLocks noGrp="1" noRot="1"/>
          </p:cNvSpPr>
          <p:nvPr>
            <p:ph type="subTitle" idx="1"/>
            <p:custDataLst>
              <p:tags r:id="rId1"/>
            </p:custDataLst>
          </p:nvPr>
        </p:nvSpPr>
        <p:spPr>
          <a:xfrm>
            <a:off x="111125" y="723900"/>
            <a:ext cx="8883650" cy="5817870"/>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en-US" altLang="zh-CN" sz="2800" dirty="0">
                <a:solidFill>
                  <a:srgbClr val="B3380D"/>
                </a:solidFill>
                <a:ea typeface="宋体" panose="02010600030101010101" pitchFamily="2" charset="-122"/>
                <a:sym typeface="+mn-ea"/>
              </a:rPr>
              <a:t> Contents</a:t>
            </a:r>
            <a:endParaRPr lang="en-US" altLang="zh-CN" sz="2800" dirty="0">
              <a:solidFill>
                <a:srgbClr val="B3380D"/>
              </a:solidFill>
              <a:ea typeface="宋体" panose="02010600030101010101" pitchFamily="2" charset="-122"/>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1    </a:t>
            </a:r>
            <a:r>
              <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Introduction</a:t>
            </a: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导论</a:t>
            </a:r>
            <a:endPar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2    </a:t>
            </a:r>
            <a:r>
              <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Software processes</a:t>
            </a:r>
            <a:r>
              <a:rPr 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软件过程</a:t>
            </a:r>
            <a:endPar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3    </a:t>
            </a:r>
            <a:r>
              <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Agile software development</a:t>
            </a:r>
            <a:r>
              <a:rPr 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敏捷软件开发</a:t>
            </a:r>
            <a:endPar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4    </a:t>
            </a:r>
            <a:r>
              <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Requirements engineering</a:t>
            </a:r>
            <a:r>
              <a:rPr 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需求工程</a:t>
            </a:r>
            <a:endPar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5    </a:t>
            </a:r>
            <a:r>
              <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System modeling</a:t>
            </a:r>
            <a:r>
              <a:rPr 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系统建模</a:t>
            </a:r>
            <a:endPar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6    </a:t>
            </a:r>
            <a:r>
              <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Architectural design</a:t>
            </a:r>
            <a:r>
              <a:rPr 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体系结构设计</a:t>
            </a:r>
            <a:endParaRPr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7    </a:t>
            </a:r>
            <a:r>
              <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Design and implementation</a:t>
            </a: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设计和实现</a:t>
            </a:r>
            <a:endPar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a:t>
            </a: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8    Software testing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软件测试</a:t>
            </a:r>
            <a:endPar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9    Software evolution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软件进化</a:t>
            </a:r>
            <a:endPar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10  Dependable systems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可依赖系统</a:t>
            </a:r>
            <a:endPar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15  Software reuse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软件复用</a:t>
            </a:r>
            <a:endPar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a:p>
            <a:pPr marL="0" indent="0" algn="l" eaLnBrk="1" latinLnBrk="0" hangingPunct="1">
              <a:lnSpc>
                <a:spcPct val="100000"/>
              </a:lnSpc>
              <a:spcBef>
                <a:spcPts val="500"/>
              </a:spcBef>
              <a:buSzTx/>
              <a:buFont typeface="Wingdings" panose="05000000000000000000" pitchFamily="2" charset="2"/>
              <a:buNone/>
            </a:pPr>
            <a:r>
              <a:rPr lang="en-US" altLang="zh-CN"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rPr>
              <a:t>      Chap. 22  Project management  </a:t>
            </a:r>
            <a:r>
              <a:rPr lang="zh-CN" altLang="en-US" sz="2500" dirty="0">
                <a:solidFill>
                  <a:srgbClr val="CC0000"/>
                </a:solidFill>
                <a:latin typeface="Calibri" panose="020F0502020204030204" charset="0"/>
                <a:ea typeface="宋体" panose="02010600030101010101" pitchFamily="2" charset="-122"/>
                <a:cs typeface="Calibri" panose="020F0502020204030204" charset="0"/>
                <a:sym typeface="+mn-ea"/>
              </a:rPr>
              <a:t>项目管理</a:t>
            </a:r>
            <a:endParaRPr lang="zh-CN" altLang="en-US" sz="2500" dirty="0">
              <a:solidFill>
                <a:schemeClr val="tx2">
                  <a:lumMod val="75000"/>
                  <a:lumOff val="25000"/>
                </a:schemeClr>
              </a:solidFill>
              <a:latin typeface="Calibri" panose="020F0502020204030204" charset="0"/>
              <a:ea typeface="宋体" panose="02010600030101010101" pitchFamily="2" charset="-122"/>
              <a:cs typeface="Calibri" panose="020F0502020204030204" charset="0"/>
              <a:sym typeface="+mn-ea"/>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262255" y="1456690"/>
            <a:ext cx="8568055" cy="47212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Professional software development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专业软件开发</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spcBef>
                <a:spcPts val="1000"/>
              </a:spcBef>
            </a:pPr>
            <a:r>
              <a:rPr lang="en-US" sz="2800" dirty="0" smtClean="0">
                <a:latin typeface="Calibri" panose="020F0502020204030204" charset="0"/>
                <a:cs typeface="Calibri" panose="020F0502020204030204" charset="0"/>
              </a:rPr>
              <a:t>What is meant by software engineering.</a:t>
            </a:r>
            <a:endParaRPr lang="en-US" sz="2800" dirty="0" smtClean="0">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Software engineering ethics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道德</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spcBef>
                <a:spcPts val="1000"/>
              </a:spcBef>
            </a:pPr>
            <a:r>
              <a:rPr lang="en-US" sz="2800" dirty="0" smtClean="0">
                <a:latin typeface="Calibri" panose="020F0502020204030204" charset="0"/>
                <a:cs typeface="Calibri" panose="020F0502020204030204" charset="0"/>
              </a:rPr>
              <a:t>A brief introduction to ethical issues that affect software engineering.</a:t>
            </a:r>
            <a:endParaRPr lang="en-US" sz="2800" dirty="0" smtClean="0">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Case studies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案例</a:t>
            </a:r>
            <a:endPar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spcBef>
                <a:spcPts val="1000"/>
              </a:spcBef>
            </a:pPr>
            <a:r>
              <a:rPr lang="en-US" sz="2800" dirty="0" smtClean="0">
                <a:latin typeface="Calibri" panose="020F0502020204030204" charset="0"/>
                <a:cs typeface="Calibri" panose="020F0502020204030204" charset="0"/>
              </a:rPr>
              <a:t>An introduction to four examples that are used in later chapters in the book.</a:t>
            </a:r>
            <a:endParaRPr lang="en-US" sz="2800" dirty="0">
              <a:latin typeface="Calibri" panose="020F0502020204030204" charset="0"/>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0740"/>
            <a:ext cx="8977630" cy="7162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engineering</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ea typeface="宋体" panose="02010600030101010101" pitchFamily="2" charset="-122"/>
                <a:sym typeface="+mn-ea"/>
              </a:rPr>
              <a:t>SE</a:t>
            </a:r>
            <a:endParaRPr lang="en-US" altLang="zh-CN"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64517" name="Rectangle 5"/>
          <p:cNvSpPr>
            <a:spLocks noGrp="1" noChangeArrowheads="1"/>
          </p:cNvSpPr>
          <p:nvPr/>
        </p:nvSpPr>
        <p:spPr>
          <a:xfrm>
            <a:off x="140335" y="1485265"/>
            <a:ext cx="8843010" cy="48056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The economies of ALL developed nations are </a:t>
            </a:r>
            <a:br>
              <a:rPr lang="en-GB" sz="3100" dirty="0" smtClean="0">
                <a:solidFill>
                  <a:schemeClr val="tx2">
                    <a:lumMod val="75000"/>
                    <a:lumOff val="25000"/>
                  </a:schemeClr>
                </a:solidFill>
                <a:latin typeface="Calibri" panose="020F0502020204030204" charset="0"/>
                <a:cs typeface="Calibri" panose="020F0502020204030204" charset="0"/>
              </a:rPr>
            </a:br>
            <a:r>
              <a:rPr lang="en-GB" sz="3100" dirty="0" smtClean="0">
                <a:solidFill>
                  <a:schemeClr val="tx2">
                    <a:lumMod val="75000"/>
                    <a:lumOff val="25000"/>
                  </a:schemeClr>
                </a:solidFill>
                <a:latin typeface="Calibri" panose="020F0502020204030204" charset="0"/>
                <a:cs typeface="Calibri" panose="020F0502020204030204" charset="0"/>
              </a:rPr>
              <a:t>dependent on software.</a:t>
            </a:r>
            <a:endParaRPr lang="en-GB" sz="3100" dirty="0" smtClean="0">
              <a:solidFill>
                <a:schemeClr val="tx2">
                  <a:lumMod val="75000"/>
                  <a:lumOff val="25000"/>
                </a:schemeClr>
              </a:solidFill>
              <a:latin typeface="Calibri" panose="020F0502020204030204" charset="0"/>
              <a:cs typeface="Calibri" panose="020F0502020204030204" charset="0"/>
            </a:endParaRPr>
          </a:p>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More and more systems are software controlled</a:t>
            </a:r>
            <a:r>
              <a:rPr lang="en-US" altLang="en-GB" sz="3100" dirty="0" smtClean="0">
                <a:solidFill>
                  <a:schemeClr val="tx2">
                    <a:lumMod val="75000"/>
                    <a:lumOff val="25000"/>
                  </a:schemeClr>
                </a:solidFill>
                <a:latin typeface="Calibri" panose="020F0502020204030204" charset="0"/>
                <a:cs typeface="Calibri" panose="020F0502020204030204" charset="0"/>
              </a:rPr>
              <a:t>.</a:t>
            </a:r>
            <a:endParaRPr lang="en-GB" sz="3100" dirty="0" smtClean="0">
              <a:solidFill>
                <a:schemeClr val="tx2">
                  <a:lumMod val="75000"/>
                  <a:lumOff val="25000"/>
                </a:schemeClr>
              </a:solidFill>
              <a:latin typeface="Calibri" panose="020F0502020204030204" charset="0"/>
              <a:cs typeface="Calibri" panose="020F0502020204030204" charset="0"/>
            </a:endParaRPr>
          </a:p>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Software engineering is concerned with theories, methods and tools for </a:t>
            </a:r>
            <a:r>
              <a:rPr lang="en-GB" sz="3100" u="sng" dirty="0" smtClean="0">
                <a:solidFill>
                  <a:schemeClr val="tx2">
                    <a:lumMod val="75000"/>
                    <a:lumOff val="25000"/>
                  </a:schemeClr>
                </a:solidFill>
                <a:latin typeface="Calibri" panose="020F0502020204030204" charset="0"/>
                <a:cs typeface="Calibri" panose="020F0502020204030204" charset="0"/>
              </a:rPr>
              <a:t>professional</a:t>
            </a:r>
            <a:r>
              <a:rPr lang="en-GB" sz="3100" dirty="0" smtClean="0">
                <a:solidFill>
                  <a:schemeClr val="tx2">
                    <a:lumMod val="75000"/>
                    <a:lumOff val="25000"/>
                  </a:schemeClr>
                </a:solidFill>
                <a:latin typeface="Calibri" panose="020F0502020204030204" charset="0"/>
                <a:cs typeface="Calibri" panose="020F0502020204030204" charset="0"/>
              </a:rPr>
              <a:t> software development.</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软件工程：关注的是用于专业软件开发的理论、工具及工具</a:t>
            </a:r>
            <a:endParaRPr lang="en-GB" sz="3100" dirty="0" smtClean="0">
              <a:solidFill>
                <a:schemeClr val="tx2">
                  <a:lumMod val="75000"/>
                  <a:lumOff val="25000"/>
                </a:schemeClr>
              </a:solidFill>
              <a:latin typeface="Calibri" panose="020F0502020204030204" charset="0"/>
              <a:cs typeface="Calibri" panose="020F0502020204030204" charset="0"/>
            </a:endParaRPr>
          </a:p>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Expenditure on software represents a significant fraction of GNP in all developed countries.</a:t>
            </a:r>
            <a:endParaRPr lang="en-GB" sz="31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a:t>
            </a:r>
            <a:r>
              <a:rPr lang="en-US" altLang="zh-CN" sz="3200" dirty="0">
                <a:solidFill>
                  <a:schemeClr val="accent1">
                    <a:lumMod val="75000"/>
                  </a:schemeClr>
                </a:solidFill>
                <a:ea typeface="宋体" panose="02010600030101010101" pitchFamily="2" charset="-122"/>
                <a:sym typeface="+mn-ea"/>
              </a:rPr>
              <a:t>engineering methods needed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64517" name="Rectangle 5"/>
          <p:cNvSpPr>
            <a:spLocks noGrp="1" noChangeArrowheads="1"/>
          </p:cNvSpPr>
          <p:nvPr/>
        </p:nvSpPr>
        <p:spPr>
          <a:xfrm>
            <a:off x="88900" y="1413510"/>
            <a:ext cx="8930005" cy="50609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GB" sz="3100" b="0" dirty="0" smtClean="0">
                <a:solidFill>
                  <a:schemeClr val="tx2">
                    <a:lumMod val="75000"/>
                    <a:lumOff val="25000"/>
                  </a:schemeClr>
                </a:solidFill>
                <a:latin typeface="Calibri" panose="020F0502020204030204" charset="0"/>
                <a:cs typeface="Calibri" panose="020F0502020204030204" charset="0"/>
              </a:rPr>
              <a:t> There are no </a:t>
            </a:r>
            <a:r>
              <a:rPr lang="en-GB" sz="3100" b="0" u="sng" dirty="0" smtClean="0">
                <a:solidFill>
                  <a:schemeClr val="tx2">
                    <a:lumMod val="75000"/>
                    <a:lumOff val="25000"/>
                  </a:schemeClr>
                </a:solidFill>
                <a:latin typeface="Calibri" panose="020F0502020204030204" charset="0"/>
                <a:cs typeface="Calibri" panose="020F0502020204030204" charset="0"/>
              </a:rPr>
              <a:t>universal</a:t>
            </a:r>
            <a:r>
              <a:rPr lang="en-US" altLang="en-GB" sz="3100" b="0" dirty="0" smtClean="0">
                <a:solidFill>
                  <a:schemeClr val="tx2">
                    <a:lumMod val="75000"/>
                    <a:lumOff val="25000"/>
                  </a:schemeClr>
                </a:solidFill>
                <a:latin typeface="Calibri" panose="020F0502020204030204" charset="0"/>
                <a:cs typeface="Calibri" panose="020F0502020204030204" charset="0"/>
              </a:rPr>
              <a:t> </a:t>
            </a:r>
            <a:r>
              <a:rPr lang="en-GB" sz="3100" b="0" dirty="0" smtClean="0">
                <a:solidFill>
                  <a:schemeClr val="tx2">
                    <a:lumMod val="75000"/>
                    <a:lumOff val="25000"/>
                  </a:schemeClr>
                </a:solidFill>
                <a:latin typeface="Calibri" panose="020F0502020204030204" charset="0"/>
                <a:cs typeface="Calibri" panose="020F0502020204030204" charset="0"/>
              </a:rPr>
              <a:t>notations, methods, or techniques for software engineering because different types</a:t>
            </a:r>
            <a:r>
              <a:rPr lang="en-US" altLang="en-GB" sz="3100" b="0" dirty="0" smtClean="0">
                <a:solidFill>
                  <a:schemeClr val="tx2">
                    <a:lumMod val="75000"/>
                    <a:lumOff val="25000"/>
                  </a:schemeClr>
                </a:solidFill>
                <a:latin typeface="Calibri" panose="020F0502020204030204" charset="0"/>
                <a:cs typeface="Calibri" panose="020F0502020204030204" charset="0"/>
              </a:rPr>
              <a:t> </a:t>
            </a:r>
            <a:r>
              <a:rPr lang="en-GB" sz="3100" b="0" dirty="0" smtClean="0">
                <a:solidFill>
                  <a:schemeClr val="tx2">
                    <a:lumMod val="75000"/>
                    <a:lumOff val="25000"/>
                  </a:schemeClr>
                </a:solidFill>
                <a:latin typeface="Calibri" panose="020F0502020204030204" charset="0"/>
                <a:cs typeface="Calibri" panose="020F0502020204030204" charset="0"/>
              </a:rPr>
              <a:t>of software require different approaches.</a:t>
            </a:r>
            <a:r>
              <a:rPr lang="en-GB" sz="3100" dirty="0" smtClean="0">
                <a:solidFill>
                  <a:schemeClr val="tx2">
                    <a:lumMod val="75000"/>
                    <a:lumOff val="25000"/>
                  </a:schemeClr>
                </a:solidFill>
                <a:latin typeface="Calibri" panose="020F0502020204030204" charset="0"/>
                <a:cs typeface="Calibri" panose="020F0502020204030204" charset="0"/>
              </a:rPr>
              <a:t> </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没有</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统一的表示法、方法或技术</a:t>
            </a:r>
            <a:endParaRPr lang="en-GB" sz="3100" dirty="0" smtClean="0">
              <a:solidFill>
                <a:schemeClr val="tx2">
                  <a:lumMod val="75000"/>
                  <a:lumOff val="25000"/>
                </a:schemeClr>
              </a:solidFill>
              <a:latin typeface="Calibri" panose="020F0502020204030204" charset="0"/>
              <a:cs typeface="Calibri" panose="020F0502020204030204" charset="0"/>
            </a:endParaRPr>
          </a:p>
          <a:p>
            <a:pPr marL="0" indent="0">
              <a:lnSpc>
                <a:spcPct val="90000"/>
              </a:lnSpc>
              <a:spcBef>
                <a:spcPts val="800"/>
              </a:spcBef>
              <a:spcAft>
                <a:spcPts val="0"/>
              </a:spcAft>
              <a:buNone/>
            </a:pPr>
            <a:r>
              <a:rPr lang="en-US" altLang="en-GB" sz="3000" b="0" dirty="0" smtClean="0">
                <a:solidFill>
                  <a:schemeClr val="tx1"/>
                </a:solidFill>
                <a:latin typeface="Calibri" panose="020F0502020204030204" charset="0"/>
                <a:cs typeface="Calibri" panose="020F0502020204030204" charset="0"/>
              </a:rPr>
              <a:t>    -</a:t>
            </a:r>
            <a:r>
              <a:rPr lang="en-GB" sz="3000" b="0" dirty="0" smtClean="0">
                <a:solidFill>
                  <a:schemeClr val="tx1"/>
                </a:solidFill>
                <a:latin typeface="Calibri" panose="020F0502020204030204" charset="0"/>
                <a:cs typeface="Calibri" panose="020F0502020204030204" charset="0"/>
              </a:rPr>
              <a:t> Developing an organizational information</a:t>
            </a:r>
            <a:r>
              <a:rPr lang="en-US" altLang="en-GB" sz="3000" b="0" dirty="0" smtClean="0">
                <a:solidFill>
                  <a:schemeClr val="tx1"/>
                </a:solidFill>
                <a:latin typeface="Calibri" panose="020F0502020204030204" charset="0"/>
                <a:cs typeface="Calibri" panose="020F0502020204030204" charset="0"/>
              </a:rPr>
              <a:t> </a:t>
            </a:r>
            <a:r>
              <a:rPr lang="en-GB" sz="3000" b="0" dirty="0" smtClean="0">
                <a:solidFill>
                  <a:schemeClr val="tx1"/>
                </a:solidFill>
                <a:latin typeface="Calibri" panose="020F0502020204030204" charset="0"/>
                <a:cs typeface="Calibri" panose="020F0502020204030204" charset="0"/>
              </a:rPr>
              <a:t>system is completely different from developing a controller for a scientific instrument. Neither of these</a:t>
            </a:r>
            <a:r>
              <a:rPr lang="en-US" altLang="en-GB" sz="3000" b="0" dirty="0" smtClean="0">
                <a:solidFill>
                  <a:schemeClr val="tx1"/>
                </a:solidFill>
                <a:latin typeface="Calibri" panose="020F0502020204030204" charset="0"/>
                <a:cs typeface="Calibri" panose="020F0502020204030204" charset="0"/>
              </a:rPr>
              <a:t> </a:t>
            </a:r>
            <a:r>
              <a:rPr lang="en-GB" sz="3000" b="0" dirty="0" smtClean="0">
                <a:solidFill>
                  <a:schemeClr val="tx1"/>
                </a:solidFill>
                <a:latin typeface="Calibri" panose="020F0502020204030204" charset="0"/>
                <a:cs typeface="Calibri" panose="020F0502020204030204" charset="0"/>
              </a:rPr>
              <a:t>systems has much in common with a graphics-intensive computer game. </a:t>
            </a:r>
            <a:endParaRPr lang="en-GB" sz="3000" b="0" dirty="0" smtClean="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GB" sz="3100" b="0" dirty="0" smtClean="0">
                <a:solidFill>
                  <a:schemeClr val="tx2">
                    <a:lumMod val="75000"/>
                    <a:lumOff val="25000"/>
                  </a:schemeClr>
                </a:solidFill>
                <a:latin typeface="Calibri" panose="020F0502020204030204" charset="0"/>
                <a:cs typeface="Calibri" panose="020F0502020204030204" charset="0"/>
              </a:rPr>
              <a:t> All of these applications need software engineering; they do not all need</a:t>
            </a:r>
            <a:r>
              <a:rPr lang="en-US" altLang="en-GB" sz="3100" b="0" dirty="0" smtClean="0">
                <a:solidFill>
                  <a:schemeClr val="tx2">
                    <a:lumMod val="75000"/>
                    <a:lumOff val="25000"/>
                  </a:schemeClr>
                </a:solidFill>
                <a:latin typeface="Calibri" panose="020F0502020204030204" charset="0"/>
                <a:cs typeface="Calibri" panose="020F0502020204030204" charset="0"/>
              </a:rPr>
              <a:t> </a:t>
            </a:r>
            <a:r>
              <a:rPr lang="en-GB" sz="3100" b="0" dirty="0" smtClean="0">
                <a:solidFill>
                  <a:schemeClr val="tx2">
                    <a:lumMod val="75000"/>
                    <a:lumOff val="25000"/>
                  </a:schemeClr>
                </a:solidFill>
                <a:latin typeface="Calibri" panose="020F0502020204030204" charset="0"/>
                <a:cs typeface="Calibri" panose="020F0502020204030204" charset="0"/>
              </a:rPr>
              <a:t>the same software engineering methods and techniques.</a:t>
            </a:r>
            <a:r>
              <a:rPr lang="en-US" altLang="en-GB" sz="3100" b="0" dirty="0" smtClean="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都需要，但不需要相同的</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costs</a:t>
            </a:r>
            <a:r>
              <a:rPr lang="en-US" altLang="zh-CN" sz="3200" dirty="0">
                <a:solidFill>
                  <a:schemeClr val="accent1">
                    <a:lumMod val="75000"/>
                  </a:schemeClr>
                </a:solidFill>
                <a:ea typeface="宋体" panose="02010600030101010101" pitchFamily="2" charset="-122"/>
                <a:sym typeface="+mn-ea"/>
              </a:rPr>
              <a:t>    </a:t>
            </a:r>
            <a:r>
              <a:rPr lang="zh-CN" altLang="en-US" sz="23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成本</a:t>
            </a:r>
            <a:endParaRPr lang="zh-CN" altLang="en-US" sz="23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64517" name="Rectangle 5"/>
          <p:cNvSpPr>
            <a:spLocks noGrp="1" noChangeArrowheads="1"/>
          </p:cNvSpPr>
          <p:nvPr/>
        </p:nvSpPr>
        <p:spPr>
          <a:xfrm>
            <a:off x="88900" y="1413510"/>
            <a:ext cx="8930005" cy="50609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Software costs often dominate computer system costs. The costs of software on a PC are often greater than the hardware cost.</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软件成本</a:t>
            </a:r>
            <a:r>
              <a:rPr lang="en-US" altLang="zh-CN" sz="2300" dirty="0" smtClean="0">
                <a:solidFill>
                  <a:srgbClr val="C00000"/>
                </a:solidFill>
                <a:latin typeface="黑体" panose="02010609060101010101" pitchFamily="49" charset="-122"/>
                <a:ea typeface="黑体" panose="02010609060101010101" pitchFamily="49" charset="-122"/>
                <a:cs typeface="Calibri" panose="020F0502020204030204" charset="0"/>
              </a:rPr>
              <a:t> &gt;&gt;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rPr>
              <a:t>硬件成本</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Software costs more to maintain than it does to develop. For systems with a long life, maintenance costs may be several times development costs.</a:t>
            </a:r>
            <a:endParaRPr lang="en-GB" sz="3100" dirty="0" smtClean="0">
              <a:solidFill>
                <a:schemeClr val="tx2">
                  <a:lumMod val="75000"/>
                  <a:lumOff val="25000"/>
                </a:schemeClr>
              </a:solidFill>
              <a:latin typeface="Calibri" panose="020F0502020204030204" charset="0"/>
              <a:cs typeface="Calibri" panose="020F0502020204030204" charset="0"/>
            </a:endParaRPr>
          </a:p>
          <a:p>
            <a:pPr marL="0" indent="0">
              <a:spcBef>
                <a:spcPts val="1200"/>
              </a:spcBef>
              <a:spcAft>
                <a:spcPts val="0"/>
              </a:spcAft>
              <a:buNone/>
            </a:pPr>
            <a:r>
              <a:rPr lang="en-US" altLang="zh-CN"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维护成本</a:t>
            </a:r>
            <a:r>
              <a:rPr lang="en-US" altLang="zh-CN"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 &gt;&gt;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开发成本</a:t>
            </a:r>
            <a:endParaRPr lang="en-GB" sz="3100" dirty="0" smtClean="0">
              <a:solidFill>
                <a:schemeClr val="tx2">
                  <a:lumMod val="75000"/>
                  <a:lumOff val="25000"/>
                </a:schemeClr>
              </a:solidFill>
              <a:latin typeface="Calibri" panose="020F0502020204030204" charset="0"/>
              <a:cs typeface="Calibri" panose="020F0502020204030204" charset="0"/>
            </a:endParaRPr>
          </a:p>
          <a:p>
            <a:pPr>
              <a:spcBef>
                <a:spcPts val="12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Software engineering is concerned with </a:t>
            </a:r>
            <a:r>
              <a:rPr lang="en-GB" sz="3100" u="sng" dirty="0" smtClean="0">
                <a:solidFill>
                  <a:schemeClr val="tx2">
                    <a:lumMod val="75000"/>
                    <a:lumOff val="25000"/>
                  </a:schemeClr>
                </a:solidFill>
                <a:latin typeface="Calibri" panose="020F0502020204030204" charset="0"/>
                <a:cs typeface="Calibri" panose="020F0502020204030204" charset="0"/>
              </a:rPr>
              <a:t>cost-effective</a:t>
            </a:r>
            <a:r>
              <a:rPr lang="en-GB" sz="3100" dirty="0" smtClean="0">
                <a:solidFill>
                  <a:schemeClr val="tx2">
                    <a:lumMod val="75000"/>
                    <a:lumOff val="25000"/>
                  </a:schemeClr>
                </a:solidFill>
                <a:latin typeface="Calibri" panose="020F0502020204030204" charset="0"/>
                <a:cs typeface="Calibri" panose="020F0502020204030204" charset="0"/>
              </a:rPr>
              <a:t> software development.</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软件工程：关注的是高成本效益的软件开发</a:t>
            </a:r>
            <a:endParaRPr lang="en-US" altLang="en-GB" sz="31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project failure</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项目失败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384935"/>
            <a:ext cx="8976995" cy="49650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10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en-GB" sz="3200" dirty="0" smtClean="0">
                <a:solidFill>
                  <a:schemeClr val="tx2">
                    <a:lumMod val="75000"/>
                    <a:lumOff val="25000"/>
                  </a:schemeClr>
                </a:solidFill>
                <a:latin typeface="Calibri" panose="020F0502020204030204" charset="0"/>
                <a:cs typeface="Calibri" panose="020F0502020204030204" charset="0"/>
              </a:rPr>
              <a:t>Increasing system complexity </a:t>
            </a: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日益复杂</a:t>
            </a:r>
            <a:endParaRPr lang="en-GB" sz="3200" dirty="0" smtClean="0">
              <a:solidFill>
                <a:schemeClr val="tx2">
                  <a:lumMod val="75000"/>
                  <a:lumOff val="25000"/>
                </a:schemeClr>
              </a:solidFill>
              <a:latin typeface="Calibri" panose="020F0502020204030204" charset="0"/>
              <a:cs typeface="Calibri" panose="020F0502020204030204" charset="0"/>
            </a:endParaRPr>
          </a:p>
          <a:p>
            <a:pPr lvl="1">
              <a:lnSpc>
                <a:spcPct val="100000"/>
              </a:lnSpc>
              <a:spcBef>
                <a:spcPts val="600"/>
              </a:spcBef>
              <a:spcAft>
                <a:spcPts val="0"/>
              </a:spcAft>
            </a:pPr>
            <a:r>
              <a:rPr lang="en-US" sz="2600" b="0" dirty="0" smtClean="0">
                <a:latin typeface="Calibri" panose="020F0502020204030204" charset="0"/>
                <a:cs typeface="Calibri" panose="020F0502020204030204" charset="0"/>
              </a:rPr>
              <a:t>Systems have to be built and delivered more quickly;  </a:t>
            </a:r>
            <a:endParaRPr lang="en-US" sz="2600" b="0" dirty="0" smtClean="0">
              <a:latin typeface="Calibri" panose="020F0502020204030204" charset="0"/>
              <a:cs typeface="Calibri" panose="020F0502020204030204" charset="0"/>
            </a:endParaRPr>
          </a:p>
          <a:p>
            <a:pPr lvl="1">
              <a:lnSpc>
                <a:spcPct val="100000"/>
              </a:lnSpc>
              <a:spcBef>
                <a:spcPts val="600"/>
              </a:spcBef>
              <a:spcAft>
                <a:spcPts val="0"/>
              </a:spcAft>
            </a:pPr>
            <a:r>
              <a:rPr lang="en-US" sz="2600" b="0" dirty="0" smtClean="0">
                <a:latin typeface="Calibri" panose="020F0502020204030204" charset="0"/>
                <a:cs typeface="Calibri" panose="020F0502020204030204" charset="0"/>
              </a:rPr>
              <a:t>larger, even more complex systems are required; </a:t>
            </a:r>
            <a:endParaRPr lang="en-US" sz="2600" b="0" dirty="0" smtClean="0">
              <a:latin typeface="Calibri" panose="020F0502020204030204" charset="0"/>
              <a:cs typeface="Calibri" panose="020F0502020204030204" charset="0"/>
            </a:endParaRPr>
          </a:p>
          <a:p>
            <a:pPr lvl="1">
              <a:lnSpc>
                <a:spcPct val="100000"/>
              </a:lnSpc>
              <a:spcBef>
                <a:spcPts val="600"/>
              </a:spcBef>
              <a:spcAft>
                <a:spcPts val="0"/>
              </a:spcAft>
            </a:pPr>
            <a:r>
              <a:rPr lang="en-US" sz="2600" b="0" dirty="0" smtClean="0">
                <a:latin typeface="Calibri" panose="020F0502020204030204" charset="0"/>
                <a:cs typeface="Calibri" panose="020F0502020204030204" charset="0"/>
              </a:rPr>
              <a:t>systems have to have new capabilities that were previously thought to be impossible. </a:t>
            </a:r>
            <a:endParaRPr lang="en-US" sz="2600" b="0" dirty="0" smtClean="0">
              <a:latin typeface="Calibri" panose="020F0502020204030204" charset="0"/>
              <a:cs typeface="Calibri" panose="020F0502020204030204" charset="0"/>
            </a:endParaRPr>
          </a:p>
          <a:p>
            <a:pPr>
              <a:lnSpc>
                <a:spcPct val="10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en-GB" sz="3200" dirty="0" smtClean="0">
                <a:solidFill>
                  <a:schemeClr val="tx2">
                    <a:lumMod val="75000"/>
                    <a:lumOff val="25000"/>
                  </a:schemeClr>
                </a:solidFill>
                <a:latin typeface="Calibri" panose="020F0502020204030204" charset="0"/>
                <a:cs typeface="Calibri" panose="020F0502020204030204" charset="0"/>
              </a:rPr>
              <a:t>Failure to use software engineering methods </a:t>
            </a:r>
            <a:r>
              <a:rPr lang="zh-CN" altLang="en-US" sz="1800" dirty="0" smtClean="0">
                <a:solidFill>
                  <a:srgbClr val="C00000"/>
                </a:solidFill>
                <a:latin typeface="黑体" panose="02010609060101010101" pitchFamily="49" charset="-122"/>
                <a:ea typeface="黑体" panose="02010609060101010101" pitchFamily="49" charset="-122"/>
                <a:cs typeface="Calibri" panose="020F0502020204030204" charset="0"/>
              </a:rPr>
              <a:t>不得法</a:t>
            </a:r>
            <a:endParaRPr lang="en-GB" sz="3200" dirty="0" smtClean="0">
              <a:solidFill>
                <a:schemeClr val="tx2">
                  <a:lumMod val="75000"/>
                  <a:lumOff val="25000"/>
                </a:schemeClr>
              </a:solidFill>
              <a:latin typeface="Calibri" panose="020F0502020204030204" charset="0"/>
              <a:cs typeface="Calibri" panose="020F0502020204030204" charset="0"/>
            </a:endParaRPr>
          </a:p>
          <a:p>
            <a:pPr lvl="1">
              <a:lnSpc>
                <a:spcPct val="100000"/>
              </a:lnSpc>
              <a:spcBef>
                <a:spcPts val="600"/>
              </a:spcBef>
              <a:spcAft>
                <a:spcPts val="0"/>
              </a:spcAft>
            </a:pPr>
            <a:r>
              <a:rPr lang="en-US" sz="2600" b="0" dirty="0" smtClean="0">
                <a:latin typeface="Calibri" panose="020F0502020204030204" charset="0"/>
                <a:cs typeface="Calibri" panose="020F0502020204030204" charset="0"/>
              </a:rPr>
              <a:t>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sz="2600" b="0" dirty="0" smtClean="0">
              <a:latin typeface="Calibri" panose="020F0502020204030204" charset="0"/>
              <a:cs typeface="Calibri" panose="020F05020202040302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知识链接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10490" y="1413510"/>
            <a:ext cx="8984615" cy="2916555"/>
          </a:xfrm>
          <a:prstGeom prst="rect">
            <a:avLst/>
          </a:prstGeom>
        </p:spPr>
      </p:pic>
      <p:pic>
        <p:nvPicPr>
          <p:cNvPr id="28677" name="Picture 2" descr="See the source image"/>
          <p:cNvPicPr>
            <a:picLocks noChangeAspect="1"/>
          </p:cNvPicPr>
          <p:nvPr>
            <p:custDataLst>
              <p:tags r:id="rId4"/>
            </p:custDataLst>
          </p:nvPr>
        </p:nvPicPr>
        <p:blipFill>
          <a:blip r:embed="rId5"/>
          <a:stretch>
            <a:fillRect/>
          </a:stretch>
        </p:blipFill>
        <p:spPr>
          <a:xfrm>
            <a:off x="5014595" y="4083050"/>
            <a:ext cx="3731895" cy="2515870"/>
          </a:xfrm>
          <a:prstGeom prst="rect">
            <a:avLst/>
          </a:prstGeom>
          <a:noFill/>
          <a:ln w="9525">
            <a:noFill/>
          </a:ln>
        </p:spPr>
      </p:pic>
      <p:graphicFrame>
        <p:nvGraphicFramePr>
          <p:cNvPr id="5" name="图示 4"/>
          <p:cNvGraphicFramePr>
            <a:graphicFrameLocks noGrp="1"/>
          </p:cNvGraphicFramePr>
          <p:nvPr>
            <p:custDataLst>
              <p:tags r:id="rId6"/>
            </p:custDataLst>
          </p:nvPr>
        </p:nvGraphicFramePr>
        <p:xfrm>
          <a:off x="629920" y="4161790"/>
          <a:ext cx="4298315" cy="24371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en-US" altLang="zh-CN" sz="2800" dirty="0">
                <a:solidFill>
                  <a:schemeClr val="accent1">
                    <a:lumMod val="75000"/>
                  </a:schemeClr>
                </a:solidFill>
                <a:ea typeface="宋体" panose="02010600030101010101" pitchFamily="2" charset="-122"/>
                <a:sym typeface="+mn-ea"/>
              </a:rPr>
              <a:t>S</a:t>
            </a:r>
            <a:r>
              <a:rPr lang="en-US" altLang="zh-CN" sz="2800" dirty="0">
                <a:solidFill>
                  <a:schemeClr val="accent1">
                    <a:lumMod val="75000"/>
                  </a:schemeClr>
                </a:solidFill>
                <a:ea typeface="宋体" panose="02010600030101010101" pitchFamily="2" charset="-122"/>
                <a:sym typeface="+mn-ea"/>
              </a:rPr>
              <a:t>oftware development: </a:t>
            </a:r>
            <a:r>
              <a:rPr lang="zh-CN" altLang="en-US" sz="2800" dirty="0">
                <a:solidFill>
                  <a:schemeClr val="accent1">
                    <a:lumMod val="75000"/>
                  </a:schemeClr>
                </a:solidFill>
                <a:ea typeface="宋体" panose="02010600030101010101" pitchFamily="2" charset="-122"/>
                <a:sym typeface="+mn-ea"/>
              </a:rPr>
              <a:t>individual</a:t>
            </a:r>
            <a:r>
              <a:rPr lang="en-US" altLang="zh-CN" sz="2800" dirty="0">
                <a:solidFill>
                  <a:schemeClr val="accent1">
                    <a:lumMod val="75000"/>
                  </a:schemeClr>
                </a:solidFill>
                <a:ea typeface="宋体" panose="02010600030101010101" pitchFamily="2" charset="-122"/>
                <a:sym typeface="+mn-ea"/>
              </a:rPr>
              <a:t> vs </a:t>
            </a:r>
            <a:r>
              <a:rPr lang="zh-CN" altLang="en-US" sz="2800" dirty="0">
                <a:solidFill>
                  <a:schemeClr val="accent1">
                    <a:lumMod val="75000"/>
                  </a:schemeClr>
                </a:solidFill>
                <a:ea typeface="宋体" panose="02010600030101010101" pitchFamily="2" charset="-122"/>
                <a:sym typeface="+mn-ea"/>
              </a:rPr>
              <a:t>professional</a:t>
            </a:r>
            <a:endParaRPr lang="en-US" altLang="zh-CN" sz="28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384935"/>
            <a:ext cx="8976995" cy="51155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000" dirty="0" smtClean="0">
                <a:solidFill>
                  <a:schemeClr val="tx2">
                    <a:lumMod val="75000"/>
                    <a:lumOff val="25000"/>
                  </a:schemeClr>
                </a:solidFill>
                <a:latin typeface="Calibri" panose="020F0502020204030204" charset="0"/>
                <a:cs typeface="Calibri" panose="020F0502020204030204" charset="0"/>
              </a:rPr>
              <a:t> </a:t>
            </a:r>
            <a:r>
              <a:rPr lang="en-GB" sz="3000" dirty="0" smtClean="0">
                <a:solidFill>
                  <a:schemeClr val="tx2">
                    <a:lumMod val="75000"/>
                    <a:lumOff val="25000"/>
                  </a:schemeClr>
                </a:solidFill>
                <a:latin typeface="Calibri" panose="020F0502020204030204" charset="0"/>
                <a:cs typeface="Calibri" panose="020F0502020204030204" charset="0"/>
              </a:rPr>
              <a:t>The key distinctions</a:t>
            </a:r>
            <a:r>
              <a:rPr lang="en-US" altLang="en-GB" sz="3000" dirty="0" smtClean="0">
                <a:solidFill>
                  <a:schemeClr val="tx2">
                    <a:lumMod val="75000"/>
                    <a:lumOff val="25000"/>
                  </a:schemeClr>
                </a:solidFill>
                <a:latin typeface="Calibri" panose="020F0502020204030204" charset="0"/>
                <a:cs typeface="Calibri" panose="020F0502020204030204" charset="0"/>
              </a:rPr>
              <a:t>: </a:t>
            </a:r>
            <a:endParaRPr lang="en-US" altLang="en-GB" sz="3000" dirty="0" smtClean="0">
              <a:solidFill>
                <a:schemeClr val="tx2">
                  <a:lumMod val="75000"/>
                  <a:lumOff val="25000"/>
                </a:schemeClr>
              </a:solidFill>
              <a:latin typeface="Calibri" panose="020F0502020204030204" charset="0"/>
              <a:cs typeface="Calibri" panose="020F0502020204030204" charset="0"/>
            </a:endParaRPr>
          </a:p>
          <a:p>
            <a:pPr marL="0" indent="0">
              <a:lnSpc>
                <a:spcPct val="90000"/>
              </a:lnSpc>
              <a:spcBef>
                <a:spcPts val="600"/>
              </a:spcBef>
              <a:spcAft>
                <a:spcPts val="0"/>
              </a:spcAft>
              <a:buNone/>
            </a:pPr>
            <a:r>
              <a:rPr lang="en-US" altLang="en-GB" sz="3000" b="0" dirty="0" smtClean="0">
                <a:solidFill>
                  <a:schemeClr val="tx1"/>
                </a:solidFill>
                <a:latin typeface="Calibri" panose="020F0502020204030204" charset="0"/>
                <a:cs typeface="Calibri" panose="020F0502020204030204" charset="0"/>
              </a:rPr>
              <a:t>  - P</a:t>
            </a:r>
            <a:r>
              <a:rPr lang="en-GB" sz="3000" b="0" dirty="0" smtClean="0">
                <a:solidFill>
                  <a:schemeClr val="tx1"/>
                </a:solidFill>
                <a:latin typeface="Calibri" panose="020F0502020204030204" charset="0"/>
                <a:cs typeface="Calibri" panose="020F0502020204030204" charset="0"/>
              </a:rPr>
              <a:t>rofessional software is intended for use by someone apart from its</a:t>
            </a:r>
            <a:r>
              <a:rPr lang="en-US" altLang="en-GB" sz="3000" b="0" dirty="0" smtClean="0">
                <a:solidFill>
                  <a:schemeClr val="tx1"/>
                </a:solidFill>
                <a:latin typeface="Calibri" panose="020F0502020204030204" charset="0"/>
                <a:cs typeface="Calibri" panose="020F0502020204030204" charset="0"/>
              </a:rPr>
              <a:t> </a:t>
            </a:r>
            <a:r>
              <a:rPr lang="en-GB" sz="3000" b="0" dirty="0" smtClean="0">
                <a:solidFill>
                  <a:schemeClr val="tx1"/>
                </a:solidFill>
                <a:latin typeface="Calibri" panose="020F0502020204030204" charset="0"/>
                <a:cs typeface="Calibri" panose="020F0502020204030204" charset="0"/>
              </a:rPr>
              <a:t>developer and that teams rather than individuals usually develop the software.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用户使用，团队开发</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marL="0" indent="0">
              <a:lnSpc>
                <a:spcPct val="90000"/>
              </a:lnSpc>
              <a:spcBef>
                <a:spcPts val="600"/>
              </a:spcBef>
              <a:spcAft>
                <a:spcPts val="0"/>
              </a:spcAft>
              <a:buNone/>
            </a:pPr>
            <a:r>
              <a:rPr lang="en-GB" sz="3000" b="0" dirty="0" smtClean="0">
                <a:solidFill>
                  <a:schemeClr val="tx1"/>
                </a:solidFill>
                <a:latin typeface="Calibri" panose="020F0502020204030204" charset="0"/>
                <a:cs typeface="Calibri" panose="020F0502020204030204" charset="0"/>
              </a:rPr>
              <a:t> </a:t>
            </a:r>
            <a:r>
              <a:rPr lang="en-US" altLang="en-GB" sz="3000" b="0" dirty="0" smtClean="0">
                <a:solidFill>
                  <a:schemeClr val="tx1"/>
                </a:solidFill>
                <a:latin typeface="Calibri" panose="020F0502020204030204" charset="0"/>
                <a:cs typeface="Calibri" panose="020F0502020204030204" charset="0"/>
              </a:rPr>
              <a:t> - </a:t>
            </a:r>
            <a:r>
              <a:rPr lang="en-GB" sz="3000" b="0" dirty="0" smtClean="0">
                <a:solidFill>
                  <a:schemeClr val="tx1"/>
                </a:solidFill>
                <a:latin typeface="Calibri" panose="020F0502020204030204" charset="0"/>
                <a:cs typeface="Calibri" panose="020F0502020204030204" charset="0"/>
              </a:rPr>
              <a:t>It is</a:t>
            </a:r>
            <a:r>
              <a:rPr lang="en-US" altLang="en-GB" sz="3000" b="0" dirty="0" smtClean="0">
                <a:solidFill>
                  <a:schemeClr val="tx1"/>
                </a:solidFill>
                <a:latin typeface="Calibri" panose="020F0502020204030204" charset="0"/>
                <a:cs typeface="Calibri" panose="020F0502020204030204" charset="0"/>
              </a:rPr>
              <a:t> </a:t>
            </a:r>
            <a:r>
              <a:rPr lang="en-GB" sz="3000" b="0" dirty="0" smtClean="0">
                <a:solidFill>
                  <a:schemeClr val="tx1"/>
                </a:solidFill>
                <a:latin typeface="Calibri" panose="020F0502020204030204" charset="0"/>
                <a:cs typeface="Calibri" panose="020F0502020204030204" charset="0"/>
              </a:rPr>
              <a:t>maintained and changed throughout its life. </a:t>
            </a:r>
            <a:endParaRPr lang="en-GB" sz="3000" b="0" dirty="0" smtClean="0">
              <a:solidFill>
                <a:schemeClr val="tx1"/>
              </a:solidFill>
              <a:latin typeface="Calibri" panose="020F0502020204030204" charset="0"/>
              <a:cs typeface="Calibri" panose="020F0502020204030204" charset="0"/>
            </a:endParaRPr>
          </a:p>
          <a:p>
            <a:pPr>
              <a:lnSpc>
                <a:spcPct val="90000"/>
              </a:lnSpc>
              <a:spcBef>
                <a:spcPts val="600"/>
              </a:spcBef>
              <a:spcAft>
                <a:spcPts val="0"/>
              </a:spcAft>
            </a:pPr>
            <a:r>
              <a:rPr lang="en-GB" sz="3000" dirty="0" smtClean="0">
                <a:solidFill>
                  <a:schemeClr val="tx2">
                    <a:lumMod val="75000"/>
                    <a:lumOff val="25000"/>
                  </a:schemeClr>
                </a:solidFill>
                <a:latin typeface="Calibri" panose="020F0502020204030204" charset="0"/>
                <a:cs typeface="Calibri" panose="020F0502020204030204" charset="0"/>
              </a:rPr>
              <a:t> Software engineering is intended to support professional software development</a:t>
            </a:r>
            <a:r>
              <a:rPr lang="en-US" altLang="en-GB" sz="3000" dirty="0" smtClean="0">
                <a:solidFill>
                  <a:schemeClr val="tx2">
                    <a:lumMod val="75000"/>
                    <a:lumOff val="25000"/>
                  </a:schemeClr>
                </a:solidFill>
                <a:latin typeface="Calibri" panose="020F0502020204030204" charset="0"/>
                <a:cs typeface="Calibri" panose="020F0502020204030204" charset="0"/>
              </a:rPr>
              <a:t> </a:t>
            </a:r>
            <a:r>
              <a:rPr lang="en-GB" sz="3000" dirty="0" smtClean="0">
                <a:solidFill>
                  <a:schemeClr val="tx2">
                    <a:lumMod val="75000"/>
                    <a:lumOff val="25000"/>
                  </a:schemeClr>
                </a:solidFill>
                <a:latin typeface="Calibri" panose="020F0502020204030204" charset="0"/>
                <a:cs typeface="Calibri" panose="020F0502020204030204" charset="0"/>
              </a:rPr>
              <a:t>rather than individual programming. </a:t>
            </a:r>
            <a:endParaRPr lang="en-GB" sz="3000" dirty="0" smtClean="0">
              <a:solidFill>
                <a:schemeClr val="tx2">
                  <a:lumMod val="75000"/>
                  <a:lumOff val="25000"/>
                </a:schemeClr>
              </a:solidFill>
              <a:latin typeface="Calibri" panose="020F0502020204030204" charset="0"/>
              <a:cs typeface="Calibri" panose="020F0502020204030204" charset="0"/>
            </a:endParaRPr>
          </a:p>
          <a:p>
            <a:pPr marL="0" indent="0">
              <a:lnSpc>
                <a:spcPct val="90000"/>
              </a:lnSpc>
              <a:spcBef>
                <a:spcPts val="600"/>
              </a:spcBef>
              <a:spcAft>
                <a:spcPts val="0"/>
              </a:spcAft>
              <a:buNone/>
            </a:pPr>
            <a:r>
              <a:rPr lang="en-GB" sz="3000" b="0" dirty="0" smtClean="0">
                <a:solidFill>
                  <a:schemeClr val="tx1"/>
                </a:solidFill>
                <a:latin typeface="Calibri" panose="020F0502020204030204" charset="0"/>
                <a:cs typeface="Calibri" panose="020F0502020204030204" charset="0"/>
              </a:rPr>
              <a:t>  - It includes techniques that support program </a:t>
            </a:r>
            <a:r>
              <a:rPr lang="en-GB" sz="3000" b="0" u="sng" dirty="0" smtClean="0">
                <a:solidFill>
                  <a:schemeClr val="tx1"/>
                </a:solidFill>
                <a:latin typeface="Calibri" panose="020F0502020204030204" charset="0"/>
                <a:cs typeface="Calibri" panose="020F0502020204030204" charset="0"/>
              </a:rPr>
              <a:t>specification</a:t>
            </a:r>
            <a:r>
              <a:rPr lang="en-GB" sz="3000" b="0" dirty="0" smtClean="0">
                <a:solidFill>
                  <a:schemeClr val="tx1"/>
                </a:solidFill>
                <a:latin typeface="Calibri" panose="020F0502020204030204" charset="0"/>
                <a:cs typeface="Calibri" panose="020F0502020204030204" charset="0"/>
              </a:rPr>
              <a:t>, </a:t>
            </a:r>
            <a:r>
              <a:rPr lang="en-GB" sz="3000" b="0" u="sng" dirty="0" smtClean="0">
                <a:solidFill>
                  <a:schemeClr val="tx1"/>
                </a:solidFill>
                <a:latin typeface="Calibri" panose="020F0502020204030204" charset="0"/>
                <a:cs typeface="Calibri" panose="020F0502020204030204" charset="0"/>
              </a:rPr>
              <a:t>design</a:t>
            </a:r>
            <a:r>
              <a:rPr lang="en-GB" sz="3000" b="0" dirty="0" smtClean="0">
                <a:solidFill>
                  <a:schemeClr val="tx1"/>
                </a:solidFill>
                <a:latin typeface="Calibri" panose="020F0502020204030204" charset="0"/>
                <a:cs typeface="Calibri" panose="020F0502020204030204" charset="0"/>
              </a:rPr>
              <a:t>, and </a:t>
            </a:r>
            <a:r>
              <a:rPr lang="en-GB" sz="3000" b="0" u="sng" dirty="0" smtClean="0">
                <a:solidFill>
                  <a:schemeClr val="tx1"/>
                </a:solidFill>
                <a:latin typeface="Calibri" panose="020F0502020204030204" charset="0"/>
                <a:cs typeface="Calibri" panose="020F0502020204030204" charset="0"/>
              </a:rPr>
              <a:t>evolution</a:t>
            </a:r>
            <a:r>
              <a:rPr lang="en-GB" sz="3000" b="0" dirty="0" smtClean="0">
                <a:solidFill>
                  <a:schemeClr val="tx1"/>
                </a:solidFill>
                <a:latin typeface="Calibri" panose="020F0502020204030204" charset="0"/>
                <a:cs typeface="Calibri" panose="020F0502020204030204" charset="0"/>
              </a:rPr>
              <a:t>, none of which are normally relevant for personal software development. </a:t>
            </a:r>
            <a:endParaRPr lang="en-GB" sz="3000" b="0" dirty="0" smtClean="0">
              <a:solidFill>
                <a:schemeClr val="tx1"/>
              </a:solidFill>
              <a:latin typeface="Calibri" panose="020F0502020204030204" charset="0"/>
              <a:cs typeface="Calibri" panose="020F0502020204030204" charset="0"/>
            </a:endParaRPr>
          </a:p>
        </p:txBody>
      </p:sp>
      <p:sp>
        <p:nvSpPr>
          <p:cNvPr id="2" name="Rectangle 3"/>
          <p:cNvSpPr>
            <a:spLocks noGrp="1" noRot="1"/>
          </p:cNvSpPr>
          <p:nvPr>
            <p:custDataLst>
              <p:tags r:id="rId3"/>
            </p:custDataLst>
          </p:nvPr>
        </p:nvSpPr>
        <p:spPr>
          <a:xfrm>
            <a:off x="5153025" y="1268730"/>
            <a:ext cx="3452495" cy="45847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个人开发</a:t>
            </a:r>
            <a:r>
              <a:rPr lang="en-US" altLang="zh-CN"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 vs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专业开发</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5" name="Rectangle 3"/>
          <p:cNvSpPr>
            <a:spLocks noGrp="1" noRot="1"/>
          </p:cNvSpPr>
          <p:nvPr>
            <p:custDataLst>
              <p:tags r:id="rId4"/>
            </p:custDataLst>
          </p:nvPr>
        </p:nvSpPr>
        <p:spPr>
          <a:xfrm>
            <a:off x="4466590" y="4624705"/>
            <a:ext cx="4426585" cy="45847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软件工程用于专业开发而非个人开发</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18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Professional software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60655" y="1241425"/>
            <a:ext cx="8849360" cy="5340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100000"/>
              </a:lnSpc>
              <a:spcBef>
                <a:spcPts val="600"/>
              </a:spcBef>
              <a:spcAft>
                <a:spcPts val="0"/>
              </a:spcAft>
            </a:pPr>
            <a:r>
              <a:rPr lang="en-US" altLang="en-GB" sz="2800" dirty="0" smtClean="0">
                <a:solidFill>
                  <a:schemeClr val="tx2">
                    <a:lumMod val="75000"/>
                    <a:lumOff val="25000"/>
                  </a:schemeClr>
                </a:solidFill>
                <a:latin typeface="Calibri" panose="020F0502020204030204" charset="0"/>
                <a:cs typeface="Calibri" panose="020F0502020204030204" charset="0"/>
              </a:rPr>
              <a:t> </a:t>
            </a:r>
            <a:r>
              <a:rPr lang="en-GB" sz="2800" dirty="0" smtClean="0">
                <a:solidFill>
                  <a:schemeClr val="tx2">
                    <a:lumMod val="75000"/>
                    <a:lumOff val="25000"/>
                  </a:schemeClr>
                </a:solidFill>
                <a:latin typeface="Calibri" panose="020F0502020204030204" charset="0"/>
                <a:cs typeface="Calibri" panose="020F0502020204030204" charset="0"/>
              </a:rPr>
              <a:t>Frequently asked questions about software engineering</a:t>
            </a:r>
            <a:endParaRPr lang="en-US" sz="2400" b="0" dirty="0" smtClean="0">
              <a:latin typeface="Calibri" panose="020F0502020204030204" charset="0"/>
              <a:cs typeface="Calibri" panose="020F0502020204030204" charset="0"/>
            </a:endParaRPr>
          </a:p>
        </p:txBody>
      </p:sp>
      <p:graphicFrame>
        <p:nvGraphicFramePr>
          <p:cNvPr id="5" name="Table 4"/>
          <p:cNvGraphicFramePr>
            <a:graphicFrameLocks noGrp="1"/>
          </p:cNvGraphicFramePr>
          <p:nvPr>
            <p:custDataLst>
              <p:tags r:id="rId3"/>
            </p:custDataLst>
          </p:nvPr>
        </p:nvGraphicFramePr>
        <p:xfrm>
          <a:off x="115570" y="1751965"/>
          <a:ext cx="8895080" cy="4855210"/>
        </p:xfrm>
        <a:graphic>
          <a:graphicData uri="http://schemas.openxmlformats.org/drawingml/2006/table">
            <a:tbl>
              <a:tblPr firstRow="1" bandRow="1">
                <a:effectLst/>
                <a:tableStyleId>{5940675A-B579-460E-94D1-54222C63F5DA}</a:tableStyleId>
              </a:tblPr>
              <a:tblGrid>
                <a:gridCol w="2750185"/>
                <a:gridCol w="6144895"/>
              </a:tblGrid>
              <a:tr h="557530">
                <a:tc>
                  <a:txBody>
                    <a:bodyPr/>
                    <a:p>
                      <a:pPr algn="ctr">
                        <a:spcAft>
                          <a:spcPts val="0"/>
                        </a:spcAft>
                        <a:buClrTx/>
                        <a:buSzTx/>
                        <a:buFontTx/>
                      </a:pPr>
                      <a:r>
                        <a:rPr lang="en-GB" sz="2000" b="1" dirty="0">
                          <a:solidFill>
                            <a:sysClr val="window" lastClr="FFFFFF"/>
                          </a:solidFill>
                          <a:latin typeface="Arial" panose="020B0604020202020204"/>
                          <a:cs typeface="Arial" panose="020B0604020202020204"/>
                        </a:rPr>
                        <a:t>Question</a:t>
                      </a:r>
                      <a:endParaRPr lang="en-GB" sz="2000" b="1" dirty="0">
                        <a:solidFill>
                          <a:sysClr val="window" lastClr="FFFFFF"/>
                        </a:solidFill>
                        <a:latin typeface="Arial" panose="020B0604020202020204"/>
                        <a:cs typeface="Arial" panose="020B0604020202020204"/>
                      </a:endParaRPr>
                    </a:p>
                  </a:txBody>
                  <a:tcPr marL="73025" marR="73025" marT="73025" marB="73025">
                    <a:lnL w="12700" cmpd="sng">
                      <a:solidFill>
                        <a:srgbClr val="4F81BD"/>
                      </a:solidFill>
                    </a:lnL>
                    <a:lnR>
                      <a:noFill/>
                    </a:lnR>
                    <a:lnT w="12700" cmpd="sng">
                      <a:solidFill>
                        <a:srgbClr val="4F81BD"/>
                      </a:solidFill>
                    </a:lnT>
                    <a:lnB w="12700" cmpd="sng">
                      <a:solidFill>
                        <a:srgbClr val="4F81BD"/>
                      </a:solidFill>
                    </a:lnB>
                    <a:solidFill>
                      <a:srgbClr val="4F81BD"/>
                    </a:solidFill>
                  </a:tcPr>
                </a:tc>
                <a:tc>
                  <a:txBody>
                    <a:bodyPr/>
                    <a:p>
                      <a:pPr algn="ctr">
                        <a:spcAft>
                          <a:spcPts val="0"/>
                        </a:spcAft>
                        <a:buClrTx/>
                        <a:buSzTx/>
                        <a:buFontTx/>
                      </a:pPr>
                      <a:r>
                        <a:rPr lang="en-GB" sz="2000" b="1" dirty="0">
                          <a:solidFill>
                            <a:sysClr val="window" lastClr="FFFFFF"/>
                          </a:solidFill>
                          <a:latin typeface="Arial" panose="020B0604020202020204"/>
                          <a:cs typeface="Arial" panose="020B0604020202020204"/>
                        </a:rPr>
                        <a:t>Answer</a:t>
                      </a:r>
                      <a:endParaRPr lang="en-GB" sz="2000" b="1" dirty="0">
                        <a:solidFill>
                          <a:sysClr val="window" lastClr="FFFFFF"/>
                        </a:solidFill>
                        <a:latin typeface="Arial" panose="020B0604020202020204"/>
                        <a:cs typeface="Arial" panose="020B0604020202020204"/>
                      </a:endParaRPr>
                    </a:p>
                  </a:txBody>
                  <a:tcPr marL="73025" marR="73025" marT="73025" marB="73025">
                    <a:lnL>
                      <a:noFill/>
                    </a:lnL>
                    <a:lnR w="12700" cmpd="sng">
                      <a:solidFill>
                        <a:srgbClr val="4F81BD"/>
                      </a:solidFill>
                    </a:lnR>
                    <a:lnT w="12700" cmpd="sng">
                      <a:solidFill>
                        <a:srgbClr val="4F81BD"/>
                      </a:solidFill>
                    </a:lnT>
                    <a:lnB w="12700" cmpd="sng">
                      <a:solidFill>
                        <a:srgbClr val="4F81BD"/>
                      </a:solidFill>
                    </a:lnB>
                    <a:solidFill>
                      <a:srgbClr val="4F81BD"/>
                    </a:solidFill>
                  </a:tcPr>
                </a:tc>
              </a:tr>
              <a:tr h="842010">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What is software?</a:t>
                      </a:r>
                      <a:endParaRPr lang="en-GB" sz="2200" dirty="0">
                        <a:solidFill>
                          <a:sysClr val="windowText" lastClr="000000"/>
                        </a:solidFill>
                        <a:latin typeface="Calibri" panose="020F0502020204030204" charset="0"/>
                        <a:cs typeface="Calibri" panose="020F0502020204030204" charset="0"/>
                      </a:endParaRPr>
                    </a:p>
                    <a:p>
                      <a:pPr algn="l">
                        <a:spcAft>
                          <a:spcPts val="0"/>
                        </a:spcAft>
                      </a:pPr>
                      <a:r>
                        <a:rPr lang="en-US" altLang="zh-CN" sz="2200" dirty="0">
                          <a:solidFill>
                            <a:sysClr val="windowText" lastClr="000000"/>
                          </a:solidFill>
                          <a:latin typeface="Calibri" panose="020F0502020204030204" charset="0"/>
                          <a:ea typeface="宋体" panose="02010600030101010101" pitchFamily="2" charset="-122"/>
                          <a:cs typeface="Calibri" panose="020F0502020204030204" charset="0"/>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rPr>
                        <a:t>软件概念</a:t>
                      </a:r>
                      <a:endPar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Computer </a:t>
                      </a:r>
                      <a:r>
                        <a:rPr lang="en-GB" sz="2200" u="sng" dirty="0">
                          <a:solidFill>
                            <a:sysClr val="windowText" lastClr="000000"/>
                          </a:solidFill>
                          <a:latin typeface="Calibri" panose="020F0502020204030204" charset="0"/>
                          <a:cs typeface="Calibri" panose="020F0502020204030204" charset="0"/>
                        </a:rPr>
                        <a:t>programs</a:t>
                      </a:r>
                      <a:r>
                        <a:rPr lang="en-GB" sz="2200" dirty="0">
                          <a:solidFill>
                            <a:sysClr val="windowText" lastClr="000000"/>
                          </a:solidFill>
                          <a:latin typeface="Calibri" panose="020F0502020204030204" charset="0"/>
                          <a:cs typeface="Calibri" panose="020F0502020204030204" charset="0"/>
                        </a:rPr>
                        <a:t> and associated </a:t>
                      </a:r>
                      <a:r>
                        <a:rPr lang="en-GB" sz="2200" u="sng" dirty="0">
                          <a:solidFill>
                            <a:sysClr val="windowText" lastClr="000000"/>
                          </a:solidFill>
                          <a:latin typeface="Calibri" panose="020F0502020204030204" charset="0"/>
                          <a:cs typeface="Calibri" panose="020F0502020204030204" charset="0"/>
                        </a:rPr>
                        <a:t>documentation</a:t>
                      </a:r>
                      <a:r>
                        <a:rPr lang="en-GB" sz="2200" dirty="0">
                          <a:solidFill>
                            <a:sysClr val="windowText" lastClr="000000"/>
                          </a:solidFill>
                          <a:latin typeface="Calibri" panose="020F0502020204030204" charset="0"/>
                          <a:cs typeface="Calibri" panose="020F0502020204030204" charset="0"/>
                        </a:rPr>
                        <a:t>. Software products may be developed for a particular customer or may be developed for a general market.</a:t>
                      </a:r>
                      <a:endParaRPr lang="en-GB" sz="2200" dirty="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1074420">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What are the attributes of good software?</a:t>
                      </a:r>
                      <a:r>
                        <a:rPr lang="en-US" altLang="en-GB" sz="2200" dirty="0">
                          <a:solidFill>
                            <a:sysClr val="windowText" lastClr="000000"/>
                          </a:solidFill>
                          <a:latin typeface="Calibri" panose="020F0502020204030204" charset="0"/>
                          <a:cs typeface="Calibri" panose="020F0502020204030204" charset="0"/>
                        </a:rPr>
                        <a:t>   </a:t>
                      </a: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rPr>
                        <a:t>好的属性？</a:t>
                      </a:r>
                      <a:endPar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Good software should deliver the required </a:t>
                      </a:r>
                      <a:r>
                        <a:rPr lang="en-GB" sz="2200" u="sng" dirty="0">
                          <a:solidFill>
                            <a:sysClr val="windowText" lastClr="000000"/>
                          </a:solidFill>
                          <a:latin typeface="Calibri" panose="020F0502020204030204" charset="0"/>
                          <a:cs typeface="Calibri" panose="020F0502020204030204" charset="0"/>
                        </a:rPr>
                        <a:t>functionality</a:t>
                      </a:r>
                      <a:r>
                        <a:rPr lang="en-GB" sz="2200" dirty="0">
                          <a:solidFill>
                            <a:sysClr val="windowText" lastClr="000000"/>
                          </a:solidFill>
                          <a:latin typeface="Calibri" panose="020F0502020204030204" charset="0"/>
                          <a:cs typeface="Calibri" panose="020F0502020204030204" charset="0"/>
                        </a:rPr>
                        <a:t> and </a:t>
                      </a:r>
                      <a:r>
                        <a:rPr lang="en-GB" sz="2200" u="sng" dirty="0">
                          <a:solidFill>
                            <a:sysClr val="windowText" lastClr="000000"/>
                          </a:solidFill>
                          <a:latin typeface="Calibri" panose="020F0502020204030204" charset="0"/>
                          <a:cs typeface="Calibri" panose="020F0502020204030204" charset="0"/>
                        </a:rPr>
                        <a:t>performance</a:t>
                      </a:r>
                      <a:r>
                        <a:rPr lang="en-GB" sz="2200" dirty="0">
                          <a:solidFill>
                            <a:sysClr val="windowText" lastClr="000000"/>
                          </a:solidFill>
                          <a:latin typeface="Calibri" panose="020F0502020204030204" charset="0"/>
                          <a:cs typeface="Calibri" panose="020F0502020204030204" charset="0"/>
                        </a:rPr>
                        <a:t> to the user and should be maintainable, dependable and usable.</a:t>
                      </a:r>
                      <a:endParaRPr lang="en-GB" sz="2200" dirty="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r h="586740">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What is software engineering?</a:t>
                      </a:r>
                      <a:r>
                        <a:rPr lang="en-US" altLang="en-GB" sz="2200" dirty="0">
                          <a:solidFill>
                            <a:sysClr val="windowText" lastClr="000000"/>
                          </a:solidFill>
                          <a:latin typeface="Calibri" panose="020F0502020204030204" charset="0"/>
                          <a:cs typeface="Calibri" panose="020F0502020204030204" charset="0"/>
                        </a:rPr>
                        <a:t>  </a:t>
                      </a:r>
                      <a:r>
                        <a:rPr lang="en-US" altLang="zh-CN" sz="22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SE</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概念</a:t>
                      </a:r>
                      <a:endParaRPr lang="en-GB" sz="2200" dirty="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Software engineering is an </a:t>
                      </a:r>
                      <a:r>
                        <a:rPr lang="en-GB" sz="2200" u="sng" dirty="0">
                          <a:solidFill>
                            <a:sysClr val="windowText" lastClr="000000"/>
                          </a:solidFill>
                          <a:latin typeface="Calibri" panose="020F0502020204030204" charset="0"/>
                          <a:cs typeface="Calibri" panose="020F0502020204030204" charset="0"/>
                        </a:rPr>
                        <a:t>engineering</a:t>
                      </a:r>
                      <a:r>
                        <a:rPr lang="en-GB" sz="2200" dirty="0">
                          <a:solidFill>
                            <a:sysClr val="windowText" lastClr="000000"/>
                          </a:solidFill>
                          <a:latin typeface="Calibri" panose="020F0502020204030204" charset="0"/>
                          <a:cs typeface="Calibri" panose="020F0502020204030204" charset="0"/>
                        </a:rPr>
                        <a:t> discipline that is concerned with all aspects of software production.</a:t>
                      </a:r>
                      <a:endParaRPr lang="en-GB" sz="2200" dirty="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1074420">
                <a:tc>
                  <a:txBody>
                    <a:bodyPr/>
                    <a:p>
                      <a:pPr algn="l">
                        <a:spcAft>
                          <a:spcPts val="0"/>
                        </a:spcAft>
                      </a:pPr>
                      <a:r>
                        <a:rPr lang="en-GB" sz="2200">
                          <a:solidFill>
                            <a:sysClr val="windowText" lastClr="000000"/>
                          </a:solidFill>
                          <a:latin typeface="Calibri" panose="020F0502020204030204" charset="0"/>
                          <a:cs typeface="Calibri" panose="020F0502020204030204" charset="0"/>
                        </a:rPr>
                        <a:t>What are the fundamental software engineering activities?</a:t>
                      </a:r>
                      <a:endParaRPr lang="en-GB" sz="220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Software specification, software development, software validation and software evolution.</a:t>
                      </a:r>
                      <a:r>
                        <a:rPr lang="en-US" altLang="en-GB" sz="2200" dirty="0">
                          <a:solidFill>
                            <a:sysClr val="windowText" lastClr="000000"/>
                          </a:solidFill>
                          <a:latin typeface="Calibri" panose="020F0502020204030204" charset="0"/>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SE活动：</a:t>
                      </a:r>
                      <a:endPar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gn="l">
                        <a:spcAft>
                          <a:spcPts val="0"/>
                        </a:spcAft>
                      </a:pPr>
                      <a:r>
                        <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rPr>
                        <a:t>软件规格说明、软件开发、软件确认与软件演进</a:t>
                      </a:r>
                      <a:endParaRPr lang="zh-CN" altLang="en-US" sz="20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18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Professional software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60655" y="1169670"/>
            <a:ext cx="8849360" cy="5340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100000"/>
              </a:lnSpc>
              <a:spcBef>
                <a:spcPts val="600"/>
              </a:spcBef>
              <a:spcAft>
                <a:spcPts val="0"/>
              </a:spcAft>
            </a:pPr>
            <a:r>
              <a:rPr lang="en-US" altLang="en-GB" sz="2800" dirty="0" smtClean="0">
                <a:solidFill>
                  <a:schemeClr val="tx2">
                    <a:lumMod val="75000"/>
                    <a:lumOff val="25000"/>
                  </a:schemeClr>
                </a:solidFill>
                <a:latin typeface="Calibri" panose="020F0502020204030204" charset="0"/>
                <a:cs typeface="Calibri" panose="020F0502020204030204" charset="0"/>
              </a:rPr>
              <a:t> </a:t>
            </a:r>
            <a:r>
              <a:rPr lang="en-GB" sz="2800" dirty="0" smtClean="0">
                <a:solidFill>
                  <a:schemeClr val="tx2">
                    <a:lumMod val="75000"/>
                    <a:lumOff val="25000"/>
                  </a:schemeClr>
                </a:solidFill>
                <a:latin typeface="Calibri" panose="020F0502020204030204" charset="0"/>
                <a:cs typeface="Calibri" panose="020F0502020204030204" charset="0"/>
              </a:rPr>
              <a:t>Frequently asked questions about software engineering</a:t>
            </a:r>
            <a:endParaRPr lang="en-US" sz="2400" b="0" dirty="0" smtClean="0">
              <a:latin typeface="Calibri" panose="020F0502020204030204" charset="0"/>
              <a:cs typeface="Calibri" panose="020F0502020204030204" charset="0"/>
            </a:endParaRPr>
          </a:p>
        </p:txBody>
      </p:sp>
      <p:graphicFrame>
        <p:nvGraphicFramePr>
          <p:cNvPr id="5" name="Table 4"/>
          <p:cNvGraphicFramePr>
            <a:graphicFrameLocks noGrp="1"/>
          </p:cNvGraphicFramePr>
          <p:nvPr>
            <p:custDataLst>
              <p:tags r:id="rId3"/>
            </p:custDataLst>
          </p:nvPr>
        </p:nvGraphicFramePr>
        <p:xfrm>
          <a:off x="88900" y="1680210"/>
          <a:ext cx="8952865" cy="5130165"/>
        </p:xfrm>
        <a:graphic>
          <a:graphicData uri="http://schemas.openxmlformats.org/drawingml/2006/table">
            <a:tbl>
              <a:tblPr firstRow="1" bandRow="1">
                <a:effectLst/>
                <a:tableStyleId>{5940675A-B579-460E-94D1-54222C63F5DA}</a:tableStyleId>
              </a:tblPr>
              <a:tblGrid>
                <a:gridCol w="2632075"/>
                <a:gridCol w="6320790"/>
              </a:tblGrid>
              <a:tr h="450850">
                <a:tc>
                  <a:txBody>
                    <a:bodyPr/>
                    <a:p>
                      <a:pPr algn="ctr">
                        <a:spcAft>
                          <a:spcPts val="0"/>
                        </a:spcAft>
                        <a:buClrTx/>
                        <a:buSzTx/>
                        <a:buFontTx/>
                      </a:pPr>
                      <a:r>
                        <a:rPr lang="en-GB" sz="2000" b="1" dirty="0">
                          <a:solidFill>
                            <a:sysClr val="window" lastClr="FFFFFF"/>
                          </a:solidFill>
                          <a:latin typeface="Arial" panose="020B0604020202020204"/>
                          <a:cs typeface="Arial" panose="020B0604020202020204"/>
                        </a:rPr>
                        <a:t>Question</a:t>
                      </a:r>
                      <a:endParaRPr lang="en-GB" sz="2000" b="1" dirty="0">
                        <a:solidFill>
                          <a:sysClr val="window" lastClr="FFFFFF"/>
                        </a:solidFill>
                        <a:latin typeface="Arial" panose="020B0604020202020204"/>
                        <a:cs typeface="Arial" panose="020B0604020202020204"/>
                      </a:endParaRPr>
                    </a:p>
                  </a:txBody>
                  <a:tcPr marL="73025" marR="73025" marT="73025" marB="73025">
                    <a:lnL w="12700" cmpd="sng">
                      <a:solidFill>
                        <a:srgbClr val="4F81BD"/>
                      </a:solidFill>
                    </a:lnL>
                    <a:lnR>
                      <a:noFill/>
                    </a:lnR>
                    <a:lnT w="12700" cmpd="sng">
                      <a:solidFill>
                        <a:srgbClr val="4F81BD"/>
                      </a:solidFill>
                    </a:lnT>
                    <a:lnB w="12700" cmpd="sng">
                      <a:solidFill>
                        <a:srgbClr val="4F81BD"/>
                      </a:solidFill>
                    </a:lnB>
                    <a:solidFill>
                      <a:srgbClr val="4F81BD"/>
                    </a:solidFill>
                  </a:tcPr>
                </a:tc>
                <a:tc>
                  <a:txBody>
                    <a:bodyPr/>
                    <a:p>
                      <a:pPr algn="ctr">
                        <a:spcAft>
                          <a:spcPts val="0"/>
                        </a:spcAft>
                        <a:buClrTx/>
                        <a:buSzTx/>
                        <a:buFontTx/>
                      </a:pPr>
                      <a:r>
                        <a:rPr lang="en-GB" sz="2000" b="1" dirty="0">
                          <a:solidFill>
                            <a:sysClr val="window" lastClr="FFFFFF"/>
                          </a:solidFill>
                          <a:latin typeface="Arial" panose="020B0604020202020204"/>
                          <a:cs typeface="Arial" panose="020B0604020202020204"/>
                        </a:rPr>
                        <a:t>Answer</a:t>
                      </a:r>
                      <a:endParaRPr lang="en-GB" sz="2000" b="1" dirty="0">
                        <a:solidFill>
                          <a:sysClr val="window" lastClr="FFFFFF"/>
                        </a:solidFill>
                        <a:latin typeface="Arial" panose="020B0604020202020204"/>
                        <a:cs typeface="Arial" panose="020B0604020202020204"/>
                      </a:endParaRPr>
                    </a:p>
                  </a:txBody>
                  <a:tcPr marL="73025" marR="73025" marT="73025" marB="73025">
                    <a:lnL>
                      <a:noFill/>
                    </a:lnL>
                    <a:lnR w="12700" cmpd="sng">
                      <a:solidFill>
                        <a:srgbClr val="4F81BD"/>
                      </a:solidFill>
                    </a:lnR>
                    <a:lnT w="12700" cmpd="sng">
                      <a:solidFill>
                        <a:srgbClr val="4F81BD"/>
                      </a:solidFill>
                    </a:lnT>
                    <a:lnB w="12700" cmpd="sng">
                      <a:solidFill>
                        <a:srgbClr val="4F81BD"/>
                      </a:solidFill>
                    </a:lnB>
                    <a:solidFill>
                      <a:srgbClr val="4F81BD"/>
                    </a:solidFill>
                  </a:tcPr>
                </a:tc>
              </a:tr>
              <a:tr h="1318260">
                <a:tc>
                  <a:txBody>
                    <a:bodyPr/>
                    <a:p>
                      <a:pPr algn="l">
                        <a:spcAft>
                          <a:spcPts val="0"/>
                        </a:spcAft>
                      </a:pPr>
                      <a:r>
                        <a:rPr lang="en-GB" sz="2000">
                          <a:solidFill>
                            <a:sysClr val="windowText" lastClr="000000"/>
                          </a:solidFill>
                          <a:latin typeface="Calibri" panose="020F0502020204030204" charset="0"/>
                          <a:cs typeface="Calibri" panose="020F0502020204030204" charset="0"/>
                        </a:rPr>
                        <a:t>What is the difference between software engineering and computer science?</a:t>
                      </a:r>
                      <a:endParaRPr lang="en-GB" sz="200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Computer science focuses on theory and fundamentals; software engineering is concerned with the practicalities of developing and delivering useful software.</a:t>
                      </a:r>
                      <a:endParaRPr lang="en-GB" sz="2000" dirty="0">
                        <a:solidFill>
                          <a:sysClr val="windowText" lastClr="000000"/>
                        </a:solidFill>
                        <a:latin typeface="Calibri" panose="020F0502020204030204" charset="0"/>
                        <a:cs typeface="Calibri" panose="020F0502020204030204" charset="0"/>
                      </a:endParaRPr>
                    </a:p>
                    <a:p>
                      <a:pPr algn="l">
                        <a:spcAft>
                          <a:spcPts val="0"/>
                        </a:spcAft>
                      </a:pPr>
                      <a:r>
                        <a:rPr lang="en-US" altLang="en-GB" sz="2000" dirty="0">
                          <a:solidFill>
                            <a:sysClr val="windowText" lastClr="000000"/>
                          </a:solidFill>
                          <a:latin typeface="Calibri" panose="020F0502020204030204" charset="0"/>
                          <a:ea typeface="Times New Roman" panose="02020603050405020304"/>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软件工程 vs 计算机科学</a:t>
                      </a:r>
                      <a:endParaRPr lang="zh-CN" altLang="en-US" sz="2000" dirty="0">
                        <a:solidFill>
                          <a:sysClr val="windowText" lastClr="000000"/>
                        </a:solidFill>
                        <a:latin typeface="Calibri" panose="020F0502020204030204" charset="0"/>
                        <a:ea typeface="宋体" panose="02010600030101010101" pitchFamily="2" charset="-122"/>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1287780">
                <a:tc>
                  <a:txBody>
                    <a:bodyPr/>
                    <a:p>
                      <a:pPr algn="l">
                        <a:spcAft>
                          <a:spcPts val="0"/>
                        </a:spcAft>
                      </a:pPr>
                      <a:r>
                        <a:rPr lang="en-GB" sz="2000">
                          <a:solidFill>
                            <a:sysClr val="windowText" lastClr="000000"/>
                          </a:solidFill>
                          <a:latin typeface="Calibri" panose="020F0502020204030204" charset="0"/>
                          <a:cs typeface="Calibri" panose="020F0502020204030204" charset="0"/>
                        </a:rPr>
                        <a:t>What is the difference between software engineering and system engineering?</a:t>
                      </a:r>
                      <a:endParaRPr lang="en-GB" sz="200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System engineering is concerned with all aspects of computer-based systems development including hardware, software and process engineering. Software engineering is part of this more general process.</a:t>
                      </a:r>
                      <a:r>
                        <a:rPr lang="en-US" altLang="en-GB" sz="2000" dirty="0">
                          <a:solidFill>
                            <a:sysClr val="windowText" lastClr="000000"/>
                          </a:solidFill>
                          <a:latin typeface="Calibri" panose="020F0502020204030204" charset="0"/>
                          <a:cs typeface="Calibri" panose="020F0502020204030204" charset="0"/>
                        </a:rPr>
                        <a:t>  </a:t>
                      </a:r>
                      <a:r>
                        <a:rPr lang="zh-CN" altLang="en-US" sz="1800" b="1" dirty="0" smtClean="0">
                          <a:solidFill>
                            <a:srgbClr val="C00000"/>
                          </a:solidFill>
                          <a:latin typeface="黑体" panose="02010609060101010101" pitchFamily="49" charset="-122"/>
                          <a:ea typeface="黑体" panose="02010609060101010101" pitchFamily="49" charset="-122"/>
                          <a:cs typeface="Calibri" panose="020F0502020204030204" charset="0"/>
                        </a:rPr>
                        <a:t>软件工程 vs 系统工程</a:t>
                      </a:r>
                      <a:endParaRPr lang="zh-CN" altLang="en-US" sz="18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r h="1013460">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What are the key challenges facing software engineering?</a:t>
                      </a:r>
                      <a:endParaRPr lang="en-GB" sz="2000" dirty="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Coping with increasing diversity, demands for reduced delivery times and developing trustworthy software.</a:t>
                      </a:r>
                      <a:endParaRPr lang="en-GB" sz="2000" dirty="0">
                        <a:solidFill>
                          <a:sysClr val="windowText" lastClr="000000"/>
                        </a:solidFill>
                        <a:latin typeface="Calibri" panose="020F0502020204030204" charset="0"/>
                        <a:cs typeface="Calibri" panose="020F0502020204030204" charset="0"/>
                      </a:endParaRPr>
                    </a:p>
                    <a:p>
                      <a:pPr algn="l">
                        <a:spcAft>
                          <a:spcPts val="0"/>
                        </a:spcAft>
                      </a:pPr>
                      <a:r>
                        <a:rPr lang="en-US" altLang="en-GB" sz="2000" dirty="0">
                          <a:solidFill>
                            <a:sysClr val="windowText" lastClr="000000"/>
                          </a:solidFill>
                          <a:latin typeface="Calibri" panose="020F0502020204030204" charset="0"/>
                          <a:ea typeface="Times New Roman" panose="02020603050405020304"/>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面临的挑战</a:t>
                      </a:r>
                      <a:endPar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1059815">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What are the costs of software engineering?</a:t>
                      </a:r>
                      <a:endParaRPr lang="zh-CN" altLang="en-GB" sz="2000" dirty="0">
                        <a:solidFill>
                          <a:sysClr val="windowText" lastClr="000000"/>
                        </a:solidFill>
                        <a:latin typeface="Calibri" panose="020F0502020204030204" charset="0"/>
                        <a:ea typeface="宋体" panose="02010600030101010101" pitchFamily="2" charset="-122"/>
                        <a:cs typeface="Calibri" panose="020F0502020204030204" charset="0"/>
                      </a:endParaRPr>
                    </a:p>
                  </a:txBody>
                  <a:tcPr marL="73025" marR="73025" marT="0" marB="6858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l">
                        <a:spcAft>
                          <a:spcPts val="0"/>
                        </a:spcAft>
                      </a:pPr>
                      <a:r>
                        <a:rPr lang="en-GB" sz="2000" dirty="0">
                          <a:solidFill>
                            <a:sysClr val="windowText" lastClr="000000"/>
                          </a:solidFill>
                          <a:latin typeface="Calibri" panose="020F0502020204030204" charset="0"/>
                          <a:cs typeface="Calibri" panose="020F0502020204030204" charset="0"/>
                        </a:rPr>
                        <a:t>Roughly 60% of software costs are development costs, 40% are testing costs. For custom software, evolution costs often exceed development costs.</a:t>
                      </a:r>
                      <a:r>
                        <a:rPr lang="en-US" altLang="en-GB" sz="2000" dirty="0">
                          <a:solidFill>
                            <a:sysClr val="windowText" lastClr="000000"/>
                          </a:solidFill>
                          <a:latin typeface="Calibri" panose="020F0502020204030204" charset="0"/>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成本 </a:t>
                      </a:r>
                      <a:endPar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endParaRPr>
                    </a:p>
                  </a:txBody>
                  <a:tcPr marL="73025" marR="73025" marT="0" marB="6858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2640"/>
            <a:ext cx="8977630" cy="5842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Professional software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60655" y="1384935"/>
            <a:ext cx="8849360" cy="4743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100000"/>
              </a:lnSpc>
              <a:spcBef>
                <a:spcPts val="600"/>
              </a:spcBef>
              <a:spcAft>
                <a:spcPts val="0"/>
              </a:spcAft>
            </a:pPr>
            <a:r>
              <a:rPr lang="en-US" altLang="en-GB" sz="2800" dirty="0" smtClean="0">
                <a:solidFill>
                  <a:schemeClr val="tx2">
                    <a:lumMod val="75000"/>
                    <a:lumOff val="25000"/>
                  </a:schemeClr>
                </a:solidFill>
                <a:latin typeface="Calibri" panose="020F0502020204030204" charset="0"/>
                <a:cs typeface="Calibri" panose="020F0502020204030204" charset="0"/>
              </a:rPr>
              <a:t> </a:t>
            </a:r>
            <a:r>
              <a:rPr lang="en-GB" sz="2800" dirty="0" smtClean="0">
                <a:solidFill>
                  <a:schemeClr val="tx2">
                    <a:lumMod val="75000"/>
                    <a:lumOff val="25000"/>
                  </a:schemeClr>
                </a:solidFill>
                <a:latin typeface="Calibri" panose="020F0502020204030204" charset="0"/>
                <a:cs typeface="Calibri" panose="020F0502020204030204" charset="0"/>
              </a:rPr>
              <a:t>Frequently asked questions about software engineering</a:t>
            </a:r>
            <a:endParaRPr lang="en-US" sz="2400" b="0" dirty="0" smtClean="0">
              <a:latin typeface="Calibri" panose="020F0502020204030204" charset="0"/>
              <a:cs typeface="Calibri" panose="020F0502020204030204" charset="0"/>
            </a:endParaRPr>
          </a:p>
        </p:txBody>
      </p:sp>
      <p:graphicFrame>
        <p:nvGraphicFramePr>
          <p:cNvPr id="6" name="Content Placeholder 5"/>
          <p:cNvGraphicFramePr>
            <a:graphicFrameLocks noGrp="1"/>
          </p:cNvGraphicFramePr>
          <p:nvPr>
            <p:custDataLst>
              <p:tags r:id="rId3"/>
            </p:custDataLst>
          </p:nvPr>
        </p:nvGraphicFramePr>
        <p:xfrm>
          <a:off x="83185" y="1957705"/>
          <a:ext cx="8983980" cy="5674360"/>
        </p:xfrm>
        <a:graphic>
          <a:graphicData uri="http://schemas.openxmlformats.org/drawingml/2006/table">
            <a:tbl>
              <a:tblPr firstRow="1" bandRow="1">
                <a:effectLst/>
                <a:tableStyleId>{5940675A-B579-460E-94D1-54222C63F5DA}</a:tableStyleId>
              </a:tblPr>
              <a:tblGrid>
                <a:gridCol w="1973580"/>
                <a:gridCol w="7010400"/>
              </a:tblGrid>
              <a:tr h="416560">
                <a:tc>
                  <a:txBody>
                    <a:bodyPr/>
                    <a:p>
                      <a:pPr algn="ctr"/>
                      <a:r>
                        <a:rPr lang="en-US" sz="2000" b="1" dirty="0" smtClean="0">
                          <a:solidFill>
                            <a:sysClr val="window" lastClr="FFFFFF"/>
                          </a:solidFill>
                          <a:latin typeface="Arial" panose="020B0604020202020204"/>
                          <a:cs typeface="Arial" panose="020B0604020202020204"/>
                        </a:rPr>
                        <a:t>Question</a:t>
                      </a:r>
                      <a:endParaRPr lang="en-US" sz="2000" b="1" dirty="0" smtClean="0">
                        <a:solidFill>
                          <a:sysClr val="window" lastClr="FFFFFF"/>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buClrTx/>
                        <a:buSzTx/>
                        <a:buFontTx/>
                      </a:pPr>
                      <a:r>
                        <a:rPr lang="en-US" sz="2000" b="1" dirty="0" smtClean="0">
                          <a:solidFill>
                            <a:sysClr val="window" lastClr="FFFFFF"/>
                          </a:solidFill>
                          <a:latin typeface="Arial" panose="020B0604020202020204"/>
                          <a:cs typeface="Arial" panose="020B0604020202020204"/>
                        </a:rPr>
                        <a:t>Answer</a:t>
                      </a:r>
                      <a:endParaRPr lang="en-US" sz="2000" b="1" dirty="0" smtClean="0">
                        <a:solidFill>
                          <a:sysClr val="window" lastClr="FFFFFF"/>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868805">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What are the best software engineering techniques and methods?</a:t>
                      </a:r>
                      <a:endParaRPr lang="en-GB" sz="2200" dirty="0">
                        <a:solidFill>
                          <a:sysClr val="windowText" lastClr="000000"/>
                        </a:solidFill>
                        <a:latin typeface="Calibri" panose="020F0502020204030204" charset="0"/>
                        <a:cs typeface="Calibri" panose="020F0502020204030204" charset="0"/>
                      </a:endParaRPr>
                    </a:p>
                    <a:p>
                      <a:pPr algn="l">
                        <a:spcAft>
                          <a:spcPts val="0"/>
                        </a:spcAft>
                      </a:pP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最佳技术/方法</a:t>
                      </a:r>
                      <a:endParaRPr lang="zh-CN" altLang="en-US" sz="2200" dirty="0">
                        <a:solidFill>
                          <a:sysClr val="windowText" lastClr="000000"/>
                        </a:solidFill>
                        <a:latin typeface="Calibri" panose="020F0502020204030204" charset="0"/>
                        <a:ea typeface="宋体" panose="02010600030101010101" pitchFamily="2" charset="-122"/>
                        <a:cs typeface="Calibri" panose="020F0502020204030204" charset="0"/>
                      </a:endParaRPr>
                    </a:p>
                  </a:txBody>
                  <a:tcPr marL="73025" marR="73025" marT="0" marB="6858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Aft>
                          <a:spcPts val="0"/>
                        </a:spcAft>
                      </a:pPr>
                      <a:r>
                        <a:rPr lang="en-US" altLang="en-GB" sz="2200" dirty="0">
                          <a:solidFill>
                            <a:sysClr val="windowText" lastClr="000000"/>
                          </a:solidFill>
                          <a:latin typeface="Calibri" panose="020F0502020204030204" charset="0"/>
                          <a:cs typeface="Calibri" panose="020F0502020204030204" charset="0"/>
                        </a:rPr>
                        <a:t>D</a:t>
                      </a:r>
                      <a:r>
                        <a:rPr lang="en-GB" sz="2200" dirty="0">
                          <a:solidFill>
                            <a:sysClr val="windowText" lastClr="000000"/>
                          </a:solidFill>
                          <a:latin typeface="Calibri" panose="020F0502020204030204" charset="0"/>
                          <a:cs typeface="Calibri" panose="020F0502020204030204" charset="0"/>
                        </a:rPr>
                        <a:t>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r>
                        <a:rPr lang="en-US" altLang="en-GB" sz="2200" dirty="0">
                          <a:solidFill>
                            <a:sysClr val="windowText" lastClr="000000"/>
                          </a:solidFill>
                          <a:latin typeface="Calibri" panose="020F0502020204030204" charset="0"/>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不同技术适合于不同类型的系统</a:t>
                      </a:r>
                      <a:endParaRPr lang="zh-CN" altLang="en-US" sz="2200" dirty="0">
                        <a:solidFill>
                          <a:sysClr val="windowText" lastClr="000000"/>
                        </a:solidFill>
                        <a:latin typeface="Calibri" panose="020F0502020204030204" charset="0"/>
                        <a:ea typeface="宋体" panose="02010600030101010101" pitchFamily="2" charset="-122"/>
                        <a:cs typeface="Calibri" panose="020F0502020204030204" charset="0"/>
                      </a:endParaRPr>
                    </a:p>
                  </a:txBody>
                  <a:tcPr marL="73025" marR="73025" marT="0" marB="6858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193800">
                <a:tc>
                  <a:txBody>
                    <a:bodyPr/>
                    <a:p>
                      <a:pPr algn="l">
                        <a:spcAft>
                          <a:spcPts val="0"/>
                        </a:spcAft>
                      </a:pPr>
                      <a:r>
                        <a:rPr lang="en-GB" sz="2200">
                          <a:solidFill>
                            <a:sysClr val="windowText" lastClr="000000"/>
                          </a:solidFill>
                          <a:latin typeface="Calibri" panose="020F0502020204030204" charset="0"/>
                          <a:cs typeface="Calibri" panose="020F0502020204030204" charset="0"/>
                        </a:rPr>
                        <a:t>What differences has the web made to software engineering?</a:t>
                      </a:r>
                      <a:endParaRPr lang="en-GB" sz="2200">
                        <a:solidFill>
                          <a:sysClr val="windowText" lastClr="000000"/>
                        </a:solidFill>
                        <a:latin typeface="Calibri" panose="020F0502020204030204" charset="0"/>
                        <a:ea typeface="Times New Roman" panose="02020603050405020304"/>
                        <a:cs typeface="Calibri" panose="020F0502020204030204" charset="0"/>
                      </a:endParaRPr>
                    </a:p>
                  </a:txBody>
                  <a:tcPr marL="73025" marR="73025" marT="0" marB="6858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Aft>
                          <a:spcPts val="0"/>
                        </a:spcAft>
                      </a:pPr>
                      <a:r>
                        <a:rPr lang="en-GB" sz="2200" dirty="0">
                          <a:solidFill>
                            <a:sysClr val="windowText" lastClr="000000"/>
                          </a:solidFill>
                          <a:latin typeface="Calibri" panose="020F0502020204030204" charset="0"/>
                          <a:cs typeface="Calibri" panose="020F0502020204030204" charset="0"/>
                        </a:rPr>
                        <a:t>The web has led to the availability of software services and the possibility of developing highly distributed service-based systems. Web-based systems development has led to important advances in programming languages and software reuse.</a:t>
                      </a:r>
                      <a:r>
                        <a:rPr lang="en-US" altLang="en-GB" sz="2200" dirty="0">
                          <a:solidFill>
                            <a:sysClr val="windowText" lastClr="000000"/>
                          </a:solidFill>
                          <a:latin typeface="Calibri" panose="020F0502020204030204" charset="0"/>
                          <a:cs typeface="Calibri" panose="020F0502020204030204" charset="0"/>
                        </a:rPr>
                        <a:t>    </a:t>
                      </a:r>
                      <a:r>
                        <a:rPr lang="zh-CN" altLang="en-US" sz="2200" b="1" dirty="0" smtClean="0">
                          <a:solidFill>
                            <a:srgbClr val="C00000"/>
                          </a:solidFill>
                          <a:latin typeface="黑体" panose="02010609060101010101" pitchFamily="49" charset="-122"/>
                          <a:ea typeface="黑体" panose="02010609060101010101" pitchFamily="49" charset="-122"/>
                          <a:cs typeface="Calibri" panose="020F0502020204030204" charset="0"/>
                        </a:rPr>
                        <a:t>Web带来改变</a:t>
                      </a:r>
                      <a:endParaRPr lang="zh-CN" altLang="en-US" sz="2200" dirty="0">
                        <a:solidFill>
                          <a:sysClr val="windowText" lastClr="000000"/>
                        </a:solidFill>
                        <a:latin typeface="Calibri" panose="020F0502020204030204" charset="0"/>
                        <a:ea typeface="宋体" panose="02010600030101010101" pitchFamily="2" charset="-122"/>
                        <a:cs typeface="Calibri" panose="020F0502020204030204" charset="0"/>
                      </a:endParaRPr>
                    </a:p>
                  </a:txBody>
                  <a:tcPr marL="73025" marR="73025" marT="0" marB="6858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About software</a:t>
            </a:r>
            <a:r>
              <a:rPr lang="en-US" altLang="zh-CN" sz="3200" dirty="0">
                <a:solidFill>
                  <a:schemeClr val="accent1">
                    <a:lumMod val="75000"/>
                  </a:schemeClr>
                </a:solidFill>
                <a:ea typeface="宋体" panose="02010600030101010101" pitchFamily="2" charset="-122"/>
                <a:sym typeface="+mn-ea"/>
              </a:rPr>
              <a:t>  </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34620" y="1313180"/>
            <a:ext cx="8872855" cy="51746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Software is not just the </a:t>
            </a:r>
            <a:r>
              <a:rPr lang="en-US" sz="3000" u="sng" dirty="0" smtClean="0">
                <a:solidFill>
                  <a:schemeClr val="tx2">
                    <a:lumMod val="75000"/>
                    <a:lumOff val="25000"/>
                  </a:schemeClr>
                </a:solidFill>
                <a:latin typeface="Calibri" panose="020F0502020204030204" charset="0"/>
                <a:cs typeface="Calibri" panose="020F0502020204030204" charset="0"/>
              </a:rPr>
              <a:t>programs</a:t>
            </a:r>
            <a:r>
              <a:rPr lang="en-US" sz="3000" dirty="0" smtClean="0">
                <a:solidFill>
                  <a:schemeClr val="tx2">
                    <a:lumMod val="75000"/>
                    <a:lumOff val="25000"/>
                  </a:schemeClr>
                </a:solidFill>
                <a:latin typeface="Calibri" panose="020F0502020204030204" charset="0"/>
                <a:cs typeface="Calibri" panose="020F0502020204030204" charset="0"/>
              </a:rPr>
              <a:t> themselves but also all associated </a:t>
            </a:r>
            <a:r>
              <a:rPr lang="en-US" sz="3000" u="sng" dirty="0" smtClean="0">
                <a:solidFill>
                  <a:schemeClr val="tx2">
                    <a:lumMod val="75000"/>
                    <a:lumOff val="25000"/>
                  </a:schemeClr>
                </a:solidFill>
                <a:latin typeface="Calibri" panose="020F0502020204030204" charset="0"/>
                <a:cs typeface="Calibri" panose="020F0502020204030204" charset="0"/>
              </a:rPr>
              <a:t>documentation</a:t>
            </a:r>
            <a:r>
              <a:rPr lang="en-US" sz="3000" dirty="0" smtClean="0">
                <a:solidFill>
                  <a:schemeClr val="tx2">
                    <a:lumMod val="75000"/>
                    <a:lumOff val="25000"/>
                  </a:schemeClr>
                </a:solidFill>
                <a:latin typeface="Calibri" panose="020F0502020204030204" charset="0"/>
                <a:cs typeface="Calibri" panose="020F0502020204030204" charset="0"/>
              </a:rPr>
              <a:t>, </a:t>
            </a:r>
            <a:r>
              <a:rPr lang="en-US" sz="3000" u="sng" dirty="0" smtClean="0">
                <a:solidFill>
                  <a:schemeClr val="tx2">
                    <a:lumMod val="75000"/>
                    <a:lumOff val="25000"/>
                  </a:schemeClr>
                </a:solidFill>
                <a:latin typeface="Calibri" panose="020F0502020204030204" charset="0"/>
                <a:cs typeface="Calibri" panose="020F0502020204030204" charset="0"/>
              </a:rPr>
              <a:t>libraries</a:t>
            </a:r>
            <a:r>
              <a:rPr lang="en-US" sz="3000" dirty="0" smtClean="0">
                <a:solidFill>
                  <a:schemeClr val="tx2">
                    <a:lumMod val="75000"/>
                    <a:lumOff val="25000"/>
                  </a:schemeClr>
                </a:solidFill>
                <a:latin typeface="Calibri" panose="020F0502020204030204" charset="0"/>
                <a:cs typeface="Calibri" panose="020F0502020204030204" charset="0"/>
              </a:rPr>
              <a:t>, </a:t>
            </a:r>
            <a:r>
              <a:rPr lang="en-US" sz="3000" u="sng" dirty="0" smtClean="0">
                <a:solidFill>
                  <a:schemeClr val="tx2">
                    <a:lumMod val="75000"/>
                    <a:lumOff val="25000"/>
                  </a:schemeClr>
                </a:solidFill>
                <a:latin typeface="Calibri" panose="020F0502020204030204" charset="0"/>
                <a:cs typeface="Calibri" panose="020F0502020204030204" charset="0"/>
              </a:rPr>
              <a:t>support websites</a:t>
            </a:r>
            <a:r>
              <a:rPr lang="en-US" sz="3000" dirty="0" smtClean="0">
                <a:solidFill>
                  <a:schemeClr val="tx2">
                    <a:lumMod val="75000"/>
                    <a:lumOff val="25000"/>
                  </a:schemeClr>
                </a:solidFill>
                <a:latin typeface="Calibri" panose="020F0502020204030204" charset="0"/>
                <a:cs typeface="Calibri" panose="020F0502020204030204" charset="0"/>
              </a:rPr>
              <a:t>, and </a:t>
            </a:r>
            <a:r>
              <a:rPr lang="en-US" sz="3000" u="sng" dirty="0" smtClean="0">
                <a:solidFill>
                  <a:schemeClr val="tx2">
                    <a:lumMod val="75000"/>
                    <a:lumOff val="25000"/>
                  </a:schemeClr>
                </a:solidFill>
                <a:latin typeface="Calibri" panose="020F0502020204030204" charset="0"/>
                <a:cs typeface="Calibri" panose="020F0502020204030204" charset="0"/>
              </a:rPr>
              <a:t>configuration data</a:t>
            </a:r>
            <a:r>
              <a:rPr lang="en-US" sz="3000" dirty="0" smtClean="0">
                <a:solidFill>
                  <a:schemeClr val="tx2">
                    <a:lumMod val="75000"/>
                    <a:lumOff val="25000"/>
                  </a:schemeClr>
                </a:solidFill>
                <a:latin typeface="Calibri" panose="020F0502020204030204" charset="0"/>
                <a:cs typeface="Calibri" panose="020F0502020204030204" charset="0"/>
              </a:rPr>
              <a:t> that are needed to make these programs useful.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软件不只是程序</a:t>
            </a: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A professionally developed software system is often more than a single program. </a:t>
            </a:r>
            <a:r>
              <a:rPr lang="en-US" b="0" dirty="0" smtClean="0">
                <a:solidFill>
                  <a:schemeClr val="tx1"/>
                </a:solidFill>
                <a:latin typeface="Calibri" panose="020F0502020204030204" charset="0"/>
                <a:cs typeface="Calibri" panose="020F0502020204030204" charset="0"/>
              </a:rPr>
              <a:t>A system may consist of several </a:t>
            </a:r>
            <a:r>
              <a:rPr lang="en-US" b="0" u="sng" dirty="0" smtClean="0">
                <a:solidFill>
                  <a:schemeClr val="tx1"/>
                </a:solidFill>
                <a:latin typeface="Calibri" panose="020F0502020204030204" charset="0"/>
                <a:cs typeface="Calibri" panose="020F0502020204030204" charset="0"/>
              </a:rPr>
              <a:t>separate programs</a:t>
            </a:r>
            <a:r>
              <a:rPr lang="en-US" b="0" dirty="0" smtClean="0">
                <a:solidFill>
                  <a:schemeClr val="tx1"/>
                </a:solidFill>
                <a:latin typeface="Calibri" panose="020F0502020204030204" charset="0"/>
                <a:cs typeface="Calibri" panose="020F0502020204030204" charset="0"/>
              </a:rPr>
              <a:t> and </a:t>
            </a:r>
            <a:r>
              <a:rPr lang="en-US" b="0" u="sng" dirty="0" smtClean="0">
                <a:solidFill>
                  <a:schemeClr val="tx1"/>
                </a:solidFill>
                <a:latin typeface="Calibri" panose="020F0502020204030204" charset="0"/>
                <a:cs typeface="Calibri" panose="020F0502020204030204" charset="0"/>
              </a:rPr>
              <a:t>configuration files</a:t>
            </a:r>
            <a:r>
              <a:rPr lang="en-US" b="0" dirty="0" smtClean="0">
                <a:solidFill>
                  <a:schemeClr val="tx1"/>
                </a:solidFill>
                <a:latin typeface="Calibri" panose="020F0502020204030204" charset="0"/>
                <a:cs typeface="Calibri" panose="020F0502020204030204" charset="0"/>
              </a:rPr>
              <a:t> that are used to set up these programs. It may include </a:t>
            </a:r>
            <a:r>
              <a:rPr lang="en-US" b="0" u="sng" dirty="0" smtClean="0">
                <a:solidFill>
                  <a:schemeClr val="tx1"/>
                </a:solidFill>
                <a:latin typeface="Calibri" panose="020F0502020204030204" charset="0"/>
                <a:cs typeface="Calibri" panose="020F0502020204030204" charset="0"/>
              </a:rPr>
              <a:t>system documentation</a:t>
            </a:r>
            <a:r>
              <a:rPr lang="en-US" b="0" dirty="0" smtClean="0">
                <a:solidFill>
                  <a:schemeClr val="tx1"/>
                </a:solidFill>
                <a:latin typeface="Calibri" panose="020F0502020204030204" charset="0"/>
                <a:cs typeface="Calibri" panose="020F0502020204030204" charset="0"/>
              </a:rPr>
              <a:t>, which describes the structure of the system, </a:t>
            </a:r>
            <a:r>
              <a:rPr lang="en-US" b="0" u="sng" dirty="0" smtClean="0">
                <a:solidFill>
                  <a:schemeClr val="tx1"/>
                </a:solidFill>
                <a:latin typeface="Calibri" panose="020F0502020204030204" charset="0"/>
                <a:cs typeface="Calibri" panose="020F0502020204030204" charset="0"/>
              </a:rPr>
              <a:t>user documentation</a:t>
            </a:r>
            <a:r>
              <a:rPr lang="en-US" b="0" dirty="0" smtClean="0">
                <a:solidFill>
                  <a:schemeClr val="tx1"/>
                </a:solidFill>
                <a:latin typeface="Calibri" panose="020F0502020204030204" charset="0"/>
                <a:cs typeface="Calibri" panose="020F0502020204030204" charset="0"/>
              </a:rPr>
              <a:t>, which explains how to use the system, and </a:t>
            </a:r>
            <a:r>
              <a:rPr lang="en-US" b="0" u="sng" dirty="0" smtClean="0">
                <a:solidFill>
                  <a:schemeClr val="tx1"/>
                </a:solidFill>
                <a:latin typeface="Calibri" panose="020F0502020204030204" charset="0"/>
                <a:cs typeface="Calibri" panose="020F0502020204030204" charset="0"/>
              </a:rPr>
              <a:t>websites</a:t>
            </a:r>
            <a:r>
              <a:rPr lang="en-US" b="0" dirty="0" smtClean="0">
                <a:solidFill>
                  <a:schemeClr val="tx1"/>
                </a:solidFill>
                <a:latin typeface="Calibri" panose="020F0502020204030204" charset="0"/>
                <a:cs typeface="Calibri" panose="020F0502020204030204" charset="0"/>
              </a:rPr>
              <a:t> for users to download recent product information.</a:t>
            </a:r>
            <a:endParaRPr lang="en-US" sz="30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This is one of the important differences between professional and amateur software development. </a:t>
            </a:r>
            <a:endParaRPr lang="en-US" sz="30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products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软件产品</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205740" y="1313180"/>
            <a:ext cx="8720455" cy="52158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Generic products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通用产品</a:t>
            </a:r>
            <a:endParaRPr lang="en-US" sz="320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Stand-alone systems that are marketed and sold to any customer who wishes to buy them.</a:t>
            </a:r>
            <a:endParaRPr lang="en-US"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Examples – PC software such as graphics programs, project management tools; CAD software; software for specific markets such as appointments systems for dentists.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例子</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Customized products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定制化产品</a:t>
            </a:r>
            <a:endParaRPr lang="en-US" sz="320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Software that is commissioned by a specific customer to meet their own needs. </a:t>
            </a:r>
            <a:endParaRPr lang="en-US" sz="2800" b="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Examples – embedded control systems, air traffic control software, traffic monitoring systems.</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Product specification</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产品规格</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205740" y="1384935"/>
            <a:ext cx="8720455" cy="35731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Generic products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取决于软件开发者</a:t>
            </a:r>
            <a:endParaRPr lang="en-US" sz="320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The specification of what the software should do is owned by the </a:t>
            </a:r>
            <a:r>
              <a:rPr lang="en-US" sz="2800" b="0" u="sng" dirty="0" smtClean="0">
                <a:latin typeface="Calibri" panose="020F0502020204030204" charset="0"/>
                <a:cs typeface="Calibri" panose="020F0502020204030204" charset="0"/>
              </a:rPr>
              <a:t>software developer</a:t>
            </a:r>
            <a:r>
              <a:rPr lang="en-US" sz="2800" b="0" dirty="0" smtClean="0">
                <a:latin typeface="Calibri" panose="020F0502020204030204" charset="0"/>
                <a:cs typeface="Calibri" panose="020F0502020204030204" charset="0"/>
              </a:rPr>
              <a:t> and decisions on software change are made by the developer.</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Customized products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取决于客户</a:t>
            </a:r>
            <a:endParaRPr lang="en-US" sz="3200" dirty="0" smtClean="0">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The specification of what the software should do is owned by the </a:t>
            </a:r>
            <a:r>
              <a:rPr lang="en-US" sz="2800" b="0" u="sng" dirty="0" smtClean="0">
                <a:latin typeface="Calibri" panose="020F0502020204030204" charset="0"/>
                <a:cs typeface="Calibri" panose="020F0502020204030204" charset="0"/>
              </a:rPr>
              <a:t>customer</a:t>
            </a:r>
            <a:r>
              <a:rPr lang="en-US" sz="2800" b="0" dirty="0" smtClean="0">
                <a:latin typeface="Calibri" panose="020F0502020204030204" charset="0"/>
                <a:cs typeface="Calibri" panose="020F0502020204030204" charset="0"/>
              </a:rPr>
              <a:t> and they make decisions on software changes that are required.</a:t>
            </a:r>
            <a:endParaRPr lang="en-US" sz="2800" b="0" dirty="0" smtClean="0">
              <a:latin typeface="Calibri" panose="020F0502020204030204" charset="0"/>
              <a:cs typeface="Calibri" panose="020F0502020204030204" charset="0"/>
            </a:endParaRPr>
          </a:p>
        </p:txBody>
      </p:sp>
      <p:sp>
        <p:nvSpPr>
          <p:cNvPr id="3" name="文本框 2"/>
          <p:cNvSpPr txBox="1"/>
          <p:nvPr/>
        </p:nvSpPr>
        <p:spPr>
          <a:xfrm>
            <a:off x="308610" y="4933315"/>
            <a:ext cx="8540750" cy="1568450"/>
          </a:xfrm>
          <a:prstGeom prst="rect">
            <a:avLst/>
          </a:prstGeom>
          <a:noFill/>
        </p:spPr>
        <p:txBody>
          <a:bodyPr wrap="square" rtlCol="0">
            <a:spAutoFit/>
          </a:bodyPr>
          <a:p>
            <a:r>
              <a:rPr lang="en-US" altLang="zh-CN">
                <a:solidFill>
                  <a:srgbClr val="005400"/>
                </a:solidFill>
                <a:latin typeface="华文新魏" panose="02010800040101010101" charset="-122"/>
                <a:ea typeface="华文新魏" panose="02010800040101010101" charset="-122"/>
                <a:cs typeface="Calibri" panose="020F0502020204030204" charset="0"/>
              </a:rPr>
              <a:t>However, the distinction between these system product types is becoming increasingly blurred. More and more systems are now being built with a generic product as a </a:t>
            </a:r>
            <a:r>
              <a:rPr lang="en-US" altLang="zh-CN" u="sng">
                <a:solidFill>
                  <a:srgbClr val="005400"/>
                </a:solidFill>
                <a:latin typeface="华文新魏" panose="02010800040101010101" charset="-122"/>
                <a:ea typeface="华文新魏" panose="02010800040101010101" charset="-122"/>
                <a:cs typeface="Calibri" panose="020F0502020204030204" charset="0"/>
              </a:rPr>
              <a:t>base</a:t>
            </a:r>
            <a:r>
              <a:rPr lang="en-US" altLang="zh-CN">
                <a:solidFill>
                  <a:srgbClr val="005400"/>
                </a:solidFill>
                <a:latin typeface="华文新魏" panose="02010800040101010101" charset="-122"/>
                <a:ea typeface="华文新魏" panose="02010800040101010101" charset="-122"/>
                <a:cs typeface="Calibri" panose="020F0502020204030204" charset="0"/>
              </a:rPr>
              <a:t>, which is then </a:t>
            </a:r>
            <a:r>
              <a:rPr lang="en-US" altLang="zh-CN" u="sng">
                <a:solidFill>
                  <a:srgbClr val="005400"/>
                </a:solidFill>
                <a:latin typeface="华文新魏" panose="02010800040101010101" charset="-122"/>
                <a:ea typeface="华文新魏" panose="02010800040101010101" charset="-122"/>
                <a:cs typeface="Calibri" panose="020F0502020204030204" charset="0"/>
              </a:rPr>
              <a:t>adapted</a:t>
            </a:r>
            <a:r>
              <a:rPr lang="en-US" altLang="zh-CN">
                <a:solidFill>
                  <a:srgbClr val="005400"/>
                </a:solidFill>
                <a:latin typeface="华文新魏" panose="02010800040101010101" charset="-122"/>
                <a:ea typeface="华文新魏" panose="02010800040101010101" charset="-122"/>
                <a:cs typeface="Calibri" panose="020F0502020204030204" charset="0"/>
              </a:rPr>
              <a:t> to suit the requirements of a customer.   </a:t>
            </a:r>
            <a:r>
              <a:rPr lang="zh-CN" altLang="en-US">
                <a:solidFill>
                  <a:schemeClr val="accent1">
                    <a:lumMod val="50000"/>
                  </a:schemeClr>
                </a:solidFill>
                <a:latin typeface="华文新魏" panose="02010800040101010101" charset="-122"/>
                <a:ea typeface="华文新魏" panose="02010800040101010101" charset="-122"/>
                <a:cs typeface="Calibri" panose="020F0502020204030204" charset="0"/>
              </a:rPr>
              <a:t>真实情况</a:t>
            </a:r>
            <a:endParaRPr lang="zh-CN" altLang="en-US">
              <a:solidFill>
                <a:schemeClr val="accent1">
                  <a:lumMod val="50000"/>
                </a:schemeClr>
              </a:solidFill>
              <a:latin typeface="华文新魏" panose="02010800040101010101" charset="-122"/>
              <a:ea typeface="华文新魏" panose="02010800040101010101" charset="-122"/>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Quality/</a:t>
            </a:r>
            <a:r>
              <a:rPr lang="zh-CN" altLang="en-US" sz="3200" dirty="0">
                <a:solidFill>
                  <a:schemeClr val="accent1">
                    <a:lumMod val="75000"/>
                  </a:schemeClr>
                </a:solidFill>
                <a:ea typeface="宋体" panose="02010600030101010101" pitchFamily="2" charset="-122"/>
                <a:sym typeface="+mn-ea"/>
              </a:rPr>
              <a:t>Software attributes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质量</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/产品属性</a:t>
            </a:r>
            <a:endParaRPr lang="en-US" altLang="zh-CN"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00965" y="1313180"/>
            <a:ext cx="8940800" cy="50012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6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Quality is not just concerned with </a:t>
            </a:r>
            <a:r>
              <a:rPr lang="en-US" sz="3000" u="sng" dirty="0" smtClean="0">
                <a:solidFill>
                  <a:schemeClr val="tx2">
                    <a:lumMod val="75000"/>
                    <a:lumOff val="25000"/>
                  </a:schemeClr>
                </a:solidFill>
                <a:latin typeface="Calibri" panose="020F0502020204030204" charset="0"/>
                <a:cs typeface="Calibri" panose="020F0502020204030204" charset="0"/>
                <a:sym typeface="+mn-ea"/>
              </a:rPr>
              <a:t>what the software does</a:t>
            </a:r>
            <a:r>
              <a:rPr lang="en-US" sz="3000" dirty="0" smtClean="0">
                <a:solidFill>
                  <a:schemeClr val="tx2">
                    <a:lumMod val="75000"/>
                    <a:lumOff val="25000"/>
                  </a:schemeClr>
                </a:solidFill>
                <a:latin typeface="Calibri" panose="020F0502020204030204" charset="0"/>
                <a:cs typeface="Calibri" panose="020F0502020204030204" charset="0"/>
                <a:sym typeface="+mn-ea"/>
              </a:rPr>
              <a:t>, it has to include the software’s </a:t>
            </a:r>
            <a:r>
              <a:rPr lang="en-US" sz="3000" u="sng" dirty="0" smtClean="0">
                <a:solidFill>
                  <a:schemeClr val="tx2">
                    <a:lumMod val="75000"/>
                    <a:lumOff val="25000"/>
                  </a:schemeClr>
                </a:solidFill>
                <a:latin typeface="Calibri" panose="020F0502020204030204" charset="0"/>
                <a:cs typeface="Calibri" panose="020F0502020204030204" charset="0"/>
                <a:sym typeface="+mn-ea"/>
              </a:rPr>
              <a:t>behavior while it is executing</a:t>
            </a:r>
            <a:r>
              <a:rPr lang="en-US" sz="3000" dirty="0" smtClean="0">
                <a:solidFill>
                  <a:schemeClr val="tx2">
                    <a:lumMod val="75000"/>
                    <a:lumOff val="25000"/>
                  </a:schemeClr>
                </a:solidFill>
                <a:latin typeface="Calibri" panose="020F0502020204030204" charset="0"/>
                <a:cs typeface="Calibri" panose="020F0502020204030204" charset="0"/>
                <a:sym typeface="+mn-ea"/>
              </a:rPr>
              <a:t> and the </a:t>
            </a:r>
            <a:r>
              <a:rPr lang="en-US" sz="3000" u="sng" dirty="0" smtClean="0">
                <a:solidFill>
                  <a:schemeClr val="tx2">
                    <a:lumMod val="75000"/>
                    <a:lumOff val="25000"/>
                  </a:schemeClr>
                </a:solidFill>
                <a:latin typeface="Calibri" panose="020F0502020204030204" charset="0"/>
                <a:cs typeface="Calibri" panose="020F0502020204030204" charset="0"/>
                <a:sym typeface="+mn-ea"/>
              </a:rPr>
              <a:t>structure</a:t>
            </a:r>
            <a:r>
              <a:rPr lang="en-US" sz="3000" dirty="0" smtClean="0">
                <a:solidFill>
                  <a:schemeClr val="tx2">
                    <a:lumMod val="75000"/>
                    <a:lumOff val="25000"/>
                  </a:schemeClr>
                </a:solidFill>
                <a:latin typeface="Calibri" panose="020F0502020204030204" charset="0"/>
                <a:cs typeface="Calibri" panose="020F0502020204030204" charset="0"/>
                <a:sym typeface="+mn-ea"/>
              </a:rPr>
              <a:t> of the system </a:t>
            </a:r>
            <a:r>
              <a:rPr lang="en-US" sz="3000" u="sng" dirty="0" smtClean="0">
                <a:solidFill>
                  <a:schemeClr val="tx2">
                    <a:lumMod val="75000"/>
                    <a:lumOff val="25000"/>
                  </a:schemeClr>
                </a:solidFill>
                <a:latin typeface="Calibri" panose="020F0502020204030204" charset="0"/>
                <a:cs typeface="Calibri" panose="020F0502020204030204" charset="0"/>
                <a:sym typeface="+mn-ea"/>
              </a:rPr>
              <a:t>programs</a:t>
            </a:r>
            <a:r>
              <a:rPr lang="en-US" sz="3000" dirty="0" smtClean="0">
                <a:solidFill>
                  <a:schemeClr val="tx2">
                    <a:lumMod val="75000"/>
                    <a:lumOff val="25000"/>
                  </a:schemeClr>
                </a:solidFill>
                <a:latin typeface="Calibri" panose="020F0502020204030204" charset="0"/>
                <a:cs typeface="Calibri" panose="020F0502020204030204" charset="0"/>
                <a:sym typeface="+mn-ea"/>
              </a:rPr>
              <a:t> and associated </a:t>
            </a:r>
            <a:r>
              <a:rPr lang="en-US" sz="3000" u="sng" dirty="0" smtClean="0">
                <a:solidFill>
                  <a:schemeClr val="tx2">
                    <a:lumMod val="75000"/>
                    <a:lumOff val="25000"/>
                  </a:schemeClr>
                </a:solidFill>
                <a:latin typeface="Calibri" panose="020F0502020204030204" charset="0"/>
                <a:cs typeface="Calibri" panose="020F0502020204030204" charset="0"/>
                <a:sym typeface="+mn-ea"/>
              </a:rPr>
              <a:t>documentation</a:t>
            </a:r>
            <a:r>
              <a:rPr lang="en-US" sz="3000" dirty="0" smtClean="0">
                <a:solidFill>
                  <a:schemeClr val="tx2">
                    <a:lumMod val="75000"/>
                    <a:lumOff val="25000"/>
                  </a:schemeClr>
                </a:solidFill>
                <a:latin typeface="Calibri" panose="020F0502020204030204" charset="0"/>
                <a:cs typeface="Calibri" panose="020F0502020204030204" charset="0"/>
                <a:sym typeface="+mn-ea"/>
              </a:rPr>
              <a:t>.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质量含义</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6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This is reflected in the non-functional attributes. </a:t>
            </a:r>
            <a:r>
              <a:rPr lang="en-US" sz="2800" b="0" dirty="0" smtClean="0">
                <a:solidFill>
                  <a:schemeClr val="tx1"/>
                </a:solidFill>
                <a:latin typeface="Calibri" panose="020F0502020204030204" charset="0"/>
                <a:cs typeface="Calibri" panose="020F0502020204030204" charset="0"/>
              </a:rPr>
              <a:t>Examples: the software’s </a:t>
            </a:r>
            <a:r>
              <a:rPr lang="en-US" sz="2800" b="0" dirty="0" smtClean="0">
                <a:solidFill>
                  <a:schemeClr val="tx1"/>
                </a:solidFill>
                <a:latin typeface="Calibri" panose="020F0502020204030204" charset="0"/>
                <a:cs typeface="Calibri" panose="020F0502020204030204" charset="0"/>
                <a:sym typeface="+mn-ea"/>
              </a:rPr>
              <a:t>response time to a user query and the understandability of the program code. </a:t>
            </a:r>
            <a:r>
              <a:rPr lang="zh-CN" altLang="en-US" sz="23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非功能属性</a:t>
            </a:r>
            <a:endParaRPr lang="en-US" sz="2300" b="0" dirty="0" smtClean="0">
              <a:solidFill>
                <a:schemeClr val="tx1"/>
              </a:solidFill>
              <a:latin typeface="Calibri" panose="020F0502020204030204" charset="0"/>
              <a:cs typeface="Calibri" panose="020F0502020204030204" charset="0"/>
            </a:endParaRPr>
          </a:p>
          <a:p>
            <a:pPr>
              <a:lnSpc>
                <a:spcPct val="86000"/>
              </a:lnSpc>
              <a:spcBef>
                <a:spcPts val="8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The specific set of attributes that you might expect from a software system obviously depends on its application.</a:t>
            </a:r>
            <a:r>
              <a:rPr lang="en-US" sz="3200" dirty="0" smtClean="0">
                <a:solidFill>
                  <a:schemeClr val="tx2">
                    <a:lumMod val="75000"/>
                    <a:lumOff val="2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A</a:t>
            </a:r>
            <a:r>
              <a:rPr lang="en-US" sz="2800" b="0" dirty="0" smtClean="0">
                <a:solidFill>
                  <a:schemeClr val="tx1"/>
                </a:solidFill>
                <a:latin typeface="Calibri" panose="020F0502020204030204" charset="0"/>
                <a:cs typeface="Calibri" panose="020F0502020204030204" charset="0"/>
              </a:rPr>
              <a:t>n aircraft control system must be safe, an interactive game must be responsive, and so on.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需要什么属性，取决于应用</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1040"/>
            <a:ext cx="8977630" cy="542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Essential attributes of good software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graphicFrame>
        <p:nvGraphicFramePr>
          <p:cNvPr id="3" name="Table 3"/>
          <p:cNvGraphicFramePr>
            <a:graphicFrameLocks noGrp="1"/>
          </p:cNvGraphicFramePr>
          <p:nvPr>
            <p:custDataLst>
              <p:tags r:id="rId3"/>
            </p:custDataLst>
          </p:nvPr>
        </p:nvGraphicFramePr>
        <p:xfrm>
          <a:off x="84455" y="1249045"/>
          <a:ext cx="8982075" cy="5497830"/>
        </p:xfrm>
        <a:graphic>
          <a:graphicData uri="http://schemas.openxmlformats.org/drawingml/2006/table">
            <a:tbl>
              <a:tblPr firstRow="1" bandRow="1">
                <a:effectLst/>
                <a:tableStyleId>{5940675A-B579-460E-94D1-54222C63F5DA}</a:tableStyleId>
              </a:tblPr>
              <a:tblGrid>
                <a:gridCol w="1835150"/>
                <a:gridCol w="7146925"/>
              </a:tblGrid>
              <a:tr h="788670">
                <a:tc>
                  <a:txBody>
                    <a:bodyPr/>
                    <a:p>
                      <a:pPr algn="ctr">
                        <a:spcAft>
                          <a:spcPts val="0"/>
                        </a:spcAft>
                      </a:pPr>
                      <a:r>
                        <a:rPr lang="en-GB" sz="1900" b="1" dirty="0">
                          <a:solidFill>
                            <a:sysClr val="window" lastClr="FFFFFF"/>
                          </a:solidFill>
                          <a:latin typeface="Arial" panose="020B0604020202020204"/>
                          <a:cs typeface="Arial" panose="020B0604020202020204"/>
                        </a:rPr>
                        <a:t>Product characteristic</a:t>
                      </a:r>
                      <a:endParaRPr lang="en-GB" sz="1900" b="1" dirty="0">
                        <a:solidFill>
                          <a:sysClr val="window" lastClr="FFFFFF"/>
                        </a:solidFill>
                        <a:latin typeface="Arial" panose="020B0604020202020204"/>
                        <a:ea typeface="Times New Roman" panose="02020603050405020304"/>
                        <a:cs typeface="Arial" panose="020B0604020202020204"/>
                      </a:endParaRPr>
                    </a:p>
                  </a:txBody>
                  <a:tcPr marL="54610" marR="54610" marT="91440" marB="91440">
                    <a:lnL w="12700" cmpd="sng">
                      <a:solidFill>
                        <a:srgbClr val="4F81BD"/>
                      </a:solidFill>
                    </a:lnL>
                    <a:lnR>
                      <a:noFill/>
                    </a:lnR>
                    <a:lnT w="12700" cmpd="sng">
                      <a:solidFill>
                        <a:srgbClr val="4F81BD"/>
                      </a:solidFill>
                    </a:lnT>
                    <a:lnB w="12700" cmpd="sng">
                      <a:solidFill>
                        <a:srgbClr val="4F81BD"/>
                      </a:solidFill>
                    </a:lnB>
                    <a:solidFill>
                      <a:srgbClr val="4F81BD"/>
                    </a:solidFill>
                  </a:tcPr>
                </a:tc>
                <a:tc>
                  <a:txBody>
                    <a:bodyPr/>
                    <a:p>
                      <a:pPr algn="ctr">
                        <a:spcAft>
                          <a:spcPts val="0"/>
                        </a:spcAft>
                      </a:pPr>
                      <a:r>
                        <a:rPr lang="en-GB" sz="1900" b="1" dirty="0">
                          <a:solidFill>
                            <a:sysClr val="window" lastClr="FFFFFF"/>
                          </a:solidFill>
                          <a:latin typeface="Arial" panose="020B0604020202020204"/>
                          <a:cs typeface="Arial" panose="020B0604020202020204"/>
                        </a:rPr>
                        <a:t>Description</a:t>
                      </a:r>
                      <a:endParaRPr lang="en-GB" sz="1900" b="1" dirty="0">
                        <a:solidFill>
                          <a:sysClr val="window" lastClr="FFFFFF"/>
                        </a:solidFill>
                        <a:latin typeface="Arial" panose="020B0604020202020204"/>
                        <a:cs typeface="Arial" panose="020B0604020202020204"/>
                      </a:endParaRPr>
                    </a:p>
                  </a:txBody>
                  <a:tcPr marL="54610" marR="54610" marT="91440" marB="91440">
                    <a:lnL>
                      <a:noFill/>
                    </a:lnL>
                    <a:lnR w="12700" cmpd="sng">
                      <a:solidFill>
                        <a:srgbClr val="4F81BD"/>
                      </a:solidFill>
                    </a:lnR>
                    <a:lnT w="12700" cmpd="sng">
                      <a:solidFill>
                        <a:srgbClr val="4F81BD"/>
                      </a:solidFill>
                    </a:lnT>
                    <a:lnB w="12700" cmpd="sng">
                      <a:solidFill>
                        <a:srgbClr val="4F81BD"/>
                      </a:solidFill>
                    </a:lnB>
                    <a:solidFill>
                      <a:srgbClr val="4F81BD"/>
                    </a:solidFill>
                  </a:tcPr>
                </a:tc>
              </a:tr>
              <a:tr h="951230">
                <a:tc>
                  <a:txBody>
                    <a:bodyPr/>
                    <a:p>
                      <a:pPr algn="ctr">
                        <a:spcAft>
                          <a:spcPts val="0"/>
                        </a:spcAft>
                      </a:pPr>
                      <a:endParaRPr lang="en-GB" sz="1900" dirty="0">
                        <a:solidFill>
                          <a:sysClr val="windowText" lastClr="000000"/>
                        </a:solidFill>
                        <a:latin typeface="Arial" panose="020B0604020202020204"/>
                        <a:cs typeface="Arial" panose="020B0604020202020204"/>
                        <a:sym typeface="+mn-ea"/>
                      </a:endParaRPr>
                    </a:p>
                    <a:p>
                      <a:pPr algn="ctr">
                        <a:spcAft>
                          <a:spcPts val="0"/>
                        </a:spcAft>
                      </a:pPr>
                      <a:r>
                        <a:rPr lang="en-GB" sz="1900" dirty="0">
                          <a:solidFill>
                            <a:sysClr val="windowText" lastClr="000000"/>
                          </a:solidFill>
                          <a:latin typeface="Arial" panose="020B0604020202020204"/>
                          <a:cs typeface="Arial" panose="020B0604020202020204"/>
                          <a:sym typeface="+mn-ea"/>
                        </a:rPr>
                        <a:t>Acceptability</a:t>
                      </a:r>
                      <a:endParaRPr lang="en-GB" sz="1900" dirty="0">
                        <a:solidFill>
                          <a:sysClr val="windowText" lastClr="000000"/>
                        </a:solidFill>
                        <a:latin typeface="Arial" panose="020B0604020202020204"/>
                        <a:cs typeface="Arial" panose="020B0604020202020204"/>
                      </a:endParaRPr>
                    </a:p>
                    <a:p>
                      <a:pPr algn="ctr">
                        <a:spcAft>
                          <a:spcPts val="0"/>
                        </a:spcAft>
                      </a:pPr>
                      <a:r>
                        <a:rPr lang="zh-CN" altLang="en-GB" sz="1900" b="1" dirty="0">
                          <a:solidFill>
                            <a:srgbClr val="C00000"/>
                          </a:solidFill>
                          <a:latin typeface="黑体" panose="02010609060101010101" pitchFamily="49" charset="-122"/>
                          <a:ea typeface="黑体" panose="02010609060101010101" pitchFamily="49" charset="-122"/>
                          <a:cs typeface="Arial" panose="020B0604020202020204"/>
                          <a:sym typeface="+mn-ea"/>
                        </a:rPr>
                        <a:t>可接受性</a:t>
                      </a:r>
                      <a:endParaRPr lang="zh-CN" altLang="en-GB" sz="1900" b="1" dirty="0">
                        <a:solidFill>
                          <a:srgbClr val="C00000"/>
                        </a:solidFill>
                        <a:latin typeface="黑体" panose="02010609060101010101" pitchFamily="49" charset="-122"/>
                        <a:ea typeface="黑体" panose="02010609060101010101" pitchFamily="49" charset="-122"/>
                        <a:cs typeface="Arial" panose="020B0604020202020204"/>
                        <a:sym typeface="+mn-ea"/>
                      </a:endParaRPr>
                    </a:p>
                  </a:txBody>
                  <a:tcPr marL="54610" marR="54610" marT="0" marB="9144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just">
                        <a:spcAft>
                          <a:spcPts val="0"/>
                        </a:spcAft>
                      </a:pPr>
                      <a:r>
                        <a:rPr lang="en-GB" sz="1900" dirty="0">
                          <a:solidFill>
                            <a:sysClr val="windowText" lastClr="000000"/>
                          </a:solidFill>
                          <a:latin typeface="Arial" panose="020B0604020202020204"/>
                          <a:cs typeface="Arial" panose="020B0604020202020204"/>
                          <a:sym typeface="+mn-ea"/>
                        </a:rPr>
                        <a:t>Software must be acceptable to the type of users for which it is designed. This means that it must be understandable, usable and compatible with other systems that they use. </a:t>
                      </a:r>
                      <a:endParaRPr lang="en-GB" sz="1900">
                        <a:solidFill>
                          <a:sysClr val="windowText" lastClr="000000"/>
                        </a:solidFill>
                        <a:latin typeface="Arial" panose="020B0604020202020204"/>
                        <a:ea typeface="Times New Roman" panose="02020603050405020304"/>
                        <a:cs typeface="Arial" panose="020B0604020202020204"/>
                      </a:endParaRPr>
                    </a:p>
                  </a:txBody>
                  <a:tcPr marL="54610" marR="54610" marT="0" marB="9144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1493520">
                <a:tc>
                  <a:txBody>
                    <a:bodyPr/>
                    <a:p>
                      <a:pPr algn="ctr">
                        <a:spcAft>
                          <a:spcPts val="0"/>
                        </a:spcAft>
                      </a:pPr>
                      <a:endParaRPr lang="en-GB" sz="1900" dirty="0">
                        <a:solidFill>
                          <a:sysClr val="windowText" lastClr="000000"/>
                        </a:solidFill>
                        <a:latin typeface="Arial" panose="020B0604020202020204"/>
                        <a:cs typeface="Arial" panose="020B0604020202020204"/>
                      </a:endParaRPr>
                    </a:p>
                    <a:p>
                      <a:pPr algn="ctr">
                        <a:spcAft>
                          <a:spcPts val="0"/>
                        </a:spcAft>
                      </a:pPr>
                      <a:r>
                        <a:rPr lang="en-GB" sz="1900" dirty="0">
                          <a:solidFill>
                            <a:sysClr val="windowText" lastClr="000000"/>
                          </a:solidFill>
                          <a:latin typeface="Arial" panose="020B0604020202020204"/>
                          <a:cs typeface="Arial" panose="020B0604020202020204"/>
                        </a:rPr>
                        <a:t>Dependability and security</a:t>
                      </a:r>
                      <a:endParaRPr lang="zh-CN" altLang="en-GB" sz="1900" b="1" dirty="0">
                        <a:solidFill>
                          <a:srgbClr val="C00000"/>
                        </a:solidFill>
                        <a:latin typeface="Arial" panose="020B0604020202020204"/>
                        <a:ea typeface="宋体" panose="02010600030101010101" pitchFamily="2" charset="-122"/>
                        <a:cs typeface="Arial" panose="020B0604020202020204"/>
                      </a:endParaRPr>
                    </a:p>
                    <a:p>
                      <a:pPr algn="ctr">
                        <a:spcAft>
                          <a:spcPts val="0"/>
                        </a:spcAft>
                      </a:pPr>
                      <a:r>
                        <a:rPr lang="zh-CN" altLang="en-GB" sz="1900" b="1" dirty="0">
                          <a:solidFill>
                            <a:srgbClr val="C00000"/>
                          </a:solidFill>
                          <a:latin typeface="黑体" panose="02010609060101010101" pitchFamily="49" charset="-122"/>
                          <a:ea typeface="黑体" panose="02010609060101010101" pitchFamily="49" charset="-122"/>
                          <a:cs typeface="Arial" panose="020B0604020202020204"/>
                        </a:rPr>
                        <a:t>可依赖性和安全</a:t>
                      </a:r>
                      <a:endParaRPr lang="zh-CN" altLang="en-GB" sz="1900" b="1" dirty="0">
                        <a:solidFill>
                          <a:srgbClr val="C00000"/>
                        </a:solidFill>
                        <a:latin typeface="Arial" panose="020B0604020202020204"/>
                        <a:ea typeface="宋体" panose="02010600030101010101" pitchFamily="2" charset="-122"/>
                        <a:cs typeface="Arial" panose="020B0604020202020204"/>
                      </a:endParaRPr>
                    </a:p>
                  </a:txBody>
                  <a:tcPr marL="54610" marR="54610" marT="0" marB="9144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just">
                        <a:spcAft>
                          <a:spcPts val="0"/>
                        </a:spcAft>
                      </a:pPr>
                      <a:r>
                        <a:rPr lang="en-GB" sz="1900">
                          <a:solidFill>
                            <a:sysClr val="windowText" lastClr="000000"/>
                          </a:solidFill>
                          <a:latin typeface="Arial" panose="020B0604020202020204"/>
                          <a:cs typeface="Arial" panose="020B0604020202020204"/>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900">
                        <a:solidFill>
                          <a:sysClr val="windowText" lastClr="000000"/>
                        </a:solidFill>
                        <a:latin typeface="Arial" panose="020B0604020202020204"/>
                        <a:ea typeface="Times New Roman" panose="02020603050405020304"/>
                        <a:cs typeface="Arial" panose="020B0604020202020204"/>
                      </a:endParaRPr>
                    </a:p>
                  </a:txBody>
                  <a:tcPr marL="54610" marR="54610" marT="0" marB="9144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r h="937260">
                <a:tc>
                  <a:txBody>
                    <a:bodyPr/>
                    <a:p>
                      <a:pPr algn="ctr">
                        <a:spcAft>
                          <a:spcPts val="0"/>
                        </a:spcAft>
                      </a:pPr>
                      <a:r>
                        <a:rPr lang="en-GB" sz="1900">
                          <a:solidFill>
                            <a:sysClr val="windowText" lastClr="000000"/>
                          </a:solidFill>
                          <a:latin typeface="Arial" panose="020B0604020202020204"/>
                          <a:cs typeface="Arial" panose="020B0604020202020204"/>
                        </a:rPr>
                        <a:t>Efficiency</a:t>
                      </a:r>
                      <a:endParaRPr lang="en-GB" sz="1900">
                        <a:solidFill>
                          <a:sysClr val="windowText" lastClr="000000"/>
                        </a:solidFill>
                        <a:latin typeface="Arial" panose="020B0604020202020204"/>
                        <a:cs typeface="Arial" panose="020B0604020202020204"/>
                      </a:endParaRPr>
                    </a:p>
                    <a:p>
                      <a:pPr algn="ctr">
                        <a:spcAft>
                          <a:spcPts val="0"/>
                        </a:spcAft>
                      </a:pPr>
                      <a:r>
                        <a:rPr lang="zh-CN" altLang="en-GB" sz="1900" b="1" dirty="0">
                          <a:solidFill>
                            <a:srgbClr val="C00000"/>
                          </a:solidFill>
                          <a:latin typeface="黑体" panose="02010609060101010101" pitchFamily="49" charset="-122"/>
                          <a:ea typeface="黑体" panose="02010609060101010101" pitchFamily="49" charset="-122"/>
                          <a:cs typeface="Arial" panose="020B0604020202020204"/>
                        </a:rPr>
                        <a:t>高效性</a:t>
                      </a:r>
                      <a:endParaRPr lang="en-GB" sz="1900">
                        <a:solidFill>
                          <a:sysClr val="windowText" lastClr="000000"/>
                        </a:solidFill>
                        <a:latin typeface="Arial" panose="020B0604020202020204"/>
                        <a:ea typeface="Times New Roman" panose="02020603050405020304"/>
                        <a:cs typeface="Arial" panose="020B0604020202020204"/>
                      </a:endParaRPr>
                    </a:p>
                  </a:txBody>
                  <a:tcPr marL="54610" marR="54610" marT="0" marB="91440">
                    <a:lnL w="12700" cmpd="sng">
                      <a:solidFill>
                        <a:srgbClr val="4F81BD"/>
                      </a:solidFill>
                    </a:lnL>
                    <a:lnR>
                      <a:noFill/>
                    </a:lnR>
                    <a:lnT w="12700" cmpd="sng">
                      <a:solidFill>
                        <a:srgbClr val="4F81BD"/>
                      </a:solidFill>
                    </a:lnT>
                    <a:lnB w="12700" cmpd="sng">
                      <a:solidFill>
                        <a:srgbClr val="4F81BD"/>
                      </a:solidFill>
                    </a:lnB>
                    <a:solidFill>
                      <a:srgbClr val="4F81BD">
                        <a:tint val="20000"/>
                      </a:srgbClr>
                    </a:solidFill>
                  </a:tcPr>
                </a:tc>
                <a:tc>
                  <a:txBody>
                    <a:bodyPr/>
                    <a:p>
                      <a:pPr algn="just">
                        <a:spcAft>
                          <a:spcPts val="0"/>
                        </a:spcAft>
                      </a:pPr>
                      <a:r>
                        <a:rPr lang="en-GB" sz="1900" dirty="0">
                          <a:solidFill>
                            <a:sysClr val="windowText" lastClr="000000"/>
                          </a:solidFill>
                          <a:latin typeface="Arial" panose="020B0604020202020204"/>
                          <a:cs typeface="Arial" panose="020B0604020202020204"/>
                        </a:rPr>
                        <a:t>Software should not make wasteful use of system resources such as memory and processor cycles. Efficiency therefore includes responsiveness, processing time, memory utilisation, etc.</a:t>
                      </a:r>
                      <a:endParaRPr lang="en-GB" sz="1900" dirty="0">
                        <a:solidFill>
                          <a:sysClr val="windowText" lastClr="000000"/>
                        </a:solidFill>
                        <a:latin typeface="Arial" panose="020B0604020202020204"/>
                        <a:ea typeface="Times New Roman" panose="02020603050405020304"/>
                        <a:cs typeface="Arial" panose="020B0604020202020204"/>
                      </a:endParaRPr>
                    </a:p>
                  </a:txBody>
                  <a:tcPr marL="54610" marR="54610" marT="0" marB="91440">
                    <a:lnL>
                      <a:noFill/>
                    </a:lnL>
                    <a:lnR w="12700" cmpd="sng">
                      <a:solidFill>
                        <a:srgbClr val="4F81BD"/>
                      </a:solidFill>
                    </a:lnR>
                    <a:lnT w="12700" cmpd="sng">
                      <a:solidFill>
                        <a:srgbClr val="4F81BD"/>
                      </a:solidFill>
                    </a:lnT>
                    <a:lnB w="12700" cmpd="sng">
                      <a:solidFill>
                        <a:srgbClr val="4F81BD"/>
                      </a:solidFill>
                    </a:lnB>
                    <a:solidFill>
                      <a:srgbClr val="4F81BD">
                        <a:tint val="20000"/>
                      </a:srgbClr>
                    </a:solidFill>
                  </a:tcPr>
                </a:tc>
              </a:tr>
              <a:tr h="960120">
                <a:tc>
                  <a:txBody>
                    <a:bodyPr/>
                    <a:p>
                      <a:pPr algn="ctr">
                        <a:spcAft>
                          <a:spcPts val="0"/>
                        </a:spcAft>
                      </a:pPr>
                      <a:endParaRPr lang="en-GB" sz="1900" dirty="0">
                        <a:solidFill>
                          <a:sysClr val="windowText" lastClr="000000"/>
                        </a:solidFill>
                        <a:latin typeface="Arial" panose="020B0604020202020204"/>
                        <a:cs typeface="Arial" panose="020B0604020202020204"/>
                        <a:sym typeface="+mn-ea"/>
                      </a:endParaRPr>
                    </a:p>
                    <a:p>
                      <a:pPr algn="ctr">
                        <a:spcAft>
                          <a:spcPts val="0"/>
                        </a:spcAft>
                      </a:pPr>
                      <a:r>
                        <a:rPr lang="en-GB" sz="1900" dirty="0">
                          <a:solidFill>
                            <a:sysClr val="windowText" lastClr="000000"/>
                          </a:solidFill>
                          <a:latin typeface="Arial" panose="020B0604020202020204"/>
                          <a:cs typeface="Arial" panose="020B0604020202020204"/>
                          <a:sym typeface="+mn-ea"/>
                        </a:rPr>
                        <a:t>Maintainability</a:t>
                      </a:r>
                      <a:endParaRPr lang="zh-CN" altLang="en-GB" sz="1900" dirty="0">
                        <a:solidFill>
                          <a:sysClr val="windowText" lastClr="000000"/>
                        </a:solidFill>
                        <a:latin typeface="Arial" panose="020B0604020202020204"/>
                        <a:ea typeface="宋体" panose="02010600030101010101" pitchFamily="2" charset="-122"/>
                        <a:cs typeface="Arial" panose="020B0604020202020204"/>
                      </a:endParaRPr>
                    </a:p>
                    <a:p>
                      <a:pPr algn="ctr">
                        <a:spcAft>
                          <a:spcPts val="0"/>
                        </a:spcAft>
                      </a:pPr>
                      <a:r>
                        <a:rPr lang="zh-CN" altLang="en-GB" sz="1900" b="1" dirty="0">
                          <a:solidFill>
                            <a:srgbClr val="C00000"/>
                          </a:solidFill>
                          <a:latin typeface="黑体" panose="02010609060101010101" pitchFamily="49" charset="-122"/>
                          <a:ea typeface="黑体" panose="02010609060101010101" pitchFamily="49" charset="-122"/>
                          <a:cs typeface="Arial" panose="020B0604020202020204"/>
                          <a:sym typeface="+mn-ea"/>
                        </a:rPr>
                        <a:t>可维护性</a:t>
                      </a:r>
                      <a:endParaRPr lang="zh-CN" altLang="en-GB" sz="1900" b="1" dirty="0">
                        <a:solidFill>
                          <a:srgbClr val="C00000"/>
                        </a:solidFill>
                        <a:latin typeface="黑体" panose="02010609060101010101" pitchFamily="49" charset="-122"/>
                        <a:ea typeface="黑体" panose="02010609060101010101" pitchFamily="49" charset="-122"/>
                        <a:cs typeface="Arial" panose="020B0604020202020204"/>
                      </a:endParaRPr>
                    </a:p>
                  </a:txBody>
                  <a:tcPr marL="54610" marR="54610" marT="0" marB="91440">
                    <a:lnL w="12700" cmpd="sng">
                      <a:solidFill>
                        <a:srgbClr val="4F81BD"/>
                      </a:solidFill>
                    </a:lnL>
                    <a:lnR>
                      <a:noFill/>
                    </a:lnR>
                    <a:lnT w="12700" cmpd="sng">
                      <a:solidFill>
                        <a:srgbClr val="4F81BD"/>
                      </a:solidFill>
                    </a:lnT>
                    <a:lnB w="12700" cmpd="sng">
                      <a:solidFill>
                        <a:srgbClr val="4F81BD"/>
                      </a:solidFill>
                    </a:lnB>
                    <a:solidFill>
                      <a:sysClr val="window" lastClr="FFFFFF"/>
                    </a:solidFill>
                  </a:tcPr>
                </a:tc>
                <a:tc>
                  <a:txBody>
                    <a:bodyPr/>
                    <a:p>
                      <a:pPr algn="just">
                        <a:spcAft>
                          <a:spcPts val="0"/>
                        </a:spcAft>
                      </a:pPr>
                      <a:r>
                        <a:rPr lang="en-GB" sz="1900">
                          <a:solidFill>
                            <a:sysClr val="windowText" lastClr="000000"/>
                          </a:solidFill>
                          <a:latin typeface="Arial" panose="020B0604020202020204"/>
                          <a:cs typeface="Arial" panose="020B0604020202020204"/>
                          <a:sym typeface="+mn-ea"/>
                        </a:rPr>
                        <a:t>Software should be written in such a way so that it can evolve to meet the changing needs of customers. This is a critical attribute because software change is an inevitable requirement of a changing business environment.</a:t>
                      </a:r>
                      <a:endParaRPr lang="en-GB" sz="1900" dirty="0">
                        <a:solidFill>
                          <a:sysClr val="windowText" lastClr="000000"/>
                        </a:solidFill>
                        <a:latin typeface="Arial" panose="020B0604020202020204"/>
                        <a:ea typeface="Times New Roman" panose="02020603050405020304"/>
                        <a:cs typeface="Arial" panose="020B0604020202020204"/>
                      </a:endParaRPr>
                    </a:p>
                  </a:txBody>
                  <a:tcPr marL="54610" marR="54610" marT="0" marB="91440">
                    <a:lnL>
                      <a:noFill/>
                    </a:lnL>
                    <a:lnR w="12700" cmpd="sng">
                      <a:solidFill>
                        <a:srgbClr val="4F81BD"/>
                      </a:solidFill>
                    </a:lnR>
                    <a:lnT w="12700" cmpd="sng">
                      <a:solidFill>
                        <a:srgbClr val="4F81BD"/>
                      </a:solidFill>
                    </a:lnT>
                    <a:lnB w="12700" cmpd="sng">
                      <a:solidFill>
                        <a:srgbClr val="4F81BD"/>
                      </a:solidFill>
                    </a:lnB>
                    <a:solidFill>
                      <a:sysClr val="window" lastClr="FFFFFF"/>
                    </a:solidFill>
                  </a:tcPr>
                </a:tc>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engineering</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软件工程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8265" y="1384935"/>
            <a:ext cx="8990965" cy="48209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b="0" dirty="0" smtClean="0">
                <a:solidFill>
                  <a:schemeClr val="tx2">
                    <a:lumMod val="75000"/>
                    <a:lumOff val="25000"/>
                  </a:schemeClr>
                </a:solidFill>
                <a:latin typeface="Calibri" panose="020F0502020204030204" charset="0"/>
                <a:cs typeface="Calibri" panose="020F0502020204030204" charset="0"/>
              </a:rPr>
              <a:t>Software engineering is an </a:t>
            </a:r>
            <a:r>
              <a:rPr lang="en-US" sz="3000" b="0" u="sng" dirty="0" smtClean="0">
                <a:solidFill>
                  <a:schemeClr val="tx2">
                    <a:lumMod val="75000"/>
                    <a:lumOff val="25000"/>
                  </a:schemeClr>
                </a:solidFill>
                <a:latin typeface="Calibri" panose="020F0502020204030204" charset="0"/>
                <a:cs typeface="Calibri" panose="020F0502020204030204" charset="0"/>
              </a:rPr>
              <a:t>engineering discipline</a:t>
            </a:r>
            <a:r>
              <a:rPr lang="en-US" sz="3000" b="0" dirty="0" smtClean="0">
                <a:solidFill>
                  <a:schemeClr val="tx2">
                    <a:lumMod val="75000"/>
                    <a:lumOff val="25000"/>
                  </a:schemeClr>
                </a:solidFill>
                <a:latin typeface="Calibri" panose="020F0502020204030204" charset="0"/>
                <a:cs typeface="Calibri" panose="020F0502020204030204" charset="0"/>
              </a:rPr>
              <a:t> that is concerned with </a:t>
            </a:r>
            <a:r>
              <a:rPr lang="en-US" sz="3000" b="0" u="sng" dirty="0" smtClean="0">
                <a:solidFill>
                  <a:schemeClr val="tx2">
                    <a:lumMod val="75000"/>
                    <a:lumOff val="25000"/>
                  </a:schemeClr>
                </a:solidFill>
                <a:latin typeface="Calibri" panose="020F0502020204030204" charset="0"/>
                <a:cs typeface="Calibri" panose="020F0502020204030204" charset="0"/>
              </a:rPr>
              <a:t>all aspects</a:t>
            </a:r>
            <a:r>
              <a:rPr lang="en-US" sz="3000" b="0" dirty="0" smtClean="0">
                <a:solidFill>
                  <a:schemeClr val="tx2">
                    <a:lumMod val="75000"/>
                    <a:lumOff val="25000"/>
                  </a:schemeClr>
                </a:solidFill>
                <a:latin typeface="Calibri" panose="020F0502020204030204" charset="0"/>
                <a:cs typeface="Calibri" panose="020F0502020204030204" charset="0"/>
              </a:rPr>
              <a:t> of software production from the early stages of system specification through to maintaining the system after it has gone into use.</a:t>
            </a:r>
            <a:endParaRPr lang="en-US" sz="3000" b="0" dirty="0" smtClean="0">
              <a:latin typeface="Calibri" panose="020F0502020204030204" charset="0"/>
              <a:cs typeface="Calibri" panose="020F0502020204030204" charset="0"/>
            </a:endParaRPr>
          </a:p>
          <a:p>
            <a:pPr>
              <a:lnSpc>
                <a:spcPct val="90000"/>
              </a:lnSpc>
              <a:spcBef>
                <a:spcPts val="800"/>
              </a:spcBef>
              <a:spcAft>
                <a:spcPts val="0"/>
              </a:spcAft>
            </a:pPr>
            <a:r>
              <a:rPr lang="en-US" sz="3000" b="0" dirty="0" smtClean="0">
                <a:solidFill>
                  <a:schemeClr val="tx2">
                    <a:lumMod val="75000"/>
                    <a:lumOff val="25000"/>
                  </a:schemeClr>
                </a:solidFill>
                <a:latin typeface="Calibri" panose="020F0502020204030204" charset="0"/>
                <a:cs typeface="Calibri" panose="020F0502020204030204" charset="0"/>
              </a:rPr>
              <a:t>Engineering discipline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是工程学科</a:t>
            </a:r>
            <a:endParaRPr lang="en-US" sz="3000" b="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US" sz="2600" b="0" dirty="0" smtClean="0">
                <a:latin typeface="Calibri" panose="020F0502020204030204" charset="0"/>
                <a:cs typeface="Calibri" panose="020F0502020204030204" charset="0"/>
              </a:rPr>
              <a:t>Using appropriate theories and methods to solve problems bearing in mind organizational and financial constraints.</a:t>
            </a:r>
            <a:endParaRPr lang="en-US" sz="2800" b="0" dirty="0" smtClean="0">
              <a:latin typeface="Calibri" panose="020F0502020204030204" charset="0"/>
              <a:cs typeface="Calibri" panose="020F0502020204030204" charset="0"/>
            </a:endParaRPr>
          </a:p>
          <a:p>
            <a:pPr>
              <a:lnSpc>
                <a:spcPct val="90000"/>
              </a:lnSpc>
              <a:spcBef>
                <a:spcPts val="800"/>
              </a:spcBef>
              <a:spcAft>
                <a:spcPts val="0"/>
              </a:spcAft>
            </a:pPr>
            <a:r>
              <a:rPr lang="en-US" sz="3000" b="0" dirty="0" smtClean="0">
                <a:solidFill>
                  <a:schemeClr val="tx2">
                    <a:lumMod val="75000"/>
                    <a:lumOff val="25000"/>
                  </a:schemeClr>
                </a:solidFill>
                <a:latin typeface="Calibri" panose="020F0502020204030204" charset="0"/>
                <a:cs typeface="Calibri" panose="020F0502020204030204" charset="0"/>
                <a:sym typeface="+mn-ea"/>
              </a:rPr>
              <a:t>All aspects of software production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涉及软件产品的所有方面</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a:p>
            <a:pPr lvl="1">
              <a:lnSpc>
                <a:spcPct val="90000"/>
              </a:lnSpc>
              <a:spcBef>
                <a:spcPts val="800"/>
              </a:spcBef>
              <a:spcAft>
                <a:spcPts val="0"/>
              </a:spcAft>
            </a:pPr>
            <a:r>
              <a:rPr lang="en-US" sz="2600" b="0" dirty="0" smtClean="0">
                <a:latin typeface="Calibri" panose="020F0502020204030204" charset="0"/>
                <a:cs typeface="Calibri" panose="020F0502020204030204" charset="0"/>
                <a:sym typeface="+mn-ea"/>
              </a:rPr>
              <a:t>Not just technical process of development. Also project management and the development of tools, methods etc. to support software production.</a:t>
            </a:r>
            <a:endParaRPr lang="en-US" sz="2600" b="0" dirty="0" smtClean="0">
              <a:latin typeface="Calibri" panose="020F0502020204030204" charset="0"/>
              <a:cs typeface="Calibri" panose="020F050202020403020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5500"/>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Importance of software engineering</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SE</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重要性</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205740" y="1456690"/>
            <a:ext cx="8720455" cy="50234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More and more, individuals and society rely on advanced software systems. </a:t>
            </a:r>
            <a:r>
              <a:rPr lang="en-US" sz="3000" b="0" dirty="0" smtClean="0">
                <a:solidFill>
                  <a:schemeClr val="tx1"/>
                </a:solidFill>
                <a:latin typeface="Calibri" panose="020F0502020204030204" charset="0"/>
                <a:cs typeface="Calibri" panose="020F0502020204030204" charset="0"/>
              </a:rPr>
              <a:t>We need to be able to produce reliable and trustworthy systems economically and quickly.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越来越需要</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It is usually cheaper, in the long run, to use software engineering methods and techniques for software systems rather than just write the programs as if it was a personal programming project. </a:t>
            </a:r>
            <a:r>
              <a:rPr lang="en-US" sz="3000" b="0" dirty="0" smtClean="0">
                <a:solidFill>
                  <a:schemeClr val="tx1"/>
                </a:solidFill>
                <a:latin typeface="Calibri" panose="020F0502020204030204" charset="0"/>
                <a:cs typeface="Calibri" panose="020F0502020204030204" charset="0"/>
              </a:rPr>
              <a:t>For most types of system, the majority of costs are the costs of changing the software after it has gone into use.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从长远看，更便宜</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745"/>
            <a:ext cx="8977630" cy="6330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process activities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软件过程活动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8900" y="1313180"/>
            <a:ext cx="8939530" cy="50234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100" u="sng" dirty="0" smtClean="0">
                <a:solidFill>
                  <a:schemeClr val="tx2">
                    <a:lumMod val="75000"/>
                    <a:lumOff val="25000"/>
                  </a:schemeClr>
                </a:solidFill>
                <a:latin typeface="Calibri" panose="020F0502020204030204" charset="0"/>
                <a:cs typeface="Calibri" panose="020F0502020204030204" charset="0"/>
              </a:rPr>
              <a:t>Software specification</a:t>
            </a:r>
            <a:r>
              <a:rPr lang="en-US" sz="3100" dirty="0" smtClean="0">
                <a:solidFill>
                  <a:schemeClr val="tx2">
                    <a:lumMod val="75000"/>
                    <a:lumOff val="25000"/>
                  </a:schemeClr>
                </a:solidFill>
                <a:latin typeface="Calibri" panose="020F0502020204030204" charset="0"/>
                <a:cs typeface="Calibri" panose="020F0502020204030204" charset="0"/>
              </a:rPr>
              <a:t>, where customers and engineers define the software to be produced and the constraints on its operation.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规格说明</a:t>
            </a:r>
            <a:endParaRPr lang="en-US" sz="31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100" u="sng" dirty="0" smtClean="0">
                <a:solidFill>
                  <a:schemeClr val="tx2">
                    <a:lumMod val="75000"/>
                    <a:lumOff val="25000"/>
                  </a:schemeClr>
                </a:solidFill>
                <a:latin typeface="Calibri" panose="020F0502020204030204" charset="0"/>
                <a:cs typeface="Calibri" panose="020F0502020204030204" charset="0"/>
              </a:rPr>
              <a:t>Software development</a:t>
            </a:r>
            <a:r>
              <a:rPr lang="en-US" sz="3100" dirty="0" smtClean="0">
                <a:solidFill>
                  <a:schemeClr val="tx2">
                    <a:lumMod val="75000"/>
                    <a:lumOff val="25000"/>
                  </a:schemeClr>
                </a:solidFill>
                <a:latin typeface="Calibri" panose="020F0502020204030204" charset="0"/>
                <a:cs typeface="Calibri" panose="020F0502020204030204" charset="0"/>
              </a:rPr>
              <a:t>, where the software is designed and programmed.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a:t>
            </a:r>
            <a:endParaRPr lang="en-US" sz="3100" dirty="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100" u="sng" dirty="0" smtClean="0">
                <a:solidFill>
                  <a:schemeClr val="tx2">
                    <a:lumMod val="75000"/>
                    <a:lumOff val="25000"/>
                  </a:schemeClr>
                </a:solidFill>
                <a:latin typeface="Calibri" panose="020F0502020204030204" charset="0"/>
                <a:cs typeface="Calibri" panose="020F0502020204030204" charset="0"/>
              </a:rPr>
              <a:t>Software validation</a:t>
            </a:r>
            <a:r>
              <a:rPr lang="en-US" sz="3100" dirty="0" smtClean="0">
                <a:solidFill>
                  <a:schemeClr val="tx2">
                    <a:lumMod val="75000"/>
                    <a:lumOff val="25000"/>
                  </a:schemeClr>
                </a:solidFill>
                <a:latin typeface="Calibri" panose="020F0502020204030204" charset="0"/>
                <a:cs typeface="Calibri" panose="020F0502020204030204" charset="0"/>
              </a:rPr>
              <a:t>, where the software is checked to ensure that it is what the customer requires.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确认</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t>
            </a:r>
            <a:r>
              <a:rPr lang="en-US" sz="3100" u="sng" dirty="0" smtClean="0">
                <a:solidFill>
                  <a:schemeClr val="tx2">
                    <a:lumMod val="75000"/>
                    <a:lumOff val="25000"/>
                  </a:schemeClr>
                </a:solidFill>
                <a:latin typeface="Calibri" panose="020F0502020204030204" charset="0"/>
                <a:cs typeface="Calibri" panose="020F0502020204030204" charset="0"/>
              </a:rPr>
              <a:t>Software evolution</a:t>
            </a:r>
            <a:r>
              <a:rPr lang="en-US" sz="3100" dirty="0" smtClean="0">
                <a:solidFill>
                  <a:schemeClr val="tx2">
                    <a:lumMod val="75000"/>
                    <a:lumOff val="25000"/>
                  </a:schemeClr>
                </a:solidFill>
                <a:latin typeface="Calibri" panose="020F0502020204030204" charset="0"/>
                <a:cs typeface="Calibri" panose="020F0502020204030204" charset="0"/>
              </a:rPr>
              <a:t>, where the software is modified to reflect changing customer and market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演化</a:t>
            </a:r>
            <a:endParaRPr lang="zh-CN" altLang="en-US" sz="3100" b="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5500"/>
            <a:ext cx="8977630" cy="1134110"/>
          </a:xfrm>
        </p:spPr>
        <p:txBody>
          <a:bodyPr vert="horz" wrap="square" lIns="91440" tIns="45720" rIns="91440" bIns="45720" anchor="t" anchorCtr="0">
            <a:noAutofit/>
          </a:bodyPr>
          <a:p>
            <a:pPr algn="l" eaLnBrk="1" latinLnBrk="0" hangingPunct="1">
              <a:lnSpc>
                <a:spcPct val="100000"/>
              </a:lnSpc>
              <a:spcBef>
                <a:spcPts val="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General issues that affect software</a:t>
            </a:r>
            <a:endParaRPr lang="zh-CN" altLang="en-US" sz="3200" dirty="0">
              <a:solidFill>
                <a:schemeClr val="accent1">
                  <a:lumMod val="75000"/>
                </a:schemeClr>
              </a:solidFill>
              <a:ea typeface="宋体" panose="02010600030101010101" pitchFamily="2" charset="-122"/>
              <a:sym typeface="+mn-ea"/>
            </a:endParaRPr>
          </a:p>
          <a:p>
            <a:pPr marL="0" indent="0" algn="l" eaLnBrk="1" latinLnBrk="0" hangingPunct="1">
              <a:lnSpc>
                <a:spcPct val="100000"/>
              </a:lnSpc>
              <a:spcBef>
                <a:spcPts val="0"/>
              </a:spcBef>
              <a:buSzTx/>
              <a:buFont typeface="Wingdings" panose="05000000000000000000" pitchFamily="2" charset="2"/>
              <a:buNone/>
            </a:pP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影响软件的一般问题</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94945" y="1958975"/>
            <a:ext cx="8803005" cy="42691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Heterogeneity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异构性</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Increasingly, systems are required to operate as </a:t>
            </a:r>
            <a:r>
              <a:rPr lang="en-US" sz="2800" b="0" u="sng" dirty="0" smtClean="0">
                <a:latin typeface="Calibri" panose="020F0502020204030204" charset="0"/>
                <a:cs typeface="Calibri" panose="020F0502020204030204" charset="0"/>
              </a:rPr>
              <a:t>distributed</a:t>
            </a:r>
            <a:r>
              <a:rPr lang="en-US" sz="2800" b="0" dirty="0" smtClean="0">
                <a:latin typeface="Calibri" panose="020F0502020204030204" charset="0"/>
                <a:cs typeface="Calibri" panose="020F0502020204030204" charset="0"/>
              </a:rPr>
              <a:t> systems across networks that include </a:t>
            </a:r>
            <a:r>
              <a:rPr lang="en-US" sz="2800" b="0" u="sng" dirty="0" smtClean="0">
                <a:latin typeface="Calibri" panose="020F0502020204030204" charset="0"/>
                <a:cs typeface="Calibri" panose="020F0502020204030204" charset="0"/>
              </a:rPr>
              <a:t>different types</a:t>
            </a:r>
            <a:r>
              <a:rPr lang="en-US" sz="2800" b="0" dirty="0" smtClean="0">
                <a:latin typeface="Calibri" panose="020F0502020204030204" charset="0"/>
                <a:cs typeface="Calibri" panose="020F0502020204030204" charset="0"/>
              </a:rPr>
              <a:t> of computer and mobile devices.</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Business and social change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商业和社会变化</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Business and society are changing incredibly quickly as emerging economies develop and new technologies become available. They need to be able to change their existing software and to rapidly develop new software.</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9630"/>
            <a:ext cx="8977630" cy="1109980"/>
          </a:xfrm>
        </p:spPr>
        <p:txBody>
          <a:bodyPr vert="horz" wrap="square" lIns="91440" tIns="45720" rIns="91440" bIns="45720" anchor="t" anchorCtr="0">
            <a:noAutofit/>
          </a:bodyPr>
          <a:p>
            <a:pPr algn="l" eaLnBrk="1" latinLnBrk="0" hangingPunct="1">
              <a:lnSpc>
                <a:spcPct val="100000"/>
              </a:lnSpc>
              <a:spcBef>
                <a:spcPts val="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General issues that affect software</a:t>
            </a:r>
            <a:r>
              <a:rPr lang="en-US" altLang="zh-CN" sz="3200" dirty="0">
                <a:solidFill>
                  <a:schemeClr val="accent1">
                    <a:lumMod val="75000"/>
                  </a:schemeClr>
                </a:solidFill>
                <a:ea typeface="宋体" panose="02010600030101010101" pitchFamily="2" charset="-122"/>
                <a:sym typeface="+mn-ea"/>
              </a:rPr>
              <a:t>   cont’d</a:t>
            </a:r>
            <a:endParaRPr lang="zh-CN" altLang="en-US" sz="3200" dirty="0">
              <a:solidFill>
                <a:schemeClr val="accent1">
                  <a:lumMod val="75000"/>
                </a:schemeClr>
              </a:solidFill>
              <a:ea typeface="宋体" panose="02010600030101010101" pitchFamily="2" charset="-122"/>
              <a:sym typeface="+mn-ea"/>
            </a:endParaRPr>
          </a:p>
          <a:p>
            <a:pPr marL="0" indent="0" algn="l" eaLnBrk="1" latinLnBrk="0" hangingPunct="1">
              <a:lnSpc>
                <a:spcPct val="100000"/>
              </a:lnSpc>
              <a:spcBef>
                <a:spcPts val="0"/>
              </a:spcBef>
              <a:buSzTx/>
              <a:buFont typeface="Wingdings" panose="05000000000000000000" pitchFamily="2" charset="2"/>
              <a:buNone/>
            </a:pP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影响软件的一般问题</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94945" y="2030730"/>
            <a:ext cx="8803005" cy="35236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Security and trust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安全和信任</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As software is intertwined with all aspects of our lives, it is essential that we can trust that software.</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Scale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规模</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Software has to be developed across a very wide range of scales, from very small embedded systems in portable or wearable devices through to Internet-scale, cloud-based systems that serve a global community.</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3905"/>
            <a:ext cx="8977630" cy="6527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engineering diversity</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SE</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多样性</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9535" y="1384935"/>
            <a:ext cx="8975725" cy="50393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200" dirty="0" smtClean="0">
                <a:latin typeface="Calibri" panose="020F0502020204030204" charset="0"/>
                <a:cs typeface="Calibri" panose="020F0502020204030204" charset="0"/>
              </a:rPr>
              <a:t> </a:t>
            </a:r>
            <a:r>
              <a:rPr lang="en-US" sz="3200" dirty="0" smtClean="0">
                <a:solidFill>
                  <a:schemeClr val="tx2">
                    <a:lumMod val="75000"/>
                    <a:lumOff val="25000"/>
                  </a:schemeClr>
                </a:solidFill>
                <a:latin typeface="Calibri" panose="020F0502020204030204" charset="0"/>
                <a:cs typeface="Calibri" panose="020F0502020204030204" charset="0"/>
              </a:rPr>
              <a:t>There are many different types of software system, no universal set of software techniques that is applicable to all of these.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没有通用的</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技术</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90000"/>
              </a:lnSpc>
              <a:spcBef>
                <a:spcPts val="10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software engineering methods and tools used depend on: </a:t>
            </a:r>
            <a:r>
              <a:rPr lang="en-US" sz="2800" b="0" dirty="0" smtClean="0">
                <a:solidFill>
                  <a:schemeClr val="tx1"/>
                </a:solidFill>
                <a:latin typeface="Calibri" panose="020F0502020204030204" charset="0"/>
                <a:cs typeface="Calibri" panose="020F0502020204030204" charset="0"/>
              </a:rPr>
              <a:t>the type of application being developed, the requirements of the customer and the background of the development team.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影响因素</a:t>
            </a:r>
            <a:endParaRPr lang="en-US" sz="2800" b="0" dirty="0" smtClean="0">
              <a:solidFill>
                <a:schemeClr val="tx1"/>
              </a:solidFill>
              <a:latin typeface="Calibri" panose="020F0502020204030204" charset="0"/>
              <a:cs typeface="Calibri" panose="020F0502020204030204" charset="0"/>
            </a:endParaRPr>
          </a:p>
          <a:p>
            <a:pPr>
              <a:lnSpc>
                <a:spcPct val="90000"/>
              </a:lnSpc>
              <a:spcBef>
                <a:spcPts val="10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Perhaps the most significant factor in determining which software engineering methods and techniques are most important is the type of application being developed.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最重要因素：应用</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的</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类型</a:t>
            </a:r>
            <a:endParaRPr lang="zh-CN" altLang="en-US" sz="31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6605"/>
            <a:ext cx="8977630" cy="711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Application types</a:t>
            </a:r>
            <a:r>
              <a:rPr lang="en-US" altLang="zh-CN" sz="3200" dirty="0">
                <a:solidFill>
                  <a:schemeClr val="accent1">
                    <a:lumMod val="75000"/>
                  </a:schemeClr>
                </a:solidFill>
                <a:ea typeface="宋体" panose="02010600030101010101" pitchFamily="2" charset="-122"/>
                <a:sym typeface="+mn-ea"/>
              </a:rPr>
              <a:t>   </a:t>
            </a:r>
            <a:r>
              <a:rPr lang="en-US" altLang="zh-CN" sz="24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应用类型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22555" y="1384935"/>
            <a:ext cx="8886190" cy="52876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Stand-alone applications </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独立应用</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600" b="0" dirty="0" smtClean="0">
                <a:latin typeface="Calibri" panose="020F0502020204030204" charset="0"/>
                <a:cs typeface="Calibri" panose="020F0502020204030204" charset="0"/>
              </a:rPr>
              <a:t>These are application systems that run on a local computer, such as a PC. They include all necessary functionality and do not need to be connected to a network. </a:t>
            </a:r>
            <a:endParaRPr lang="en-GB" sz="26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Interactive transaction-based applications</a:t>
            </a:r>
            <a:r>
              <a:rPr lang="en-GB" sz="3100" i="1" dirty="0" smtClean="0">
                <a:solidFill>
                  <a:schemeClr val="accent2">
                    <a:lumMod val="75000"/>
                  </a:schemeClr>
                </a:solidFill>
                <a:latin typeface="Calibri" panose="020F0502020204030204" charset="0"/>
                <a:cs typeface="Calibri" panose="020F0502020204030204" charset="0"/>
              </a:rPr>
              <a:t> </a:t>
            </a:r>
            <a:r>
              <a:rPr lang="en-US" altLang="en-GB" sz="3100" i="1"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基于</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事务</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的交互式应用</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90000"/>
              </a:lnSpc>
              <a:spcBef>
                <a:spcPts val="600"/>
              </a:spcBef>
              <a:spcAft>
                <a:spcPts val="0"/>
              </a:spcAft>
            </a:pPr>
            <a:r>
              <a:rPr lang="en-GB" sz="2600" b="0" smtClean="0">
                <a:latin typeface="Calibri" panose="020F0502020204030204" charset="0"/>
                <a:cs typeface="Calibri" panose="020F0502020204030204" charset="0"/>
              </a:rPr>
              <a:t>These are applications that execute</a:t>
            </a:r>
            <a:r>
              <a:rPr lang="en-US" altLang="en-GB" sz="2600" b="0" smtClean="0">
                <a:latin typeface="Calibri" panose="020F0502020204030204" charset="0"/>
                <a:cs typeface="Calibri" panose="020F0502020204030204" charset="0"/>
              </a:rPr>
              <a:t> </a:t>
            </a:r>
            <a:r>
              <a:rPr lang="en-GB" sz="2600" b="0" smtClean="0">
                <a:latin typeface="Calibri" panose="020F0502020204030204" charset="0"/>
                <a:cs typeface="Calibri" panose="020F0502020204030204" charset="0"/>
              </a:rPr>
              <a:t>on a remote computer and that are accessed by users from their own computers,</a:t>
            </a:r>
            <a:r>
              <a:rPr lang="en-US" altLang="en-GB" sz="2600" b="0" smtClean="0">
                <a:latin typeface="Calibri" panose="020F0502020204030204" charset="0"/>
                <a:cs typeface="Calibri" panose="020F0502020204030204" charset="0"/>
              </a:rPr>
              <a:t> </a:t>
            </a:r>
            <a:r>
              <a:rPr lang="en-GB" sz="2600" b="0" smtClean="0">
                <a:latin typeface="Calibri" panose="020F0502020204030204" charset="0"/>
                <a:cs typeface="Calibri" panose="020F0502020204030204" charset="0"/>
              </a:rPr>
              <a:t>phones, or tablets.</a:t>
            </a:r>
            <a:r>
              <a:rPr lang="en-GB" sz="2600" b="0" dirty="0" smtClean="0">
                <a:latin typeface="Calibri" panose="020F0502020204030204" charset="0"/>
                <a:cs typeface="Calibri" panose="020F0502020204030204" charset="0"/>
              </a:rPr>
              <a:t> </a:t>
            </a:r>
            <a:endParaRPr lang="en-GB" sz="27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Embedded control systems </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嵌入式控制系统</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600" b="0" dirty="0" smtClean="0">
                <a:latin typeface="Calibri" panose="020F0502020204030204" charset="0"/>
                <a:cs typeface="Calibri" panose="020F0502020204030204" charset="0"/>
              </a:rPr>
              <a:t>These are software control systems that control and manage hardware devices. Numerically, there are probably more embedded systems than any other type of system. </a:t>
            </a:r>
            <a:endParaRPr lang="en-GB" sz="2600" b="0" dirty="0" smtClean="0">
              <a:latin typeface="Calibri" panose="020F0502020204030204" charset="0"/>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2155"/>
            <a:ext cx="8977630" cy="6845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Application types</a:t>
            </a:r>
            <a:r>
              <a:rPr lang="en-US" altLang="zh-CN" sz="3200" dirty="0">
                <a:solidFill>
                  <a:schemeClr val="accent1">
                    <a:lumMod val="75000"/>
                  </a:schemeClr>
                </a:solidFill>
                <a:ea typeface="宋体" panose="02010600030101010101" pitchFamily="2" charset="-122"/>
                <a:sym typeface="+mn-ea"/>
              </a:rPr>
              <a:t>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22555" y="1313180"/>
            <a:ext cx="8886190" cy="52298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Batch processing systems</a:t>
            </a:r>
            <a:r>
              <a:rPr lang="en-US" altLang="en-GB" sz="3200"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批处理系统</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700" b="0" dirty="0" smtClean="0">
                <a:latin typeface="Calibri" panose="020F0502020204030204" charset="0"/>
                <a:cs typeface="Calibri" panose="020F0502020204030204" charset="0"/>
              </a:rPr>
              <a:t>These are business systems that are designed to process data in large batches. They process large numbers of individual inputs to create corresponding outputs. </a:t>
            </a:r>
            <a:endParaRPr lang="en-GB" sz="2700" b="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Entertainment systems</a:t>
            </a:r>
            <a:r>
              <a:rPr lang="en-GB" sz="3100" i="1" dirty="0" smtClean="0">
                <a:solidFill>
                  <a:schemeClr val="accent2">
                    <a:lumMod val="75000"/>
                  </a:schemeClr>
                </a:solidFill>
                <a:latin typeface="Calibri" panose="020F0502020204030204" charset="0"/>
                <a:cs typeface="Calibri" panose="020F0502020204030204" charset="0"/>
              </a:rPr>
              <a:t> </a:t>
            </a:r>
            <a:r>
              <a:rPr lang="en-US" altLang="en-GB" sz="3100" i="1"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娱乐系统</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90000"/>
              </a:lnSpc>
              <a:spcBef>
                <a:spcPts val="800"/>
              </a:spcBef>
              <a:spcAft>
                <a:spcPts val="0"/>
              </a:spcAft>
            </a:pPr>
            <a:r>
              <a:rPr lang="en-GB" sz="2700" b="0" smtClean="0">
                <a:latin typeface="Calibri" panose="020F0502020204030204" charset="0"/>
                <a:cs typeface="Calibri" panose="020F0502020204030204" charset="0"/>
              </a:rPr>
              <a:t>These are systems that are primarily for personal use and which are intended to entertain the user</a:t>
            </a:r>
            <a:r>
              <a:rPr lang="en-GB" sz="2700" b="0" dirty="0" smtClean="0">
                <a:latin typeface="Calibri" panose="020F0502020204030204" charset="0"/>
                <a:cs typeface="Calibri" panose="020F0502020204030204" charset="0"/>
              </a:rPr>
              <a:t>. </a:t>
            </a:r>
            <a:endParaRPr lang="en-GB" sz="2700" b="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Systems for modeling and simulation</a:t>
            </a:r>
            <a:r>
              <a:rPr lang="en-US" altLang="en-GB" sz="3100"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用于建模和模拟</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的</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系统</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700" b="0" dirty="0" smtClean="0">
                <a:latin typeface="Calibri" panose="020F0502020204030204" charset="0"/>
                <a:cs typeface="Calibri" panose="020F0502020204030204" charset="0"/>
              </a:rPr>
              <a:t>These are systems that are developed by scientists and engineers to model physical processes or situations, which include many, separate, interacting objects. </a:t>
            </a:r>
            <a:endParaRPr lang="en-GB" sz="2700" b="0" dirty="0" smtClean="0">
              <a:latin typeface="Calibri" panose="020F0502020204030204" charset="0"/>
              <a:cs typeface="Calibri" panose="020F050202020403020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0740"/>
            <a:ext cx="8977630" cy="6711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Application types</a:t>
            </a:r>
            <a:r>
              <a:rPr lang="en-US" altLang="zh-CN" sz="3200" dirty="0">
                <a:solidFill>
                  <a:schemeClr val="accent1">
                    <a:lumMod val="75000"/>
                  </a:schemeClr>
                </a:solidFill>
                <a:ea typeface="宋体" panose="02010600030101010101" pitchFamily="2" charset="-122"/>
                <a:sym typeface="+mn-ea"/>
              </a:rPr>
              <a:t>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22555" y="1456690"/>
            <a:ext cx="8886190" cy="31781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Data collection systems</a:t>
            </a:r>
            <a:r>
              <a:rPr lang="en-US" altLang="en-GB" sz="3200"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数据收集系统</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These are systems that collect data from their environment using a set of sensors and send that data to other systems for processing. </a:t>
            </a:r>
            <a:endParaRPr lang="en-GB" sz="2800" b="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Systems of systems</a:t>
            </a:r>
            <a:r>
              <a:rPr lang="en-GB" sz="3100" i="1" dirty="0" smtClean="0">
                <a:solidFill>
                  <a:schemeClr val="accent2">
                    <a:lumMod val="75000"/>
                  </a:schemeClr>
                </a:solidFill>
                <a:latin typeface="Calibri" panose="020F0502020204030204" charset="0"/>
                <a:cs typeface="Calibri" panose="020F0502020204030204" charset="0"/>
              </a:rPr>
              <a:t> </a:t>
            </a:r>
            <a:r>
              <a:rPr lang="en-US" altLang="en-GB" sz="3100" i="1" dirty="0" smtClean="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系统之系统</a:t>
            </a:r>
            <a:endParaRPr lang="en-GB" sz="3100" i="1"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700" b="0" smtClean="0">
                <a:latin typeface="Calibri" panose="020F0502020204030204" charset="0"/>
                <a:cs typeface="Calibri" panose="020F0502020204030204" charset="0"/>
              </a:rPr>
              <a:t>These are systems that are composed of a number of other software systems</a:t>
            </a:r>
            <a:r>
              <a:rPr lang="en-GB" sz="2700" b="0" dirty="0" smtClean="0">
                <a:latin typeface="Calibri" panose="020F0502020204030204" charset="0"/>
                <a:cs typeface="Calibri" panose="020F0502020204030204" charset="0"/>
              </a:rPr>
              <a:t>. </a:t>
            </a:r>
            <a:endParaRPr lang="en-GB" sz="2700" b="0" dirty="0" smtClean="0">
              <a:latin typeface="Calibri" panose="020F0502020204030204" charset="0"/>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7090"/>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About </a:t>
            </a:r>
            <a:r>
              <a:rPr lang="en-US" altLang="zh-CN" sz="3200" dirty="0">
                <a:solidFill>
                  <a:schemeClr val="accent1">
                    <a:lumMod val="75000"/>
                  </a:schemeClr>
                </a:solidFill>
                <a:ea typeface="宋体" panose="02010600030101010101" pitchFamily="2" charset="-122"/>
                <a:sym typeface="+mn-ea"/>
              </a:rPr>
              <a:t>a</a:t>
            </a:r>
            <a:r>
              <a:rPr lang="zh-CN" altLang="en-US" sz="3200" dirty="0">
                <a:solidFill>
                  <a:schemeClr val="accent1">
                    <a:lumMod val="75000"/>
                  </a:schemeClr>
                </a:solidFill>
                <a:ea typeface="宋体" panose="02010600030101010101" pitchFamily="2" charset="-122"/>
                <a:sym typeface="+mn-ea"/>
              </a:rPr>
              <a:t>pplication types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2555" y="1456690"/>
            <a:ext cx="8873490" cy="47536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2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Of course, the boundaries between these system types are blurred.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边界是模糊的</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sz="3100" dirty="0" smtClean="0">
                <a:solidFill>
                  <a:schemeClr val="accent2">
                    <a:lumMod val="75000"/>
                  </a:schemeClr>
                </a:solidFill>
                <a:latin typeface="Calibri" panose="020F0502020204030204" charset="0"/>
                <a:cs typeface="Calibri" panose="020F0502020204030204" charset="0"/>
                <a:sym typeface="+mn-ea"/>
              </a:rPr>
              <a:t> Each type of system requires specialized software engineering techniques because the software has different characteristics.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各有专门的SE技术</a:t>
            </a:r>
            <a:endParaRPr lang="en-US" sz="3100" dirty="0" smtClean="0">
              <a:solidFill>
                <a:schemeClr val="accent2">
                  <a:lumMod val="75000"/>
                </a:schemeClr>
              </a:solidFill>
              <a:latin typeface="Calibri" panose="020F0502020204030204" charset="0"/>
              <a:cs typeface="Calibri" panose="020F0502020204030204" charset="0"/>
              <a:sym typeface="+mn-ea"/>
            </a:endParaRPr>
          </a:p>
          <a:p>
            <a:pPr>
              <a:lnSpc>
                <a:spcPct val="90000"/>
              </a:lnSpc>
              <a:spcBef>
                <a:spcPts val="1200"/>
              </a:spcBef>
              <a:spcAft>
                <a:spcPts val="0"/>
              </a:spcAft>
            </a:pPr>
            <a:r>
              <a:rPr lang="en-US" sz="3100" dirty="0" smtClean="0">
                <a:solidFill>
                  <a:schemeClr val="accent2">
                    <a:lumMod val="75000"/>
                  </a:schemeClr>
                </a:solidFill>
                <a:latin typeface="Calibri" panose="020F0502020204030204" charset="0"/>
                <a:cs typeface="Calibri" panose="020F0502020204030204" charset="0"/>
                <a:sym typeface="+mn-ea"/>
              </a:rPr>
              <a:t> Nevertheless, there are software engineering fundamentals that apply to all types </a:t>
            </a:r>
            <a:r>
              <a:rPr lang="en-US" sz="3100" dirty="0" smtClean="0">
                <a:solidFill>
                  <a:schemeClr val="accent2">
                    <a:lumMod val="75000"/>
                  </a:schemeClr>
                </a:solidFill>
                <a:latin typeface="Calibri" panose="020F0502020204030204" charset="0"/>
                <a:cs typeface="Calibri" panose="020F0502020204030204" charset="0"/>
              </a:rPr>
              <a:t>of software systems.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但仍有普适的SE基本原理</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4225"/>
            <a:ext cx="8977630" cy="6324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engineering fundamentals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基本原理</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2555" y="1384935"/>
            <a:ext cx="8873490" cy="51276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Systems should be developed using a managed and understood </a:t>
            </a:r>
            <a:r>
              <a:rPr lang="en-US" sz="3100" u="sng" dirty="0" smtClean="0">
                <a:solidFill>
                  <a:schemeClr val="accent2">
                    <a:lumMod val="75000"/>
                  </a:schemeClr>
                </a:solidFill>
                <a:latin typeface="Calibri" panose="020F0502020204030204" charset="0"/>
                <a:cs typeface="Calibri" panose="020F0502020204030204" charset="0"/>
              </a:rPr>
              <a:t>development process</a:t>
            </a:r>
            <a:r>
              <a:rPr lang="en-US" sz="3100" dirty="0" smtClean="0">
                <a:solidFill>
                  <a:schemeClr val="accent2">
                    <a:lumMod val="75000"/>
                  </a:schemeClr>
                </a:solidFill>
                <a:latin typeface="Calibri" panose="020F0502020204030204" charset="0"/>
                <a:cs typeface="Calibri" panose="020F0502020204030204" charset="0"/>
              </a:rPr>
              <a:t>. Of course, different processes are used for different types of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采用被管理和理解的开发过程</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Dependability and performance are important for all types of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可依赖性和性能：重要</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Understanding and managing the software specification and requirements (</a:t>
            </a:r>
            <a:r>
              <a:rPr lang="en-US" sz="2000" b="0" dirty="0" smtClean="0">
                <a:solidFill>
                  <a:schemeClr val="tx1"/>
                </a:solidFill>
                <a:latin typeface="Calibri" panose="020F0502020204030204" charset="0"/>
                <a:cs typeface="Calibri" panose="020F0502020204030204" charset="0"/>
              </a:rPr>
              <a:t>what the software should do</a:t>
            </a:r>
            <a:r>
              <a:rPr lang="en-US" sz="3100" dirty="0" smtClean="0">
                <a:solidFill>
                  <a:schemeClr val="accent2">
                    <a:lumMod val="75000"/>
                  </a:schemeClr>
                </a:solidFill>
                <a:latin typeface="Calibri" panose="020F0502020204030204" charset="0"/>
                <a:cs typeface="Calibri" panose="020F0502020204030204" charset="0"/>
              </a:rPr>
              <a:t>) are important.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理解和管理软件规格说明和需求：重要</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Where appropriate, you should reuse software that has already been developed rather than write new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软件重用</a:t>
            </a:r>
            <a:endParaRPr lang="zh-CN" altLang="en-US" sz="31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0420"/>
            <a:ext cx="8977630" cy="6680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Internet software engineering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互联网软件工程</a:t>
            </a:r>
            <a:endParaRPr lang="zh-CN" altLang="en-US" dirty="0">
              <a:solidFill>
                <a:srgbClr val="C00000"/>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2555" y="1456690"/>
            <a:ext cx="8873490" cy="49269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 Web is now a </a:t>
            </a:r>
            <a:r>
              <a:rPr lang="en-US" sz="3100" u="sng" dirty="0" smtClean="0">
                <a:solidFill>
                  <a:schemeClr val="accent2">
                    <a:lumMod val="75000"/>
                  </a:schemeClr>
                </a:solidFill>
                <a:latin typeface="Calibri" panose="020F0502020204030204" charset="0"/>
                <a:cs typeface="Calibri" panose="020F0502020204030204" charset="0"/>
              </a:rPr>
              <a:t>platform</a:t>
            </a:r>
            <a:r>
              <a:rPr lang="en-US" sz="3100" dirty="0" smtClean="0">
                <a:solidFill>
                  <a:schemeClr val="accent2">
                    <a:lumMod val="75000"/>
                  </a:schemeClr>
                </a:solidFill>
                <a:latin typeface="Calibri" panose="020F0502020204030204" charset="0"/>
                <a:cs typeface="Calibri" panose="020F0502020204030204" charset="0"/>
              </a:rPr>
              <a:t> for running application and organizations are increasingly developing web-based systems rather than local systems.</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100" u="sng" dirty="0" smtClean="0">
                <a:solidFill>
                  <a:schemeClr val="accent2">
                    <a:lumMod val="75000"/>
                  </a:schemeClr>
                </a:solidFill>
                <a:latin typeface="Calibri" panose="020F0502020204030204" charset="0"/>
                <a:cs typeface="Calibri" panose="020F0502020204030204" charset="0"/>
              </a:rPr>
              <a:t>Web services</a:t>
            </a:r>
            <a:r>
              <a:rPr lang="en-US" sz="3100" dirty="0" smtClean="0">
                <a:solidFill>
                  <a:schemeClr val="accent2">
                    <a:lumMod val="75000"/>
                  </a:schemeClr>
                </a:solidFill>
                <a:latin typeface="Calibri" panose="020F0502020204030204" charset="0"/>
                <a:cs typeface="Calibri" panose="020F0502020204030204" charset="0"/>
              </a:rPr>
              <a:t> allow application functionality to be accessed over the web.</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100" u="sng" dirty="0" smtClean="0">
                <a:solidFill>
                  <a:schemeClr val="accent2">
                    <a:lumMod val="75000"/>
                  </a:schemeClr>
                </a:solidFill>
                <a:latin typeface="Calibri" panose="020F0502020204030204" charset="0"/>
                <a:cs typeface="Calibri" panose="020F0502020204030204" charset="0"/>
              </a:rPr>
              <a:t>Cloud computing</a:t>
            </a:r>
            <a:r>
              <a:rPr lang="en-US" sz="3100" dirty="0" smtClean="0">
                <a:solidFill>
                  <a:schemeClr val="accent2">
                    <a:lumMod val="75000"/>
                  </a:schemeClr>
                </a:solidFill>
                <a:latin typeface="Calibri" panose="020F0502020204030204" charset="0"/>
                <a:cs typeface="Calibri" panose="020F0502020204030204" charset="0"/>
              </a:rPr>
              <a:t> is an approach to the provision of computer services where applications run remotely on the ‘cloud’.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云计算</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Users do not buy software but pay</a:t>
            </a:r>
            <a:r>
              <a:rPr lang="en-US" altLang="en-GB" sz="2800" b="0" dirty="0" smtClean="0">
                <a:latin typeface="Calibri" panose="020F0502020204030204" charset="0"/>
                <a:cs typeface="Calibri" panose="020F0502020204030204" charset="0"/>
              </a:rPr>
              <a:t> </a:t>
            </a:r>
            <a:r>
              <a:rPr lang="en-US" sz="2800" b="0" dirty="0">
                <a:latin typeface="Calibri" panose="020F0502020204030204" charset="0"/>
                <a:cs typeface="Calibri" panose="020F0502020204030204" charset="0"/>
              </a:rPr>
              <a:t>according to how much the software is used, or are given free access in return for watching adverts displayed on their screen. </a:t>
            </a:r>
            <a:endParaRPr lang="en-US" sz="2800" b="0" dirty="0">
              <a:latin typeface="Calibri" panose="020F0502020204030204" charset="0"/>
              <a:cs typeface="Calibri" panose="020F050202020403020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59790"/>
            <a:ext cx="8977630" cy="10534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Web-based software engineering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基于Web的软件工程</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2555" y="1958975"/>
            <a:ext cx="8873490" cy="37388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fundamental ideas of software engineering, discussed in the previous section, apply to web-based software, as they do to other types of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以前原理仍适用于基于</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Web</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的软件</a:t>
            </a:r>
            <a:endParaRPr lang="en-US"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lang="en-US" sz="3200" dirty="0" smtClean="0">
                <a:solidFill>
                  <a:schemeClr val="accent2">
                    <a:lumMod val="75000"/>
                  </a:schemeClr>
                </a:solidFill>
                <a:latin typeface="Calibri" panose="020F0502020204030204" charset="0"/>
                <a:cs typeface="Calibri" panose="020F0502020204030204" charset="0"/>
                <a:sym typeface="+mn-ea"/>
              </a:rPr>
              <a:t>Web-based systems are getting larger and larger, so software engineering techniques that deal with scale and complexity are relevant for these systems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应付规模和复杂性的技术更为相关 </a:t>
            </a:r>
            <a:endParaRPr lang="en-US"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3280"/>
            <a:ext cx="8977630" cy="6197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Web software engineering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Web软件工程</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7945" y="1487805"/>
            <a:ext cx="8988425" cy="44577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10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Software reuse</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软件复用</a:t>
            </a:r>
            <a:endParaRPr lang="en-GB" sz="32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1000"/>
              </a:spcBef>
              <a:spcAft>
                <a:spcPts val="0"/>
              </a:spcAft>
            </a:pPr>
            <a:r>
              <a:rPr lang="en-GB" sz="2800" b="0" dirty="0" smtClean="0">
                <a:latin typeface="Calibri" panose="020F0502020204030204" charset="0"/>
                <a:cs typeface="Calibri" panose="020F0502020204030204" charset="0"/>
              </a:rPr>
              <a:t>Software reuse is the dominant approach for constructing web-based systems. When building these systems, you think about how you can assemble them from pre-existing software components and systems.</a:t>
            </a:r>
            <a:endParaRPr lang="en-GB" sz="2800" b="0" dirty="0" smtClean="0">
              <a:latin typeface="Calibri" panose="020F0502020204030204" charset="0"/>
              <a:cs typeface="Calibri" panose="020F0502020204030204" charset="0"/>
            </a:endParaRPr>
          </a:p>
          <a:p>
            <a:pPr algn="l">
              <a:lnSpc>
                <a:spcPct val="90000"/>
              </a:lnSpc>
              <a:spcBef>
                <a:spcPts val="10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Incremental and agile development</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rPr>
              <a:t>增量式和敏捷开发</a:t>
            </a:r>
            <a:endParaRPr lang="en-GB" sz="32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1000"/>
              </a:spcBef>
              <a:spcAft>
                <a:spcPts val="0"/>
              </a:spcAft>
            </a:pPr>
            <a:r>
              <a:rPr lang="en-GB" sz="2800" b="0" dirty="0" smtClean="0">
                <a:latin typeface="Calibri" panose="020F0502020204030204" charset="0"/>
                <a:cs typeface="Calibri" panose="020F0502020204030204" charset="0"/>
              </a:rPr>
              <a:t>Web-based systems should be developed and delivered incrementally. It is now generally recognized that it is impractical to specify all the requirements for such systems in advance.</a:t>
            </a:r>
            <a:r>
              <a:rPr lang="en-GB" sz="2800" b="0" dirty="0" smtClean="0"/>
              <a:t> </a:t>
            </a:r>
            <a:endParaRPr lang="en-US" sz="2800" b="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9625"/>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Web software engineering</a:t>
            </a:r>
            <a:r>
              <a:rPr lang="en-US" altLang="zh-CN" sz="3200" dirty="0">
                <a:solidFill>
                  <a:schemeClr val="accent1">
                    <a:lumMod val="75000"/>
                  </a:schemeClr>
                </a:solidFill>
                <a:ea typeface="宋体" panose="02010600030101010101" pitchFamily="2" charset="-122"/>
                <a:sym typeface="+mn-ea"/>
              </a:rPr>
              <a:t>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39700" y="1416050"/>
            <a:ext cx="8858250" cy="37172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Service-oriented systems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面向服务的系统</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1000"/>
              </a:spcBef>
              <a:spcAft>
                <a:spcPts val="0"/>
              </a:spcAft>
            </a:pPr>
            <a:r>
              <a:rPr lang="en-GB" sz="2800" b="0" dirty="0" smtClean="0">
                <a:latin typeface="Calibri" panose="020F0502020204030204" charset="0"/>
                <a:cs typeface="Calibri" panose="020F0502020204030204" charset="0"/>
              </a:rPr>
              <a:t>Software may be implemented using service-oriented software engineering, where the software components are stand-alone web services.</a:t>
            </a:r>
            <a:endParaRPr lang="en-GB" sz="2800" b="0" dirty="0" smtClean="0">
              <a:latin typeface="Calibri" panose="020F0502020204030204" charset="0"/>
              <a:cs typeface="Calibri" panose="020F0502020204030204" charset="0"/>
            </a:endParaRPr>
          </a:p>
          <a:p>
            <a:pPr>
              <a:lnSpc>
                <a:spcPct val="90000"/>
              </a:lnSpc>
              <a:spcBef>
                <a:spcPts val="10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Rich interfaces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丰富的界面</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1000"/>
              </a:spcBef>
              <a:spcAft>
                <a:spcPts val="0"/>
              </a:spcAft>
            </a:pPr>
            <a:r>
              <a:rPr lang="en-GB" sz="2800" b="0" dirty="0" smtClean="0">
                <a:latin typeface="Calibri" panose="020F0502020204030204" charset="0"/>
                <a:cs typeface="Calibri" panose="020F0502020204030204" charset="0"/>
              </a:rPr>
              <a:t>Interface development technologies such as AJAX and HTML5 have emerged that support the creation of rich interfaces within a web browser. </a:t>
            </a:r>
            <a:endParaRPr lang="en-US" sz="2800" b="0" dirty="0">
              <a:latin typeface="Calibri" panose="020F0502020204030204" charset="0"/>
              <a:cs typeface="Calibri" panose="020F0502020204030204" charset="0"/>
            </a:endParaRPr>
          </a:p>
        </p:txBody>
      </p:sp>
      <p:sp>
        <p:nvSpPr>
          <p:cNvPr id="3" name="文本框 2"/>
          <p:cNvSpPr txBox="1"/>
          <p:nvPr/>
        </p:nvSpPr>
        <p:spPr>
          <a:xfrm>
            <a:off x="810895" y="5266055"/>
            <a:ext cx="7578090" cy="1198880"/>
          </a:xfrm>
          <a:prstGeom prst="rect">
            <a:avLst/>
          </a:prstGeom>
          <a:noFill/>
        </p:spPr>
        <p:txBody>
          <a:bodyPr wrap="square" rtlCol="0">
            <a:spAutoFit/>
          </a:bodyPr>
          <a:p>
            <a:r>
              <a:rPr lang="en-US" altLang="zh-CN">
                <a:solidFill>
                  <a:schemeClr val="tx2">
                    <a:lumMod val="75000"/>
                    <a:lumOff val="25000"/>
                  </a:schemeClr>
                </a:solidFill>
                <a:latin typeface="华文新魏" panose="02010800040101010101" charset="-122"/>
                <a:ea typeface="华文新魏" panose="02010800040101010101" charset="-122"/>
              </a:rPr>
              <a:t>AJAX: </a:t>
            </a:r>
            <a:r>
              <a:rPr lang="en-US" altLang="zh-CN">
                <a:solidFill>
                  <a:schemeClr val="tx1"/>
                </a:solidFill>
                <a:latin typeface="华文新魏" panose="02010800040101010101" charset="-122"/>
                <a:ea typeface="华文新魏" panose="02010800040101010101" charset="-122"/>
              </a:rPr>
              <a:t>Asynchronous Javascript And XML</a:t>
            </a:r>
            <a:endParaRPr lang="en-US" altLang="zh-CN">
              <a:solidFill>
                <a:schemeClr val="tx2">
                  <a:lumMod val="75000"/>
                  <a:lumOff val="25000"/>
                </a:schemeClr>
              </a:solidFill>
              <a:latin typeface="华文新魏" panose="02010800040101010101" charset="-122"/>
              <a:ea typeface="华文新魏" panose="02010800040101010101" charset="-122"/>
            </a:endParaRPr>
          </a:p>
          <a:p>
            <a:r>
              <a:rPr lang="en-US" altLang="zh-CN">
                <a:solidFill>
                  <a:schemeClr val="tx2">
                    <a:lumMod val="75000"/>
                    <a:lumOff val="25000"/>
                  </a:schemeClr>
                </a:solidFill>
                <a:latin typeface="华文新魏" panose="02010800040101010101" charset="-122"/>
                <a:ea typeface="华文新魏" panose="02010800040101010101" charset="-122"/>
              </a:rPr>
              <a:t>HTML: </a:t>
            </a:r>
            <a:r>
              <a:rPr lang="en-US" altLang="zh-CN">
                <a:solidFill>
                  <a:schemeClr val="tx1"/>
                </a:solidFill>
                <a:latin typeface="华文新魏" panose="02010800040101010101" charset="-122"/>
                <a:ea typeface="华文新魏" panose="02010800040101010101" charset="-122"/>
              </a:rPr>
              <a:t>Hyper Text Mark-up Language</a:t>
            </a:r>
            <a:endParaRPr lang="en-US" altLang="zh-CN">
              <a:solidFill>
                <a:schemeClr val="tx1"/>
              </a:solidFill>
              <a:latin typeface="华文新魏" panose="02010800040101010101" charset="-122"/>
              <a:ea typeface="华文新魏" panose="02010800040101010101" charset="-122"/>
            </a:endParaRPr>
          </a:p>
          <a:p>
            <a:r>
              <a:rPr lang="en-US" altLang="zh-CN">
                <a:solidFill>
                  <a:schemeClr val="tx2">
                    <a:lumMod val="75000"/>
                    <a:lumOff val="25000"/>
                  </a:schemeClr>
                </a:solidFill>
                <a:latin typeface="华文新魏" panose="02010800040101010101" charset="-122"/>
                <a:ea typeface="华文新魏" panose="02010800040101010101" charset="-122"/>
                <a:sym typeface="+mn-ea"/>
              </a:rPr>
              <a:t>XML:</a:t>
            </a:r>
            <a:r>
              <a:rPr lang="en-US" altLang="zh-CN">
                <a:solidFill>
                  <a:schemeClr val="tx1"/>
                </a:solidFill>
                <a:latin typeface="华文新魏" panose="02010800040101010101" charset="-122"/>
                <a:ea typeface="华文新魏" panose="02010800040101010101" charset="-122"/>
                <a:sym typeface="+mn-ea"/>
              </a:rPr>
              <a:t> Extensible Markup Language</a:t>
            </a:r>
            <a:endParaRPr lang="en-US" altLang="zh-CN">
              <a:solidFill>
                <a:schemeClr val="tx1"/>
              </a:solidFill>
              <a:latin typeface="华文新魏" panose="02010800040101010101" charset="-122"/>
              <a:ea typeface="华文新魏" panose="02010800040101010101" charset="-122"/>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9625"/>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engineering ethics</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SE</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道德准则</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39700" y="1416050"/>
            <a:ext cx="8858250" cy="43300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Software engineering involves wider responsibilities than simply the application of technical skills.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更广泛的责任</a:t>
            </a:r>
            <a:endParaRPr 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Software engineers must behave in an honest and ethically responsible way if they are to be respected as professionals.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诚实、道德</a:t>
            </a:r>
            <a:endParaRPr 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Ethical behaviour is more than simply upholding the law but involves following a set of principles that are morally correct.</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不止守法，还要遵守道德</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81380"/>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Issues of professional responsibility</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职业责任</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88595" y="1528445"/>
            <a:ext cx="8806815" cy="4375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Confidentiality </a:t>
            </a:r>
            <a:r>
              <a:rPr lang="en-US" altLang="en-GB" sz="320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保密</a:t>
            </a:r>
            <a:endParaRPr lang="en-GB" sz="3200">
              <a:solidFill>
                <a:schemeClr val="accent2">
                  <a:lumMod val="75000"/>
                </a:schemeClr>
              </a:solidFill>
              <a:latin typeface="Calibri" panose="020F0502020204030204" charset="0"/>
              <a:cs typeface="Calibri" panose="020F0502020204030204" charset="0"/>
            </a:endParaRPr>
          </a:p>
          <a:p>
            <a:pPr lvl="1">
              <a:lnSpc>
                <a:spcPct val="95000"/>
              </a:lnSpc>
              <a:spcBef>
                <a:spcPts val="800"/>
              </a:spcBef>
              <a:spcAft>
                <a:spcPts val="0"/>
              </a:spcAft>
            </a:pPr>
            <a:r>
              <a:rPr lang="en-GB" sz="2800" b="0">
                <a:latin typeface="Calibri" panose="020F0502020204030204" charset="0"/>
                <a:cs typeface="Calibri" panose="020F0502020204030204" charset="0"/>
              </a:rPr>
              <a:t>Engineers should normally respect the confidentiality of their employers or clients irrespective of whether or not a formal confidentiality agreement has been signed.</a:t>
            </a:r>
            <a:endParaRPr lang="en-GB" sz="2800" b="0">
              <a:latin typeface="Calibri" panose="020F0502020204030204" charset="0"/>
              <a:cs typeface="Calibri" panose="020F0502020204030204" charset="0"/>
            </a:endParaRPr>
          </a:p>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Competence </a:t>
            </a:r>
            <a:r>
              <a:rPr lang="en-US" altLang="en-GB" sz="3200">
                <a:solidFill>
                  <a:schemeClr val="accent2">
                    <a:lumMod val="75000"/>
                  </a:schemeClr>
                </a:solidFill>
                <a:latin typeface="Calibri" panose="020F0502020204030204" charset="0"/>
                <a:cs typeface="Calibri" panose="020F0502020204030204" charset="0"/>
              </a:rPr>
              <a:t>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能力</a:t>
            </a:r>
            <a:endParaRPr lang="en-GB" sz="3200">
              <a:solidFill>
                <a:schemeClr val="accent2">
                  <a:lumMod val="75000"/>
                </a:schemeClr>
              </a:solidFill>
              <a:latin typeface="Calibri" panose="020F0502020204030204" charset="0"/>
              <a:cs typeface="Calibri" panose="020F0502020204030204" charset="0"/>
            </a:endParaRPr>
          </a:p>
          <a:p>
            <a:pPr lvl="1">
              <a:lnSpc>
                <a:spcPct val="95000"/>
              </a:lnSpc>
              <a:spcBef>
                <a:spcPts val="800"/>
              </a:spcBef>
              <a:spcAft>
                <a:spcPts val="0"/>
              </a:spcAft>
            </a:pPr>
            <a:r>
              <a:rPr lang="en-GB" sz="2800" b="0">
                <a:latin typeface="Calibri" panose="020F0502020204030204" charset="0"/>
                <a:cs typeface="Calibri" panose="020F0502020204030204" charset="0"/>
              </a:rPr>
              <a:t>Engineers should not misrepresent their level of competence. They should not knowingly accept work which is outwith their competence.</a:t>
            </a:r>
            <a:endParaRPr lang="en-GB" sz="2800" b="0">
              <a:latin typeface="Calibri" panose="020F0502020204030204" charset="0"/>
              <a:cs typeface="Calibri" panose="020F05020202040302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9625"/>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Issues of professional responsibility</a:t>
            </a:r>
            <a:r>
              <a:rPr lang="en-US" altLang="zh-CN" sz="3200" dirty="0">
                <a:solidFill>
                  <a:schemeClr val="accent1">
                    <a:lumMod val="75000"/>
                  </a:schemeClr>
                </a:solidFill>
                <a:ea typeface="宋体" panose="02010600030101010101" pitchFamily="2" charset="-122"/>
                <a:sym typeface="+mn-ea"/>
              </a:rPr>
              <a:t> cont’d</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88595" y="1384935"/>
            <a:ext cx="8806815" cy="51358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Intellectual property rights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知识产权</a:t>
            </a:r>
            <a:endParaRPr lang="en-GB" sz="320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a:latin typeface="Calibri" panose="020F0502020204030204" charset="0"/>
                <a:cs typeface="Calibri" panose="020F0502020204030204" charset="0"/>
              </a:rPr>
              <a:t>Engineers should be aware of local laws governing the use of intellectual property such as patents, copyright, etc. They should be careful to ensure that the intellectual property of employers and clients is protected.</a:t>
            </a:r>
            <a:endParaRPr lang="en-GB" sz="2800" b="0">
              <a:latin typeface="Calibri" panose="020F0502020204030204" charset="0"/>
              <a:cs typeface="Calibri" panose="020F0502020204030204" charset="0"/>
            </a:endParaRPr>
          </a:p>
          <a:p>
            <a:pPr>
              <a:lnSpc>
                <a:spcPct val="90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Computer misuse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计算机滥用</a:t>
            </a:r>
            <a:endParaRPr lang="en-GB" sz="320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a:latin typeface="Calibri" panose="020F0502020204030204" charset="0"/>
                <a:cs typeface="Calibri" panose="020F0502020204030204" charset="0"/>
              </a:rPr>
              <a:t>Software engineers should not use their technical skills to misuse other people’s computers. Computer misuse ranges from relatively trivial (game playing on an employer’s machine, say) to extremely serious (dissemination of viruses).</a:t>
            </a:r>
            <a:endParaRPr lang="en-GB" sz="2800" b="0">
              <a:latin typeface="Calibri" panose="020F0502020204030204" charset="0"/>
              <a:cs typeface="Calibri" panose="020F05020202040302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81380"/>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ACM/IEEE Code of Ethics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ACM/IEEE道德准则</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88595" y="1456690"/>
            <a:ext cx="8806815" cy="49250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The professional societies in the US have cooperated to produce a code of ethical practice.</a:t>
            </a:r>
            <a:endParaRPr lang="en-GB" sz="3200">
              <a:solidFill>
                <a:schemeClr val="accent2">
                  <a:lumMod val="75000"/>
                </a:schemeClr>
              </a:solidFill>
              <a:latin typeface="Calibri" panose="020F0502020204030204" charset="0"/>
              <a:cs typeface="Calibri" panose="020F0502020204030204" charset="0"/>
            </a:endParaRPr>
          </a:p>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Members of these organisations sign up to the code of practice when they join.</a:t>
            </a:r>
            <a:endParaRPr lang="en-GB" sz="3200">
              <a:solidFill>
                <a:schemeClr val="accent2">
                  <a:lumMod val="75000"/>
                </a:schemeClr>
              </a:solidFill>
              <a:latin typeface="Calibri" panose="020F0502020204030204" charset="0"/>
              <a:cs typeface="Calibri" panose="020F0502020204030204" charset="0"/>
            </a:endParaRPr>
          </a:p>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The Code contains eight Principles related to the behaviour of and decisions made by professional software engineers, including practitioners, educators, managers, supervisors and policy makers, as well as trainees and students of the profession. </a:t>
            </a:r>
            <a:endParaRPr lang="en-GB" sz="320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5650"/>
            <a:ext cx="8977630" cy="6356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Rationale for the code of ethics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出发点</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06680" y="1313180"/>
            <a:ext cx="8924290" cy="51371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lvl="1">
              <a:lnSpc>
                <a:spcPct val="90000"/>
              </a:lnSpc>
              <a:spcBef>
                <a:spcPts val="600"/>
              </a:spcBef>
              <a:spcAft>
                <a:spcPts val="0"/>
              </a:spcAft>
            </a:pPr>
            <a:r>
              <a:rPr lang="en-GB" sz="2600" b="0">
                <a:latin typeface="Calibri" panose="020F0502020204030204" charset="0"/>
                <a:cs typeface="Calibri" panose="020F0502020204030204" charset="0"/>
              </a:rPr>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endParaRPr lang="en-GB" sz="2600" b="0">
              <a:latin typeface="Calibri" panose="020F0502020204030204" charset="0"/>
              <a:cs typeface="Calibri" panose="020F0502020204030204" charset="0"/>
            </a:endParaRPr>
          </a:p>
          <a:p>
            <a:pPr lvl="1">
              <a:lnSpc>
                <a:spcPct val="90000"/>
              </a:lnSpc>
              <a:spcBef>
                <a:spcPts val="600"/>
              </a:spcBef>
              <a:spcAft>
                <a:spcPts val="0"/>
              </a:spcAft>
            </a:pPr>
            <a:r>
              <a:rPr lang="en-GB" sz="2600" b="0">
                <a:latin typeface="Calibri" panose="020F0502020204030204" charset="0"/>
                <a:cs typeface="Calibri" panose="020F0502020204030204" charset="0"/>
              </a:rPr>
              <a:t>Because of their roles in developing software systems, software engineers have significant 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a:t>
            </a:r>
            <a:endParaRPr lang="en-GB" sz="2600" b="0">
              <a:latin typeface="Calibri" panose="020F0502020204030204" charset="0"/>
              <a:cs typeface="Calibri" panose="020F050202020403020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39370" y="49530"/>
            <a:ext cx="9070975" cy="6764655"/>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81380"/>
            <a:ext cx="8977630" cy="6534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Ethical dilemmas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道德困境</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88595" y="1456690"/>
            <a:ext cx="8806815" cy="40157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Disagreement in principle with the policies of senior management.</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与高级管理层的政策有分歧</a:t>
            </a:r>
            <a:endParaRPr lang="zh-CN" altLang="en-US" sz="3200">
              <a:solidFill>
                <a:schemeClr val="accent2">
                  <a:lumMod val="75000"/>
                </a:schemeClr>
              </a:solidFill>
              <a:latin typeface="Calibri" panose="020F0502020204030204" charset="0"/>
              <a:cs typeface="Calibri" panose="020F0502020204030204" charset="0"/>
            </a:endParaRPr>
          </a:p>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Your employer acts in an unethical way and releases a safety-critical system without finishing the testing of the system.</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雇主行为不道德</a:t>
            </a:r>
            <a:endParaRPr lang="en-GB" sz="3200">
              <a:solidFill>
                <a:schemeClr val="accent2">
                  <a:lumMod val="75000"/>
                </a:schemeClr>
              </a:solidFill>
              <a:latin typeface="Calibri" panose="020F0502020204030204" charset="0"/>
              <a:cs typeface="Calibri" panose="020F0502020204030204" charset="0"/>
            </a:endParaRPr>
          </a:p>
          <a:p>
            <a:pPr>
              <a:lnSpc>
                <a:spcPct val="95000"/>
              </a:lnSpc>
              <a:spcBef>
                <a:spcPts val="8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Participation in the development of military weapons systems or nuclear systems.</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参与军事武器或核系统开发</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2010"/>
            <a:ext cx="8977630" cy="6559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Case studies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案例研究</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99695" y="1456690"/>
            <a:ext cx="8955405" cy="4756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To illustrate software engineering concepts, the book uses examples from four different types of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来自四种不同类型的系统</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One of the key messages in this book is that software engineering practice depends on the type of systems being produced. </a:t>
            </a:r>
            <a:endParaRPr lang="en-US"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 book therefore chooses an appropriate example when discussing concepts such as safety and dependability, system modeling, reuse, etc.</a:t>
            </a:r>
            <a:endParaRPr lang="en-US" sz="3100" dirty="0" smtClean="0">
              <a:solidFill>
                <a:schemeClr val="accent2">
                  <a:lumMod val="75000"/>
                </a:schemeClr>
              </a:solidFill>
              <a:latin typeface="Calibri" panose="020F0502020204030204" charset="0"/>
              <a:cs typeface="Calibri" panose="020F0502020204030204" charset="0"/>
            </a:endParaRPr>
          </a:p>
          <a:p>
            <a:pPr marL="0" indent="0">
              <a:lnSpc>
                <a:spcPct val="90000"/>
              </a:lnSpc>
              <a:spcBef>
                <a:spcPts val="1000"/>
              </a:spcBef>
              <a:spcAft>
                <a:spcPts val="0"/>
              </a:spcAft>
              <a:buNone/>
            </a:pP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讨论不同概念时，选择适当的系统</a:t>
            </a:r>
            <a:endParaRPr lang="zh-CN" altLang="en-US" sz="31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1840"/>
            <a:ext cx="8977630" cy="55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Case studies</a:t>
            </a:r>
            <a:r>
              <a:rPr lang="en-US" altLang="zh-CN" sz="3200" dirty="0">
                <a:solidFill>
                  <a:schemeClr val="accent1">
                    <a:lumMod val="75000"/>
                  </a:schemeClr>
                </a:solidFill>
                <a:ea typeface="宋体" panose="02010600030101010101" pitchFamily="2" charset="-122"/>
                <a:sym typeface="+mn-ea"/>
              </a:rPr>
              <a:t>         cont’d</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99695" y="1236345"/>
            <a:ext cx="8955405" cy="54267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 personal insulin pump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胰岛素泵</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An </a:t>
            </a:r>
            <a:r>
              <a:rPr lang="en-US" sz="2800" b="0" i="1" u="sng" dirty="0" smtClean="0">
                <a:latin typeface="Calibri" panose="020F0502020204030204" charset="0"/>
                <a:cs typeface="Calibri" panose="020F0502020204030204" charset="0"/>
              </a:rPr>
              <a:t>embedded system</a:t>
            </a:r>
            <a:r>
              <a:rPr lang="en-US" sz="2800" b="0" dirty="0" smtClean="0">
                <a:latin typeface="Calibri" panose="020F0502020204030204" charset="0"/>
                <a:cs typeface="Calibri" panose="020F0502020204030204" charset="0"/>
              </a:rPr>
              <a:t> in an insulin pump used by diabetics to maintain blood glucose control.</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 mental health case patient management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心理健康病例病人管理系统</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A </a:t>
            </a:r>
            <a:r>
              <a:rPr lang="en-US" sz="2800" b="0" i="1" u="sng" dirty="0" smtClean="0">
                <a:latin typeface="Calibri" panose="020F0502020204030204" charset="0"/>
                <a:cs typeface="Calibri" panose="020F0502020204030204" charset="0"/>
              </a:rPr>
              <a:t>information system</a:t>
            </a:r>
            <a:r>
              <a:rPr lang="en-US" sz="2800" b="0" dirty="0" smtClean="0">
                <a:latin typeface="Calibri" panose="020F0502020204030204" charset="0"/>
                <a:cs typeface="Calibri" panose="020F0502020204030204" charset="0"/>
              </a:rPr>
              <a:t> used to maintain records of people receiving care for mental health problems.</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 wilderness weather station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野外气象站</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A </a:t>
            </a:r>
            <a:r>
              <a:rPr lang="en-US" sz="2800" b="0" i="1" u="sng" dirty="0" smtClean="0">
                <a:latin typeface="Calibri" panose="020F0502020204030204" charset="0"/>
                <a:cs typeface="Calibri" panose="020F0502020204030204" charset="0"/>
              </a:rPr>
              <a:t>sensor-based data collection system</a:t>
            </a:r>
            <a:r>
              <a:rPr lang="en-US" sz="2800" b="0" dirty="0" smtClean="0">
                <a:latin typeface="Calibri" panose="020F0502020204030204" charset="0"/>
                <a:cs typeface="Calibri" panose="020F0502020204030204" charset="0"/>
              </a:rPr>
              <a:t> that collects data about weather conditions in remote areas.</a:t>
            </a:r>
            <a:endParaRPr lang="en-US" sz="2800" b="0" dirty="0" smtClean="0">
              <a:latin typeface="Calibri" panose="020F0502020204030204" charset="0"/>
              <a:cs typeface="Calibri" panose="020F0502020204030204" charset="0"/>
            </a:endParaRPr>
          </a:p>
          <a:p>
            <a:pPr>
              <a:lnSpc>
                <a:spcPct val="90000"/>
              </a:lnSpc>
              <a:spcBef>
                <a:spcPts val="600"/>
              </a:spcBef>
              <a:spcAft>
                <a:spcPts val="0"/>
              </a:spcAft>
            </a:pPr>
            <a:r>
              <a:rPr lang="en-US" sz="3100" dirty="0" err="1" smtClean="0">
                <a:solidFill>
                  <a:schemeClr val="accent2">
                    <a:lumMod val="75000"/>
                  </a:schemeClr>
                </a:solidFill>
                <a:latin typeface="Calibri" panose="020F0502020204030204" charset="0"/>
                <a:cs typeface="Calibri" panose="020F0502020204030204" charset="0"/>
              </a:rPr>
              <a:t> A </a:t>
            </a:r>
            <a:r>
              <a:rPr lang="en-US" sz="3100" dirty="0" smtClean="0">
                <a:solidFill>
                  <a:schemeClr val="accent2">
                    <a:lumMod val="75000"/>
                  </a:schemeClr>
                </a:solidFill>
                <a:latin typeface="Calibri" panose="020F0502020204030204" charset="0"/>
                <a:cs typeface="Calibri" panose="020F0502020204030204" charset="0"/>
              </a:rPr>
              <a:t>digital learning environment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数字化学习环境</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90000"/>
              </a:lnSpc>
              <a:spcBef>
                <a:spcPts val="600"/>
              </a:spcBef>
              <a:spcAft>
                <a:spcPts val="0"/>
              </a:spcAft>
            </a:pPr>
            <a:r>
              <a:rPr lang="en-US" sz="2800" b="0" dirty="0" smtClean="0">
                <a:latin typeface="Calibri" panose="020F0502020204030204" charset="0"/>
                <a:cs typeface="Calibri" panose="020F0502020204030204" charset="0"/>
              </a:rPr>
              <a:t>A </a:t>
            </a:r>
            <a:r>
              <a:rPr lang="en-US" sz="2800" b="0" i="1" u="sng" dirty="0" smtClean="0">
                <a:latin typeface="Calibri" panose="020F0502020204030204" charset="0"/>
                <a:cs typeface="Calibri" panose="020F0502020204030204" charset="0"/>
              </a:rPr>
              <a:t>support </a:t>
            </a:r>
            <a:r>
              <a:rPr lang="en-US" sz="2800" b="0" i="1" u="sng" dirty="0" smtClean="0">
                <a:latin typeface="Calibri" panose="020F0502020204030204" charset="0"/>
                <a:cs typeface="Calibri" panose="020F0502020204030204" charset="0"/>
                <a:sym typeface="+mn-ea"/>
              </a:rPr>
              <a:t>environment</a:t>
            </a:r>
            <a:r>
              <a:rPr lang="en-US" sz="2800" dirty="0" smtClean="0">
                <a:solidFill>
                  <a:schemeClr val="accent2">
                    <a:lumMod val="75000"/>
                  </a:schemeClr>
                </a:solidFill>
                <a:latin typeface="Calibri" panose="020F0502020204030204" charset="0"/>
                <a:cs typeface="Calibri" panose="020F0502020204030204" charset="0"/>
                <a:sym typeface="+mn-ea"/>
              </a:rPr>
              <a:t> </a:t>
            </a:r>
            <a:r>
              <a:rPr lang="en-US" sz="2800" b="0" dirty="0" smtClean="0">
                <a:latin typeface="Calibri" panose="020F0502020204030204" charset="0"/>
                <a:cs typeface="Calibri" panose="020F0502020204030204" charset="0"/>
                <a:sym typeface="+mn-ea"/>
              </a:rPr>
              <a:t>to </a:t>
            </a:r>
            <a:r>
              <a:rPr lang="en-US" sz="2800" b="0" dirty="0" smtClean="0">
                <a:latin typeface="Calibri" panose="020F0502020204030204" charset="0"/>
                <a:cs typeface="Calibri" panose="020F0502020204030204" charset="0"/>
              </a:rPr>
              <a:t>learning in schools.</a:t>
            </a:r>
            <a:endParaRPr lang="en-US" sz="2800" b="0" dirty="0">
              <a:latin typeface="Calibri" panose="020F0502020204030204" charset="0"/>
              <a:cs typeface="Calibri" panose="020F05020202040302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50900"/>
            <a:ext cx="8977630" cy="6731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Insulin pump control system</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胰岛素泵控制系统</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88265" y="1528445"/>
            <a:ext cx="8942070" cy="46450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200"/>
              </a:spcBef>
              <a:spcAft>
                <a:spcPts val="0"/>
              </a:spcAft>
            </a:pPr>
            <a:r>
              <a:rPr lang="en-US" altLang="en-GB" sz="2900">
                <a:solidFill>
                  <a:schemeClr val="accent2">
                    <a:lumMod val="75000"/>
                  </a:schemeClr>
                </a:solidFill>
                <a:latin typeface="Calibri" panose="020F0502020204030204" charset="0"/>
                <a:cs typeface="Calibri" panose="020F0502020204030204" charset="0"/>
              </a:rPr>
              <a:t> </a:t>
            </a:r>
            <a:r>
              <a:rPr lang="en-GB" sz="2900" u="sng">
                <a:solidFill>
                  <a:schemeClr val="accent2">
                    <a:lumMod val="75000"/>
                  </a:schemeClr>
                </a:solidFill>
                <a:latin typeface="Calibri" panose="020F0502020204030204" charset="0"/>
                <a:cs typeface="Calibri" panose="020F0502020204030204" charset="0"/>
              </a:rPr>
              <a:t>Collects data</a:t>
            </a:r>
            <a:r>
              <a:rPr lang="en-GB" sz="2900">
                <a:solidFill>
                  <a:schemeClr val="accent2">
                    <a:lumMod val="75000"/>
                  </a:schemeClr>
                </a:solidFill>
                <a:latin typeface="Calibri" panose="020F0502020204030204" charset="0"/>
                <a:cs typeface="Calibri" panose="020F0502020204030204" charset="0"/>
              </a:rPr>
              <a:t> from a blood sugar sensor and </a:t>
            </a:r>
            <a:r>
              <a:rPr lang="en-GB" sz="2900" u="sng">
                <a:solidFill>
                  <a:schemeClr val="accent2">
                    <a:lumMod val="75000"/>
                  </a:schemeClr>
                </a:solidFill>
                <a:latin typeface="Calibri" panose="020F0502020204030204" charset="0"/>
                <a:cs typeface="Calibri" panose="020F0502020204030204" charset="0"/>
              </a:rPr>
              <a:t>calculates the amount</a:t>
            </a:r>
            <a:r>
              <a:rPr lang="en-GB" sz="2900">
                <a:solidFill>
                  <a:schemeClr val="accent2">
                    <a:lumMod val="75000"/>
                  </a:schemeClr>
                </a:solidFill>
                <a:latin typeface="Calibri" panose="020F0502020204030204" charset="0"/>
                <a:cs typeface="Calibri" panose="020F0502020204030204" charset="0"/>
              </a:rPr>
              <a:t> of insulin required to be injected.</a:t>
            </a:r>
            <a:endParaRPr lang="en-GB" sz="290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2900">
                <a:solidFill>
                  <a:schemeClr val="accent2">
                    <a:lumMod val="75000"/>
                  </a:schemeClr>
                </a:solidFill>
                <a:latin typeface="Calibri" panose="020F0502020204030204" charset="0"/>
                <a:cs typeface="Calibri" panose="020F0502020204030204" charset="0"/>
              </a:rPr>
              <a:t> </a:t>
            </a:r>
            <a:r>
              <a:rPr lang="en-GB" sz="2900">
                <a:solidFill>
                  <a:schemeClr val="accent2">
                    <a:lumMod val="75000"/>
                  </a:schemeClr>
                </a:solidFill>
                <a:latin typeface="Calibri" panose="020F0502020204030204" charset="0"/>
                <a:cs typeface="Calibri" panose="020F0502020204030204" charset="0"/>
              </a:rPr>
              <a:t>Calculation based on the rate of change of blood sugar levels.</a:t>
            </a:r>
            <a:endParaRPr lang="en-GB" sz="290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2900">
                <a:solidFill>
                  <a:schemeClr val="accent2">
                    <a:lumMod val="75000"/>
                  </a:schemeClr>
                </a:solidFill>
                <a:latin typeface="Calibri" panose="020F0502020204030204" charset="0"/>
                <a:cs typeface="Calibri" panose="020F0502020204030204" charset="0"/>
              </a:rPr>
              <a:t> </a:t>
            </a:r>
            <a:r>
              <a:rPr lang="en-GB" sz="2900" u="sng">
                <a:solidFill>
                  <a:schemeClr val="accent2">
                    <a:lumMod val="75000"/>
                  </a:schemeClr>
                </a:solidFill>
                <a:latin typeface="Calibri" panose="020F0502020204030204" charset="0"/>
                <a:cs typeface="Calibri" panose="020F0502020204030204" charset="0"/>
              </a:rPr>
              <a:t>Sends signals</a:t>
            </a:r>
            <a:r>
              <a:rPr lang="en-GB" sz="2900">
                <a:solidFill>
                  <a:schemeClr val="accent2">
                    <a:lumMod val="75000"/>
                  </a:schemeClr>
                </a:solidFill>
                <a:latin typeface="Calibri" panose="020F0502020204030204" charset="0"/>
                <a:cs typeface="Calibri" panose="020F0502020204030204" charset="0"/>
              </a:rPr>
              <a:t> to a micro-pump to </a:t>
            </a:r>
            <a:r>
              <a:rPr lang="en-GB" sz="2900" u="sng">
                <a:solidFill>
                  <a:schemeClr val="accent2">
                    <a:lumMod val="75000"/>
                  </a:schemeClr>
                </a:solidFill>
                <a:latin typeface="Calibri" panose="020F0502020204030204" charset="0"/>
                <a:cs typeface="Calibri" panose="020F0502020204030204" charset="0"/>
              </a:rPr>
              <a:t>deliver the correct dose</a:t>
            </a:r>
            <a:r>
              <a:rPr lang="en-GB" sz="2900">
                <a:solidFill>
                  <a:schemeClr val="accent2">
                    <a:lumMod val="75000"/>
                  </a:schemeClr>
                </a:solidFill>
                <a:latin typeface="Calibri" panose="020F0502020204030204" charset="0"/>
                <a:cs typeface="Calibri" panose="020F0502020204030204" charset="0"/>
              </a:rPr>
              <a:t> of insulin.</a:t>
            </a:r>
            <a:endParaRPr lang="en-GB" sz="290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2900">
                <a:solidFill>
                  <a:schemeClr val="accent2">
                    <a:lumMod val="75000"/>
                  </a:schemeClr>
                </a:solidFill>
                <a:latin typeface="Calibri" panose="020F0502020204030204" charset="0"/>
                <a:cs typeface="Calibri" panose="020F0502020204030204" charset="0"/>
              </a:rPr>
              <a:t> </a:t>
            </a:r>
            <a:r>
              <a:rPr lang="en-GB" sz="2900" u="sng">
                <a:solidFill>
                  <a:schemeClr val="accent2">
                    <a:lumMod val="75000"/>
                  </a:schemeClr>
                </a:solidFill>
                <a:latin typeface="Calibri" panose="020F0502020204030204" charset="0"/>
                <a:cs typeface="Calibri" panose="020F0502020204030204" charset="0"/>
              </a:rPr>
              <a:t>Safety-critical system</a:t>
            </a:r>
            <a:r>
              <a:rPr lang="en-GB" sz="2900">
                <a:solidFill>
                  <a:schemeClr val="accent2">
                    <a:lumMod val="75000"/>
                  </a:schemeClr>
                </a:solidFill>
                <a:latin typeface="Calibri" panose="020F0502020204030204" charset="0"/>
                <a:cs typeface="Calibri" panose="020F0502020204030204" charset="0"/>
              </a:rPr>
              <a:t> </a:t>
            </a:r>
            <a:r>
              <a:rPr lang="en-US" altLang="en-GB" sz="2900">
                <a:solidFill>
                  <a:schemeClr val="accent2">
                    <a:lumMod val="75000"/>
                  </a:schemeClr>
                </a:solidFill>
                <a:latin typeface="Calibri" panose="020F0502020204030204" charset="0"/>
                <a:cs typeface="Calibri" panose="020F0502020204030204" charset="0"/>
              </a:rPr>
              <a:t>: </a:t>
            </a:r>
            <a:r>
              <a:rPr lang="en-GB" sz="2900">
                <a:solidFill>
                  <a:schemeClr val="accent2">
                    <a:lumMod val="75000"/>
                  </a:schemeClr>
                </a:solidFill>
                <a:latin typeface="Calibri" panose="020F0502020204030204" charset="0"/>
                <a:cs typeface="Calibri" panose="020F0502020204030204" charset="0"/>
              </a:rPr>
              <a:t>as low blood sugars can lead to brain malfunctioning, coma and death; high-blood sugar levels have long-term consequences such as eye and kidney damage.</a:t>
            </a:r>
            <a:endParaRPr lang="en-GB" sz="290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7390"/>
            <a:ext cx="8977630" cy="6731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Insulin pump hardware architecture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83515" y="1237615"/>
            <a:ext cx="8779510" cy="549656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50900"/>
            <a:ext cx="8977630" cy="6731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Activity model of the insulin pump</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UML模型</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07950" y="1623060"/>
            <a:ext cx="8911590" cy="307530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99160"/>
            <a:ext cx="8977630" cy="6248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Essential high-level requirements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需求</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52400" y="1528445"/>
            <a:ext cx="8843010" cy="39617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2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The system shall be </a:t>
            </a:r>
            <a:r>
              <a:rPr lang="en-GB" sz="3200" u="sng">
                <a:solidFill>
                  <a:schemeClr val="accent2">
                    <a:lumMod val="75000"/>
                  </a:schemeClr>
                </a:solidFill>
                <a:latin typeface="Calibri" panose="020F0502020204030204" charset="0"/>
                <a:cs typeface="Calibri" panose="020F0502020204030204" charset="0"/>
              </a:rPr>
              <a:t>available</a:t>
            </a:r>
            <a:r>
              <a:rPr lang="en-GB" sz="3200">
                <a:solidFill>
                  <a:schemeClr val="accent2">
                    <a:lumMod val="75000"/>
                  </a:schemeClr>
                </a:solidFill>
                <a:latin typeface="Calibri" panose="020F0502020204030204" charset="0"/>
                <a:cs typeface="Calibri" panose="020F0502020204030204" charset="0"/>
              </a:rPr>
              <a:t> to deliver insulin when required. </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可用</a:t>
            </a:r>
            <a:endParaRPr lang="en-GB" sz="320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The system shall perform </a:t>
            </a:r>
            <a:r>
              <a:rPr lang="en-GB" sz="3200" u="sng">
                <a:solidFill>
                  <a:schemeClr val="accent2">
                    <a:lumMod val="75000"/>
                  </a:schemeClr>
                </a:solidFill>
                <a:latin typeface="Calibri" panose="020F0502020204030204" charset="0"/>
                <a:cs typeface="Calibri" panose="020F0502020204030204" charset="0"/>
              </a:rPr>
              <a:t>reliably</a:t>
            </a:r>
            <a:r>
              <a:rPr lang="en-GB" sz="3200">
                <a:solidFill>
                  <a:schemeClr val="accent2">
                    <a:lumMod val="75000"/>
                  </a:schemeClr>
                </a:solidFill>
                <a:latin typeface="Calibri" panose="020F0502020204030204" charset="0"/>
                <a:cs typeface="Calibri" panose="020F0502020204030204" charset="0"/>
              </a:rPr>
              <a:t> and deliver the </a:t>
            </a:r>
            <a:r>
              <a:rPr lang="en-GB" sz="3200" u="sng">
                <a:solidFill>
                  <a:schemeClr val="accent2">
                    <a:lumMod val="75000"/>
                  </a:schemeClr>
                </a:solidFill>
                <a:latin typeface="Calibri" panose="020F0502020204030204" charset="0"/>
                <a:cs typeface="Calibri" panose="020F0502020204030204" charset="0"/>
              </a:rPr>
              <a:t>correct amount</a:t>
            </a:r>
            <a:r>
              <a:rPr lang="en-GB" sz="3200">
                <a:solidFill>
                  <a:schemeClr val="accent2">
                    <a:lumMod val="75000"/>
                  </a:schemeClr>
                </a:solidFill>
                <a:latin typeface="Calibri" panose="020F0502020204030204" charset="0"/>
                <a:cs typeface="Calibri" panose="020F0502020204030204" charset="0"/>
              </a:rPr>
              <a:t> of insulin to counteract the current level of blood sugar.</a:t>
            </a:r>
            <a:r>
              <a:rPr lang="en-US" altLang="en-GB" sz="320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可靠</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1200"/>
              </a:spcBef>
              <a:spcAft>
                <a:spcPts val="0"/>
              </a:spcAft>
            </a:pPr>
            <a:r>
              <a:rPr lang="en-US" altLang="en-GB" sz="3200">
                <a:solidFill>
                  <a:schemeClr val="accent2">
                    <a:lumMod val="75000"/>
                  </a:schemeClr>
                </a:solidFill>
                <a:latin typeface="Calibri" panose="020F0502020204030204" charset="0"/>
                <a:cs typeface="Calibri" panose="020F0502020204030204" charset="0"/>
              </a:rPr>
              <a:t> </a:t>
            </a:r>
            <a:r>
              <a:rPr lang="en-GB" sz="3200">
                <a:solidFill>
                  <a:schemeClr val="accent2">
                    <a:lumMod val="75000"/>
                  </a:schemeClr>
                </a:solidFill>
                <a:latin typeface="Calibri" panose="020F0502020204030204" charset="0"/>
                <a:cs typeface="Calibri" panose="020F0502020204030204" charset="0"/>
              </a:rPr>
              <a:t>The system must therefore be designed and implemented to ensure that the system always meets these requirements.</a:t>
            </a:r>
            <a:r>
              <a:rPr lang="en-US" altLang="en-GB" sz="3200">
                <a:solidFill>
                  <a:schemeClr val="accent2">
                    <a:lumMod val="75000"/>
                  </a:schemeClr>
                </a:solidFill>
                <a:latin typeface="Calibri" panose="020F0502020204030204" charset="0"/>
                <a:cs typeface="Calibri" panose="020F0502020204030204" charset="0"/>
              </a:rPr>
              <a:t>  </a:t>
            </a:r>
            <a:endParaRPr lang="en-US" altLang="en-GB" sz="320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1995"/>
            <a:ext cx="8977630" cy="10052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Mentcare: A patient information system for mental health care</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心理健康护理患者信息系统</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88265" y="1743710"/>
            <a:ext cx="8954135" cy="47631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altLang="en-GB" sz="3000" b="0">
                <a:solidFill>
                  <a:schemeClr val="accent2">
                    <a:lumMod val="75000"/>
                  </a:schemeClr>
                </a:solidFill>
                <a:latin typeface="Calibri" panose="020F0502020204030204" charset="0"/>
                <a:cs typeface="Calibri" panose="020F0502020204030204" charset="0"/>
              </a:rPr>
              <a:t> It</a:t>
            </a:r>
            <a:r>
              <a:rPr lang="en-GB" sz="3000" b="0">
                <a:solidFill>
                  <a:schemeClr val="accent2">
                    <a:lumMod val="75000"/>
                  </a:schemeClr>
                </a:solidFill>
                <a:latin typeface="Calibri" panose="020F0502020204030204" charset="0"/>
                <a:cs typeface="Calibri" panose="020F0502020204030204" charset="0"/>
              </a:rPr>
              <a:t> is a medical information system that </a:t>
            </a:r>
            <a:r>
              <a:rPr lang="en-GB" sz="3000" b="0" u="sng">
                <a:solidFill>
                  <a:schemeClr val="accent2">
                    <a:lumMod val="75000"/>
                  </a:schemeClr>
                </a:solidFill>
                <a:latin typeface="Calibri" panose="020F0502020204030204" charset="0"/>
                <a:cs typeface="Calibri" panose="020F0502020204030204" charset="0"/>
              </a:rPr>
              <a:t>maintains</a:t>
            </a:r>
            <a:r>
              <a:rPr lang="en-GB" sz="3000" b="0">
                <a:solidFill>
                  <a:schemeClr val="accent2">
                    <a:lumMod val="75000"/>
                  </a:schemeClr>
                </a:solidFill>
                <a:latin typeface="Calibri" panose="020F0502020204030204" charset="0"/>
                <a:cs typeface="Calibri" panose="020F0502020204030204" charset="0"/>
              </a:rPr>
              <a:t> information about patients suffering from mental health problems and the </a:t>
            </a:r>
            <a:r>
              <a:rPr lang="en-GB" sz="3000" b="0" u="sng">
                <a:solidFill>
                  <a:schemeClr val="accent2">
                    <a:lumMod val="75000"/>
                  </a:schemeClr>
                </a:solidFill>
                <a:latin typeface="Calibri" panose="020F0502020204030204" charset="0"/>
                <a:cs typeface="Calibri" panose="020F0502020204030204" charset="0"/>
              </a:rPr>
              <a:t>treatments</a:t>
            </a:r>
            <a:r>
              <a:rPr lang="en-GB" sz="3000" b="0">
                <a:solidFill>
                  <a:schemeClr val="accent2">
                    <a:lumMod val="75000"/>
                  </a:schemeClr>
                </a:solidFill>
                <a:latin typeface="Calibri" panose="020F0502020204030204" charset="0"/>
                <a:cs typeface="Calibri" panose="020F0502020204030204" charset="0"/>
              </a:rPr>
              <a:t> that they have received.</a:t>
            </a:r>
            <a:r>
              <a:rPr lang="en-US" altLang="en-GB" sz="30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是一个医疗信息系统</a:t>
            </a:r>
            <a:endParaRPr lang="en-GB" sz="3000" b="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altLang="en-GB" sz="3000" b="0">
                <a:solidFill>
                  <a:schemeClr val="accent2">
                    <a:lumMod val="75000"/>
                  </a:schemeClr>
                </a:solidFill>
                <a:latin typeface="Calibri" panose="020F0502020204030204" charset="0"/>
                <a:cs typeface="Calibri" panose="020F0502020204030204" charset="0"/>
              </a:rPr>
              <a:t> </a:t>
            </a:r>
            <a:r>
              <a:rPr lang="en-GB" sz="3000" b="0">
                <a:solidFill>
                  <a:schemeClr val="accent2">
                    <a:lumMod val="75000"/>
                  </a:schemeClr>
                </a:solidFill>
                <a:latin typeface="Calibri" panose="020F0502020204030204" charset="0"/>
                <a:cs typeface="Calibri" panose="020F0502020204030204" charset="0"/>
              </a:rPr>
              <a:t>Most mental health patients do not require dedicated hospital treatment but need to attend specialist clinics regularly where they meet a doctor who has detailed knowledge of their problems. </a:t>
            </a:r>
            <a:r>
              <a:rPr lang="en-US" altLang="en-GB" sz="30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无需住院</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定期诊所就诊</a:t>
            </a:r>
            <a:endParaRPr lang="en-GB" sz="3000" b="0">
              <a:solidFill>
                <a:schemeClr val="accent2">
                  <a:lumMod val="75000"/>
                </a:schemeClr>
              </a:solidFill>
              <a:latin typeface="Calibri" panose="020F0502020204030204" charset="0"/>
              <a:cs typeface="Calibri" panose="020F0502020204030204" charset="0"/>
            </a:endParaRPr>
          </a:p>
          <a:p>
            <a:pPr>
              <a:lnSpc>
                <a:spcPct val="90000"/>
              </a:lnSpc>
              <a:spcAft>
                <a:spcPts val="0"/>
              </a:spcAft>
            </a:pPr>
            <a:r>
              <a:rPr lang="en-US" altLang="en-GB" sz="3000" b="0">
                <a:solidFill>
                  <a:schemeClr val="accent2">
                    <a:lumMod val="75000"/>
                  </a:schemeClr>
                </a:solidFill>
                <a:latin typeface="Calibri" panose="020F0502020204030204" charset="0"/>
                <a:cs typeface="Calibri" panose="020F0502020204030204" charset="0"/>
              </a:rPr>
              <a:t> </a:t>
            </a:r>
            <a:r>
              <a:rPr lang="en-GB" sz="3000" b="0">
                <a:solidFill>
                  <a:schemeClr val="accent2">
                    <a:lumMod val="75000"/>
                  </a:schemeClr>
                </a:solidFill>
                <a:latin typeface="Calibri" panose="020F0502020204030204" charset="0"/>
                <a:cs typeface="Calibri" panose="020F0502020204030204" charset="0"/>
              </a:rPr>
              <a:t>To make it easier for patients to attend, these clinics are not just run in hospitals. They may also be held in local medical practices or community centres.</a:t>
            </a:r>
            <a:endParaRPr lang="en-GB" sz="3000" b="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5505"/>
            <a:ext cx="8977630" cy="5746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Mentcare</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04775" y="1456690"/>
            <a:ext cx="8926195" cy="49110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sz="3100" b="0">
                <a:solidFill>
                  <a:schemeClr val="accent2">
                    <a:lumMod val="75000"/>
                  </a:schemeClr>
                </a:solidFill>
                <a:latin typeface="Calibri" panose="020F0502020204030204" charset="0"/>
                <a:cs typeface="Calibri" panose="020F0502020204030204" charset="0"/>
              </a:rPr>
              <a:t> </a:t>
            </a:r>
            <a:r>
              <a:rPr sz="3100" b="0">
                <a:solidFill>
                  <a:schemeClr val="accent2">
                    <a:lumMod val="75000"/>
                  </a:schemeClr>
                </a:solidFill>
                <a:latin typeface="Calibri" panose="020F0502020204030204" charset="0"/>
                <a:cs typeface="Calibri" panose="020F0502020204030204" charset="0"/>
              </a:rPr>
              <a:t>Mentcare is an </a:t>
            </a:r>
            <a:r>
              <a:rPr sz="3100" b="0" u="sng">
                <a:solidFill>
                  <a:schemeClr val="accent2">
                    <a:lumMod val="75000"/>
                  </a:schemeClr>
                </a:solidFill>
                <a:latin typeface="Calibri" panose="020F0502020204030204" charset="0"/>
                <a:cs typeface="Calibri" panose="020F0502020204030204" charset="0"/>
              </a:rPr>
              <a:t>information system</a:t>
            </a:r>
            <a:r>
              <a:rPr sz="3100" b="0">
                <a:solidFill>
                  <a:schemeClr val="accent2">
                    <a:lumMod val="75000"/>
                  </a:schemeClr>
                </a:solidFill>
                <a:latin typeface="Calibri" panose="020F0502020204030204" charset="0"/>
                <a:cs typeface="Calibri" panose="020F0502020204030204" charset="0"/>
              </a:rPr>
              <a:t> that is intended for use in clinics. </a:t>
            </a:r>
            <a:r>
              <a:rPr lang="en-US" sz="31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是在诊所中使用的信息系统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100" b="0">
                <a:solidFill>
                  <a:schemeClr val="accent2">
                    <a:lumMod val="75000"/>
                  </a:schemeClr>
                </a:solidFill>
                <a:latin typeface="Calibri" panose="020F0502020204030204" charset="0"/>
                <a:cs typeface="Calibri" panose="020F0502020204030204" charset="0"/>
              </a:rPr>
              <a:t> </a:t>
            </a:r>
            <a:r>
              <a:rPr sz="3100" b="0">
                <a:solidFill>
                  <a:schemeClr val="accent2">
                    <a:lumMod val="75000"/>
                  </a:schemeClr>
                </a:solidFill>
                <a:latin typeface="Calibri" panose="020F0502020204030204" charset="0"/>
                <a:cs typeface="Calibri" panose="020F0502020204030204" charset="0"/>
              </a:rPr>
              <a:t>It makes use of a </a:t>
            </a:r>
            <a:r>
              <a:rPr sz="3100" b="0" u="sng">
                <a:solidFill>
                  <a:schemeClr val="accent2">
                    <a:lumMod val="75000"/>
                  </a:schemeClr>
                </a:solidFill>
                <a:latin typeface="Calibri" panose="020F0502020204030204" charset="0"/>
                <a:cs typeface="Calibri" panose="020F0502020204030204" charset="0"/>
              </a:rPr>
              <a:t>centralized database</a:t>
            </a:r>
            <a:r>
              <a:rPr sz="3100" b="0">
                <a:solidFill>
                  <a:schemeClr val="accent2">
                    <a:lumMod val="75000"/>
                  </a:schemeClr>
                </a:solidFill>
                <a:latin typeface="Calibri" panose="020F0502020204030204" charset="0"/>
                <a:cs typeface="Calibri" panose="020F0502020204030204" charset="0"/>
              </a:rPr>
              <a:t> of patient information but has also been designed to run on a PC, so that it may be accessed and used from sites that do not have secure network connectivity. </a:t>
            </a:r>
            <a:r>
              <a:rPr lang="en-US" sz="31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中心化数据库</a:t>
            </a:r>
            <a:endParaRPr sz="3100" b="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100" b="0">
                <a:solidFill>
                  <a:schemeClr val="accent2">
                    <a:lumMod val="75000"/>
                  </a:schemeClr>
                </a:solidFill>
                <a:latin typeface="Calibri" panose="020F0502020204030204" charset="0"/>
                <a:cs typeface="Calibri" panose="020F0502020204030204" charset="0"/>
              </a:rPr>
              <a:t> </a:t>
            </a:r>
            <a:r>
              <a:rPr sz="3100" b="0">
                <a:solidFill>
                  <a:schemeClr val="accent2">
                    <a:lumMod val="75000"/>
                  </a:schemeClr>
                </a:solidFill>
                <a:latin typeface="Calibri" panose="020F0502020204030204" charset="0"/>
                <a:cs typeface="Calibri" panose="020F0502020204030204" charset="0"/>
              </a:rPr>
              <a:t>When the local systems have secure network access, they use patient information in the database but they can download and use local copies of patient records when they are disconnected.</a:t>
            </a:r>
            <a:r>
              <a:rPr lang="en-US" sz="31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可访问、下载</a:t>
            </a:r>
            <a:endParaRPr lang="zh-CN" altLang="en-US" sz="3100" b="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73125"/>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Mentcare goals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目标</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52400" y="1528445"/>
            <a:ext cx="8843010" cy="28702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200" b="0">
                <a:solidFill>
                  <a:schemeClr val="accent2">
                    <a:lumMod val="75000"/>
                  </a:schemeClr>
                </a:solidFill>
                <a:latin typeface="Calibri" panose="020F0502020204030204" charset="0"/>
                <a:cs typeface="Calibri" panose="020F0502020204030204" charset="0"/>
              </a:rPr>
              <a:t> </a:t>
            </a:r>
            <a:r>
              <a:rPr sz="3200" b="0">
                <a:solidFill>
                  <a:schemeClr val="accent2">
                    <a:lumMod val="75000"/>
                  </a:schemeClr>
                </a:solidFill>
                <a:latin typeface="Calibri" panose="020F0502020204030204" charset="0"/>
                <a:cs typeface="Calibri" panose="020F0502020204030204" charset="0"/>
              </a:rPr>
              <a:t>To generate management information that allows health service managers to assess performance against local and government targets.</a:t>
            </a:r>
            <a:r>
              <a:rPr lang="en-US" sz="32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可供评估</a:t>
            </a:r>
            <a:endParaRPr sz="3200" b="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sz="3200" b="0">
                <a:solidFill>
                  <a:schemeClr val="accent2">
                    <a:lumMod val="75000"/>
                  </a:schemeClr>
                </a:solidFill>
                <a:latin typeface="Calibri" panose="020F0502020204030204" charset="0"/>
                <a:cs typeface="Calibri" panose="020F0502020204030204" charset="0"/>
              </a:rPr>
              <a:t> </a:t>
            </a:r>
            <a:r>
              <a:rPr sz="3200" b="0">
                <a:solidFill>
                  <a:schemeClr val="accent2">
                    <a:lumMod val="75000"/>
                  </a:schemeClr>
                </a:solidFill>
                <a:latin typeface="Calibri" panose="020F0502020204030204" charset="0"/>
                <a:cs typeface="Calibri" panose="020F0502020204030204" charset="0"/>
              </a:rPr>
              <a:t>To provide medical staff with timely information to support the treatment of patients.</a:t>
            </a:r>
            <a:r>
              <a:rPr lang="en-US" sz="3200" b="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提供及时信息，支持患者治疗</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0410"/>
            <a:ext cx="8977630" cy="6280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en-US" altLang="zh-CN" sz="3000" dirty="0">
                <a:solidFill>
                  <a:schemeClr val="accent1">
                    <a:lumMod val="75000"/>
                  </a:schemeClr>
                </a:solidFill>
                <a:ea typeface="宋体" panose="02010600030101010101" pitchFamily="2" charset="-122"/>
                <a:sym typeface="+mn-ea"/>
              </a:rPr>
              <a:t>T</a:t>
            </a:r>
            <a:r>
              <a:rPr lang="zh-CN" altLang="en-US" sz="3000" dirty="0">
                <a:solidFill>
                  <a:schemeClr val="accent1">
                    <a:lumMod val="75000"/>
                  </a:schemeClr>
                </a:solidFill>
                <a:ea typeface="宋体" panose="02010600030101010101" pitchFamily="2" charset="-122"/>
                <a:sym typeface="+mn-ea"/>
              </a:rPr>
              <a:t>he organization of the Mentcare system</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373505" y="1330325"/>
            <a:ext cx="6374765" cy="534924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8975"/>
            <a:ext cx="8977630" cy="4883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Key features of the Mentcare system</a:t>
            </a:r>
            <a:r>
              <a:rPr lang="en-US" altLang="zh-CN" sz="28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关键特性</a:t>
            </a:r>
            <a:endParaRPr lang="zh-CN" altLang="en-US" sz="28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0650" y="1169670"/>
            <a:ext cx="8914765" cy="55016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0000"/>
              </a:lnSpc>
              <a:spcBef>
                <a:spcPts val="3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Individual care management</a:t>
            </a:r>
            <a:r>
              <a:rPr lang="en-GB" sz="3100" dirty="0" smtClean="0">
                <a:latin typeface="Calibri" panose="020F0502020204030204" charset="0"/>
                <a:cs typeface="Calibri" panose="020F0502020204030204" charset="0"/>
              </a:rPr>
              <a:t> </a:t>
            </a:r>
            <a:r>
              <a:rPr lang="en-US" altLang="en-GB" sz="310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个人化护理管理</a:t>
            </a:r>
            <a:endParaRPr lang="en-GB" sz="3100" dirty="0" smtClean="0">
              <a:latin typeface="Calibri" panose="020F0502020204030204" charset="0"/>
              <a:cs typeface="Calibri" panose="020F0502020204030204" charset="0"/>
            </a:endParaRPr>
          </a:p>
          <a:p>
            <a:pPr lvl="1">
              <a:lnSpc>
                <a:spcPct val="80000"/>
              </a:lnSpc>
              <a:spcBef>
                <a:spcPts val="300"/>
              </a:spcBef>
              <a:spcAft>
                <a:spcPts val="0"/>
              </a:spcAft>
            </a:pPr>
            <a:r>
              <a:rPr lang="en-GB" sz="2600" b="0" dirty="0" smtClean="0">
                <a:latin typeface="Calibri" panose="020F0502020204030204" charset="0"/>
                <a:cs typeface="Calibri" panose="020F0502020204030204" charset="0"/>
              </a:rPr>
              <a:t>Clinicians can create records for patients, edit the information in the system, view patient history, etc. The system supports data summaries so that doctors can quickly learn about the key problems and treatments that have been prescribed.</a:t>
            </a:r>
            <a:endParaRPr lang="en-GB" sz="2600" b="0" dirty="0" smtClean="0">
              <a:latin typeface="Calibri" panose="020F0502020204030204" charset="0"/>
              <a:cs typeface="Calibri" panose="020F0502020204030204" charset="0"/>
            </a:endParaRPr>
          </a:p>
          <a:p>
            <a:pPr>
              <a:lnSpc>
                <a:spcPct val="80000"/>
              </a:lnSpc>
              <a:spcBef>
                <a:spcPts val="3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Patient monitoring</a:t>
            </a:r>
            <a:r>
              <a:rPr lang="en-GB" dirty="0" smtClean="0">
                <a:latin typeface="Calibri" panose="020F0502020204030204" charset="0"/>
                <a:cs typeface="Calibri" panose="020F0502020204030204" charset="0"/>
              </a:rPr>
              <a:t> </a:t>
            </a:r>
            <a:r>
              <a:rPr lang="en-US" altLang="en-GB"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 患者监护</a:t>
            </a:r>
            <a:endParaRPr lang="en-GB" dirty="0" smtClean="0">
              <a:latin typeface="Calibri" panose="020F0502020204030204" charset="0"/>
              <a:cs typeface="Calibri" panose="020F0502020204030204" charset="0"/>
            </a:endParaRPr>
          </a:p>
          <a:p>
            <a:pPr lvl="1">
              <a:lnSpc>
                <a:spcPct val="80000"/>
              </a:lnSpc>
              <a:spcBef>
                <a:spcPts val="300"/>
              </a:spcBef>
              <a:spcAft>
                <a:spcPts val="0"/>
              </a:spcAft>
            </a:pPr>
            <a:r>
              <a:rPr lang="en-GB" sz="2600" b="0" dirty="0" smtClean="0">
                <a:latin typeface="Calibri" panose="020F0502020204030204" charset="0"/>
                <a:cs typeface="Calibri" panose="020F0502020204030204" charset="0"/>
              </a:rPr>
              <a:t>The system monitors the records of patients that are involved in treatment and issues warnings if possible problems are detected. </a:t>
            </a:r>
            <a:endParaRPr lang="en-GB" sz="2800" b="0" dirty="0" smtClean="0">
              <a:latin typeface="Calibri" panose="020F0502020204030204" charset="0"/>
              <a:cs typeface="Calibri" panose="020F0502020204030204" charset="0"/>
            </a:endParaRPr>
          </a:p>
          <a:p>
            <a:pPr>
              <a:lnSpc>
                <a:spcPct val="80000"/>
              </a:lnSpc>
              <a:spcBef>
                <a:spcPts val="3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Administrative reporting</a:t>
            </a:r>
            <a:r>
              <a:rPr lang="en-GB" dirty="0" smtClean="0">
                <a:latin typeface="Calibri" panose="020F0502020204030204" charset="0"/>
                <a:cs typeface="Calibri" panose="020F0502020204030204" charset="0"/>
              </a:rPr>
              <a:t> </a:t>
            </a:r>
            <a:r>
              <a:rPr lang="en-US" altLang="en-GB"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管理报告</a:t>
            </a:r>
            <a:endParaRPr lang="en-GB" dirty="0" smtClean="0">
              <a:latin typeface="Calibri" panose="020F0502020204030204" charset="0"/>
              <a:cs typeface="Calibri" panose="020F0502020204030204" charset="0"/>
            </a:endParaRPr>
          </a:p>
          <a:p>
            <a:pPr lvl="1">
              <a:lnSpc>
                <a:spcPct val="80000"/>
              </a:lnSpc>
              <a:spcBef>
                <a:spcPts val="300"/>
              </a:spcBef>
              <a:spcAft>
                <a:spcPts val="0"/>
              </a:spcAft>
            </a:pPr>
            <a:r>
              <a:rPr lang="en-GB" sz="2600" b="0" dirty="0" smtClean="0">
                <a:latin typeface="Calibri" panose="020F0502020204030204" charset="0"/>
                <a:cs typeface="Calibri" panose="020F0502020204030204" charset="0"/>
              </a:rPr>
              <a:t>The system generates monthly management reports showing the number of patients treated at each clinic, the number of patients who have entered and left the care system, number of patients sectioned, the drugs prescribed and their costs, etc.</a:t>
            </a:r>
            <a:r>
              <a:rPr lang="en-GB" sz="2600" dirty="0" smtClean="0">
                <a:latin typeface="Calibri" panose="020F0502020204030204" charset="0"/>
                <a:cs typeface="Calibri" panose="020F0502020204030204" charset="0"/>
              </a:rPr>
              <a:t> </a:t>
            </a:r>
            <a:endParaRPr lang="en-US" sz="2600" dirty="0">
              <a:latin typeface="Calibri" panose="020F0502020204030204" charset="0"/>
              <a:cs typeface="Calibri" panose="020F0502020204030204"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1680"/>
            <a:ext cx="8977630"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Mentcare system concerns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关心点</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33985" y="1241425"/>
            <a:ext cx="8886190" cy="52400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Privacy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隐私</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It is essential that patient information is confidential and is never disclosed to anyone apart from authorised medical staff and the patient themselves.</a:t>
            </a:r>
            <a:r>
              <a:rPr lang="en-GB" b="0" dirty="0" smtClean="0">
                <a:latin typeface="Calibri" panose="020F0502020204030204" charset="0"/>
                <a:cs typeface="Calibri" panose="020F0502020204030204" charset="0"/>
              </a:rPr>
              <a:t> </a:t>
            </a:r>
            <a:endParaRPr lang="en-US" b="0" dirty="0" smtClean="0">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Safety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安全</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Some mental illnesses cause patients to become suicidal or a danger to other people. Wherever possible, the system should warn medical staff about potentially suicidal or dangerous patients. </a:t>
            </a:r>
            <a:endParaRPr lang="en-GB" sz="2800" b="0" dirty="0" smtClean="0">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The system must be available when needed otherwise safety may be compromised and it may be impossible to prescribe the correct medication to patients.</a:t>
            </a:r>
            <a:r>
              <a:rPr lang="en-GB" b="0" dirty="0" smtClean="0">
                <a:latin typeface="Calibri" panose="020F0502020204030204" charset="0"/>
                <a:cs typeface="Calibri" panose="020F0502020204030204" charset="0"/>
              </a:rPr>
              <a:t> </a:t>
            </a:r>
            <a:endParaRPr lang="en-US" b="0" dirty="0" smtClean="0">
              <a:latin typeface="Calibri" panose="020F0502020204030204" charset="0"/>
              <a:cs typeface="Calibri" panose="020F0502020204030204"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581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Wilderness weather station</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野外气象站</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33985" y="1313180"/>
            <a:ext cx="8874760" cy="52851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The government of a country with large areas of wilderness decides to deploy several hundred weather stations in remote areas. </a:t>
            </a:r>
            <a:endParaRPr lang="en-GB"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Weather stations collect data from a set of instruments that measure temperature and pressure, sunshine, rainfall, wind speed and wind direction.</a:t>
            </a:r>
            <a:endParaRPr lang="en-GB" sz="30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600" b="0" dirty="0" smtClean="0">
                <a:latin typeface="Calibri" panose="020F0502020204030204" charset="0"/>
                <a:cs typeface="Calibri" panose="020F0502020204030204" charset="0"/>
              </a:rPr>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r>
              <a:rPr lang="en-GB" sz="2700" b="0" dirty="0" smtClean="0"/>
              <a:t> </a:t>
            </a:r>
            <a:endParaRPr lang="en-US" sz="2700" b="0"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7715"/>
            <a:ext cx="8977630" cy="5581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weather station</a:t>
            </a:r>
            <a:r>
              <a:rPr lang="en-US" altLang="zh-CN" sz="3000" dirty="0">
                <a:solidFill>
                  <a:schemeClr val="accent1">
                    <a:lumMod val="75000"/>
                  </a:schemeClr>
                </a:solidFill>
                <a:ea typeface="宋体" panose="02010600030101010101" pitchFamily="2" charset="-122"/>
                <a:sym typeface="+mn-ea"/>
              </a:rPr>
              <a:t>’</a:t>
            </a:r>
            <a:r>
              <a:rPr lang="zh-CN" altLang="en-US" sz="3000" dirty="0">
                <a:solidFill>
                  <a:schemeClr val="accent1">
                    <a:lumMod val="75000"/>
                  </a:schemeClr>
                </a:solidFill>
                <a:ea typeface="宋体" panose="02010600030101010101" pitchFamily="2" charset="-122"/>
                <a:sym typeface="+mn-ea"/>
              </a:rPr>
              <a:t>s environment</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所处环境</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78435" y="1348105"/>
            <a:ext cx="7787640" cy="3843655"/>
          </a:xfrm>
          <a:prstGeom prst="rect">
            <a:avLst/>
          </a:prstGeom>
        </p:spPr>
      </p:pic>
      <p:sp>
        <p:nvSpPr>
          <p:cNvPr id="5" name="文本框 4"/>
          <p:cNvSpPr txBox="1"/>
          <p:nvPr/>
        </p:nvSpPr>
        <p:spPr>
          <a:xfrm>
            <a:off x="3307715" y="3150235"/>
            <a:ext cx="5709285" cy="3415030"/>
          </a:xfrm>
          <a:prstGeom prst="rect">
            <a:avLst/>
          </a:prstGeom>
          <a:noFill/>
        </p:spPr>
        <p:txBody>
          <a:bodyPr wrap="square" rtlCol="0">
            <a:spAutoFit/>
          </a:bodyPr>
          <a:p>
            <a:r>
              <a:rPr lang="en-US" altLang="zh-CN" b="0">
                <a:solidFill>
                  <a:schemeClr val="tx1"/>
                </a:solidFill>
                <a:latin typeface="Calibri" panose="020F0502020204030204" charset="0"/>
                <a:cs typeface="Calibri" panose="020F0502020204030204" charset="0"/>
              </a:rPr>
              <a:t>* The figure has used the UML package symbol to indicate that each system is</a:t>
            </a:r>
            <a:endParaRPr lang="en-US" altLang="zh-CN" b="0">
              <a:solidFill>
                <a:schemeClr val="tx1"/>
              </a:solidFill>
              <a:latin typeface="Calibri" panose="020F0502020204030204" charset="0"/>
              <a:cs typeface="Calibri" panose="020F0502020204030204" charset="0"/>
            </a:endParaRPr>
          </a:p>
          <a:p>
            <a:r>
              <a:rPr lang="en-US" altLang="zh-CN" b="0">
                <a:solidFill>
                  <a:schemeClr val="tx1"/>
                </a:solidFill>
                <a:latin typeface="Calibri" panose="020F0502020204030204" charset="0"/>
                <a:cs typeface="Calibri" panose="020F0502020204030204" charset="0"/>
              </a:rPr>
              <a:t>a collection of components and the separate systems are identified using the UML stereotype «system». </a:t>
            </a:r>
            <a:endParaRPr lang="en-US" altLang="zh-CN" b="0">
              <a:solidFill>
                <a:schemeClr val="tx1"/>
              </a:solidFill>
              <a:latin typeface="Calibri" panose="020F0502020204030204" charset="0"/>
              <a:cs typeface="Calibri" panose="020F0502020204030204" charset="0"/>
            </a:endParaRPr>
          </a:p>
          <a:p>
            <a:r>
              <a:rPr lang="en-US" altLang="zh-CN" b="0">
                <a:solidFill>
                  <a:schemeClr val="tx1"/>
                </a:solidFill>
                <a:latin typeface="Calibri" panose="020F0502020204030204" charset="0"/>
                <a:cs typeface="Calibri" panose="020F0502020204030204" charset="0"/>
              </a:rPr>
              <a:t>* The associations between the packages indicate there is an exchange of information but, at this stage, there is no need to define them in any more detail.</a:t>
            </a:r>
            <a:endParaRPr lang="en-US" altLang="zh-CN" b="0">
              <a:solidFill>
                <a:schemeClr val="tx1"/>
              </a:solidFill>
              <a:latin typeface="Calibri" panose="020F0502020204030204" charset="0"/>
              <a:cs typeface="Calibri" panose="020F0502020204030204" charset="0"/>
            </a:endParaRPr>
          </a:p>
        </p:txBody>
      </p:sp>
      <p:sp>
        <p:nvSpPr>
          <p:cNvPr id="3" name="Rectangle 3"/>
          <p:cNvSpPr>
            <a:spLocks noGrp="1" noRot="1"/>
          </p:cNvSpPr>
          <p:nvPr>
            <p:custDataLst>
              <p:tags r:id="rId4"/>
            </p:custDataLst>
          </p:nvPr>
        </p:nvSpPr>
        <p:spPr>
          <a:xfrm>
            <a:off x="718185" y="5415280"/>
            <a:ext cx="2051050" cy="55816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三个组成部分</a:t>
            </a:r>
            <a:endParaRPr lang="zh-CN" altLang="en-US" sz="30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9300"/>
            <a:ext cx="8977630" cy="5708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Weather information system</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气象信息系统</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55575" y="1241425"/>
            <a:ext cx="8836660" cy="52578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GB" sz="3200" dirty="0" smtClean="0">
                <a:solidFill>
                  <a:schemeClr val="accent2">
                    <a:lumMod val="75000"/>
                  </a:schemeClr>
                </a:solidFill>
                <a:latin typeface="Calibri" panose="020F0502020204030204" charset="0"/>
                <a:cs typeface="Calibri" panose="020F0502020204030204" charset="0"/>
              </a:rPr>
              <a:t>	The weather station system</a:t>
            </a:r>
            <a:r>
              <a:rPr lang="en-GB" sz="3200" dirty="0" smtClean="0">
                <a:latin typeface="Calibri" panose="020F0502020204030204" charset="0"/>
                <a:cs typeface="Calibri" panose="020F0502020204030204" charset="0"/>
              </a:rPr>
              <a:t> </a:t>
            </a:r>
            <a:endParaRPr lang="en-GB" sz="32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This is responsible for </a:t>
            </a:r>
            <a:r>
              <a:rPr lang="en-GB" sz="2800" b="0" u="sng" dirty="0" smtClean="0">
                <a:latin typeface="Calibri" panose="020F0502020204030204" charset="0"/>
                <a:cs typeface="Calibri" panose="020F0502020204030204" charset="0"/>
              </a:rPr>
              <a:t>collecting</a:t>
            </a:r>
            <a:r>
              <a:rPr lang="en-GB" sz="2800" b="0" dirty="0" smtClean="0">
                <a:latin typeface="Calibri" panose="020F0502020204030204" charset="0"/>
                <a:cs typeface="Calibri" panose="020F0502020204030204" charset="0"/>
              </a:rPr>
              <a:t> weather data, carrying out some </a:t>
            </a:r>
            <a:r>
              <a:rPr lang="en-GB" sz="2800" b="0" u="sng" dirty="0" smtClean="0">
                <a:latin typeface="Calibri" panose="020F0502020204030204" charset="0"/>
                <a:cs typeface="Calibri" panose="020F0502020204030204" charset="0"/>
              </a:rPr>
              <a:t>initial data processing</a:t>
            </a:r>
            <a:r>
              <a:rPr lang="en-GB" sz="2800" b="0" dirty="0" smtClean="0">
                <a:latin typeface="Calibri" panose="020F0502020204030204" charset="0"/>
                <a:cs typeface="Calibri" panose="020F0502020204030204" charset="0"/>
              </a:rPr>
              <a:t> and </a:t>
            </a:r>
            <a:r>
              <a:rPr lang="en-GB" sz="2800" b="0" u="sng" dirty="0" smtClean="0">
                <a:latin typeface="Calibri" panose="020F0502020204030204" charset="0"/>
                <a:cs typeface="Calibri" panose="020F0502020204030204" charset="0"/>
              </a:rPr>
              <a:t>transmitting</a:t>
            </a:r>
            <a:r>
              <a:rPr lang="en-GB" sz="2800" b="0" dirty="0" smtClean="0">
                <a:latin typeface="Calibri" panose="020F0502020204030204" charset="0"/>
                <a:cs typeface="Calibri" panose="020F0502020204030204" charset="0"/>
              </a:rPr>
              <a:t> it to the data management system.</a:t>
            </a:r>
            <a:endParaRPr lang="en-GB" sz="28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The data management and archiving system</a:t>
            </a:r>
            <a:r>
              <a:rPr lang="en-GB" sz="3200" dirty="0" smtClean="0">
                <a:latin typeface="Calibri" panose="020F0502020204030204" charset="0"/>
                <a:cs typeface="Calibri" panose="020F0502020204030204" charset="0"/>
              </a:rPr>
              <a:t> </a:t>
            </a:r>
            <a:endParaRPr lang="en-GB" sz="32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This system </a:t>
            </a:r>
            <a:r>
              <a:rPr lang="en-GB" sz="2800" b="0" u="sng" dirty="0" smtClean="0">
                <a:latin typeface="Calibri" panose="020F0502020204030204" charset="0"/>
                <a:cs typeface="Calibri" panose="020F0502020204030204" charset="0"/>
              </a:rPr>
              <a:t>collects</a:t>
            </a:r>
            <a:r>
              <a:rPr lang="en-GB" sz="2800" b="0" dirty="0" smtClean="0">
                <a:latin typeface="Calibri" panose="020F0502020204030204" charset="0"/>
                <a:cs typeface="Calibri" panose="020F0502020204030204" charset="0"/>
              </a:rPr>
              <a:t> the data from all of the wilderness weather stations, carries out </a:t>
            </a:r>
            <a:r>
              <a:rPr lang="en-GB" sz="2800" b="0" u="sng" dirty="0" smtClean="0">
                <a:latin typeface="Calibri" panose="020F0502020204030204" charset="0"/>
                <a:cs typeface="Calibri" panose="020F0502020204030204" charset="0"/>
              </a:rPr>
              <a:t>data processing</a:t>
            </a:r>
            <a:r>
              <a:rPr lang="en-GB" sz="2800" b="0" dirty="0" smtClean="0">
                <a:latin typeface="Calibri" panose="020F0502020204030204" charset="0"/>
                <a:cs typeface="Calibri" panose="020F0502020204030204" charset="0"/>
              </a:rPr>
              <a:t> and </a:t>
            </a:r>
            <a:r>
              <a:rPr lang="en-GB" sz="2800" b="0" u="sng" dirty="0" smtClean="0">
                <a:latin typeface="Calibri" panose="020F0502020204030204" charset="0"/>
                <a:cs typeface="Calibri" panose="020F0502020204030204" charset="0"/>
              </a:rPr>
              <a:t>analysis</a:t>
            </a:r>
            <a:r>
              <a:rPr lang="en-GB" sz="2800" b="0" dirty="0" smtClean="0">
                <a:latin typeface="Calibri" panose="020F0502020204030204" charset="0"/>
                <a:cs typeface="Calibri" panose="020F0502020204030204" charset="0"/>
              </a:rPr>
              <a:t> and </a:t>
            </a:r>
            <a:r>
              <a:rPr lang="en-GB" sz="2800" b="0" u="sng" dirty="0" smtClean="0">
                <a:latin typeface="Calibri" panose="020F0502020204030204" charset="0"/>
                <a:cs typeface="Calibri" panose="020F0502020204030204" charset="0"/>
              </a:rPr>
              <a:t>archives</a:t>
            </a:r>
            <a:r>
              <a:rPr lang="en-GB" sz="2800" b="0" dirty="0" smtClean="0">
                <a:latin typeface="Calibri" panose="020F0502020204030204" charset="0"/>
                <a:cs typeface="Calibri" panose="020F0502020204030204" charset="0"/>
              </a:rPr>
              <a:t> the data.</a:t>
            </a:r>
            <a:endParaRPr lang="en-GB" sz="28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The station maintenance system</a:t>
            </a:r>
            <a:r>
              <a:rPr lang="en-GB" dirty="0" smtClean="0">
                <a:solidFill>
                  <a:schemeClr val="accent2">
                    <a:lumMod val="75000"/>
                  </a:schemeClr>
                </a:solidFill>
                <a:latin typeface="Calibri" panose="020F0502020204030204" charset="0"/>
                <a:cs typeface="Calibri" panose="020F0502020204030204" charset="0"/>
              </a:rPr>
              <a:t> </a:t>
            </a:r>
            <a:endParaRPr lang="en-GB"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This system can </a:t>
            </a:r>
            <a:r>
              <a:rPr lang="en-GB" sz="2800" b="0" u="sng" dirty="0" smtClean="0">
                <a:latin typeface="Calibri" panose="020F0502020204030204" charset="0"/>
                <a:cs typeface="Calibri" panose="020F0502020204030204" charset="0"/>
              </a:rPr>
              <a:t>communicate</a:t>
            </a:r>
            <a:r>
              <a:rPr lang="en-GB" sz="2800" b="0" dirty="0" smtClean="0">
                <a:latin typeface="Calibri" panose="020F0502020204030204" charset="0"/>
                <a:cs typeface="Calibri" panose="020F0502020204030204" charset="0"/>
              </a:rPr>
              <a:t> by satellite with all wilderness weather stations to </a:t>
            </a:r>
            <a:r>
              <a:rPr lang="en-GB" sz="2800" b="0" u="sng" dirty="0" smtClean="0">
                <a:latin typeface="Calibri" panose="020F0502020204030204" charset="0"/>
                <a:cs typeface="Calibri" panose="020F0502020204030204" charset="0"/>
              </a:rPr>
              <a:t>monitor</a:t>
            </a:r>
            <a:r>
              <a:rPr lang="en-GB" sz="2800" b="0" dirty="0" smtClean="0">
                <a:latin typeface="Calibri" panose="020F0502020204030204" charset="0"/>
                <a:cs typeface="Calibri" panose="020F0502020204030204" charset="0"/>
              </a:rPr>
              <a:t> the health of these systems and provide </a:t>
            </a:r>
            <a:r>
              <a:rPr lang="en-GB" sz="2800" b="0" u="sng" dirty="0" smtClean="0">
                <a:latin typeface="Calibri" panose="020F0502020204030204" charset="0"/>
                <a:cs typeface="Calibri" panose="020F0502020204030204" charset="0"/>
              </a:rPr>
              <a:t>reports</a:t>
            </a:r>
            <a:r>
              <a:rPr lang="en-GB" sz="2800" b="0" dirty="0" smtClean="0">
                <a:latin typeface="Calibri" panose="020F0502020204030204" charset="0"/>
                <a:cs typeface="Calibri" panose="020F0502020204030204" charset="0"/>
              </a:rPr>
              <a:t> of problems.</a:t>
            </a:r>
            <a:r>
              <a:rPr lang="en-GB" sz="2800" b="0" dirty="0" smtClean="0"/>
              <a:t> </a:t>
            </a:r>
            <a:endParaRPr lang="en-US" sz="2800" b="0"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1370"/>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Additional software functionality</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附加功能</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81925" name="Rectangle 5"/>
          <p:cNvSpPr>
            <a:spLocks noGrp="1" noChangeArrowheads="1"/>
          </p:cNvSpPr>
          <p:nvPr/>
        </p:nvSpPr>
        <p:spPr>
          <a:xfrm>
            <a:off x="152400" y="1313180"/>
            <a:ext cx="8843010" cy="52197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b="0">
                <a:solidFill>
                  <a:schemeClr val="accent2">
                    <a:lumMod val="75000"/>
                  </a:schemeClr>
                </a:solidFill>
                <a:latin typeface="Calibri" panose="020F0502020204030204" charset="0"/>
                <a:cs typeface="Calibri" panose="020F0502020204030204" charset="0"/>
              </a:rPr>
              <a:t> </a:t>
            </a:r>
            <a:r>
              <a:rPr sz="3000" b="0">
                <a:solidFill>
                  <a:schemeClr val="accent2">
                    <a:lumMod val="75000"/>
                  </a:schemeClr>
                </a:solidFill>
                <a:latin typeface="Calibri" panose="020F0502020204030204" charset="0"/>
                <a:cs typeface="Calibri" panose="020F0502020204030204" charset="0"/>
              </a:rPr>
              <a:t>Monitor the instruments, power and communication hardware and report faults to the management system.</a:t>
            </a:r>
            <a:endParaRPr sz="3000" b="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b="0">
                <a:solidFill>
                  <a:schemeClr val="accent2">
                    <a:lumMod val="75000"/>
                  </a:schemeClr>
                </a:solidFill>
                <a:latin typeface="Calibri" panose="020F0502020204030204" charset="0"/>
                <a:cs typeface="Calibri" panose="020F0502020204030204" charset="0"/>
              </a:rPr>
              <a:t> </a:t>
            </a:r>
            <a:r>
              <a:rPr sz="3000" b="0">
                <a:solidFill>
                  <a:schemeClr val="accent2">
                    <a:lumMod val="75000"/>
                  </a:schemeClr>
                </a:solidFill>
                <a:latin typeface="Calibri" panose="020F0502020204030204" charset="0"/>
                <a:cs typeface="Calibri" panose="020F0502020204030204" charset="0"/>
              </a:rPr>
              <a:t>Manage the system power, ensuring that batteries are charged whenever the environmental conditions permit but also that generators are shut down in potentially damaging weather conditions, such as high wind.</a:t>
            </a:r>
            <a:endParaRPr sz="3000" b="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sz="3000" b="0">
                <a:solidFill>
                  <a:schemeClr val="accent2">
                    <a:lumMod val="75000"/>
                  </a:schemeClr>
                </a:solidFill>
                <a:latin typeface="Calibri" panose="020F0502020204030204" charset="0"/>
                <a:cs typeface="Calibri" panose="020F0502020204030204" charset="0"/>
              </a:rPr>
              <a:t> </a:t>
            </a:r>
            <a:r>
              <a:rPr sz="3000" b="0">
                <a:solidFill>
                  <a:schemeClr val="accent2">
                    <a:lumMod val="75000"/>
                  </a:schemeClr>
                </a:solidFill>
                <a:latin typeface="Calibri" panose="020F0502020204030204" charset="0"/>
                <a:cs typeface="Calibri" panose="020F0502020204030204" charset="0"/>
              </a:rPr>
              <a:t>Support dynamic reconfiguration where parts of the software are replaced with new versions and where backup instruments are switched into the system in the event of system failure.</a:t>
            </a:r>
            <a:endParaRPr sz="3000" b="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944880"/>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600" dirty="0">
                <a:solidFill>
                  <a:srgbClr val="0070C0"/>
                </a:solidFill>
                <a:ea typeface="宋体" panose="02010600030101010101" pitchFamily="2" charset="-122"/>
                <a:sym typeface="+mn-ea"/>
              </a:rPr>
              <a:t> </a:t>
            </a:r>
            <a:r>
              <a:rPr lang="zh-CN" altLang="en-US" sz="2600" dirty="0">
                <a:solidFill>
                  <a:schemeClr val="accent1">
                    <a:lumMod val="75000"/>
                  </a:schemeClr>
                </a:solidFill>
                <a:ea typeface="宋体" panose="02010600030101010101" pitchFamily="2" charset="-122"/>
                <a:sym typeface="+mn-ea"/>
              </a:rPr>
              <a:t>iLearn: A digital learning environment</a:t>
            </a:r>
            <a:r>
              <a:rPr lang="en-US" altLang="zh-CN" sz="2600" dirty="0">
                <a:solidFill>
                  <a:schemeClr val="accent1">
                    <a:lumMod val="75000"/>
                  </a:schemeClr>
                </a:solidFill>
                <a:ea typeface="宋体" panose="02010600030101010101" pitchFamily="2" charset="-122"/>
                <a:sym typeface="+mn-ea"/>
              </a:rPr>
              <a:t> </a:t>
            </a:r>
            <a:r>
              <a:rPr lang="zh-CN" altLang="en-US" sz="2600" dirty="0">
                <a:solidFill>
                  <a:schemeClr val="accent1">
                    <a:lumMod val="75000"/>
                  </a:schemeClr>
                </a:solidFill>
                <a:latin typeface="黑体" panose="02010609060101010101" pitchFamily="49" charset="-122"/>
                <a:ea typeface="黑体" panose="02010609060101010101" pitchFamily="49" charset="-122"/>
                <a:sym typeface="+mn-ea"/>
              </a:rPr>
              <a:t>数字化学习环境</a:t>
            </a:r>
            <a:endParaRPr lang="zh-CN" altLang="en-US" sz="2600" dirty="0">
              <a:solidFill>
                <a:schemeClr val="tx1"/>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8900" y="1484630"/>
            <a:ext cx="8980805" cy="4883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altLang="en-GB" sz="3100" b="0" dirty="0">
                <a:solidFill>
                  <a:schemeClr val="accent2">
                    <a:lumMod val="75000"/>
                  </a:schemeClr>
                </a:solidFill>
                <a:latin typeface="Calibri" panose="020F0502020204030204" charset="0"/>
                <a:cs typeface="Calibri" panose="020F0502020204030204" charset="0"/>
              </a:rPr>
              <a:t> It</a:t>
            </a:r>
            <a:r>
              <a:rPr lang="en-GB" sz="3100" b="0" dirty="0">
                <a:solidFill>
                  <a:schemeClr val="accent2">
                    <a:lumMod val="75000"/>
                  </a:schemeClr>
                </a:solidFill>
                <a:latin typeface="Calibri" panose="020F0502020204030204" charset="0"/>
                <a:cs typeface="Calibri" panose="020F0502020204030204" charset="0"/>
              </a:rPr>
              <a:t> is a framework in which a set of general-purpose and specially designed tools for learning may be embedded</a:t>
            </a:r>
            <a:r>
              <a:rPr lang="en-US" altLang="en-GB" sz="3100" b="0" dirty="0">
                <a:solidFill>
                  <a:schemeClr val="accent2">
                    <a:lumMod val="75000"/>
                  </a:schemeClr>
                </a:solidFill>
                <a:latin typeface="Calibri" panose="020F0502020204030204" charset="0"/>
                <a:cs typeface="Calibri" panose="020F0502020204030204" charset="0"/>
              </a:rPr>
              <a:t>,</a:t>
            </a:r>
            <a:r>
              <a:rPr lang="en-GB" sz="3100" b="0" dirty="0">
                <a:solidFill>
                  <a:schemeClr val="accent2">
                    <a:lumMod val="75000"/>
                  </a:schemeClr>
                </a:solidFill>
                <a:latin typeface="Calibri" panose="020F0502020204030204" charset="0"/>
                <a:cs typeface="Calibri" panose="020F0502020204030204" charset="0"/>
              </a:rPr>
              <a:t> plus a set of applications that are geared to the needs of the learners.</a:t>
            </a:r>
            <a:r>
              <a:rPr lang="en-GB" sz="3100" b="0" dirty="0">
                <a:latin typeface="Calibri" panose="020F0502020204030204" charset="0"/>
                <a:cs typeface="Calibri" panose="020F0502020204030204" charset="0"/>
              </a:rPr>
              <a:t> </a:t>
            </a:r>
            <a:r>
              <a:rPr lang="en-US" altLang="en-GB" sz="3100" b="0" dirty="0">
                <a:latin typeface="Calibri" panose="020F0502020204030204" charset="0"/>
                <a:cs typeface="Calibri" panose="020F0502020204030204" charset="0"/>
              </a:rPr>
              <a:t> </a:t>
            </a:r>
            <a:r>
              <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rPr>
              <a:t>框架</a:t>
            </a:r>
            <a:r>
              <a:rPr lang="en-US" altLang="zh-CN" sz="26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rPr>
              <a:t>=</a:t>
            </a:r>
            <a:r>
              <a:rPr lang="en-US" altLang="zh-CN" sz="26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rPr>
              <a:t>工具+应用</a:t>
            </a:r>
            <a:endParaRPr lang="en-GB" sz="3100" b="0" dirty="0" smtClean="0">
              <a:latin typeface="Calibri" panose="020F0502020204030204" charset="0"/>
              <a:cs typeface="Calibri" panose="020F0502020204030204" charset="0"/>
            </a:endParaRPr>
          </a:p>
          <a:p>
            <a:pPr>
              <a:lnSpc>
                <a:spcPct val="90000"/>
              </a:lnSpc>
              <a:spcBef>
                <a:spcPts val="1000"/>
              </a:spcBef>
              <a:spcAft>
                <a:spcPts val="0"/>
              </a:spcAft>
            </a:pPr>
            <a:r>
              <a:rPr lang="en-US" altLang="en-GB" sz="3100" b="0" dirty="0">
                <a:solidFill>
                  <a:schemeClr val="accent2">
                    <a:lumMod val="75000"/>
                  </a:schemeClr>
                </a:solidFill>
                <a:latin typeface="Calibri" panose="020F0502020204030204" charset="0"/>
                <a:cs typeface="Calibri" panose="020F0502020204030204" charset="0"/>
              </a:rPr>
              <a:t> </a:t>
            </a:r>
            <a:r>
              <a:rPr lang="en-GB" sz="3100" b="0" dirty="0">
                <a:solidFill>
                  <a:schemeClr val="accent2">
                    <a:lumMod val="75000"/>
                  </a:schemeClr>
                </a:solidFill>
                <a:latin typeface="Calibri" panose="020F0502020204030204" charset="0"/>
                <a:cs typeface="Calibri" panose="020F0502020204030204" charset="0"/>
              </a:rPr>
              <a:t>The tools included in each version of the environment are chosen by teachers and learners to suit their specific needs.</a:t>
            </a:r>
            <a:r>
              <a:rPr lang="en-GB" sz="3100" b="0" dirty="0">
                <a:latin typeface="Calibri" panose="020F0502020204030204" charset="0"/>
                <a:cs typeface="Calibri" panose="020F0502020204030204" charset="0"/>
              </a:rPr>
              <a:t> </a:t>
            </a:r>
            <a:r>
              <a:rPr lang="en-US" altLang="en-GB" sz="3100" b="0" dirty="0">
                <a:latin typeface="Calibri" panose="020F0502020204030204" charset="0"/>
                <a:cs typeface="Calibri" panose="020F0502020204030204" charset="0"/>
              </a:rPr>
              <a:t> </a:t>
            </a:r>
            <a:r>
              <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rPr>
              <a:t>满足特定需求</a:t>
            </a:r>
            <a:endParaRPr lang="en-GB" sz="3100" b="0" dirty="0" smtClean="0">
              <a:latin typeface="Calibri" panose="020F0502020204030204" charset="0"/>
              <a:cs typeface="Calibri" panose="020F0502020204030204" charset="0"/>
            </a:endParaRPr>
          </a:p>
          <a:p>
            <a:pPr lvl="1">
              <a:lnSpc>
                <a:spcPct val="90000"/>
              </a:lnSpc>
              <a:spcBef>
                <a:spcPts val="1000"/>
              </a:spcBef>
              <a:spcAft>
                <a:spcPts val="0"/>
              </a:spcAft>
            </a:pPr>
            <a:r>
              <a:rPr lang="en-GB" sz="2700" b="0" dirty="0" smtClean="0">
                <a:latin typeface="Calibri" panose="020F0502020204030204" charset="0"/>
                <a:cs typeface="Calibri" panose="020F0502020204030204" charset="0"/>
              </a:rPr>
              <a:t>These </a:t>
            </a:r>
            <a:r>
              <a:rPr lang="en-GB" sz="2700" b="0" dirty="0">
                <a:latin typeface="Calibri" panose="020F0502020204030204" charset="0"/>
                <a:cs typeface="Calibri" panose="020F0502020204030204" charset="0"/>
              </a:rPr>
              <a:t>can be general applications such as </a:t>
            </a:r>
            <a:r>
              <a:rPr lang="en-GB" sz="2700" b="0" dirty="0" err="1">
                <a:latin typeface="Calibri" panose="020F0502020204030204" charset="0"/>
                <a:cs typeface="Calibri" panose="020F0502020204030204" charset="0"/>
              </a:rPr>
              <a:t>spreadsheets</a:t>
            </a:r>
            <a:r>
              <a:rPr lang="en-GB" sz="2700" b="0" dirty="0">
                <a:latin typeface="Calibri" panose="020F0502020204030204" charset="0"/>
                <a:cs typeface="Calibri" panose="020F0502020204030204" charset="0"/>
              </a:rPr>
              <a:t>, learning management applications such as a Virtual Learning Environment (VLE) to manage homework submission and assessment, games and simulations.</a:t>
            </a:r>
            <a:r>
              <a:rPr lang="en-GB" sz="2700" b="0" dirty="0"/>
              <a:t> </a:t>
            </a:r>
            <a:endParaRPr lang="en-US" sz="2700" b="0"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83285"/>
            <a:ext cx="8977630" cy="6146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Service-oriented systems</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面向服务的系统</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33985" y="1489710"/>
            <a:ext cx="8863965" cy="48666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2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The system is a service-oriented system with all system components considered to be a </a:t>
            </a:r>
            <a:r>
              <a:rPr lang="en-GB" sz="3200" u="sng" dirty="0">
                <a:solidFill>
                  <a:schemeClr val="accent2">
                    <a:lumMod val="75000"/>
                  </a:schemeClr>
                </a:solidFill>
                <a:latin typeface="Calibri" panose="020F0502020204030204" charset="0"/>
                <a:cs typeface="Calibri" panose="020F0502020204030204" charset="0"/>
              </a:rPr>
              <a:t>replaceable</a:t>
            </a:r>
            <a:r>
              <a:rPr lang="en-GB" sz="3200" dirty="0">
                <a:solidFill>
                  <a:schemeClr val="accent2">
                    <a:lumMod val="75000"/>
                  </a:schemeClr>
                </a:solidFill>
                <a:latin typeface="Calibri" panose="020F0502020204030204" charset="0"/>
                <a:cs typeface="Calibri" panose="020F0502020204030204" charset="0"/>
              </a:rPr>
              <a:t> service.</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组件是可替换服务</a:t>
            </a:r>
            <a:endParaRPr lang="en-GB" sz="3200" dirty="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This allows the system to be updated </a:t>
            </a:r>
            <a:r>
              <a:rPr lang="en-GB" sz="3200" u="sng" dirty="0">
                <a:solidFill>
                  <a:schemeClr val="accent2">
                    <a:lumMod val="75000"/>
                  </a:schemeClr>
                </a:solidFill>
                <a:latin typeface="Calibri" panose="020F0502020204030204" charset="0"/>
                <a:cs typeface="Calibri" panose="020F0502020204030204" charset="0"/>
              </a:rPr>
              <a:t>incrementally</a:t>
            </a:r>
            <a:r>
              <a:rPr lang="en-GB" sz="3200" dirty="0">
                <a:solidFill>
                  <a:schemeClr val="accent2">
                    <a:lumMod val="75000"/>
                  </a:schemeClr>
                </a:solidFill>
                <a:latin typeface="Calibri" panose="020F0502020204030204" charset="0"/>
                <a:cs typeface="Calibri" panose="020F0502020204030204" charset="0"/>
              </a:rPr>
              <a:t> as new services become available</a:t>
            </a:r>
            <a:endParaRPr lang="en-GB" sz="3200" dirty="0">
              <a:solidFill>
                <a:schemeClr val="accent2">
                  <a:lumMod val="75000"/>
                </a:schemeClr>
              </a:solidFill>
              <a:latin typeface="Calibri" panose="020F0502020204030204" charset="0"/>
              <a:cs typeface="Calibri" panose="020F0502020204030204" charset="0"/>
            </a:endParaRPr>
          </a:p>
          <a:p>
            <a:pPr marL="0" indent="0">
              <a:lnSpc>
                <a:spcPct val="90000"/>
              </a:lnSpc>
              <a:spcBef>
                <a:spcPts val="1200"/>
              </a:spcBef>
              <a:spcAft>
                <a:spcPts val="0"/>
              </a:spcAft>
              <a:buNone/>
            </a:pP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增量式更新</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12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It also makes it possible to </a:t>
            </a:r>
            <a:r>
              <a:rPr lang="en-GB" sz="3200" u="sng" dirty="0">
                <a:solidFill>
                  <a:schemeClr val="accent2">
                    <a:lumMod val="75000"/>
                  </a:schemeClr>
                </a:solidFill>
                <a:latin typeface="Calibri" panose="020F0502020204030204" charset="0"/>
                <a:cs typeface="Calibri" panose="020F0502020204030204" charset="0"/>
              </a:rPr>
              <a:t>rapidly configure</a:t>
            </a:r>
            <a:r>
              <a:rPr lang="en-GB" sz="3200" dirty="0">
                <a:solidFill>
                  <a:schemeClr val="accent2">
                    <a:lumMod val="75000"/>
                  </a:schemeClr>
                </a:solidFill>
                <a:latin typeface="Calibri" panose="020F0502020204030204" charset="0"/>
                <a:cs typeface="Calibri" panose="020F0502020204030204" charset="0"/>
              </a:rPr>
              <a:t> the system to create versions of the environment for different groups such as very young children who cannot read, senior students, etc.</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为不群体快速配置</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9615"/>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iLearn architecture</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架构</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13030" y="1196975"/>
            <a:ext cx="5915025" cy="5524500"/>
          </a:xfrm>
          <a:prstGeom prst="rect">
            <a:avLst/>
          </a:prstGeom>
        </p:spPr>
      </p:pic>
      <p:sp>
        <p:nvSpPr>
          <p:cNvPr id="5" name="文本框 4"/>
          <p:cNvSpPr txBox="1"/>
          <p:nvPr/>
        </p:nvSpPr>
        <p:spPr>
          <a:xfrm>
            <a:off x="6043930" y="782320"/>
            <a:ext cx="2996565" cy="6000750"/>
          </a:xfrm>
          <a:prstGeom prst="rect">
            <a:avLst/>
          </a:prstGeom>
          <a:noFill/>
        </p:spPr>
        <p:txBody>
          <a:bodyPr wrap="square" rtlCol="0">
            <a:spAutoFit/>
          </a:bodyPr>
          <a:p>
            <a:r>
              <a:rPr lang="en-US" altLang="zh-CN" b="0">
                <a:solidFill>
                  <a:schemeClr val="tx1"/>
                </a:solidFill>
                <a:latin typeface="Calibri" panose="020F0502020204030204" charset="0"/>
                <a:cs typeface="Calibri" panose="020F0502020204030204" charset="0"/>
              </a:rPr>
              <a:t>* It was designed for use in schools for students from 3 to 18 years of age. </a:t>
            </a:r>
            <a:endParaRPr lang="en-US" altLang="zh-CN" b="0">
              <a:solidFill>
                <a:schemeClr val="tx1"/>
              </a:solidFill>
              <a:latin typeface="Calibri" panose="020F0502020204030204" charset="0"/>
              <a:cs typeface="Calibri" panose="020F0502020204030204" charset="0"/>
            </a:endParaRPr>
          </a:p>
          <a:p>
            <a:r>
              <a:rPr lang="en-US" altLang="zh-CN" b="0">
                <a:solidFill>
                  <a:schemeClr val="tx1"/>
                </a:solidFill>
                <a:latin typeface="Calibri" panose="020F0502020204030204" charset="0"/>
                <a:cs typeface="Calibri" panose="020F0502020204030204" charset="0"/>
              </a:rPr>
              <a:t>* This is a </a:t>
            </a:r>
            <a:r>
              <a:rPr lang="en-US" altLang="zh-CN" b="0" u="sng">
                <a:solidFill>
                  <a:schemeClr val="tx1"/>
                </a:solidFill>
                <a:latin typeface="Calibri" panose="020F0502020204030204" charset="0"/>
                <a:cs typeface="Calibri" panose="020F0502020204030204" charset="0"/>
              </a:rPr>
              <a:t>distributed system</a:t>
            </a:r>
            <a:r>
              <a:rPr lang="en-US" altLang="zh-CN" b="0">
                <a:solidFill>
                  <a:schemeClr val="tx1"/>
                </a:solidFill>
                <a:latin typeface="Calibri" panose="020F0502020204030204" charset="0"/>
                <a:cs typeface="Calibri" panose="020F0502020204030204" charset="0"/>
              </a:rPr>
              <a:t> in which all components of the environment are services that can be accessed from anywhere on the</a:t>
            </a:r>
            <a:endParaRPr lang="en-US" altLang="zh-CN" b="0">
              <a:solidFill>
                <a:schemeClr val="tx1"/>
              </a:solidFill>
              <a:latin typeface="Calibri" panose="020F0502020204030204" charset="0"/>
              <a:cs typeface="Calibri" panose="020F0502020204030204" charset="0"/>
            </a:endParaRPr>
          </a:p>
          <a:p>
            <a:r>
              <a:rPr lang="en-US" altLang="zh-CN" b="0">
                <a:solidFill>
                  <a:schemeClr val="tx1"/>
                </a:solidFill>
                <a:latin typeface="Calibri" panose="020F0502020204030204" charset="0"/>
                <a:cs typeface="Calibri" panose="020F0502020204030204" charset="0"/>
              </a:rPr>
              <a:t>Internet. There is no requirement that all of the learning tools are gathered together</a:t>
            </a:r>
            <a:endParaRPr lang="en-US" altLang="zh-CN" b="0">
              <a:solidFill>
                <a:schemeClr val="tx1"/>
              </a:solidFill>
              <a:latin typeface="Calibri" panose="020F0502020204030204" charset="0"/>
              <a:cs typeface="Calibri" panose="020F0502020204030204" charset="0"/>
            </a:endParaRPr>
          </a:p>
          <a:p>
            <a:r>
              <a:rPr lang="en-US" altLang="zh-CN" b="0">
                <a:solidFill>
                  <a:schemeClr val="tx1"/>
                </a:solidFill>
                <a:latin typeface="Calibri" panose="020F0502020204030204" charset="0"/>
                <a:cs typeface="Calibri" panose="020F0502020204030204" charset="0"/>
              </a:rPr>
              <a:t>in one place.</a:t>
            </a:r>
            <a:endParaRPr lang="en-US" altLang="zh-CN" b="0">
              <a:solidFill>
                <a:schemeClr val="tx1"/>
              </a:solidFill>
              <a:latin typeface="Calibri" panose="020F0502020204030204" charset="0"/>
              <a:cs typeface="Calibri" panose="020F0502020204030204" charset="0"/>
            </a:endParaRPr>
          </a:p>
        </p:txBody>
      </p:sp>
      <p:sp>
        <p:nvSpPr>
          <p:cNvPr id="3" name="Rectangle 3"/>
          <p:cNvSpPr>
            <a:spLocks noGrp="1" noRot="1"/>
          </p:cNvSpPr>
          <p:nvPr>
            <p:custDataLst>
              <p:tags r:id="rId4"/>
            </p:custDataLst>
          </p:nvPr>
        </p:nvSpPr>
        <p:spPr>
          <a:xfrm>
            <a:off x="2385060" y="2125980"/>
            <a:ext cx="1234440" cy="34417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配置服务</a:t>
            </a:r>
            <a:endParaRPr lang="zh-CN" altLang="en-US" sz="2000" dirty="0">
              <a:solidFill>
                <a:schemeClr val="accent1">
                  <a:lumMod val="75000"/>
                </a:schemeClr>
              </a:solidFill>
              <a:ea typeface="宋体" panose="02010600030101010101" pitchFamily="2" charset="-122"/>
              <a:sym typeface="+mn-ea"/>
            </a:endParaRPr>
          </a:p>
        </p:txBody>
      </p:sp>
      <p:sp>
        <p:nvSpPr>
          <p:cNvPr id="6" name="Rectangle 3"/>
          <p:cNvSpPr>
            <a:spLocks noGrp="1" noRot="1"/>
          </p:cNvSpPr>
          <p:nvPr>
            <p:custDataLst>
              <p:tags r:id="rId5"/>
            </p:custDataLst>
          </p:nvPr>
        </p:nvSpPr>
        <p:spPr>
          <a:xfrm>
            <a:off x="2368550" y="3442335"/>
            <a:ext cx="1234440" cy="35877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应用服务</a:t>
            </a:r>
            <a:endParaRPr lang="zh-CN" altLang="en-US" sz="2000" dirty="0">
              <a:solidFill>
                <a:schemeClr val="accent1">
                  <a:lumMod val="75000"/>
                </a:schemeClr>
              </a:solidFill>
              <a:ea typeface="宋体" panose="02010600030101010101" pitchFamily="2" charset="-122"/>
              <a:sym typeface="+mn-ea"/>
            </a:endParaRPr>
          </a:p>
        </p:txBody>
      </p:sp>
      <p:sp>
        <p:nvSpPr>
          <p:cNvPr id="7" name="Rectangle 3"/>
          <p:cNvSpPr>
            <a:spLocks noGrp="1" noRot="1"/>
          </p:cNvSpPr>
          <p:nvPr>
            <p:custDataLst>
              <p:tags r:id="rId6"/>
            </p:custDataLst>
          </p:nvPr>
        </p:nvSpPr>
        <p:spPr>
          <a:xfrm>
            <a:off x="1921510" y="5291455"/>
            <a:ext cx="1234440" cy="35877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公共服务</a:t>
            </a:r>
            <a:endParaRPr lang="zh-CN" altLang="en-US" sz="20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1370"/>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iLearn services</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三种服务</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9535" y="1346200"/>
            <a:ext cx="8966200" cy="48406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i="1" u="sng" dirty="0">
                <a:solidFill>
                  <a:schemeClr val="accent2">
                    <a:lumMod val="75000"/>
                  </a:schemeClr>
                </a:solidFill>
                <a:latin typeface="Calibri" panose="020F0502020204030204" charset="0"/>
                <a:cs typeface="Calibri" panose="020F0502020204030204" charset="0"/>
              </a:rPr>
              <a:t>Utility services</a:t>
            </a:r>
            <a:r>
              <a:rPr lang="en-GB" sz="3000" b="0" dirty="0">
                <a:solidFill>
                  <a:schemeClr val="accent2">
                    <a:lumMod val="75000"/>
                  </a:schemeClr>
                </a:solidFill>
                <a:latin typeface="Calibri" panose="020F0502020204030204" charset="0"/>
                <a:cs typeface="Calibri" panose="020F0502020204030204" charset="0"/>
              </a:rPr>
              <a:t> that provide basic application-independent functionality and which may be used by other services in the system. </a:t>
            </a:r>
            <a:r>
              <a:rPr lang="en-US" altLang="en-GB" sz="3000" b="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公共服务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i="1" u="sng" dirty="0">
                <a:solidFill>
                  <a:schemeClr val="accent2">
                    <a:lumMod val="75000"/>
                  </a:schemeClr>
                </a:solidFill>
                <a:latin typeface="Calibri" panose="020F0502020204030204" charset="0"/>
                <a:cs typeface="Calibri" panose="020F0502020204030204" charset="0"/>
              </a:rPr>
              <a:t>Application services</a:t>
            </a:r>
            <a:r>
              <a:rPr lang="en-GB" sz="3000" b="0" dirty="0">
                <a:solidFill>
                  <a:schemeClr val="accent2">
                    <a:lumMod val="75000"/>
                  </a:schemeClr>
                </a:solidFill>
                <a:latin typeface="Calibri" panose="020F0502020204030204" charset="0"/>
                <a:cs typeface="Calibri" panose="020F0502020204030204" charset="0"/>
              </a:rPr>
              <a:t> that provide specific applications such as email, conferencing, photo sharing etc. and access to specific educational content such as scientific films or historical resources. </a:t>
            </a:r>
            <a:r>
              <a:rPr lang="en-US" altLang="en-GB" sz="3000" b="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应用服务</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i="1" u="sng" dirty="0">
                <a:solidFill>
                  <a:schemeClr val="accent2">
                    <a:lumMod val="75000"/>
                  </a:schemeClr>
                </a:solidFill>
                <a:latin typeface="Calibri" panose="020F0502020204030204" charset="0"/>
                <a:cs typeface="Calibri" panose="020F0502020204030204" charset="0"/>
              </a:rPr>
              <a:t>Configuration services</a:t>
            </a:r>
            <a:r>
              <a:rPr lang="en-GB" sz="3000" b="0" dirty="0">
                <a:solidFill>
                  <a:schemeClr val="accent2">
                    <a:lumMod val="75000"/>
                  </a:schemeClr>
                </a:solidFill>
                <a:latin typeface="Calibri" panose="020F0502020204030204" charset="0"/>
                <a:cs typeface="Calibri" panose="020F0502020204030204" charset="0"/>
              </a:rPr>
              <a:t> that are used to adapt the environment with a specific set of application services and </a:t>
            </a:r>
            <a:r>
              <a:rPr lang="en-US" altLang="en-GB" sz="3000" b="0" dirty="0">
                <a:solidFill>
                  <a:schemeClr val="accent2">
                    <a:lumMod val="75000"/>
                  </a:schemeClr>
                </a:solidFill>
                <a:latin typeface="Calibri" panose="020F0502020204030204" charset="0"/>
                <a:cs typeface="Calibri" panose="020F0502020204030204" charset="0"/>
              </a:rPr>
              <a:t>t</a:t>
            </a:r>
            <a:r>
              <a:rPr lang="en-GB" sz="3000" b="0" dirty="0">
                <a:solidFill>
                  <a:schemeClr val="accent2">
                    <a:lumMod val="75000"/>
                  </a:schemeClr>
                </a:solidFill>
                <a:latin typeface="Calibri" panose="020F0502020204030204" charset="0"/>
                <a:cs typeface="Calibri" panose="020F0502020204030204" charset="0"/>
              </a:rPr>
              <a:t>o define how services are shared between students, teachers and their parents.</a:t>
            </a:r>
            <a:r>
              <a:rPr lang="en-US" altLang="en-GB" sz="3000" b="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配置服务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1370"/>
            <a:ext cx="8977630" cy="567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iLearn service integration</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服务集成</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33985" y="1346200"/>
            <a:ext cx="8863965" cy="52228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i="1" u="sng" dirty="0">
                <a:solidFill>
                  <a:schemeClr val="accent2">
                    <a:lumMod val="75000"/>
                  </a:schemeClr>
                </a:solidFill>
                <a:latin typeface="Calibri" panose="020F0502020204030204" charset="0"/>
                <a:cs typeface="Calibri" panose="020F0502020204030204" charset="0"/>
              </a:rPr>
              <a:t>Integrated services</a:t>
            </a:r>
            <a:r>
              <a:rPr lang="en-GB" sz="3000" b="0" dirty="0">
                <a:solidFill>
                  <a:schemeClr val="accent2">
                    <a:lumMod val="75000"/>
                  </a:schemeClr>
                </a:solidFill>
                <a:latin typeface="Calibri" panose="020F0502020204030204" charset="0"/>
                <a:cs typeface="Calibri" panose="020F0502020204030204" charset="0"/>
              </a:rPr>
              <a:t> are services which offer an API (application programming interface) and which can be accessed by other services through that API.  Direct service-to-service communication is therefore possible. </a:t>
            </a:r>
            <a:r>
              <a:rPr lang="en-US" altLang="en-GB" sz="3000" b="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集成服务</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i="1" u="sng" dirty="0">
                <a:solidFill>
                  <a:schemeClr val="accent2">
                    <a:lumMod val="75000"/>
                  </a:schemeClr>
                </a:solidFill>
                <a:latin typeface="Calibri" panose="020F0502020204030204" charset="0"/>
                <a:cs typeface="Calibri" panose="020F0502020204030204" charset="0"/>
              </a:rPr>
              <a:t>Independent services</a:t>
            </a:r>
            <a:r>
              <a:rPr lang="en-GB" sz="3000" b="0" dirty="0">
                <a:solidFill>
                  <a:schemeClr val="accent2">
                    <a:lumMod val="75000"/>
                  </a:schemeClr>
                </a:solidFill>
                <a:latin typeface="Calibri" panose="020F0502020204030204" charset="0"/>
                <a:cs typeface="Calibri" panose="020F0502020204030204" charset="0"/>
              </a:rPr>
              <a:t> are services which are simply accessed through a browser interface and which operate independently of other services. Information can only be shared with other services through explicit user actions such as copy and paste; </a:t>
            </a:r>
            <a:r>
              <a:rPr lang="en-US" altLang="en-GB" sz="3000" b="0" dirty="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独立服务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000" b="0" dirty="0">
                <a:solidFill>
                  <a:schemeClr val="accent2">
                    <a:lumMod val="75000"/>
                  </a:schemeClr>
                </a:solidFill>
                <a:latin typeface="Calibri" panose="020F0502020204030204" charset="0"/>
                <a:cs typeface="Calibri" panose="020F0502020204030204" charset="0"/>
              </a:rPr>
              <a:t> </a:t>
            </a:r>
            <a:r>
              <a:rPr sz="3000" b="0" dirty="0">
                <a:solidFill>
                  <a:schemeClr val="accent2">
                    <a:lumMod val="75000"/>
                  </a:schemeClr>
                </a:solidFill>
                <a:latin typeface="Calibri" panose="020F0502020204030204" charset="0"/>
                <a:cs typeface="Calibri" panose="020F0502020204030204" charset="0"/>
              </a:rPr>
              <a:t>If an independent service becomes widely used, then</a:t>
            </a:r>
            <a:r>
              <a:rPr lang="en-US" sz="3000" b="0" dirty="0">
                <a:solidFill>
                  <a:schemeClr val="accent2">
                    <a:lumMod val="75000"/>
                  </a:schemeClr>
                </a:solidFill>
                <a:latin typeface="Calibri" panose="020F0502020204030204" charset="0"/>
                <a:cs typeface="Calibri" panose="020F0502020204030204" charset="0"/>
              </a:rPr>
              <a:t> </a:t>
            </a:r>
            <a:r>
              <a:rPr sz="3000" b="0" dirty="0">
                <a:solidFill>
                  <a:schemeClr val="accent2">
                    <a:lumMod val="75000"/>
                  </a:schemeClr>
                </a:solidFill>
                <a:latin typeface="Calibri" panose="020F0502020204030204" charset="0"/>
                <a:cs typeface="Calibri" panose="020F0502020204030204" charset="0"/>
              </a:rPr>
              <a:t>integrate </a:t>
            </a:r>
            <a:r>
              <a:rPr lang="en-US" sz="3000" b="0" dirty="0">
                <a:solidFill>
                  <a:schemeClr val="accent2">
                    <a:lumMod val="75000"/>
                  </a:schemeClr>
                </a:solidFill>
                <a:latin typeface="Calibri" panose="020F0502020204030204" charset="0"/>
                <a:cs typeface="Calibri" panose="020F0502020204030204" charset="0"/>
              </a:rPr>
              <a:t>it to</a:t>
            </a:r>
            <a:r>
              <a:rPr sz="3000" b="0" dirty="0">
                <a:solidFill>
                  <a:schemeClr val="accent2">
                    <a:lumMod val="75000"/>
                  </a:schemeClr>
                </a:solidFill>
                <a:latin typeface="Calibri" panose="020F0502020204030204" charset="0"/>
                <a:cs typeface="Calibri" panose="020F0502020204030204" charset="0"/>
              </a:rPr>
              <a:t> become an</a:t>
            </a:r>
            <a:r>
              <a:rPr lang="en-US" sz="3000" b="0" dirty="0">
                <a:solidFill>
                  <a:schemeClr val="accent2">
                    <a:lumMod val="75000"/>
                  </a:schemeClr>
                </a:solidFill>
                <a:latin typeface="Calibri" panose="020F0502020204030204" charset="0"/>
                <a:cs typeface="Calibri" panose="020F0502020204030204" charset="0"/>
              </a:rPr>
              <a:t> </a:t>
            </a:r>
            <a:r>
              <a:rPr sz="3000" b="0" dirty="0">
                <a:solidFill>
                  <a:schemeClr val="accent2">
                    <a:lumMod val="75000"/>
                  </a:schemeClr>
                </a:solidFill>
                <a:latin typeface="Calibri" panose="020F0502020204030204" charset="0"/>
                <a:cs typeface="Calibri" panose="020F0502020204030204" charset="0"/>
              </a:rPr>
              <a:t>integrated service.</a:t>
            </a:r>
            <a:r>
              <a:rPr lang="en-US" altLang="en-GB" sz="3000" b="0" dirty="0">
                <a:solidFill>
                  <a:schemeClr val="accent2">
                    <a:lumMod val="75000"/>
                  </a:schemeClr>
                </a:solidFill>
                <a:latin typeface="Calibri" panose="020F0502020204030204" charset="0"/>
                <a:cs typeface="Calibri" panose="020F0502020204030204" charset="0"/>
              </a:rPr>
              <a:t>   </a:t>
            </a:r>
            <a:endParaRPr lang="zh-CN" altLang="en-US" sz="3000" b="0"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6770"/>
            <a:ext cx="8977630" cy="5911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Key points</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本章要点</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9535" y="1489710"/>
            <a:ext cx="8976995" cy="36709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2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Software engineering is an engineering discipline that is concerned with all aspects of software production.</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Essential software product attributes are maintainability, dependability and security, efficiency and acceptability.</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12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 high-level activities of specification, development, validation and evolution are part of all software processes.</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5015"/>
            <a:ext cx="8977630" cy="5911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Key points</a:t>
            </a:r>
            <a:r>
              <a:rPr lang="en-US" altLang="zh-CN" sz="3000" dirty="0">
                <a:solidFill>
                  <a:schemeClr val="accent1">
                    <a:lumMod val="75000"/>
                  </a:schemeClr>
                </a:solidFill>
                <a:ea typeface="宋体" panose="02010600030101010101" pitchFamily="2" charset="-122"/>
                <a:sym typeface="+mn-ea"/>
              </a:rPr>
              <a:t>        cont’d</a:t>
            </a:r>
            <a:endParaRPr lang="en-US" altLang="zh-CN"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368236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  Introduction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33985" y="1346200"/>
            <a:ext cx="8863965" cy="50234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There are many different types of system and each requires appropriate software engineering tools and techniques for their development. </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The fundamental ideas of software engineering are applicable to all types of software system. </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Software engineers have responsibilities to the engineering profession and society. They should not simply be concerned with technical issues.</a:t>
            </a:r>
            <a:endParaRPr lang="en-GB" sz="3000" b="0" dirty="0">
              <a:solidFill>
                <a:schemeClr val="accent2">
                  <a:lumMod val="75000"/>
                </a:schemeClr>
              </a:solidFill>
              <a:latin typeface="Calibri" panose="020F0502020204030204" charset="0"/>
              <a:cs typeface="Calibri" panose="020F0502020204030204" charset="0"/>
            </a:endParaRPr>
          </a:p>
          <a:p>
            <a:pPr>
              <a:lnSpc>
                <a:spcPct val="90000"/>
              </a:lnSpc>
              <a:spcBef>
                <a:spcPts val="1000"/>
              </a:spcBef>
              <a:spcAft>
                <a:spcPts val="0"/>
              </a:spcAft>
            </a:pPr>
            <a:r>
              <a:rPr lang="en-US" altLang="en-GB" sz="3000" b="0" dirty="0">
                <a:solidFill>
                  <a:schemeClr val="accent2">
                    <a:lumMod val="75000"/>
                  </a:schemeClr>
                </a:solidFill>
                <a:latin typeface="Calibri" panose="020F0502020204030204" charset="0"/>
                <a:cs typeface="Calibri" panose="020F0502020204030204" charset="0"/>
              </a:rPr>
              <a:t> </a:t>
            </a:r>
            <a:r>
              <a:rPr lang="en-GB" sz="3000" b="0" dirty="0">
                <a:solidFill>
                  <a:schemeClr val="accent2">
                    <a:lumMod val="75000"/>
                  </a:schemeClr>
                </a:solidFill>
                <a:latin typeface="Calibri" panose="020F0502020204030204" charset="0"/>
                <a:cs typeface="Calibri" panose="020F0502020204030204" charset="0"/>
              </a:rPr>
              <a:t>Professional societies publish codes of conduct which set out the standards of behaviour expected of their members.</a:t>
            </a:r>
            <a:endParaRPr lang="en-GB" sz="3000" b="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TABLE_ENDDRAG_ORIGIN_RECT" val="700*268"/>
  <p:tag name="TABLE_ENDDRAG_RECT" val="9*132*700*268"/>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TABLE_ENDDRAG_ORIGIN_RECT" val="704*399"/>
  <p:tag name="TABLE_ENDDRAG_RECT" val="7*132*704*399"/>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TABLE_ENDDRAG_ORIGIN_RECT" val="706*273"/>
  <p:tag name="TABLE_ENDDRAG_RECT" val="7*142*706*273"/>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TABLE_ENDDRAG_ORIGIN_RECT" val="707*455"/>
  <p:tag name="TABLE_ENDDRAG_RECT" val="6*104*707*455"/>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31939</Words>
  <Application>WPS 演示</Application>
  <PresentationFormat>信纸(8.5x11 英寸)</PresentationFormat>
  <Paragraphs>655</Paragraphs>
  <Slides>66</Slides>
  <Notes>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66</vt:i4>
      </vt:variant>
    </vt:vector>
  </HeadingPairs>
  <TitlesOfParts>
    <vt:vector size="82" baseType="lpstr">
      <vt:lpstr>Arial</vt:lpstr>
      <vt:lpstr>宋体</vt:lpstr>
      <vt:lpstr>Wingdings</vt:lpstr>
      <vt:lpstr>Times New Roman</vt:lpstr>
      <vt:lpstr>黑体</vt:lpstr>
      <vt:lpstr>仿宋</vt:lpstr>
      <vt:lpstr>Symbol</vt:lpstr>
      <vt:lpstr>Symbol</vt:lpstr>
      <vt:lpstr>Calibri</vt:lpstr>
      <vt:lpstr>Arial</vt:lpstr>
      <vt:lpstr>MS PGothic</vt:lpstr>
      <vt:lpstr>微软雅黑</vt:lpstr>
      <vt:lpstr>Arial Unicode MS</vt:lpstr>
      <vt:lpstr>Times New Roman</vt:lpstr>
      <vt:lpstr>华文新魏</vt:lpstr>
      <vt:lpstr>CS152-SP98</vt:lpstr>
      <vt:lpstr> Software Engineering</vt:lpstr>
      <vt:lpstr>Course Introduction</vt:lpstr>
      <vt:lpstr>课程介绍</vt:lpstr>
      <vt:lpstr>课程介绍</vt:lpstr>
      <vt:lpstr>课程介绍</vt:lpstr>
      <vt:lpstr>课程介绍</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PowerPoint 演示文稿</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lpstr>Chap. 1  Introduction</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2071</cp:revision>
  <cp:lastPrinted>1999-08-22T22:40:00Z</cp:lastPrinted>
  <dcterms:created xsi:type="dcterms:W3CDTF">1997-08-19T16:58:00Z</dcterms:created>
  <dcterms:modified xsi:type="dcterms:W3CDTF">2025-09-11T08:21:50Z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3E2B1C6E25C54BFF8474069605F54195_13</vt:lpwstr>
  </property>
</Properties>
</file>