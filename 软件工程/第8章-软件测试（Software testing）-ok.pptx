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49"/>
  </p:handoutMasterIdLst>
  <p:sldIdLst>
    <p:sldId id="256" r:id="rId3"/>
    <p:sldId id="1597" r:id="rId5"/>
    <p:sldId id="1826" r:id="rId6"/>
    <p:sldId id="1827" r:id="rId7"/>
    <p:sldId id="1828" r:id="rId8"/>
    <p:sldId id="1830" r:id="rId9"/>
    <p:sldId id="1831" r:id="rId10"/>
    <p:sldId id="1884" r:id="rId11"/>
    <p:sldId id="1832" r:id="rId12"/>
    <p:sldId id="1833" r:id="rId13"/>
    <p:sldId id="1834" r:id="rId14"/>
    <p:sldId id="1836" r:id="rId15"/>
    <p:sldId id="1837" r:id="rId16"/>
    <p:sldId id="1838" r:id="rId17"/>
    <p:sldId id="1839" r:id="rId18"/>
    <p:sldId id="1840" r:id="rId19"/>
    <p:sldId id="1841" r:id="rId20"/>
    <p:sldId id="1843" r:id="rId21"/>
    <p:sldId id="1844" r:id="rId22"/>
    <p:sldId id="1845" r:id="rId23"/>
    <p:sldId id="1846" r:id="rId24"/>
    <p:sldId id="1847" r:id="rId25"/>
    <p:sldId id="1848" r:id="rId26"/>
    <p:sldId id="1849" r:id="rId27"/>
    <p:sldId id="1850" r:id="rId28"/>
    <p:sldId id="1851" r:id="rId29"/>
    <p:sldId id="1852" r:id="rId30"/>
    <p:sldId id="1929" r:id="rId31"/>
    <p:sldId id="1853" r:id="rId32"/>
    <p:sldId id="1854" r:id="rId33"/>
    <p:sldId id="1856" r:id="rId34"/>
    <p:sldId id="1855" r:id="rId35"/>
    <p:sldId id="1857" r:id="rId36"/>
    <p:sldId id="1858" r:id="rId37"/>
    <p:sldId id="1859" r:id="rId38"/>
    <p:sldId id="1860" r:id="rId39"/>
    <p:sldId id="1861" r:id="rId40"/>
    <p:sldId id="1862" r:id="rId41"/>
    <p:sldId id="1863" r:id="rId42"/>
    <p:sldId id="1864" r:id="rId43"/>
    <p:sldId id="1865" r:id="rId44"/>
    <p:sldId id="1866" r:id="rId45"/>
    <p:sldId id="1867" r:id="rId46"/>
    <p:sldId id="1868" r:id="rId47"/>
    <p:sldId id="1877" r:id="rId48"/>
  </p:sldIdLst>
  <p:sldSz cx="9144000" cy="6858000" type="letter"/>
  <p:notesSz cx="9163050" cy="6877050"/>
  <p:custDataLst>
    <p:tags r:id="rId53"/>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21" userDrawn="1">
          <p15:clr>
            <a:srgbClr val="A4A3A4"/>
          </p15:clr>
        </p15:guide>
        <p15:guide id="2" pos="28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CC0000"/>
    <a:srgbClr val="134AD5"/>
    <a:srgbClr val="B3380D"/>
    <a:srgbClr val="E6E6E6"/>
    <a:srgbClr val="660066"/>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21"/>
        <p:guide pos="2873"/>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3" Type="http://schemas.openxmlformats.org/officeDocument/2006/relationships/tags" Target="tags/tag85.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2.xml"/><Relationship Id="rId49" Type="http://schemas.openxmlformats.org/officeDocument/2006/relationships/handoutMaster" Target="handoutMasters/handoutMaster1.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tags" Target="../tags/tag18.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png"/><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tags" Target="../tags/tag32.xml"/><Relationship Id="rId1" Type="http://schemas.openxmlformats.org/officeDocument/2006/relationships/tags" Target="../tags/tag31.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4.xml"/><Relationship Id="rId1" Type="http://schemas.openxmlformats.org/officeDocument/2006/relationships/tags" Target="../tags/tag43.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tags" Target="../tags/tag45.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openxmlformats.org/officeDocument/2006/relationships/tags" Target="../tags/tag51.xml"/><Relationship Id="rId1" Type="http://schemas.openxmlformats.org/officeDocument/2006/relationships/tags" Target="../tags/tag50.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tags" Target="../tags/tag56.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9.xml"/><Relationship Id="rId1" Type="http://schemas.openxmlformats.org/officeDocument/2006/relationships/tags" Target="../tags/tag58.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tags" Target="../tags/tag60.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3.xml"/><Relationship Id="rId1" Type="http://schemas.openxmlformats.org/officeDocument/2006/relationships/tags" Target="../tags/tag62.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tags" Target="../tags/tag64.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tags" Target="../tags/tag69.xml"/><Relationship Id="rId1" Type="http://schemas.openxmlformats.org/officeDocument/2006/relationships/tags" Target="../tags/tag6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tags" Target="../tags/tag77.xml"/><Relationship Id="rId1" Type="http://schemas.openxmlformats.org/officeDocument/2006/relationships/tags" Target="../tags/tag76.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9.xml"/><Relationship Id="rId1" Type="http://schemas.openxmlformats.org/officeDocument/2006/relationships/tags" Target="../tags/tag78.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tags" Target="../tags/tag80.xml"/></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1673543" y="1693228"/>
            <a:ext cx="5869940" cy="1096645"/>
          </a:xfrm>
        </p:spPr>
        <p:txBody>
          <a:bodyPr vert="horz" wrap="none" lIns="63500" tIns="25400" rIns="63500" bIns="25400" anchor="ctr" anchorCtr="0">
            <a:spAutoFit/>
          </a:bodyPr>
          <a:p>
            <a:pPr algn="ctr">
              <a:lnSpc>
                <a:spcPct val="100000"/>
              </a:lnSpc>
              <a:buClrTx/>
              <a:buSzTx/>
              <a:buFontTx/>
            </a:pPr>
            <a:br>
              <a:rPr lang="en-US" altLang="zh-CN" dirty="0">
                <a:latin typeface="+mj-lt"/>
                <a:ea typeface="宋体" panose="02010600030101010101" pitchFamily="2" charset="-122"/>
                <a:cs typeface="+mj-cs"/>
              </a:rPr>
            </a:br>
            <a:r>
              <a:rPr lang="en-US" altLang="zh-CN" sz="4400" dirty="0">
                <a:solidFill>
                  <a:srgbClr val="000066"/>
                </a:solidFill>
                <a:ea typeface="黑体" panose="02010609060101010101" pitchFamily="49" charset="-122"/>
                <a:cs typeface="+mj-lt"/>
              </a:rPr>
              <a:t>Software Engineering</a:t>
            </a:r>
            <a:endParaRPr lang="en-US" altLang="zh-CN" sz="4400" dirty="0">
              <a:solidFill>
                <a:srgbClr val="000066"/>
              </a:solidFill>
              <a:ea typeface="黑体" panose="02010609060101010101" pitchFamily="49" charset="-122"/>
              <a:cs typeface="+mj-lt"/>
            </a:endParaRPr>
          </a:p>
        </p:txBody>
      </p:sp>
      <p:sp>
        <p:nvSpPr>
          <p:cNvPr id="9219" name="Text Box 8"/>
          <p:cNvSpPr txBox="1"/>
          <p:nvPr/>
        </p:nvSpPr>
        <p:spPr>
          <a:xfrm>
            <a:off x="252095" y="3197860"/>
            <a:ext cx="8641080" cy="157988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Wei-Min Wu</a:t>
            </a:r>
            <a:r>
              <a:rPr lang="zh-CN" altLang="en-US" b="0" dirty="0">
                <a:solidFill>
                  <a:srgbClr val="005400"/>
                </a:solidFill>
                <a:latin typeface="Arial" panose="020B0604020202020204" pitchFamily="34" charset="0"/>
                <a:ea typeface="宋体" panose="02010600030101010101" pitchFamily="2" charset="-122"/>
              </a:rPr>
              <a:t>（</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School of Petroleum</a:t>
            </a:r>
            <a:endParaRPr lang="en-US" altLang="zh-CN" sz="2800" b="0" dirty="0">
              <a:solidFill>
                <a:srgbClr val="003300"/>
              </a:solidFill>
              <a:latin typeface="Arial" panose="020B0604020202020204" pitchFamily="34" charset="0"/>
              <a:ea typeface="宋体" panose="02010600030101010101" pitchFamily="2" charset="-122"/>
            </a:endParaRPr>
          </a:p>
          <a:p>
            <a:pPr eaLnBrk="0" hangingPunct="0">
              <a:spcBef>
                <a:spcPts val="0"/>
              </a:spcBef>
            </a:pPr>
            <a:r>
              <a:rPr lang="en-US" altLang="zh-CN" sz="2800" b="0" dirty="0">
                <a:solidFill>
                  <a:srgbClr val="003300"/>
                </a:solidFill>
                <a:latin typeface="Arial" panose="020B0604020202020204" pitchFamily="34" charset="0"/>
                <a:ea typeface="宋体" panose="02010600030101010101" pitchFamily="2" charset="-122"/>
              </a:rPr>
              <a:t>    China University of Petroleum - Beijing at Karamay</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6589395" y="6022340"/>
            <a:ext cx="202247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Fall, 2025</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Topics covered</a:t>
            </a:r>
            <a:endParaRPr lang="zh-CN" altLang="en-US" b="1" dirty="0" smtClean="0">
              <a:solidFill>
                <a:srgbClr val="134AD5"/>
              </a:solidFill>
              <a:latin typeface="+mn-lt"/>
              <a:ea typeface="宋体" panose="02010600030101010101" pitchFamily="2" charset="-122"/>
              <a:cs typeface="+mn-cs"/>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57200" y="1528445"/>
            <a:ext cx="8229600" cy="274256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Development testing     </a:t>
            </a:r>
            <a:r>
              <a:rPr 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开发测试</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Test-driven development  </a:t>
            </a:r>
            <a:r>
              <a:rPr 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测试驱动的开发</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Release testing </a:t>
            </a:r>
            <a:r>
              <a:rPr lang="en-US" dirty="0" smtClean="0">
                <a:solidFill>
                  <a:schemeClr val="accent1">
                    <a:lumMod val="75000"/>
                  </a:schemeClr>
                </a:solidFill>
                <a:latin typeface="Calibri" panose="020F0502020204030204" charset="0"/>
                <a:cs typeface="Calibri" panose="020F0502020204030204" charset="0"/>
                <a:sym typeface="+mn-ea"/>
              </a:rPr>
              <a:t>(</a:t>
            </a:r>
            <a:r>
              <a:rPr lang="en-US"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sym typeface="+mn-ea"/>
              </a:rPr>
              <a:t>留作自学</a:t>
            </a:r>
            <a:r>
              <a:rPr lang="en-US" dirty="0" smtClean="0">
                <a:solidFill>
                  <a:schemeClr val="accent1">
                    <a:lumMod val="75000"/>
                  </a:schemeClr>
                </a:solidFill>
                <a:latin typeface="Calibri" panose="020F0502020204030204" charset="0"/>
                <a:cs typeface="Calibri" panose="020F0502020204030204" charset="0"/>
                <a:sym typeface="+mn-ea"/>
              </a:rPr>
              <a:t>)</a:t>
            </a:r>
            <a:endParaRPr lang="en-US" sz="2400"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User testing </a:t>
            </a:r>
            <a:r>
              <a:rPr lang="en-US" sz="3200" dirty="0" smtClean="0">
                <a:solidFill>
                  <a:schemeClr val="accent1">
                    <a:lumMod val="75000"/>
                  </a:schemeClr>
                </a:solidFill>
                <a:latin typeface="Calibri" panose="020F0502020204030204" charset="0"/>
                <a:cs typeface="Calibri" panose="020F0502020204030204" charset="0"/>
              </a:rPr>
              <a:t> (</a:t>
            </a:r>
            <a:r>
              <a:rPr lang="en-US" dirty="0" smtClean="0">
                <a:solidFill>
                  <a:schemeClr val="accent1">
                    <a:lumMod val="75000"/>
                  </a:schemeClr>
                </a:solidFill>
                <a:latin typeface="黑体" panose="02010609060101010101" pitchFamily="49" charset="-122"/>
                <a:ea typeface="黑体" panose="02010609060101010101" pitchFamily="49" charset="-122"/>
                <a:cs typeface="Calibri" panose="020F0502020204030204" charset="0"/>
              </a:rPr>
              <a:t>留作自学</a:t>
            </a:r>
            <a:r>
              <a:rPr lang="en-US" sz="3200" dirty="0" smtClean="0">
                <a:solidFill>
                  <a:schemeClr val="accent1">
                    <a:lumMod val="75000"/>
                  </a:schemeClr>
                </a:solidFill>
                <a:latin typeface="Calibri" panose="020F0502020204030204" charset="0"/>
                <a:cs typeface="Calibri" panose="020F0502020204030204" charset="0"/>
              </a:rPr>
              <a:t>)</a:t>
            </a:r>
            <a:endParaRPr lang="en-US" altLang="en-US" sz="3200" dirty="0" smtClean="0">
              <a:solidFill>
                <a:schemeClr val="accent1">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5175"/>
            <a:ext cx="8977630" cy="6216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Program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程序测试</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60960" y="1384935"/>
            <a:ext cx="9004935" cy="423037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Testing is intended to show that a program does what it is intended to do and to discover program defects before it is put into use.</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 含义：展示程序做了其想做之事，在投入使用前发现程序缺陷</a:t>
            </a:r>
            <a:endParaRPr lang="en-US" sz="3200" b="0" dirty="0" smtClean="0">
              <a:solidFill>
                <a:schemeClr val="tx1"/>
              </a:solidFill>
              <a:latin typeface="Calibri" panose="020F0502020204030204" charset="0"/>
              <a:cs typeface="Calibri" panose="020F0502020204030204" charset="0"/>
            </a:endParaRPr>
          </a:p>
          <a:p>
            <a:pPr>
              <a:lnSpc>
                <a:spcPct val="85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When you test software, you execute a program using artificial data.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测试时，使用人造数据执行程序</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You check the results of the test run for errors, anomalies, or information about the program’s non-functional attributes.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检查结果，发现错误、异常、程序的非功能属性信息</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endParaRPr lang="en-US" sz="31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3420"/>
            <a:ext cx="8977630" cy="6216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Program testing goals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程序测试目标</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53975" y="1241425"/>
            <a:ext cx="9033510" cy="55321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Demonstrate to the developer and the customer that the software meets its requirements.</a:t>
            </a:r>
            <a:r>
              <a:rPr lang="en-US" sz="2600" dirty="0" smtClean="0">
                <a:solidFill>
                  <a:schemeClr val="tx2">
                    <a:lumMod val="75000"/>
                    <a:lumOff val="25000"/>
                  </a:schemeClr>
                </a:solidFill>
                <a:latin typeface="Calibri" panose="020F0502020204030204" charset="0"/>
                <a:cs typeface="Calibri" panose="020F0502020204030204" charset="0"/>
              </a:rPr>
              <a:t> </a:t>
            </a:r>
            <a:r>
              <a:rPr lang="en-US" sz="2600" b="0" dirty="0" smtClean="0">
                <a:solidFill>
                  <a:schemeClr val="tx1"/>
                </a:solidFill>
                <a:latin typeface="Calibri" panose="020F0502020204030204" charset="0"/>
                <a:cs typeface="Calibri" panose="020F0502020204030204" charset="0"/>
              </a:rPr>
              <a:t>For </a:t>
            </a:r>
            <a:r>
              <a:rPr lang="en-US" sz="2600" b="0" u="sng" dirty="0" smtClean="0">
                <a:solidFill>
                  <a:schemeClr val="tx1"/>
                </a:solidFill>
                <a:latin typeface="Calibri" panose="020F0502020204030204" charset="0"/>
                <a:cs typeface="Calibri" panose="020F0502020204030204" charset="0"/>
              </a:rPr>
              <a:t>custom software</a:t>
            </a:r>
            <a:r>
              <a:rPr lang="en-US" sz="2600" b="0" dirty="0" smtClean="0">
                <a:solidFill>
                  <a:schemeClr val="tx1"/>
                </a:solidFill>
                <a:latin typeface="Calibri" panose="020F0502020204030204" charset="0"/>
                <a:cs typeface="Calibri" panose="020F0502020204030204" charset="0"/>
              </a:rPr>
              <a:t>, this means that there should be at least one test for every requirement in the requirements document. For </a:t>
            </a:r>
            <a:r>
              <a:rPr lang="en-US" sz="2600" b="0" u="sng" dirty="0" smtClean="0">
                <a:solidFill>
                  <a:schemeClr val="tx1"/>
                </a:solidFill>
                <a:latin typeface="Calibri" panose="020F0502020204030204" charset="0"/>
                <a:cs typeface="Calibri" panose="020F0502020204030204" charset="0"/>
              </a:rPr>
              <a:t>generic software products</a:t>
            </a:r>
            <a:r>
              <a:rPr lang="en-US" sz="2600" b="0" dirty="0" smtClean="0">
                <a:solidFill>
                  <a:schemeClr val="tx1"/>
                </a:solidFill>
                <a:latin typeface="Calibri" panose="020F0502020204030204" charset="0"/>
                <a:cs typeface="Calibri" panose="020F0502020204030204" charset="0"/>
              </a:rPr>
              <a:t>, it means that there should be tests for all of the system features that will be included in the product release. You may also test combinations of features to check for unwanted interactions between them.</a:t>
            </a:r>
            <a:r>
              <a:rPr lang="en-US" sz="2000" b="0" dirty="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展示软件满足需求</a:t>
            </a:r>
            <a:endParaRPr lang="en-US" sz="2000" dirty="0" smtClean="0">
              <a:solidFill>
                <a:schemeClr val="tx2">
                  <a:lumMod val="75000"/>
                  <a:lumOff val="25000"/>
                </a:schemeClr>
              </a:solidFill>
              <a:latin typeface="Calibri" panose="020F0502020204030204" charset="0"/>
              <a:cs typeface="Calibri" panose="020F0502020204030204" charset="0"/>
            </a:endParaRPr>
          </a:p>
          <a:p>
            <a:pPr>
              <a:lnSpc>
                <a:spcPct val="85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Find inputs or input sequences where the behavior of the software is incorrect, undesirable, or does not conform to its specification.</a:t>
            </a:r>
            <a:r>
              <a:rPr lang="en-US" sz="2600" b="0" dirty="0" smtClean="0">
                <a:solidFill>
                  <a:schemeClr val="tx1"/>
                </a:solidFill>
                <a:latin typeface="Calibri" panose="020F0502020204030204" charset="0"/>
                <a:cs typeface="Calibri" panose="020F0502020204030204" charset="0"/>
              </a:rPr>
              <a:t> These are caused by defects (bugs) in the software. When you test software to find defects, you are trying to root out undesirable system behavior such as crashes, unwanted interactions with other systems, incorrect computations, and data corruption.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发现导致故障的输入或输入序列</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42315"/>
            <a:ext cx="8977630" cy="6083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Validation and defect testing</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确认和缺陷测试</a:t>
            </a:r>
            <a:endParaRPr lang="zh-CN" altLang="en-US" sz="24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53975" y="1313180"/>
            <a:ext cx="9012555" cy="517144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The first of these is validation testing, </a:t>
            </a:r>
            <a:r>
              <a:rPr lang="en-US" sz="2800" b="0" dirty="0" smtClean="0">
                <a:solidFill>
                  <a:schemeClr val="tx1"/>
                </a:solidFill>
                <a:latin typeface="Calibri" panose="020F0502020204030204" charset="0"/>
                <a:cs typeface="Calibri" panose="020F0502020204030204" charset="0"/>
              </a:rPr>
              <a:t>where you expect the system to perform correctly using a set of test cases that reflect the system’s expected use.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首先</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：确认测试，期望系统正确执行</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The second is defect testing,</a:t>
            </a:r>
            <a:r>
              <a:rPr lang="en-US" sz="2800" b="0" dirty="0" smtClean="0">
                <a:solidFill>
                  <a:schemeClr val="tx1"/>
                </a:solidFill>
                <a:latin typeface="Calibri" panose="020F0502020204030204" charset="0"/>
                <a:cs typeface="Calibri" panose="020F0502020204030204" charset="0"/>
              </a:rPr>
              <a:t> where the test cases are designed to expose defects. Test cases in defect testing can be deliberately obscure and need not reflect how the system is normally used.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其次</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：缺陷测试，暴露缺陷</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Of course, there is no definite boundary between these two approaches to testing. </a:t>
            </a:r>
            <a:r>
              <a:rPr lang="en-US" sz="2800" b="0" dirty="0" smtClean="0">
                <a:solidFill>
                  <a:schemeClr val="tx1"/>
                </a:solidFill>
                <a:latin typeface="Calibri" panose="020F0502020204030204" charset="0"/>
                <a:cs typeface="Calibri" panose="020F0502020204030204" charset="0"/>
              </a:rPr>
              <a:t>During validation testing, you will find defects in the system; during defect testing, some of the tests will show that the program meets its requirements.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 两者没有明确的边界</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697355" y="66675"/>
            <a:ext cx="7369175" cy="5145405"/>
          </a:xfrm>
          <a:prstGeom prst="rect">
            <a:avLst/>
          </a:prstGeom>
        </p:spPr>
      </p:pic>
      <p:pic>
        <p:nvPicPr>
          <p:cNvPr id="7" name="图片 6"/>
          <p:cNvPicPr>
            <a:picLocks noChangeAspect="1"/>
          </p:cNvPicPr>
          <p:nvPr/>
        </p:nvPicPr>
        <p:blipFill>
          <a:blip r:embed="rId2"/>
          <a:stretch>
            <a:fillRect/>
          </a:stretch>
        </p:blipFill>
        <p:spPr>
          <a:xfrm>
            <a:off x="6209030" y="2330450"/>
            <a:ext cx="2491740" cy="977265"/>
          </a:xfrm>
          <a:prstGeom prst="rect">
            <a:avLst/>
          </a:prstGeom>
        </p:spPr>
      </p:pic>
      <p:sp>
        <p:nvSpPr>
          <p:cNvPr id="8" name="Content Placeholder 2"/>
          <p:cNvSpPr>
            <a:spLocks noGrp="1"/>
          </p:cNvSpPr>
          <p:nvPr/>
        </p:nvSpPr>
        <p:spPr>
          <a:xfrm>
            <a:off x="104140" y="1302385"/>
            <a:ext cx="3025140" cy="274764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Figure 8.1 shows the </a:t>
            </a:r>
            <a:r>
              <a:rPr lang="en-US" sz="2000" b="0" u="sng" dirty="0" smtClean="0">
                <a:solidFill>
                  <a:schemeClr val="tx1"/>
                </a:solidFill>
                <a:latin typeface="Calibri" panose="020F0502020204030204" charset="0"/>
                <a:cs typeface="Calibri" panose="020F0502020204030204" charset="0"/>
              </a:rPr>
              <a:t>differences</a:t>
            </a:r>
            <a:r>
              <a:rPr lang="en-US" sz="2000" b="0" dirty="0" smtClean="0">
                <a:solidFill>
                  <a:schemeClr val="tx1"/>
                </a:solidFill>
                <a:latin typeface="Calibri" panose="020F0502020204030204" charset="0"/>
                <a:cs typeface="Calibri" panose="020F0502020204030204" charset="0"/>
              </a:rPr>
              <a:t> between </a:t>
            </a:r>
            <a:r>
              <a:rPr lang="en-US" sz="2000" b="0" u="sng" dirty="0" smtClean="0">
                <a:solidFill>
                  <a:schemeClr val="tx1"/>
                </a:solidFill>
                <a:latin typeface="Calibri" panose="020F0502020204030204" charset="0"/>
                <a:cs typeface="Calibri" panose="020F0502020204030204" charset="0"/>
              </a:rPr>
              <a:t>validation testing</a:t>
            </a:r>
            <a:r>
              <a:rPr lang="en-US" sz="2000" b="0" dirty="0" smtClean="0">
                <a:solidFill>
                  <a:schemeClr val="tx1"/>
                </a:solidFill>
                <a:latin typeface="Calibri" panose="020F0502020204030204" charset="0"/>
                <a:cs typeface="Calibri" panose="020F0502020204030204" charset="0"/>
              </a:rPr>
              <a:t> and </a:t>
            </a:r>
            <a:r>
              <a:rPr lang="en-US" sz="2000" b="0" u="sng" dirty="0" smtClean="0">
                <a:solidFill>
                  <a:schemeClr val="tx1"/>
                </a:solidFill>
                <a:latin typeface="Calibri" panose="020F0502020204030204" charset="0"/>
                <a:cs typeface="Calibri" panose="020F0502020204030204" charset="0"/>
              </a:rPr>
              <a:t>defect testing</a:t>
            </a:r>
            <a:r>
              <a:rPr lang="en-US" sz="2000" b="0" dirty="0" smtClean="0">
                <a:solidFill>
                  <a:schemeClr val="tx1"/>
                </a:solidFill>
                <a:latin typeface="Calibri" panose="020F0502020204030204" charset="0"/>
                <a:cs typeface="Calibri" panose="020F0502020204030204" charset="0"/>
              </a:rPr>
              <a:t>.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Think of the system being tested as a black box.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a:t>
            </a:r>
            <a:r>
              <a:rPr lang="en-US" sz="2000" b="0" dirty="0" smtClean="0">
                <a:solidFill>
                  <a:schemeClr val="tx1"/>
                </a:solidFill>
                <a:latin typeface="Calibri" panose="020F0502020204030204" charset="0"/>
                <a:cs typeface="Calibri" panose="020F0502020204030204" charset="0"/>
                <a:sym typeface="+mn-ea"/>
              </a:rPr>
              <a:t>The system accepts inputs from some input set I and generates outputs in an output set O. </a:t>
            </a:r>
            <a:endParaRPr lang="en-US" sz="2000" b="0" dirty="0" smtClean="0">
              <a:solidFill>
                <a:schemeClr val="tx1"/>
              </a:solidFill>
              <a:latin typeface="Calibri" panose="020F0502020204030204" charset="0"/>
              <a:cs typeface="Calibri" panose="020F0502020204030204" charset="0"/>
            </a:endParaRPr>
          </a:p>
        </p:txBody>
      </p:sp>
      <p:sp>
        <p:nvSpPr>
          <p:cNvPr id="9" name="Content Placeholder 2"/>
          <p:cNvSpPr>
            <a:spLocks noGrp="1"/>
          </p:cNvSpPr>
          <p:nvPr/>
        </p:nvSpPr>
        <p:spPr>
          <a:xfrm>
            <a:off x="103505" y="5304155"/>
            <a:ext cx="8910955" cy="143891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Some of the outputs will be erroneous. These are the outputs in set Oe that are generated by the system in response to inputs in the set Ie. The priority in defect testing is to find those inputs in Ie because these reveal problems with the system.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Validation testing involves testing with correct inputs that are outside Ie. These stimulate the system to generate the expected correct outputs. </a:t>
            </a:r>
            <a:endParaRPr lang="en-US" sz="20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7720"/>
            <a:ext cx="8977630" cy="6508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en-US" altLang="zh-CN" sz="3200" dirty="0">
                <a:solidFill>
                  <a:schemeClr val="accent1">
                    <a:lumMod val="75000"/>
                  </a:schemeClr>
                </a:solidFill>
                <a:ea typeface="宋体" panose="02010600030101010101" pitchFamily="2" charset="-122"/>
                <a:sym typeface="+mn-ea"/>
              </a:rPr>
              <a:t>More about testing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更多</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关于测试</a:t>
            </a:r>
            <a:r>
              <a:rPr lang="en-US" altLang="zh-CN" dirty="0">
                <a:solidFill>
                  <a:schemeClr val="accent1">
                    <a:lumMod val="75000"/>
                  </a:schemeClr>
                </a:solidFill>
                <a:latin typeface="黑体" panose="02010609060101010101" pitchFamily="49" charset="-122"/>
                <a:ea typeface="黑体" panose="02010609060101010101" pitchFamily="49" charset="-122"/>
                <a:sym typeface="+mn-ea"/>
              </a:rPr>
              <a:t> ...</a:t>
            </a:r>
            <a:r>
              <a:rPr lang="en-US" altLang="zh-CN" sz="3200" dirty="0">
                <a:solidFill>
                  <a:schemeClr val="accent1">
                    <a:lumMod val="75000"/>
                  </a:schemeClr>
                </a:solidFill>
                <a:ea typeface="宋体" panose="02010600030101010101" pitchFamily="2" charset="-122"/>
                <a:sym typeface="+mn-ea"/>
              </a:rPr>
              <a:t>   </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48895" y="1384935"/>
            <a:ext cx="9017635" cy="45770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Testing cannot demonstrate that the software is free of defects or that it will behave as specified in every circumstance.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测试不能表明软件没有缺陷,或者在任何环境下都如愿工作</a:t>
            </a:r>
            <a:endParaRPr lang="en-US" sz="3200" dirty="0" smtClean="0">
              <a:solidFill>
                <a:schemeClr val="tx2">
                  <a:lumMod val="75000"/>
                  <a:lumOff val="2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It is always possible that a test you have overlooked could discover further problems with the system.  </a:t>
            </a:r>
            <a:endParaRPr lang="en-US" sz="2800" b="0" dirty="0" smtClean="0">
              <a:solidFill>
                <a:schemeClr val="tx1"/>
              </a:solidFill>
              <a:latin typeface="Calibri" panose="020F0502020204030204" charset="0"/>
              <a:cs typeface="Calibri" panose="020F0502020204030204" charset="0"/>
            </a:endParaRPr>
          </a:p>
          <a:p>
            <a:pPr lvl="1">
              <a:lnSpc>
                <a:spcPct val="85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 As Edsger Dijkstra eloquently stated: “Testing can only show the presence of errors, not their absence”.</a:t>
            </a:r>
            <a:endParaRPr lang="en-US" sz="2800" b="0" dirty="0" smtClean="0">
              <a:solidFill>
                <a:schemeClr val="tx1"/>
              </a:solidFill>
              <a:latin typeface="Calibri" panose="020F0502020204030204" charset="0"/>
              <a:cs typeface="Calibri" panose="020F0502020204030204" charset="0"/>
            </a:endParaRPr>
          </a:p>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Testing is part of a broader process of software verification and validation (V &amp; V).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是更广阔的软件</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验证和确认</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的一部分</a:t>
            </a:r>
            <a:b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br>
            <a:endParaRPr lang="en-US" sz="32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5965"/>
            <a:ext cx="8977630" cy="57658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Verification vs validation</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验证 vs 确认</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88900" y="1313180"/>
            <a:ext cx="8977630" cy="54260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sym typeface="+mn-ea"/>
              </a:rPr>
              <a:t> Verification and validation are not the same thing, although they are often confused.</a:t>
            </a:r>
            <a:r>
              <a:rPr lang="en-US" sz="3100" dirty="0" smtClean="0">
                <a:solidFill>
                  <a:schemeClr val="tx2">
                    <a:lumMod val="75000"/>
                    <a:lumOff val="25000"/>
                  </a:schemeClr>
                </a:solidFill>
                <a:latin typeface="Calibri" panose="020F0502020204030204" charset="0"/>
                <a:cs typeface="Calibri" panose="020F0502020204030204" charset="0"/>
                <a:sym typeface="+mn-ea"/>
              </a:rPr>
              <a:t> </a:t>
            </a:r>
            <a:r>
              <a:rPr lang="en-US" sz="2000" dirty="0" smtClean="0">
                <a:solidFill>
                  <a:schemeClr val="tx2">
                    <a:lumMod val="75000"/>
                    <a:lumOff val="25000"/>
                  </a:schemeClr>
                </a:solidFill>
                <a:latin typeface="Calibri" panose="020F0502020204030204" charset="0"/>
                <a:cs typeface="Calibri" panose="020F0502020204030204" charset="0"/>
                <a:sym typeface="+mn-ea"/>
              </a:rPr>
              <a:t>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验证与确认不是一回事，经常混淆</a:t>
            </a:r>
            <a:endParaRPr lang="en-US" sz="20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82000"/>
              </a:lnSpc>
              <a:spcBef>
                <a:spcPts val="600"/>
              </a:spcBef>
              <a:spcAft>
                <a:spcPts val="0"/>
              </a:spcAft>
            </a:pPr>
            <a:r>
              <a:rPr lang="en-US" sz="2800" dirty="0" smtClean="0">
                <a:solidFill>
                  <a:schemeClr val="tx1"/>
                </a:solidFill>
                <a:latin typeface="Calibri" panose="020F0502020204030204" charset="0"/>
                <a:cs typeface="Calibri" panose="020F0502020204030204" charset="0"/>
              </a:rPr>
              <a:t>Validation</a:t>
            </a:r>
            <a:r>
              <a:rPr lang="en-US" sz="2800" b="0" dirty="0" smtClean="0">
                <a:solidFill>
                  <a:schemeClr val="tx1"/>
                </a:solidFill>
                <a:latin typeface="Calibri" panose="020F0502020204030204" charset="0"/>
                <a:cs typeface="Calibri" panose="020F0502020204030204" charset="0"/>
              </a:rPr>
              <a:t>: </a:t>
            </a:r>
            <a:r>
              <a:rPr lang="en-US" sz="2800" b="0" dirty="0" smtClean="0">
                <a:solidFill>
                  <a:schemeClr val="tx1"/>
                </a:solidFill>
                <a:latin typeface="Calibri" panose="020F0502020204030204" charset="0"/>
                <a:cs typeface="Calibri" panose="020F0502020204030204" charset="0"/>
                <a:sym typeface="+mn-ea"/>
              </a:rPr>
              <a:t>"Are we building the right product ? ”.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确认</a:t>
            </a:r>
            <a:endParaRPr lang="en-US" sz="2800" dirty="0" smtClean="0">
              <a:solidFill>
                <a:schemeClr val="tx2">
                  <a:lumMod val="75000"/>
                  <a:lumOff val="25000"/>
                </a:schemeClr>
              </a:solidFill>
              <a:latin typeface="Calibri" panose="020F0502020204030204" charset="0"/>
              <a:cs typeface="Calibri" panose="020F0502020204030204" charset="0"/>
            </a:endParaRPr>
          </a:p>
          <a:p>
            <a:pPr lvl="1">
              <a:lnSpc>
                <a:spcPct val="82000"/>
              </a:lnSpc>
              <a:spcBef>
                <a:spcPts val="600"/>
              </a:spcBef>
              <a:spcAft>
                <a:spcPts val="0"/>
              </a:spcAft>
            </a:pPr>
            <a:r>
              <a:rPr lang="en-US" sz="2800" dirty="0" smtClean="0">
                <a:solidFill>
                  <a:schemeClr val="tx1"/>
                </a:solidFill>
                <a:latin typeface="Calibri" panose="020F0502020204030204" charset="0"/>
                <a:cs typeface="Calibri" panose="020F0502020204030204" charset="0"/>
              </a:rPr>
              <a:t>Verification</a:t>
            </a:r>
            <a:r>
              <a:rPr lang="en-US" sz="2800" b="0" dirty="0" smtClean="0">
                <a:solidFill>
                  <a:schemeClr val="tx1"/>
                </a:solidFill>
                <a:latin typeface="Calibri" panose="020F0502020204030204" charset="0"/>
                <a:cs typeface="Calibri" panose="020F0502020204030204" charset="0"/>
              </a:rPr>
              <a:t>:</a:t>
            </a:r>
            <a:r>
              <a:rPr lang="en-US" sz="2800" dirty="0" smtClean="0">
                <a:solidFill>
                  <a:schemeClr val="tx2">
                    <a:lumMod val="75000"/>
                    <a:lumOff val="25000"/>
                  </a:schemeClr>
                </a:solidFill>
                <a:latin typeface="Calibri" panose="020F0502020204030204" charset="0"/>
                <a:cs typeface="Calibri" panose="020F0502020204030204" charset="0"/>
              </a:rPr>
              <a:t> </a:t>
            </a:r>
            <a:r>
              <a:rPr lang="en-US" sz="2800" b="0" dirty="0" smtClean="0">
                <a:solidFill>
                  <a:schemeClr val="tx1"/>
                </a:solidFill>
                <a:latin typeface="Calibri" panose="020F0502020204030204" charset="0"/>
                <a:cs typeface="Calibri" panose="020F0502020204030204" charset="0"/>
              </a:rPr>
              <a:t>"Are we building the product right ?”.</a:t>
            </a:r>
            <a:r>
              <a:rPr lang="en-US" sz="2800" b="0" dirty="0" smtClean="0">
                <a:solidFill>
                  <a:srgbClr val="C00000"/>
                </a:solidFill>
                <a:latin typeface="Calibri" panose="020F0502020204030204" charset="0"/>
                <a:cs typeface="Calibri" panose="020F0502020204030204" charset="0"/>
              </a:rPr>
              <a:t>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验证</a:t>
            </a:r>
            <a:endParaRPr lang="en-US" sz="2800" b="0" dirty="0" smtClean="0">
              <a:solidFill>
                <a:schemeClr val="tx1"/>
              </a:solidFill>
              <a:latin typeface="Calibri" panose="020F0502020204030204" charset="0"/>
              <a:cs typeface="Calibri" panose="020F0502020204030204" charset="0"/>
            </a:endParaRPr>
          </a:p>
          <a:p>
            <a:pPr lvl="0" algn="l">
              <a:lnSpc>
                <a:spcPct val="82000"/>
              </a:lnSpc>
              <a:spcBef>
                <a:spcPts val="600"/>
              </a:spcBef>
              <a:spcAft>
                <a:spcPts val="0"/>
              </a:spcAft>
            </a:pPr>
            <a:r>
              <a:rPr lang="en-US" sz="3000" dirty="0" smtClean="0">
                <a:solidFill>
                  <a:schemeClr val="tx2">
                    <a:lumMod val="75000"/>
                    <a:lumOff val="25000"/>
                  </a:schemeClr>
                </a:solidFill>
                <a:latin typeface="Calibri" panose="020F0502020204030204" charset="0"/>
                <a:cs typeface="Calibri" panose="020F0502020204030204" charset="0"/>
                <a:sym typeface="+mn-ea"/>
              </a:rPr>
              <a:t> </a:t>
            </a:r>
            <a:r>
              <a:rPr lang="en-US" sz="3000" dirty="0" smtClean="0">
                <a:solidFill>
                  <a:schemeClr val="tx2">
                    <a:lumMod val="75000"/>
                    <a:lumOff val="25000"/>
                  </a:schemeClr>
                </a:solidFill>
                <a:latin typeface="Calibri" panose="020F0502020204030204" charset="0"/>
                <a:cs typeface="Calibri" panose="020F0502020204030204" charset="0"/>
              </a:rPr>
              <a:t>Software verification is the process of checking that the software meets its </a:t>
            </a:r>
            <a:r>
              <a:rPr lang="en-US" sz="3000" u="sng" dirty="0" smtClean="0">
                <a:solidFill>
                  <a:schemeClr val="tx2">
                    <a:lumMod val="75000"/>
                    <a:lumOff val="25000"/>
                  </a:schemeClr>
                </a:solidFill>
                <a:latin typeface="Calibri" panose="020F0502020204030204" charset="0"/>
                <a:cs typeface="Calibri" panose="020F0502020204030204" charset="0"/>
              </a:rPr>
              <a:t>stated</a:t>
            </a:r>
            <a:r>
              <a:rPr lang="en-US" sz="3000" dirty="0" smtClean="0">
                <a:solidFill>
                  <a:schemeClr val="tx2">
                    <a:lumMod val="75000"/>
                    <a:lumOff val="25000"/>
                  </a:schemeClr>
                </a:solidFill>
                <a:latin typeface="Calibri" panose="020F0502020204030204" charset="0"/>
                <a:cs typeface="Calibri" panose="020F0502020204030204" charset="0"/>
              </a:rPr>
              <a:t> functional and non-functional requirements.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验证:软件满足所述的功能</a:t>
            </a:r>
            <a:r>
              <a:rPr lang="en-US" altLang="zh-CN" sz="2000" dirty="0" smtClean="0">
                <a:solidFill>
                  <a:srgbClr val="C00000"/>
                </a:solidFill>
                <a:latin typeface="黑体" panose="02010609060101010101" pitchFamily="49" charset="-122"/>
                <a:ea typeface="黑体" panose="02010609060101010101" pitchFamily="49" charset="-122"/>
                <a:cs typeface="Calibri" panose="020F0502020204030204" charset="0"/>
              </a:rPr>
              <a:t>/</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非功能需求</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0" algn="l">
              <a:lnSpc>
                <a:spcPct val="82000"/>
              </a:lnSpc>
              <a:spcBef>
                <a:spcPts val="600"/>
              </a:spcBef>
              <a:spcAft>
                <a:spcPts val="0"/>
              </a:spcAft>
              <a:buClrTx/>
              <a:buSzTx/>
            </a:pPr>
            <a:r>
              <a:rPr lang="en-US" sz="3000" dirty="0" smtClean="0">
                <a:solidFill>
                  <a:schemeClr val="tx2">
                    <a:lumMod val="75000"/>
                    <a:lumOff val="25000"/>
                  </a:schemeClr>
                </a:solidFill>
                <a:latin typeface="Calibri" panose="020F0502020204030204" charset="0"/>
                <a:cs typeface="Calibri" panose="020F0502020204030204" charset="0"/>
              </a:rPr>
              <a:t> The aim of software validation is to ensure that the software meets the customer’s </a:t>
            </a:r>
            <a:r>
              <a:rPr lang="en-US" sz="3000" u="sng" dirty="0" smtClean="0">
                <a:solidFill>
                  <a:schemeClr val="tx2">
                    <a:lumMod val="75000"/>
                    <a:lumOff val="25000"/>
                  </a:schemeClr>
                </a:solidFill>
                <a:latin typeface="Calibri" panose="020F0502020204030204" charset="0"/>
                <a:cs typeface="Calibri" panose="020F0502020204030204" charset="0"/>
              </a:rPr>
              <a:t>expectation</a:t>
            </a:r>
            <a:r>
              <a:rPr lang="en-US" sz="3000" dirty="0" smtClean="0">
                <a:solidFill>
                  <a:schemeClr val="tx2">
                    <a:lumMod val="75000"/>
                    <a:lumOff val="25000"/>
                  </a:schemeClr>
                </a:solidFill>
                <a:latin typeface="Calibri" panose="020F0502020204030204" charset="0"/>
                <a:cs typeface="Calibri" panose="020F0502020204030204" charset="0"/>
              </a:rPr>
              <a:t>s.</a:t>
            </a:r>
            <a:r>
              <a:rPr lang="en-US" sz="3100" dirty="0" smtClean="0">
                <a:solidFill>
                  <a:schemeClr val="tx2">
                    <a:lumMod val="75000"/>
                    <a:lumOff val="25000"/>
                  </a:schemeClr>
                </a:solidFill>
                <a:latin typeface="Calibri" panose="020F0502020204030204" charset="0"/>
                <a:cs typeface="Calibri" panose="020F0502020204030204" charset="0"/>
              </a:rPr>
              <a:t> </a:t>
            </a:r>
            <a:r>
              <a:rPr lang="en-US" sz="2800" b="0" dirty="0" smtClean="0">
                <a:solidFill>
                  <a:schemeClr val="tx1"/>
                </a:solidFill>
                <a:latin typeface="Calibri" panose="020F0502020204030204" charset="0"/>
                <a:cs typeface="Calibri" panose="020F0502020204030204" charset="0"/>
              </a:rPr>
              <a:t>It goes beyond checking conformance with the specification. Validation is essential because,  statements of requirements do not always reflect the real wishes or needs of customers and users.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确认</a:t>
            </a:r>
            <a:r>
              <a:rPr lang="en-US" altLang="zh-CN" sz="2000" dirty="0" smtClean="0">
                <a:solidFill>
                  <a:srgbClr val="C00000"/>
                </a:solidFill>
                <a:latin typeface="黑体" panose="02010609060101010101" pitchFamily="49" charset="-122"/>
                <a:ea typeface="黑体" panose="02010609060101010101" pitchFamily="49" charset="-122"/>
                <a:cs typeface="Calibri" panose="020F0502020204030204" charset="0"/>
              </a:rPr>
              <a:t>:</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软件满足客户的期望</a:t>
            </a:r>
            <a:endPar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0245"/>
            <a:ext cx="8977630" cy="55308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V &amp; V confidence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V &amp; V信心</a:t>
            </a:r>
            <a:endPar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55299" name="Rectangle 3"/>
          <p:cNvSpPr>
            <a:spLocks noGrp="1" noChangeArrowheads="1"/>
          </p:cNvSpPr>
          <p:nvPr/>
        </p:nvSpPr>
        <p:spPr>
          <a:xfrm>
            <a:off x="64770" y="1241425"/>
            <a:ext cx="9001125" cy="54775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500"/>
              </a:spcBef>
              <a:spcAft>
                <a:spcPts val="0"/>
              </a:spcAft>
            </a:pPr>
            <a:r>
              <a:rPr lang="en-US" altLang="en-GB" sz="3000" dirty="0" smtClean="0">
                <a:solidFill>
                  <a:schemeClr val="tx2">
                    <a:lumMod val="75000"/>
                    <a:lumOff val="25000"/>
                  </a:schemeClr>
                </a:solidFill>
                <a:latin typeface="Calibri" panose="020F0502020204030204" charset="0"/>
                <a:cs typeface="Calibri" panose="020F0502020204030204" charset="0"/>
              </a:rPr>
              <a:t> The goal of </a:t>
            </a:r>
            <a:r>
              <a:rPr lang="en-GB" sz="3000" dirty="0" smtClean="0">
                <a:solidFill>
                  <a:schemeClr val="tx2">
                    <a:lumMod val="75000"/>
                    <a:lumOff val="25000"/>
                  </a:schemeClr>
                </a:solidFill>
                <a:latin typeface="Calibri" panose="020F0502020204030204" charset="0"/>
                <a:cs typeface="Calibri" panose="020F0502020204030204" charset="0"/>
                <a:sym typeface="+mn-ea"/>
              </a:rPr>
              <a:t>V&amp;V</a:t>
            </a:r>
            <a:r>
              <a:rPr lang="en-US" altLang="en-GB" sz="3000" dirty="0" smtClean="0">
                <a:solidFill>
                  <a:schemeClr val="tx2">
                    <a:lumMod val="75000"/>
                    <a:lumOff val="25000"/>
                  </a:schemeClr>
                </a:solidFill>
                <a:latin typeface="Calibri" panose="020F0502020204030204" charset="0"/>
                <a:cs typeface="Calibri" panose="020F0502020204030204" charset="0"/>
              </a:rPr>
              <a:t> is to establish confidence that the software system is “fit for purpose.”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V&amp;V的目标：确立信心</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Bef>
                <a:spcPts val="500"/>
              </a:spcBef>
              <a:spcAft>
                <a:spcPts val="0"/>
              </a:spcAft>
            </a:pPr>
            <a:r>
              <a:rPr lang="en-US" altLang="en-GB" sz="3000" dirty="0" smtClean="0">
                <a:solidFill>
                  <a:schemeClr val="tx2">
                    <a:lumMod val="75000"/>
                    <a:lumOff val="25000"/>
                  </a:schemeClr>
                </a:solidFill>
                <a:latin typeface="Calibri" panose="020F0502020204030204" charset="0"/>
                <a:cs typeface="Calibri" panose="020F0502020204030204" charset="0"/>
              </a:rPr>
              <a:t> The level of required confidence depends on the system’s purpose, the expectations of the system users, and the current marketing environment for the system: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所需的信心水平取决于系统意图、用户期望、当前市场环境</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82000"/>
              </a:lnSpc>
              <a:spcBef>
                <a:spcPts val="500"/>
              </a:spcBef>
              <a:spcAft>
                <a:spcPts val="0"/>
              </a:spcAft>
            </a:pPr>
            <a:r>
              <a:rPr lang="en-GB" sz="2800" dirty="0">
                <a:solidFill>
                  <a:srgbClr val="000000"/>
                </a:solidFill>
                <a:latin typeface="Calibri" panose="020F0502020204030204" charset="0"/>
                <a:cs typeface="Calibri" panose="020F0502020204030204" charset="0"/>
              </a:rPr>
              <a:t>Software</a:t>
            </a:r>
            <a:r>
              <a:rPr lang="en-GB" sz="2800" dirty="0" smtClean="0">
                <a:solidFill>
                  <a:srgbClr val="000000"/>
                </a:solidFill>
                <a:latin typeface="Calibri" panose="020F0502020204030204" charset="0"/>
                <a:cs typeface="Calibri" panose="020F0502020204030204" charset="0"/>
              </a:rPr>
              <a:t> purpose</a:t>
            </a:r>
            <a:r>
              <a:rPr lang="en-US" altLang="en-GB" sz="2800" dirty="0" smtClean="0">
                <a:solidFill>
                  <a:srgbClr val="000000"/>
                </a:solidFill>
                <a:latin typeface="Calibri" panose="020F0502020204030204" charset="0"/>
                <a:cs typeface="Calibri" panose="020F0502020204030204" charset="0"/>
              </a:rPr>
              <a:t>: </a:t>
            </a:r>
            <a:r>
              <a:rPr lang="en-GB" sz="2400" b="0" dirty="0">
                <a:latin typeface="Calibri" panose="020F0502020204030204" charset="0"/>
                <a:cs typeface="Calibri" panose="020F0502020204030204" charset="0"/>
              </a:rPr>
              <a:t>The more critical the software, the more important that it is reliable. </a:t>
            </a:r>
            <a:r>
              <a:rPr lang="en-US" altLang="en-GB" sz="2400" b="0" dirty="0">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软件意图</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82000"/>
              </a:lnSpc>
              <a:spcBef>
                <a:spcPts val="500"/>
              </a:spcBef>
              <a:spcAft>
                <a:spcPts val="0"/>
              </a:spcAft>
            </a:pPr>
            <a:r>
              <a:rPr lang="en-GB" sz="2800" dirty="0">
                <a:solidFill>
                  <a:srgbClr val="000000"/>
                </a:solidFill>
                <a:latin typeface="Calibri" panose="020F0502020204030204" charset="0"/>
                <a:cs typeface="Calibri" panose="020F0502020204030204" charset="0"/>
              </a:rPr>
              <a:t>User expectations</a:t>
            </a:r>
            <a:r>
              <a:rPr lang="en-US" altLang="en-GB" sz="2800" dirty="0">
                <a:solidFill>
                  <a:srgbClr val="000000"/>
                </a:solidFill>
                <a:latin typeface="Calibri" panose="020F0502020204030204" charset="0"/>
                <a:cs typeface="Calibri" panose="020F0502020204030204" charset="0"/>
              </a:rPr>
              <a:t>: </a:t>
            </a:r>
            <a:r>
              <a:rPr lang="en-GB" sz="2400" b="0" dirty="0">
                <a:latin typeface="Calibri" panose="020F0502020204030204" charset="0"/>
                <a:cs typeface="Calibri" panose="020F0502020204030204" charset="0"/>
              </a:rPr>
              <a:t>When a new system is installed, users may tolerate failures. However, as a software product becomes more established, users expect it to become more reliable. </a:t>
            </a:r>
            <a:r>
              <a:rPr lang="en-US" altLang="en-GB" sz="2800" dirty="0">
                <a:solidFill>
                  <a:srgbClr val="000000"/>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用户期望</a:t>
            </a:r>
            <a:endParaRPr lang="en-GB" sz="2400" b="0" dirty="0">
              <a:latin typeface="Calibri" panose="020F0502020204030204" charset="0"/>
              <a:cs typeface="Calibri" panose="020F0502020204030204" charset="0"/>
            </a:endParaRPr>
          </a:p>
          <a:p>
            <a:pPr lvl="1">
              <a:lnSpc>
                <a:spcPct val="82000"/>
              </a:lnSpc>
              <a:spcBef>
                <a:spcPts val="500"/>
              </a:spcBef>
              <a:spcAft>
                <a:spcPts val="0"/>
              </a:spcAft>
            </a:pPr>
            <a:r>
              <a:rPr lang="en-GB" sz="2800" dirty="0">
                <a:solidFill>
                  <a:srgbClr val="000000"/>
                </a:solidFill>
                <a:latin typeface="Calibri" panose="020F0502020204030204" charset="0"/>
                <a:cs typeface="Calibri" panose="020F0502020204030204" charset="0"/>
              </a:rPr>
              <a:t>Marketing environment</a:t>
            </a:r>
            <a:r>
              <a:rPr lang="en-US" altLang="en-GB" sz="2800" dirty="0">
                <a:solidFill>
                  <a:srgbClr val="000000"/>
                </a:solidFill>
                <a:latin typeface="Calibri" panose="020F0502020204030204" charset="0"/>
                <a:cs typeface="Calibri" panose="020F0502020204030204" charset="0"/>
              </a:rPr>
              <a:t>:</a:t>
            </a:r>
            <a:r>
              <a:rPr lang="en-GB" sz="2400" b="0" dirty="0">
                <a:latin typeface="Calibri" panose="020F0502020204030204" charset="0"/>
                <a:cs typeface="Calibri" panose="020F0502020204030204" charset="0"/>
              </a:rPr>
              <a:t> In a competitive environment, the company may decide to release a program before it has been fully tested and debugged because it wants to be the first into the market. </a:t>
            </a:r>
            <a:r>
              <a:rPr lang="en-US" altLang="en-GB" sz="2400" b="0" dirty="0">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市场环境</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08355"/>
            <a:ext cx="8977630" cy="5784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Inspections and </a:t>
            </a:r>
            <a:r>
              <a:rPr lang="en-US" altLang="zh-CN" sz="3200" dirty="0">
                <a:solidFill>
                  <a:schemeClr val="accent1">
                    <a:lumMod val="75000"/>
                  </a:schemeClr>
                </a:solidFill>
                <a:ea typeface="宋体" panose="02010600030101010101" pitchFamily="2" charset="-122"/>
                <a:sym typeface="+mn-ea"/>
              </a:rPr>
              <a:t>reviews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检查和评审</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12290" name="Rectangle 2"/>
          <p:cNvSpPr>
            <a:spLocks noGrp="1" noChangeArrowheads="1"/>
          </p:cNvSpPr>
          <p:nvPr/>
        </p:nvSpPr>
        <p:spPr>
          <a:xfrm>
            <a:off x="60960" y="1409065"/>
            <a:ext cx="9004300" cy="5175885"/>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nSpc>
                <a:spcPct val="85000"/>
              </a:lnSpc>
              <a:spcBef>
                <a:spcPts val="600"/>
              </a:spcBef>
              <a:spcAft>
                <a:spcPts val="0"/>
              </a:spcAft>
            </a:pPr>
            <a:r>
              <a:rPr lang="en-US" altLang="en-GB" sz="3200" dirty="0">
                <a:solidFill>
                  <a:schemeClr val="tx2">
                    <a:lumMod val="75000"/>
                    <a:lumOff val="25000"/>
                  </a:schemeClr>
                </a:solidFill>
                <a:latin typeface="Calibri" panose="020F0502020204030204" charset="0"/>
                <a:cs typeface="Calibri" panose="020F0502020204030204" charset="0"/>
              </a:rPr>
              <a:t> As well as software testing, the V&amp;V process may involve software inspections and reviews.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除了测试，V&amp;V还涉及检查和评审</a:t>
            </a:r>
            <a:endParaRPr lang="en-US" altLang="en-GB" dirty="0">
              <a:solidFill>
                <a:schemeClr val="tx2">
                  <a:lumMod val="75000"/>
                  <a:lumOff val="2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US" altLang="en-GB" sz="2800" b="0" dirty="0">
                <a:solidFill>
                  <a:schemeClr val="tx1"/>
                </a:solidFill>
                <a:latin typeface="Calibri" panose="020F0502020204030204" charset="0"/>
                <a:cs typeface="Calibri" panose="020F0502020204030204" charset="0"/>
              </a:rPr>
              <a:t>Inspections and reviews </a:t>
            </a:r>
            <a:r>
              <a:rPr lang="en-US" altLang="en-GB" sz="2800" b="0" u="sng" dirty="0">
                <a:solidFill>
                  <a:schemeClr val="tx1"/>
                </a:solidFill>
                <a:latin typeface="Calibri" panose="020F0502020204030204" charset="0"/>
                <a:cs typeface="Calibri" panose="020F0502020204030204" charset="0"/>
              </a:rPr>
              <a:t>analyze</a:t>
            </a:r>
            <a:r>
              <a:rPr lang="en-US" altLang="en-GB" sz="2800" b="0" dirty="0">
                <a:solidFill>
                  <a:schemeClr val="tx1"/>
                </a:solidFill>
                <a:latin typeface="Calibri" panose="020F0502020204030204" charset="0"/>
                <a:cs typeface="Calibri" panose="020F0502020204030204" charset="0"/>
              </a:rPr>
              <a:t> and </a:t>
            </a:r>
            <a:r>
              <a:rPr lang="en-US" altLang="en-GB" sz="2800" b="0" u="sng" dirty="0">
                <a:solidFill>
                  <a:schemeClr val="tx1"/>
                </a:solidFill>
                <a:latin typeface="Calibri" panose="020F0502020204030204" charset="0"/>
                <a:cs typeface="Calibri" panose="020F0502020204030204" charset="0"/>
              </a:rPr>
              <a:t>check</a:t>
            </a:r>
            <a:r>
              <a:rPr lang="en-US" altLang="en-GB" sz="2800" b="0" dirty="0">
                <a:solidFill>
                  <a:schemeClr val="tx1"/>
                </a:solidFill>
                <a:latin typeface="Calibri" panose="020F0502020204030204" charset="0"/>
                <a:cs typeface="Calibri" panose="020F0502020204030204" charset="0"/>
              </a:rPr>
              <a:t> the system requirements, design models, the program source code, and even proposed system tests.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检查和评审：分析和检查系统需求、设计模型、程序源代码、所提出系统测试</a:t>
            </a:r>
            <a:endParaRPr lang="en-US" altLang="en-GB" sz="2800" b="0" dirty="0">
              <a:solidFill>
                <a:schemeClr val="tx1"/>
              </a:solidFill>
              <a:latin typeface="Calibri" panose="020F0502020204030204" charset="0"/>
              <a:cs typeface="Calibri" panose="020F0502020204030204" charset="0"/>
            </a:endParaRPr>
          </a:p>
          <a:p>
            <a:pPr lvl="1">
              <a:lnSpc>
                <a:spcPct val="85000"/>
              </a:lnSpc>
              <a:spcBef>
                <a:spcPts val="600"/>
              </a:spcBef>
              <a:spcAft>
                <a:spcPts val="0"/>
              </a:spcAft>
            </a:pPr>
            <a:r>
              <a:rPr lang="en-US" altLang="en-GB" sz="2800" b="0" dirty="0">
                <a:solidFill>
                  <a:schemeClr val="tx1"/>
                </a:solidFill>
                <a:latin typeface="Calibri" panose="020F0502020204030204" charset="0"/>
                <a:cs typeface="Calibri" panose="020F0502020204030204" charset="0"/>
              </a:rPr>
              <a:t>These are “static” V &amp; V techniques in which you don’t need to execute the software to verify it.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是静态V&amp;V技术，无需通过执行软件来验证</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altLang="en-GB" sz="3200" dirty="0">
                <a:solidFill>
                  <a:schemeClr val="tx2">
                    <a:lumMod val="75000"/>
                    <a:lumOff val="25000"/>
                  </a:schemeClr>
                </a:solidFill>
                <a:latin typeface="Calibri" panose="020F0502020204030204" charset="0"/>
                <a:cs typeface="Calibri" panose="020F0502020204030204" charset="0"/>
              </a:rPr>
              <a:t> Figure 8.2 shows that software inspections and testing support V &amp; V at different stages in the software process.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图8.2</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检查和测试在不同阶段支持V&amp;V</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6600"/>
            <a:ext cx="8977630" cy="5784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Inspections and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检查和测试</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65405" y="1364615"/>
            <a:ext cx="8991600" cy="3761105"/>
          </a:xfrm>
          <a:prstGeom prst="rect">
            <a:avLst/>
          </a:prstGeom>
        </p:spPr>
      </p:pic>
      <p:pic>
        <p:nvPicPr>
          <p:cNvPr id="3" name="图片 2"/>
          <p:cNvPicPr>
            <a:picLocks noChangeAspect="1"/>
          </p:cNvPicPr>
          <p:nvPr/>
        </p:nvPicPr>
        <p:blipFill>
          <a:blip r:embed="rId4"/>
          <a:stretch>
            <a:fillRect/>
          </a:stretch>
        </p:blipFill>
        <p:spPr>
          <a:xfrm>
            <a:off x="6087110" y="1521460"/>
            <a:ext cx="2388235" cy="594360"/>
          </a:xfrm>
          <a:prstGeom prst="rect">
            <a:avLst/>
          </a:prstGeom>
        </p:spPr>
      </p:pic>
      <p:sp>
        <p:nvSpPr>
          <p:cNvPr id="9" name="Content Placeholder 2"/>
          <p:cNvSpPr>
            <a:spLocks noGrp="1"/>
          </p:cNvSpPr>
          <p:nvPr/>
        </p:nvSpPr>
        <p:spPr>
          <a:xfrm>
            <a:off x="103505" y="5232400"/>
            <a:ext cx="8910955" cy="143891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The arrows indicate the stages in the process where the techniques may be used.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Inspections mostly focus on the source code of a system, but any readable representation of the software, such as its requirements or a design model, can be inspected. When you inspect a system, you use knowledge of the system, its application domain, and the programming or modeling language to discover errors.</a:t>
            </a:r>
            <a:endParaRPr lang="en-US" sz="20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5485"/>
            <a:ext cx="8977630" cy="5988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900" dirty="0">
                <a:solidFill>
                  <a:srgbClr val="0070C0"/>
                </a:solidFill>
                <a:ea typeface="宋体" panose="02010600030101010101" pitchFamily="2" charset="-122"/>
                <a:sym typeface="+mn-ea"/>
              </a:rPr>
              <a:t> </a:t>
            </a:r>
            <a:r>
              <a:rPr lang="zh-CN" altLang="en-US" sz="2900" dirty="0">
                <a:solidFill>
                  <a:schemeClr val="accent1">
                    <a:lumMod val="75000"/>
                  </a:schemeClr>
                </a:solidFill>
                <a:ea typeface="宋体" panose="02010600030101010101" pitchFamily="2" charset="-122"/>
                <a:sym typeface="+mn-ea"/>
              </a:rPr>
              <a:t>Advantages of inspections</a:t>
            </a:r>
            <a:r>
              <a:rPr lang="en-US" altLang="zh-CN" sz="2900" dirty="0">
                <a:solidFill>
                  <a:schemeClr val="accent1">
                    <a:lumMod val="75000"/>
                  </a:schemeClr>
                </a:solidFill>
                <a:ea typeface="宋体" panose="02010600030101010101" pitchFamily="2" charset="-122"/>
                <a:sym typeface="+mn-ea"/>
              </a:rPr>
              <a:t> over testing </a:t>
            </a:r>
            <a:r>
              <a:rPr lang="zh-CN" altLang="en-US" sz="2000" dirty="0">
                <a:solidFill>
                  <a:schemeClr val="accent1">
                    <a:lumMod val="75000"/>
                  </a:schemeClr>
                </a:solidFill>
                <a:latin typeface="黑体" panose="02010609060101010101" pitchFamily="49" charset="-122"/>
                <a:ea typeface="黑体" panose="02010609060101010101" pitchFamily="49" charset="-122"/>
                <a:sym typeface="+mn-ea"/>
              </a:rPr>
              <a:t>检查的优势</a:t>
            </a:r>
            <a:endParaRPr lang="zh-CN" altLang="en-US" sz="20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66040" y="1241425"/>
            <a:ext cx="9001125" cy="54578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Because inspection doesn’t involve executing the system, you don’t have to worry about interactions between errors. </a:t>
            </a:r>
            <a:r>
              <a:rPr lang="en-US" sz="2800" b="0" dirty="0" smtClean="0">
                <a:solidFill>
                  <a:schemeClr val="tx1"/>
                </a:solidFill>
                <a:latin typeface="Calibri" panose="020F0502020204030204" charset="0"/>
                <a:cs typeface="Calibri" panose="020F0502020204030204" charset="0"/>
              </a:rPr>
              <a:t>Consequently, a single inspection session can discover many errors in a system.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不涉及系统运行,不用担心错误之间的相互影响</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Incomplete versions of a system can be inspected without additional costs.</a:t>
            </a:r>
            <a:r>
              <a:rPr lang="en-US" sz="2800" b="0" dirty="0" smtClean="0">
                <a:solidFill>
                  <a:schemeClr val="tx1"/>
                </a:solidFill>
                <a:latin typeface="Calibri" panose="020F0502020204030204" charset="0"/>
                <a:cs typeface="Calibri" panose="020F0502020204030204" charset="0"/>
              </a:rPr>
              <a:t> If a program is incomplete, then you need to develop specialized test harnesses to test the parts that are available. This obviously adds to the system development costs.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可检查不完整版本的系统,无额外成本</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Aft>
                <a:spcPts val="0"/>
              </a:spcAft>
            </a:pPr>
            <a:r>
              <a:rPr lang="en-US" sz="3100" dirty="0" smtClean="0">
                <a:solidFill>
                  <a:schemeClr val="tx2">
                    <a:lumMod val="75000"/>
                    <a:lumOff val="25000"/>
                  </a:schemeClr>
                </a:solidFill>
                <a:latin typeface="Calibri" panose="020F0502020204030204" charset="0"/>
                <a:cs typeface="Calibri" panose="020F0502020204030204" charset="0"/>
              </a:rPr>
              <a:t> As well as searching for program defects, an inspection can consider broader quality attributes of a program, such as compliance with standards, portability, and maintainability.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还可考虑更广的质量属性</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4380"/>
            <a:ext cx="8977630" cy="5588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Inspections </a:t>
            </a:r>
            <a:r>
              <a:rPr lang="en-US" altLang="zh-CN" sz="3200" dirty="0">
                <a:solidFill>
                  <a:schemeClr val="accent1">
                    <a:lumMod val="75000"/>
                  </a:schemeClr>
                </a:solidFill>
                <a:ea typeface="宋体" panose="02010600030101010101" pitchFamily="2" charset="-122"/>
                <a:sym typeface="+mn-ea"/>
              </a:rPr>
              <a:t>vs.</a:t>
            </a:r>
            <a:r>
              <a:rPr lang="zh-CN" altLang="en-US" sz="3200" dirty="0">
                <a:solidFill>
                  <a:schemeClr val="accent1">
                    <a:lumMod val="75000"/>
                  </a:schemeClr>
                </a:solidFill>
                <a:ea typeface="宋体" panose="02010600030101010101" pitchFamily="2" charset="-122"/>
                <a:sym typeface="+mn-ea"/>
              </a:rPr>
              <a:t>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检查</a:t>
            </a:r>
            <a:r>
              <a:rPr lang="en-US" altLang="zh-CN" dirty="0">
                <a:solidFill>
                  <a:schemeClr val="accent1">
                    <a:lumMod val="75000"/>
                  </a:schemeClr>
                </a:solidFill>
                <a:latin typeface="黑体" panose="02010609060101010101" pitchFamily="49" charset="-122"/>
                <a:ea typeface="黑体" panose="02010609060101010101" pitchFamily="49" charset="-122"/>
                <a:sym typeface="+mn-ea"/>
              </a:rPr>
              <a:t> vs.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测试</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77470" y="1313180"/>
            <a:ext cx="8989060" cy="52622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Experiments have shown that inspections are more effective for defect discovery than program testing.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实验表明:相比于测试</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检查</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在缺陷发现方面更有效</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However, inspections cannot replace software testing.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但检查不能替代测试</a:t>
            </a:r>
            <a:endParaRPr lang="en-US" sz="3200" dirty="0" smtClean="0">
              <a:solidFill>
                <a:schemeClr val="tx2">
                  <a:lumMod val="75000"/>
                  <a:lumOff val="25000"/>
                </a:schemeClr>
              </a:solidFill>
              <a:latin typeface="Calibri" panose="020F0502020204030204" charset="0"/>
              <a:cs typeface="Calibri" panose="020F0502020204030204" charset="0"/>
            </a:endParaRPr>
          </a:p>
          <a:p>
            <a:pPr lvl="1">
              <a:lnSpc>
                <a:spcPct val="85000"/>
              </a:lnSpc>
              <a:spcAft>
                <a:spcPts val="0"/>
              </a:spcAft>
            </a:pPr>
            <a:r>
              <a:rPr lang="en-US" sz="2800" b="0" dirty="0" smtClean="0">
                <a:solidFill>
                  <a:schemeClr val="tx1"/>
                </a:solidFill>
                <a:latin typeface="Calibri" panose="020F0502020204030204" charset="0"/>
                <a:cs typeface="Calibri" panose="020F0502020204030204" charset="0"/>
              </a:rPr>
              <a:t>Inspections are not good for discovering defects that arise because of </a:t>
            </a:r>
            <a:r>
              <a:rPr lang="en-US" sz="2800" b="0" u="sng" dirty="0" smtClean="0">
                <a:solidFill>
                  <a:schemeClr val="tx1"/>
                </a:solidFill>
                <a:latin typeface="Calibri" panose="020F0502020204030204" charset="0"/>
                <a:cs typeface="Calibri" panose="020F0502020204030204" charset="0"/>
              </a:rPr>
              <a:t>unexpected interactions</a:t>
            </a:r>
            <a:r>
              <a:rPr lang="en-US" sz="2800" b="0" dirty="0" smtClean="0">
                <a:solidFill>
                  <a:schemeClr val="tx1"/>
                </a:solidFill>
                <a:latin typeface="Calibri" panose="020F0502020204030204" charset="0"/>
                <a:cs typeface="Calibri" panose="020F0502020204030204" charset="0"/>
              </a:rPr>
              <a:t> between different parts of a program, </a:t>
            </a:r>
            <a:r>
              <a:rPr lang="en-US" sz="2800" b="0" u="sng" dirty="0" smtClean="0">
                <a:solidFill>
                  <a:schemeClr val="tx1"/>
                </a:solidFill>
                <a:latin typeface="Calibri" panose="020F0502020204030204" charset="0"/>
                <a:cs typeface="Calibri" panose="020F0502020204030204" charset="0"/>
              </a:rPr>
              <a:t>timing problems</a:t>
            </a:r>
            <a:r>
              <a:rPr lang="en-US" sz="2800" b="0" dirty="0" smtClean="0">
                <a:solidFill>
                  <a:schemeClr val="tx1"/>
                </a:solidFill>
                <a:latin typeface="Calibri" panose="020F0502020204030204" charset="0"/>
                <a:cs typeface="Calibri" panose="020F0502020204030204" charset="0"/>
              </a:rPr>
              <a:t>, or problems with system performance.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检查不擅长之处</a:t>
            </a:r>
            <a:endParaRPr lang="en-US" sz="2800" b="0" dirty="0" smtClean="0">
              <a:solidFill>
                <a:schemeClr val="tx1"/>
              </a:solidFill>
              <a:latin typeface="Calibri" panose="020F0502020204030204" charset="0"/>
              <a:cs typeface="Calibri" panose="020F0502020204030204" charset="0"/>
            </a:endParaRPr>
          </a:p>
          <a:p>
            <a:pPr lvl="1">
              <a:lnSpc>
                <a:spcPct val="85000"/>
              </a:lnSpc>
              <a:spcAft>
                <a:spcPts val="0"/>
              </a:spcAft>
            </a:pPr>
            <a:r>
              <a:rPr lang="en-US" sz="2800" b="0" dirty="0" smtClean="0">
                <a:solidFill>
                  <a:schemeClr val="tx1"/>
                </a:solidFill>
                <a:latin typeface="Calibri" panose="020F0502020204030204" charset="0"/>
                <a:cs typeface="Calibri" panose="020F0502020204030204" charset="0"/>
              </a:rPr>
              <a:t>In small companies or development groups, it can be difficult and expensive to put together a separate inspection team as all potential members may also be developers of the software.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难以组织单独的检查团队</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89535" y="1510665"/>
            <a:ext cx="8975090" cy="1917700"/>
          </a:xfrm>
          <a:prstGeom prst="rect">
            <a:avLst/>
          </a:prstGeom>
        </p:spPr>
      </p:pic>
      <p:sp>
        <p:nvSpPr>
          <p:cNvPr id="15363" name="Rectangle 3"/>
          <p:cNvSpPr>
            <a:spLocks noGrp="1" noRot="1"/>
          </p:cNvSpPr>
          <p:nvPr>
            <p:ph type="subTitle" idx="1"/>
            <p:custDataLst>
              <p:tags r:id="rId2"/>
            </p:custDataLst>
          </p:nvPr>
        </p:nvSpPr>
        <p:spPr>
          <a:xfrm>
            <a:off x="88900" y="777240"/>
            <a:ext cx="8977630" cy="8693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A model of software testing process</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软件测试过程模型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3"/>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4"/>
          <a:stretch>
            <a:fillRect/>
          </a:stretch>
        </p:blipFill>
        <p:spPr>
          <a:xfrm>
            <a:off x="7694930" y="1335405"/>
            <a:ext cx="1190625" cy="494030"/>
          </a:xfrm>
          <a:prstGeom prst="rect">
            <a:avLst/>
          </a:prstGeom>
        </p:spPr>
      </p:pic>
      <p:sp>
        <p:nvSpPr>
          <p:cNvPr id="9" name="Content Placeholder 2"/>
          <p:cNvSpPr>
            <a:spLocks noGrp="1"/>
          </p:cNvSpPr>
          <p:nvPr/>
        </p:nvSpPr>
        <p:spPr>
          <a:xfrm>
            <a:off x="103505" y="3510280"/>
            <a:ext cx="8910955" cy="321754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2000"/>
              </a:lnSpc>
              <a:spcBef>
                <a:spcPts val="300"/>
              </a:spcBef>
              <a:spcAft>
                <a:spcPts val="0"/>
              </a:spcAft>
              <a:buNone/>
            </a:pPr>
            <a:r>
              <a:rPr lang="en-US" sz="2200" b="0" dirty="0" smtClean="0">
                <a:solidFill>
                  <a:schemeClr val="tx1"/>
                </a:solidFill>
                <a:latin typeface="Calibri" panose="020F0502020204030204" charset="0"/>
                <a:cs typeface="Calibri" panose="020F0502020204030204" charset="0"/>
              </a:rPr>
              <a:t>* Figure 8.3 is an abstract model of the traditional testing process, as used in plan-driven development. </a:t>
            </a:r>
            <a:endParaRPr lang="en-US" sz="2200" b="0" dirty="0" smtClean="0">
              <a:solidFill>
                <a:schemeClr val="tx1"/>
              </a:solidFill>
              <a:latin typeface="Calibri" panose="020F0502020204030204" charset="0"/>
              <a:cs typeface="Calibri" panose="020F0502020204030204" charset="0"/>
            </a:endParaRPr>
          </a:p>
          <a:p>
            <a:pPr marL="0" indent="0">
              <a:lnSpc>
                <a:spcPct val="82000"/>
              </a:lnSpc>
              <a:spcBef>
                <a:spcPts val="300"/>
              </a:spcBef>
              <a:spcAft>
                <a:spcPts val="0"/>
              </a:spcAft>
              <a:buNone/>
            </a:pPr>
            <a:r>
              <a:rPr lang="en-US" sz="2200" b="0" dirty="0" smtClean="0">
                <a:solidFill>
                  <a:schemeClr val="tx1"/>
                </a:solidFill>
                <a:latin typeface="Calibri" panose="020F0502020204030204" charset="0"/>
                <a:cs typeface="Calibri" panose="020F0502020204030204" charset="0"/>
              </a:rPr>
              <a:t>*</a:t>
            </a:r>
            <a:r>
              <a:rPr lang="en-US" sz="2200" b="0" u="sng" dirty="0" smtClean="0">
                <a:solidFill>
                  <a:schemeClr val="tx1"/>
                </a:solidFill>
                <a:latin typeface="Calibri" panose="020F0502020204030204" charset="0"/>
                <a:cs typeface="Calibri" panose="020F0502020204030204" charset="0"/>
              </a:rPr>
              <a:t> Test cases</a:t>
            </a:r>
            <a:r>
              <a:rPr lang="en-US" sz="2200" b="0" dirty="0" smtClean="0">
                <a:solidFill>
                  <a:schemeClr val="tx1"/>
                </a:solidFill>
                <a:latin typeface="Calibri" panose="020F0502020204030204" charset="0"/>
                <a:cs typeface="Calibri" panose="020F0502020204030204" charset="0"/>
              </a:rPr>
              <a:t> are specifications of the inputs to the test and the expected output from system (test results), plus a statement of what is being tested. </a:t>
            </a:r>
            <a:endParaRPr lang="en-US" sz="2200" b="0" dirty="0" smtClean="0">
              <a:solidFill>
                <a:schemeClr val="tx1"/>
              </a:solidFill>
              <a:latin typeface="Calibri" panose="020F0502020204030204" charset="0"/>
              <a:cs typeface="Calibri" panose="020F0502020204030204" charset="0"/>
            </a:endParaRPr>
          </a:p>
          <a:p>
            <a:pPr marL="0" indent="0">
              <a:lnSpc>
                <a:spcPct val="82000"/>
              </a:lnSpc>
              <a:spcBef>
                <a:spcPts val="300"/>
              </a:spcBef>
              <a:spcAft>
                <a:spcPts val="0"/>
              </a:spcAft>
              <a:buNone/>
            </a:pPr>
            <a:r>
              <a:rPr lang="en-US" sz="2200" b="0" dirty="0" smtClean="0">
                <a:solidFill>
                  <a:schemeClr val="tx1"/>
                </a:solidFill>
                <a:latin typeface="Calibri" panose="020F0502020204030204" charset="0"/>
                <a:cs typeface="Calibri" panose="020F0502020204030204" charset="0"/>
              </a:rPr>
              <a:t>* </a:t>
            </a:r>
            <a:r>
              <a:rPr lang="en-US" sz="2200" b="0" u="sng" dirty="0" smtClean="0">
                <a:solidFill>
                  <a:schemeClr val="tx1"/>
                </a:solidFill>
                <a:latin typeface="Calibri" panose="020F0502020204030204" charset="0"/>
                <a:cs typeface="Calibri" panose="020F0502020204030204" charset="0"/>
              </a:rPr>
              <a:t>Test data</a:t>
            </a:r>
            <a:r>
              <a:rPr lang="en-US" sz="2200" b="0" dirty="0" smtClean="0">
                <a:solidFill>
                  <a:schemeClr val="tx1"/>
                </a:solidFill>
                <a:latin typeface="Calibri" panose="020F0502020204030204" charset="0"/>
                <a:cs typeface="Calibri" panose="020F0502020204030204" charset="0"/>
              </a:rPr>
              <a:t> are the inputs that have been devised to test a system. Test data can sometimes be generated automatically, but automatic test case generation is impossible. People who understand what the system is supposed to do must be involved to specify the expected test results. </a:t>
            </a:r>
            <a:endParaRPr lang="en-US" sz="2200" b="0" dirty="0" smtClean="0">
              <a:solidFill>
                <a:schemeClr val="tx1"/>
              </a:solidFill>
              <a:latin typeface="Calibri" panose="020F0502020204030204" charset="0"/>
              <a:cs typeface="Calibri" panose="020F0502020204030204" charset="0"/>
            </a:endParaRPr>
          </a:p>
          <a:p>
            <a:pPr marL="0" indent="0">
              <a:lnSpc>
                <a:spcPct val="82000"/>
              </a:lnSpc>
              <a:spcBef>
                <a:spcPts val="300"/>
              </a:spcBef>
              <a:spcAft>
                <a:spcPts val="0"/>
              </a:spcAft>
              <a:buNone/>
            </a:pPr>
            <a:r>
              <a:rPr lang="en-US" sz="2200" b="0" dirty="0" smtClean="0">
                <a:solidFill>
                  <a:schemeClr val="tx1"/>
                </a:solidFill>
                <a:latin typeface="Calibri" panose="020F0502020204030204" charset="0"/>
                <a:cs typeface="Calibri" panose="020F0502020204030204" charset="0"/>
              </a:rPr>
              <a:t>* However, test execution can be automated. </a:t>
            </a:r>
            <a:endParaRPr lang="en-US" sz="2200" b="0" dirty="0" smtClean="0">
              <a:solidFill>
                <a:schemeClr val="tx1"/>
              </a:solidFill>
              <a:latin typeface="Calibri" panose="020F0502020204030204" charset="0"/>
              <a:cs typeface="Calibri" panose="020F0502020204030204" charset="0"/>
            </a:endParaRPr>
          </a:p>
          <a:p>
            <a:pPr marL="0" indent="0">
              <a:lnSpc>
                <a:spcPct val="82000"/>
              </a:lnSpc>
              <a:spcBef>
                <a:spcPts val="300"/>
              </a:spcBef>
              <a:spcAft>
                <a:spcPts val="0"/>
              </a:spcAft>
              <a:buNone/>
            </a:pPr>
            <a:r>
              <a:rPr lang="en-US" sz="2200" b="0" dirty="0" smtClean="0">
                <a:solidFill>
                  <a:schemeClr val="tx1"/>
                </a:solidFill>
                <a:latin typeface="Calibri" panose="020F0502020204030204" charset="0"/>
                <a:cs typeface="Calibri" panose="020F0502020204030204" charset="0"/>
              </a:rPr>
              <a:t>* The test results are </a:t>
            </a:r>
            <a:r>
              <a:rPr lang="en-US" sz="2200" b="0" u="sng" dirty="0" smtClean="0">
                <a:solidFill>
                  <a:schemeClr val="tx1"/>
                </a:solidFill>
                <a:latin typeface="Calibri" panose="020F0502020204030204" charset="0"/>
                <a:cs typeface="Calibri" panose="020F0502020204030204" charset="0"/>
              </a:rPr>
              <a:t>automatically compared</a:t>
            </a:r>
            <a:r>
              <a:rPr lang="en-US" sz="2200" b="0" dirty="0" smtClean="0">
                <a:solidFill>
                  <a:schemeClr val="tx1"/>
                </a:solidFill>
                <a:latin typeface="Calibri" panose="020F0502020204030204" charset="0"/>
                <a:cs typeface="Calibri" panose="020F0502020204030204" charset="0"/>
              </a:rPr>
              <a:t> with the predicted results, so there is no need for a person to look for errors and anomalies in the test run.</a:t>
            </a:r>
            <a:endParaRPr lang="en-US" sz="22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7710"/>
            <a:ext cx="8977630" cy="5765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Three stages of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测试三阶段</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64135" y="1313180"/>
            <a:ext cx="9002395" cy="53549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Development testing, </a:t>
            </a:r>
            <a:r>
              <a:rPr lang="en-US" sz="2800" b="0" dirty="0" smtClean="0">
                <a:solidFill>
                  <a:schemeClr val="tx1"/>
                </a:solidFill>
                <a:latin typeface="Calibri" panose="020F0502020204030204" charset="0"/>
                <a:cs typeface="Calibri" panose="020F0502020204030204" charset="0"/>
              </a:rPr>
              <a:t>where the system is tested during development to discover bugs and defects. System designers and programmers are likely to be involved in the testing process.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开发测试</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82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Release testing, </a:t>
            </a:r>
            <a:r>
              <a:rPr lang="en-US" sz="2800" b="0" dirty="0" smtClean="0">
                <a:solidFill>
                  <a:schemeClr val="tx1"/>
                </a:solidFill>
                <a:latin typeface="Calibri" panose="020F0502020204030204" charset="0"/>
                <a:cs typeface="Calibri" panose="020F0502020204030204" charset="0"/>
              </a:rPr>
              <a:t>where a </a:t>
            </a:r>
            <a:r>
              <a:rPr lang="en-US" sz="2800" b="0" u="sng" dirty="0" smtClean="0">
                <a:solidFill>
                  <a:schemeClr val="tx1"/>
                </a:solidFill>
                <a:latin typeface="Calibri" panose="020F0502020204030204" charset="0"/>
                <a:cs typeface="Calibri" panose="020F0502020204030204" charset="0"/>
              </a:rPr>
              <a:t>separate testing team</a:t>
            </a:r>
            <a:r>
              <a:rPr lang="en-US" sz="2800" b="0" dirty="0" smtClean="0">
                <a:solidFill>
                  <a:schemeClr val="tx1"/>
                </a:solidFill>
                <a:latin typeface="Calibri" panose="020F0502020204030204" charset="0"/>
                <a:cs typeface="Calibri" panose="020F0502020204030204" charset="0"/>
              </a:rPr>
              <a:t> tests a complete version of the system before it is released to users. The aim of release testing is to check that the system meets the requirements of the system stakeholders.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发布测试</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User testing,</a:t>
            </a:r>
            <a:r>
              <a:rPr lang="en-US" sz="2800" b="0" dirty="0" smtClean="0">
                <a:solidFill>
                  <a:schemeClr val="tx1"/>
                </a:solidFill>
                <a:latin typeface="Calibri" panose="020F0502020204030204" charset="0"/>
                <a:cs typeface="Calibri" panose="020F0502020204030204" charset="0"/>
              </a:rPr>
              <a:t> where users or potential users of a system test the system in their own environment. </a:t>
            </a:r>
            <a:r>
              <a:rPr lang="en-US" sz="2800" b="0" u="sng" dirty="0" smtClean="0">
                <a:solidFill>
                  <a:schemeClr val="tx1"/>
                </a:solidFill>
                <a:latin typeface="Calibri" panose="020F0502020204030204" charset="0"/>
                <a:cs typeface="Calibri" panose="020F0502020204030204" charset="0"/>
              </a:rPr>
              <a:t>Acceptance testing</a:t>
            </a:r>
            <a:r>
              <a:rPr lang="en-US" sz="2800" b="0" dirty="0" smtClean="0">
                <a:solidFill>
                  <a:schemeClr val="tx1"/>
                </a:solidFill>
                <a:latin typeface="Calibri" panose="020F0502020204030204" charset="0"/>
                <a:cs typeface="Calibri" panose="020F0502020204030204" charset="0"/>
              </a:rPr>
              <a:t> is one type of user testing where the customer formally tests a system to decide if it should be accepted or if further development is required.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用户测试</a:t>
            </a:r>
            <a:endParaRPr lang="zh-CN" altLang="en-US" sz="2800"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8505"/>
            <a:ext cx="8977630" cy="5988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8.1 Development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开发测试</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12290" name="Rectangle 2"/>
          <p:cNvSpPr>
            <a:spLocks noGrp="1" noChangeArrowheads="1"/>
          </p:cNvSpPr>
          <p:nvPr/>
        </p:nvSpPr>
        <p:spPr>
          <a:xfrm>
            <a:off x="88900" y="1265555"/>
            <a:ext cx="8977630" cy="5473065"/>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nSpc>
                <a:spcPct val="82000"/>
              </a:lnSpc>
              <a:spcBef>
                <a:spcPts val="500"/>
              </a:spcBef>
              <a:spcAft>
                <a:spcPts val="0"/>
              </a:spcAft>
            </a:pPr>
            <a:r>
              <a:rPr lang="en-US" altLang="en-GB" sz="3100" dirty="0">
                <a:solidFill>
                  <a:schemeClr val="tx2">
                    <a:lumMod val="75000"/>
                    <a:lumOff val="25000"/>
                  </a:schemeClr>
                </a:solidFill>
                <a:latin typeface="Calibri" panose="020F0502020204030204" charset="0"/>
                <a:cs typeface="Calibri" panose="020F0502020204030204" charset="0"/>
              </a:rPr>
              <a:t> Development testing includes all testing activities that are carried out by the team developing the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包括了开发团队进行的所有测试活动</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500"/>
              </a:spcBef>
              <a:spcAft>
                <a:spcPts val="0"/>
              </a:spcAft>
            </a:pPr>
            <a:r>
              <a:rPr lang="en-US" altLang="en-GB" sz="3100" dirty="0">
                <a:solidFill>
                  <a:schemeClr val="tx2">
                    <a:lumMod val="75000"/>
                    <a:lumOff val="25000"/>
                  </a:schemeClr>
                </a:solidFill>
                <a:latin typeface="Calibri" panose="020F0502020204030204" charset="0"/>
                <a:cs typeface="Calibri" panose="020F0502020204030204" charset="0"/>
              </a:rPr>
              <a:t> Three stages of development testing: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三阶段开发测试</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500"/>
              </a:spcBef>
              <a:spcAft>
                <a:spcPts val="0"/>
              </a:spcAft>
            </a:pPr>
            <a:r>
              <a:rPr lang="en-GB" sz="2600" dirty="0">
                <a:latin typeface="Calibri" panose="020F0502020204030204" charset="0"/>
                <a:cs typeface="Calibri" panose="020F0502020204030204" charset="0"/>
              </a:rPr>
              <a:t>Unit testing</a:t>
            </a:r>
            <a:r>
              <a:rPr lang="en-GB" sz="2600" b="0" dirty="0">
                <a:latin typeface="Calibri" panose="020F0502020204030204" charset="0"/>
                <a:cs typeface="Calibri" panose="020F0502020204030204" charset="0"/>
              </a:rPr>
              <a:t>, where individual </a:t>
            </a:r>
            <a:r>
              <a:rPr lang="en-GB" sz="2600" b="0" u="sng" dirty="0">
                <a:latin typeface="Calibri" panose="020F0502020204030204" charset="0"/>
                <a:cs typeface="Calibri" panose="020F0502020204030204" charset="0"/>
              </a:rPr>
              <a:t>program units or object classes</a:t>
            </a:r>
            <a:r>
              <a:rPr lang="en-GB" sz="2600" b="0" dirty="0">
                <a:latin typeface="Calibri" panose="020F0502020204030204" charset="0"/>
                <a:cs typeface="Calibri" panose="020F0502020204030204" charset="0"/>
              </a:rPr>
              <a:t> are tested. Unit</a:t>
            </a:r>
            <a:r>
              <a:rPr lang="en-US" altLang="en-GB" sz="2600" b="0" dirty="0">
                <a:latin typeface="Calibri" panose="020F0502020204030204" charset="0"/>
                <a:cs typeface="Calibri" panose="020F0502020204030204" charset="0"/>
              </a:rPr>
              <a:t> </a:t>
            </a:r>
            <a:r>
              <a:rPr lang="en-GB" sz="2600" b="0" dirty="0">
                <a:latin typeface="Calibri" panose="020F0502020204030204" charset="0"/>
                <a:cs typeface="Calibri" panose="020F0502020204030204" charset="0"/>
              </a:rPr>
              <a:t>testing should focus on testing the </a:t>
            </a:r>
            <a:r>
              <a:rPr lang="en-GB" sz="2600" b="0" u="sng" dirty="0">
                <a:latin typeface="Calibri" panose="020F0502020204030204" charset="0"/>
                <a:cs typeface="Calibri" panose="020F0502020204030204" charset="0"/>
              </a:rPr>
              <a:t>functionality</a:t>
            </a:r>
            <a:r>
              <a:rPr lang="en-GB" sz="2600" b="0" dirty="0">
                <a:latin typeface="Calibri" panose="020F0502020204030204" charset="0"/>
                <a:cs typeface="Calibri" panose="020F0502020204030204" charset="0"/>
              </a:rPr>
              <a:t> of objects or methods.</a:t>
            </a:r>
            <a:r>
              <a:rPr lang="en-US" altLang="en-GB" sz="2600" b="0" dirty="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单元测试</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500"/>
              </a:spcBef>
              <a:spcAft>
                <a:spcPts val="0"/>
              </a:spcAft>
            </a:pPr>
            <a:r>
              <a:rPr lang="en-GB" sz="2600" dirty="0">
                <a:latin typeface="Calibri" panose="020F0502020204030204" charset="0"/>
                <a:cs typeface="Calibri" panose="020F0502020204030204" charset="0"/>
              </a:rPr>
              <a:t>Component testing</a:t>
            </a:r>
            <a:r>
              <a:rPr lang="en-GB" sz="2600" b="0" dirty="0">
                <a:latin typeface="Calibri" panose="020F0502020204030204" charset="0"/>
                <a:cs typeface="Calibri" panose="020F0502020204030204" charset="0"/>
              </a:rPr>
              <a:t>, where several individual units are integrated to create </a:t>
            </a:r>
            <a:r>
              <a:rPr lang="en-GB" sz="2600" b="0" u="sng" dirty="0">
                <a:latin typeface="Calibri" panose="020F0502020204030204" charset="0"/>
                <a:cs typeface="Calibri" panose="020F0502020204030204" charset="0"/>
              </a:rPr>
              <a:t>composite components</a:t>
            </a:r>
            <a:r>
              <a:rPr lang="en-GB" sz="2600" b="0" dirty="0">
                <a:latin typeface="Calibri" panose="020F0502020204030204" charset="0"/>
                <a:cs typeface="Calibri" panose="020F0502020204030204" charset="0"/>
              </a:rPr>
              <a:t>. Component testing should focus on testing the component</a:t>
            </a:r>
            <a:r>
              <a:rPr lang="en-US" altLang="en-GB" sz="2600" b="0" dirty="0">
                <a:latin typeface="Calibri" panose="020F0502020204030204" charset="0"/>
                <a:cs typeface="Calibri" panose="020F0502020204030204" charset="0"/>
              </a:rPr>
              <a:t> </a:t>
            </a:r>
            <a:r>
              <a:rPr lang="en-GB" sz="2600" b="0" u="sng" dirty="0">
                <a:latin typeface="Calibri" panose="020F0502020204030204" charset="0"/>
                <a:cs typeface="Calibri" panose="020F0502020204030204" charset="0"/>
              </a:rPr>
              <a:t>interfaces</a:t>
            </a:r>
            <a:r>
              <a:rPr lang="en-GB" sz="2600" b="0" dirty="0">
                <a:latin typeface="Calibri" panose="020F0502020204030204" charset="0"/>
                <a:cs typeface="Calibri" panose="020F0502020204030204" charset="0"/>
              </a:rPr>
              <a:t> that provide access to the component functions.</a:t>
            </a:r>
            <a:r>
              <a:rPr lang="en-US" altLang="en-GB" sz="2600" b="0" dirty="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构件测试</a:t>
            </a:r>
            <a:endParaRPr lang="en-GB" sz="2600" b="0" dirty="0">
              <a:latin typeface="Calibri" panose="020F0502020204030204" charset="0"/>
              <a:cs typeface="Calibri" panose="020F0502020204030204" charset="0"/>
            </a:endParaRPr>
          </a:p>
          <a:p>
            <a:pPr lvl="1">
              <a:lnSpc>
                <a:spcPct val="82000"/>
              </a:lnSpc>
              <a:spcBef>
                <a:spcPts val="500"/>
              </a:spcBef>
              <a:spcAft>
                <a:spcPts val="0"/>
              </a:spcAft>
            </a:pPr>
            <a:r>
              <a:rPr lang="en-GB" sz="2600" dirty="0">
                <a:latin typeface="Calibri" panose="020F0502020204030204" charset="0"/>
                <a:cs typeface="Calibri" panose="020F0502020204030204" charset="0"/>
              </a:rPr>
              <a:t>System testing</a:t>
            </a:r>
            <a:r>
              <a:rPr lang="en-GB" sz="2600" b="0" dirty="0">
                <a:latin typeface="Calibri" panose="020F0502020204030204" charset="0"/>
                <a:cs typeface="Calibri" panose="020F0502020204030204" charset="0"/>
              </a:rPr>
              <a:t>, where some or all of the components in a system are integrated</a:t>
            </a:r>
            <a:r>
              <a:rPr lang="en-US" altLang="en-GB" sz="2600" b="0" dirty="0">
                <a:latin typeface="Calibri" panose="020F0502020204030204" charset="0"/>
                <a:cs typeface="Calibri" panose="020F0502020204030204" charset="0"/>
              </a:rPr>
              <a:t> </a:t>
            </a:r>
            <a:r>
              <a:rPr lang="en-GB" sz="2600" b="0" dirty="0">
                <a:latin typeface="Calibri" panose="020F0502020204030204" charset="0"/>
                <a:cs typeface="Calibri" panose="020F0502020204030204" charset="0"/>
              </a:rPr>
              <a:t>and the </a:t>
            </a:r>
            <a:r>
              <a:rPr lang="en-GB" sz="2600" b="0" u="sng" dirty="0">
                <a:latin typeface="Calibri" panose="020F0502020204030204" charset="0"/>
                <a:cs typeface="Calibri" panose="020F0502020204030204" charset="0"/>
              </a:rPr>
              <a:t>system is tested as a whole</a:t>
            </a:r>
            <a:r>
              <a:rPr lang="en-GB" sz="2600" b="0" dirty="0">
                <a:latin typeface="Calibri" panose="020F0502020204030204" charset="0"/>
                <a:cs typeface="Calibri" panose="020F0502020204030204" charset="0"/>
              </a:rPr>
              <a:t>. System testing should focus on testing component</a:t>
            </a:r>
            <a:r>
              <a:rPr lang="en-US" altLang="en-GB" sz="2600" b="0" dirty="0">
                <a:latin typeface="Calibri" panose="020F0502020204030204" charset="0"/>
                <a:cs typeface="Calibri" panose="020F0502020204030204" charset="0"/>
              </a:rPr>
              <a:t> </a:t>
            </a:r>
            <a:r>
              <a:rPr lang="en-GB" sz="2600" b="0" u="sng" dirty="0">
                <a:latin typeface="Calibri" panose="020F0502020204030204" charset="0"/>
                <a:cs typeface="Calibri" panose="020F0502020204030204" charset="0"/>
              </a:rPr>
              <a:t>interactions</a:t>
            </a:r>
            <a:r>
              <a:rPr lang="en-GB" sz="2600" b="0" dirty="0">
                <a:latin typeface="Calibri" panose="020F0502020204030204" charset="0"/>
                <a:cs typeface="Calibri" panose="020F0502020204030204" charset="0"/>
              </a:rPr>
              <a:t>.</a:t>
            </a:r>
            <a:r>
              <a:rPr lang="en-US" altLang="en-GB" sz="2600" b="0" dirty="0">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系统测试</a:t>
            </a:r>
            <a:endParaRPr lang="zh-CN" altLang="en-US" sz="2600" b="0" dirty="0">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11835"/>
            <a:ext cx="8977630" cy="60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Unit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单元测试</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12290" name="Rectangle 2"/>
          <p:cNvSpPr>
            <a:spLocks noGrp="1" noChangeArrowheads="1"/>
          </p:cNvSpPr>
          <p:nvPr/>
        </p:nvSpPr>
        <p:spPr>
          <a:xfrm>
            <a:off x="33655" y="1265555"/>
            <a:ext cx="9032240" cy="5450205"/>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nSpc>
                <a:spcPct val="82000"/>
              </a:lnSpc>
              <a:spcBef>
                <a:spcPts val="600"/>
              </a:spcBef>
              <a:spcAft>
                <a:spcPts val="0"/>
              </a:spcAft>
            </a:pPr>
            <a:r>
              <a:rPr lang="en-US" altLang="en-GB" sz="3000" dirty="0">
                <a:solidFill>
                  <a:schemeClr val="tx2">
                    <a:lumMod val="75000"/>
                    <a:lumOff val="25000"/>
                  </a:schemeClr>
                </a:solidFill>
                <a:latin typeface="Calibri" panose="020F0502020204030204" charset="0"/>
                <a:cs typeface="Calibri" panose="020F0502020204030204" charset="0"/>
              </a:rPr>
              <a:t> Unit testing is the process of testing program components, such as methods or object classes.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测试程序构件(如方法或对象类)的过程</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altLang="en-GB" sz="2600" b="0" dirty="0">
                <a:solidFill>
                  <a:schemeClr val="tx1"/>
                </a:solidFill>
                <a:latin typeface="Calibri" panose="020F0502020204030204" charset="0"/>
                <a:cs typeface="Calibri" panose="020F0502020204030204" charset="0"/>
              </a:rPr>
              <a:t>Individual functions or methods are the simplest type of component.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单独的函数或方法是最简单</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类型</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的构件</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altLang="en-GB" sz="2600" b="0" dirty="0">
                <a:solidFill>
                  <a:schemeClr val="tx1"/>
                </a:solidFill>
                <a:latin typeface="Calibri" panose="020F0502020204030204" charset="0"/>
                <a:cs typeface="Calibri" panose="020F0502020204030204" charset="0"/>
              </a:rPr>
              <a:t>Your tests should be calls to these routines with different input parameters.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测试</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用不同输入参数对这些程序的</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调用</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altLang="en-GB" sz="2600" b="0" dirty="0">
                <a:solidFill>
                  <a:schemeClr val="tx1"/>
                </a:solidFill>
                <a:latin typeface="Calibri" panose="020F0502020204030204" charset="0"/>
                <a:cs typeface="Calibri" panose="020F0502020204030204" charset="0"/>
              </a:rPr>
              <a:t>You can use the approaches to test-case design discussed in Section 8.1.2.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使用测试用例设计方法</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600"/>
              </a:spcBef>
              <a:spcAft>
                <a:spcPts val="0"/>
              </a:spcAft>
            </a:pPr>
            <a:r>
              <a:rPr lang="en-US" altLang="en-GB" sz="3000" dirty="0">
                <a:solidFill>
                  <a:schemeClr val="tx2">
                    <a:lumMod val="75000"/>
                    <a:lumOff val="25000"/>
                  </a:schemeClr>
                </a:solidFill>
                <a:latin typeface="Calibri" panose="020F0502020204030204" charset="0"/>
                <a:cs typeface="Calibri" panose="020F0502020204030204" charset="0"/>
              </a:rPr>
              <a:t> When testing object classes, you should design tests to provide </a:t>
            </a:r>
            <a:r>
              <a:rPr lang="en-US" altLang="en-GB" sz="3000" u="sng" dirty="0">
                <a:solidFill>
                  <a:schemeClr val="tx2">
                    <a:lumMod val="75000"/>
                    <a:lumOff val="25000"/>
                  </a:schemeClr>
                </a:solidFill>
                <a:latin typeface="Calibri" panose="020F0502020204030204" charset="0"/>
                <a:cs typeface="Calibri" panose="020F0502020204030204" charset="0"/>
              </a:rPr>
              <a:t>coverage</a:t>
            </a:r>
            <a:r>
              <a:rPr lang="en-US" altLang="en-GB" sz="3000" dirty="0">
                <a:solidFill>
                  <a:schemeClr val="tx2">
                    <a:lumMod val="75000"/>
                    <a:lumOff val="25000"/>
                  </a:schemeClr>
                </a:solidFill>
                <a:latin typeface="Calibri" panose="020F0502020204030204" charset="0"/>
                <a:cs typeface="Calibri" panose="020F0502020204030204" charset="0"/>
              </a:rPr>
              <a:t> of all features of the object.</a:t>
            </a:r>
            <a:r>
              <a:rPr lang="en-US" altLang="en-GB" sz="2600" dirty="0">
                <a:solidFill>
                  <a:schemeClr val="tx2">
                    <a:lumMod val="75000"/>
                    <a:lumOff val="25000"/>
                  </a:schemeClr>
                </a:solidFill>
                <a:latin typeface="Calibri" panose="020F0502020204030204" charset="0"/>
                <a:cs typeface="Calibri" panose="020F0502020204030204" charset="0"/>
              </a:rPr>
              <a:t> </a:t>
            </a:r>
            <a:r>
              <a:rPr lang="en-US" altLang="en-GB" sz="2600" b="0" dirty="0">
                <a:solidFill>
                  <a:schemeClr val="tx1"/>
                </a:solidFill>
                <a:latin typeface="Calibri" panose="020F0502020204030204" charset="0"/>
                <a:cs typeface="Calibri" panose="020F0502020204030204" charset="0"/>
              </a:rPr>
              <a:t>That is, you should test all operations associated with the object; set and check the value of all attributes associated with the object; and put the object into all possible states. You should simulate all events that cause a state change.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要覆盖对象的所有特性</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9460"/>
            <a:ext cx="8977630" cy="5613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The weather station object interface</a:t>
            </a:r>
            <a:r>
              <a:rPr lang="en-US" altLang="zh-CN" sz="28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气象站对象接口</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4578985" y="1277620"/>
            <a:ext cx="4435475" cy="4686300"/>
          </a:xfrm>
          <a:prstGeom prst="rect">
            <a:avLst/>
          </a:prstGeom>
        </p:spPr>
      </p:pic>
      <p:sp>
        <p:nvSpPr>
          <p:cNvPr id="9" name="Content Placeholder 2"/>
          <p:cNvSpPr>
            <a:spLocks noGrp="1"/>
          </p:cNvSpPr>
          <p:nvPr/>
        </p:nvSpPr>
        <p:spPr>
          <a:xfrm>
            <a:off x="103505" y="1285875"/>
            <a:ext cx="4632960" cy="528193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200" b="0" dirty="0" smtClean="0">
                <a:solidFill>
                  <a:schemeClr val="tx1"/>
                </a:solidFill>
                <a:latin typeface="Calibri" panose="020F0502020204030204" charset="0"/>
                <a:cs typeface="Calibri" panose="020F0502020204030204" charset="0"/>
              </a:rPr>
              <a:t>* Consider, the weather station object. The attributes and operations of this object are shown in Fig. 8.4. </a:t>
            </a:r>
            <a:endParaRPr lang="en-US" sz="22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200" b="0" dirty="0" smtClean="0">
                <a:solidFill>
                  <a:schemeClr val="tx1"/>
                </a:solidFill>
                <a:latin typeface="Calibri" panose="020F0502020204030204" charset="0"/>
                <a:cs typeface="Calibri" panose="020F0502020204030204" charset="0"/>
              </a:rPr>
              <a:t>* It has a single attribute, which is its </a:t>
            </a:r>
            <a:r>
              <a:rPr lang="en-US" sz="2200" b="0" u="sng" dirty="0" smtClean="0">
                <a:solidFill>
                  <a:schemeClr val="tx1"/>
                </a:solidFill>
                <a:latin typeface="Calibri" panose="020F0502020204030204" charset="0"/>
                <a:cs typeface="Calibri" panose="020F0502020204030204" charset="0"/>
              </a:rPr>
              <a:t>identifier.</a:t>
            </a:r>
            <a:r>
              <a:rPr lang="en-US" sz="2200" b="0" dirty="0" smtClean="0">
                <a:solidFill>
                  <a:schemeClr val="tx1"/>
                </a:solidFill>
                <a:latin typeface="Calibri" panose="020F0502020204030204" charset="0"/>
                <a:cs typeface="Calibri" panose="020F0502020204030204" charset="0"/>
              </a:rPr>
              <a:t> This is a constant that is set when the weather station is installed. You therefore only need a test that </a:t>
            </a:r>
            <a:r>
              <a:rPr lang="en-US" sz="2200" b="0" u="sng" dirty="0" smtClean="0">
                <a:solidFill>
                  <a:schemeClr val="tx1"/>
                </a:solidFill>
                <a:latin typeface="Calibri" panose="020F0502020204030204" charset="0"/>
                <a:cs typeface="Calibri" panose="020F0502020204030204" charset="0"/>
              </a:rPr>
              <a:t>checks if it has been properly set up</a:t>
            </a:r>
            <a:r>
              <a:rPr lang="en-US" sz="2200" b="0" dirty="0" smtClean="0">
                <a:solidFill>
                  <a:schemeClr val="tx1"/>
                </a:solidFill>
                <a:latin typeface="Calibri" panose="020F0502020204030204" charset="0"/>
                <a:cs typeface="Calibri" panose="020F0502020204030204" charset="0"/>
              </a:rPr>
              <a:t>. </a:t>
            </a:r>
            <a:endParaRPr lang="en-US" sz="22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200" b="0" dirty="0" smtClean="0">
                <a:solidFill>
                  <a:schemeClr val="tx1"/>
                </a:solidFill>
                <a:latin typeface="Calibri" panose="020F0502020204030204" charset="0"/>
                <a:cs typeface="Calibri" panose="020F0502020204030204" charset="0"/>
              </a:rPr>
              <a:t>* You need to </a:t>
            </a:r>
            <a:r>
              <a:rPr lang="en-US" sz="2200" b="0" u="sng" dirty="0" smtClean="0">
                <a:solidFill>
                  <a:schemeClr val="tx1"/>
                </a:solidFill>
                <a:latin typeface="Calibri" panose="020F0502020204030204" charset="0"/>
                <a:cs typeface="Calibri" panose="020F0502020204030204" charset="0"/>
              </a:rPr>
              <a:t>define test cases for all of the methods</a:t>
            </a:r>
            <a:r>
              <a:rPr lang="en-US" sz="2200" b="0" dirty="0" smtClean="0">
                <a:solidFill>
                  <a:schemeClr val="tx1"/>
                </a:solidFill>
                <a:latin typeface="Calibri" panose="020F0502020204030204" charset="0"/>
                <a:cs typeface="Calibri" panose="020F0502020204030204" charset="0"/>
              </a:rPr>
              <a:t> associated with the object such as reportWeather and reportStatus. </a:t>
            </a:r>
            <a:endParaRPr lang="en-US" sz="22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200" b="0" dirty="0" smtClean="0">
                <a:solidFill>
                  <a:schemeClr val="tx1"/>
                </a:solidFill>
                <a:latin typeface="Calibri" panose="020F0502020204030204" charset="0"/>
                <a:cs typeface="Calibri" panose="020F0502020204030204" charset="0"/>
              </a:rPr>
              <a:t>* Ideally, you should test methods </a:t>
            </a:r>
            <a:r>
              <a:rPr lang="en-US" sz="2200" b="0" u="sng" dirty="0" smtClean="0">
                <a:solidFill>
                  <a:schemeClr val="tx1"/>
                </a:solidFill>
                <a:latin typeface="Calibri" panose="020F0502020204030204" charset="0"/>
                <a:cs typeface="Calibri" panose="020F0502020204030204" charset="0"/>
              </a:rPr>
              <a:t>in isolation</a:t>
            </a:r>
            <a:r>
              <a:rPr lang="en-US" sz="2200" b="0" dirty="0" smtClean="0">
                <a:solidFill>
                  <a:schemeClr val="tx1"/>
                </a:solidFill>
                <a:latin typeface="Calibri" panose="020F0502020204030204" charset="0"/>
                <a:cs typeface="Calibri" panose="020F0502020204030204" charset="0"/>
              </a:rPr>
              <a:t>, but, in some cases, </a:t>
            </a:r>
            <a:r>
              <a:rPr lang="en-US" sz="2200" b="0" u="sng" dirty="0" smtClean="0">
                <a:solidFill>
                  <a:schemeClr val="tx1"/>
                </a:solidFill>
                <a:latin typeface="Calibri" panose="020F0502020204030204" charset="0"/>
                <a:cs typeface="Calibri" panose="020F0502020204030204" charset="0"/>
              </a:rPr>
              <a:t>test sequences</a:t>
            </a:r>
            <a:r>
              <a:rPr lang="en-US" sz="2200" b="0" dirty="0" smtClean="0">
                <a:solidFill>
                  <a:schemeClr val="tx1"/>
                </a:solidFill>
                <a:latin typeface="Calibri" panose="020F0502020204030204" charset="0"/>
                <a:cs typeface="Calibri" panose="020F0502020204030204" charset="0"/>
              </a:rPr>
              <a:t> are necessary. For example, to test the method that shuts down the instruments (shutdown), you need to have executed the restart method.</a:t>
            </a:r>
            <a:endParaRPr lang="en-US" sz="2200" b="0" dirty="0" smtClean="0">
              <a:solidFill>
                <a:schemeClr val="tx1"/>
              </a:solidFill>
              <a:latin typeface="Calibri" panose="020F0502020204030204" charset="0"/>
              <a:cs typeface="Calibri" panose="020F0502020204030204" charset="0"/>
            </a:endParaRPr>
          </a:p>
        </p:txBody>
      </p:sp>
      <p:pic>
        <p:nvPicPr>
          <p:cNvPr id="5" name="图片 4"/>
          <p:cNvPicPr>
            <a:picLocks noChangeAspect="1"/>
          </p:cNvPicPr>
          <p:nvPr/>
        </p:nvPicPr>
        <p:blipFill>
          <a:blip r:embed="rId4"/>
          <a:stretch>
            <a:fillRect/>
          </a:stretch>
        </p:blipFill>
        <p:spPr>
          <a:xfrm>
            <a:off x="5648325" y="6050915"/>
            <a:ext cx="2522855" cy="558165"/>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5650"/>
            <a:ext cx="8977630" cy="5568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Weather station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气象站测试</a:t>
            </a:r>
            <a:r>
              <a:rPr lang="en-US" altLang="zh-CN" sz="3200" dirty="0">
                <a:solidFill>
                  <a:schemeClr val="accent1">
                    <a:lumMod val="75000"/>
                  </a:schemeClr>
                </a:solidFill>
                <a:ea typeface="宋体" panose="02010600030101010101" pitchFamily="2" charset="-122"/>
                <a:sym typeface="+mn-ea"/>
              </a:rPr>
              <a:t>   </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44035" name="Rectangle 3"/>
          <p:cNvSpPr>
            <a:spLocks noGrp="1" noChangeArrowheads="1"/>
          </p:cNvSpPr>
          <p:nvPr/>
        </p:nvSpPr>
        <p:spPr>
          <a:xfrm>
            <a:off x="50800" y="1313180"/>
            <a:ext cx="9015095" cy="52425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100" dirty="0">
                <a:solidFill>
                  <a:schemeClr val="accent2">
                    <a:lumMod val="75000"/>
                  </a:schemeClr>
                </a:solidFill>
                <a:latin typeface="Calibri" panose="020F0502020204030204" charset="0"/>
                <a:cs typeface="Calibri" panose="020F0502020204030204" charset="0"/>
              </a:rPr>
              <a:t> You can use a state model t</a:t>
            </a:r>
            <a:r>
              <a:rPr lang="en-US" sz="3100" dirty="0">
                <a:solidFill>
                  <a:schemeClr val="accent2">
                    <a:lumMod val="75000"/>
                  </a:schemeClr>
                </a:solidFill>
                <a:latin typeface="Calibri" panose="020F0502020204030204" charset="0"/>
                <a:cs typeface="Calibri" panose="020F0502020204030204" charset="0"/>
                <a:sym typeface="+mn-ea"/>
              </a:rPr>
              <a:t>o test the states</a:t>
            </a:r>
            <a:r>
              <a:rPr lang="en-US" sz="3100" dirty="0">
                <a:solidFill>
                  <a:schemeClr val="accent2">
                    <a:lumMod val="75000"/>
                  </a:schemeClr>
                </a:solidFill>
                <a:latin typeface="Calibri" panose="020F0502020204030204" charset="0"/>
                <a:cs typeface="Calibri" panose="020F0502020204030204" charset="0"/>
              </a:rPr>
              <a:t>. For this, you identify </a:t>
            </a:r>
            <a:r>
              <a:rPr lang="en-US" sz="3100" u="sng" dirty="0">
                <a:solidFill>
                  <a:schemeClr val="accent2">
                    <a:lumMod val="75000"/>
                  </a:schemeClr>
                </a:solidFill>
                <a:latin typeface="Calibri" panose="020F0502020204030204" charset="0"/>
                <a:cs typeface="Calibri" panose="020F0502020204030204" charset="0"/>
              </a:rPr>
              <a:t>sequences of state transitions</a:t>
            </a:r>
            <a:r>
              <a:rPr lang="en-US" sz="3100" dirty="0">
                <a:solidFill>
                  <a:schemeClr val="accent2">
                    <a:lumMod val="75000"/>
                  </a:schemeClr>
                </a:solidFill>
                <a:latin typeface="Calibri" panose="020F0502020204030204" charset="0"/>
                <a:cs typeface="Calibri" panose="020F0502020204030204" charset="0"/>
              </a:rPr>
              <a:t> that have to be tested and define event sequences to force these transitions.</a:t>
            </a:r>
            <a:r>
              <a:rPr lang="en-US" sz="2700" dirty="0">
                <a:solidFill>
                  <a:schemeClr val="accent2">
                    <a:lumMod val="75000"/>
                  </a:schemeClr>
                </a:solidFill>
                <a:latin typeface="Calibri" panose="020F0502020204030204" charset="0"/>
                <a:cs typeface="Calibri" panose="020F0502020204030204" charset="0"/>
              </a:rPr>
              <a:t> </a:t>
            </a:r>
            <a:r>
              <a:rPr lang="en-US" sz="2700" b="0" dirty="0">
                <a:solidFill>
                  <a:schemeClr val="tx1"/>
                </a:solidFill>
                <a:latin typeface="Calibri" panose="020F0502020204030204" charset="0"/>
                <a:cs typeface="Calibri" panose="020F0502020204030204" charset="0"/>
              </a:rPr>
              <a:t>In principle, you should test every possible state transition sequence, although in practice this may be too expensive.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采用状态模型来测试状态</a:t>
            </a:r>
            <a:endParaRPr lang="en-US" sz="3200" dirty="0">
              <a:solidFill>
                <a:schemeClr val="accent2">
                  <a:lumMod val="75000"/>
                </a:schemeClr>
              </a:solidFill>
              <a:latin typeface="Calibri" panose="020F0502020204030204" charset="0"/>
              <a:cs typeface="Calibri" panose="020F0502020204030204" charset="0"/>
            </a:endParaRPr>
          </a:p>
          <a:p>
            <a:pPr>
              <a:lnSpc>
                <a:spcPct val="85000"/>
              </a:lnSpc>
              <a:spcBef>
                <a:spcPts val="600"/>
              </a:spcBef>
              <a:spcAft>
                <a:spcPts val="0"/>
              </a:spcAft>
            </a:pPr>
            <a:r>
              <a:rPr lang="en-US" sz="3100" dirty="0">
                <a:solidFill>
                  <a:schemeClr val="accent2">
                    <a:lumMod val="75000"/>
                  </a:schemeClr>
                </a:solidFill>
                <a:latin typeface="Calibri" panose="020F0502020204030204" charset="0"/>
                <a:cs typeface="Calibri" panose="020F0502020204030204" charset="0"/>
              </a:rPr>
              <a:t> Examples of state sequences that should be tested in the weather station include: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应测试的状态序列的例子</a:t>
            </a:r>
            <a:endParaRPr lang="en-US" sz="3100" dirty="0">
              <a:solidFill>
                <a:schemeClr val="accent2">
                  <a:lumMod val="7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US" sz="2700" b="0" dirty="0" smtClean="0">
                <a:latin typeface="Calibri" panose="020F0502020204030204" charset="0"/>
                <a:cs typeface="Calibri" panose="020F0502020204030204" charset="0"/>
              </a:rPr>
              <a:t>Shutdown </a:t>
            </a:r>
            <a:r>
              <a:rPr lang="en-US" sz="2700" b="0" dirty="0">
                <a:latin typeface="Calibri" panose="020F0502020204030204" charset="0"/>
                <a:cs typeface="Calibri" panose="020F0502020204030204" charset="0"/>
              </a:rPr>
              <a:t>-&gt;</a:t>
            </a:r>
            <a:r>
              <a:rPr lang="en-US" sz="2700" b="0" dirty="0" smtClean="0">
                <a:latin typeface="Calibri" panose="020F0502020204030204" charset="0"/>
                <a:cs typeface="Calibri" panose="020F0502020204030204" charset="0"/>
              </a:rPr>
              <a:t> Running-</a:t>
            </a:r>
            <a:r>
              <a:rPr lang="en-US" sz="2700" b="0" dirty="0">
                <a:latin typeface="Calibri" panose="020F0502020204030204" charset="0"/>
                <a:cs typeface="Calibri" panose="020F0502020204030204" charset="0"/>
              </a:rPr>
              <a:t>&gt;</a:t>
            </a:r>
            <a:r>
              <a:rPr lang="en-US" sz="2700" b="0" dirty="0" smtClean="0">
                <a:latin typeface="Calibri" panose="020F0502020204030204" charset="0"/>
                <a:cs typeface="Calibri" panose="020F0502020204030204" charset="0"/>
              </a:rPr>
              <a:t> Shutdown</a:t>
            </a:r>
            <a:endParaRPr lang="en-US" sz="2700" b="0" dirty="0" smtClean="0">
              <a:latin typeface="Calibri" panose="020F0502020204030204" charset="0"/>
              <a:cs typeface="Calibri" panose="020F0502020204030204" charset="0"/>
            </a:endParaRPr>
          </a:p>
          <a:p>
            <a:pPr lvl="1">
              <a:lnSpc>
                <a:spcPct val="85000"/>
              </a:lnSpc>
              <a:spcBef>
                <a:spcPts val="600"/>
              </a:spcBef>
              <a:spcAft>
                <a:spcPts val="0"/>
              </a:spcAft>
            </a:pPr>
            <a:r>
              <a:rPr lang="en-US" sz="2700" b="0" dirty="0" smtClean="0">
                <a:latin typeface="Calibri" panose="020F0502020204030204" charset="0"/>
                <a:cs typeface="Calibri" panose="020F0502020204030204" charset="0"/>
              </a:rPr>
              <a:t>Configuring-&gt; Running-&gt; Testing -&gt; Transmitting -&gt; Running</a:t>
            </a:r>
            <a:endParaRPr lang="en-US" sz="2700" b="0" dirty="0" smtClean="0">
              <a:latin typeface="Calibri" panose="020F0502020204030204" charset="0"/>
              <a:cs typeface="Calibri" panose="020F0502020204030204" charset="0"/>
            </a:endParaRPr>
          </a:p>
          <a:p>
            <a:pPr lvl="1">
              <a:lnSpc>
                <a:spcPct val="85000"/>
              </a:lnSpc>
              <a:spcBef>
                <a:spcPts val="600"/>
              </a:spcBef>
              <a:spcAft>
                <a:spcPts val="0"/>
              </a:spcAft>
            </a:pPr>
            <a:r>
              <a:rPr lang="en-US" sz="2700" b="0" dirty="0" smtClean="0">
                <a:latin typeface="Calibri" panose="020F0502020204030204" charset="0"/>
                <a:cs typeface="Calibri" panose="020F0502020204030204" charset="0"/>
              </a:rPr>
              <a:t>Running-&gt; Collecting-&gt; Running-&gt; Summarizing -&gt; Transmitting -&gt; Running</a:t>
            </a:r>
            <a:endParaRPr lang="en-US" sz="2700" b="0" dirty="0">
              <a:latin typeface="Calibri" panose="020F0502020204030204" charset="0"/>
              <a:cs typeface="Calibri" panose="020F050202020403020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7240"/>
            <a:ext cx="8977630" cy="5988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Automated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自动测试</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56515" y="1384935"/>
            <a:ext cx="9010015" cy="51511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Whenever possible, you should automate unit testing.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单元测试应</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尽可能自动化</a:t>
            </a:r>
            <a:endParaRPr lang="en-US" sz="3200" dirty="0" smtClean="0">
              <a:solidFill>
                <a:schemeClr val="tx2">
                  <a:lumMod val="75000"/>
                  <a:lumOff val="2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In automated unit testing, you make use of a </a:t>
            </a:r>
            <a:r>
              <a:rPr lang="en-US" sz="2800" b="0" u="sng" dirty="0" smtClean="0">
                <a:solidFill>
                  <a:schemeClr val="tx1"/>
                </a:solidFill>
                <a:latin typeface="Calibri" panose="020F0502020204030204" charset="0"/>
                <a:cs typeface="Calibri" panose="020F0502020204030204" charset="0"/>
              </a:rPr>
              <a:t>test automation framework</a:t>
            </a:r>
            <a:r>
              <a:rPr lang="en-US" sz="2800" b="0" dirty="0" smtClean="0">
                <a:solidFill>
                  <a:schemeClr val="tx1"/>
                </a:solidFill>
                <a:latin typeface="Calibri" panose="020F0502020204030204" charset="0"/>
                <a:cs typeface="Calibri" panose="020F0502020204030204" charset="0"/>
              </a:rPr>
              <a:t>, such as JUnit, to write and run your program tests.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 利用测试自动化框架</a:t>
            </a:r>
            <a:endParaRPr lang="en-US" sz="2800" b="0" dirty="0" smtClean="0">
              <a:solidFill>
                <a:schemeClr val="tx1"/>
              </a:solidFill>
              <a:latin typeface="Calibri" panose="020F0502020204030204" charset="0"/>
              <a:cs typeface="Calibri" panose="020F0502020204030204" charset="0"/>
            </a:endParaRPr>
          </a:p>
          <a:p>
            <a:pPr lvl="1">
              <a:lnSpc>
                <a:spcPct val="85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Unit testing frameworks provide </a:t>
            </a:r>
            <a:r>
              <a:rPr lang="en-US" sz="2800" b="0" u="sng" dirty="0" smtClean="0">
                <a:solidFill>
                  <a:schemeClr val="tx1"/>
                </a:solidFill>
                <a:latin typeface="Calibri" panose="020F0502020204030204" charset="0"/>
                <a:cs typeface="Calibri" panose="020F0502020204030204" charset="0"/>
              </a:rPr>
              <a:t>generic test classes</a:t>
            </a:r>
            <a:r>
              <a:rPr lang="en-US" sz="2800" b="0" dirty="0" smtClean="0">
                <a:solidFill>
                  <a:schemeClr val="tx1"/>
                </a:solidFill>
                <a:latin typeface="Calibri" panose="020F0502020204030204" charset="0"/>
                <a:cs typeface="Calibri" panose="020F0502020204030204" charset="0"/>
              </a:rPr>
              <a:t> that you extend to create specific test cases. They can then run all of the tests that you have implemented and report, often through some graphical unit interface (GUI), on the success or otherwise of the tests. An entire test suite can often be run in a few seconds, so it is possible to execute all tests every time you make a change to the program.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测试过程</a:t>
            </a:r>
            <a:endParaRPr lang="zh-CN" altLang="en-US" sz="2800"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7240"/>
            <a:ext cx="8977630" cy="5988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An automated test has three parts: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自动测试有三部分</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53975" y="1743710"/>
            <a:ext cx="9013825" cy="42703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A setup part, </a:t>
            </a:r>
            <a:r>
              <a:rPr lang="en-US" sz="2800" b="0" dirty="0" smtClean="0">
                <a:solidFill>
                  <a:schemeClr val="tx1"/>
                </a:solidFill>
                <a:latin typeface="Calibri" panose="020F0502020204030204" charset="0"/>
                <a:cs typeface="Calibri" panose="020F0502020204030204" charset="0"/>
              </a:rPr>
              <a:t>where you initialize the system with test case, namely, the inputs and expected outputs.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设置部分：用测试用例初始化系统</a:t>
            </a:r>
            <a:endParaRPr lang="en-US" sz="20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A call part, </a:t>
            </a:r>
            <a:r>
              <a:rPr lang="en-US" sz="2800" b="0" dirty="0" smtClean="0">
                <a:solidFill>
                  <a:schemeClr val="tx1"/>
                </a:solidFill>
                <a:latin typeface="Calibri" panose="020F0502020204030204" charset="0"/>
                <a:cs typeface="Calibri" panose="020F0502020204030204" charset="0"/>
              </a:rPr>
              <a:t>where you call the object or method to be tested.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调用部分：调用要测试的对象或方法</a:t>
            </a:r>
            <a:endParaRPr lang="en-US" sz="3200" dirty="0" smtClean="0">
              <a:solidFill>
                <a:schemeClr val="tx2">
                  <a:lumMod val="75000"/>
                  <a:lumOff val="25000"/>
                </a:schemeClr>
              </a:solidFill>
              <a:latin typeface="Calibri" panose="020F0502020204030204" charset="0"/>
              <a:cs typeface="Calibri" panose="020F0502020204030204" charset="0"/>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An assertion part, </a:t>
            </a:r>
            <a:r>
              <a:rPr lang="en-US" sz="2800" b="0" dirty="0" smtClean="0">
                <a:solidFill>
                  <a:schemeClr val="tx1"/>
                </a:solidFill>
                <a:latin typeface="Calibri" panose="020F0502020204030204" charset="0"/>
                <a:cs typeface="Calibri" panose="020F0502020204030204" charset="0"/>
              </a:rPr>
              <a:t>where you compare the result of the call with the expected result. If the assertion evaluates to true, the test has been successful; if false, then it has failed.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断言部分：将调用结果与期望结果做</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比较</a:t>
            </a:r>
            <a:endParaRPr lang="en-US" sz="32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4535"/>
            <a:ext cx="8977630" cy="5943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Choosing unit test cases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选择单元测试用例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9690" y="1241425"/>
            <a:ext cx="9006840" cy="549846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Testing is expensive and time consuming, so it is important that you choose effective unit test cases. This means two things: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要选择有效的单元测试用例</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The test cases should show that the component does what it is supposed to do.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应展示构件按期望工作</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If there are defects in the component, these should be revealed by test cases.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构件中若有错误，应能暴露</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So should design two kinds of test case: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应设计两种用例</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The first should reflect normal operation of a program and should show that the component works.</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反应正常操作</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The other should be based on testing experience of where common problems arise. It should use abnormal inputs to check that these are properly processed and do not crash the component.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使用反常输入</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确认被正常处理</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89305"/>
            <a:ext cx="8977630" cy="5810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Two Testing strategies</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两种</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测试策略</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47625" y="1384935"/>
            <a:ext cx="9018905" cy="41573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Partition testing, </a:t>
            </a:r>
            <a:r>
              <a:rPr lang="en-US" sz="2800" b="0" dirty="0" smtClean="0">
                <a:solidFill>
                  <a:schemeClr val="tx1"/>
                </a:solidFill>
                <a:latin typeface="Calibri" panose="020F0502020204030204" charset="0"/>
                <a:cs typeface="Calibri" panose="020F0502020204030204" charset="0"/>
              </a:rPr>
              <a:t>where you identify groups of inputs that have common characteristics and should be processed in the same way. You should choose tests from within each of these groups.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划分测试：识别有共同特点、应采用相同方式处理的输入组，从每组中选择测试</a:t>
            </a:r>
            <a:endParaRPr lang="en-US" sz="2800" b="0" dirty="0" smtClean="0">
              <a:solidFill>
                <a:schemeClr val="tx1"/>
              </a:solidFill>
              <a:latin typeface="Calibri" panose="020F0502020204030204" charset="0"/>
              <a:cs typeface="Calibri" panose="020F0502020204030204" charset="0"/>
            </a:endParaRPr>
          </a:p>
          <a:p>
            <a:pPr>
              <a:lnSpc>
                <a:spcPct val="90000"/>
              </a:lnSpc>
              <a:spcBef>
                <a:spcPts val="8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Guideline-based testing,</a:t>
            </a:r>
            <a:r>
              <a:rPr lang="en-US" sz="2800" b="0" dirty="0" smtClean="0">
                <a:solidFill>
                  <a:schemeClr val="tx1"/>
                </a:solidFill>
                <a:latin typeface="Calibri" panose="020F0502020204030204" charset="0"/>
                <a:cs typeface="Calibri" panose="020F0502020204030204" charset="0"/>
              </a:rPr>
              <a:t> where you use testing guidelines to choose test cases. These guidelines reflect previous experience of the kinds of errors that programmers often make when developing components.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基于指南的测试：使用测试指南来选择测试用例。</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4215"/>
            <a:ext cx="8977630" cy="5314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Partition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rgbClr val="C00000"/>
                </a:solidFill>
                <a:latin typeface="黑体" panose="02010609060101010101" pitchFamily="49" charset="-122"/>
                <a:ea typeface="黑体" panose="02010609060101010101" pitchFamily="49" charset="-122"/>
                <a:sym typeface="+mn-ea"/>
              </a:rPr>
              <a:t>划分测试</a:t>
            </a:r>
            <a:endParaRPr lang="zh-CN" altLang="en-US" dirty="0">
              <a:solidFill>
                <a:srgbClr val="C00000"/>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59690" y="1199515"/>
            <a:ext cx="9006840" cy="55206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The input data and output results of a program can be thought of as members of sets with common characteristics.</a:t>
            </a:r>
            <a:r>
              <a:rPr lang="en-US" sz="3100" dirty="0" smtClean="0">
                <a:solidFill>
                  <a:schemeClr val="accent2">
                    <a:lumMod val="75000"/>
                  </a:schemeClr>
                </a:solidFill>
                <a:latin typeface="Calibri" panose="020F0502020204030204" charset="0"/>
                <a:cs typeface="Calibri" panose="020F0502020204030204" charset="0"/>
              </a:rPr>
              <a:t> </a:t>
            </a:r>
            <a:r>
              <a:rPr lang="en-US" sz="2800" b="0" dirty="0" smtClean="0">
                <a:solidFill>
                  <a:schemeClr val="tx1"/>
                </a:solidFill>
                <a:latin typeface="Calibri" panose="020F0502020204030204" charset="0"/>
                <a:cs typeface="Calibri" panose="020F0502020204030204" charset="0"/>
              </a:rPr>
              <a:t>Examples of these sets are positive numbers, negative numbers, and menu selections. Programs normally behave in a comparable way for all members of a set.  </a:t>
            </a:r>
            <a:r>
              <a:rPr lang="zh-CN" altLang="en-US" sz="2000" kern="0" dirty="0">
                <a:solidFill>
                  <a:srgbClr val="C00000"/>
                </a:solidFill>
                <a:latin typeface="黑体" panose="02010609060101010101" pitchFamily="49" charset="-122"/>
                <a:ea typeface="黑体" panose="02010609060101010101" pitchFamily="49" charset="-122"/>
                <a:cs typeface="+mn-cs"/>
              </a:rPr>
              <a:t>输入和输出数据看做有共同特点的集合的成员</a:t>
            </a:r>
            <a:endParaRPr lang="zh-CN" altLang="en-US" sz="2000" kern="0" dirty="0">
              <a:solidFill>
                <a:srgbClr val="C00000"/>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These classes are sometimes called </a:t>
            </a:r>
            <a:r>
              <a:rPr lang="en-US" sz="3000" u="sng" dirty="0" smtClean="0">
                <a:solidFill>
                  <a:schemeClr val="accent2">
                    <a:lumMod val="75000"/>
                  </a:schemeClr>
                </a:solidFill>
                <a:latin typeface="Calibri" panose="020F0502020204030204" charset="0"/>
                <a:cs typeface="Calibri" panose="020F0502020204030204" charset="0"/>
              </a:rPr>
              <a:t>equivalence partitions or domains</a:t>
            </a:r>
            <a:r>
              <a:rPr lang="en-US" sz="3000" dirty="0" smtClean="0">
                <a:solidFill>
                  <a:schemeClr val="accent2">
                    <a:lumMod val="75000"/>
                  </a:schemeClr>
                </a:solidFill>
                <a:latin typeface="Calibri" panose="020F0502020204030204" charset="0"/>
                <a:cs typeface="Calibri" panose="020F0502020204030204" charset="0"/>
              </a:rPr>
              <a:t>. </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000" kern="0" dirty="0">
                <a:solidFill>
                  <a:srgbClr val="C00000"/>
                </a:solidFill>
                <a:latin typeface="黑体" panose="02010609060101010101" pitchFamily="49" charset="-122"/>
                <a:ea typeface="黑体" panose="02010609060101010101" pitchFamily="49" charset="-122"/>
                <a:cs typeface="+mn-cs"/>
              </a:rPr>
              <a:t>称为等价划分或等价域</a:t>
            </a:r>
            <a:endParaRPr lang="zh-CN" altLang="en-US" sz="2000" kern="0" dirty="0">
              <a:solidFill>
                <a:srgbClr val="C00000"/>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000" dirty="0" smtClean="0">
                <a:solidFill>
                  <a:schemeClr val="accent2">
                    <a:lumMod val="75000"/>
                  </a:schemeClr>
                </a:solidFill>
                <a:latin typeface="Calibri" panose="020F0502020204030204" charset="0"/>
                <a:cs typeface="Calibri" panose="020F0502020204030204" charset="0"/>
              </a:rPr>
              <a:t> One systematic approach to test-case design is based on identifying all input and output partitions for a system or component. Test cases are designed so that the inputs or outputs lie within these partitions.</a:t>
            </a:r>
            <a:r>
              <a:rPr lang="en-US" sz="3100" dirty="0" smtClean="0">
                <a:solidFill>
                  <a:schemeClr val="accent2">
                    <a:lumMod val="75000"/>
                  </a:schemeClr>
                </a:solidFill>
                <a:latin typeface="Calibri" panose="020F0502020204030204" charset="0"/>
                <a:cs typeface="Calibri" panose="020F0502020204030204" charset="0"/>
              </a:rPr>
              <a:t> </a:t>
            </a:r>
            <a:r>
              <a:rPr lang="zh-CN" altLang="en-US" sz="2000" kern="0" dirty="0">
                <a:solidFill>
                  <a:srgbClr val="C00000"/>
                </a:solidFill>
                <a:latin typeface="黑体" panose="02010609060101010101" pitchFamily="49" charset="-122"/>
                <a:ea typeface="黑体" panose="02010609060101010101" pitchFamily="49" charset="-122"/>
                <a:cs typeface="+mn-cs"/>
              </a:rPr>
              <a:t>测试用例设计的系统化方法：识别所有的输入划分和输出划分、设计使输入和输出落在这些划分之内的测试用例</a:t>
            </a:r>
            <a:endParaRPr lang="zh-CN" altLang="en-US" sz="2000" kern="0" dirty="0">
              <a:solidFill>
                <a:srgbClr val="C00000"/>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193415" y="137160"/>
            <a:ext cx="5876290" cy="4070350"/>
          </a:xfrm>
          <a:prstGeom prst="rect">
            <a:avLst/>
          </a:prstGeom>
        </p:spPr>
      </p:pic>
      <p:pic>
        <p:nvPicPr>
          <p:cNvPr id="5" name="图片 4"/>
          <p:cNvPicPr>
            <a:picLocks noChangeAspect="1"/>
          </p:cNvPicPr>
          <p:nvPr/>
        </p:nvPicPr>
        <p:blipFill>
          <a:blip r:embed="rId2"/>
          <a:stretch>
            <a:fillRect/>
          </a:stretch>
        </p:blipFill>
        <p:spPr>
          <a:xfrm>
            <a:off x="5159375" y="624840"/>
            <a:ext cx="2375535" cy="613410"/>
          </a:xfrm>
          <a:prstGeom prst="rect">
            <a:avLst/>
          </a:prstGeom>
        </p:spPr>
      </p:pic>
      <p:sp>
        <p:nvSpPr>
          <p:cNvPr id="9" name="Content Placeholder 2"/>
          <p:cNvSpPr>
            <a:spLocks noGrp="1"/>
          </p:cNvSpPr>
          <p:nvPr/>
        </p:nvSpPr>
        <p:spPr>
          <a:xfrm>
            <a:off x="31750" y="137795"/>
            <a:ext cx="3150870" cy="4269105"/>
          </a:xfrm>
          <a:prstGeom prst="rect">
            <a:avLst/>
          </a:prstGeom>
          <a:solidFill>
            <a:schemeClr val="bg1"/>
          </a:solidFill>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In Fig. 8.5, the large shaded ellipse on the left represents the set of all possible inputs. The smaller unshaded ellipses represent equivalence partitions.</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sym typeface="+mn-ea"/>
              </a:rPr>
              <a:t>* A</a:t>
            </a:r>
            <a:r>
              <a:rPr lang="en-US" sz="2000" b="0" dirty="0" smtClean="0">
                <a:solidFill>
                  <a:schemeClr val="tx1"/>
                </a:solidFill>
                <a:latin typeface="Calibri" panose="020F0502020204030204" charset="0"/>
                <a:cs typeface="Calibri" panose="020F0502020204030204" charset="0"/>
                <a:sym typeface="+mn-ea"/>
              </a:rPr>
              <a:t>ll of the outputs within e</a:t>
            </a:r>
            <a:r>
              <a:rPr lang="en-US" sz="2000" b="0" dirty="0" smtClean="0">
                <a:solidFill>
                  <a:schemeClr val="tx1"/>
                </a:solidFill>
                <a:latin typeface="Calibri" panose="020F0502020204030204" charset="0"/>
                <a:cs typeface="Calibri" panose="020F0502020204030204" charset="0"/>
                <a:sym typeface="+mn-ea"/>
              </a:rPr>
              <a:t>ach of the output equivalence partitions have something in common. </a:t>
            </a:r>
            <a:endParaRPr lang="en-US" sz="2000" b="0" dirty="0" smtClean="0">
              <a:solidFill>
                <a:schemeClr val="tx1"/>
              </a:solidFill>
              <a:latin typeface="Calibri" panose="020F0502020204030204" charset="0"/>
              <a:cs typeface="Calibri" panose="020F0502020204030204" charset="0"/>
              <a:sym typeface="+mn-ea"/>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sym typeface="+mn-ea"/>
              </a:rPr>
              <a:t>* The </a:t>
            </a:r>
            <a:r>
              <a:rPr lang="en-US" sz="2000" b="0" u="sng" dirty="0" smtClean="0">
                <a:solidFill>
                  <a:schemeClr val="tx1"/>
                </a:solidFill>
                <a:latin typeface="Calibri" panose="020F0502020204030204" charset="0"/>
                <a:cs typeface="Calibri" panose="020F0502020204030204" charset="0"/>
                <a:sym typeface="+mn-ea"/>
              </a:rPr>
              <a:t>shaded area</a:t>
            </a:r>
            <a:r>
              <a:rPr lang="en-US" sz="2000" b="0" dirty="0" smtClean="0">
                <a:solidFill>
                  <a:schemeClr val="tx1"/>
                </a:solidFill>
                <a:latin typeface="Calibri" panose="020F0502020204030204" charset="0"/>
                <a:cs typeface="Calibri" panose="020F0502020204030204" charset="0"/>
                <a:sym typeface="+mn-ea"/>
              </a:rPr>
              <a:t> in the left ellipse represents </a:t>
            </a:r>
            <a:r>
              <a:rPr lang="en-US" sz="2000" b="0" u="sng" dirty="0" smtClean="0">
                <a:solidFill>
                  <a:schemeClr val="tx1"/>
                </a:solidFill>
                <a:latin typeface="Calibri" panose="020F0502020204030204" charset="0"/>
                <a:cs typeface="Calibri" panose="020F0502020204030204" charset="0"/>
                <a:sym typeface="+mn-ea"/>
              </a:rPr>
              <a:t>invalid inputs</a:t>
            </a:r>
            <a:r>
              <a:rPr lang="en-US" sz="2000" b="0" dirty="0" smtClean="0">
                <a:solidFill>
                  <a:schemeClr val="tx1"/>
                </a:solidFill>
                <a:latin typeface="Calibri" panose="020F0502020204030204" charset="0"/>
                <a:cs typeface="Calibri" panose="020F0502020204030204" charset="0"/>
                <a:sym typeface="+mn-ea"/>
              </a:rPr>
              <a:t>. The </a:t>
            </a:r>
            <a:r>
              <a:rPr lang="en-US" sz="2000" b="0" u="sng" dirty="0" smtClean="0">
                <a:solidFill>
                  <a:schemeClr val="tx1"/>
                </a:solidFill>
                <a:latin typeface="Calibri" panose="020F0502020204030204" charset="0"/>
                <a:cs typeface="Calibri" panose="020F0502020204030204" charset="0"/>
                <a:sym typeface="+mn-ea"/>
              </a:rPr>
              <a:t>shaded area</a:t>
            </a:r>
            <a:r>
              <a:rPr lang="en-US" sz="2000" b="0" dirty="0" smtClean="0">
                <a:solidFill>
                  <a:schemeClr val="tx1"/>
                </a:solidFill>
                <a:latin typeface="Calibri" panose="020F0502020204030204" charset="0"/>
                <a:cs typeface="Calibri" panose="020F0502020204030204" charset="0"/>
                <a:sym typeface="+mn-ea"/>
              </a:rPr>
              <a:t> in the right ellipse represents </a:t>
            </a:r>
            <a:r>
              <a:rPr lang="en-US" sz="2000" b="0" u="sng" dirty="0" smtClean="0">
                <a:solidFill>
                  <a:schemeClr val="tx1"/>
                </a:solidFill>
                <a:latin typeface="Calibri" panose="020F0502020204030204" charset="0"/>
                <a:cs typeface="Calibri" panose="020F0502020204030204" charset="0"/>
                <a:sym typeface="+mn-ea"/>
              </a:rPr>
              <a:t>exceptions</a:t>
            </a:r>
            <a:r>
              <a:rPr lang="en-US" sz="2000" b="0" dirty="0" smtClean="0">
                <a:solidFill>
                  <a:schemeClr val="tx1"/>
                </a:solidFill>
                <a:latin typeface="Calibri" panose="020F0502020204030204" charset="0"/>
                <a:cs typeface="Calibri" panose="020F0502020204030204" charset="0"/>
                <a:sym typeface="+mn-ea"/>
              </a:rPr>
              <a:t>, i.e. responses to invalid inputs.</a:t>
            </a:r>
            <a:endParaRPr lang="en-US" sz="2000" b="0" dirty="0" smtClean="0">
              <a:solidFill>
                <a:schemeClr val="tx1"/>
              </a:solidFill>
              <a:latin typeface="Calibri" panose="020F0502020204030204" charset="0"/>
              <a:cs typeface="Calibri" panose="020F0502020204030204" charset="0"/>
            </a:endParaRPr>
          </a:p>
        </p:txBody>
      </p:sp>
      <p:sp>
        <p:nvSpPr>
          <p:cNvPr id="8" name="Content Placeholder 2"/>
          <p:cNvSpPr>
            <a:spLocks noGrp="1"/>
          </p:cNvSpPr>
          <p:nvPr/>
        </p:nvSpPr>
        <p:spPr>
          <a:xfrm>
            <a:off x="75565" y="4426585"/>
            <a:ext cx="8993505" cy="2165350"/>
          </a:xfrm>
          <a:prstGeom prst="rect">
            <a:avLst/>
          </a:prstGeom>
          <a:solidFill>
            <a:schemeClr val="bg1"/>
          </a:solidFill>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Once you have identified a set of partitions, you choose test cases </a:t>
            </a:r>
            <a:r>
              <a:rPr lang="en-US" sz="2000" b="0" u="sng" dirty="0" smtClean="0">
                <a:solidFill>
                  <a:schemeClr val="tx1"/>
                </a:solidFill>
                <a:latin typeface="Calibri" panose="020F0502020204030204" charset="0"/>
                <a:cs typeface="Calibri" panose="020F0502020204030204" charset="0"/>
              </a:rPr>
              <a:t>from each</a:t>
            </a:r>
            <a:r>
              <a:rPr lang="en-US" sz="2000" b="0" dirty="0" smtClean="0">
                <a:solidFill>
                  <a:schemeClr val="tx1"/>
                </a:solidFill>
                <a:latin typeface="Calibri" panose="020F0502020204030204" charset="0"/>
                <a:cs typeface="Calibri" panose="020F0502020204030204" charset="0"/>
              </a:rPr>
              <a:t> of these partitions. A good rule of thumb for test-case selection is to choose test cases on the </a:t>
            </a:r>
            <a:r>
              <a:rPr lang="en-US" sz="2000" b="0" u="sng" dirty="0" smtClean="0">
                <a:solidFill>
                  <a:schemeClr val="tx1"/>
                </a:solidFill>
                <a:latin typeface="Calibri" panose="020F0502020204030204" charset="0"/>
                <a:cs typeface="Calibri" panose="020F0502020204030204" charset="0"/>
              </a:rPr>
              <a:t>boundaries</a:t>
            </a:r>
            <a:r>
              <a:rPr lang="en-US" sz="2000" b="0" dirty="0" smtClean="0">
                <a:solidFill>
                  <a:schemeClr val="tx1"/>
                </a:solidFill>
                <a:latin typeface="Calibri" panose="020F0502020204030204" charset="0"/>
                <a:cs typeface="Calibri" panose="020F0502020204030204" charset="0"/>
              </a:rPr>
              <a:t> of the partitions, </a:t>
            </a:r>
            <a:r>
              <a:rPr lang="en-US" sz="2000" b="0" u="sng" dirty="0" smtClean="0">
                <a:solidFill>
                  <a:schemeClr val="tx1"/>
                </a:solidFill>
                <a:latin typeface="Calibri" panose="020F0502020204030204" charset="0"/>
                <a:cs typeface="Calibri" panose="020F0502020204030204" charset="0"/>
              </a:rPr>
              <a:t>plus</a:t>
            </a:r>
            <a:r>
              <a:rPr lang="en-US" sz="2000" b="0" dirty="0" smtClean="0">
                <a:solidFill>
                  <a:schemeClr val="tx1"/>
                </a:solidFill>
                <a:latin typeface="Calibri" panose="020F0502020204030204" charset="0"/>
                <a:cs typeface="Calibri" panose="020F0502020204030204" charset="0"/>
              </a:rPr>
              <a:t> cases </a:t>
            </a:r>
            <a:r>
              <a:rPr lang="en-US" sz="2000" b="0" u="sng" dirty="0" smtClean="0">
                <a:solidFill>
                  <a:schemeClr val="tx1"/>
                </a:solidFill>
                <a:latin typeface="Calibri" panose="020F0502020204030204" charset="0"/>
                <a:cs typeface="Calibri" panose="020F0502020204030204" charset="0"/>
              </a:rPr>
              <a:t>close to the midpoint</a:t>
            </a:r>
            <a:r>
              <a:rPr lang="en-US" sz="2000" b="0" dirty="0" smtClean="0">
                <a:solidFill>
                  <a:schemeClr val="tx1"/>
                </a:solidFill>
                <a:latin typeface="Calibri" panose="020F0502020204030204" charset="0"/>
                <a:cs typeface="Calibri" panose="020F0502020204030204" charset="0"/>
              </a:rPr>
              <a:t> of the partition. The reason for this is that designers and programmers tend to consider typical values of inputs when developing a system. You test these by choosing the midpoint of the partition. Boundary values are often atypical (e.g., zero may behave differently from other non-negative numbers) and so are sometimes overlooked by developers. Program failures often occur when processing these atypical values.</a:t>
            </a:r>
            <a:endParaRPr lang="en-US" sz="20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2"/>
          <a:stretch>
            <a:fillRect/>
          </a:stretch>
        </p:blipFill>
        <p:spPr>
          <a:xfrm>
            <a:off x="1712595" y="774700"/>
            <a:ext cx="7212965" cy="4674870"/>
          </a:xfrm>
          <a:prstGeom prst="rect">
            <a:avLst/>
          </a:prstGeom>
        </p:spPr>
      </p:pic>
      <p:pic>
        <p:nvPicPr>
          <p:cNvPr id="5" name="图片 4"/>
          <p:cNvPicPr>
            <a:picLocks noChangeAspect="1"/>
          </p:cNvPicPr>
          <p:nvPr/>
        </p:nvPicPr>
        <p:blipFill>
          <a:blip r:embed="rId3"/>
          <a:stretch>
            <a:fillRect/>
          </a:stretch>
        </p:blipFill>
        <p:spPr>
          <a:xfrm>
            <a:off x="6925310" y="956945"/>
            <a:ext cx="2038350" cy="495300"/>
          </a:xfrm>
          <a:prstGeom prst="rect">
            <a:avLst/>
          </a:prstGeom>
        </p:spPr>
      </p:pic>
      <p:sp>
        <p:nvSpPr>
          <p:cNvPr id="9" name="Content Placeholder 2"/>
          <p:cNvSpPr>
            <a:spLocks noGrp="1"/>
          </p:cNvSpPr>
          <p:nvPr/>
        </p:nvSpPr>
        <p:spPr>
          <a:xfrm>
            <a:off x="31750" y="1501140"/>
            <a:ext cx="2379980" cy="270129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*You identify partitions by using the program specification or user documentation and from experience where you predict the classes of input value that are likely to detect errors.</a:t>
            </a:r>
            <a:endParaRPr lang="en-US" sz="2000" b="0" dirty="0" smtClean="0">
              <a:solidFill>
                <a:schemeClr val="tx1"/>
              </a:solidFill>
              <a:latin typeface="Calibri" panose="020F0502020204030204" charset="0"/>
              <a:cs typeface="Calibri" panose="020F0502020204030204" charset="0"/>
            </a:endParaRPr>
          </a:p>
        </p:txBody>
      </p:sp>
      <p:sp>
        <p:nvSpPr>
          <p:cNvPr id="6" name="Content Placeholder 2"/>
          <p:cNvSpPr>
            <a:spLocks noGrp="1"/>
          </p:cNvSpPr>
          <p:nvPr/>
        </p:nvSpPr>
        <p:spPr>
          <a:xfrm>
            <a:off x="3048635" y="5287645"/>
            <a:ext cx="6123940" cy="142938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For example, say a program specification states that the program accepts four to ten inputs which are five-digit integers greater than 10,000. You use this information to identify the input partitions and possible test input values. These are shown in Figure 8.6.</a:t>
            </a:r>
            <a:endParaRPr lang="en-US" sz="20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5970"/>
            <a:ext cx="8977630" cy="5753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100" dirty="0">
                <a:solidFill>
                  <a:schemeClr val="accent1">
                    <a:lumMod val="75000"/>
                  </a:schemeClr>
                </a:solidFill>
                <a:ea typeface="宋体" panose="02010600030101010101" pitchFamily="2" charset="-122"/>
                <a:sym typeface="+mn-ea"/>
              </a:rPr>
              <a:t> Black</a:t>
            </a:r>
            <a:r>
              <a:rPr lang="en-US" altLang="zh-CN" sz="3100" dirty="0">
                <a:solidFill>
                  <a:schemeClr val="accent1">
                    <a:lumMod val="75000"/>
                  </a:schemeClr>
                </a:solidFill>
                <a:ea typeface="宋体" panose="02010600030101010101" pitchFamily="2" charset="-122"/>
                <a:sym typeface="+mn-ea"/>
              </a:rPr>
              <a:t>-b</a:t>
            </a:r>
            <a:r>
              <a:rPr lang="zh-CN" altLang="en-US" sz="3100" dirty="0">
                <a:solidFill>
                  <a:schemeClr val="accent1">
                    <a:lumMod val="75000"/>
                  </a:schemeClr>
                </a:solidFill>
                <a:ea typeface="宋体" panose="02010600030101010101" pitchFamily="2" charset="-122"/>
                <a:sym typeface="+mn-ea"/>
              </a:rPr>
              <a:t>ox and white</a:t>
            </a:r>
            <a:r>
              <a:rPr lang="en-US" altLang="zh-CN" sz="3100" dirty="0">
                <a:solidFill>
                  <a:schemeClr val="accent1">
                    <a:lumMod val="75000"/>
                  </a:schemeClr>
                </a:solidFill>
                <a:ea typeface="宋体" panose="02010600030101010101" pitchFamily="2" charset="-122"/>
                <a:sym typeface="+mn-ea"/>
              </a:rPr>
              <a:t>-</a:t>
            </a:r>
            <a:r>
              <a:rPr lang="zh-CN" altLang="en-US" sz="3100" dirty="0">
                <a:solidFill>
                  <a:schemeClr val="accent1">
                    <a:lumMod val="75000"/>
                  </a:schemeClr>
                </a:solidFill>
                <a:ea typeface="宋体" panose="02010600030101010101" pitchFamily="2" charset="-122"/>
                <a:sym typeface="+mn-ea"/>
              </a:rPr>
              <a:t>box testing</a:t>
            </a:r>
            <a:r>
              <a:rPr lang="en-US" altLang="zh-CN" sz="31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黑盒和白盒测试</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59690" y="1313180"/>
            <a:ext cx="9006840" cy="486156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When you use the </a:t>
            </a:r>
            <a:r>
              <a:rPr lang="en-US" sz="3200" u="sng" dirty="0" smtClean="0">
                <a:solidFill>
                  <a:schemeClr val="accent2">
                    <a:lumMod val="75000"/>
                  </a:schemeClr>
                </a:solidFill>
                <a:latin typeface="Calibri" panose="020F0502020204030204" charset="0"/>
                <a:cs typeface="Calibri" panose="020F0502020204030204" charset="0"/>
              </a:rPr>
              <a:t>specification</a:t>
            </a:r>
            <a:r>
              <a:rPr lang="en-US" sz="3200" dirty="0" smtClean="0">
                <a:solidFill>
                  <a:schemeClr val="accent2">
                    <a:lumMod val="75000"/>
                  </a:schemeClr>
                </a:solidFill>
                <a:latin typeface="Calibri" panose="020F0502020204030204" charset="0"/>
                <a:cs typeface="Calibri" panose="020F0502020204030204" charset="0"/>
              </a:rPr>
              <a:t> of a system to identify equivalence partitions, this is called black-box testing.</a:t>
            </a:r>
            <a:r>
              <a:rPr lang="en-US" sz="2800" b="0" dirty="0" smtClean="0">
                <a:solidFill>
                  <a:schemeClr val="tx1"/>
                </a:solidFill>
                <a:latin typeface="Calibri" panose="020F0502020204030204" charset="0"/>
                <a:cs typeface="Calibri" panose="020F0502020204030204" charset="0"/>
              </a:rPr>
              <a:t> You don’t need any knowledge of how the system works.</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黑盒测试</a:t>
            </a:r>
            <a:endParaRPr lang="en-US" sz="3200" dirty="0" smtClean="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It is sometimes useful to supplement the black-box tests with “white-box testing,” </a:t>
            </a:r>
            <a:r>
              <a:rPr lang="en-US" sz="2800" b="0" dirty="0" smtClean="0">
                <a:solidFill>
                  <a:schemeClr val="tx1"/>
                </a:solidFill>
                <a:latin typeface="Calibri" panose="020F0502020204030204" charset="0"/>
                <a:cs typeface="Calibri" panose="020F0502020204030204" charset="0"/>
              </a:rPr>
              <a:t>where you look at the </a:t>
            </a:r>
            <a:r>
              <a:rPr lang="en-US" sz="2800" b="0" u="sng" dirty="0" smtClean="0">
                <a:solidFill>
                  <a:schemeClr val="tx1"/>
                </a:solidFill>
                <a:latin typeface="Calibri" panose="020F0502020204030204" charset="0"/>
                <a:cs typeface="Calibri" panose="020F0502020204030204" charset="0"/>
              </a:rPr>
              <a:t>code</a:t>
            </a:r>
            <a:r>
              <a:rPr lang="en-US" sz="2800" b="0" dirty="0" smtClean="0">
                <a:solidFill>
                  <a:schemeClr val="tx1"/>
                </a:solidFill>
                <a:latin typeface="Calibri" panose="020F0502020204030204" charset="0"/>
                <a:cs typeface="Calibri" panose="020F0502020204030204" charset="0"/>
              </a:rPr>
              <a:t> of the program to find other possible tests.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白盒测试</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Aft>
                <a:spcPts val="0"/>
              </a:spcAft>
            </a:pPr>
            <a:r>
              <a:rPr lang="en-US" sz="2800" b="0" dirty="0" smtClean="0">
                <a:solidFill>
                  <a:schemeClr val="tx1"/>
                </a:solidFill>
                <a:latin typeface="Calibri" panose="020F0502020204030204" charset="0"/>
                <a:cs typeface="Calibri" panose="020F0502020204030204" charset="0"/>
              </a:rPr>
              <a:t>For example, your code may include exceptions to handle incorrect inputs. You can use this knowledge to identify “exception partitions”—different ranges where the same exception handling should be applied.</a:t>
            </a:r>
            <a:endParaRPr lang="en-US" sz="28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4215"/>
            <a:ext cx="8977630" cy="5981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Testing guidelines (sequences)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测试指南(序列)</a:t>
            </a:r>
            <a:endPar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59690" y="1241425"/>
            <a:ext cx="9006840" cy="548195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5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You can also use testing guidelines to help choose test cases. Guidelines encapsulate knowledge of what kinds of test cases are effective for discovering errors.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使用测试指南来帮助选择测试用例</a:t>
            </a:r>
            <a:endParaRPr lang="en-US"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a:lnSpc>
                <a:spcPct val="82000"/>
              </a:lnSpc>
              <a:spcBef>
                <a:spcPts val="5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For example, when you are testing programs with sequences, arrays, or lists, guidelines that could help include: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例如,带序列、数组、列表的程序测试</a:t>
            </a:r>
            <a:endParaRPr lang="en-US" sz="3200" dirty="0" smtClean="0">
              <a:solidFill>
                <a:schemeClr val="accent2">
                  <a:lumMod val="75000"/>
                </a:schemeClr>
              </a:solidFill>
              <a:latin typeface="Calibri" panose="020F0502020204030204" charset="0"/>
              <a:cs typeface="Calibri" panose="020F0502020204030204" charset="0"/>
            </a:endParaRPr>
          </a:p>
          <a:p>
            <a:pPr lvl="1">
              <a:lnSpc>
                <a:spcPct val="82000"/>
              </a:lnSpc>
              <a:spcBef>
                <a:spcPts val="500"/>
              </a:spcBef>
              <a:spcAft>
                <a:spcPts val="0"/>
              </a:spcAft>
            </a:pPr>
            <a:r>
              <a:rPr lang="en-US" sz="2800" b="0" dirty="0" smtClean="0">
                <a:solidFill>
                  <a:schemeClr val="tx1"/>
                </a:solidFill>
                <a:latin typeface="Calibri" panose="020F0502020204030204" charset="0"/>
                <a:cs typeface="Calibri" panose="020F0502020204030204" charset="0"/>
              </a:rPr>
              <a:t>Test software with sequences that have only a single value. If presented with a single-value sequence, a program may not work properly.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用</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只有单个值的序列做测试</a:t>
            </a:r>
            <a:endParaRPr lang="en-US" b="0" dirty="0" smtClean="0">
              <a:solidFill>
                <a:schemeClr val="tx1"/>
              </a:solidFill>
              <a:latin typeface="Calibri" panose="020F0502020204030204" charset="0"/>
              <a:cs typeface="Calibri" panose="020F0502020204030204" charset="0"/>
            </a:endParaRPr>
          </a:p>
          <a:p>
            <a:pPr lvl="1">
              <a:lnSpc>
                <a:spcPct val="82000"/>
              </a:lnSpc>
              <a:spcBef>
                <a:spcPts val="500"/>
              </a:spcBef>
              <a:spcAft>
                <a:spcPts val="0"/>
              </a:spcAft>
            </a:pPr>
            <a:r>
              <a:rPr lang="en-US" sz="2800" b="0" dirty="0" smtClean="0">
                <a:solidFill>
                  <a:schemeClr val="tx1"/>
                </a:solidFill>
                <a:latin typeface="Calibri" panose="020F0502020204030204" charset="0"/>
                <a:cs typeface="Calibri" panose="020F0502020204030204" charset="0"/>
              </a:rPr>
              <a:t>Use different sequences of different sizes in different tests.  </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在不同测试中使用不同大小的序列</a:t>
            </a:r>
            <a:endParaRPr lang="en-US" b="0" dirty="0" smtClean="0">
              <a:solidFill>
                <a:schemeClr val="tx1"/>
              </a:solidFill>
              <a:latin typeface="Calibri" panose="020F0502020204030204" charset="0"/>
              <a:cs typeface="Calibri" panose="020F0502020204030204" charset="0"/>
            </a:endParaRPr>
          </a:p>
          <a:p>
            <a:pPr lvl="1">
              <a:lnSpc>
                <a:spcPct val="82000"/>
              </a:lnSpc>
              <a:spcBef>
                <a:spcPts val="500"/>
              </a:spcBef>
              <a:spcAft>
                <a:spcPts val="0"/>
              </a:spcAft>
            </a:pPr>
            <a:r>
              <a:rPr lang="en-US" sz="2800" b="0" dirty="0" smtClean="0">
                <a:solidFill>
                  <a:schemeClr val="tx1"/>
                </a:solidFill>
                <a:latin typeface="Calibri" panose="020F0502020204030204" charset="0"/>
                <a:cs typeface="Calibri" panose="020F0502020204030204" charset="0"/>
              </a:rPr>
              <a:t>Derive tests so that the first, middle, and last elements of the sequence are accessed. </a:t>
            </a:r>
            <a:r>
              <a:rPr lang="zh-CN" altLang="en-US" sz="2000" dirty="0" smtClean="0">
                <a:solidFill>
                  <a:srgbClr val="C00000"/>
                </a:solidFill>
                <a:latin typeface="黑体" panose="02010609060101010101" pitchFamily="49" charset="-122"/>
                <a:ea typeface="黑体" panose="02010609060101010101" pitchFamily="49" charset="-122"/>
                <a:cs typeface="Calibri" panose="020F0502020204030204" charset="0"/>
              </a:rPr>
              <a:t>测试</a:t>
            </a:r>
            <a:r>
              <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rPr>
              <a:t>要访问首个/中间/最后元素</a:t>
            </a:r>
            <a:endParaRPr lang="zh-CN" altLang="en-US" dirty="0" smtClean="0">
              <a:solidFill>
                <a:srgbClr val="C00000"/>
              </a:solidFill>
              <a:latin typeface="黑体" panose="02010609060101010101" pitchFamily="49" charset="-122"/>
              <a:ea typeface="黑体" panose="02010609060101010101" pitchFamily="49" charset="-122"/>
              <a:cs typeface="Calibri" panose="020F050202020403020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47725"/>
            <a:ext cx="8977630" cy="5867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General testing guidelines</a:t>
            </a:r>
            <a:r>
              <a:rPr lang="en-US" altLang="zh-CN" sz="3200" dirty="0">
                <a:solidFill>
                  <a:schemeClr val="accent1">
                    <a:lumMod val="75000"/>
                  </a:schemeClr>
                </a:solidFill>
                <a:ea typeface="宋体" panose="02010600030101010101" pitchFamily="2" charset="-122"/>
                <a:sym typeface="+mn-ea"/>
              </a:rPr>
              <a:t>   </a:t>
            </a:r>
            <a:r>
              <a:rPr lang="zh-CN" altLang="en-US" sz="2400" kern="1200" dirty="0" smtClean="0">
                <a:solidFill>
                  <a:srgbClr val="C00000"/>
                </a:solidFill>
                <a:latin typeface="黑体" panose="02010609060101010101" pitchFamily="49" charset="-122"/>
                <a:ea typeface="黑体" panose="02010609060101010101" pitchFamily="49" charset="-122"/>
                <a:cs typeface="Calibri" panose="020F0502020204030204" charset="0"/>
                <a:sym typeface="+mn-ea"/>
              </a:rPr>
              <a:t>通用测试指南</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60325" y="1456690"/>
            <a:ext cx="9005570" cy="47409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90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Some of the most general guidelines that </a:t>
            </a:r>
            <a:r>
              <a:rPr lang="en-US" sz="3200" dirty="0" smtClean="0">
                <a:solidFill>
                  <a:schemeClr val="accent2">
                    <a:lumMod val="75000"/>
                  </a:schemeClr>
                </a:solidFill>
                <a:latin typeface="Calibri" panose="020F0502020204030204" charset="0"/>
                <a:cs typeface="Calibri" panose="020F0502020204030204" charset="0"/>
                <a:sym typeface="+mn-ea"/>
              </a:rPr>
              <a:t>Whittaker’s book</a:t>
            </a:r>
            <a:r>
              <a:rPr lang="en-US" sz="3200" dirty="0" smtClean="0">
                <a:solidFill>
                  <a:schemeClr val="accent2">
                    <a:lumMod val="75000"/>
                  </a:schemeClr>
                </a:solidFill>
                <a:latin typeface="Calibri" panose="020F0502020204030204" charset="0"/>
                <a:cs typeface="Calibri" panose="020F0502020204030204" charset="0"/>
              </a:rPr>
              <a:t> suggests are: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最通用指南</a:t>
            </a:r>
            <a:endParaRPr lang="en-US" sz="3200" dirty="0" smtClean="0">
              <a:solidFill>
                <a:schemeClr val="accent2">
                  <a:lumMod val="75000"/>
                </a:schemeClr>
              </a:solidFill>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Choose inputs that force the system to generate all error messages;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选择输入，迫使系统产生所有错误信息</a:t>
            </a:r>
            <a:endParaRPr lang="en-US" sz="2800" b="0" dirty="0" smtClean="0">
              <a:solidFill>
                <a:schemeClr val="tx1"/>
              </a:solidFill>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Design inputs that cause input buffers to overflow;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设计输入，导致输入缓冲器溢出</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90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Repeat the same input or series of inputs numerous times;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多次重复相同的输入或输入序列</a:t>
            </a:r>
            <a:endParaRPr lang="en-US" sz="2800" b="0" dirty="0" smtClean="0">
              <a:solidFill>
                <a:schemeClr val="tx1"/>
              </a:solidFill>
              <a:latin typeface="Calibri" panose="020F0502020204030204" charset="0"/>
              <a:cs typeface="Calibri" panose="020F0502020204030204" charset="0"/>
            </a:endParaRPr>
          </a:p>
          <a:p>
            <a:pPr lvl="1">
              <a:lnSpc>
                <a:spcPct val="90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Force invalid outputs to be generated;</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强制生成非法输出</a:t>
            </a:r>
            <a:endPar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endParaRPr>
          </a:p>
          <a:p>
            <a:pPr lvl="1">
              <a:lnSpc>
                <a:spcPct val="90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Force computation results to be too large or too small. </a:t>
            </a:r>
            <a:r>
              <a:rPr lang="zh-CN" altLang="en-US" sz="2400" dirty="0" smtClean="0">
                <a:solidFill>
                  <a:srgbClr val="C00000"/>
                </a:solidFill>
                <a:latin typeface="黑体" panose="02010609060101010101" pitchFamily="49" charset="-122"/>
                <a:ea typeface="黑体" panose="02010609060101010101" pitchFamily="49" charset="-122"/>
                <a:cs typeface="Calibri" panose="020F0502020204030204" charset="0"/>
              </a:rPr>
              <a:t>强制使计算结果过大或过小</a:t>
            </a:r>
            <a:endParaRPr lang="zh-CN" altLang="en-US" sz="2800" b="0" dirty="0" smtClean="0">
              <a:solidFill>
                <a:schemeClr val="tx1"/>
              </a:solidFill>
              <a:latin typeface="Calibri" panose="020F0502020204030204" charset="0"/>
              <a:ea typeface="宋体" panose="02010600030101010101" pitchFamily="2" charset="-122"/>
              <a:cs typeface="Calibri" panose="020F0502020204030204" charset="0"/>
            </a:endParaRPr>
          </a:p>
        </p:txBody>
      </p:sp>
      <p:pic>
        <p:nvPicPr>
          <p:cNvPr id="3" name="图片 2"/>
          <p:cNvPicPr>
            <a:picLocks noChangeAspect="1"/>
          </p:cNvPicPr>
          <p:nvPr/>
        </p:nvPicPr>
        <p:blipFill>
          <a:blip r:embed="rId3"/>
          <a:stretch>
            <a:fillRect/>
          </a:stretch>
        </p:blipFill>
        <p:spPr>
          <a:xfrm>
            <a:off x="725805" y="6328410"/>
            <a:ext cx="6400800" cy="228600"/>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0570"/>
            <a:ext cx="8977630" cy="64897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Component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构件测试</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60325" y="1313180"/>
            <a:ext cx="9006205" cy="522033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Software components are often made up of several interacting objects.</a:t>
            </a:r>
            <a:r>
              <a:rPr lang="en-US" sz="3100" b="0" dirty="0" smtClean="0">
                <a:solidFill>
                  <a:schemeClr val="tx1"/>
                </a:solidFill>
                <a:latin typeface="Calibri" panose="020F0502020204030204" charset="0"/>
                <a:cs typeface="Calibri" panose="020F0502020204030204" charset="0"/>
              </a:rPr>
              <a:t> </a:t>
            </a:r>
            <a:r>
              <a:rPr lang="en-US" sz="2800" b="0" dirty="0" smtClean="0">
                <a:solidFill>
                  <a:schemeClr val="tx1"/>
                </a:solidFill>
                <a:latin typeface="Calibri" panose="020F0502020204030204" charset="0"/>
                <a:cs typeface="Calibri" panose="020F0502020204030204" charset="0"/>
              </a:rPr>
              <a:t>For example</a:t>
            </a:r>
            <a:r>
              <a:rPr lang="en-US" sz="2800" b="0" dirty="0" smtClean="0">
                <a:solidFill>
                  <a:schemeClr val="tx1"/>
                </a:solidFill>
                <a:latin typeface="Calibri" panose="020F0502020204030204" charset="0"/>
                <a:cs typeface="Calibri" panose="020F0502020204030204" charset="0"/>
              </a:rPr>
              <a:t>, in the weather station system, the reconfiguration component includes objects that deal with each aspect of the reconfiguration.</a:t>
            </a:r>
            <a:r>
              <a:rPr lang="en-US" sz="3000" dirty="0" smtClean="0">
                <a:solidFill>
                  <a:schemeClr val="accent2">
                    <a:lumMod val="75000"/>
                  </a:schemeClr>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软件构件由若干交互的对象组成</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You access the functionality of the objects through component </a:t>
            </a:r>
            <a:r>
              <a:rPr lang="en-US" sz="3100" u="sng" dirty="0" smtClean="0">
                <a:solidFill>
                  <a:schemeClr val="accent2">
                    <a:lumMod val="75000"/>
                  </a:schemeClr>
                </a:solidFill>
                <a:latin typeface="Calibri" panose="020F0502020204030204" charset="0"/>
                <a:cs typeface="Calibri" panose="020F0502020204030204" charset="0"/>
              </a:rPr>
              <a:t>interfaces</a:t>
            </a:r>
            <a:r>
              <a:rPr lang="en-US" sz="3100" dirty="0" smtClean="0">
                <a:solidFill>
                  <a:schemeClr val="accent2">
                    <a:lumMod val="75000"/>
                  </a:schemeClr>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通过构件接口访问对象的功能</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Testing composite components should therefore focus on showing that the component interface or interfaces behave according to its specification.</a:t>
            </a:r>
            <a:r>
              <a:rPr lang="en-US" sz="3100" b="0" dirty="0" smtClean="0">
                <a:solidFill>
                  <a:schemeClr val="tx1"/>
                </a:solidFill>
                <a:latin typeface="Calibri" panose="020F0502020204030204" charset="0"/>
                <a:cs typeface="Calibri" panose="020F0502020204030204" charset="0"/>
              </a:rPr>
              <a:t> </a:t>
            </a:r>
            <a:r>
              <a:rPr lang="en-US" sz="2800" b="0" dirty="0" smtClean="0">
                <a:solidFill>
                  <a:schemeClr val="tx1"/>
                </a:solidFill>
                <a:latin typeface="Calibri" panose="020F0502020204030204" charset="0"/>
                <a:cs typeface="Calibri" panose="020F0502020204030204" charset="0"/>
              </a:rPr>
              <a:t>You can assume that unit tests on the individual objects within the component have been completed. </a:t>
            </a:r>
            <a:r>
              <a:rPr lang="en-US" b="0" dirty="0" smtClean="0">
                <a:solidFill>
                  <a:schemeClr val="tx1"/>
                </a:solidFill>
                <a:latin typeface="Calibri" panose="020F0502020204030204" charset="0"/>
                <a:cs typeface="Calibri" panose="020F0502020204030204" charset="0"/>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测试复合构件，应关注于，展示构件接口的行为与其规格说明一致</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3392170" y="1294765"/>
            <a:ext cx="5632450" cy="5267325"/>
          </a:xfrm>
          <a:prstGeom prst="rect">
            <a:avLst/>
          </a:prstGeom>
        </p:spPr>
      </p:pic>
      <p:sp>
        <p:nvSpPr>
          <p:cNvPr id="15363" name="Rectangle 3"/>
          <p:cNvSpPr>
            <a:spLocks noGrp="1" noRot="1"/>
          </p:cNvSpPr>
          <p:nvPr>
            <p:ph type="subTitle" idx="1"/>
            <p:custDataLst>
              <p:tags r:id="rId2"/>
            </p:custDataLst>
          </p:nvPr>
        </p:nvSpPr>
        <p:spPr>
          <a:xfrm>
            <a:off x="88900" y="753110"/>
            <a:ext cx="8977630" cy="62293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Interface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接口测试</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3"/>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4"/>
          <a:stretch>
            <a:fillRect/>
          </a:stretch>
        </p:blipFill>
        <p:spPr>
          <a:xfrm>
            <a:off x="6948805" y="1100455"/>
            <a:ext cx="1953260" cy="546100"/>
          </a:xfrm>
          <a:prstGeom prst="rect">
            <a:avLst/>
          </a:prstGeom>
        </p:spPr>
      </p:pic>
      <p:sp>
        <p:nvSpPr>
          <p:cNvPr id="6" name="Content Placeholder 2"/>
          <p:cNvSpPr>
            <a:spLocks noGrp="1"/>
          </p:cNvSpPr>
          <p:nvPr/>
        </p:nvSpPr>
        <p:spPr>
          <a:xfrm>
            <a:off x="106680" y="1341120"/>
            <a:ext cx="3409950" cy="511111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Fig. 8.7 illustrates the idea of component interface testing.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Assume that components A, B, and C have been integrated to create a larger component or subsystem.</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The test cases are not applied to the individual components but rather to the interface of the composite component created by combining these components.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Interface errors in the composite component may not be detectable by testing the individual objects because these errors result from interactions between the objects in the component.</a:t>
            </a:r>
            <a:endParaRPr lang="en-US" sz="20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1365"/>
            <a:ext cx="8977630" cy="5518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Interface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接口测试</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45058" name="Rectangle 2"/>
          <p:cNvSpPr>
            <a:spLocks noGrp="1" noChangeArrowheads="1"/>
          </p:cNvSpPr>
          <p:nvPr/>
        </p:nvSpPr>
        <p:spPr>
          <a:xfrm>
            <a:off x="53975" y="1313180"/>
            <a:ext cx="9011920" cy="5332095"/>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altLang="en-GB" sz="3200" dirty="0" smtClean="0">
                <a:solidFill>
                  <a:schemeClr val="accent2">
                    <a:lumMod val="75000"/>
                  </a:schemeClr>
                </a:solidFill>
                <a:latin typeface="Calibri" panose="020F0502020204030204" charset="0"/>
                <a:cs typeface="Calibri" panose="020F0502020204030204" charset="0"/>
              </a:rPr>
              <a:t> </a:t>
            </a:r>
            <a:r>
              <a:rPr lang="en-GB" sz="3200" dirty="0" smtClean="0">
                <a:solidFill>
                  <a:schemeClr val="accent2">
                    <a:lumMod val="75000"/>
                  </a:schemeClr>
                </a:solidFill>
                <a:latin typeface="Calibri" panose="020F0502020204030204" charset="0"/>
                <a:cs typeface="Calibri" panose="020F0502020204030204" charset="0"/>
              </a:rPr>
              <a:t>Interface types</a:t>
            </a:r>
            <a:r>
              <a:rPr lang="en-US" altLang="en-GB" sz="3200" dirty="0" smtClean="0">
                <a:solidFill>
                  <a:schemeClr val="accent2">
                    <a:lumMod val="75000"/>
                  </a:schemeClr>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接口类型</a:t>
            </a:r>
            <a:endParaRPr lang="en-GB" sz="3200" dirty="0" smtClean="0">
              <a:solidFill>
                <a:schemeClr val="accent2">
                  <a:lumMod val="75000"/>
                </a:schemeClr>
              </a:solidFill>
              <a:latin typeface="Calibri" panose="020F0502020204030204" charset="0"/>
              <a:cs typeface="Calibri" panose="020F0502020204030204" charset="0"/>
            </a:endParaRPr>
          </a:p>
          <a:p>
            <a:pPr lvl="1">
              <a:lnSpc>
                <a:spcPct val="82000"/>
              </a:lnSpc>
              <a:spcBef>
                <a:spcPts val="600"/>
              </a:spcBef>
              <a:spcAft>
                <a:spcPts val="0"/>
              </a:spcAft>
            </a:pPr>
            <a:r>
              <a:rPr lang="en-GB" sz="2800" i="1" dirty="0" smtClean="0">
                <a:solidFill>
                  <a:schemeClr val="tx1"/>
                </a:solidFill>
                <a:latin typeface="Calibri" panose="020F0502020204030204" charset="0"/>
                <a:cs typeface="Calibri" panose="020F0502020204030204" charset="0"/>
              </a:rPr>
              <a:t>Parameter interfaces</a:t>
            </a:r>
            <a:r>
              <a:rPr lang="en-US" altLang="en-GB" sz="2800" dirty="0" smtClean="0">
                <a:solidFill>
                  <a:schemeClr val="tx1"/>
                </a:solidFill>
                <a:latin typeface="Calibri" panose="020F0502020204030204" charset="0"/>
                <a:cs typeface="Calibri" panose="020F0502020204030204" charset="0"/>
              </a:rPr>
              <a:t>:</a:t>
            </a:r>
            <a:r>
              <a:rPr lang="en-GB" sz="2800" b="0" dirty="0" smtClean="0">
                <a:solidFill>
                  <a:schemeClr val="tx1"/>
                </a:solidFill>
                <a:latin typeface="Calibri" panose="020F0502020204030204" charset="0"/>
                <a:cs typeface="Calibri" panose="020F0502020204030204" charset="0"/>
              </a:rPr>
              <a:t> These are interfaces in which </a:t>
            </a:r>
            <a:r>
              <a:rPr lang="en-GB" sz="2800" b="0" u="sng" dirty="0" smtClean="0">
                <a:solidFill>
                  <a:schemeClr val="tx1"/>
                </a:solidFill>
                <a:latin typeface="Calibri" panose="020F0502020204030204" charset="0"/>
                <a:cs typeface="Calibri" panose="020F0502020204030204" charset="0"/>
              </a:rPr>
              <a:t>data</a:t>
            </a:r>
            <a:r>
              <a:rPr lang="en-GB" sz="2800" b="0" dirty="0" smtClean="0">
                <a:solidFill>
                  <a:schemeClr val="tx1"/>
                </a:solidFill>
                <a:latin typeface="Calibri" panose="020F0502020204030204" charset="0"/>
                <a:cs typeface="Calibri" panose="020F0502020204030204" charset="0"/>
              </a:rPr>
              <a:t> or sometimes </a:t>
            </a:r>
            <a:r>
              <a:rPr lang="en-GB" sz="2800" b="0" u="sng" dirty="0" smtClean="0">
                <a:solidFill>
                  <a:schemeClr val="tx1"/>
                </a:solidFill>
                <a:latin typeface="Calibri" panose="020F0502020204030204" charset="0"/>
                <a:cs typeface="Calibri" panose="020F0502020204030204" charset="0"/>
              </a:rPr>
              <a:t>function</a:t>
            </a:r>
            <a:r>
              <a:rPr lang="en-US" altLang="en-GB" sz="2800" b="0" u="sng" dirty="0" smtClean="0">
                <a:solidFill>
                  <a:schemeClr val="tx1"/>
                </a:solidFill>
                <a:latin typeface="Calibri" panose="020F0502020204030204" charset="0"/>
                <a:cs typeface="Calibri" panose="020F0502020204030204" charset="0"/>
              </a:rPr>
              <a:t> </a:t>
            </a:r>
            <a:r>
              <a:rPr lang="en-GB" sz="2800" b="0" u="sng" dirty="0" smtClean="0">
                <a:solidFill>
                  <a:schemeClr val="tx1"/>
                </a:solidFill>
                <a:latin typeface="Calibri" panose="020F0502020204030204" charset="0"/>
                <a:cs typeface="Calibri" panose="020F0502020204030204" charset="0"/>
              </a:rPr>
              <a:t>references</a:t>
            </a:r>
            <a:r>
              <a:rPr lang="en-GB" sz="2800" b="0" dirty="0" smtClean="0">
                <a:solidFill>
                  <a:schemeClr val="tx1"/>
                </a:solidFill>
                <a:latin typeface="Calibri" panose="020F0502020204030204" charset="0"/>
                <a:cs typeface="Calibri" panose="020F0502020204030204" charset="0"/>
              </a:rPr>
              <a:t> are passed from one component to another. </a:t>
            </a:r>
            <a:r>
              <a:rPr lang="en-US" altLang="en-GB" sz="28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参数接口  </a:t>
            </a:r>
            <a:endParaRPr lang="en-GB" sz="2800" b="0" dirty="0" smtClean="0">
              <a:solidFill>
                <a:schemeClr val="tx1"/>
              </a:solidFill>
              <a:latin typeface="Calibri" panose="020F0502020204030204" charset="0"/>
              <a:cs typeface="Calibri" panose="020F0502020204030204" charset="0"/>
            </a:endParaRPr>
          </a:p>
          <a:p>
            <a:pPr lvl="1">
              <a:lnSpc>
                <a:spcPct val="82000"/>
              </a:lnSpc>
              <a:spcBef>
                <a:spcPts val="600"/>
              </a:spcBef>
              <a:spcAft>
                <a:spcPts val="0"/>
              </a:spcAft>
            </a:pPr>
            <a:r>
              <a:rPr lang="en-GB" sz="2800" i="1" dirty="0" smtClean="0">
                <a:solidFill>
                  <a:schemeClr val="tx1"/>
                </a:solidFill>
                <a:latin typeface="Calibri" panose="020F0502020204030204" charset="0"/>
                <a:cs typeface="Calibri" panose="020F0502020204030204" charset="0"/>
              </a:rPr>
              <a:t>Shared memory interfaces</a:t>
            </a:r>
            <a:r>
              <a:rPr lang="en-US" altLang="en-GB" sz="2800" dirty="0" smtClean="0">
                <a:solidFill>
                  <a:schemeClr val="tx1"/>
                </a:solidFill>
                <a:latin typeface="Calibri" panose="020F0502020204030204" charset="0"/>
                <a:cs typeface="Calibri" panose="020F0502020204030204" charset="0"/>
              </a:rPr>
              <a:t>:</a:t>
            </a:r>
            <a:r>
              <a:rPr lang="en-GB" sz="2800" b="0" dirty="0" smtClean="0">
                <a:solidFill>
                  <a:schemeClr val="tx1"/>
                </a:solidFill>
                <a:latin typeface="Calibri" panose="020F0502020204030204" charset="0"/>
                <a:cs typeface="Calibri" panose="020F0502020204030204" charset="0"/>
              </a:rPr>
              <a:t> These are interfaces in which a block of </a:t>
            </a:r>
            <a:r>
              <a:rPr lang="en-GB" sz="2800" b="0" u="sng" dirty="0" smtClean="0">
                <a:solidFill>
                  <a:schemeClr val="tx1"/>
                </a:solidFill>
                <a:latin typeface="Calibri" panose="020F0502020204030204" charset="0"/>
                <a:cs typeface="Calibri" panose="020F0502020204030204" charset="0"/>
              </a:rPr>
              <a:t>memory</a:t>
            </a:r>
            <a:r>
              <a:rPr lang="en-GB" sz="2800" b="0" dirty="0" smtClean="0">
                <a:solidFill>
                  <a:schemeClr val="tx1"/>
                </a:solidFill>
                <a:latin typeface="Calibri" panose="020F0502020204030204" charset="0"/>
                <a:cs typeface="Calibri" panose="020F0502020204030204" charset="0"/>
              </a:rPr>
              <a:t> is</a:t>
            </a:r>
            <a:r>
              <a:rPr lang="en-US" altLang="en-GB" sz="2800" b="0" dirty="0" smtClean="0">
                <a:solidFill>
                  <a:schemeClr val="tx1"/>
                </a:solidFill>
                <a:latin typeface="Calibri" panose="020F0502020204030204" charset="0"/>
                <a:cs typeface="Calibri" panose="020F0502020204030204" charset="0"/>
              </a:rPr>
              <a:t> </a:t>
            </a:r>
            <a:r>
              <a:rPr lang="en-GB" sz="2800" b="0" u="sng" dirty="0" smtClean="0">
                <a:solidFill>
                  <a:schemeClr val="tx1"/>
                </a:solidFill>
                <a:latin typeface="Calibri" panose="020F0502020204030204" charset="0"/>
                <a:cs typeface="Calibri" panose="020F0502020204030204" charset="0"/>
              </a:rPr>
              <a:t>shared</a:t>
            </a:r>
            <a:r>
              <a:rPr lang="en-GB" sz="2800" b="0" dirty="0" smtClean="0">
                <a:solidFill>
                  <a:schemeClr val="tx1"/>
                </a:solidFill>
                <a:latin typeface="Calibri" panose="020F0502020204030204" charset="0"/>
                <a:cs typeface="Calibri" panose="020F0502020204030204" charset="0"/>
              </a:rPr>
              <a:t> between components. </a:t>
            </a:r>
            <a:r>
              <a:rPr lang="en-US" altLang="en-GB" sz="28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共享存储接口</a:t>
            </a:r>
            <a:endParaRPr lang="en-GB" sz="2800" b="0" dirty="0" smtClean="0">
              <a:solidFill>
                <a:schemeClr val="tx1"/>
              </a:solidFill>
              <a:latin typeface="Calibri" panose="020F0502020204030204" charset="0"/>
              <a:cs typeface="Calibri" panose="020F0502020204030204" charset="0"/>
            </a:endParaRPr>
          </a:p>
          <a:p>
            <a:pPr lvl="1">
              <a:lnSpc>
                <a:spcPct val="82000"/>
              </a:lnSpc>
              <a:spcBef>
                <a:spcPts val="600"/>
              </a:spcBef>
              <a:spcAft>
                <a:spcPts val="0"/>
              </a:spcAft>
            </a:pPr>
            <a:r>
              <a:rPr lang="en-GB" sz="2800" i="1" dirty="0" smtClean="0">
                <a:solidFill>
                  <a:schemeClr val="tx1"/>
                </a:solidFill>
                <a:latin typeface="Calibri" panose="020F0502020204030204" charset="0"/>
                <a:cs typeface="Calibri" panose="020F0502020204030204" charset="0"/>
              </a:rPr>
              <a:t>Procedural interfaces</a:t>
            </a:r>
            <a:r>
              <a:rPr lang="en-US" altLang="en-GB" sz="2800" dirty="0" smtClean="0">
                <a:solidFill>
                  <a:schemeClr val="tx1"/>
                </a:solidFill>
                <a:latin typeface="Calibri" panose="020F0502020204030204" charset="0"/>
                <a:cs typeface="Calibri" panose="020F0502020204030204" charset="0"/>
              </a:rPr>
              <a:t>:</a:t>
            </a:r>
            <a:r>
              <a:rPr lang="en-GB" sz="2800" b="0" dirty="0" smtClean="0">
                <a:solidFill>
                  <a:schemeClr val="tx1"/>
                </a:solidFill>
                <a:latin typeface="Calibri" panose="020F0502020204030204" charset="0"/>
                <a:cs typeface="Calibri" panose="020F0502020204030204" charset="0"/>
              </a:rPr>
              <a:t> These are interfaces in which one component encapsulates a set of </a:t>
            </a:r>
            <a:r>
              <a:rPr lang="en-GB" sz="2800" b="0" u="sng" dirty="0" smtClean="0">
                <a:solidFill>
                  <a:schemeClr val="tx1"/>
                </a:solidFill>
                <a:latin typeface="Calibri" panose="020F0502020204030204" charset="0"/>
                <a:cs typeface="Calibri" panose="020F0502020204030204" charset="0"/>
              </a:rPr>
              <a:t>procedures</a:t>
            </a:r>
            <a:r>
              <a:rPr lang="en-GB" sz="2800" b="0" dirty="0" smtClean="0">
                <a:solidFill>
                  <a:schemeClr val="tx1"/>
                </a:solidFill>
                <a:latin typeface="Calibri" panose="020F0502020204030204" charset="0"/>
                <a:cs typeface="Calibri" panose="020F0502020204030204" charset="0"/>
              </a:rPr>
              <a:t> that can be </a:t>
            </a:r>
            <a:r>
              <a:rPr lang="en-GB" sz="2800" b="0" u="sng" dirty="0" smtClean="0">
                <a:solidFill>
                  <a:schemeClr val="tx1"/>
                </a:solidFill>
                <a:latin typeface="Calibri" panose="020F0502020204030204" charset="0"/>
                <a:cs typeface="Calibri" panose="020F0502020204030204" charset="0"/>
              </a:rPr>
              <a:t>called</a:t>
            </a:r>
            <a:r>
              <a:rPr lang="en-GB" sz="2800" b="0" dirty="0" smtClean="0">
                <a:solidFill>
                  <a:schemeClr val="tx1"/>
                </a:solidFill>
                <a:latin typeface="Calibri" panose="020F0502020204030204" charset="0"/>
                <a:cs typeface="Calibri" panose="020F0502020204030204" charset="0"/>
              </a:rPr>
              <a:t> by other components. </a:t>
            </a:r>
            <a:r>
              <a:rPr lang="en-US" altLang="en-GB" sz="28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过程接口</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GB" sz="2800" i="1" dirty="0" smtClean="0">
                <a:solidFill>
                  <a:schemeClr val="tx1"/>
                </a:solidFill>
                <a:latin typeface="Calibri" panose="020F0502020204030204" charset="0"/>
                <a:cs typeface="Calibri" panose="020F0502020204030204" charset="0"/>
              </a:rPr>
              <a:t>Message passing interfaces</a:t>
            </a:r>
            <a:r>
              <a:rPr lang="en-US" altLang="en-GB" sz="2800" dirty="0" smtClean="0">
                <a:solidFill>
                  <a:schemeClr val="tx1"/>
                </a:solidFill>
                <a:latin typeface="Calibri" panose="020F0502020204030204" charset="0"/>
                <a:cs typeface="Calibri" panose="020F0502020204030204" charset="0"/>
              </a:rPr>
              <a:t>:</a:t>
            </a:r>
            <a:r>
              <a:rPr lang="en-GB" sz="2800" i="1" dirty="0" smtClean="0">
                <a:solidFill>
                  <a:schemeClr val="tx1"/>
                </a:solidFill>
                <a:latin typeface="Calibri" panose="020F0502020204030204" charset="0"/>
                <a:cs typeface="Calibri" panose="020F0502020204030204" charset="0"/>
              </a:rPr>
              <a:t> </a:t>
            </a:r>
            <a:r>
              <a:rPr lang="en-GB" sz="2800" b="0" dirty="0" smtClean="0">
                <a:solidFill>
                  <a:schemeClr val="tx1"/>
                </a:solidFill>
                <a:latin typeface="Calibri" panose="020F0502020204030204" charset="0"/>
                <a:cs typeface="Calibri" panose="020F0502020204030204" charset="0"/>
              </a:rPr>
              <a:t>These are interfaces in which one component</a:t>
            </a:r>
            <a:r>
              <a:rPr lang="en-US" altLang="en-GB" sz="2800" b="0" dirty="0" smtClean="0">
                <a:solidFill>
                  <a:schemeClr val="tx1"/>
                </a:solidFill>
                <a:latin typeface="Calibri" panose="020F0502020204030204" charset="0"/>
                <a:cs typeface="Calibri" panose="020F0502020204030204" charset="0"/>
              </a:rPr>
              <a:t> </a:t>
            </a:r>
            <a:r>
              <a:rPr lang="en-GB" sz="2800" b="0" dirty="0" smtClean="0">
                <a:solidFill>
                  <a:schemeClr val="tx1"/>
                </a:solidFill>
                <a:latin typeface="Calibri" panose="020F0502020204030204" charset="0"/>
                <a:cs typeface="Calibri" panose="020F0502020204030204" charset="0"/>
              </a:rPr>
              <a:t>requests a service from another component by </a:t>
            </a:r>
            <a:r>
              <a:rPr lang="en-GB" sz="2800" b="0" u="sng" dirty="0" smtClean="0">
                <a:solidFill>
                  <a:schemeClr val="tx1"/>
                </a:solidFill>
                <a:latin typeface="Calibri" panose="020F0502020204030204" charset="0"/>
                <a:cs typeface="Calibri" panose="020F0502020204030204" charset="0"/>
              </a:rPr>
              <a:t>passing a message</a:t>
            </a:r>
            <a:r>
              <a:rPr lang="en-GB" sz="2800" b="0" dirty="0" smtClean="0">
                <a:solidFill>
                  <a:schemeClr val="tx1"/>
                </a:solidFill>
                <a:latin typeface="Calibri" panose="020F0502020204030204" charset="0"/>
                <a:cs typeface="Calibri" panose="020F0502020204030204" charset="0"/>
              </a:rPr>
              <a:t>. A </a:t>
            </a:r>
            <a:r>
              <a:rPr lang="en-GB" sz="2800" b="0" u="sng" dirty="0" smtClean="0">
                <a:solidFill>
                  <a:schemeClr val="tx1"/>
                </a:solidFill>
                <a:latin typeface="Calibri" panose="020F0502020204030204" charset="0"/>
                <a:cs typeface="Calibri" panose="020F0502020204030204" charset="0"/>
              </a:rPr>
              <a:t>return</a:t>
            </a:r>
            <a:r>
              <a:rPr lang="en-US" altLang="en-GB" sz="2800" b="0" u="sng" dirty="0" smtClean="0">
                <a:solidFill>
                  <a:schemeClr val="tx1"/>
                </a:solidFill>
                <a:latin typeface="Calibri" panose="020F0502020204030204" charset="0"/>
                <a:cs typeface="Calibri" panose="020F0502020204030204" charset="0"/>
              </a:rPr>
              <a:t> </a:t>
            </a:r>
            <a:r>
              <a:rPr lang="en-GB" sz="2800" b="0" u="sng" dirty="0" smtClean="0">
                <a:solidFill>
                  <a:schemeClr val="tx1"/>
                </a:solidFill>
                <a:latin typeface="Calibri" panose="020F0502020204030204" charset="0"/>
                <a:cs typeface="Calibri" panose="020F0502020204030204" charset="0"/>
              </a:rPr>
              <a:t>message</a:t>
            </a:r>
            <a:r>
              <a:rPr lang="en-GB" sz="2800" b="0" dirty="0" smtClean="0">
                <a:solidFill>
                  <a:schemeClr val="tx1"/>
                </a:solidFill>
                <a:latin typeface="Calibri" panose="020F0502020204030204" charset="0"/>
                <a:cs typeface="Calibri" panose="020F0502020204030204" charset="0"/>
              </a:rPr>
              <a:t> includes the results. </a:t>
            </a:r>
            <a:r>
              <a:rPr lang="en-US" altLang="en-GB" sz="28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 消息传递接口</a:t>
            </a:r>
            <a:endParaRPr lang="zh-CN" altLang="en-US" sz="2800"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5965"/>
            <a:ext cx="8977630" cy="6565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Interface errors</a:t>
            </a:r>
            <a:r>
              <a:rPr lang="en-US" altLang="zh-CN" sz="3200" dirty="0">
                <a:solidFill>
                  <a:schemeClr val="accent1">
                    <a:lumMod val="75000"/>
                  </a:schemeClr>
                </a:solidFill>
                <a:ea typeface="宋体" panose="02010600030101010101" pitchFamily="2" charset="-122"/>
                <a:sym typeface="+mn-ea"/>
              </a:rPr>
              <a:t>: 3 classes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接口错误：</a:t>
            </a:r>
            <a:r>
              <a:rPr lang="en-US" altLang="zh-CN" dirty="0">
                <a:solidFill>
                  <a:schemeClr val="accent1">
                    <a:lumMod val="75000"/>
                  </a:schemeClr>
                </a:solidFill>
                <a:latin typeface="黑体" panose="02010609060101010101" pitchFamily="49" charset="-122"/>
                <a:ea typeface="黑体" panose="02010609060101010101" pitchFamily="49" charset="-122"/>
                <a:sym typeface="+mn-ea"/>
              </a:rPr>
              <a:t>3</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类</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49155" name="Rectangle 3"/>
          <p:cNvSpPr>
            <a:spLocks noGrp="1" noChangeArrowheads="1"/>
          </p:cNvSpPr>
          <p:nvPr/>
        </p:nvSpPr>
        <p:spPr>
          <a:xfrm>
            <a:off x="60325" y="1313180"/>
            <a:ext cx="9003665" cy="5225415"/>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altLang="en-GB" sz="3200">
                <a:solidFill>
                  <a:schemeClr val="accent2">
                    <a:lumMod val="75000"/>
                  </a:schemeClr>
                </a:solidFill>
                <a:latin typeface="Calibri" panose="020F0502020204030204" charset="0"/>
                <a:cs typeface="Calibri" panose="020F0502020204030204" charset="0"/>
              </a:rPr>
              <a:t> Interface misuse:</a:t>
            </a:r>
            <a:r>
              <a:rPr lang="en-US" altLang="en-GB" sz="2800" b="0">
                <a:solidFill>
                  <a:schemeClr val="tx1"/>
                </a:solidFill>
                <a:latin typeface="Calibri" panose="020F0502020204030204" charset="0"/>
                <a:cs typeface="Calibri" panose="020F0502020204030204" charset="0"/>
              </a:rPr>
              <a:t> </a:t>
            </a:r>
            <a:r>
              <a:rPr lang="en-US" altLang="en-GB" sz="2600" b="0">
                <a:solidFill>
                  <a:schemeClr val="tx1"/>
                </a:solidFill>
                <a:latin typeface="Calibri" panose="020F0502020204030204" charset="0"/>
                <a:cs typeface="Calibri" panose="020F0502020204030204" charset="0"/>
              </a:rPr>
              <a:t>A calling component calls some other component and </a:t>
            </a:r>
            <a:r>
              <a:rPr lang="en-US" altLang="en-GB" sz="2600" b="0" u="sng">
                <a:solidFill>
                  <a:schemeClr val="tx1"/>
                </a:solidFill>
                <a:latin typeface="Calibri" panose="020F0502020204030204" charset="0"/>
                <a:cs typeface="Calibri" panose="020F0502020204030204" charset="0"/>
              </a:rPr>
              <a:t>makes an error in use of</a:t>
            </a:r>
            <a:r>
              <a:rPr lang="en-US" altLang="en-GB" sz="2600" b="0">
                <a:solidFill>
                  <a:schemeClr val="tx1"/>
                </a:solidFill>
                <a:latin typeface="Calibri" panose="020F0502020204030204" charset="0"/>
                <a:cs typeface="Calibri" panose="020F0502020204030204" charset="0"/>
              </a:rPr>
              <a:t> its interface. This type of error is common in parameter interfaces, where parameters may be of the wrong type or be passed in the wrong order, or the wrong number of parameters may be passed.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接口误用</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altLang="en-GB" sz="3200">
                <a:solidFill>
                  <a:schemeClr val="accent2">
                    <a:lumMod val="75000"/>
                  </a:schemeClr>
                </a:solidFill>
                <a:latin typeface="Calibri" panose="020F0502020204030204" charset="0"/>
                <a:cs typeface="Calibri" panose="020F0502020204030204" charset="0"/>
              </a:rPr>
              <a:t> Interface misunderstanding:</a:t>
            </a:r>
            <a:r>
              <a:rPr lang="en-US" altLang="en-GB" sz="2800" b="0">
                <a:solidFill>
                  <a:schemeClr val="tx1"/>
                </a:solidFill>
                <a:latin typeface="Calibri" panose="020F0502020204030204" charset="0"/>
                <a:cs typeface="Calibri" panose="020F0502020204030204" charset="0"/>
              </a:rPr>
              <a:t> </a:t>
            </a:r>
            <a:r>
              <a:rPr lang="en-US" altLang="en-GB" sz="2600" b="0">
                <a:solidFill>
                  <a:schemeClr val="tx1"/>
                </a:solidFill>
                <a:latin typeface="Calibri" panose="020F0502020204030204" charset="0"/>
                <a:cs typeface="Calibri" panose="020F0502020204030204" charset="0"/>
              </a:rPr>
              <a:t>A calling component </a:t>
            </a:r>
            <a:r>
              <a:rPr lang="en-US" altLang="en-GB" sz="2600" b="0" u="sng">
                <a:solidFill>
                  <a:schemeClr val="tx1"/>
                </a:solidFill>
                <a:latin typeface="Calibri" panose="020F0502020204030204" charset="0"/>
                <a:cs typeface="Calibri" panose="020F0502020204030204" charset="0"/>
              </a:rPr>
              <a:t>misunderstands the specification</a:t>
            </a:r>
            <a:r>
              <a:rPr lang="en-US" altLang="en-GB" sz="2600" b="0">
                <a:solidFill>
                  <a:schemeClr val="tx1"/>
                </a:solidFill>
                <a:latin typeface="Calibri" panose="020F0502020204030204" charset="0"/>
                <a:cs typeface="Calibri" panose="020F0502020204030204" charset="0"/>
              </a:rPr>
              <a:t> of the interface of the called component and makes assumptions about its behavior. The called component does not behave as expected, which then causes unexpected behavior.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接口误解</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altLang="en-GB" sz="3200">
                <a:solidFill>
                  <a:schemeClr val="accent2">
                    <a:lumMod val="75000"/>
                  </a:schemeClr>
                </a:solidFill>
                <a:latin typeface="Calibri" panose="020F0502020204030204" charset="0"/>
                <a:cs typeface="Calibri" panose="020F0502020204030204" charset="0"/>
              </a:rPr>
              <a:t> Timing errors:</a:t>
            </a:r>
            <a:r>
              <a:rPr lang="en-US" altLang="en-GB" sz="2800" b="0">
                <a:solidFill>
                  <a:schemeClr val="tx1"/>
                </a:solidFill>
                <a:latin typeface="Calibri" panose="020F0502020204030204" charset="0"/>
                <a:cs typeface="Calibri" panose="020F0502020204030204" charset="0"/>
              </a:rPr>
              <a:t> </a:t>
            </a:r>
            <a:r>
              <a:rPr lang="en-US" altLang="en-GB" sz="2600" b="0">
                <a:solidFill>
                  <a:schemeClr val="tx1"/>
                </a:solidFill>
                <a:latin typeface="Calibri" panose="020F0502020204030204" charset="0"/>
                <a:cs typeface="Calibri" panose="020F0502020204030204" charset="0"/>
              </a:rPr>
              <a:t>The producer of data and the consumer of data may </a:t>
            </a:r>
            <a:r>
              <a:rPr lang="en-US" altLang="en-GB" sz="2600" b="0" u="sng">
                <a:solidFill>
                  <a:schemeClr val="tx1"/>
                </a:solidFill>
                <a:latin typeface="Calibri" panose="020F0502020204030204" charset="0"/>
                <a:cs typeface="Calibri" panose="020F0502020204030204" charset="0"/>
              </a:rPr>
              <a:t>operate at different speeds</a:t>
            </a:r>
            <a:r>
              <a:rPr lang="en-US" altLang="en-GB" sz="2600" b="0">
                <a:solidFill>
                  <a:schemeClr val="tx1"/>
                </a:solidFill>
                <a:latin typeface="Calibri" panose="020F0502020204030204" charset="0"/>
                <a:cs typeface="Calibri" panose="020F0502020204030204" charset="0"/>
              </a:rPr>
              <a:t>. The consumer can access out-of-date information because the producer of information has not updated the shared interface information.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时间错误</a:t>
            </a:r>
            <a:endParaRPr lang="zh-CN" altLang="en-US" sz="2800" b="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97230"/>
            <a:ext cx="8977630" cy="5613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Interface testing guidelines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接口测试指南</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50179" name="Rectangle 3"/>
          <p:cNvSpPr>
            <a:spLocks noGrp="1" noChangeArrowheads="1"/>
          </p:cNvSpPr>
          <p:nvPr/>
        </p:nvSpPr>
        <p:spPr>
          <a:xfrm>
            <a:off x="59690" y="1241425"/>
            <a:ext cx="9007475" cy="5396230"/>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0000"/>
              </a:lnSpc>
              <a:spcBef>
                <a:spcPts val="500"/>
              </a:spcBef>
              <a:spcAft>
                <a:spcPts val="0"/>
              </a:spcAft>
            </a:pPr>
            <a:r>
              <a:rPr lang="en-US" altLang="en-GB" sz="3000">
                <a:solidFill>
                  <a:schemeClr val="accent2">
                    <a:lumMod val="75000"/>
                  </a:schemeClr>
                </a:solidFill>
                <a:latin typeface="Calibri" panose="020F0502020204030204" charset="0"/>
                <a:cs typeface="Calibri" panose="020F0502020204030204" charset="0"/>
              </a:rPr>
              <a:t> Design a set of tests in which the values of the parameters of the call to the external components are at the extreme ends of their ranges. </a:t>
            </a:r>
            <a:r>
              <a:rPr lang="en-US" altLang="en-GB" sz="3000" b="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对外调用的参数值处于取值区间的极端</a:t>
            </a:r>
            <a:endParaRPr lang="en-US" altLang="en-GB" sz="2000">
              <a:solidFill>
                <a:schemeClr val="accent2">
                  <a:lumMod val="75000"/>
                </a:schemeClr>
              </a:solidFill>
              <a:latin typeface="Calibri" panose="020F0502020204030204" charset="0"/>
              <a:cs typeface="Calibri" panose="020F0502020204030204" charset="0"/>
            </a:endParaRPr>
          </a:p>
          <a:p>
            <a:pPr>
              <a:lnSpc>
                <a:spcPct val="80000"/>
              </a:lnSpc>
              <a:spcBef>
                <a:spcPts val="500"/>
              </a:spcBef>
              <a:spcAft>
                <a:spcPts val="0"/>
              </a:spcAft>
            </a:pPr>
            <a:r>
              <a:rPr lang="en-US" altLang="en-GB" sz="3000">
                <a:solidFill>
                  <a:schemeClr val="accent2">
                    <a:lumMod val="75000"/>
                  </a:schemeClr>
                </a:solidFill>
                <a:latin typeface="Calibri" panose="020F0502020204030204" charset="0"/>
                <a:cs typeface="Calibri" panose="020F0502020204030204" charset="0"/>
              </a:rPr>
              <a:t> Where pointers are passed across an interface, always test the interface with null pointer parameters.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通过接口传递指针的地方,总要用空指针测试</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0000"/>
              </a:lnSpc>
              <a:spcBef>
                <a:spcPts val="500"/>
              </a:spcBef>
              <a:spcAft>
                <a:spcPts val="0"/>
              </a:spcAft>
            </a:pPr>
            <a:r>
              <a:rPr lang="en-US" altLang="en-GB" sz="3000">
                <a:solidFill>
                  <a:schemeClr val="accent2">
                    <a:lumMod val="75000"/>
                  </a:schemeClr>
                </a:solidFill>
                <a:latin typeface="Calibri" panose="020F0502020204030204" charset="0"/>
                <a:cs typeface="Calibri" panose="020F0502020204030204" charset="0"/>
              </a:rPr>
              <a:t> Where a component is called through a procedural interface, design tests that deliberately cause the component to fail.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设计故意导致构件失效的测试 </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0000"/>
              </a:lnSpc>
              <a:spcBef>
                <a:spcPts val="500"/>
              </a:spcBef>
              <a:spcAft>
                <a:spcPts val="0"/>
              </a:spcAft>
            </a:pPr>
            <a:r>
              <a:rPr lang="en-US" altLang="en-GB" sz="3000">
                <a:solidFill>
                  <a:schemeClr val="accent2">
                    <a:lumMod val="75000"/>
                  </a:schemeClr>
                </a:solidFill>
                <a:latin typeface="Calibri" panose="020F0502020204030204" charset="0"/>
                <a:cs typeface="Calibri" panose="020F0502020204030204" charset="0"/>
              </a:rPr>
              <a:t> Use stress testing in message passing systems.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在消息传递系统中使用压力测试</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0000"/>
              </a:lnSpc>
              <a:spcBef>
                <a:spcPts val="500"/>
              </a:spcBef>
              <a:spcAft>
                <a:spcPts val="0"/>
              </a:spcAft>
            </a:pPr>
            <a:r>
              <a:rPr lang="en-US" altLang="en-GB" sz="3000">
                <a:solidFill>
                  <a:schemeClr val="accent2">
                    <a:lumMod val="75000"/>
                  </a:schemeClr>
                </a:solidFill>
                <a:latin typeface="Calibri" panose="020F0502020204030204" charset="0"/>
                <a:cs typeface="Calibri" panose="020F0502020204030204" charset="0"/>
              </a:rPr>
              <a:t> </a:t>
            </a:r>
            <a:r>
              <a:rPr lang="en-GB" sz="3000">
                <a:solidFill>
                  <a:schemeClr val="accent2">
                    <a:lumMod val="75000"/>
                  </a:schemeClr>
                </a:solidFill>
                <a:latin typeface="Calibri" panose="020F0502020204030204" charset="0"/>
                <a:cs typeface="Calibri" panose="020F0502020204030204" charset="0"/>
              </a:rPr>
              <a:t>Where several components interact through shared memory, design tests that</a:t>
            </a:r>
            <a:r>
              <a:rPr lang="en-US" altLang="en-GB" sz="3000">
                <a:solidFill>
                  <a:schemeClr val="accent2">
                    <a:lumMod val="75000"/>
                  </a:schemeClr>
                </a:solidFill>
                <a:latin typeface="Calibri" panose="020F0502020204030204" charset="0"/>
                <a:cs typeface="Calibri" panose="020F0502020204030204" charset="0"/>
              </a:rPr>
              <a:t> </a:t>
            </a:r>
            <a:r>
              <a:rPr lang="en-GB" sz="3000">
                <a:solidFill>
                  <a:schemeClr val="accent2">
                    <a:lumMod val="75000"/>
                  </a:schemeClr>
                </a:solidFill>
                <a:latin typeface="Calibri" panose="020F0502020204030204" charset="0"/>
                <a:cs typeface="Calibri" panose="020F0502020204030204" charset="0"/>
              </a:rPr>
              <a:t>vary the order in which the components are activated.</a:t>
            </a:r>
            <a:r>
              <a:rPr lang="en-US" altLang="en-GB" sz="3000">
                <a:solidFill>
                  <a:schemeClr val="accent2">
                    <a:lumMod val="75000"/>
                  </a:schemeClr>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设计</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改变</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构件被激活顺序的测试</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9140"/>
            <a:ext cx="8977630" cy="5283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System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系统测试</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50179" name="Rectangle 3"/>
          <p:cNvSpPr>
            <a:spLocks noGrp="1" noChangeArrowheads="1"/>
          </p:cNvSpPr>
          <p:nvPr/>
        </p:nvSpPr>
        <p:spPr>
          <a:xfrm>
            <a:off x="59055" y="1313180"/>
            <a:ext cx="9046210" cy="5414645"/>
          </a:xfrm>
          <a:prstGeom prst="rect">
            <a:avLst/>
          </a:prstGeom>
          <a:noFill/>
        </p:spPr>
        <p:txBody>
          <a:bodyPr lIns="90840" tIns="44623" rIns="90840" bIns="44623"/>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altLang="en-GB" sz="3000">
                <a:solidFill>
                  <a:schemeClr val="accent2">
                    <a:lumMod val="75000"/>
                  </a:schemeClr>
                </a:solidFill>
                <a:latin typeface="Calibri" panose="020F0502020204030204" charset="0"/>
                <a:cs typeface="Calibri" panose="020F0502020204030204" charset="0"/>
              </a:rPr>
              <a:t> System testing involves integrating components to create a version of the system and then testing the integrated system. </a:t>
            </a:r>
            <a:r>
              <a:rPr lang="en-US" altLang="en-GB" sz="2600" b="0">
                <a:solidFill>
                  <a:schemeClr val="tx1"/>
                </a:solidFill>
                <a:latin typeface="Calibri" panose="020F0502020204030204" charset="0"/>
                <a:cs typeface="Calibri" panose="020F0502020204030204" charset="0"/>
              </a:rPr>
              <a:t>System testing checks that components are compatible, interact correctly, and transfer the right data at the right time across their interfaces.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涉及到：将</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构件</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集成</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创建系统的一个版本</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然后进行测试。</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600"/>
              </a:spcBef>
              <a:spcAft>
                <a:spcPts val="0"/>
              </a:spcAft>
            </a:pPr>
            <a:r>
              <a:rPr lang="en-US" altLang="en-GB" sz="3000">
                <a:solidFill>
                  <a:schemeClr val="accent2">
                    <a:lumMod val="75000"/>
                  </a:schemeClr>
                </a:solidFill>
                <a:latin typeface="Calibri" panose="020F0502020204030204" charset="0"/>
                <a:cs typeface="Calibri" panose="020F0502020204030204" charset="0"/>
              </a:rPr>
              <a:t> It overlaps with component testing, but there are two important differences: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与构件测试重叠，但有两点不同</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altLang="en-GB" sz="2600" b="0">
                <a:solidFill>
                  <a:schemeClr val="tx1"/>
                </a:solidFill>
                <a:latin typeface="Calibri" panose="020F0502020204030204" charset="0"/>
                <a:cs typeface="Calibri" panose="020F0502020204030204" charset="0"/>
              </a:rPr>
              <a:t>During system testing, reusable components that have been separately developed and off-the-shelf systems may be integrated with newly developed components. The complete system is then tested.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是对整个</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系统的</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测试</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altLang="en-GB" sz="2600" b="0">
                <a:solidFill>
                  <a:schemeClr val="tx1"/>
                </a:solidFill>
                <a:latin typeface="Calibri" panose="020F0502020204030204" charset="0"/>
                <a:cs typeface="Calibri" panose="020F0502020204030204" charset="0"/>
              </a:rPr>
              <a:t>Components developed by different team members or subteams may be integrated. System testing is a collective rather than an individual process.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是集体而非个人过程</a:t>
            </a:r>
            <a:endParaRPr lang="en-US" altLang="zh-CN"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9460"/>
            <a:ext cx="8977630" cy="55308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Interactions and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交互与测试</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2705" y="1313180"/>
            <a:ext cx="9013825" cy="52158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System testing should focus on testing the </a:t>
            </a:r>
            <a:r>
              <a:rPr lang="en-US" sz="3000" u="sng" dirty="0" smtClean="0">
                <a:solidFill>
                  <a:schemeClr val="accent2">
                    <a:lumMod val="75000"/>
                  </a:schemeClr>
                </a:solidFill>
                <a:latin typeface="Calibri" panose="020F0502020204030204" charset="0"/>
                <a:cs typeface="Calibri" panose="020F0502020204030204" charset="0"/>
              </a:rPr>
              <a:t>interactions</a:t>
            </a:r>
            <a:r>
              <a:rPr lang="en-US" sz="3000" dirty="0" smtClean="0">
                <a:solidFill>
                  <a:schemeClr val="accent2">
                    <a:lumMod val="75000"/>
                  </a:schemeClr>
                </a:solidFill>
                <a:latin typeface="Calibri" panose="020F0502020204030204" charset="0"/>
                <a:cs typeface="Calibri" panose="020F0502020204030204" charset="0"/>
              </a:rPr>
              <a:t> between the components and objects that make up a system.</a:t>
            </a:r>
            <a:r>
              <a:rPr lang="en-US" sz="3200" dirty="0" smtClean="0">
                <a:solidFill>
                  <a:schemeClr val="accent2">
                    <a:lumMod val="75000"/>
                  </a:schemeClr>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系统测试应关注测试构件和对象间的交互</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You may also test </a:t>
            </a:r>
            <a:r>
              <a:rPr lang="en-US" sz="3000" u="sng" dirty="0" smtClean="0">
                <a:solidFill>
                  <a:schemeClr val="accent2">
                    <a:lumMod val="75000"/>
                  </a:schemeClr>
                </a:solidFill>
                <a:latin typeface="Calibri" panose="020F0502020204030204" charset="0"/>
                <a:cs typeface="Calibri" panose="020F0502020204030204" charset="0"/>
              </a:rPr>
              <a:t>reusable components or systems </a:t>
            </a:r>
            <a:r>
              <a:rPr lang="en-US" sz="3000" dirty="0" smtClean="0">
                <a:solidFill>
                  <a:schemeClr val="accent2">
                    <a:lumMod val="75000"/>
                  </a:schemeClr>
                </a:solidFill>
                <a:latin typeface="Calibri" panose="020F0502020204030204" charset="0"/>
                <a:cs typeface="Calibri" panose="020F0502020204030204" charset="0"/>
              </a:rPr>
              <a:t>to check that they work as expected when they are integrated with new components.</a:t>
            </a:r>
            <a:r>
              <a:rPr lang="en-US" sz="3100" dirty="0" smtClean="0">
                <a:solidFill>
                  <a:schemeClr val="accent2">
                    <a:lumMod val="75000"/>
                  </a:schemeClr>
                </a:solidFill>
                <a:latin typeface="Calibri" panose="020F0502020204030204" charset="0"/>
                <a:cs typeface="Calibri" panose="020F0502020204030204" charset="0"/>
              </a:rPr>
              <a:t> </a:t>
            </a:r>
            <a:r>
              <a:rPr lang="en-US" sz="2800" b="0" dirty="0" smtClean="0">
                <a:solidFill>
                  <a:schemeClr val="tx1"/>
                </a:solidFill>
                <a:latin typeface="Calibri" panose="020F0502020204030204" charset="0"/>
                <a:cs typeface="Calibri" panose="020F0502020204030204" charset="0"/>
              </a:rPr>
              <a:t>This interaction testing should discover those component bugs that are only revealed when a component is used by other components in the system.</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也可以测试可复用构件或系统，检查他们与新构件集成时是否如愿工作</a:t>
            </a:r>
            <a:endParaRPr lang="en-US" sz="3200" dirty="0" smtClean="0">
              <a:solidFill>
                <a:schemeClr val="accent2">
                  <a:lumMod val="75000"/>
                </a:schemeClr>
              </a:solidFill>
              <a:latin typeface="Calibri" panose="020F0502020204030204" charset="0"/>
              <a:cs typeface="Calibri" panose="020F0502020204030204" charset="0"/>
            </a:endParaRPr>
          </a:p>
          <a:p>
            <a:pPr>
              <a:lnSpc>
                <a:spcPct val="82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Interaction testing also helps find </a:t>
            </a:r>
            <a:r>
              <a:rPr lang="en-US" sz="3000" u="sng" dirty="0" smtClean="0">
                <a:solidFill>
                  <a:schemeClr val="accent2">
                    <a:lumMod val="75000"/>
                  </a:schemeClr>
                </a:solidFill>
                <a:latin typeface="Calibri" panose="020F0502020204030204" charset="0"/>
                <a:cs typeface="Calibri" panose="020F0502020204030204" charset="0"/>
              </a:rPr>
              <a:t>misunderstandings</a:t>
            </a:r>
            <a:r>
              <a:rPr lang="en-US" sz="3000" dirty="0" smtClean="0">
                <a:solidFill>
                  <a:schemeClr val="accent2">
                    <a:lumMod val="75000"/>
                  </a:schemeClr>
                </a:solidFill>
                <a:latin typeface="Calibri" panose="020F0502020204030204" charset="0"/>
                <a:cs typeface="Calibri" panose="020F0502020204030204" charset="0"/>
              </a:rPr>
              <a:t>, made by component developers, about other components in the system.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交互性测试也有助于发现构件开发者对其他构件的误解</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4380"/>
            <a:ext cx="8977630" cy="5181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Use-case testing</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用例测试</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5880" y="1313180"/>
            <a:ext cx="9022080" cy="527240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Because of its focus on interactions, use case-based testing is an effective approach to system testing.</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因其关注交互</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基于用例的测试是有效的系统测试途径</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endParaRPr>
          </a:p>
          <a:p>
            <a:pPr lvl="1">
              <a:lnSpc>
                <a:spcPct val="82000"/>
              </a:lnSpc>
              <a:spcBef>
                <a:spcPts val="600"/>
              </a:spcBef>
              <a:spcAft>
                <a:spcPts val="0"/>
              </a:spcAft>
            </a:pPr>
            <a:r>
              <a:rPr lang="en-US" sz="2800" b="0" dirty="0" smtClean="0">
                <a:solidFill>
                  <a:schemeClr val="tx1"/>
                </a:solidFill>
                <a:latin typeface="Calibri" panose="020F0502020204030204" charset="0"/>
                <a:cs typeface="Calibri" panose="020F0502020204030204" charset="0"/>
                <a:sym typeface="+mn-ea"/>
              </a:rPr>
              <a:t>Several components or objects normally implement each use case in the system.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sym typeface="+mn-ea"/>
              </a:rPr>
              <a:t>若干个构件或对象实现每个用例</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Testing the use case forces these interactions to occur.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用例测试会强制这些交互发生</a:t>
            </a:r>
            <a:endParaRPr lang="en-US" sz="2800" b="0" dirty="0" smtClean="0">
              <a:solidFill>
                <a:schemeClr val="tx1"/>
              </a:solidFill>
              <a:latin typeface="Calibri" panose="020F0502020204030204" charset="0"/>
              <a:cs typeface="Calibri" panose="020F0502020204030204" charset="0"/>
            </a:endParaRPr>
          </a:p>
          <a:p>
            <a:pPr lvl="1">
              <a:lnSpc>
                <a:spcPct val="82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If you have developed a sequence diagram to model the use case implementation, you can see the objects or components that are involved in the interaction.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如果开发了顺序图来对用例实现建模，就可看到交互中的对象或构件</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In the wilderness weather station example, the system software reports summarized weather data to a remote computer as described in Figure 7.3.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例子</a:t>
            </a:r>
            <a:endParaRPr lang="zh-CN" altLang="en-US" sz="2800"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32155"/>
            <a:ext cx="8977630" cy="5803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700" dirty="0">
                <a:solidFill>
                  <a:srgbClr val="0070C0"/>
                </a:solidFill>
                <a:ea typeface="宋体" panose="02010600030101010101" pitchFamily="2" charset="-122"/>
                <a:sym typeface="+mn-ea"/>
              </a:rPr>
              <a:t> </a:t>
            </a:r>
            <a:r>
              <a:rPr lang="zh-CN" altLang="en-US" sz="2700" dirty="0">
                <a:solidFill>
                  <a:schemeClr val="accent1">
                    <a:lumMod val="75000"/>
                  </a:schemeClr>
                </a:solidFill>
                <a:ea typeface="宋体" panose="02010600030101010101" pitchFamily="2" charset="-122"/>
                <a:sym typeface="+mn-ea"/>
              </a:rPr>
              <a:t>Collect weather data sequence chart</a:t>
            </a:r>
            <a:r>
              <a:rPr lang="en-US" altLang="zh-CN" sz="2800" dirty="0">
                <a:solidFill>
                  <a:schemeClr val="accent1">
                    <a:lumMod val="75000"/>
                  </a:schemeClr>
                </a:solidFill>
                <a:ea typeface="宋体" panose="02010600030101010101" pitchFamily="2" charset="-122"/>
                <a:sym typeface="+mn-ea"/>
              </a:rPr>
              <a:t> </a:t>
            </a:r>
            <a:r>
              <a:rPr lang="zh-CN" altLang="en-US" sz="2000" dirty="0">
                <a:solidFill>
                  <a:schemeClr val="accent1">
                    <a:lumMod val="75000"/>
                  </a:schemeClr>
                </a:solidFill>
                <a:latin typeface="黑体" panose="02010609060101010101" pitchFamily="49" charset="-122"/>
                <a:ea typeface="黑体" panose="02010609060101010101" pitchFamily="49" charset="-122"/>
                <a:sym typeface="+mn-ea"/>
              </a:rPr>
              <a:t>搜集气象数据顺序图</a:t>
            </a:r>
            <a:endParaRPr lang="zh-CN" altLang="en-US" sz="2000"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pic>
        <p:nvPicPr>
          <p:cNvPr id="3" name="图片 2"/>
          <p:cNvPicPr>
            <a:picLocks noChangeAspect="1"/>
          </p:cNvPicPr>
          <p:nvPr/>
        </p:nvPicPr>
        <p:blipFill>
          <a:blip r:embed="rId3"/>
          <a:stretch>
            <a:fillRect/>
          </a:stretch>
        </p:blipFill>
        <p:spPr>
          <a:xfrm>
            <a:off x="1623695" y="1228725"/>
            <a:ext cx="7456805" cy="4343400"/>
          </a:xfrm>
          <a:prstGeom prst="rect">
            <a:avLst/>
          </a:prstGeom>
        </p:spPr>
      </p:pic>
      <p:pic>
        <p:nvPicPr>
          <p:cNvPr id="5" name="图片 4"/>
          <p:cNvPicPr>
            <a:picLocks noChangeAspect="1"/>
          </p:cNvPicPr>
          <p:nvPr/>
        </p:nvPicPr>
        <p:blipFill>
          <a:blip r:embed="rId4"/>
          <a:stretch>
            <a:fillRect/>
          </a:stretch>
        </p:blipFill>
        <p:spPr>
          <a:xfrm>
            <a:off x="7020560" y="4874260"/>
            <a:ext cx="1428750" cy="628650"/>
          </a:xfrm>
          <a:prstGeom prst="rect">
            <a:avLst/>
          </a:prstGeom>
        </p:spPr>
      </p:pic>
      <p:sp>
        <p:nvSpPr>
          <p:cNvPr id="6" name="Content Placeholder 2"/>
          <p:cNvSpPr>
            <a:spLocks noGrp="1"/>
          </p:cNvSpPr>
          <p:nvPr/>
        </p:nvSpPr>
        <p:spPr>
          <a:xfrm>
            <a:off x="34925" y="1915160"/>
            <a:ext cx="2222500" cy="412051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Fig. 8.8 shows</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the sequence of operations in the weather station when it responds to a request to collect data for the mapping system. </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 You can use this diagram to identify operations that</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will be tested and to help design the test cases to execute the tests. </a:t>
            </a:r>
            <a:endParaRPr lang="en-US" sz="2000" b="0" dirty="0" smtClean="0">
              <a:solidFill>
                <a:schemeClr val="tx1"/>
              </a:solidFill>
              <a:latin typeface="Calibri" panose="020F0502020204030204" charset="0"/>
              <a:cs typeface="Calibri" panose="020F0502020204030204" charset="0"/>
            </a:endParaRPr>
          </a:p>
        </p:txBody>
      </p:sp>
      <p:sp>
        <p:nvSpPr>
          <p:cNvPr id="2" name="Content Placeholder 2"/>
          <p:cNvSpPr>
            <a:spLocks noGrp="1"/>
          </p:cNvSpPr>
          <p:nvPr/>
        </p:nvSpPr>
        <p:spPr>
          <a:xfrm>
            <a:off x="2213610" y="5502910"/>
            <a:ext cx="6839585" cy="115633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sz="2000" b="0" dirty="0" smtClean="0">
                <a:solidFill>
                  <a:schemeClr val="tx1"/>
                </a:solidFill>
                <a:latin typeface="Calibri" panose="020F0502020204030204" charset="0"/>
                <a:cs typeface="Calibri" panose="020F0502020204030204" charset="0"/>
              </a:rPr>
              <a:t>*Therefore issuing a request for a report will result in the execution of the following thread of methods:</a:t>
            </a:r>
            <a:endParaRPr lang="en-US" sz="2000" b="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dirty="0" smtClean="0">
                <a:solidFill>
                  <a:schemeClr val="tx1"/>
                </a:solidFill>
                <a:latin typeface="Calibri" panose="020F0502020204030204" charset="0"/>
                <a:cs typeface="Calibri" panose="020F0502020204030204" charset="0"/>
              </a:rPr>
              <a:t>SatComms: request→WeatherStation: reportWeather→</a:t>
            </a:r>
            <a:endParaRPr lang="en-US" sz="2000" dirty="0" smtClean="0">
              <a:solidFill>
                <a:schemeClr val="tx1"/>
              </a:solidFill>
              <a:latin typeface="Calibri" panose="020F0502020204030204" charset="0"/>
              <a:cs typeface="Calibri" panose="020F0502020204030204" charset="0"/>
            </a:endParaRPr>
          </a:p>
          <a:p>
            <a:pPr marL="0" indent="0">
              <a:lnSpc>
                <a:spcPct val="85000"/>
              </a:lnSpc>
              <a:spcBef>
                <a:spcPts val="300"/>
              </a:spcBef>
              <a:spcAft>
                <a:spcPts val="0"/>
              </a:spcAft>
              <a:buNone/>
            </a:pPr>
            <a:r>
              <a:rPr lang="en-US" sz="2000" dirty="0" smtClean="0">
                <a:solidFill>
                  <a:schemeClr val="tx1"/>
                </a:solidFill>
                <a:latin typeface="Calibri" panose="020F0502020204030204" charset="0"/>
                <a:cs typeface="Calibri" panose="020F0502020204030204" charset="0"/>
              </a:rPr>
              <a:t>Commslink: Get(summary)→ WeatherData: summarize</a:t>
            </a:r>
            <a:endParaRPr lang="en-US" sz="200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82625"/>
            <a:ext cx="8977630" cy="91757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Test cases derived from sequence diagram</a:t>
            </a:r>
            <a:r>
              <a:rPr lang="en-US" altLang="zh-CN" sz="28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从顺序图获取测试实例</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7150" y="1600200"/>
            <a:ext cx="9010015" cy="49276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0000"/>
              </a:lnSpc>
              <a:spcBef>
                <a:spcPts val="600"/>
              </a:spcBef>
              <a:spcAft>
                <a:spcPts val="0"/>
              </a:spcAft>
            </a:pPr>
            <a:r>
              <a:rPr lang="en-US" sz="3000" dirty="0">
                <a:solidFill>
                  <a:schemeClr val="accent2">
                    <a:lumMod val="75000"/>
                  </a:schemeClr>
                </a:solidFill>
                <a:latin typeface="Calibri" panose="020F0502020204030204" charset="0"/>
                <a:cs typeface="Calibri" panose="020F0502020204030204" charset="0"/>
              </a:rPr>
              <a:t> The sequence diagram helps you design the specific test cases, as it shows what inputs are required and what outputs are created: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顺序图有助于设计特定的测试实例</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0000"/>
              </a:lnSpc>
              <a:spcBef>
                <a:spcPts val="600"/>
              </a:spcBef>
              <a:spcAft>
                <a:spcPts val="0"/>
              </a:spcAft>
            </a:pPr>
            <a:r>
              <a:rPr lang="en-US" sz="2500" b="0" dirty="0">
                <a:solidFill>
                  <a:schemeClr val="tx1"/>
                </a:solidFill>
                <a:latin typeface="Calibri" panose="020F0502020204030204" charset="0"/>
                <a:cs typeface="Calibri" panose="020F0502020204030204" charset="0"/>
              </a:rPr>
              <a:t>An input of a request for a report should have an associated acknowledgment. A report should ultimately be returned from the request. During testing, you should create summarized data that can be used to check that the report is correctly organized.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报告请求的输入应得到确认，报告最终应从请求中返回</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0000"/>
              </a:lnSpc>
              <a:spcBef>
                <a:spcPts val="600"/>
              </a:spcBef>
              <a:spcAft>
                <a:spcPts val="0"/>
              </a:spcAft>
            </a:pPr>
            <a:r>
              <a:rPr lang="en-US" sz="2500" b="0" dirty="0">
                <a:solidFill>
                  <a:schemeClr val="tx1"/>
                </a:solidFill>
                <a:latin typeface="Calibri" panose="020F0502020204030204" charset="0"/>
                <a:cs typeface="Calibri" panose="020F0502020204030204" charset="0"/>
              </a:rPr>
              <a:t>An input request for a report to </a:t>
            </a:r>
            <a:r>
              <a:rPr lang="en-US" sz="2500" dirty="0">
                <a:solidFill>
                  <a:schemeClr val="tx1"/>
                </a:solidFill>
                <a:latin typeface="Calibri" panose="020F0502020204030204" charset="0"/>
                <a:cs typeface="Calibri" panose="020F0502020204030204" charset="0"/>
              </a:rPr>
              <a:t>WeatherStation</a:t>
            </a:r>
            <a:r>
              <a:rPr lang="en-US" sz="2500" b="0" dirty="0">
                <a:solidFill>
                  <a:schemeClr val="tx1"/>
                </a:solidFill>
                <a:latin typeface="Calibri" panose="020F0502020204030204" charset="0"/>
                <a:cs typeface="Calibri" panose="020F0502020204030204" charset="0"/>
              </a:rPr>
              <a:t> results in a summarized report. You can test this in isolation by creating raw data corresponding to the summary that you have prepared for the test of </a:t>
            </a:r>
            <a:r>
              <a:rPr lang="en-US" sz="2500" dirty="0">
                <a:solidFill>
                  <a:schemeClr val="tx1"/>
                </a:solidFill>
                <a:latin typeface="Calibri" panose="020F0502020204030204" charset="0"/>
                <a:cs typeface="Calibri" panose="020F0502020204030204" charset="0"/>
              </a:rPr>
              <a:t>SatComms</a:t>
            </a:r>
            <a:r>
              <a:rPr lang="en-US" sz="2500" b="0" dirty="0">
                <a:solidFill>
                  <a:schemeClr val="tx1"/>
                </a:solidFill>
                <a:latin typeface="Calibri" panose="020F0502020204030204" charset="0"/>
                <a:cs typeface="Calibri" panose="020F0502020204030204" charset="0"/>
              </a:rPr>
              <a:t> and checking that the </a:t>
            </a:r>
            <a:r>
              <a:rPr lang="en-US" sz="2500" dirty="0">
                <a:solidFill>
                  <a:schemeClr val="tx1"/>
                </a:solidFill>
                <a:latin typeface="Calibri" panose="020F0502020204030204" charset="0"/>
                <a:cs typeface="Calibri" panose="020F0502020204030204" charset="0"/>
              </a:rPr>
              <a:t>WeatherStation</a:t>
            </a:r>
            <a:r>
              <a:rPr lang="en-US" sz="2500" b="0" dirty="0">
                <a:solidFill>
                  <a:schemeClr val="tx1"/>
                </a:solidFill>
                <a:latin typeface="Calibri" panose="020F0502020204030204" charset="0"/>
                <a:cs typeface="Calibri" panose="020F0502020204030204" charset="0"/>
              </a:rPr>
              <a:t> object correctly produces this summary. This raw data is also used to test the WeatherData.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创建对应于总结报告的原始数据，检验</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WeatherStation是否正确地产生了这个总结报告</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4215"/>
            <a:ext cx="8977630" cy="5568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Testing policies</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测试策略</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57150" y="1241425"/>
            <a:ext cx="9009380" cy="54559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Exhaustive testing is impossible, so testing has to be based on a subset of possible test cases.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彻底的测试是不可能的</a:t>
            </a:r>
            <a:r>
              <a:rPr lang="en-US" altLang="zh-CN" sz="20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因此测试要基于一个所有测试的子集</a:t>
            </a:r>
            <a:endParaRPr lang="en-US" sz="20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2000"/>
              </a:lnSpc>
              <a:spcBef>
                <a:spcPts val="600"/>
              </a:spcBef>
              <a:spcAft>
                <a:spcPts val="0"/>
              </a:spcAft>
            </a:pPr>
            <a:r>
              <a:rPr lang="en-US" sz="3000" dirty="0" smtClean="0">
                <a:solidFill>
                  <a:schemeClr val="accent2">
                    <a:lumMod val="75000"/>
                  </a:schemeClr>
                </a:solidFill>
                <a:latin typeface="Calibri" panose="020F0502020204030204" charset="0"/>
                <a:cs typeface="Calibri" panose="020F0502020204030204" charset="0"/>
              </a:rPr>
              <a:t> Ideally, software companies should have policies for choosing this subset.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理想情况下，应有挑选该子集的策略</a:t>
            </a:r>
            <a:endParaRPr lang="zh-CN" altLang="en-US" sz="20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82000"/>
              </a:lnSpc>
              <a:spcBef>
                <a:spcPts val="600"/>
              </a:spcBef>
              <a:spcAft>
                <a:spcPts val="0"/>
              </a:spcAft>
            </a:pPr>
            <a:r>
              <a:rPr lang="en-US" sz="2600" b="0" dirty="0" smtClean="0">
                <a:solidFill>
                  <a:schemeClr val="tx1"/>
                </a:solidFill>
                <a:latin typeface="Calibri" panose="020F0502020204030204" charset="0"/>
                <a:cs typeface="Calibri" panose="020F0502020204030204" charset="0"/>
              </a:rPr>
              <a:t>These policies might be based on general testing policies, such as a policy that all program statements should be executed at least once.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可基于通用的测试策略，如，所有程序语句都应该被执行至少一次</a:t>
            </a:r>
            <a:endParaRPr lang="zh-CN" altLang="en-US" sz="20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82000"/>
              </a:lnSpc>
              <a:spcBef>
                <a:spcPts val="600"/>
              </a:spcBef>
              <a:spcAft>
                <a:spcPts val="0"/>
              </a:spcAft>
            </a:pPr>
            <a:r>
              <a:rPr lang="en-US" sz="2600" b="0" dirty="0" smtClean="0">
                <a:solidFill>
                  <a:schemeClr val="tx1"/>
                </a:solidFill>
                <a:latin typeface="Calibri" panose="020F0502020204030204" charset="0"/>
                <a:cs typeface="Calibri" panose="020F0502020204030204" charset="0"/>
              </a:rPr>
              <a:t>Alternatively, they may be based on experience of system usage. For example:  </a:t>
            </a:r>
            <a:r>
              <a:rPr lang="zh-CN" altLang="en-US" sz="2000" dirty="0" smtClean="0">
                <a:solidFill>
                  <a:schemeClr val="accent5">
                    <a:lumMod val="50000"/>
                  </a:schemeClr>
                </a:solidFill>
                <a:latin typeface="黑体" panose="02010609060101010101" pitchFamily="49" charset="-122"/>
                <a:ea typeface="黑体" panose="02010609060101010101" pitchFamily="49" charset="-122"/>
                <a:cs typeface="黑体" panose="02010609060101010101" pitchFamily="49" charset="-122"/>
              </a:rPr>
              <a:t>或者，基于系统使用的经验</a:t>
            </a:r>
            <a:endParaRPr lang="en-US" sz="2600" b="0" dirty="0" smtClean="0">
              <a:solidFill>
                <a:schemeClr val="tx1"/>
              </a:solidFill>
              <a:latin typeface="Calibri" panose="020F0502020204030204" charset="0"/>
              <a:cs typeface="Calibri" panose="020F0502020204030204" charset="0"/>
            </a:endParaRPr>
          </a:p>
          <a:p>
            <a:pPr marL="1200150" lvl="2" indent="-285750">
              <a:lnSpc>
                <a:spcPct val="82000"/>
              </a:lnSpc>
              <a:spcBef>
                <a:spcPts val="600"/>
              </a:spcBef>
              <a:spcAft>
                <a:spcPts val="0"/>
              </a:spcAft>
              <a:buFont typeface="Wingdings" panose="05000000000000000000" charset="0"/>
              <a:buChar char="§"/>
            </a:pPr>
            <a:r>
              <a:rPr lang="en-US" sz="2100" b="0" dirty="0" smtClean="0">
                <a:solidFill>
                  <a:schemeClr val="tx1"/>
                </a:solidFill>
                <a:latin typeface="Calibri" panose="020F0502020204030204" charset="0"/>
                <a:cs typeface="Calibri" panose="020F0502020204030204" charset="0"/>
                <a:sym typeface="+mn-ea"/>
              </a:rPr>
              <a:t>All system functions accessed through menus should be tested.</a:t>
            </a:r>
            <a:endParaRPr lang="en-US" sz="2100" b="0" dirty="0" smtClean="0">
              <a:solidFill>
                <a:schemeClr val="tx1"/>
              </a:solidFill>
              <a:latin typeface="Calibri" panose="020F0502020204030204" charset="0"/>
              <a:cs typeface="Calibri" panose="020F0502020204030204" charset="0"/>
            </a:endParaRPr>
          </a:p>
          <a:p>
            <a:pPr marL="1200150" lvl="2" indent="-285750">
              <a:lnSpc>
                <a:spcPct val="82000"/>
              </a:lnSpc>
              <a:spcBef>
                <a:spcPts val="600"/>
              </a:spcBef>
              <a:spcAft>
                <a:spcPts val="0"/>
              </a:spcAft>
              <a:buFont typeface="Wingdings" panose="05000000000000000000" charset="0"/>
              <a:buChar char="§"/>
            </a:pPr>
            <a:r>
              <a:rPr lang="en-US" sz="2100" b="0" dirty="0" smtClean="0">
                <a:solidFill>
                  <a:schemeClr val="tx1"/>
                </a:solidFill>
                <a:latin typeface="Calibri" panose="020F0502020204030204" charset="0"/>
                <a:cs typeface="Calibri" panose="020F0502020204030204" charset="0"/>
              </a:rPr>
              <a:t>Combinations of functions (e.g., text formatting) that are accessed through the same menu must be tested. </a:t>
            </a:r>
            <a:endParaRPr lang="en-US" sz="2100" b="0" dirty="0" smtClean="0">
              <a:solidFill>
                <a:schemeClr val="tx1"/>
              </a:solidFill>
              <a:latin typeface="Calibri" panose="020F0502020204030204" charset="0"/>
              <a:cs typeface="Calibri" panose="020F0502020204030204" charset="0"/>
            </a:endParaRPr>
          </a:p>
          <a:p>
            <a:pPr marL="1200150" lvl="2" indent="-285750">
              <a:lnSpc>
                <a:spcPct val="82000"/>
              </a:lnSpc>
              <a:spcBef>
                <a:spcPts val="600"/>
              </a:spcBef>
              <a:spcAft>
                <a:spcPts val="0"/>
              </a:spcAft>
              <a:buFont typeface="Wingdings" panose="05000000000000000000" charset="0"/>
              <a:buChar char="§"/>
            </a:pPr>
            <a:r>
              <a:rPr lang="en-US" sz="2100" b="0" dirty="0" smtClean="0">
                <a:solidFill>
                  <a:schemeClr val="tx1"/>
                </a:solidFill>
                <a:latin typeface="Calibri" panose="020F0502020204030204" charset="0"/>
                <a:cs typeface="Calibri" panose="020F0502020204030204" charset="0"/>
              </a:rPr>
              <a:t>Where user input is provided, all functions must be tested with both correct and incorrect input.</a:t>
            </a:r>
            <a:endParaRPr lang="en-US" sz="21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9460"/>
            <a:ext cx="8977630" cy="6248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8.2 Test-driven development</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测试驱动的开发</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2070" y="1313180"/>
            <a:ext cx="9030335" cy="52819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Test-driven development (TDD) is an approach to program development in which you interleave testing and code development.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含义:测试与代码开发交织</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Aft>
                <a:spcPts val="0"/>
              </a:spcAft>
            </a:pPr>
            <a:r>
              <a:rPr lang="en-US" sz="2800" b="0" dirty="0" smtClean="0">
                <a:solidFill>
                  <a:schemeClr val="tx1"/>
                </a:solidFill>
                <a:latin typeface="Calibri" panose="020F0502020204030204" charset="0"/>
                <a:cs typeface="Calibri" panose="020F0502020204030204" charset="0"/>
              </a:rPr>
              <a:t>You develop the code incrementally, along with a set of tests for that increment.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开发代码增量，连同该增量的一组测试</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Aft>
                <a:spcPts val="0"/>
              </a:spcAft>
            </a:pPr>
            <a:r>
              <a:rPr lang="en-US" sz="2800" b="0" dirty="0" smtClean="0">
                <a:solidFill>
                  <a:schemeClr val="tx1"/>
                </a:solidFill>
                <a:latin typeface="Calibri" panose="020F0502020204030204" charset="0"/>
                <a:cs typeface="Calibri" panose="020F0502020204030204" charset="0"/>
              </a:rPr>
              <a:t>You don’t start working on the next increment until the code that you have developed passes all of its tests.</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 直到已开发代码通过了所有测试，再开始开发下一个增量</a:t>
            </a:r>
            <a:endParaRPr lang="en-US" sz="2800" b="0" dirty="0" smtClean="0">
              <a:solidFill>
                <a:schemeClr val="tx1"/>
              </a:solidFill>
              <a:latin typeface="Calibri" panose="020F0502020204030204" charset="0"/>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Test-driven development was introduced as part of the XP agile development method. However, it has now gained mainstream acceptance and may be used in both agile and plan-based processes.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TDD作为极限敏捷开发方法的一部分被引入，但目前已获得主流接受，既可用于敏捷和也可用于基于计划的过程</a:t>
            </a:r>
            <a:endParaRPr lang="zh-CN" altLang="en-US" sz="3100" dirty="0" smtClean="0">
              <a:solidFill>
                <a:schemeClr val="accent2">
                  <a:lumMod val="7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265"/>
            <a:ext cx="8977630" cy="57531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Test-driven development</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pic>
        <p:nvPicPr>
          <p:cNvPr id="2" name="图片 1"/>
          <p:cNvPicPr>
            <a:picLocks noChangeAspect="1"/>
          </p:cNvPicPr>
          <p:nvPr/>
        </p:nvPicPr>
        <p:blipFill>
          <a:blip r:embed="rId3"/>
          <a:stretch>
            <a:fillRect/>
          </a:stretch>
        </p:blipFill>
        <p:spPr>
          <a:xfrm>
            <a:off x="80010" y="1268730"/>
            <a:ext cx="8990330" cy="2696210"/>
          </a:xfrm>
          <a:prstGeom prst="rect">
            <a:avLst/>
          </a:prstGeom>
        </p:spPr>
      </p:pic>
      <p:pic>
        <p:nvPicPr>
          <p:cNvPr id="3" name="图片 2"/>
          <p:cNvPicPr>
            <a:picLocks noChangeAspect="1"/>
          </p:cNvPicPr>
          <p:nvPr/>
        </p:nvPicPr>
        <p:blipFill>
          <a:blip r:embed="rId4"/>
          <a:stretch>
            <a:fillRect/>
          </a:stretch>
        </p:blipFill>
        <p:spPr>
          <a:xfrm>
            <a:off x="6198870" y="1473200"/>
            <a:ext cx="2267585" cy="600710"/>
          </a:xfrm>
          <a:prstGeom prst="rect">
            <a:avLst/>
          </a:prstGeom>
        </p:spPr>
      </p:pic>
      <p:sp>
        <p:nvSpPr>
          <p:cNvPr id="6" name="Content Placeholder 2"/>
          <p:cNvSpPr>
            <a:spLocks noGrp="1"/>
          </p:cNvSpPr>
          <p:nvPr/>
        </p:nvSpPr>
        <p:spPr>
          <a:xfrm>
            <a:off x="106680" y="4067810"/>
            <a:ext cx="8926195" cy="2526030"/>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2000"/>
              </a:lnSpc>
              <a:spcAft>
                <a:spcPts val="0"/>
              </a:spcAft>
              <a:buNone/>
            </a:pPr>
            <a:r>
              <a:rPr lang="en-US" sz="2100" b="0" dirty="0" smtClean="0">
                <a:solidFill>
                  <a:schemeClr val="tx1"/>
                </a:solidFill>
                <a:latin typeface="Calibri" panose="020F0502020204030204" charset="0"/>
                <a:cs typeface="Calibri" panose="020F0502020204030204" charset="0"/>
              </a:rPr>
              <a:t>* The fundamental TDD process is shown in Figure 8.9. The steps are as follows:</a:t>
            </a:r>
            <a:endParaRPr lang="en-US" sz="2100" b="0" dirty="0" smtClean="0">
              <a:solidFill>
                <a:schemeClr val="tx1"/>
              </a:solidFill>
              <a:latin typeface="Calibri" panose="020F0502020204030204" charset="0"/>
              <a:cs typeface="Calibri" panose="020F0502020204030204" charset="0"/>
            </a:endParaRPr>
          </a:p>
          <a:p>
            <a:pPr marL="0" indent="0">
              <a:lnSpc>
                <a:spcPct val="82000"/>
              </a:lnSpc>
              <a:spcAft>
                <a:spcPts val="0"/>
              </a:spcAft>
              <a:buNone/>
            </a:pPr>
            <a:r>
              <a:rPr lang="en-US" sz="2100" b="0" dirty="0" smtClean="0">
                <a:solidFill>
                  <a:schemeClr val="tx1"/>
                </a:solidFill>
                <a:latin typeface="Calibri" panose="020F0502020204030204" charset="0"/>
                <a:cs typeface="Calibri" panose="020F0502020204030204" charset="0"/>
              </a:rPr>
              <a:t>1. You </a:t>
            </a:r>
            <a:r>
              <a:rPr lang="en-US" sz="2100" b="0" u="sng" dirty="0" smtClean="0">
                <a:solidFill>
                  <a:schemeClr val="tx1"/>
                </a:solidFill>
                <a:latin typeface="Calibri" panose="020F0502020204030204" charset="0"/>
                <a:cs typeface="Calibri" panose="020F0502020204030204" charset="0"/>
              </a:rPr>
              <a:t>start by identifying</a:t>
            </a:r>
            <a:r>
              <a:rPr lang="en-US" sz="2100" b="0" dirty="0" smtClean="0">
                <a:solidFill>
                  <a:schemeClr val="tx1"/>
                </a:solidFill>
                <a:latin typeface="Calibri" panose="020F0502020204030204" charset="0"/>
                <a:cs typeface="Calibri" panose="020F0502020204030204" charset="0"/>
              </a:rPr>
              <a:t> the increment of functionality that is required. </a:t>
            </a:r>
            <a:endParaRPr lang="en-US" sz="2100" b="0" dirty="0" smtClean="0">
              <a:solidFill>
                <a:schemeClr val="tx1"/>
              </a:solidFill>
              <a:latin typeface="Calibri" panose="020F0502020204030204" charset="0"/>
              <a:cs typeface="Calibri" panose="020F0502020204030204" charset="0"/>
            </a:endParaRPr>
          </a:p>
          <a:p>
            <a:pPr marL="0" indent="0">
              <a:lnSpc>
                <a:spcPct val="82000"/>
              </a:lnSpc>
              <a:spcAft>
                <a:spcPts val="0"/>
              </a:spcAft>
              <a:buNone/>
            </a:pPr>
            <a:r>
              <a:rPr lang="en-US" sz="2100" b="0" dirty="0" smtClean="0">
                <a:solidFill>
                  <a:schemeClr val="tx1"/>
                </a:solidFill>
                <a:latin typeface="Calibri" panose="020F0502020204030204" charset="0"/>
                <a:cs typeface="Calibri" panose="020F0502020204030204" charset="0"/>
              </a:rPr>
              <a:t>2. You </a:t>
            </a:r>
            <a:r>
              <a:rPr lang="en-US" sz="2100" b="0" u="sng" dirty="0" smtClean="0">
                <a:solidFill>
                  <a:schemeClr val="tx1"/>
                </a:solidFill>
                <a:latin typeface="Calibri" panose="020F0502020204030204" charset="0"/>
                <a:cs typeface="Calibri" panose="020F0502020204030204" charset="0"/>
              </a:rPr>
              <a:t>write a test</a:t>
            </a:r>
            <a:r>
              <a:rPr lang="en-US" sz="2100" b="0" dirty="0" smtClean="0">
                <a:solidFill>
                  <a:schemeClr val="tx1"/>
                </a:solidFill>
                <a:latin typeface="Calibri" panose="020F0502020204030204" charset="0"/>
                <a:cs typeface="Calibri" panose="020F0502020204030204" charset="0"/>
              </a:rPr>
              <a:t> for this functionality and implement it as an automated test. </a:t>
            </a:r>
            <a:endParaRPr lang="en-US" sz="2100" b="0" dirty="0" smtClean="0">
              <a:solidFill>
                <a:schemeClr val="tx1"/>
              </a:solidFill>
              <a:latin typeface="Calibri" panose="020F0502020204030204" charset="0"/>
              <a:cs typeface="Calibri" panose="020F0502020204030204" charset="0"/>
            </a:endParaRPr>
          </a:p>
          <a:p>
            <a:pPr marL="0" indent="0">
              <a:lnSpc>
                <a:spcPct val="82000"/>
              </a:lnSpc>
              <a:spcAft>
                <a:spcPts val="0"/>
              </a:spcAft>
              <a:buNone/>
            </a:pPr>
            <a:r>
              <a:rPr lang="en-US" sz="2100" b="0" dirty="0" smtClean="0">
                <a:solidFill>
                  <a:schemeClr val="tx1"/>
                </a:solidFill>
                <a:latin typeface="Calibri" panose="020F0502020204030204" charset="0"/>
                <a:cs typeface="Calibri" panose="020F0502020204030204" charset="0"/>
              </a:rPr>
              <a:t>3. You then </a:t>
            </a:r>
            <a:r>
              <a:rPr lang="en-US" sz="2100" b="0" u="sng" dirty="0" smtClean="0">
                <a:solidFill>
                  <a:schemeClr val="tx1"/>
                </a:solidFill>
                <a:latin typeface="Calibri" panose="020F0502020204030204" charset="0"/>
                <a:cs typeface="Calibri" panose="020F0502020204030204" charset="0"/>
              </a:rPr>
              <a:t>run the test</a:t>
            </a:r>
            <a:r>
              <a:rPr lang="en-US" sz="2100" b="0" dirty="0" smtClean="0">
                <a:solidFill>
                  <a:schemeClr val="tx1"/>
                </a:solidFill>
                <a:latin typeface="Calibri" panose="020F0502020204030204" charset="0"/>
                <a:cs typeface="Calibri" panose="020F0502020204030204" charset="0"/>
              </a:rPr>
              <a:t>, along with all other tests that have been implemented. </a:t>
            </a:r>
            <a:endParaRPr lang="en-US" sz="2100" b="0" dirty="0" smtClean="0">
              <a:solidFill>
                <a:schemeClr val="tx1"/>
              </a:solidFill>
              <a:latin typeface="Calibri" panose="020F0502020204030204" charset="0"/>
              <a:cs typeface="Calibri" panose="020F0502020204030204" charset="0"/>
            </a:endParaRPr>
          </a:p>
          <a:p>
            <a:pPr marL="0" indent="0">
              <a:lnSpc>
                <a:spcPct val="82000"/>
              </a:lnSpc>
              <a:spcAft>
                <a:spcPts val="0"/>
              </a:spcAft>
              <a:buNone/>
            </a:pPr>
            <a:r>
              <a:rPr lang="en-US" sz="2100" b="0" dirty="0" smtClean="0">
                <a:solidFill>
                  <a:schemeClr val="tx1"/>
                </a:solidFill>
                <a:latin typeface="Calibri" panose="020F0502020204030204" charset="0"/>
                <a:cs typeface="Calibri" panose="020F0502020204030204" charset="0"/>
              </a:rPr>
              <a:t>4. You then </a:t>
            </a:r>
            <a:r>
              <a:rPr lang="en-US" sz="2100" b="0" u="sng" dirty="0" smtClean="0">
                <a:solidFill>
                  <a:schemeClr val="tx1"/>
                </a:solidFill>
                <a:latin typeface="Calibri" panose="020F0502020204030204" charset="0"/>
                <a:cs typeface="Calibri" panose="020F0502020204030204" charset="0"/>
              </a:rPr>
              <a:t>implement the functionality and re-run the test</a:t>
            </a:r>
            <a:r>
              <a:rPr lang="en-US" sz="2100" b="0" dirty="0" smtClean="0">
                <a:solidFill>
                  <a:schemeClr val="tx1"/>
                </a:solidFill>
                <a:latin typeface="Calibri" panose="020F0502020204030204" charset="0"/>
                <a:cs typeface="Calibri" panose="020F0502020204030204" charset="0"/>
              </a:rPr>
              <a:t>. This may involve refactoring existing code to improve it and add new code to what’s already there.</a:t>
            </a:r>
            <a:endParaRPr lang="en-US" sz="2100" b="0" dirty="0" smtClean="0">
              <a:solidFill>
                <a:schemeClr val="tx1"/>
              </a:solidFill>
              <a:latin typeface="Calibri" panose="020F0502020204030204" charset="0"/>
              <a:cs typeface="Calibri" panose="020F0502020204030204" charset="0"/>
            </a:endParaRPr>
          </a:p>
          <a:p>
            <a:pPr marL="0" indent="0">
              <a:lnSpc>
                <a:spcPct val="82000"/>
              </a:lnSpc>
              <a:spcAft>
                <a:spcPts val="0"/>
              </a:spcAft>
              <a:buNone/>
            </a:pPr>
            <a:r>
              <a:rPr lang="en-US" sz="2100" b="0" dirty="0" smtClean="0">
                <a:solidFill>
                  <a:schemeClr val="tx1"/>
                </a:solidFill>
                <a:latin typeface="Calibri" panose="020F0502020204030204" charset="0"/>
                <a:cs typeface="Calibri" panose="020F0502020204030204" charset="0"/>
              </a:rPr>
              <a:t>5. </a:t>
            </a:r>
            <a:r>
              <a:rPr lang="en-US" sz="2100" b="0" u="sng" dirty="0" smtClean="0">
                <a:solidFill>
                  <a:schemeClr val="tx1"/>
                </a:solidFill>
                <a:latin typeface="Calibri" panose="020F0502020204030204" charset="0"/>
                <a:cs typeface="Calibri" panose="020F0502020204030204" charset="0"/>
              </a:rPr>
              <a:t>Once all tests run successfully</a:t>
            </a:r>
            <a:r>
              <a:rPr lang="en-US" sz="2100" b="0" dirty="0" smtClean="0">
                <a:solidFill>
                  <a:schemeClr val="tx1"/>
                </a:solidFill>
                <a:latin typeface="Calibri" panose="020F0502020204030204" charset="0"/>
                <a:cs typeface="Calibri" panose="020F0502020204030204" charset="0"/>
              </a:rPr>
              <a:t>, you move on to implementing the next chunk of functionality.</a:t>
            </a:r>
            <a:endParaRPr lang="en-US" sz="21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38100" y="1302385"/>
            <a:ext cx="9030970" cy="519684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Test-driven development helps programmers clarify their ideas of what a code segment is actually supposed to do.</a:t>
            </a:r>
            <a:r>
              <a:rPr lang="en-US" sz="3000" dirty="0" smtClean="0">
                <a:solidFill>
                  <a:schemeClr val="accent2">
                    <a:lumMod val="75000"/>
                  </a:schemeClr>
                </a:solidFill>
                <a:latin typeface="Calibri" panose="020F0502020204030204" charset="0"/>
                <a:cs typeface="Calibri" panose="020F0502020204030204" charset="0"/>
              </a:rPr>
              <a:t> </a:t>
            </a:r>
            <a:r>
              <a:rPr lang="en-US" sz="2800" b="0" dirty="0" smtClean="0">
                <a:solidFill>
                  <a:schemeClr val="tx1"/>
                </a:solidFill>
                <a:latin typeface="Calibri" panose="020F0502020204030204" charset="0"/>
                <a:cs typeface="Calibri" panose="020F0502020204030204" charset="0"/>
              </a:rPr>
              <a:t>To write a test, you need to understand what is intended, as this understanding makes it easier to write the required code. Of course, if you have incomplete knowledge or understanding, then TDD won’t help.  </a:t>
            </a:r>
            <a:r>
              <a:rPr lang="zh-CN" altLang="en-US"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有助于程序员澄清其对于代码片段要做什么的想法</a:t>
            </a:r>
            <a:endParaRPr lang="en-US"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endParaRPr>
          </a:p>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If you don’t know enough to write the tests, you won’t develop the required code.</a:t>
            </a:r>
            <a:r>
              <a:rPr lang="en-US" sz="2800" b="0" dirty="0" smtClean="0">
                <a:solidFill>
                  <a:schemeClr val="tx1"/>
                </a:solidFill>
                <a:latin typeface="Calibri" panose="020F0502020204030204" charset="0"/>
                <a:cs typeface="Calibri" panose="020F0502020204030204" charset="0"/>
              </a:rPr>
              <a:t> For example, if your computation involves division, you should check that you are not dividing numbers by zero. If you forget to write a test for this, the checking code will never be included in program.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若对编写测试不足够了解，就无法开发所需代码</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Rectangle 3"/>
          <p:cNvSpPr>
            <a:spLocks noGrp="1" noRot="1"/>
          </p:cNvSpPr>
          <p:nvPr>
            <p:ph type="subTitle" idx="1"/>
            <p:custDataLst>
              <p:tags r:id="rId2"/>
            </p:custDataLst>
          </p:nvPr>
        </p:nvSpPr>
        <p:spPr>
          <a:xfrm>
            <a:off x="88900" y="784860"/>
            <a:ext cx="8977630" cy="5892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Benefits of </a:t>
            </a:r>
            <a:r>
              <a:rPr lang="en-US" altLang="zh-CN" sz="2800" dirty="0">
                <a:solidFill>
                  <a:schemeClr val="accent1">
                    <a:lumMod val="75000"/>
                  </a:schemeClr>
                </a:solidFill>
                <a:ea typeface="宋体" panose="02010600030101010101" pitchFamily="2" charset="-122"/>
                <a:sym typeface="+mn-ea"/>
              </a:rPr>
              <a:t>TDD-understabding   </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TDD</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的益处</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理解</a:t>
            </a:r>
            <a:r>
              <a:rPr lang="en-US" altLang="zh-CN" sz="2800" dirty="0">
                <a:solidFill>
                  <a:schemeClr val="accent1">
                    <a:lumMod val="75000"/>
                  </a:schemeClr>
                </a:solidFill>
                <a:ea typeface="宋体" panose="02010600030101010101" pitchFamily="2" charset="-122"/>
                <a:sym typeface="+mn-ea"/>
              </a:rPr>
              <a:t> </a:t>
            </a:r>
            <a:endParaRPr lang="en-US" altLang="zh-CN" sz="2800" dirty="0">
              <a:solidFill>
                <a:schemeClr val="accent1">
                  <a:lumMod val="75000"/>
                </a:schemeClr>
              </a:solidFill>
              <a:ea typeface="宋体" panose="02010600030101010101" pitchFamily="2" charset="-122"/>
              <a:sym typeface="+mn-ea"/>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65810"/>
            <a:ext cx="8977630" cy="53657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Benefits of </a:t>
            </a:r>
            <a:r>
              <a:rPr lang="en-US" altLang="zh-CN" sz="2800" dirty="0">
                <a:solidFill>
                  <a:schemeClr val="accent1">
                    <a:lumMod val="75000"/>
                  </a:schemeClr>
                </a:solidFill>
                <a:ea typeface="宋体" panose="02010600030101010101" pitchFamily="2" charset="-122"/>
                <a:sym typeface="+mn-ea"/>
              </a:rPr>
              <a:t>TDD - others    </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TDD</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的益处</a:t>
            </a:r>
            <a:r>
              <a:rPr lang="en-US" altLang="zh-CN"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其他</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44450" y="1313180"/>
            <a:ext cx="9048750" cy="53905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As well as better problem understanding, other benefits of TDD are: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除了更好的问题理解</a:t>
            </a:r>
            <a:r>
              <a:rPr lang="en-US" altLang="zh-CN"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TDD的其他益处</a:t>
            </a:r>
            <a:r>
              <a:rPr lang="en-US" sz="3200" dirty="0" smtClean="0">
                <a:solidFill>
                  <a:schemeClr val="accent2">
                    <a:lumMod val="75000"/>
                  </a:schemeClr>
                </a:solidFill>
                <a:latin typeface="Calibri" panose="020F0502020204030204" charset="0"/>
                <a:cs typeface="Calibri" panose="020F0502020204030204" charset="0"/>
              </a:rPr>
              <a:t>  </a:t>
            </a:r>
            <a:endParaRPr lang="en-US" sz="3200" dirty="0" smtClean="0">
              <a:solidFill>
                <a:schemeClr val="accent2">
                  <a:lumMod val="75000"/>
                </a:schemeClr>
              </a:solidFill>
              <a:latin typeface="Calibri" panose="020F0502020204030204" charset="0"/>
              <a:cs typeface="Calibri" panose="020F0502020204030204" charset="0"/>
            </a:endParaRPr>
          </a:p>
          <a:p>
            <a:pPr lvl="1">
              <a:lnSpc>
                <a:spcPct val="85000"/>
              </a:lnSpc>
              <a:spcBef>
                <a:spcPts val="600"/>
              </a:spcBef>
              <a:spcAft>
                <a:spcPts val="0"/>
              </a:spcAft>
            </a:pPr>
            <a:r>
              <a:rPr lang="en-US" sz="2800" dirty="0" smtClean="0">
                <a:solidFill>
                  <a:schemeClr val="tx1"/>
                </a:solidFill>
                <a:latin typeface="Calibri" panose="020F0502020204030204" charset="0"/>
                <a:cs typeface="Calibri" panose="020F0502020204030204" charset="0"/>
              </a:rPr>
              <a:t>Code coverage:</a:t>
            </a:r>
            <a:r>
              <a:rPr lang="en-US" sz="2600" b="0" dirty="0" smtClean="0">
                <a:solidFill>
                  <a:schemeClr val="tx1"/>
                </a:solidFill>
                <a:latin typeface="Calibri" panose="020F0502020204030204" charset="0"/>
                <a:cs typeface="Calibri" panose="020F0502020204030204" charset="0"/>
              </a:rPr>
              <a:t> Code is tested as it is written, so defects are discovered early in the development process.</a:t>
            </a:r>
            <a:r>
              <a:rPr lang="en-US" sz="2800" b="0" dirty="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代码覆盖</a:t>
            </a:r>
            <a:endParaRPr lang="en-US" sz="2800" b="0" dirty="0" smtClean="0">
              <a:solidFill>
                <a:schemeClr val="tx1"/>
              </a:solidFill>
              <a:latin typeface="Calibri" panose="020F0502020204030204" charset="0"/>
              <a:cs typeface="Calibri" panose="020F0502020204030204" charset="0"/>
            </a:endParaRPr>
          </a:p>
          <a:p>
            <a:pPr lvl="1">
              <a:lnSpc>
                <a:spcPct val="85000"/>
              </a:lnSpc>
              <a:spcBef>
                <a:spcPts val="600"/>
              </a:spcBef>
              <a:spcAft>
                <a:spcPts val="0"/>
              </a:spcAft>
            </a:pPr>
            <a:r>
              <a:rPr lang="en-US" sz="2800" dirty="0" smtClean="0">
                <a:solidFill>
                  <a:schemeClr val="tx1"/>
                </a:solidFill>
                <a:latin typeface="Calibri" panose="020F0502020204030204" charset="0"/>
                <a:cs typeface="Calibri" panose="020F0502020204030204" charset="0"/>
              </a:rPr>
              <a:t>Regression testing:</a:t>
            </a:r>
            <a:r>
              <a:rPr lang="en-US" sz="2600" b="0" dirty="0" smtClean="0">
                <a:solidFill>
                  <a:schemeClr val="tx1"/>
                </a:solidFill>
                <a:latin typeface="Calibri" panose="020F0502020204030204" charset="0"/>
                <a:cs typeface="Calibri" panose="020F0502020204030204" charset="0"/>
              </a:rPr>
              <a:t> A test suite is developed incrementally as a program is developed. You can always run regression tests to check that changes to the program have not introduced new bugs.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回归测试</a:t>
            </a:r>
            <a:endParaRPr lang="en-US" sz="2800" b="0" dirty="0" smtClean="0">
              <a:solidFill>
                <a:schemeClr val="tx1"/>
              </a:solidFill>
              <a:latin typeface="Calibri" panose="020F0502020204030204" charset="0"/>
              <a:cs typeface="Calibri" panose="020F0502020204030204" charset="0"/>
            </a:endParaRPr>
          </a:p>
          <a:p>
            <a:pPr lvl="1">
              <a:lnSpc>
                <a:spcPct val="85000"/>
              </a:lnSpc>
              <a:spcBef>
                <a:spcPts val="600"/>
              </a:spcBef>
              <a:spcAft>
                <a:spcPts val="0"/>
              </a:spcAft>
            </a:pPr>
            <a:r>
              <a:rPr lang="en-US" sz="2800" dirty="0" smtClean="0">
                <a:solidFill>
                  <a:schemeClr val="tx1"/>
                </a:solidFill>
                <a:latin typeface="Calibri" panose="020F0502020204030204" charset="0"/>
                <a:cs typeface="Calibri" panose="020F0502020204030204" charset="0"/>
              </a:rPr>
              <a:t>Simplified debugging:</a:t>
            </a:r>
            <a:r>
              <a:rPr lang="en-US" sz="2600" b="0" dirty="0" smtClean="0">
                <a:solidFill>
                  <a:schemeClr val="tx1"/>
                </a:solidFill>
                <a:latin typeface="Calibri" panose="020F0502020204030204" charset="0"/>
                <a:cs typeface="Calibri" panose="020F0502020204030204" charset="0"/>
              </a:rPr>
              <a:t> When a test fails, the newly written code needs to be checked and modified. You do not need to use debugging tools to locate the problem.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简化的调试</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lvl="1">
              <a:lnSpc>
                <a:spcPct val="85000"/>
              </a:lnSpc>
              <a:spcBef>
                <a:spcPts val="600"/>
              </a:spcBef>
              <a:spcAft>
                <a:spcPts val="0"/>
              </a:spcAft>
            </a:pPr>
            <a:r>
              <a:rPr lang="en-US" sz="2800" dirty="0" smtClean="0">
                <a:solidFill>
                  <a:schemeClr val="tx1"/>
                </a:solidFill>
                <a:latin typeface="Calibri" panose="020F0502020204030204" charset="0"/>
                <a:cs typeface="Calibri" panose="020F0502020204030204" charset="0"/>
              </a:rPr>
              <a:t>System documentation:</a:t>
            </a:r>
            <a:r>
              <a:rPr lang="en-US" sz="2600" b="0" dirty="0" smtClean="0">
                <a:solidFill>
                  <a:schemeClr val="tx1"/>
                </a:solidFill>
                <a:latin typeface="Calibri" panose="020F0502020204030204" charset="0"/>
                <a:cs typeface="Calibri" panose="020F0502020204030204" charset="0"/>
              </a:rPr>
              <a:t> The tests act as a form of documentation that describe what code does. Reading the tests can make it easier to understand the code.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系统文档化</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111125" y="1571625"/>
            <a:ext cx="8907145" cy="6032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8.4 User testing</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（留作自学）</a:t>
            </a:r>
            <a:endParaRPr lang="en-US" altLang="zh-CN"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4373880"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8  Software testing</a:t>
            </a:r>
            <a:endParaRPr lang="en-US" altLang="zh-CN" sz="2800" dirty="0">
              <a:solidFill>
                <a:srgbClr val="660066"/>
              </a:solidFill>
              <a:ea typeface="黑体" panose="02010609060101010101" pitchFamily="49" charset="-122"/>
              <a:cs typeface="+mj-lt"/>
            </a:endParaRPr>
          </a:p>
        </p:txBody>
      </p:sp>
      <p:sp>
        <p:nvSpPr>
          <p:cNvPr id="2" name="Rectangle 3"/>
          <p:cNvSpPr>
            <a:spLocks noGrp="1" noRot="1"/>
          </p:cNvSpPr>
          <p:nvPr>
            <p:custDataLst>
              <p:tags r:id="rId3"/>
            </p:custDataLst>
          </p:nvPr>
        </p:nvSpPr>
        <p:spPr>
          <a:xfrm>
            <a:off x="88900" y="910590"/>
            <a:ext cx="8977630" cy="601980"/>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8.3 Release testing</a:t>
            </a:r>
            <a:r>
              <a:rPr lang="zh-CN" altLang="en-US" sz="2400" kern="0" dirty="0">
                <a:solidFill>
                  <a:schemeClr val="accent1">
                    <a:lumMod val="75000"/>
                  </a:schemeClr>
                </a:solidFill>
                <a:latin typeface="黑体" panose="02010609060101010101" pitchFamily="49" charset="-122"/>
                <a:ea typeface="黑体" panose="02010609060101010101" pitchFamily="49" charset="-122"/>
                <a:sym typeface="+mn-ea"/>
              </a:rPr>
              <a:t>（留作自学）</a:t>
            </a:r>
            <a:endParaRPr lang="zh-CN" altLang="en-US" sz="3200" dirty="0">
              <a:solidFill>
                <a:schemeClr val="accent1">
                  <a:lumMod val="75000"/>
                </a:schemeClr>
              </a:solidFill>
              <a:latin typeface="黑体" panose="02010609060101010101" pitchFamily="49" charset="-122"/>
              <a:ea typeface="宋体" panose="02010600030101010101" pitchFamily="2" charset="-122"/>
              <a:sym typeface="+mn-ea"/>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PP_MARK_KEY" val="49d2eca4-30e1-4ef7-9bc7-486bee5195f9"/>
  <p:tag name="COMMONDATA" val="eyJoZGlkIjoiYWU0ZmM3NzM2M2MzNjY4OGU3MWVlODFhMGQ0MTAxM2IifQ=="/>
  <p:tag name="commondata" val="eyJoZGlkIjoiZmI4NTZjMzhhMTQ0YmQ3Nzc5ZGViNjA4MWFmMWE3NTA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28943</Words>
  <Application>WPS 演示</Application>
  <PresentationFormat>信纸(8.5x11 英寸)</PresentationFormat>
  <Paragraphs>398</Paragraphs>
  <Slides>45</Slides>
  <Notes>6</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45</vt:i4>
      </vt:variant>
    </vt:vector>
  </HeadingPairs>
  <TitlesOfParts>
    <vt:vector size="58" baseType="lpstr">
      <vt:lpstr>Arial</vt:lpstr>
      <vt:lpstr>宋体</vt:lpstr>
      <vt:lpstr>Wingdings</vt:lpstr>
      <vt:lpstr>Times New Roman</vt:lpstr>
      <vt:lpstr>黑体</vt:lpstr>
      <vt:lpstr>仿宋</vt:lpstr>
      <vt:lpstr>Arial</vt:lpstr>
      <vt:lpstr>MS PGothic</vt:lpstr>
      <vt:lpstr>Calibri</vt:lpstr>
      <vt:lpstr>微软雅黑</vt:lpstr>
      <vt:lpstr>Arial Unicode MS</vt:lpstr>
      <vt:lpstr>Wingdings</vt:lpstr>
      <vt:lpstr>CS152-SP98</vt:lpstr>
      <vt:lpstr> Software Engineering</vt:lpstr>
      <vt:lpstr>Chap. 8  Software testing</vt:lpstr>
      <vt:lpstr>Chap. 8  Software testing</vt:lpstr>
      <vt:lpstr>Chap. 8  Software testing</vt:lpstr>
      <vt:lpstr>Chap. 8  Software testing</vt:lpstr>
      <vt:lpstr>PowerPoint 演示文稿</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PowerPoint 演示文稿</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lpstr>Chap. 8  Software testing</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2196</cp:revision>
  <cp:lastPrinted>1999-08-22T22:40:00Z</cp:lastPrinted>
  <dcterms:created xsi:type="dcterms:W3CDTF">1997-08-19T16:58:00Z</dcterms:created>
  <dcterms:modified xsi:type="dcterms:W3CDTF">2025-11-11T10:15:33Z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3E2B1C6E25C54BFF8474069605F54195_13</vt:lpwstr>
  </property>
</Properties>
</file>