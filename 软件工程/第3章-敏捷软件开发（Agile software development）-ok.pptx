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6"/>
  </p:handoutMasterIdLst>
  <p:sldIdLst>
    <p:sldId id="256" r:id="rId3"/>
    <p:sldId id="1597" r:id="rId5"/>
    <p:sldId id="1786" r:id="rId6"/>
    <p:sldId id="1787" r:id="rId7"/>
    <p:sldId id="1788" r:id="rId8"/>
    <p:sldId id="1789" r:id="rId9"/>
    <p:sldId id="1790" r:id="rId10"/>
    <p:sldId id="1791" r:id="rId11"/>
    <p:sldId id="1792" r:id="rId12"/>
    <p:sldId id="1793" r:id="rId13"/>
    <p:sldId id="1794" r:id="rId14"/>
    <p:sldId id="1795" r:id="rId15"/>
    <p:sldId id="1796" r:id="rId16"/>
    <p:sldId id="1797" r:id="rId17"/>
    <p:sldId id="1798" r:id="rId18"/>
    <p:sldId id="1799" r:id="rId19"/>
    <p:sldId id="1800" r:id="rId20"/>
    <p:sldId id="1801" r:id="rId21"/>
    <p:sldId id="1802" r:id="rId22"/>
    <p:sldId id="1803" r:id="rId23"/>
    <p:sldId id="1804" r:id="rId24"/>
    <p:sldId id="1805" r:id="rId25"/>
    <p:sldId id="1806" r:id="rId26"/>
    <p:sldId id="1807" r:id="rId27"/>
    <p:sldId id="1808" r:id="rId28"/>
    <p:sldId id="1809" r:id="rId29"/>
    <p:sldId id="1810" r:id="rId30"/>
    <p:sldId id="1811" r:id="rId31"/>
    <p:sldId id="1812" r:id="rId32"/>
    <p:sldId id="1813" r:id="rId33"/>
    <p:sldId id="1814" r:id="rId34"/>
    <p:sldId id="1815" r:id="rId35"/>
    <p:sldId id="1816" r:id="rId36"/>
    <p:sldId id="1817" r:id="rId37"/>
    <p:sldId id="1886" r:id="rId38"/>
    <p:sldId id="1818" r:id="rId39"/>
    <p:sldId id="1819" r:id="rId40"/>
    <p:sldId id="1820" r:id="rId41"/>
    <p:sldId id="1821" r:id="rId42"/>
    <p:sldId id="1910" r:id="rId43"/>
    <p:sldId id="1911" r:id="rId44"/>
    <p:sldId id="1912" r:id="rId45"/>
    <p:sldId id="1913" r:id="rId46"/>
    <p:sldId id="1914" r:id="rId47"/>
    <p:sldId id="1915" r:id="rId48"/>
    <p:sldId id="1916" r:id="rId49"/>
    <p:sldId id="1917" r:id="rId50"/>
    <p:sldId id="1918" r:id="rId51"/>
    <p:sldId id="1919" r:id="rId52"/>
    <p:sldId id="1920" r:id="rId53"/>
    <p:sldId id="1921" r:id="rId54"/>
    <p:sldId id="1922" r:id="rId55"/>
    <p:sldId id="1923" r:id="rId56"/>
    <p:sldId id="1924" r:id="rId57"/>
    <p:sldId id="1925" r:id="rId58"/>
    <p:sldId id="1926" r:id="rId59"/>
    <p:sldId id="1927" r:id="rId60"/>
    <p:sldId id="1928" r:id="rId61"/>
    <p:sldId id="1929" r:id="rId62"/>
    <p:sldId id="1930" r:id="rId63"/>
    <p:sldId id="1931" r:id="rId64"/>
    <p:sldId id="1932" r:id="rId65"/>
  </p:sldIdLst>
  <p:sldSz cx="9144000" cy="6858000" type="letter"/>
  <p:notesSz cx="9163050" cy="6877050"/>
  <p:custDataLst>
    <p:tags r:id="rId70"/>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32" userDrawn="1">
          <p15:clr>
            <a:srgbClr val="A4A3A4"/>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32"/>
        <p:guide pos="287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gs" Target="tags/tag143.xml"/><Relationship Id="rId7" Type="http://schemas.openxmlformats.org/officeDocument/2006/relationships/slide" Target="slides/slide4.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handoutMaster" Target="handoutMasters/handoutMaster1.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4.xml"/><Relationship Id="rId3" Type="http://schemas.openxmlformats.org/officeDocument/2006/relationships/image" Target="../media/image3.png"/><Relationship Id="rId2" Type="http://schemas.openxmlformats.org/officeDocument/2006/relationships/tags" Target="../tags/tag23.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tags" Target="../tags/tag39.xml"/><Relationship Id="rId3" Type="http://schemas.openxmlformats.org/officeDocument/2006/relationships/image" Target="../media/image4.png"/><Relationship Id="rId2" Type="http://schemas.openxmlformats.org/officeDocument/2006/relationships/tags" Target="../tags/tag38.xml"/><Relationship Id="rId1" Type="http://schemas.openxmlformats.org/officeDocument/2006/relationships/tags" Target="../tags/tag37.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image" Target="../media/image6.png"/><Relationship Id="rId2" Type="http://schemas.openxmlformats.org/officeDocument/2006/relationships/tags" Target="../tags/tag41.xml"/><Relationship Id="rId1" Type="http://schemas.openxmlformats.org/officeDocument/2006/relationships/tags" Target="../tags/tag40.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60.xml"/><Relationship Id="rId1" Type="http://schemas.openxmlformats.org/officeDocument/2006/relationships/tags" Target="../tags/tag59.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3.xml"/><Relationship Id="rId3" Type="http://schemas.openxmlformats.org/officeDocument/2006/relationships/image" Target="../media/image9.png"/><Relationship Id="rId2" Type="http://schemas.openxmlformats.org/officeDocument/2006/relationships/tags" Target="../tags/tag82.xml"/><Relationship Id="rId1" Type="http://schemas.openxmlformats.org/officeDocument/2006/relationships/tags" Target="../tags/tag8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4.xml"/><Relationship Id="rId3" Type="http://schemas.openxmlformats.org/officeDocument/2006/relationships/image" Target="../media/image10.png"/><Relationship Id="rId2" Type="http://schemas.openxmlformats.org/officeDocument/2006/relationships/tags" Target="../tags/tag93.xml"/><Relationship Id="rId1" Type="http://schemas.openxmlformats.org/officeDocument/2006/relationships/tags" Target="../tags/tag9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tags" Target="../tags/tag9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tags" Target="../tags/tag101.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4.xml"/><Relationship Id="rId1" Type="http://schemas.openxmlformats.org/officeDocument/2006/relationships/tags" Target="../tags/tag103.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tags" Target="../tags/tag105.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image" Target="../media/image11.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tags" Target="../tags/tag118.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1.xml"/><Relationship Id="rId1" Type="http://schemas.openxmlformats.org/officeDocument/2006/relationships/tags" Target="../tags/tag120.xml"/></Relationships>
</file>

<file path=ppt/slides/_rels/slide5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image" Target="../media/image12.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7.xml"/><Relationship Id="rId1" Type="http://schemas.openxmlformats.org/officeDocument/2006/relationships/tags" Target="../tags/tag126.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tags" Target="../tags/tag128.xml"/></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2.xml"/><Relationship Id="rId3" Type="http://schemas.openxmlformats.org/officeDocument/2006/relationships/image" Target="../media/image14.png"/><Relationship Id="rId2" Type="http://schemas.openxmlformats.org/officeDocument/2006/relationships/tags" Target="../tags/tag131.xml"/><Relationship Id="rId1" Type="http://schemas.openxmlformats.org/officeDocument/2006/relationships/tags" Target="../tags/tag130.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4.xml"/><Relationship Id="rId1" Type="http://schemas.openxmlformats.org/officeDocument/2006/relationships/tags" Target="../tags/tag133.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6.xml"/><Relationship Id="rId1" Type="http://schemas.openxmlformats.org/officeDocument/2006/relationships/tags" Target="../tags/tag135.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8.xml"/><Relationship Id="rId1" Type="http://schemas.openxmlformats.org/officeDocument/2006/relationships/tags" Target="../tags/tag137.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0.xml"/><Relationship Id="rId1" Type="http://schemas.openxmlformats.org/officeDocument/2006/relationships/tags" Target="../tags/tag139.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2.xml"/><Relationship Id="rId1" Type="http://schemas.openxmlformats.org/officeDocument/2006/relationships/tags" Target="../tags/tag1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528445"/>
            <a:ext cx="8229600" cy="27863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Agile methods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敏捷方法</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Agile development techniques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敏捷开发技术</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Agile project management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敏捷项目管理</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Scaling agile methods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敏捷方法伸缩</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315"/>
            <a:ext cx="8977630" cy="6445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Rapid software development</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快速软件开发</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6995" y="1313180"/>
            <a:ext cx="8978900" cy="52400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a:t>
            </a:r>
            <a:r>
              <a:rPr lang="en-US" sz="3000" dirty="0" smtClean="0">
                <a:solidFill>
                  <a:schemeClr val="tx2">
                    <a:lumMod val="75000"/>
                    <a:lumOff val="25000"/>
                  </a:schemeClr>
                </a:solidFill>
                <a:latin typeface="Calibri" panose="020F0502020204030204" charset="0"/>
                <a:cs typeface="Calibri" panose="020F0502020204030204" charset="0"/>
              </a:rPr>
              <a:t>Rapid development and delivery is now often the most important requirement for software systems</a:t>
            </a:r>
            <a:endParaRPr lang="en-US" sz="3000" dirty="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dirty="0" smtClean="0">
                <a:latin typeface="Calibri" panose="020F0502020204030204" charset="0"/>
                <a:cs typeface="Calibri" panose="020F0502020204030204" charset="0"/>
              </a:rPr>
              <a:t>Businesses operate in a fast–changing requirement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需求在快速变化</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600"/>
              </a:spcBef>
              <a:spcAft>
                <a:spcPts val="0"/>
              </a:spcAft>
            </a:pPr>
            <a:r>
              <a:rPr lang="en-US" sz="2800" dirty="0" smtClean="0">
                <a:latin typeface="Calibri" panose="020F0502020204030204" charset="0"/>
                <a:cs typeface="Calibri" panose="020F0502020204030204" charset="0"/>
              </a:rPr>
              <a:t>Software has to evolve quickly to reflect changing business needs.</a:t>
            </a:r>
            <a:r>
              <a:rPr lang="en-US" dirty="0" smtClean="0">
                <a:latin typeface="Calibri" panose="020F0502020204030204" charset="0"/>
                <a:cs typeface="Calibri" panose="020F0502020204030204" charset="0"/>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软件必须快速演化，以满足变化的商业需要</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t>
            </a:r>
            <a:r>
              <a:rPr lang="en-US" sz="3000" dirty="0" smtClean="0">
                <a:solidFill>
                  <a:schemeClr val="tx2">
                    <a:lumMod val="75000"/>
                    <a:lumOff val="25000"/>
                  </a:schemeClr>
                </a:solidFill>
                <a:latin typeface="Calibri" panose="020F0502020204030204" charset="0"/>
                <a:cs typeface="Calibri" panose="020F0502020204030204" charset="0"/>
              </a:rPr>
              <a:t>Plan-driven development is essential for some types of system but does not meet these business needs.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计划驱动的方法不满足商业需要</a:t>
            </a:r>
            <a:r>
              <a:rPr lang="en-US" sz="3000" dirty="0" smtClean="0">
                <a:solidFill>
                  <a:schemeClr val="tx2">
                    <a:lumMod val="75000"/>
                    <a:lumOff val="25000"/>
                  </a:schemeClr>
                </a:solidFill>
                <a:latin typeface="Calibri" panose="020F0502020204030204" charset="0"/>
                <a:cs typeface="Calibri" panose="020F0502020204030204" charset="0"/>
              </a:rPr>
              <a:t> </a:t>
            </a:r>
            <a:endParaRPr lang="en-US" sz="30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Agile development methods emerged in the late 1990s whose aim was to radically reduce the delivery time.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敏捷开发方法的目的：彻底降低交付时间</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87730"/>
            <a:ext cx="8977630" cy="5708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development</a:t>
            </a:r>
            <a:r>
              <a:rPr lang="en-US" altLang="zh-CN" sz="3200" dirty="0">
                <a:solidFill>
                  <a:schemeClr val="accent1">
                    <a:lumMod val="75000"/>
                  </a:schemeClr>
                </a:solidFill>
                <a:ea typeface="宋体" panose="02010600030101010101" pitchFamily="2" charset="-122"/>
                <a:sym typeface="+mn-ea"/>
              </a:rPr>
              <a:t>: characteristics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特性</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11760" y="1528445"/>
            <a:ext cx="8872220" cy="41814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Program specification, design and implementation are inter-leaved.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规格说明、设计、实现相互交织</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The system is developed in a series of increments. Stakeholders are involved in specifying and evaluating each increment.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增量式开发，干系人参与</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Extensive tool support (e.g. automated testing tools) used to support development.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广泛的工具支持</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Minimal documentation – focus on working code.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最小化文档</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72465"/>
            <a:ext cx="8977630" cy="5708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Plan-driven and agile development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880745" y="1243965"/>
            <a:ext cx="7475220" cy="3083560"/>
          </a:xfrm>
          <a:prstGeom prst="rect">
            <a:avLst/>
          </a:prstGeom>
        </p:spPr>
      </p:pic>
      <p:pic>
        <p:nvPicPr>
          <p:cNvPr id="3" name="图片 2"/>
          <p:cNvPicPr>
            <a:picLocks noChangeAspect="1"/>
          </p:cNvPicPr>
          <p:nvPr/>
        </p:nvPicPr>
        <p:blipFill>
          <a:blip r:embed="rId4"/>
          <a:stretch>
            <a:fillRect/>
          </a:stretch>
        </p:blipFill>
        <p:spPr>
          <a:xfrm>
            <a:off x="1375410" y="4394200"/>
            <a:ext cx="6542405" cy="212471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1530"/>
            <a:ext cx="8977630" cy="975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Plan-driven and agile development</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计划驱动 vs 敏捷开发</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18745" y="1815465"/>
            <a:ext cx="8862060" cy="41109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t>
            </a:r>
            <a:r>
              <a:rPr lang="en-US" sz="3200" i="1" dirty="0" smtClean="0">
                <a:solidFill>
                  <a:schemeClr val="tx2">
                    <a:lumMod val="75000"/>
                    <a:lumOff val="25000"/>
                  </a:schemeClr>
                </a:solidFill>
                <a:latin typeface="Calibri" panose="020F0502020204030204" charset="0"/>
                <a:cs typeface="Calibri" panose="020F0502020204030204" charset="0"/>
              </a:rPr>
              <a:t>Plan-driven development</a:t>
            </a:r>
            <a:r>
              <a:rPr lang="en-US" sz="3200" dirty="0" smtClean="0">
                <a:solidFill>
                  <a:schemeClr val="tx2">
                    <a:lumMod val="75000"/>
                    <a:lumOff val="25000"/>
                  </a:schemeClr>
                </a:solidFill>
                <a:latin typeface="Calibri" panose="020F0502020204030204" charset="0"/>
                <a:cs typeface="Calibri" panose="020F0502020204030204" charset="0"/>
              </a:rPr>
              <a:t>: </a:t>
            </a:r>
            <a:r>
              <a:rPr lang="en-US" sz="2800" b="0" dirty="0" smtClean="0">
                <a:latin typeface="Calibri" panose="020F0502020204030204" charset="0"/>
                <a:cs typeface="Calibri" panose="020F0502020204030204" charset="0"/>
              </a:rPr>
              <a:t>Iteration occurs within activities, with formal documents used to communicate between stages of the process.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计划驱动开发</a:t>
            </a:r>
            <a:endParaRPr lang="en-US" sz="2800" b="0" dirty="0" smtClean="0">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t>
            </a:r>
            <a:r>
              <a:rPr lang="en-US" sz="3200" i="1" dirty="0" smtClean="0">
                <a:solidFill>
                  <a:schemeClr val="tx2">
                    <a:lumMod val="75000"/>
                    <a:lumOff val="25000"/>
                  </a:schemeClr>
                </a:solidFill>
                <a:latin typeface="Calibri" panose="020F0502020204030204" charset="0"/>
                <a:cs typeface="Calibri" panose="020F0502020204030204" charset="0"/>
              </a:rPr>
              <a:t>Agile development</a:t>
            </a:r>
            <a:r>
              <a:rPr lang="en-US" sz="3200" dirty="0" smtClean="0">
                <a:solidFill>
                  <a:schemeClr val="tx2">
                    <a:lumMod val="75000"/>
                    <a:lumOff val="25000"/>
                  </a:schemeClr>
                </a:solidFill>
                <a:latin typeface="Calibri" panose="020F0502020204030204" charset="0"/>
                <a:cs typeface="Calibri" panose="020F0502020204030204" charset="0"/>
              </a:rPr>
              <a:t>:</a:t>
            </a:r>
            <a:r>
              <a:rPr lang="en-US" sz="2800" b="0" dirty="0" smtClean="0">
                <a:latin typeface="Calibri" panose="020F0502020204030204" charset="0"/>
                <a:cs typeface="Calibri" panose="020F0502020204030204" charset="0"/>
              </a:rPr>
              <a:t> Iteration occurs across activities. Therefore, the requirements and the design are developed together rather than separately.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敏捷开发</a:t>
            </a:r>
            <a:endParaRPr lang="en-US" sz="2800" b="0" dirty="0" smtClean="0">
              <a:latin typeface="Calibri" panose="020F0502020204030204" charset="0"/>
              <a:cs typeface="Calibri" panose="020F0502020204030204" charset="0"/>
            </a:endParaRPr>
          </a:p>
          <a:p>
            <a:pPr algn="l">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sym typeface="+mn-ea"/>
              </a:rPr>
              <a:t> </a:t>
            </a:r>
            <a:r>
              <a:rPr lang="en-US" sz="3200" i="1" dirty="0" smtClean="0">
                <a:solidFill>
                  <a:schemeClr val="tx2">
                    <a:lumMod val="75000"/>
                    <a:lumOff val="25000"/>
                  </a:schemeClr>
                </a:solidFill>
                <a:latin typeface="Calibri" panose="020F0502020204030204" charset="0"/>
                <a:cs typeface="Calibri" panose="020F0502020204030204" charset="0"/>
                <a:sym typeface="+mn-ea"/>
              </a:rPr>
              <a:t>In practice</a:t>
            </a:r>
            <a:r>
              <a:rPr lang="en-US" sz="3200" dirty="0" smtClean="0">
                <a:solidFill>
                  <a:schemeClr val="tx2">
                    <a:lumMod val="75000"/>
                    <a:lumOff val="25000"/>
                  </a:schemeClr>
                </a:solidFill>
                <a:latin typeface="Calibri" panose="020F0502020204030204" charset="0"/>
                <a:cs typeface="Calibri" panose="020F0502020204030204" charset="0"/>
                <a:sym typeface="+mn-ea"/>
              </a:rPr>
              <a:t>:</a:t>
            </a:r>
            <a:r>
              <a:rPr lang="en-US" sz="3200" i="1" dirty="0" smtClean="0">
                <a:solidFill>
                  <a:schemeClr val="tx2">
                    <a:lumMod val="75000"/>
                    <a:lumOff val="25000"/>
                  </a:schemeClr>
                </a:solidFill>
                <a:latin typeface="Calibri" panose="020F0502020204030204" charset="0"/>
                <a:cs typeface="Calibri" panose="020F0502020204030204" charset="0"/>
                <a:sym typeface="+mn-ea"/>
              </a:rPr>
              <a:t> </a:t>
            </a:r>
            <a:r>
              <a:rPr lang="en-US" sz="2800" b="0" dirty="0" smtClean="0">
                <a:latin typeface="Calibri" panose="020F0502020204030204" charset="0"/>
                <a:cs typeface="Calibri" panose="020F0502020204030204" charset="0"/>
                <a:sym typeface="+mn-ea"/>
              </a:rPr>
              <a:t>Plan-driven processes are often used along </a:t>
            </a:r>
            <a:r>
              <a:rPr lang="en-US" sz="2800" b="0" dirty="0" smtClean="0">
                <a:latin typeface="Calibri" panose="020F0502020204030204" charset="0"/>
                <a:cs typeface="Calibri" panose="020F0502020204030204" charset="0"/>
              </a:rPr>
              <a:t>with agile programming practices, and agile methods may incorporate some planned activities apart from programming and testing.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实际情况</a:t>
            </a:r>
            <a:endParaRPr lang="en-US" sz="2800" b="0" dirty="0" smtClean="0">
              <a:latin typeface="Calibri" panose="020F0502020204030204" charset="0"/>
              <a:cs typeface="Calibri" panose="020F0502020204030204" charset="0"/>
            </a:endParaRPr>
          </a:p>
          <a:p>
            <a:pPr marL="0" indent="0">
              <a:lnSpc>
                <a:spcPct val="85000"/>
              </a:lnSpc>
              <a:spcBef>
                <a:spcPts val="600"/>
              </a:spcBef>
              <a:spcAft>
                <a:spcPts val="0"/>
              </a:spcAft>
              <a:buNone/>
            </a:pPr>
            <a:endParaRPr lang="en-US" sz="2800" b="0" dirty="0">
              <a:latin typeface="Calibri" panose="020F0502020204030204" charset="0"/>
              <a:cs typeface="Calibri" panose="020F050202020403020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9775"/>
            <a:ext cx="8977630" cy="6616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methods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敏捷方法</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085" y="1275715"/>
            <a:ext cx="9020810" cy="52705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Dissatisfaction with the overheads involved in software design methods of the 1980s/1990s led to the creation of agile methods. These methods: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背景</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800"/>
              </a:spcBef>
              <a:spcAft>
                <a:spcPts val="0"/>
              </a:spcAft>
            </a:pPr>
            <a:r>
              <a:rPr lang="en-US" sz="2700" b="0" dirty="0" smtClean="0">
                <a:latin typeface="Calibri" panose="020F0502020204030204" charset="0"/>
                <a:cs typeface="Calibri" panose="020F0502020204030204" charset="0"/>
              </a:rPr>
              <a:t>Focus on the code rather than the design.   </a:t>
            </a:r>
            <a:endParaRPr lang="en-US" sz="2700" b="0" dirty="0" smtClean="0">
              <a:latin typeface="Calibri" panose="020F0502020204030204" charset="0"/>
              <a:cs typeface="Calibri" panose="020F0502020204030204" charset="0"/>
            </a:endParaRPr>
          </a:p>
          <a:p>
            <a:pPr lvl="1">
              <a:lnSpc>
                <a:spcPct val="90000"/>
              </a:lnSpc>
              <a:spcBef>
                <a:spcPts val="800"/>
              </a:spcBef>
              <a:spcAft>
                <a:spcPts val="0"/>
              </a:spcAft>
            </a:pPr>
            <a:r>
              <a:rPr lang="en-US" sz="2700" b="0" dirty="0" smtClean="0">
                <a:latin typeface="Calibri" panose="020F0502020204030204" charset="0"/>
                <a:cs typeface="Calibri" panose="020F0502020204030204" charset="0"/>
              </a:rPr>
              <a:t>Based on an iterative approach to software development.</a:t>
            </a:r>
            <a:endParaRPr lang="en-US" sz="2700" b="0" dirty="0" smtClean="0">
              <a:latin typeface="Calibri" panose="020F0502020204030204" charset="0"/>
              <a:cs typeface="Calibri" panose="020F0502020204030204" charset="0"/>
            </a:endParaRPr>
          </a:p>
          <a:p>
            <a:pPr lvl="1">
              <a:lnSpc>
                <a:spcPct val="90000"/>
              </a:lnSpc>
              <a:spcBef>
                <a:spcPts val="800"/>
              </a:spcBef>
              <a:spcAft>
                <a:spcPts val="0"/>
              </a:spcAft>
            </a:pPr>
            <a:r>
              <a:rPr lang="en-US" sz="2700" b="0" dirty="0" smtClean="0">
                <a:latin typeface="Calibri" panose="020F0502020204030204" charset="0"/>
                <a:cs typeface="Calibri" panose="020F0502020204030204" charset="0"/>
              </a:rPr>
              <a:t>Are intended to deliver software quickly and evolve this quickly to meet changing requirements. </a:t>
            </a:r>
            <a:endParaRPr lang="en-US" sz="2700" dirty="0" smtClean="0">
              <a:latin typeface="Calibri" panose="020F0502020204030204" charset="0"/>
              <a:cs typeface="Calibri" panose="020F0502020204030204" charset="0"/>
            </a:endParaRPr>
          </a:p>
          <a:p>
            <a:pPr>
              <a:lnSpc>
                <a:spcPct val="90000"/>
              </a:lnSpc>
              <a:spcBef>
                <a:spcPts val="8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The aim of agile methods is to reduce overheads in the software process (</a:t>
            </a:r>
            <a:r>
              <a:rPr lang="en-US" sz="3000" b="0" dirty="0" smtClean="0">
                <a:solidFill>
                  <a:schemeClr val="tx1"/>
                </a:solidFill>
                <a:latin typeface="Calibri" panose="020F0502020204030204" charset="0"/>
                <a:cs typeface="Calibri" panose="020F0502020204030204" charset="0"/>
              </a:rPr>
              <a:t>e.g. by limiting documentation</a:t>
            </a:r>
            <a:r>
              <a:rPr lang="en-US" sz="3000" dirty="0" smtClean="0">
                <a:solidFill>
                  <a:schemeClr val="tx2">
                    <a:lumMod val="75000"/>
                    <a:lumOff val="25000"/>
                  </a:schemeClr>
                </a:solidFill>
                <a:latin typeface="Calibri" panose="020F0502020204030204" charset="0"/>
                <a:cs typeface="Calibri" panose="020F0502020204030204" charset="0"/>
              </a:rPr>
              <a:t>) and to be able to respond quickly to changing requirements without excessive rework.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目标：降低开销，快速响应变化需求、无过度返工</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32485"/>
            <a:ext cx="8977630" cy="6407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manifesto</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敏捷宣言</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265" y="1490980"/>
            <a:ext cx="8950325" cy="44577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Issued by the leading developers of the methods:</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lgn="l">
              <a:lnSpc>
                <a:spcPct val="90000"/>
              </a:lnSpc>
              <a:spcBef>
                <a:spcPts val="1000"/>
              </a:spcBef>
              <a:spcAft>
                <a:spcPts val="0"/>
              </a:spcAft>
            </a:pPr>
            <a:r>
              <a:rPr lang="en-US" sz="2800" b="0" i="1" dirty="0" smtClean="0">
                <a:latin typeface="Calibri" panose="020F0502020204030204" charset="0"/>
                <a:cs typeface="Calibri" panose="020F0502020204030204" charset="0"/>
                <a:sym typeface="+mn-ea"/>
              </a:rPr>
              <a:t>We are uncovering better ways of developing software by doing it and helping others do it. Through this work we have come to value:</a:t>
            </a:r>
            <a:endParaRPr lang="en-US" sz="3200" i="1" dirty="0" smtClean="0">
              <a:solidFill>
                <a:schemeClr val="tx2">
                  <a:lumMod val="75000"/>
                  <a:lumOff val="25000"/>
                </a:schemeClr>
              </a:solidFill>
              <a:latin typeface="Calibri" panose="020F0502020204030204" charset="0"/>
              <a:cs typeface="Calibri" panose="020F0502020204030204" charset="0"/>
            </a:endParaRPr>
          </a:p>
          <a:p>
            <a:pPr marL="457200" lvl="1" indent="0">
              <a:lnSpc>
                <a:spcPct val="90000"/>
              </a:lnSpc>
              <a:spcBef>
                <a:spcPts val="1000"/>
              </a:spcBef>
              <a:spcAft>
                <a:spcPts val="0"/>
              </a:spcAft>
              <a:buNone/>
            </a:pPr>
            <a:r>
              <a:rPr lang="en-US" sz="2600" b="0" i="1" dirty="0" smtClean="0">
                <a:latin typeface="Calibri" panose="020F0502020204030204" charset="0"/>
                <a:cs typeface="Calibri" panose="020F0502020204030204" charset="0"/>
              </a:rPr>
              <a:t>        Individuals and interactions over processes and tools;</a:t>
            </a:r>
            <a:br>
              <a:rPr lang="en-US" sz="2600" b="0" i="1" dirty="0" smtClean="0">
                <a:latin typeface="Calibri" panose="020F0502020204030204" charset="0"/>
                <a:cs typeface="Calibri" panose="020F0502020204030204" charset="0"/>
              </a:rPr>
            </a:br>
            <a:r>
              <a:rPr lang="en-US" sz="2600" b="0" i="1" dirty="0" smtClean="0">
                <a:latin typeface="Calibri" panose="020F0502020204030204" charset="0"/>
                <a:cs typeface="Calibri" panose="020F0502020204030204" charset="0"/>
              </a:rPr>
              <a:t>        Working software over comprehensive documentation; </a:t>
            </a:r>
            <a:br>
              <a:rPr lang="en-US" sz="2600" b="0" i="1" dirty="0" smtClean="0">
                <a:latin typeface="Calibri" panose="020F0502020204030204" charset="0"/>
                <a:cs typeface="Calibri" panose="020F0502020204030204" charset="0"/>
              </a:rPr>
            </a:br>
            <a:r>
              <a:rPr lang="en-US" sz="2600" b="0" i="1" dirty="0" smtClean="0">
                <a:latin typeface="Calibri" panose="020F0502020204030204" charset="0"/>
                <a:cs typeface="Calibri" panose="020F0502020204030204" charset="0"/>
              </a:rPr>
              <a:t>        Customer collaboration over contract negotiation;</a:t>
            </a:r>
            <a:br>
              <a:rPr lang="en-US" sz="2600" b="0" i="1" dirty="0" smtClean="0">
                <a:latin typeface="Calibri" panose="020F0502020204030204" charset="0"/>
                <a:cs typeface="Calibri" panose="020F0502020204030204" charset="0"/>
              </a:rPr>
            </a:br>
            <a:r>
              <a:rPr lang="en-US" sz="2600" b="0" i="1" dirty="0" smtClean="0">
                <a:latin typeface="Calibri" panose="020F0502020204030204" charset="0"/>
                <a:cs typeface="Calibri" panose="020F0502020204030204" charset="0"/>
              </a:rPr>
              <a:t>        Responding to change over following a plan.</a:t>
            </a:r>
            <a:endParaRPr lang="en-US" sz="2600" b="0" i="1" dirty="0" smtClean="0">
              <a:latin typeface="Calibri" panose="020F0502020204030204" charset="0"/>
              <a:cs typeface="Calibri" panose="020F0502020204030204" charset="0"/>
            </a:endParaRPr>
          </a:p>
          <a:p>
            <a:pPr lvl="1">
              <a:lnSpc>
                <a:spcPct val="90000"/>
              </a:lnSpc>
              <a:spcBef>
                <a:spcPts val="1000"/>
              </a:spcBef>
              <a:spcAft>
                <a:spcPts val="0"/>
              </a:spcAft>
            </a:pPr>
            <a:r>
              <a:rPr lang="en-US" sz="2800" b="0" i="1" dirty="0" smtClean="0">
                <a:latin typeface="Calibri" panose="020F0502020204030204" charset="0"/>
                <a:cs typeface="Calibri" panose="020F0502020204030204" charset="0"/>
              </a:rPr>
              <a:t>That is, while there is value in the items on the right, we value the items on the left more.</a:t>
            </a:r>
            <a:endParaRPr lang="en-US" sz="3200" i="1"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4070"/>
            <a:ext cx="8977630" cy="5873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principles of agile methods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原则</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graphicFrame>
        <p:nvGraphicFramePr>
          <p:cNvPr id="2" name="Table 3"/>
          <p:cNvGraphicFramePr>
            <a:graphicFrameLocks noGrp="1"/>
          </p:cNvGraphicFramePr>
          <p:nvPr>
            <p:custDataLst>
              <p:tags r:id="rId3"/>
            </p:custDataLst>
          </p:nvPr>
        </p:nvGraphicFramePr>
        <p:xfrm>
          <a:off x="88265" y="1473200"/>
          <a:ext cx="8978265" cy="4920615"/>
        </p:xfrm>
        <a:graphic>
          <a:graphicData uri="http://schemas.openxmlformats.org/drawingml/2006/table">
            <a:tbl>
              <a:tblPr>
                <a:effectLst/>
                <a:tableStyleId>{5940675A-B579-460E-94D1-54222C63F5DA}</a:tableStyleId>
              </a:tblPr>
              <a:tblGrid>
                <a:gridCol w="1503045"/>
                <a:gridCol w="7338060"/>
                <a:gridCol w="137160"/>
              </a:tblGrid>
              <a:tr h="489585">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0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Principle</a:t>
                      </a:r>
                      <a:endParaRPr kumimoji="0" lang="zh-CN" altLang="en-US" sz="2000" b="1" i="0" u="none" strike="noStrike" cap="none" normalizeH="0" baseline="0"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gridSpan="2">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000" b="1" i="0" u="none" strike="noStrike" cap="none" normalizeH="0" baseline="0" smtClean="0">
                          <a:ln>
                            <a:noFill/>
                          </a:ln>
                          <a:solidFill>
                            <a:schemeClr val="bg1"/>
                          </a:solidFill>
                          <a:effectLst/>
                          <a:latin typeface="Arial" panose="020B0604020202020204"/>
                          <a:ea typeface="Times New Roman" panose="02020603050405020304" pitchFamily="18" charset="0"/>
                          <a:cs typeface="Arial" panose="020B0604020202020204"/>
                        </a:rPr>
                        <a:t>Description</a:t>
                      </a:r>
                      <a:r>
                        <a:rPr kumimoji="0" lang="en-US" altLang="en-GB" sz="2000" b="1" i="0" u="none" strike="noStrike" cap="none" normalizeH="0" baseline="0" smtClean="0">
                          <a:ln>
                            <a:noFill/>
                          </a:ln>
                          <a:solidFill>
                            <a:srgbClr val="000000"/>
                          </a:solidFill>
                          <a:effectLst/>
                          <a:latin typeface="Arial" panose="020B0604020202020204"/>
                          <a:ea typeface="Times New Roman" panose="02020603050405020304" pitchFamily="18" charset="0"/>
                          <a:cs typeface="Arial" panose="020B0604020202020204"/>
                        </a:rPr>
                        <a:t>   </a:t>
                      </a:r>
                      <a:r>
                        <a:rPr kumimoji="0" lang="zh-CN" altLang="en-US" sz="2000" b="1" i="0" u="none" strike="noStrike" cap="none" normalizeH="0" baseline="0" dirty="0" smtClean="0">
                          <a:solidFill>
                            <a:srgbClr val="C00000"/>
                          </a:solidFill>
                          <a:latin typeface="黑体" panose="02010609060101010101" pitchFamily="49" charset="-122"/>
                          <a:ea typeface="黑体" panose="02010609060101010101" pitchFamily="49" charset="-122"/>
                          <a:cs typeface="Calibri" panose="020F0502020204030204" charset="0"/>
                        </a:rPr>
                        <a:t>描述</a:t>
                      </a:r>
                      <a:endParaRPr kumimoji="0" lang="zh-CN" altLang="en-US" sz="2000" b="1" i="0" u="none" strike="noStrike" cap="none" normalizeH="0" baseline="0"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hMerge="1">
                  <a:tcPr/>
                </a:tc>
              </a:tr>
              <a:tr h="93662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Customer </a:t>
                      </a: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involvement </a:t>
                      </a:r>
                      <a:endPar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gridSpan="2">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alt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Customers should be closely involved throughout the development process.Their role is provide and prioritize new system requirements and to evaluate the iterations of the system.</a:t>
                      </a:r>
                      <a:endParaRPr kumimoji="0" lang="en-US" alt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hMerge="1">
                  <a:tcPr/>
                </a:tc>
              </a:tr>
              <a:tr h="70421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Embrace change</a:t>
                      </a:r>
                      <a:endPar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gridSpan="2">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Expect the system requirements to change, and so design the system to</a:t>
                      </a:r>
                      <a:r>
                        <a:rPr kumimoji="0" lang="en-US" alt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 </a:t>
                      </a:r>
                      <a:r>
                        <a:rPr kumimoji="0" 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accommodate these changes.</a:t>
                      </a:r>
                      <a:endParaRPr kumimoji="0" 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hMerge="1">
                  <a:tcPr/>
                </a:tc>
              </a:tr>
              <a:tr h="67627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Incremental delivery</a:t>
                      </a:r>
                      <a:endPar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gridSpan="2">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The software is developed in increments, with the customer specifying the</a:t>
                      </a:r>
                      <a:r>
                        <a:rPr kumimoji="0" lang="en-US" alt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 </a:t>
                      </a:r>
                      <a:r>
                        <a:rPr kumimoji="0" 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requirements to be included in each increment.</a:t>
                      </a:r>
                      <a:endParaRPr kumimoji="0" 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hMerge="1">
                  <a:tcPr/>
                </a:tc>
              </a:tr>
              <a:tr h="101028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Maintain simplicity</a:t>
                      </a:r>
                      <a:endPar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gridSpan="2">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Focus on simplicity in both the software being developed and in the</a:t>
                      </a:r>
                      <a:r>
                        <a:rPr kumimoji="0" lang="en-US" alt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a:t>
                      </a: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development process. Wherever possible, actively work to eliminate</a:t>
                      </a:r>
                      <a:r>
                        <a:rPr kumimoji="0" lang="en-US" alt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a:t>
                      </a: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complexity from the system.</a:t>
                      </a:r>
                      <a:endPar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hMerge="1">
                  <a:tcPr/>
                </a:tc>
              </a:tr>
              <a:tr h="100965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People, not process</a:t>
                      </a:r>
                      <a:endParaRPr kumimoji="0" lang="en-GB" sz="20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The skills of the development team should be recognized and exploited.</a:t>
                      </a:r>
                      <a:r>
                        <a:rPr kumimoji="0" lang="en-US" alt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a:t>
                      </a: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Team members should be left to develop their own ways of working without</a:t>
                      </a:r>
                      <a:r>
                        <a:rPr kumimoji="0" lang="en-US" alt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a:t>
                      </a:r>
                      <a:r>
                        <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prescriptive processes.</a:t>
                      </a:r>
                      <a:endParaRPr kumimoji="0" lang="en-GB" sz="20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100" b="0" i="0" u="none" strike="noStrike" cap="none" normalizeH="0" baseline="0" dirty="0">
                          <a:ln>
                            <a:noFill/>
                          </a:ln>
                          <a:solidFill>
                            <a:srgbClr val="000000"/>
                          </a:solidFill>
                          <a:effectLst/>
                          <a:latin typeface="Times New Roman" panose="02020603050405020304" pitchFamily="18" charset="0"/>
                          <a:ea typeface="Calibri" panose="020F0502020204030204" charset="0"/>
                          <a:cs typeface="Times New Roman" panose="02020603050405020304" pitchFamily="18" charset="0"/>
                        </a:rPr>
                        <a:t> </a:t>
                      </a:r>
                      <a:endParaRPr kumimoji="0" lang="en-GB" sz="1100" b="0" i="0" u="none" strike="noStrike" cap="none" normalizeH="0" baseline="0" dirty="0">
                        <a:ln>
                          <a:noFill/>
                        </a:ln>
                        <a:solidFill>
                          <a:srgbClr val="000000"/>
                        </a:solidFill>
                        <a:effectLst/>
                        <a:latin typeface="Times New Roman" panose="02020603050405020304" pitchFamily="18" charset="0"/>
                        <a:ea typeface="Calibri" panose="020F0502020204030204" charset="0"/>
                        <a:cs typeface="Times New Roman" panose="02020603050405020304" pitchFamily="18" charset="0"/>
                      </a:endParaRPr>
                    </a:p>
                  </a:txBody>
                  <a:tcPr marL="0" marR="0" marT="0" marB="0" anchor="ct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4070"/>
            <a:ext cx="8977630" cy="5873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method applicability</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敏捷方法应用</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7630" y="1384935"/>
            <a:ext cx="8944610" cy="49688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Product development where a software company is developing a small or medium-sized product for sale.</a:t>
            </a:r>
            <a:r>
              <a:rPr lang="en-GB" dirty="0" smtClean="0">
                <a:latin typeface="Calibri" panose="020F0502020204030204" charset="0"/>
                <a:cs typeface="Calibri" panose="020F0502020204030204" charset="0"/>
              </a:rPr>
              <a:t> </a:t>
            </a:r>
            <a:r>
              <a:rPr lang="en-US" altLang="en-GB" dirty="0" smtClean="0">
                <a:latin typeface="Calibri" panose="020F0502020204030204" charset="0"/>
                <a:cs typeface="Calibri" panose="020F0502020204030204" charset="0"/>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中小规模产品</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800"/>
              </a:spcBef>
              <a:spcAft>
                <a:spcPts val="0"/>
              </a:spcAft>
            </a:pPr>
            <a:r>
              <a:rPr lang="en-GB" sz="2800" b="0" dirty="0" smtClean="0">
                <a:latin typeface="Calibri" panose="020F0502020204030204" charset="0"/>
                <a:cs typeface="Calibri" panose="020F0502020204030204" charset="0"/>
              </a:rPr>
              <a:t>Virtually all software products and apps are now developed using an agile approach</a:t>
            </a:r>
            <a:r>
              <a:rPr lang="en-US" altLang="en-GB" sz="2800" b="0" dirty="0" smtClean="0">
                <a:latin typeface="Calibri" panose="020F0502020204030204" charset="0"/>
                <a:cs typeface="Calibri" panose="020F0502020204030204" charset="0"/>
              </a:rPr>
              <a:t>.</a:t>
            </a:r>
            <a:endParaRPr lang="en-GB" sz="2800" b="0" dirty="0" smtClean="0">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Custom system development within an organization, where there is a clear commitment from the customer to become involved in the development process and where there are few external rules and regulations that affect the software.</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定制化系统</a:t>
            </a:r>
            <a:endParaRPr lang="zh-CN" altLang="en-US" sz="32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4070"/>
            <a:ext cx="8977630" cy="5873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development techniques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敏捷开发技术</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70180" y="1384935"/>
            <a:ext cx="8804275" cy="5765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90000"/>
              </a:lnSpc>
              <a:spcBef>
                <a:spcPts val="800"/>
              </a:spcBef>
              <a:spcAft>
                <a:spcPts val="0"/>
              </a:spcAft>
              <a:buNone/>
            </a:pP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3000" kern="0" dirty="0">
                <a:solidFill>
                  <a:schemeClr val="accent1">
                    <a:lumMod val="75000"/>
                  </a:schemeClr>
                </a:solidFill>
                <a:latin typeface="+mn-lt"/>
                <a:ea typeface="宋体" panose="02010600030101010101" pitchFamily="2" charset="-122"/>
                <a:cs typeface="+mn-cs"/>
              </a:rPr>
              <a:t> - Extreme programming</a:t>
            </a:r>
            <a:r>
              <a:rPr lang="en-US" altLang="zh-CN" sz="3000" kern="0" dirty="0">
                <a:solidFill>
                  <a:schemeClr val="accent1">
                    <a:lumMod val="75000"/>
                  </a:schemeClr>
                </a:solidFill>
                <a:latin typeface="+mn-lt"/>
                <a:ea typeface="宋体" panose="02010600030101010101" pitchFamily="2" charset="-122"/>
                <a:cs typeface="+mn-cs"/>
              </a:rPr>
              <a:t> (XP)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极限编程</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
        <p:nvSpPr>
          <p:cNvPr id="1168387" name="Rectangle 3"/>
          <p:cNvSpPr>
            <a:spLocks noGrp="1" noChangeArrowheads="1"/>
          </p:cNvSpPr>
          <p:nvPr/>
        </p:nvSpPr>
        <p:spPr>
          <a:xfrm>
            <a:off x="88900" y="1958975"/>
            <a:ext cx="8928735" cy="44926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 very influential agile method, developed in the late 1990s, that introduced a range of agile development techniques.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极有影响力的敏捷开发方法</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 name was coined by Kent Beck because the approach was </a:t>
            </a:r>
            <a:r>
              <a:rPr lang="en-US" sz="3200" dirty="0">
                <a:solidFill>
                  <a:schemeClr val="accent2">
                    <a:lumMod val="75000"/>
                  </a:schemeClr>
                </a:solidFill>
                <a:latin typeface="Calibri" panose="020F0502020204030204" charset="0"/>
                <a:cs typeface="Calibri" panose="020F0502020204030204" charset="0"/>
              </a:rPr>
              <a:t>developed by pushing recognized good practice, such as iterative development, to “extreme” levels.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将最佳实践推动到极端水平</a:t>
            </a:r>
            <a:endParaRPr lang="en-US" sz="3200" dirty="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a:latin typeface="Calibri" panose="020F0502020204030204" charset="0"/>
                <a:cs typeface="Calibri" panose="020F0502020204030204" charset="0"/>
              </a:rPr>
              <a:t>For example, in XP, several new versions of a system may be developed by different programmers, integrated, and tested in a day. </a:t>
            </a:r>
            <a:endParaRPr lang="en-US" sz="2800" b="0" dirty="0">
              <a:latin typeface="Calibri" panose="020F0502020204030204" charset="0"/>
              <a:cs typeface="Calibri" panose="020F0502020204030204" charset="0"/>
            </a:endParaRPr>
          </a:p>
          <a:p>
            <a:pPr lvl="1">
              <a:lnSpc>
                <a:spcPct val="90000"/>
              </a:lnSpc>
              <a:spcBef>
                <a:spcPts val="600"/>
              </a:spcBef>
              <a:spcAft>
                <a:spcPts val="0"/>
              </a:spcAft>
            </a:pPr>
            <a:endParaRPr lang="en-US" sz="2800" b="0" dirty="0">
              <a:latin typeface="Calibri" panose="020F0502020204030204" charset="0"/>
              <a:cs typeface="Calibri" panose="020F050202020403020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315"/>
            <a:ext cx="8977630" cy="5873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extreme programming release cycle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267335" y="1320800"/>
            <a:ext cx="8619490" cy="3500755"/>
          </a:xfrm>
          <a:prstGeom prst="rect">
            <a:avLst/>
          </a:prstGeom>
        </p:spPr>
      </p:pic>
      <p:sp>
        <p:nvSpPr>
          <p:cNvPr id="5" name="Rectangle 3"/>
          <p:cNvSpPr>
            <a:spLocks noGrp="1" noRot="1"/>
          </p:cNvSpPr>
          <p:nvPr>
            <p:custDataLst>
              <p:tags r:id="rId4"/>
            </p:custDataLst>
          </p:nvPr>
        </p:nvSpPr>
        <p:spPr>
          <a:xfrm>
            <a:off x="71755" y="4806315"/>
            <a:ext cx="8994775" cy="195961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300"/>
              </a:spcBef>
              <a:buSzTx/>
              <a:buFont typeface="Wingdings" panose="05000000000000000000" pitchFamily="2" charset="2"/>
              <a:buNone/>
            </a:pPr>
            <a:r>
              <a:rPr lang="en-US" altLang="zh-CN" sz="2100" b="0" dirty="0">
                <a:solidFill>
                  <a:schemeClr val="tx1"/>
                </a:solidFill>
                <a:ea typeface="宋体" panose="02010600030101010101" pitchFamily="2" charset="-122"/>
                <a:sym typeface="Symbol" panose="05050102010706020507" charset="0"/>
              </a:rPr>
              <a:t> </a:t>
            </a:r>
            <a:r>
              <a:rPr lang="en-US" altLang="zh-CN" sz="2100" b="0" dirty="0">
                <a:solidFill>
                  <a:schemeClr val="tx1"/>
                </a:solidFill>
                <a:ea typeface="宋体" panose="02010600030101010101" pitchFamily="2" charset="-122"/>
                <a:sym typeface="+mn-ea"/>
              </a:rPr>
              <a:t>In XP, requirements are expressed as scenarios (called user stories), which are implemented directly as a series of tasks.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场景(用户故事)-&gt;任务</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a:p>
            <a:pPr marL="0" indent="0" algn="l" eaLnBrk="1" hangingPunct="1">
              <a:lnSpc>
                <a:spcPct val="90000"/>
              </a:lnSpc>
              <a:spcBef>
                <a:spcPts val="300"/>
              </a:spcBef>
              <a:buSzTx/>
              <a:buFont typeface="Wingdings" panose="05000000000000000000" pitchFamily="2" charset="2"/>
              <a:buNone/>
            </a:pPr>
            <a:r>
              <a:rPr lang="en-US" altLang="zh-CN" sz="2100" b="0" dirty="0">
                <a:ea typeface="宋体" panose="02010600030101010101" pitchFamily="2" charset="-122"/>
                <a:sym typeface="Symbol" panose="05050102010706020507" charset="0"/>
              </a:rPr>
              <a:t> </a:t>
            </a:r>
            <a:r>
              <a:rPr lang="en-US" altLang="zh-CN" sz="2100" b="0" dirty="0">
                <a:solidFill>
                  <a:schemeClr val="tx1"/>
                </a:solidFill>
                <a:ea typeface="宋体" panose="02010600030101010101" pitchFamily="2" charset="-122"/>
                <a:sym typeface="+mn-ea"/>
              </a:rPr>
              <a:t>Programmers work in pairs and develop tests for each task before writing the code. All tests must be successfully executed when new code is integrated into the system.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结对工作,写代码前开发测试,集成前完成测试</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a:p>
            <a:pPr marL="0" indent="0" algn="l" eaLnBrk="1" hangingPunct="1">
              <a:lnSpc>
                <a:spcPct val="90000"/>
              </a:lnSpc>
              <a:spcBef>
                <a:spcPts val="300"/>
              </a:spcBef>
              <a:buSzTx/>
              <a:buFont typeface="Wingdings" panose="05000000000000000000" pitchFamily="2" charset="2"/>
              <a:buNone/>
            </a:pPr>
            <a:r>
              <a:rPr lang="en-US" altLang="zh-CN" sz="2100" b="0" dirty="0">
                <a:ea typeface="宋体" panose="02010600030101010101" pitchFamily="2" charset="-122"/>
                <a:sym typeface="Symbol" panose="05050102010706020507" charset="0"/>
              </a:rPr>
              <a:t></a:t>
            </a:r>
            <a:r>
              <a:rPr lang="en-US" altLang="zh-CN" sz="2100" b="0" dirty="0">
                <a:solidFill>
                  <a:schemeClr val="tx1"/>
                </a:solidFill>
                <a:ea typeface="宋体" panose="02010600030101010101" pitchFamily="2" charset="-122"/>
                <a:sym typeface="+mn-ea"/>
              </a:rPr>
              <a:t> There is a short time gap between releases of the system.</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发行间时间</a:t>
            </a:r>
            <a:r>
              <a:rPr lang="zh-CN" altLang="en-US" sz="21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短</a:t>
            </a:r>
            <a:endParaRPr lang="zh-CN" altLang="en-US" sz="2100" b="0" dirty="0">
              <a:solidFill>
                <a:schemeClr val="tx1"/>
              </a:solidFill>
              <a:ea typeface="宋体" panose="02010600030101010101" pitchFamily="2" charset="-122"/>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315"/>
            <a:ext cx="8977630" cy="5873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Extreme programming practices (a)</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graphicFrame>
        <p:nvGraphicFramePr>
          <p:cNvPr id="3" name="Table 3"/>
          <p:cNvGraphicFramePr>
            <a:graphicFrameLocks noGrp="1"/>
          </p:cNvGraphicFramePr>
          <p:nvPr>
            <p:custDataLst>
              <p:tags r:id="rId3"/>
            </p:custDataLst>
          </p:nvPr>
        </p:nvGraphicFramePr>
        <p:xfrm>
          <a:off x="137160" y="1337310"/>
          <a:ext cx="8869045" cy="5964555"/>
        </p:xfrm>
        <a:graphic>
          <a:graphicData uri="http://schemas.openxmlformats.org/drawingml/2006/table">
            <a:tbl>
              <a:tblPr>
                <a:effectLst/>
                <a:tableStyleId>{5940675A-B579-460E-94D1-54222C63F5DA}</a:tableStyleId>
              </a:tblPr>
              <a:tblGrid>
                <a:gridCol w="2351405"/>
                <a:gridCol w="6517640"/>
              </a:tblGrid>
              <a:tr h="70294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Principle or practice</a:t>
                      </a:r>
                      <a:endParaRPr kumimoji="0" lang="en-GB" sz="18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Description</a:t>
                      </a:r>
                      <a:r>
                        <a:rPr kumimoji="0" lang="en-US" altLang="en-GB" sz="18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  </a:t>
                      </a:r>
                      <a:r>
                        <a:rPr kumimoji="0" lang="zh-CN" altLang="en-US" sz="1800" b="1" i="0" u="none" strike="noStrike" cap="none" normalizeH="0" baseline="0" dirty="0" smtClean="0">
                          <a:ln>
                            <a:noFill/>
                          </a:ln>
                          <a:solidFill>
                            <a:schemeClr val="bg1"/>
                          </a:solidFill>
                          <a:effectLst/>
                          <a:latin typeface="Arial" panose="020B0604020202020204"/>
                          <a:ea typeface="宋体" panose="02010600030101010101" pitchFamily="2" charset="-122"/>
                          <a:cs typeface="Arial" panose="020B0604020202020204"/>
                        </a:rPr>
                        <a:t>描述</a:t>
                      </a:r>
                      <a:endParaRPr kumimoji="0" lang="zh-CN" altLang="en-US" sz="1800" b="1" i="0" u="none" strike="noStrike" cap="none" normalizeH="0" baseline="0" dirty="0" smtClean="0">
                        <a:ln>
                          <a:noFill/>
                        </a:ln>
                        <a:solidFill>
                          <a:schemeClr val="bg1"/>
                        </a:solidFill>
                        <a:effectLst/>
                        <a:latin typeface="Arial" panose="020B0604020202020204"/>
                        <a:ea typeface="宋体" panose="02010600030101010101" pitchFamily="2" charset="-122"/>
                        <a:cs typeface="Arial" panose="020B0604020202020204"/>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r>
              <a:tr h="916940">
                <a:tc>
                  <a:txBody>
                    <a:bodyPr/>
                    <a:p>
                      <a:pPr marL="0" marR="0" lvl="0" indent="0" algn="l" defTabSz="457200" rtl="0" eaLnBrk="1" fontAlgn="base" latinLnBrk="0" hangingPunct="1">
                        <a:lnSpc>
                          <a:spcPct val="100000"/>
                        </a:lnSpc>
                        <a:spcBef>
                          <a:spcPct val="0"/>
                        </a:spcBef>
                        <a:spcAft>
                          <a:spcPct val="0"/>
                        </a:spcAft>
                        <a:buClrTx/>
                        <a:buSzTx/>
                        <a:buFontTx/>
                        <a:buNone/>
                      </a:pPr>
                      <a:r>
                        <a:rPr lang="en-GB" sz="1800" dirty="0">
                          <a:solidFill>
                            <a:sysClr val="windowText" lastClr="000000"/>
                          </a:solidFill>
                          <a:latin typeface="Arial" panose="020B0604020202020204"/>
                          <a:cs typeface="Arial" panose="020B0604020202020204"/>
                          <a:sym typeface="+mn-ea"/>
                        </a:rPr>
                        <a:t>Collective ownership</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共同拥有权</a:t>
                      </a:r>
                      <a:endParaRPr kumimoji="0" lang="zh-CN" altLang="en-GB" sz="1800" b="0" i="0" u="none" strike="noStrike" cap="none" normalizeH="0" baseline="0" dirty="0" smtClean="0">
                        <a:ln>
                          <a:noFill/>
                        </a:ln>
                        <a:solidFill>
                          <a:sysClr val="windowText" lastClr="000000"/>
                        </a:solidFill>
                        <a:effectLst/>
                        <a:latin typeface="Arial" panose="020B0604020202020204"/>
                        <a:ea typeface="宋体" panose="02010600030101010101" pitchFamily="2" charset="-122"/>
                        <a:cs typeface="Arial" panose="020B0604020202020204"/>
                        <a:sym typeface="+mn-ea"/>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lang="en-GB" sz="1800" dirty="0">
                          <a:solidFill>
                            <a:sysClr val="windowText" lastClr="000000"/>
                          </a:solidFill>
                          <a:latin typeface="Arial" panose="020B0604020202020204"/>
                          <a:cs typeface="Arial" panose="020B0604020202020204"/>
                          <a:sym typeface="+mn-ea"/>
                        </a:rPr>
                        <a:t>The pairs of developers work on all areas of the system, so that no islands of expertise develop and all the developers take responsibility for all of the code. Anyone can change anything.</a:t>
                      </a:r>
                      <a:endParaRPr kumimoji="0" lang="en-GB" sz="18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916940">
                <a:tc>
                  <a:txBody>
                    <a:bodyPr/>
                    <a:p>
                      <a:pPr marL="0" marR="0" lvl="0" indent="0" algn="l" defTabSz="457200" rtl="0" eaLnBrk="1" fontAlgn="base" latinLnBrk="0" hangingPunct="1">
                        <a:lnSpc>
                          <a:spcPct val="100000"/>
                        </a:lnSpc>
                        <a:spcBef>
                          <a:spcPct val="0"/>
                        </a:spcBef>
                        <a:spcAft>
                          <a:spcPct val="0"/>
                        </a:spcAft>
                        <a:buClrTx/>
                        <a:buSzTx/>
                        <a:buFontTx/>
                        <a:buNone/>
                      </a:pPr>
                      <a:r>
                        <a:rPr lang="en-GB" sz="1800" dirty="0">
                          <a:solidFill>
                            <a:sysClr val="windowText" lastClr="000000"/>
                          </a:solidFill>
                          <a:latin typeface="Arial" panose="020B0604020202020204"/>
                          <a:cs typeface="Arial" panose="020B0604020202020204"/>
                          <a:sym typeface="+mn-ea"/>
                        </a:rPr>
                        <a:t>Continuous integration</a:t>
                      </a:r>
                      <a:r>
                        <a:rPr lang="en-US" altLang="en-GB" sz="1800" dirty="0">
                          <a:solidFill>
                            <a:sysClr val="windowText" lastClr="000000"/>
                          </a:solidFill>
                          <a:latin typeface="Arial" panose="020B0604020202020204"/>
                          <a:cs typeface="Arial" panose="020B0604020202020204"/>
                          <a:sym typeface="+mn-ea"/>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持续集成</a:t>
                      </a:r>
                      <a:endParaRPr kumimoji="0" lang="zh-CN" altLang="en-US" sz="2000" b="1" i="0" u="none" strike="noStrike" cap="none" normalizeH="0" baseline="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lang="en-GB" sz="1800">
                          <a:solidFill>
                            <a:sysClr val="windowText" lastClr="000000"/>
                          </a:solidFill>
                          <a:latin typeface="Arial" panose="020B0604020202020204"/>
                          <a:cs typeface="Arial" panose="020B0604020202020204"/>
                          <a:sym typeface="+mn-ea"/>
                        </a:rPr>
                        <a:t>As soon as the work on a task is complete, it is integrated into the whole system. After any such integration, all the unit tests in the system must pass.</a:t>
                      </a:r>
                      <a:endParaRPr kumimoji="0" lang="en-GB" sz="18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1191260">
                <a:tc>
                  <a:txBody>
                    <a:bodyPr/>
                    <a:p>
                      <a:pPr marL="0" marR="0" lvl="0" indent="0" algn="l" defTabSz="457200" rtl="0" eaLnBrk="1" fontAlgn="base" latinLnBrk="0" hangingPunct="1">
                        <a:lnSpc>
                          <a:spcPct val="100000"/>
                        </a:lnSpc>
                        <a:spcBef>
                          <a:spcPct val="0"/>
                        </a:spcBef>
                        <a:spcAft>
                          <a:spcPct val="0"/>
                        </a:spcAft>
                        <a:buClrTx/>
                        <a:buSzTx/>
                        <a:buFontTx/>
                        <a:buNone/>
                      </a:pPr>
                      <a:r>
                        <a:rPr lang="en-GB" sz="1800" smtClean="0">
                          <a:ln>
                            <a:noFill/>
                          </a:ln>
                          <a:solidFill>
                            <a:srgbClr val="000000"/>
                          </a:solidFill>
                          <a:effectLst/>
                          <a:latin typeface="Arial" panose="020B0604020202020204"/>
                          <a:ea typeface="Times New Roman" panose="02020603050405020304" pitchFamily="18" charset="0"/>
                          <a:cs typeface="Arial" panose="020B0604020202020204"/>
                          <a:sym typeface="+mn-ea"/>
                        </a:rPr>
                        <a:t>Incremental planning</a:t>
                      </a:r>
                      <a:endParaRPr kumimoji="0" lang="en-GB"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solidFill>
                            <a:srgbClr val="C00000"/>
                          </a:solidFill>
                          <a:latin typeface="黑体" panose="02010609060101010101" pitchFamily="49" charset="-122"/>
                          <a:ea typeface="黑体" panose="02010609060101010101" pitchFamily="49" charset="-122"/>
                          <a:cs typeface="Calibri" panose="020F0502020204030204" charset="0"/>
                        </a:rPr>
                        <a:t>增量式规划</a:t>
                      </a:r>
                      <a:endParaRPr kumimoji="0" lang="zh-CN" altLang="en-US" sz="2000" b="1" i="0" u="none" strike="noStrike" cap="none" normalizeH="0" baseline="0"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Requirements are recorded on </a:t>
                      </a:r>
                      <a:r>
                        <a:rPr lang="en-US" alt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a:t>
                      </a: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story cards</a:t>
                      </a:r>
                      <a:r>
                        <a:rPr lang="en-US" alt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a:t>
                      </a: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 and the stories to be included in a release are determined by the time available and their relative priority. The developers break these stories into development </a:t>
                      </a:r>
                      <a:r>
                        <a:rPr lang="en-US" alt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“t</a:t>
                      </a: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asks</a:t>
                      </a:r>
                      <a:r>
                        <a:rPr lang="en-US" alt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a:t>
                      </a: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 See Figures 3.5 and 3.6.</a:t>
                      </a:r>
                      <a:endParaRPr kumimoji="0" lang="en-GB" sz="18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1465580">
                <a:tc>
                  <a:txBody>
                    <a:bodyPr/>
                    <a:p>
                      <a:pPr marL="0" marR="0" lvl="0" indent="0" algn="l" defTabSz="457200" rtl="0" eaLnBrk="1" fontAlgn="base" latinLnBrk="0" hangingPunct="1">
                        <a:lnSpc>
                          <a:spcPct val="100000"/>
                        </a:lnSpc>
                        <a:spcBef>
                          <a:spcPct val="0"/>
                        </a:spcBef>
                        <a:spcAft>
                          <a:spcPct val="0"/>
                        </a:spcAft>
                        <a:buClrTx/>
                        <a:buSzTx/>
                        <a:buFontTx/>
                        <a:buNone/>
                      </a:pPr>
                      <a:r>
                        <a:rPr lang="en-GB" sz="1800">
                          <a:solidFill>
                            <a:sysClr val="windowText" lastClr="000000"/>
                          </a:solidFill>
                          <a:latin typeface="Arial" panose="020B0604020202020204"/>
                          <a:cs typeface="Arial" panose="020B0604020202020204"/>
                          <a:sym typeface="+mn-ea"/>
                        </a:rPr>
                        <a:t>On-site customer</a:t>
                      </a:r>
                      <a:endParaRPr lang="en-GB" sz="1800">
                        <a:solidFill>
                          <a:sysClr val="windowText" lastClr="000000"/>
                        </a:solidFill>
                        <a:latin typeface="Arial" panose="020B0604020202020204"/>
                        <a:cs typeface="Arial" panose="020B0604020202020204"/>
                        <a:sym typeface="+mn-ea"/>
                      </a:endParaRPr>
                    </a:p>
                    <a:p>
                      <a:pPr marL="0" marR="0" lvl="0" indent="0" algn="l" defTabSz="4572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solidFill>
                            <a:srgbClr val="C00000"/>
                          </a:solidFill>
                          <a:latin typeface="黑体" panose="02010609060101010101" pitchFamily="49" charset="-122"/>
                          <a:ea typeface="黑体" panose="02010609060101010101" pitchFamily="49" charset="-122"/>
                          <a:cs typeface="Calibri" panose="020F0502020204030204" charset="0"/>
                        </a:rPr>
                        <a:t>现场客户</a:t>
                      </a:r>
                      <a:endParaRPr kumimoji="0" lang="zh-CN" altLang="en-US" sz="2000" b="1" i="0" u="none" strike="noStrike" cap="none" normalizeH="0" baseline="0"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lang="en-GB" sz="1800" dirty="0">
                          <a:solidFill>
                            <a:sysClr val="windowText" lastClr="000000"/>
                          </a:solidFill>
                          <a:latin typeface="Arial" panose="020B0604020202020204"/>
                          <a:cs typeface="Arial" panose="020B0604020202020204"/>
                          <a:sym typeface="+mn-ea"/>
                        </a:rPr>
                        <a:t>A representative of the end-user of the system (the </a:t>
                      </a:r>
                      <a:r>
                        <a:rPr lang="en-US" altLang="en-GB" sz="1800" dirty="0">
                          <a:solidFill>
                            <a:sysClr val="windowText" lastClr="000000"/>
                          </a:solidFill>
                          <a:latin typeface="Arial" panose="020B0604020202020204"/>
                          <a:cs typeface="Arial" panose="020B0604020202020204"/>
                          <a:sym typeface="+mn-ea"/>
                        </a:rPr>
                        <a:t>C</a:t>
                      </a:r>
                      <a:r>
                        <a:rPr lang="en-GB" sz="1800" dirty="0">
                          <a:solidFill>
                            <a:sysClr val="windowText" lastClr="000000"/>
                          </a:solidFill>
                          <a:latin typeface="Arial" panose="020B0604020202020204"/>
                          <a:cs typeface="Arial" panose="020B0604020202020204"/>
                          <a:sym typeface="+mn-ea"/>
                        </a:rPr>
                        <a:t>ustomer) should be available full time for the use of the XP team. In an extreme programming process, the customer is a member of the development team and is responsible for bringing system requirements to the team for implementation</a:t>
                      </a:r>
                      <a:r>
                        <a:rPr lang="en-GB" sz="1800" dirty="0" smtClean="0">
                          <a:solidFill>
                            <a:sysClr val="windowText" lastClr="000000"/>
                          </a:solidFill>
                          <a:latin typeface="Arial" panose="020B0604020202020204"/>
                          <a:cs typeface="Arial" panose="020B0604020202020204"/>
                          <a:sym typeface="+mn-ea"/>
                        </a:rPr>
                        <a:t>.</a:t>
                      </a:r>
                      <a:endParaRPr kumimoji="0" lang="en-GB" sz="18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46990" marR="46990" marT="46990" marB="4699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bl>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4070"/>
            <a:ext cx="8977630" cy="5873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Extreme programming practices (</a:t>
            </a:r>
            <a:r>
              <a:rPr lang="en-US" altLang="zh-CN" sz="3200" dirty="0">
                <a:solidFill>
                  <a:schemeClr val="accent1">
                    <a:lumMod val="75000"/>
                  </a:schemeClr>
                </a:solidFill>
                <a:ea typeface="宋体" panose="02010600030101010101" pitchFamily="2" charset="-122"/>
                <a:sym typeface="+mn-ea"/>
              </a:rPr>
              <a:t>b</a:t>
            </a:r>
            <a:r>
              <a:rPr lang="zh-CN" altLang="en-US" sz="3200" dirty="0">
                <a:solidFill>
                  <a:schemeClr val="accent1">
                    <a:lumMod val="75000"/>
                  </a:schemeClr>
                </a:solidFill>
                <a:ea typeface="宋体" panose="02010600030101010101" pitchFamily="2" charset="-122"/>
                <a:sym typeface="+mn-ea"/>
              </a:rPr>
              <a: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graphicFrame>
        <p:nvGraphicFramePr>
          <p:cNvPr id="2" name="Table 3"/>
          <p:cNvGraphicFramePr>
            <a:graphicFrameLocks noGrp="1"/>
          </p:cNvGraphicFramePr>
          <p:nvPr>
            <p:custDataLst>
              <p:tags r:id="rId3"/>
            </p:custDataLst>
          </p:nvPr>
        </p:nvGraphicFramePr>
        <p:xfrm>
          <a:off x="111760" y="1494155"/>
          <a:ext cx="8930640" cy="4937760"/>
        </p:xfrm>
        <a:graphic>
          <a:graphicData uri="http://schemas.openxmlformats.org/drawingml/2006/table">
            <a:tbl>
              <a:tblPr firstRow="1" bandRow="1">
                <a:effectLst/>
                <a:tableStyleId>{5940675A-B579-460E-94D1-54222C63F5DA}</a:tableStyleId>
              </a:tblPr>
              <a:tblGrid>
                <a:gridCol w="2437130"/>
                <a:gridCol w="6493510"/>
              </a:tblGrid>
              <a:tr h="640080">
                <a:tc>
                  <a:txBody>
                    <a:bodyPr/>
                    <a:p>
                      <a:pPr algn="l">
                        <a:spcAft>
                          <a:spcPts val="0"/>
                        </a:spcAft>
                        <a:buNone/>
                      </a:pPr>
                      <a:r>
                        <a:rPr lang="en-GB" sz="1800" dirty="0">
                          <a:solidFill>
                            <a:sysClr val="windowText" lastClr="000000"/>
                          </a:solidFill>
                          <a:latin typeface="Arial" panose="020B0604020202020204"/>
                          <a:cs typeface="Arial" panose="020B0604020202020204"/>
                          <a:sym typeface="+mn-ea"/>
                        </a:rPr>
                        <a:t>Pair programming</a:t>
                      </a:r>
                      <a:r>
                        <a:rPr lang="en-US" altLang="en-GB" sz="1800" dirty="0">
                          <a:solidFill>
                            <a:sysClr val="windowText" lastClr="000000"/>
                          </a:solidFill>
                          <a:latin typeface="Arial" panose="020B0604020202020204"/>
                          <a:cs typeface="Arial" panose="020B0604020202020204"/>
                          <a:sym typeface="+mn-ea"/>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结对编程</a:t>
                      </a:r>
                      <a:endPar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c>
                  <a:txBody>
                    <a:bodyPr/>
                    <a:p>
                      <a:pPr algn="l">
                        <a:spcAft>
                          <a:spcPts val="0"/>
                        </a:spcAft>
                        <a:buNone/>
                      </a:pP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Developers work in pairs, checking each other’s work and providing the support to always do a good job.</a:t>
                      </a:r>
                      <a:endParaRPr lang="en-GB" altLang="en-US" sz="1800" b="0" dirty="0">
                        <a:solidFill>
                          <a:sysClr val="windowText" lastClr="000000"/>
                        </a:solidFill>
                        <a:latin typeface="Arial" panose="020B0604020202020204"/>
                        <a:ea typeface="Times New Roman" panose="02020603050405020304"/>
                        <a:cs typeface="Arial" panose="020B0604020202020204"/>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914400">
                <a:tc>
                  <a:txBody>
                    <a:bodyPr/>
                    <a:p>
                      <a:pPr algn="l">
                        <a:spcAft>
                          <a:spcPts val="0"/>
                        </a:spcAft>
                      </a:pPr>
                      <a:r>
                        <a:rPr lang="en-GB" sz="1800">
                          <a:ln>
                            <a:noFill/>
                          </a:ln>
                          <a:solidFill>
                            <a:srgbClr val="000000"/>
                          </a:solidFill>
                          <a:effectLst/>
                          <a:latin typeface="Arial" panose="020B0604020202020204"/>
                          <a:ea typeface="Times New Roman" panose="02020603050405020304" pitchFamily="18" charset="0"/>
                          <a:cs typeface="Arial" panose="020B0604020202020204"/>
                          <a:sym typeface="+mn-ea"/>
                        </a:rPr>
                        <a:t>Refactoring</a:t>
                      </a:r>
                      <a:r>
                        <a:rPr lang="en-US" altLang="en-GB" sz="1800">
                          <a:ln>
                            <a:noFill/>
                          </a:ln>
                          <a:solidFill>
                            <a:srgbClr val="000000"/>
                          </a:solidFill>
                          <a:effectLst/>
                          <a:latin typeface="Arial" panose="020B0604020202020204"/>
                          <a:ea typeface="Times New Roman" panose="02020603050405020304" pitchFamily="18" charset="0"/>
                          <a:cs typeface="Arial" panose="020B0604020202020204"/>
                          <a:sym typeface="+mn-ea"/>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重构</a:t>
                      </a:r>
                      <a:endParaRPr lang="zh-CN" altLang="en-US" sz="1800" b="0" dirty="0">
                        <a:ln>
                          <a:noFill/>
                        </a:ln>
                        <a:solidFill>
                          <a:srgbClr val="000000"/>
                        </a:solidFill>
                        <a:effectLst/>
                        <a:latin typeface="Arial" panose="020B0604020202020204"/>
                        <a:ea typeface="宋体" panose="02010600030101010101" pitchFamily="2" charset="-122"/>
                        <a:cs typeface="Arial" panose="020B0604020202020204"/>
                        <a:sym typeface="+mn-ea"/>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c>
                  <a:txBody>
                    <a:bodyPr/>
                    <a:p>
                      <a:pPr algn="l">
                        <a:spcAft>
                          <a:spcPts val="0"/>
                        </a:spcAft>
                      </a:pP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All developers are expected to </a:t>
                      </a:r>
                      <a:r>
                        <a:rPr lang="en-GB" sz="1800" dirty="0" err="1">
                          <a:ln>
                            <a:noFill/>
                          </a:ln>
                          <a:solidFill>
                            <a:srgbClr val="000000"/>
                          </a:solidFill>
                          <a:effectLst/>
                          <a:latin typeface="Arial" panose="020B0604020202020204"/>
                          <a:ea typeface="Times New Roman" panose="02020603050405020304" pitchFamily="18" charset="0"/>
                          <a:cs typeface="Arial" panose="020B0604020202020204"/>
                          <a:sym typeface="+mn-ea"/>
                        </a:rPr>
                        <a:t>refactor</a:t>
                      </a: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 the code continuously as soon as </a:t>
                      </a:r>
                      <a:r>
                        <a:rPr lang="en-US" alt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potential</a:t>
                      </a: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 code improvements are found. This keeps the code simple and maintainable.</a:t>
                      </a:r>
                      <a:endParaRPr lang="en-GB" sz="1800" b="0" dirty="0">
                        <a:solidFill>
                          <a:sysClr val="windowText" lastClr="000000"/>
                        </a:solidFill>
                        <a:latin typeface="Arial" panose="020B0604020202020204"/>
                        <a:ea typeface="Times New Roman" panose="02020603050405020304"/>
                        <a:cs typeface="Arial" panose="020B0604020202020204"/>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640080">
                <a:tc>
                  <a:txBody>
                    <a:bodyPr/>
                    <a:p>
                      <a:pPr algn="l">
                        <a:spcAft>
                          <a:spcPts val="0"/>
                        </a:spcAft>
                      </a:pPr>
                      <a:r>
                        <a:rPr lang="en-GB" sz="1800">
                          <a:ln>
                            <a:noFill/>
                          </a:ln>
                          <a:solidFill>
                            <a:srgbClr val="000000"/>
                          </a:solidFill>
                          <a:effectLst/>
                          <a:latin typeface="Arial" panose="020B0604020202020204"/>
                          <a:ea typeface="Times New Roman" panose="02020603050405020304" pitchFamily="18" charset="0"/>
                          <a:cs typeface="Arial" panose="020B0604020202020204"/>
                          <a:sym typeface="+mn-ea"/>
                        </a:rPr>
                        <a:t>Simple design </a:t>
                      </a:r>
                      <a:r>
                        <a:rPr lang="en-US" altLang="en-GB" sz="1800">
                          <a:ln>
                            <a:noFill/>
                          </a:ln>
                          <a:solidFill>
                            <a:srgbClr val="000000"/>
                          </a:solidFill>
                          <a:effectLst/>
                          <a:latin typeface="Arial" panose="020B0604020202020204"/>
                          <a:ea typeface="Times New Roman" panose="02020603050405020304" pitchFamily="18" charset="0"/>
                          <a:cs typeface="Arial" panose="020B0604020202020204"/>
                          <a:sym typeface="+mn-ea"/>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简单设计</a:t>
                      </a:r>
                      <a:endParaRPr lang="zh-CN" altLang="en-GB" sz="1800" dirty="0">
                        <a:ln>
                          <a:noFill/>
                        </a:ln>
                        <a:solidFill>
                          <a:srgbClr val="000000"/>
                        </a:solidFill>
                        <a:effectLst/>
                        <a:latin typeface="Arial" panose="020B0604020202020204"/>
                        <a:ea typeface="宋体" panose="02010600030101010101" pitchFamily="2" charset="-122"/>
                        <a:cs typeface="Arial" panose="020B0604020202020204"/>
                        <a:sym typeface="+mn-ea"/>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40000"/>
                      </a:srgbClr>
                    </a:solidFill>
                  </a:tcPr>
                </a:tc>
                <a:tc>
                  <a:txBody>
                    <a:bodyPr/>
                    <a:p>
                      <a:pPr algn="l">
                        <a:spcAft>
                          <a:spcPts val="0"/>
                        </a:spcAft>
                      </a:pP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Enough design is carried out to meet the current requirements and no more.</a:t>
                      </a:r>
                      <a:endParaRPr lang="en-GB" sz="1800" dirty="0">
                        <a:solidFill>
                          <a:sysClr val="windowText" lastClr="000000"/>
                        </a:solidFill>
                        <a:latin typeface="Arial" panose="020B0604020202020204"/>
                        <a:ea typeface="Times New Roman" panose="02020603050405020304"/>
                        <a:cs typeface="Arial" panose="020B0604020202020204"/>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40000"/>
                      </a:srgbClr>
                    </a:solidFill>
                  </a:tcPr>
                </a:tc>
              </a:tr>
              <a:tr h="914400">
                <a:tc>
                  <a:txBody>
                    <a:bodyPr/>
                    <a:p>
                      <a:pPr algn="l">
                        <a:spcAft>
                          <a:spcPts val="0"/>
                        </a:spcAft>
                      </a:pPr>
                      <a:r>
                        <a:rPr lang="en-GB" sz="1800">
                          <a:ln>
                            <a:noFill/>
                          </a:ln>
                          <a:solidFill>
                            <a:srgbClr val="000000"/>
                          </a:solidFill>
                          <a:effectLst/>
                          <a:latin typeface="Arial" panose="020B0604020202020204"/>
                          <a:ea typeface="Times New Roman" panose="02020603050405020304" pitchFamily="18" charset="0"/>
                          <a:cs typeface="Arial" panose="020B0604020202020204"/>
                          <a:sym typeface="+mn-ea"/>
                        </a:rPr>
                        <a:t>Small releases</a:t>
                      </a:r>
                      <a:r>
                        <a:rPr lang="en-US" altLang="en-GB" sz="1800">
                          <a:ln>
                            <a:noFill/>
                          </a:ln>
                          <a:solidFill>
                            <a:srgbClr val="000000"/>
                          </a:solidFill>
                          <a:effectLst/>
                          <a:latin typeface="Arial" panose="020B0604020202020204"/>
                          <a:ea typeface="Times New Roman" panose="02020603050405020304" pitchFamily="18" charset="0"/>
                          <a:cs typeface="Arial" panose="020B0604020202020204"/>
                          <a:sym typeface="+mn-ea"/>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小的发布</a:t>
                      </a:r>
                      <a:endParaRPr lang="zh-CN" altLang="en-US" sz="1800" dirty="0">
                        <a:ln>
                          <a:noFill/>
                        </a:ln>
                        <a:solidFill>
                          <a:srgbClr val="000000"/>
                        </a:solidFill>
                        <a:effectLst/>
                        <a:latin typeface="Arial" panose="020B0604020202020204"/>
                        <a:ea typeface="宋体" panose="02010600030101010101" pitchFamily="2" charset="-122"/>
                        <a:cs typeface="Arial" panose="020B0604020202020204"/>
                        <a:sym typeface="+mn-ea"/>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c>
                  <a:txBody>
                    <a:bodyPr/>
                    <a:p>
                      <a:pPr algn="l">
                        <a:spcAft>
                          <a:spcPts val="0"/>
                        </a:spcAft>
                      </a:pP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The minimal useful set of functionality that provides business value is developed first. Releases of the system are frequent and incrementally add functionality to the first release.</a:t>
                      </a:r>
                      <a:endParaRPr lang="en-GB" sz="1800">
                        <a:solidFill>
                          <a:sysClr val="windowText" lastClr="000000"/>
                        </a:solidFill>
                        <a:latin typeface="Arial" panose="020B0604020202020204"/>
                        <a:ea typeface="Times New Roman" panose="02020603050405020304"/>
                        <a:cs typeface="Arial" panose="020B0604020202020204"/>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914400">
                <a:tc>
                  <a:txBody>
                    <a:bodyPr/>
                    <a:p>
                      <a:pPr algn="l">
                        <a:spcAft>
                          <a:spcPts val="0"/>
                        </a:spcAft>
                        <a:buClrTx/>
                        <a:buSzTx/>
                        <a:buFontTx/>
                      </a:pPr>
                      <a:r>
                        <a:rPr lang="en-GB" sz="1800" dirty="0">
                          <a:solidFill>
                            <a:sysClr val="windowText" lastClr="000000"/>
                          </a:solidFill>
                          <a:latin typeface="Arial" panose="020B0604020202020204"/>
                          <a:cs typeface="Arial" panose="020B0604020202020204"/>
                        </a:rPr>
                        <a:t>Sustainable pace</a:t>
                      </a:r>
                      <a:r>
                        <a:rPr lang="en-US" altLang="en-GB" sz="1800" dirty="0">
                          <a:solidFill>
                            <a:sysClr val="windowText" lastClr="000000"/>
                          </a:solidFill>
                          <a:latin typeface="Arial" panose="020B0604020202020204"/>
                          <a:cs typeface="Arial" panose="020B0604020202020204"/>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rPr>
                        <a:t>可持续步调</a:t>
                      </a:r>
                      <a:endPar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40000"/>
                      </a:srgbClr>
                    </a:solidFill>
                  </a:tcPr>
                </a:tc>
                <a:tc>
                  <a:txBody>
                    <a:bodyPr/>
                    <a:p>
                      <a:pPr algn="l">
                        <a:spcAft>
                          <a:spcPts val="0"/>
                        </a:spcAft>
                      </a:pPr>
                      <a:r>
                        <a:rPr lang="en-GB" sz="1800" dirty="0">
                          <a:solidFill>
                            <a:sysClr val="windowText" lastClr="000000"/>
                          </a:solidFill>
                          <a:latin typeface="Arial" panose="020B0604020202020204"/>
                          <a:cs typeface="Arial" panose="020B0604020202020204"/>
                        </a:rPr>
                        <a:t>Large amounts of overtime are not considered acceptable as the net effect is often to reduce code quality and medium</a:t>
                      </a:r>
                      <a:r>
                        <a:rPr lang="en-US" altLang="en-GB" sz="1800" dirty="0">
                          <a:solidFill>
                            <a:sysClr val="windowText" lastClr="000000"/>
                          </a:solidFill>
                          <a:latin typeface="Arial" panose="020B0604020202020204"/>
                          <a:cs typeface="Arial" panose="020B0604020202020204"/>
                        </a:rPr>
                        <a:t>-</a:t>
                      </a:r>
                      <a:r>
                        <a:rPr lang="en-GB" sz="1800" dirty="0">
                          <a:solidFill>
                            <a:sysClr val="windowText" lastClr="000000"/>
                          </a:solidFill>
                          <a:latin typeface="Arial" panose="020B0604020202020204"/>
                          <a:cs typeface="Arial" panose="020B0604020202020204"/>
                        </a:rPr>
                        <a:t>term productivity</a:t>
                      </a:r>
                      <a:endParaRPr lang="en-GB" sz="1800" dirty="0">
                        <a:solidFill>
                          <a:sysClr val="windowText" lastClr="000000"/>
                        </a:solidFill>
                        <a:latin typeface="Arial" panose="020B0604020202020204"/>
                        <a:ea typeface="Times New Roman" panose="02020603050405020304"/>
                        <a:cs typeface="Arial" panose="020B0604020202020204"/>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40000"/>
                      </a:srgbClr>
                    </a:solidFill>
                  </a:tcPr>
                </a:tc>
              </a:tr>
              <a:tr h="914400">
                <a:tc>
                  <a:txBody>
                    <a:bodyPr/>
                    <a:p>
                      <a:pPr algn="l">
                        <a:spcAft>
                          <a:spcPts val="0"/>
                        </a:spcAft>
                        <a:buNone/>
                      </a:pPr>
                      <a:r>
                        <a:rPr lang="en-GB" sz="1800">
                          <a:ln>
                            <a:noFill/>
                          </a:ln>
                          <a:solidFill>
                            <a:srgbClr val="000000"/>
                          </a:solidFill>
                          <a:effectLst/>
                          <a:latin typeface="Arial" panose="020B0604020202020204"/>
                          <a:ea typeface="Times New Roman" panose="02020603050405020304" pitchFamily="18" charset="0"/>
                          <a:cs typeface="Arial" panose="020B0604020202020204"/>
                          <a:sym typeface="+mn-ea"/>
                        </a:rPr>
                        <a:t>Test-first development</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测试先行的开发</a:t>
                      </a:r>
                      <a:endParaRPr lang="zh-CN" altLang="en-GB" sz="1800" dirty="0">
                        <a:ln>
                          <a:noFill/>
                        </a:ln>
                        <a:solidFill>
                          <a:srgbClr val="000000"/>
                        </a:solidFill>
                        <a:effectLst/>
                        <a:latin typeface="Arial" panose="020B0604020202020204"/>
                        <a:ea typeface="宋体" panose="02010600030101010101" pitchFamily="2" charset="-122"/>
                        <a:cs typeface="Arial" panose="020B0604020202020204"/>
                        <a:sym typeface="+mn-ea"/>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40000"/>
                      </a:srgbClr>
                    </a:solidFill>
                  </a:tcPr>
                </a:tc>
                <a:tc>
                  <a:txBody>
                    <a:bodyPr/>
                    <a:p>
                      <a:pPr algn="l">
                        <a:spcAft>
                          <a:spcPts val="0"/>
                        </a:spcAft>
                        <a:buNone/>
                      </a:pPr>
                      <a:r>
                        <a:rPr lang="en-GB" sz="1800" dirty="0">
                          <a:ln>
                            <a:noFill/>
                          </a:ln>
                          <a:solidFill>
                            <a:srgbClr val="000000"/>
                          </a:solidFill>
                          <a:effectLst/>
                          <a:latin typeface="Arial" panose="020B0604020202020204"/>
                          <a:ea typeface="Times New Roman" panose="02020603050405020304" pitchFamily="18" charset="0"/>
                          <a:cs typeface="Arial" panose="020B0604020202020204"/>
                          <a:sym typeface="+mn-ea"/>
                        </a:rPr>
                        <a:t>An automated unit test framework is used to write tests for a new piece of functionality before that functionality itself is implemented.</a:t>
                      </a:r>
                      <a:endParaRPr lang="en-GB" altLang="en-US" sz="1800" dirty="0">
                        <a:solidFill>
                          <a:sysClr val="windowText" lastClr="000000"/>
                        </a:solidFill>
                        <a:latin typeface="Arial" panose="020B0604020202020204"/>
                        <a:ea typeface="Times New Roman" panose="02020603050405020304"/>
                        <a:cs typeface="Arial" panose="020B0604020202020204"/>
                      </a:endParaRPr>
                    </a:p>
                  </a:txBody>
                  <a:tcPr marL="73025" marR="73025" marT="0" marB="91440">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40000"/>
                      </a:srgbClr>
                    </a:solidFill>
                  </a:tcPr>
                </a:tc>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5805"/>
            <a:ext cx="8977630" cy="5162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XP and agile principles</a:t>
            </a:r>
            <a:r>
              <a:rPr lang="en-US" altLang="zh-CN" sz="3200" dirty="0">
                <a:solidFill>
                  <a:schemeClr val="accent1">
                    <a:lumMod val="75000"/>
                  </a:schemeClr>
                </a:solidFill>
                <a:ea typeface="宋体" panose="02010600030101010101" pitchFamily="2" charset="-122"/>
                <a:sym typeface="+mn-ea"/>
              </a:rPr>
              <a:t> (of manifesto)</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98425" y="1241425"/>
            <a:ext cx="8957310" cy="53822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sz="2600" dirty="0" smtClean="0">
                <a:solidFill>
                  <a:schemeClr val="tx2">
                    <a:lumMod val="75000"/>
                    <a:lumOff val="25000"/>
                  </a:schemeClr>
                </a:solidFill>
                <a:latin typeface="Calibri" panose="020F0502020204030204" charset="0"/>
                <a:cs typeface="Calibri" panose="020F0502020204030204" charset="0"/>
              </a:rPr>
              <a:t> Incremental development is supported through small, frequent system releases.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增量式开发</a:t>
            </a:r>
            <a:endParaRPr lang="en-US" dirty="0" smtClean="0">
              <a:solidFill>
                <a:schemeClr val="tx2">
                  <a:lumMod val="75000"/>
                  <a:lumOff val="25000"/>
                </a:schemeClr>
              </a:solidFill>
              <a:latin typeface="Calibri" panose="020F0502020204030204" charset="0"/>
              <a:cs typeface="Calibri" panose="020F0502020204030204" charset="0"/>
            </a:endParaRPr>
          </a:p>
          <a:p>
            <a:pPr>
              <a:lnSpc>
                <a:spcPct val="90000"/>
              </a:lnSpc>
              <a:spcAft>
                <a:spcPts val="0"/>
              </a:spcAft>
            </a:pPr>
            <a:r>
              <a:rPr lang="en-US" sz="2600" dirty="0" smtClean="0">
                <a:solidFill>
                  <a:schemeClr val="tx2">
                    <a:lumMod val="75000"/>
                    <a:lumOff val="25000"/>
                  </a:schemeClr>
                </a:solidFill>
                <a:latin typeface="Calibri" panose="020F0502020204030204" charset="0"/>
                <a:cs typeface="Calibri" panose="020F0502020204030204" charset="0"/>
              </a:rPr>
              <a:t> Customer involvement is supported through continuous engagement with the team.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客户持续参与</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Aft>
                <a:spcPts val="0"/>
              </a:spcAft>
            </a:pPr>
            <a:r>
              <a:rPr lang="en-US" sz="2600" dirty="0" smtClean="0">
                <a:solidFill>
                  <a:schemeClr val="tx2">
                    <a:lumMod val="75000"/>
                    <a:lumOff val="25000"/>
                  </a:schemeClr>
                </a:solidFill>
                <a:latin typeface="Calibri" panose="020F0502020204030204" charset="0"/>
                <a:cs typeface="Calibri" panose="020F0502020204030204" charset="0"/>
              </a:rPr>
              <a:t> People, not process, are supported through pair programming, collective ownership of code, and a sustainable development process that avoids excessive long working hours.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结对编程，共同拥有权，可持续开发</a:t>
            </a:r>
            <a:endParaRPr lang="zh-CN" altLang="en-US" sz="26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Aft>
                <a:spcPts val="0"/>
              </a:spcAft>
            </a:pPr>
            <a:r>
              <a:rPr lang="en-US" sz="2600" dirty="0" smtClean="0">
                <a:solidFill>
                  <a:schemeClr val="tx2">
                    <a:lumMod val="75000"/>
                    <a:lumOff val="25000"/>
                  </a:schemeClr>
                </a:solidFill>
                <a:latin typeface="Calibri" panose="020F0502020204030204" charset="0"/>
                <a:cs typeface="Calibri" panose="020F0502020204030204" charset="0"/>
              </a:rPr>
              <a:t> Change is embraced through regular system releases, test first development, refactoring to avoid code degeneration, and continuous integration of new fuctionality.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拥抱变化</a:t>
            </a:r>
            <a:endParaRPr lang="en-US" sz="2600" dirty="0" smtClean="0">
              <a:solidFill>
                <a:schemeClr val="tx2">
                  <a:lumMod val="75000"/>
                  <a:lumOff val="25000"/>
                </a:schemeClr>
              </a:solidFill>
              <a:latin typeface="Calibri" panose="020F0502020204030204" charset="0"/>
              <a:cs typeface="Calibri" panose="020F0502020204030204" charset="0"/>
            </a:endParaRPr>
          </a:p>
          <a:p>
            <a:pPr>
              <a:lnSpc>
                <a:spcPct val="90000"/>
              </a:lnSpc>
              <a:spcAft>
                <a:spcPts val="0"/>
              </a:spcAft>
            </a:pPr>
            <a:r>
              <a:rPr lang="en-US" sz="2600" dirty="0" smtClean="0">
                <a:solidFill>
                  <a:schemeClr val="tx2">
                    <a:lumMod val="75000"/>
                    <a:lumOff val="25000"/>
                  </a:schemeClr>
                </a:solidFill>
                <a:latin typeface="Calibri" panose="020F0502020204030204" charset="0"/>
                <a:cs typeface="Calibri" panose="020F0502020204030204" charset="0"/>
              </a:rPr>
              <a:t> Maintaining simplicity by constant refactoring that improves code quality and by using designs that do not unnecessarily anticipate future changes to the system.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保持简单</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0570"/>
            <a:ext cx="8977630" cy="6083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Influential XP practices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XP实践</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1120" y="1313180"/>
            <a:ext cx="8993505" cy="52400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In practice, the application of XP has proved to be more difficult than anticipated. It cannot be readily integrated with the management practices and culture of most businesses.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XP难于应用</a:t>
            </a:r>
            <a:r>
              <a:rPr lang="en-US" sz="3100" dirty="0" smtClean="0">
                <a:solidFill>
                  <a:schemeClr val="accent2">
                    <a:lumMod val="75000"/>
                  </a:schemeClr>
                </a:solidFill>
                <a:latin typeface="Calibri" panose="020F0502020204030204" charset="0"/>
                <a:cs typeface="Calibri" panose="020F0502020204030204" charset="0"/>
              </a:rPr>
              <a:t>   </a:t>
            </a:r>
            <a:endParaRPr lang="en-US"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So, companies choose those XP practices that are most appropriate for their way of working.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选适合的</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Key practices   </a:t>
            </a:r>
            <a:endParaRPr lang="en-US"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US" sz="2800" dirty="0" smtClean="0">
                <a:latin typeface="Calibri" panose="020F0502020204030204" charset="0"/>
                <a:cs typeface="Calibri" panose="020F0502020204030204" charset="0"/>
              </a:rPr>
              <a:t>User stories for specification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规格说明：用户故事</a:t>
            </a:r>
            <a:endParaRPr lang="en-US" sz="2800" dirty="0" smtClean="0">
              <a:latin typeface="Calibri" panose="020F0502020204030204" charset="0"/>
              <a:cs typeface="Calibri" panose="020F0502020204030204" charset="0"/>
            </a:endParaRPr>
          </a:p>
          <a:p>
            <a:pPr lvl="1">
              <a:lnSpc>
                <a:spcPct val="90000"/>
              </a:lnSpc>
              <a:spcBef>
                <a:spcPts val="800"/>
              </a:spcBef>
              <a:spcAft>
                <a:spcPts val="0"/>
              </a:spcAft>
            </a:pPr>
            <a:r>
              <a:rPr lang="en-US" sz="2800" dirty="0" smtClean="0">
                <a:latin typeface="Calibri" panose="020F0502020204030204" charset="0"/>
                <a:cs typeface="Calibri" panose="020F0502020204030204" charset="0"/>
              </a:rPr>
              <a:t>Refactoring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重构</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800"/>
              </a:spcBef>
              <a:spcAft>
                <a:spcPts val="0"/>
              </a:spcAft>
            </a:pPr>
            <a:r>
              <a:rPr lang="en-US" sz="2800" dirty="0" smtClean="0">
                <a:latin typeface="Calibri" panose="020F0502020204030204" charset="0"/>
                <a:cs typeface="Calibri" panose="020F0502020204030204" charset="0"/>
              </a:rPr>
              <a:t>Test-first development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测试先行的开发</a:t>
            </a:r>
            <a:endParaRPr lang="en-US" sz="2800" dirty="0" smtClean="0">
              <a:latin typeface="Calibri" panose="020F0502020204030204" charset="0"/>
              <a:cs typeface="Calibri" panose="020F0502020204030204" charset="0"/>
            </a:endParaRPr>
          </a:p>
          <a:p>
            <a:pPr lvl="1">
              <a:lnSpc>
                <a:spcPct val="90000"/>
              </a:lnSpc>
              <a:spcBef>
                <a:spcPts val="800"/>
              </a:spcBef>
              <a:spcAft>
                <a:spcPts val="0"/>
              </a:spcAft>
            </a:pPr>
            <a:r>
              <a:rPr lang="en-US" sz="2800" dirty="0" smtClean="0">
                <a:latin typeface="Calibri" panose="020F0502020204030204" charset="0"/>
                <a:cs typeface="Calibri" panose="020F0502020204030204" charset="0"/>
              </a:rPr>
              <a:t>Pair programming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结对编程</a:t>
            </a:r>
            <a:endParaRPr lang="zh-CN" altLang="en-US" sz="2800" dirty="0" smtClean="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2480"/>
            <a:ext cx="8977630" cy="5448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User stories for requirements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用户故事</a:t>
            </a:r>
            <a:r>
              <a:rPr lang="en-US" altLang="zh-CN"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-&gt;</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需求</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9690" y="1384935"/>
            <a:ext cx="9006840" cy="51790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In XP, a customer or user is part of the XP team and is responsible for making decisions on requirements.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在XP中，客户是团队组成部分，负责需求决策</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User requirements are expressed as user stories or scenarios.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用户需求表达为用户故事或场景</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These are written on cards and the development team break them down into implementation tasks. These tasks are the basis of schedule and cost estimates.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写在卡片上</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分解为任务</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-&gt;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调度</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成本评估</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customer chooses the stories for inclusion in the next release based on their priorities and the schedule estimates.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客户选择哪些故事在下一个版本实现</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7710"/>
            <a:ext cx="8977630" cy="5981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 </a:t>
            </a:r>
            <a:r>
              <a:rPr lang="en-US" altLang="zh-CN" sz="3200" dirty="0">
                <a:solidFill>
                  <a:schemeClr val="accent1">
                    <a:lumMod val="75000"/>
                  </a:schemeClr>
                </a:solidFill>
                <a:ea typeface="宋体" panose="02010600030101010101" pitchFamily="2" charset="-122"/>
                <a:sym typeface="+mn-ea"/>
              </a:rPr>
              <a:t>“</a:t>
            </a:r>
            <a:r>
              <a:rPr lang="zh-CN" altLang="en-US" sz="3200" dirty="0">
                <a:solidFill>
                  <a:schemeClr val="accent1">
                    <a:lumMod val="75000"/>
                  </a:schemeClr>
                </a:solidFill>
                <a:ea typeface="宋体" panose="02010600030101010101" pitchFamily="2" charset="-122"/>
                <a:sym typeface="+mn-ea"/>
              </a:rPr>
              <a:t>prescribing medication</a:t>
            </a:r>
            <a:r>
              <a:rPr lang="en-US" altLang="zh-CN" sz="3200" dirty="0">
                <a:solidFill>
                  <a:schemeClr val="accent1">
                    <a:lumMod val="75000"/>
                  </a:schemeClr>
                </a:solidFill>
                <a:ea typeface="宋体" panose="02010600030101010101" pitchFamily="2" charset="-122"/>
                <a:sym typeface="+mn-ea"/>
              </a:rPr>
              <a:t>”</a:t>
            </a:r>
            <a:r>
              <a:rPr lang="zh-CN" altLang="en-US" sz="3200" dirty="0">
                <a:solidFill>
                  <a:schemeClr val="accent1">
                    <a:lumMod val="75000"/>
                  </a:schemeClr>
                </a:solidFill>
                <a:ea typeface="宋体" panose="02010600030101010101" pitchFamily="2" charset="-122"/>
                <a:sym typeface="+mn-ea"/>
              </a:rPr>
              <a:t> story</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2392680" y="1266190"/>
            <a:ext cx="6601460" cy="5411470"/>
          </a:xfrm>
          <a:prstGeom prst="rect">
            <a:avLst/>
          </a:prstGeom>
        </p:spPr>
      </p:pic>
      <p:sp>
        <p:nvSpPr>
          <p:cNvPr id="5" name="Rectangle 3"/>
          <p:cNvSpPr>
            <a:spLocks noGrp="1" noRot="1"/>
          </p:cNvSpPr>
          <p:nvPr>
            <p:custDataLst>
              <p:tags r:id="rId4"/>
            </p:custDataLst>
          </p:nvPr>
        </p:nvSpPr>
        <p:spPr>
          <a:xfrm>
            <a:off x="130810" y="2007870"/>
            <a:ext cx="2261870" cy="340106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800"/>
              </a:spcBef>
              <a:buSzTx/>
              <a:buFont typeface="Wingdings" panose="05000000000000000000" pitchFamily="2" charset="2"/>
              <a:buNone/>
            </a:pPr>
            <a:r>
              <a:rPr lang="en-US" altLang="zh-CN" sz="2100" b="0" dirty="0">
                <a:solidFill>
                  <a:schemeClr val="tx1"/>
                </a:solidFill>
                <a:ea typeface="宋体" panose="02010600030101010101" pitchFamily="2" charset="-122"/>
                <a:sym typeface="Symbol" panose="05050102010706020507" charset="0"/>
              </a:rPr>
              <a:t> </a:t>
            </a:r>
            <a:r>
              <a:rPr lang="en-US" altLang="zh-CN" sz="2100" b="0" dirty="0">
                <a:solidFill>
                  <a:schemeClr val="tx1"/>
                </a:solidFill>
                <a:ea typeface="宋体" panose="02010600030101010101" pitchFamily="2" charset="-122"/>
                <a:sym typeface="+mn-ea"/>
              </a:rPr>
              <a:t>An example of a story card for the Mentcare system is shown in Figure 3.5.</a:t>
            </a:r>
            <a:endParaRPr lang="en-US" altLang="zh-CN" sz="2100" b="0" dirty="0">
              <a:solidFill>
                <a:schemeClr val="tx1"/>
              </a:solidFill>
              <a:ea typeface="宋体" panose="02010600030101010101" pitchFamily="2" charset="-122"/>
              <a:sym typeface="+mn-ea"/>
            </a:endParaRPr>
          </a:p>
          <a:p>
            <a:pPr marL="0" indent="0" algn="l" eaLnBrk="1" hangingPunct="1">
              <a:lnSpc>
                <a:spcPct val="90000"/>
              </a:lnSpc>
              <a:spcBef>
                <a:spcPts val="800"/>
              </a:spcBef>
              <a:buSzTx/>
              <a:buFont typeface="Wingdings" panose="05000000000000000000" pitchFamily="2" charset="2"/>
              <a:buNone/>
            </a:pPr>
            <a:r>
              <a:rPr lang="en-US" altLang="zh-CN" sz="2100" b="0" dirty="0">
                <a:ea typeface="宋体" panose="02010600030101010101" pitchFamily="2" charset="-122"/>
                <a:sym typeface="Symbol" panose="05050102010706020507" charset="0"/>
              </a:rPr>
              <a:t> </a:t>
            </a:r>
            <a:r>
              <a:rPr lang="en-US" altLang="zh-CN" sz="2100" b="0" dirty="0">
                <a:solidFill>
                  <a:schemeClr val="tx1"/>
                </a:solidFill>
                <a:ea typeface="宋体" panose="02010600030101010101" pitchFamily="2" charset="-122"/>
                <a:sym typeface="+mn-ea"/>
              </a:rPr>
              <a:t>This is a short description of a scenario for prescribing medication for a patient.</a:t>
            </a:r>
            <a:endParaRPr lang="en-US" altLang="zh-CN" sz="2100" b="0" dirty="0">
              <a:solidFill>
                <a:schemeClr val="tx1"/>
              </a:solidFill>
              <a:ea typeface="宋体" panose="02010600030101010101" pitchFamily="2" charset="-122"/>
              <a:sym typeface="+mn-ea"/>
            </a:endParaRPr>
          </a:p>
        </p:txBody>
      </p:sp>
      <p:pic>
        <p:nvPicPr>
          <p:cNvPr id="2" name="图片 1"/>
          <p:cNvPicPr>
            <a:picLocks noChangeAspect="1"/>
          </p:cNvPicPr>
          <p:nvPr/>
        </p:nvPicPr>
        <p:blipFill>
          <a:blip r:embed="rId5"/>
          <a:stretch>
            <a:fillRect/>
          </a:stretch>
        </p:blipFill>
        <p:spPr>
          <a:xfrm>
            <a:off x="899160" y="909955"/>
            <a:ext cx="8956040" cy="4895215"/>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7710"/>
            <a:ext cx="8977630" cy="6121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Examples of task cards for prescribing medication</a:t>
            </a:r>
            <a:endParaRPr lang="zh-CN" altLang="en-US" sz="27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2184400" y="1471930"/>
            <a:ext cx="6851650" cy="4832350"/>
          </a:xfrm>
          <a:prstGeom prst="rect">
            <a:avLst/>
          </a:prstGeom>
        </p:spPr>
      </p:pic>
      <p:sp>
        <p:nvSpPr>
          <p:cNvPr id="5" name="Rectangle 3"/>
          <p:cNvSpPr>
            <a:spLocks noGrp="1" noRot="1"/>
          </p:cNvSpPr>
          <p:nvPr>
            <p:custDataLst>
              <p:tags r:id="rId4"/>
            </p:custDataLst>
          </p:nvPr>
        </p:nvSpPr>
        <p:spPr>
          <a:xfrm>
            <a:off x="130810" y="1362075"/>
            <a:ext cx="2113915" cy="488188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800"/>
              </a:spcBef>
              <a:buSzTx/>
              <a:buFont typeface="Wingdings" panose="05000000000000000000" pitchFamily="2" charset="2"/>
              <a:buNone/>
            </a:pPr>
            <a:r>
              <a:rPr lang="en-US" altLang="zh-CN" sz="2000" b="0" dirty="0">
                <a:solidFill>
                  <a:schemeClr val="tx1"/>
                </a:solidFill>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User stories may be used in planning system iterations. </a:t>
            </a:r>
            <a:endParaRPr lang="en-US" altLang="zh-CN" sz="2000" b="0" dirty="0">
              <a:solidFill>
                <a:schemeClr val="tx1"/>
              </a:solidFill>
              <a:ea typeface="宋体" panose="02010600030101010101" pitchFamily="2" charset="-122"/>
              <a:sym typeface="+mn-ea"/>
            </a:endParaRPr>
          </a:p>
          <a:p>
            <a:pPr marL="0" indent="0" algn="l" eaLnBrk="1" hangingPunct="1">
              <a:lnSpc>
                <a:spcPct val="90000"/>
              </a:lnSpc>
              <a:spcBef>
                <a:spcPts val="800"/>
              </a:spcBef>
              <a:buSzTx/>
              <a:buFont typeface="Wingdings" panose="05000000000000000000" pitchFamily="2" charset="2"/>
              <a:buNone/>
            </a:pPr>
            <a:r>
              <a:rPr lang="en-US" altLang="zh-CN" sz="2000" b="0" dirty="0">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Once the story cards have been developed, the development team breaks these down into tasks (Figure 3.6) and estimates the effort and resources required for implementing each task.</a:t>
            </a:r>
            <a:endParaRPr lang="en-US" altLang="zh-CN" sz="2000" b="0" dirty="0">
              <a:solidFill>
                <a:schemeClr val="tx1"/>
              </a:solidFill>
              <a:ea typeface="宋体" panose="02010600030101010101" pitchFamily="2" charset="-122"/>
              <a:sym typeface="+mn-ea"/>
            </a:endParaRPr>
          </a:p>
        </p:txBody>
      </p:sp>
      <p:sp>
        <p:nvSpPr>
          <p:cNvPr id="3" name="Rectangle 3"/>
          <p:cNvSpPr>
            <a:spLocks noGrp="1" noRot="1"/>
          </p:cNvSpPr>
          <p:nvPr>
            <p:custDataLst>
              <p:tags r:id="rId5"/>
            </p:custDataLst>
          </p:nvPr>
        </p:nvSpPr>
        <p:spPr>
          <a:xfrm>
            <a:off x="6745605" y="1644015"/>
            <a:ext cx="1259205" cy="41529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修改剂量</a:t>
            </a:r>
            <a:endParaRPr lang="zh-CN" altLang="en-US" sz="20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6" name="Rectangle 3"/>
          <p:cNvSpPr>
            <a:spLocks noGrp="1" noRot="1"/>
          </p:cNvSpPr>
          <p:nvPr>
            <p:custDataLst>
              <p:tags r:id="rId6"/>
            </p:custDataLst>
          </p:nvPr>
        </p:nvSpPr>
        <p:spPr>
          <a:xfrm>
            <a:off x="5939790" y="2201545"/>
            <a:ext cx="1259205" cy="41529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处方选择</a:t>
            </a:r>
            <a:endParaRPr lang="zh-CN" altLang="en-US" sz="20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7" name="Rectangle 3"/>
          <p:cNvSpPr>
            <a:spLocks noGrp="1" noRot="1"/>
          </p:cNvSpPr>
          <p:nvPr>
            <p:custDataLst>
              <p:tags r:id="rId7"/>
            </p:custDataLst>
          </p:nvPr>
        </p:nvSpPr>
        <p:spPr>
          <a:xfrm>
            <a:off x="5939790" y="2775585"/>
            <a:ext cx="1259205" cy="41529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剂量检查</a:t>
            </a:r>
            <a:endParaRPr lang="zh-CN" altLang="en-US" sz="2000" dirty="0">
              <a:solidFill>
                <a:schemeClr val="accent1">
                  <a:lumMod val="75000"/>
                </a:schemeClr>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9465"/>
            <a:ext cx="8977630" cy="6121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Refactoring</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88900" y="1384935"/>
            <a:ext cx="8928735" cy="47136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Conventional wisdom in software engineering is to design for change. It is worth spending time and effort anticipating changes as this reduces costs later in the life cycle.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传统：设计时考虑改变</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XP, however, maintains that this is not worthwhile as changes cannot be reliably anticipated.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 XP：不值得，变化不能可靠地预见</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Rather, it proposes constant code improvement (refactoring) to make changes easier when they have to be implemented.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应经常性地改进（重构）代码</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7710"/>
            <a:ext cx="8977630" cy="6121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Refactoring</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重构</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124460" y="1241425"/>
            <a:ext cx="8893175" cy="53505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Programming team look for possible software improvements and make these improvements even where there is no immediate need for them.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寻找并实施改进，即使并非急需</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In incremental development, local changes tend to degrade the software structure. Refactoring improves the software structure and readability and so changes are easier to make.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重构改进了软件结构，更易实施变化</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Some changes cannot readily be made by code-level refactoring and require the architecture of the system be modified.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难点:当体系结构需要变化时</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9465"/>
            <a:ext cx="8977630" cy="6121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Examples of refactoring</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重构例子</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95885" y="1384935"/>
            <a:ext cx="8921750" cy="50012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Re-organization of a class hierarchy to remove duplicate code.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类层次重组，消除重复代码</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Tidying up and renaming attributes and methods to make them easier to understand.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整理，重命名属性和方法使易于理解</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 replacement of inline code with calls to methods that have been included in a program library.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用方法调用替代</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内联代码</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Program development environments usually include tools for refactoring.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开发环境中通常包含重构工具</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9145"/>
            <a:ext cx="8977630" cy="5607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Test-first development</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测试先行的开发</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9535" y="1313180"/>
            <a:ext cx="8951595" cy="52273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XP developed a new approach to program testing to address the difficulties of testing without a specification.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XP: 无规格说明下的测试</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Testing is automated and central to XP.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自动化</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核心</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In XP, the program is tested after every change has been made.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每做改变后，即做测试</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XP testing features: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XP测试的特性</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Test-first development,</a:t>
            </a:r>
            <a:endParaRPr lang="en-US"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Incremental test development from scenarios,</a:t>
            </a:r>
            <a:endParaRPr lang="en-US"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User involvement in test development and validation,</a:t>
            </a:r>
            <a:endParaRPr lang="en-US"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the use of automated testing frameworks.</a:t>
            </a:r>
            <a:endParaRPr lang="en-US" sz="2800" b="0" dirty="0" smtClean="0">
              <a:latin typeface="Calibri" panose="020F0502020204030204" charset="0"/>
              <a:cs typeface="Calibri" panose="020F0502020204030204"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9465"/>
            <a:ext cx="8977630" cy="6121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Test-driven development</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测试驱动的开发</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2550" y="1384935"/>
            <a:ext cx="8969375" cy="50990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XP’s test-first philosophy has now evolved into more general test-driven development techniques.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更广义</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Writing tests before code clarifies the requirements to be implemented.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编写代码前写测试，澄清需求</a:t>
            </a:r>
            <a:endParaRPr lang="en-US" sz="30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800"/>
              </a:spcBef>
              <a:spcAft>
                <a:spcPts val="0"/>
              </a:spcAft>
              <a:buClrTx/>
              <a:buSzTx/>
            </a:pPr>
            <a:r>
              <a:rPr lang="en-US" sz="3000" dirty="0" smtClean="0">
                <a:solidFill>
                  <a:schemeClr val="accent2">
                    <a:lumMod val="75000"/>
                  </a:schemeClr>
                </a:solidFill>
                <a:latin typeface="Calibri" panose="020F0502020204030204" charset="0"/>
                <a:cs typeface="Calibri" panose="020F0502020204030204" charset="0"/>
              </a:rPr>
              <a:t> Tests are written as programs so that they can be executed automatically. The test includes a check that it has executed correctly.</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测试内含check,可自动运行</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gn="l">
              <a:lnSpc>
                <a:spcPct val="90000"/>
              </a:lnSpc>
              <a:spcBef>
                <a:spcPts val="800"/>
              </a:spcBef>
              <a:spcAft>
                <a:spcPts val="0"/>
              </a:spcAft>
            </a:pPr>
            <a:r>
              <a:rPr lang="en-US" sz="3000" b="0" dirty="0" smtClean="0">
                <a:latin typeface="Calibri" panose="020F0502020204030204" charset="0"/>
                <a:cs typeface="Calibri" panose="020F0502020204030204" charset="0"/>
                <a:sym typeface="+mn-ea"/>
              </a:rPr>
              <a:t>Usually relies on a testing framework such as Junit.</a:t>
            </a:r>
            <a:endParaRPr lang="en-US" sz="3000" b="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All previous and new tests are run automatically when new functionality is added, checking that the new functionality has not introduced errors.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检查错误</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950"/>
            <a:ext cx="8977630" cy="5969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Customer involvement</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客户参与</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112395" y="1313180"/>
            <a:ext cx="8905240" cy="51365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The role of the customer in the testing process is to help develop </a:t>
            </a:r>
            <a:r>
              <a:rPr lang="en-US" sz="3200" u="sng" dirty="0" smtClean="0">
                <a:solidFill>
                  <a:schemeClr val="accent2">
                    <a:lumMod val="75000"/>
                  </a:schemeClr>
                </a:solidFill>
                <a:latin typeface="Calibri" panose="020F0502020204030204" charset="0"/>
                <a:cs typeface="Calibri" panose="020F0502020204030204" charset="0"/>
              </a:rPr>
              <a:t>acceptance tests</a:t>
            </a:r>
            <a:r>
              <a:rPr lang="en-US" sz="3200" dirty="0" smtClean="0">
                <a:solidFill>
                  <a:schemeClr val="accent2">
                    <a:lumMod val="75000"/>
                  </a:schemeClr>
                </a:solidFill>
                <a:latin typeface="Calibri" panose="020F0502020204030204" charset="0"/>
                <a:cs typeface="Calibri" panose="020F0502020204030204" charset="0"/>
              </a:rPr>
              <a:t> for the stories that are to be implemented.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角色</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帮助开发验收测试</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The customer who is part of the team writes tests as development proceeds. All new code is therefore validated to ensure that it is what the customer needs.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客户写测试，确认新代码是客户所需</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
        <p:nvSpPr>
          <p:cNvPr id="5" name="Rectangle 3"/>
          <p:cNvSpPr>
            <a:spLocks noGrp="1" noRot="1"/>
          </p:cNvSpPr>
          <p:nvPr>
            <p:custDataLst>
              <p:tags r:id="rId3"/>
            </p:custDataLst>
          </p:nvPr>
        </p:nvSpPr>
        <p:spPr>
          <a:xfrm>
            <a:off x="56515" y="4663440"/>
            <a:ext cx="8971915" cy="184277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800"/>
              </a:spcBef>
              <a:buSzTx/>
              <a:buFont typeface="Wingdings" panose="05000000000000000000" pitchFamily="2" charset="2"/>
              <a:buNone/>
            </a:pPr>
            <a:r>
              <a:rPr lang="en-US" altLang="zh-CN" sz="2000" b="0" dirty="0">
                <a:solidFill>
                  <a:schemeClr val="tx1"/>
                </a:solidFill>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XP’s test-first approach assumes that user stories have been developed, and these have been broken down into a set of task cards, as shown in Figure 3.6. Each task generates one or more unit tests that check the implementation described in that task. </a:t>
            </a:r>
            <a:endParaRPr lang="en-US" altLang="zh-CN" sz="2000" b="0" dirty="0">
              <a:solidFill>
                <a:schemeClr val="tx1"/>
              </a:solidFill>
              <a:ea typeface="宋体" panose="02010600030101010101" pitchFamily="2" charset="-122"/>
              <a:sym typeface="+mn-ea"/>
            </a:endParaRPr>
          </a:p>
          <a:p>
            <a:pPr marL="0" indent="0" algn="l" eaLnBrk="1" hangingPunct="1">
              <a:lnSpc>
                <a:spcPct val="90000"/>
              </a:lnSpc>
              <a:spcBef>
                <a:spcPts val="800"/>
              </a:spcBef>
              <a:buSzTx/>
              <a:buFont typeface="Wingdings" panose="05000000000000000000" pitchFamily="2" charset="2"/>
              <a:buNone/>
            </a:pPr>
            <a:r>
              <a:rPr lang="en-US" altLang="zh-CN" sz="2000" b="0" dirty="0">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Figure 3.7 is a shortened description of a test case that has been developed to check that the prescribed dose of a drug does not fall outside safe limits.</a:t>
            </a:r>
            <a:endParaRPr lang="en-US" altLang="zh-CN" sz="2000" b="0" dirty="0">
              <a:solidFill>
                <a:schemeClr val="tx1"/>
              </a:solidFill>
              <a:ea typeface="宋体" panose="02010600030101010101" pitchFamily="2" charset="-122"/>
              <a:sym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950"/>
            <a:ext cx="8977630" cy="5969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Test case description for dose checking</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34620" y="1340485"/>
            <a:ext cx="8954135" cy="4723130"/>
          </a:xfrm>
          <a:prstGeom prst="rect">
            <a:avLst/>
          </a:prstGeom>
        </p:spPr>
      </p:pic>
      <p:pic>
        <p:nvPicPr>
          <p:cNvPr id="2" name="图片 1"/>
          <p:cNvPicPr>
            <a:picLocks noChangeAspect="1"/>
          </p:cNvPicPr>
          <p:nvPr/>
        </p:nvPicPr>
        <p:blipFill>
          <a:blip r:embed="rId4"/>
          <a:stretch>
            <a:fillRect/>
          </a:stretch>
        </p:blipFill>
        <p:spPr>
          <a:xfrm>
            <a:off x="361950" y="1485265"/>
            <a:ext cx="8475345" cy="4822825"/>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0575"/>
            <a:ext cx="8977630" cy="5524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Test automation</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测试自动化</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9530" y="1384935"/>
            <a:ext cx="9017000" cy="47796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Test automation means that tests are written as executable components before the task is implemented</a:t>
            </a:r>
            <a:r>
              <a:rPr lang="en-GB" sz="3000" dirty="0" smtClean="0">
                <a:latin typeface="Calibri" panose="020F0502020204030204" charset="0"/>
                <a:cs typeface="Calibri" panose="020F0502020204030204" charset="0"/>
              </a:rPr>
              <a:t> </a:t>
            </a:r>
            <a:r>
              <a:rPr lang="en-US" altLang="en-GB" sz="3000" dirty="0" smtClean="0">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意思：测试写成可执行组件</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GB" sz="2600" b="0" dirty="0" smtClean="0">
                <a:latin typeface="Calibri" panose="020F0502020204030204" charset="0"/>
                <a:cs typeface="Calibri" panose="020F0502020204030204" charset="0"/>
              </a:rPr>
              <a:t>These testing components should be stand-alone, should simulate the submission of input to be tested and should check that the result meets the output specification.</a:t>
            </a:r>
            <a:endParaRPr lang="en-GB" sz="2600" b="0" dirty="0" smtClean="0">
              <a:latin typeface="Calibri" panose="020F0502020204030204" charset="0"/>
              <a:cs typeface="Calibri" panose="020F0502020204030204" charset="0"/>
            </a:endParaRPr>
          </a:p>
          <a:p>
            <a:pPr lvl="1">
              <a:lnSpc>
                <a:spcPct val="85000"/>
              </a:lnSpc>
              <a:spcBef>
                <a:spcPts val="600"/>
              </a:spcBef>
              <a:spcAft>
                <a:spcPts val="0"/>
              </a:spcAft>
            </a:pPr>
            <a:r>
              <a:rPr lang="en-GB" sz="2600" b="0" dirty="0" smtClean="0">
                <a:latin typeface="Calibri" panose="020F0502020204030204" charset="0"/>
                <a:cs typeface="Calibri" panose="020F0502020204030204" charset="0"/>
              </a:rPr>
              <a:t> An automated test framework (e.g. </a:t>
            </a:r>
            <a:r>
              <a:rPr lang="en-GB" sz="2600" b="0" dirty="0" err="1" smtClean="0">
                <a:latin typeface="Calibri" panose="020F0502020204030204" charset="0"/>
                <a:cs typeface="Calibri" panose="020F0502020204030204" charset="0"/>
              </a:rPr>
              <a:t>Junit</a:t>
            </a:r>
            <a:r>
              <a:rPr lang="en-GB" sz="2600" b="0" dirty="0" smtClean="0">
                <a:latin typeface="Calibri" panose="020F0502020204030204" charset="0"/>
                <a:cs typeface="Calibri" panose="020F0502020204030204" charset="0"/>
              </a:rPr>
              <a:t>) is a system that makes it easy to write executable tests and submit a set of tests for execution. </a:t>
            </a:r>
            <a:endParaRPr lang="en-GB" sz="2600" b="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sym typeface="+mn-ea"/>
              </a:rPr>
              <a:t>Whenever any functionality is added to the system, the tests can be run and problems that the new code has introduced can be caught immediately</a:t>
            </a:r>
            <a:r>
              <a:rPr lang="en-US" altLang="en-GB" sz="3000" dirty="0" smtClean="0">
                <a:solidFill>
                  <a:schemeClr val="accent2">
                    <a:lumMod val="75000"/>
                  </a:schemeClr>
                </a:solidFill>
                <a:latin typeface="Calibri" panose="020F0502020204030204" charset="0"/>
                <a:cs typeface="Calibri" panose="020F0502020204030204" charset="0"/>
                <a:sym typeface="+mn-ea"/>
              </a:rPr>
              <a:t>.</a:t>
            </a:r>
            <a:endParaRPr lang="zh-CN" altLang="en-GB" sz="2600" b="0" dirty="0" smtClean="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7710"/>
            <a:ext cx="8977630" cy="6121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Problems with test-first development</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问题</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50800" y="1241425"/>
            <a:ext cx="9016365" cy="53562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Programmers prefer programming to testing and sometimes they take short cuts when writing tests. For example, they may write incomplete tests that do not check for all possible exceptions.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走捷径</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不完备</a:t>
            </a:r>
            <a:endParaRPr lang="en-US" sz="3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Some tests can be very difficult to write incrementally. For example, in a complex user interface, it is often difficult to write unit tests for the code that implements the “display logic” and workflow between screens.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增量式写测试会很困难</a:t>
            </a:r>
            <a:endParaRPr lang="en-US" sz="3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It difficult to judge the completeness of a set of tests. Your test set may not provide complete coverage.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 判断一组测试的完备性是困难的</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0725"/>
            <a:ext cx="8977630" cy="5213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Pair programming</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结对编程</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38735" y="1241425"/>
            <a:ext cx="9028430" cy="53721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P</a:t>
            </a:r>
            <a:r>
              <a:rPr lang="en-US" sz="3000" dirty="0" smtClean="0">
                <a:solidFill>
                  <a:schemeClr val="accent2">
                    <a:lumMod val="75000"/>
                  </a:schemeClr>
                </a:solidFill>
                <a:latin typeface="Calibri" panose="020F0502020204030204" charset="0"/>
                <a:cs typeface="Calibri" panose="020F0502020204030204" charset="0"/>
                <a:sym typeface="+mn-ea"/>
              </a:rPr>
              <a:t>rogrammers work in pairs to develop code. The programming pair sits at the same computer to develop the software. </a:t>
            </a:r>
            <a:r>
              <a:rPr lang="en-US" sz="3000" dirty="0" smtClean="0">
                <a:solidFill>
                  <a:schemeClr val="accent2">
                    <a:lumMod val="75000"/>
                  </a:schemeClr>
                </a:solidFill>
                <a:latin typeface="Calibri" panose="020F0502020204030204" charset="0"/>
                <a:cs typeface="Calibri" panose="020F0502020204030204" charset="0"/>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结对、坐在同一台电脑前开发</a:t>
            </a:r>
            <a:endParaRPr lang="en-US"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sym typeface="+mn-ea"/>
              </a:rPr>
              <a:t> However, the same pair do not always program together. Rather, pairs are created dynamically so that all team members work with each other during the development process.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动态结对</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Many companies are suspicious of pair programming and do not use it. Other companies mix pair and individual programming, </a:t>
            </a:r>
            <a:r>
              <a:rPr lang="en-US" sz="2600" b="0" dirty="0" smtClean="0">
                <a:solidFill>
                  <a:schemeClr val="tx1"/>
                </a:solidFill>
                <a:latin typeface="Calibri" panose="020F0502020204030204" charset="0"/>
                <a:cs typeface="Calibri" panose="020F0502020204030204" charset="0"/>
              </a:rPr>
              <a:t>experienced + less experienced colleague when they have problems</a:t>
            </a:r>
            <a:r>
              <a:rPr lang="en-US" sz="30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怀疑，混合</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Formal studies of the value of pair programming have had mixed results.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正式研究有不同结果</a:t>
            </a:r>
            <a:endParaRPr lang="zh-CN" altLang="en-US" sz="30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2480"/>
            <a:ext cx="8977630" cy="5213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Pair programming</a:t>
            </a:r>
            <a:r>
              <a:rPr lang="en-US" altLang="zh-CN" sz="3200" dirty="0">
                <a:solidFill>
                  <a:schemeClr val="accent1">
                    <a:lumMod val="75000"/>
                  </a:schemeClr>
                </a:solidFill>
                <a:ea typeface="宋体" panose="02010600030101010101" pitchFamily="2" charset="-122"/>
                <a:sym typeface="+mn-ea"/>
              </a:rPr>
              <a:t>-advantages</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124460" y="1456690"/>
            <a:ext cx="8893175" cy="46850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It supports the idea of collective ownership and responsibility for the system.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共同拥有，</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共同</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责任</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It acts as an informal review process because each line of code is looked at by at least two people. It is cheaper and easier to organize than formal program inspections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充当非正式评审</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It encourages refactoring to improve the software structure. Others benefit immediately from the refactoring so they are likely to support the process.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鼓励重构</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78815"/>
            <a:ext cx="8977630" cy="5695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project management</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敏捷项目管理</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88900" y="1241425"/>
            <a:ext cx="8977630" cy="54483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2900" dirty="0" smtClean="0">
                <a:solidFill>
                  <a:schemeClr val="accent2">
                    <a:lumMod val="75000"/>
                  </a:schemeClr>
                </a:solidFill>
                <a:latin typeface="Calibri" panose="020F0502020204030204" charset="0"/>
                <a:cs typeface="Calibri" panose="020F0502020204030204" charset="0"/>
              </a:rPr>
              <a:t> The principal </a:t>
            </a:r>
            <a:r>
              <a:rPr lang="en-US" sz="2900" u="sng" dirty="0" smtClean="0">
                <a:solidFill>
                  <a:schemeClr val="accent2">
                    <a:lumMod val="75000"/>
                  </a:schemeClr>
                </a:solidFill>
                <a:latin typeface="Calibri" panose="020F0502020204030204" charset="0"/>
                <a:cs typeface="Calibri" panose="020F0502020204030204" charset="0"/>
              </a:rPr>
              <a:t>responsibility</a:t>
            </a:r>
            <a:r>
              <a:rPr lang="en-US" sz="2900" dirty="0" smtClean="0">
                <a:solidFill>
                  <a:schemeClr val="accent2">
                    <a:lumMod val="75000"/>
                  </a:schemeClr>
                </a:solidFill>
                <a:latin typeface="Calibri" panose="020F0502020204030204" charset="0"/>
                <a:cs typeface="Calibri" panose="020F0502020204030204" charset="0"/>
              </a:rPr>
              <a:t> of software </a:t>
            </a:r>
            <a:r>
              <a:rPr lang="en-US" sz="2900" u="sng" dirty="0" smtClean="0">
                <a:solidFill>
                  <a:schemeClr val="accent2">
                    <a:lumMod val="75000"/>
                  </a:schemeClr>
                </a:solidFill>
                <a:latin typeface="Calibri" panose="020F0502020204030204" charset="0"/>
                <a:cs typeface="Calibri" panose="020F0502020204030204" charset="0"/>
              </a:rPr>
              <a:t>project managers</a:t>
            </a:r>
            <a:r>
              <a:rPr lang="en-US" sz="2900" dirty="0" smtClean="0">
                <a:solidFill>
                  <a:schemeClr val="accent2">
                    <a:lumMod val="75000"/>
                  </a:schemeClr>
                </a:solidFill>
                <a:latin typeface="Calibri" panose="020F0502020204030204" charset="0"/>
                <a:cs typeface="Calibri" panose="020F0502020204030204" charset="0"/>
              </a:rPr>
              <a:t> is to manage the project so that the software is delivered </a:t>
            </a:r>
            <a:r>
              <a:rPr lang="en-US" sz="2900" u="sng" dirty="0" smtClean="0">
                <a:solidFill>
                  <a:schemeClr val="accent2">
                    <a:lumMod val="75000"/>
                  </a:schemeClr>
                </a:solidFill>
                <a:latin typeface="Calibri" panose="020F0502020204030204" charset="0"/>
                <a:cs typeface="Calibri" panose="020F0502020204030204" charset="0"/>
              </a:rPr>
              <a:t>on time</a:t>
            </a:r>
            <a:r>
              <a:rPr lang="en-US" sz="2900" dirty="0" smtClean="0">
                <a:solidFill>
                  <a:schemeClr val="accent2">
                    <a:lumMod val="75000"/>
                  </a:schemeClr>
                </a:solidFill>
                <a:latin typeface="Calibri" panose="020F0502020204030204" charset="0"/>
                <a:cs typeface="Calibri" panose="020F0502020204030204" charset="0"/>
              </a:rPr>
              <a:t> and within the planned </a:t>
            </a:r>
            <a:r>
              <a:rPr lang="en-US" sz="2900" u="sng" dirty="0" smtClean="0">
                <a:solidFill>
                  <a:schemeClr val="accent2">
                    <a:lumMod val="75000"/>
                  </a:schemeClr>
                </a:solidFill>
                <a:latin typeface="Calibri" panose="020F0502020204030204" charset="0"/>
                <a:cs typeface="Calibri" panose="020F0502020204030204" charset="0"/>
              </a:rPr>
              <a:t>budget</a:t>
            </a:r>
            <a:r>
              <a:rPr lang="en-US" sz="2900" dirty="0" smtClean="0">
                <a:solidFill>
                  <a:schemeClr val="accent2">
                    <a:lumMod val="75000"/>
                  </a:schemeClr>
                </a:solidFill>
                <a:latin typeface="Calibri" panose="020F0502020204030204" charset="0"/>
                <a:cs typeface="Calibri" panose="020F0502020204030204" charset="0"/>
              </a:rPr>
              <a:t> for the project. </a:t>
            </a:r>
            <a:r>
              <a:rPr lang="en-US" sz="30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项目经理的责任：按时交付，预算之内</a:t>
            </a:r>
            <a:endParaRPr lang="en-US" sz="3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2900" dirty="0" smtClean="0">
                <a:solidFill>
                  <a:schemeClr val="accent2">
                    <a:lumMod val="75000"/>
                  </a:schemeClr>
                </a:solidFill>
                <a:latin typeface="Calibri" panose="020F0502020204030204" charset="0"/>
                <a:cs typeface="Calibri" panose="020F0502020204030204" charset="0"/>
              </a:rPr>
              <a:t> The standard approach to project management is </a:t>
            </a:r>
            <a:r>
              <a:rPr lang="en-US" sz="2900" u="sng" dirty="0" smtClean="0">
                <a:solidFill>
                  <a:schemeClr val="accent2">
                    <a:lumMod val="75000"/>
                  </a:schemeClr>
                </a:solidFill>
                <a:latin typeface="Calibri" panose="020F0502020204030204" charset="0"/>
                <a:cs typeface="Calibri" panose="020F0502020204030204" charset="0"/>
              </a:rPr>
              <a:t>plan-driven</a:t>
            </a:r>
            <a:r>
              <a:rPr lang="en-US" sz="2900" dirty="0" smtClean="0">
                <a:solidFill>
                  <a:schemeClr val="accent2">
                    <a:lumMod val="75000"/>
                  </a:schemeClr>
                </a:solidFill>
                <a:latin typeface="Calibri" panose="020F0502020204030204" charset="0"/>
                <a:cs typeface="Calibri" panose="020F0502020204030204" charset="0"/>
              </a:rPr>
              <a:t>. Managers draw up a plan for the project showing what should be delivered, when it should be delivered and who will work on the development of the project deliverables.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标准方法</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计划驱动的项目管理</a:t>
            </a:r>
            <a:endParaRPr lang="en-US" sz="3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2900" dirty="0" smtClean="0">
                <a:solidFill>
                  <a:schemeClr val="accent2">
                    <a:lumMod val="75000"/>
                  </a:schemeClr>
                </a:solidFill>
                <a:latin typeface="Calibri" panose="020F0502020204030204" charset="0"/>
                <a:cs typeface="Calibri" panose="020F0502020204030204" charset="0"/>
              </a:rPr>
              <a:t> </a:t>
            </a:r>
            <a:r>
              <a:rPr lang="en-US" sz="2900" u="sng" dirty="0" smtClean="0">
                <a:solidFill>
                  <a:schemeClr val="accent2">
                    <a:lumMod val="75000"/>
                  </a:schemeClr>
                </a:solidFill>
                <a:latin typeface="Calibri" panose="020F0502020204030204" charset="0"/>
                <a:cs typeface="Calibri" panose="020F0502020204030204" charset="0"/>
              </a:rPr>
              <a:t>Agile</a:t>
            </a:r>
            <a:r>
              <a:rPr lang="en-US" sz="2900" dirty="0" smtClean="0">
                <a:solidFill>
                  <a:schemeClr val="accent2">
                    <a:lumMod val="75000"/>
                  </a:schemeClr>
                </a:solidFill>
                <a:latin typeface="Calibri" panose="020F0502020204030204" charset="0"/>
                <a:cs typeface="Calibri" panose="020F0502020204030204" charset="0"/>
              </a:rPr>
              <a:t> project management requires a different approach, which is adapted to incremental development and the practices used in agile methods.  </a:t>
            </a:r>
            <a:r>
              <a:rPr lang="en-US" sz="30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敏捷项目管理需要不同方法</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适应增量式开发和敏捷方法实践</a:t>
            </a:r>
            <a:endParaRPr lang="zh-CN" altLang="en-US" sz="30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4855"/>
            <a:ext cx="8977630"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Scrum</a:t>
            </a:r>
            <a:r>
              <a:rPr lang="en-US" altLang="zh-CN" sz="3200" dirty="0">
                <a:solidFill>
                  <a:schemeClr val="accent1">
                    <a:lumMod val="75000"/>
                  </a:schemeClr>
                </a:solidFill>
                <a:ea typeface="宋体" panose="02010600030101010101" pitchFamily="2" charset="-122"/>
                <a:sym typeface="+mn-ea"/>
              </a:rPr>
              <a:t> origin         Scrum</a:t>
            </a:r>
            <a:r>
              <a:rPr lang="zh-CN" altLang="en-US" sz="3200" dirty="0">
                <a:solidFill>
                  <a:schemeClr val="accent1">
                    <a:lumMod val="75000"/>
                  </a:schemeClr>
                </a:solidFill>
                <a:latin typeface="黑体" panose="02010609060101010101" pitchFamily="49" charset="-122"/>
                <a:ea typeface="黑体" panose="02010609060101010101" pitchFamily="49" charset="-122"/>
                <a:sym typeface="+mn-ea"/>
              </a:rPr>
              <a:t>起源</a:t>
            </a:r>
            <a:endParaRPr lang="zh-CN" altLang="en-US" sz="32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265" y="1313180"/>
            <a:ext cx="8952865" cy="53092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Agile development has to be managed so that the best use is made of the time and resources available to the team.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 敏捷项目需要管理</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For this, Scrum agile method was developed to provide a </a:t>
            </a:r>
            <a:r>
              <a:rPr lang="en-US" sz="3200" u="sng" dirty="0" smtClean="0">
                <a:solidFill>
                  <a:schemeClr val="accent2">
                    <a:lumMod val="75000"/>
                  </a:schemeClr>
                </a:solidFill>
                <a:latin typeface="Calibri" panose="020F0502020204030204" charset="0"/>
                <a:cs typeface="Calibri" panose="020F0502020204030204" charset="0"/>
              </a:rPr>
              <a:t>framework</a:t>
            </a:r>
            <a:r>
              <a:rPr lang="en-US" sz="3200" dirty="0" smtClean="0">
                <a:solidFill>
                  <a:schemeClr val="accent2">
                    <a:lumMod val="75000"/>
                  </a:schemeClr>
                </a:solidFill>
                <a:latin typeface="Calibri" panose="020F0502020204030204" charset="0"/>
                <a:cs typeface="Calibri" panose="020F0502020204030204" charset="0"/>
              </a:rPr>
              <a:t> for organizing agile projects and, to some extent, provide external visibility of what is going on.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为此</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开发Scrum敏捷</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方法</a:t>
            </a:r>
            <a:r>
              <a:rPr lang="en-US" altLang="zh-CN"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提供组织框架</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 developers of Scrum wished to make clear that Scrum was not a method for project management, so they deliberately invented new terminology, such as ScrumMaster, which replaced project manager.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Scrum不是项目管理方法</a:t>
            </a:r>
            <a:r>
              <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rPr>
              <a:t> </a:t>
            </a:r>
            <a:endPar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4850"/>
            <a:ext cx="8977630" cy="5683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Scrum terminology (a)</a:t>
            </a:r>
            <a:r>
              <a:rPr lang="en-US" altLang="zh-CN" sz="3200" dirty="0">
                <a:solidFill>
                  <a:schemeClr val="accent1">
                    <a:lumMod val="75000"/>
                  </a:schemeClr>
                </a:solidFill>
                <a:ea typeface="宋体" panose="02010600030101010101" pitchFamily="2" charset="-122"/>
                <a:sym typeface="+mn-ea"/>
              </a:rPr>
              <a:t>  Scrum</a:t>
            </a:r>
            <a:r>
              <a:rPr lang="zh-CN" altLang="en-US" sz="3200" dirty="0">
                <a:solidFill>
                  <a:schemeClr val="accent1">
                    <a:lumMod val="75000"/>
                  </a:schemeClr>
                </a:solidFill>
                <a:ea typeface="宋体" panose="02010600030101010101" pitchFamily="2" charset="-122"/>
                <a:sym typeface="+mn-ea"/>
              </a:rPr>
              <a:t>术语</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graphicFrame>
        <p:nvGraphicFramePr>
          <p:cNvPr id="6" name="Content Placeholder 5"/>
          <p:cNvGraphicFramePr>
            <a:graphicFrameLocks noGrp="1"/>
          </p:cNvGraphicFramePr>
          <p:nvPr>
            <p:custDataLst>
              <p:tags r:id="rId3"/>
            </p:custDataLst>
          </p:nvPr>
        </p:nvGraphicFramePr>
        <p:xfrm>
          <a:off x="111125" y="1339850"/>
          <a:ext cx="8954770" cy="5267325"/>
        </p:xfrm>
        <a:graphic>
          <a:graphicData uri="http://schemas.openxmlformats.org/drawingml/2006/table">
            <a:tbl>
              <a:tblPr firstRow="1" bandRow="1">
                <a:effectLst/>
                <a:tableStyleId>{5940675A-B579-460E-94D1-54222C63F5DA}</a:tableStyleId>
              </a:tblPr>
              <a:tblGrid>
                <a:gridCol w="1528445"/>
                <a:gridCol w="7426325"/>
              </a:tblGrid>
              <a:tr h="361315">
                <a:tc>
                  <a:txBody>
                    <a:bodyPr/>
                    <a:p>
                      <a:pPr algn="l"/>
                      <a:r>
                        <a:rPr lang="en-US" sz="1800" b="1" dirty="0" smtClean="0">
                          <a:solidFill>
                            <a:sysClr val="window" lastClr="FFFFFF"/>
                          </a:solidFill>
                          <a:latin typeface="Calibri" panose="020F0502020204030204" charset="0"/>
                        </a:rPr>
                        <a:t>Scrum term</a:t>
                      </a:r>
                      <a:endParaRPr lang="en-US" sz="18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l"/>
                      <a:r>
                        <a:rPr lang="en-US" sz="1800" b="1" dirty="0" smtClean="0">
                          <a:solidFill>
                            <a:sysClr val="window" lastClr="FFFFFF"/>
                          </a:solidFill>
                          <a:latin typeface="Calibri" panose="020F0502020204030204" charset="0"/>
                        </a:rPr>
                        <a:t>Definition</a:t>
                      </a:r>
                      <a:endParaRPr lang="en-US" sz="18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878205">
                <a:tc>
                  <a:txBody>
                    <a:bodyPr/>
                    <a:p>
                      <a:pPr indent="0" algn="l">
                        <a:spcAft>
                          <a:spcPts val="0"/>
                        </a:spcAft>
                        <a:tabLst>
                          <a:tab pos="342900" algn="l"/>
                          <a:tab pos="685800" algn="l"/>
                          <a:tab pos="1028700" algn="l"/>
                        </a:tabLst>
                      </a:pPr>
                      <a:r>
                        <a:rPr lang="en-GB" sz="1800" dirty="0">
                          <a:solidFill>
                            <a:srgbClr val="000000"/>
                          </a:solidFill>
                          <a:effectLst/>
                          <a:latin typeface="Arial" panose="020B0604020202020204"/>
                          <a:ea typeface="Times New Roman" panose="02020603050405020304"/>
                          <a:cs typeface="Times New Roman" panose="02020603050405020304"/>
                        </a:rPr>
                        <a:t>Development team</a:t>
                      </a:r>
                      <a:r>
                        <a:rPr lang="zh-CN" altLang="en-US" sz="1600" b="1" dirty="0" smtClean="0">
                          <a:solidFill>
                            <a:srgbClr val="C00000"/>
                          </a:solidFill>
                          <a:latin typeface="黑体" panose="02010609060101010101" pitchFamily="49" charset="-122"/>
                          <a:ea typeface="黑体" panose="02010609060101010101" pitchFamily="49" charset="-122"/>
                          <a:cs typeface="Calibri" panose="020F0502020204030204" charset="0"/>
                        </a:rPr>
                        <a:t>开发团队</a:t>
                      </a:r>
                      <a:endParaRPr lang="zh-CN" altLang="en-US" sz="16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indent="0" algn="l">
                        <a:spcAft>
                          <a:spcPts val="0"/>
                        </a:spcAft>
                        <a:tabLst>
                          <a:tab pos="342900" algn="l"/>
                          <a:tab pos="685800" algn="l"/>
                          <a:tab pos="1028700" algn="l"/>
                        </a:tabLst>
                      </a:pPr>
                      <a:r>
                        <a:rPr lang="en-GB" sz="1800" dirty="0">
                          <a:solidFill>
                            <a:srgbClr val="000000"/>
                          </a:solidFill>
                          <a:effectLst/>
                          <a:latin typeface="Arial" panose="020B0604020202020204"/>
                          <a:ea typeface="Times New Roman" panose="02020603050405020304"/>
                          <a:cs typeface="Times New Roman" panose="02020603050405020304"/>
                        </a:rPr>
                        <a:t>A self-organizing group of software developers, which should be no more than 7 people. They are responsible for developing the software and other essential project documents.</a:t>
                      </a:r>
                      <a:endParaRPr lang="en-GB" sz="180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188720">
                <a:tc>
                  <a:txBody>
                    <a:bodyPr/>
                    <a:p>
                      <a:pPr indent="0" algn="l">
                        <a:spcAft>
                          <a:spcPts val="0"/>
                        </a:spcAft>
                        <a:tabLst>
                          <a:tab pos="342900" algn="l"/>
                          <a:tab pos="685800" algn="l"/>
                          <a:tab pos="1028700" algn="l"/>
                        </a:tabLst>
                      </a:pPr>
                      <a:r>
                        <a:rPr lang="en-GB" sz="1800" dirty="0">
                          <a:solidFill>
                            <a:srgbClr val="000000"/>
                          </a:solidFill>
                          <a:effectLst/>
                          <a:latin typeface="Arial" panose="020B0604020202020204"/>
                          <a:ea typeface="Times New Roman" panose="02020603050405020304"/>
                          <a:cs typeface="Times New Roman" panose="02020603050405020304"/>
                        </a:rPr>
                        <a:t>Potentially shippable product increment</a:t>
                      </a:r>
                      <a:endParaRPr lang="en-GB" sz="180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indent="0" algn="l">
                        <a:spcAft>
                          <a:spcPts val="0"/>
                        </a:spcAft>
                        <a:tabLst>
                          <a:tab pos="342900" algn="l"/>
                          <a:tab pos="685800" algn="l"/>
                          <a:tab pos="1028700" algn="l"/>
                        </a:tabLst>
                      </a:pPr>
                      <a:r>
                        <a:rPr lang="en-GB" sz="1800" dirty="0">
                          <a:solidFill>
                            <a:srgbClr val="000000"/>
                          </a:solidFill>
                          <a:effectLst/>
                          <a:latin typeface="Arial" panose="020B0604020202020204"/>
                          <a:ea typeface="Times New Roman" panose="02020603050405020304"/>
                          <a:cs typeface="Times New Roman" panose="02020603050405020304"/>
                        </a:rPr>
                        <a:t>The software increment that is delivered from a sprint. The idea is that this should be </a:t>
                      </a:r>
                      <a:r>
                        <a:rPr lang="en-US" altLang="en-GB" sz="1800" dirty="0">
                          <a:solidFill>
                            <a:srgbClr val="000000"/>
                          </a:solidFill>
                          <a:effectLst/>
                          <a:latin typeface="Arial" panose="020B0604020202020204"/>
                          <a:ea typeface="Times New Roman" panose="02020603050405020304"/>
                          <a:cs typeface="Times New Roman" panose="02020603050405020304"/>
                        </a:rPr>
                        <a:t>“</a:t>
                      </a:r>
                      <a:r>
                        <a:rPr lang="en-GB" sz="1800" dirty="0">
                          <a:solidFill>
                            <a:srgbClr val="000000"/>
                          </a:solidFill>
                          <a:effectLst/>
                          <a:latin typeface="Arial" panose="020B0604020202020204"/>
                          <a:ea typeface="Times New Roman" panose="02020603050405020304"/>
                          <a:cs typeface="Times New Roman" panose="02020603050405020304"/>
                        </a:rPr>
                        <a:t>potentially shippable</a:t>
                      </a:r>
                      <a:r>
                        <a:rPr lang="en-US" altLang="en-GB" sz="1800" dirty="0">
                          <a:solidFill>
                            <a:srgbClr val="000000"/>
                          </a:solidFill>
                          <a:effectLst/>
                          <a:latin typeface="Arial" panose="020B0604020202020204"/>
                          <a:ea typeface="Times New Roman" panose="02020603050405020304"/>
                          <a:cs typeface="Times New Roman" panose="02020603050405020304"/>
                        </a:rPr>
                        <a:t>”</a:t>
                      </a:r>
                      <a:r>
                        <a:rPr lang="en-GB" sz="1800" dirty="0">
                          <a:solidFill>
                            <a:srgbClr val="000000"/>
                          </a:solidFill>
                          <a:effectLst/>
                          <a:latin typeface="Arial" panose="020B0604020202020204"/>
                          <a:ea typeface="Times New Roman" panose="02020603050405020304"/>
                          <a:cs typeface="Times New Roman" panose="02020603050405020304"/>
                        </a:rPr>
                        <a:t> which means that it is in a finished state and no further work, such as testing, is needed to  incorporate it into the final product. In practice, this is not always achievable</a:t>
                      </a:r>
                      <a:r>
                        <a:rPr lang="en-GB" sz="1800" dirty="0" smtClean="0">
                          <a:solidFill>
                            <a:srgbClr val="000000"/>
                          </a:solidFill>
                          <a:effectLst/>
                          <a:latin typeface="Arial" panose="020B0604020202020204"/>
                          <a:ea typeface="Times New Roman" panose="02020603050405020304"/>
                          <a:cs typeface="Times New Roman" panose="02020603050405020304"/>
                        </a:rPr>
                        <a:t>.</a:t>
                      </a:r>
                      <a:endParaRPr lang="en-GB" sz="180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188720">
                <a:tc>
                  <a:txBody>
                    <a:bodyPr/>
                    <a:p>
                      <a:pPr indent="0" algn="l">
                        <a:spcAft>
                          <a:spcPts val="0"/>
                        </a:spcAft>
                        <a:tabLst>
                          <a:tab pos="342900" algn="l"/>
                          <a:tab pos="685800" algn="l"/>
                          <a:tab pos="1028700" algn="l"/>
                        </a:tabLst>
                      </a:pPr>
                      <a:r>
                        <a:rPr lang="en-GB" sz="1800" dirty="0">
                          <a:solidFill>
                            <a:srgbClr val="000000"/>
                          </a:solidFill>
                          <a:effectLst/>
                          <a:latin typeface="Arial" panose="020B0604020202020204"/>
                          <a:ea typeface="Times New Roman" panose="02020603050405020304"/>
                          <a:cs typeface="Times New Roman" panose="02020603050405020304"/>
                        </a:rPr>
                        <a:t>Product backlog</a:t>
                      </a:r>
                      <a:endParaRPr lang="en-GB" sz="1800" dirty="0">
                        <a:solidFill>
                          <a:srgbClr val="000000"/>
                        </a:solidFill>
                        <a:effectLst/>
                        <a:latin typeface="Arial" panose="020B0604020202020204"/>
                        <a:ea typeface="Times New Roman" panose="02020603050405020304"/>
                        <a:cs typeface="Times New Roman" panose="02020603050405020304"/>
                      </a:endParaRPr>
                    </a:p>
                    <a:p>
                      <a:pPr indent="0" algn="l">
                        <a:spcAft>
                          <a:spcPts val="0"/>
                        </a:spcAft>
                        <a:tabLst>
                          <a:tab pos="342900" algn="l"/>
                          <a:tab pos="685800" algn="l"/>
                          <a:tab pos="1028700" algn="l"/>
                        </a:tabLst>
                      </a:pPr>
                      <a:r>
                        <a:rPr lang="zh-CN" altLang="en-US" sz="1600" b="1" dirty="0" smtClean="0">
                          <a:solidFill>
                            <a:srgbClr val="C00000"/>
                          </a:solidFill>
                          <a:latin typeface="黑体" panose="02010609060101010101" pitchFamily="49" charset="-122"/>
                          <a:ea typeface="黑体" panose="02010609060101010101" pitchFamily="49" charset="-122"/>
                          <a:cs typeface="Calibri" panose="020F0502020204030204" charset="0"/>
                        </a:rPr>
                        <a:t>产品待办事项</a:t>
                      </a:r>
                      <a:endParaRPr lang="zh-CN" altLang="en-GB" sz="1800" dirty="0">
                        <a:solidFill>
                          <a:srgbClr val="000000"/>
                        </a:solidFill>
                        <a:effectLst/>
                        <a:latin typeface="Arial" panose="020B0604020202020204"/>
                        <a:ea typeface="宋体" panose="02010600030101010101" pitchFamily="2" charset="-122"/>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indent="0" algn="l">
                        <a:spcAft>
                          <a:spcPts val="0"/>
                        </a:spcAft>
                        <a:tabLst>
                          <a:tab pos="342900" algn="l"/>
                          <a:tab pos="685800" algn="l"/>
                          <a:tab pos="1028700" algn="l"/>
                        </a:tabLst>
                      </a:pPr>
                      <a:r>
                        <a:rPr lang="en-GB" sz="1800" dirty="0">
                          <a:solidFill>
                            <a:srgbClr val="000000"/>
                          </a:solidFill>
                          <a:effectLst/>
                          <a:latin typeface="Arial" panose="020B0604020202020204"/>
                          <a:ea typeface="Times New Roman" panose="02020603050405020304"/>
                          <a:cs typeface="Times New Roman" panose="02020603050405020304"/>
                        </a:rPr>
                        <a:t>This is a list of </a:t>
                      </a:r>
                      <a:r>
                        <a:rPr lang="en-US" altLang="en-GB" sz="1800" dirty="0">
                          <a:solidFill>
                            <a:srgbClr val="000000"/>
                          </a:solidFill>
                          <a:effectLst/>
                          <a:latin typeface="Arial" panose="020B0604020202020204"/>
                          <a:ea typeface="Times New Roman" panose="02020603050405020304"/>
                          <a:cs typeface="Times New Roman" panose="02020603050405020304"/>
                        </a:rPr>
                        <a:t>“</a:t>
                      </a:r>
                      <a:r>
                        <a:rPr lang="en-GB" sz="1800" dirty="0">
                          <a:solidFill>
                            <a:srgbClr val="000000"/>
                          </a:solidFill>
                          <a:effectLst/>
                          <a:latin typeface="Arial" panose="020B0604020202020204"/>
                          <a:ea typeface="Times New Roman" panose="02020603050405020304"/>
                          <a:cs typeface="Times New Roman" panose="02020603050405020304"/>
                        </a:rPr>
                        <a:t>to do</a:t>
                      </a:r>
                      <a:r>
                        <a:rPr lang="en-US" altLang="en-GB" sz="1800" dirty="0">
                          <a:solidFill>
                            <a:srgbClr val="000000"/>
                          </a:solidFill>
                          <a:effectLst/>
                          <a:latin typeface="Arial" panose="020B0604020202020204"/>
                          <a:ea typeface="Times New Roman" panose="02020603050405020304"/>
                          <a:cs typeface="Times New Roman" panose="02020603050405020304"/>
                        </a:rPr>
                        <a:t>”</a:t>
                      </a:r>
                      <a:r>
                        <a:rPr lang="en-GB" sz="1800" dirty="0">
                          <a:solidFill>
                            <a:srgbClr val="000000"/>
                          </a:solidFill>
                          <a:effectLst/>
                          <a:latin typeface="Arial" panose="020B0604020202020204"/>
                          <a:ea typeface="Times New Roman" panose="02020603050405020304"/>
                          <a:cs typeface="Times New Roman" panose="02020603050405020304"/>
                        </a:rPr>
                        <a:t> items which the Scrum team must tackle. They may be feature definitions for the software, software requirements, user stories or descriptions of supplementary tasks that are needed, such as architecture definition or user documentation</a:t>
                      </a:r>
                      <a:r>
                        <a:rPr lang="en-GB" sz="1800" dirty="0" smtClean="0">
                          <a:solidFill>
                            <a:srgbClr val="000000"/>
                          </a:solidFill>
                          <a:effectLst/>
                          <a:latin typeface="Arial" panose="020B0604020202020204"/>
                          <a:ea typeface="Times New Roman" panose="02020603050405020304"/>
                          <a:cs typeface="Times New Roman" panose="02020603050405020304"/>
                        </a:rPr>
                        <a:t>.</a:t>
                      </a:r>
                      <a:endParaRPr lang="en-GB" sz="180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426845">
                <a:tc>
                  <a:txBody>
                    <a:bodyPr/>
                    <a:p>
                      <a:pPr indent="0" algn="l">
                        <a:spcAft>
                          <a:spcPts val="0"/>
                        </a:spcAft>
                        <a:tabLst>
                          <a:tab pos="342900" algn="l"/>
                          <a:tab pos="685800" algn="l"/>
                          <a:tab pos="1028700" algn="l"/>
                          <a:tab pos="1170305" algn="l"/>
                        </a:tabLst>
                      </a:pPr>
                      <a:r>
                        <a:rPr lang="en-GB" sz="1800" dirty="0">
                          <a:solidFill>
                            <a:srgbClr val="000000"/>
                          </a:solidFill>
                          <a:effectLst/>
                          <a:latin typeface="Arial" panose="020B0604020202020204"/>
                          <a:ea typeface="Times New Roman" panose="02020603050405020304"/>
                          <a:cs typeface="Times New Roman" panose="02020603050405020304"/>
                        </a:rPr>
                        <a:t>Product owner</a:t>
                      </a:r>
                      <a:r>
                        <a:rPr lang="en-US" altLang="en-GB" sz="1800" dirty="0">
                          <a:solidFill>
                            <a:srgbClr val="000000"/>
                          </a:solidFill>
                          <a:effectLst/>
                          <a:latin typeface="Arial" panose="020B0604020202020204"/>
                          <a:ea typeface="Times New Roman" panose="02020603050405020304"/>
                          <a:cs typeface="Times New Roman" panose="02020603050405020304"/>
                        </a:rPr>
                        <a:t> </a:t>
                      </a:r>
                      <a:r>
                        <a:rPr lang="zh-CN" altLang="en-US" sz="1600" b="1" dirty="0" smtClean="0">
                          <a:solidFill>
                            <a:srgbClr val="C00000"/>
                          </a:solidFill>
                          <a:latin typeface="黑体" panose="02010609060101010101" pitchFamily="49" charset="-122"/>
                          <a:ea typeface="黑体" panose="02010609060101010101" pitchFamily="49" charset="-122"/>
                          <a:cs typeface="Calibri" panose="020F0502020204030204" charset="0"/>
                        </a:rPr>
                        <a:t>产品拥有者</a:t>
                      </a:r>
                      <a:endParaRPr lang="zh-CN" altLang="en-US" sz="16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indent="0" algn="l">
                        <a:spcAft>
                          <a:spcPts val="0"/>
                        </a:spcAft>
                        <a:tabLst>
                          <a:tab pos="342900" algn="l"/>
                          <a:tab pos="685800" algn="l"/>
                          <a:tab pos="1028700" algn="l"/>
                        </a:tabLst>
                      </a:pPr>
                      <a:r>
                        <a:rPr lang="en-GB" sz="1800" dirty="0">
                          <a:solidFill>
                            <a:srgbClr val="000000"/>
                          </a:solidFill>
                          <a:effectLst/>
                          <a:latin typeface="Arial" panose="020B0604020202020204"/>
                          <a:ea typeface="Times New Roman" panose="02020603050405020304"/>
                          <a:cs typeface="Times New Roman" panose="02020603050405020304"/>
                        </a:rPr>
                        <a:t>An individual (or possibly a small group) whose job is to identify product features or requirements, prioritize these for development and continuously review the product backlog to ensure that the project continues to meet critical business needs. The Product Owner can be a customer but might also be a product manager in a software company or other stakeholder representative.</a:t>
                      </a:r>
                      <a:endParaRPr lang="en-GB" sz="180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7715"/>
            <a:ext cx="8977630" cy="5721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Scrum terminology (b)</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graphicFrame>
        <p:nvGraphicFramePr>
          <p:cNvPr id="2" name="Content Placeholder 5"/>
          <p:cNvGraphicFramePr>
            <a:graphicFrameLocks noGrp="1"/>
          </p:cNvGraphicFramePr>
          <p:nvPr>
            <p:custDataLst>
              <p:tags r:id="rId3"/>
            </p:custDataLst>
          </p:nvPr>
        </p:nvGraphicFramePr>
        <p:xfrm>
          <a:off x="100330" y="1411605"/>
          <a:ext cx="8955405" cy="4904740"/>
        </p:xfrm>
        <a:graphic>
          <a:graphicData uri="http://schemas.openxmlformats.org/drawingml/2006/table">
            <a:tbl>
              <a:tblPr firstRow="1" bandRow="1">
                <a:effectLst/>
                <a:tableStyleId>{5940675A-B579-460E-94D1-54222C63F5DA}</a:tableStyleId>
              </a:tblPr>
              <a:tblGrid>
                <a:gridCol w="1966595"/>
                <a:gridCol w="6988810"/>
              </a:tblGrid>
              <a:tr h="422275">
                <a:tc>
                  <a:txBody>
                    <a:bodyPr/>
                    <a:p>
                      <a:pPr algn="l"/>
                      <a:r>
                        <a:rPr lang="en-US" sz="1800" b="1" dirty="0" smtClean="0">
                          <a:solidFill>
                            <a:sysClr val="window" lastClr="FFFFFF"/>
                          </a:solidFill>
                          <a:latin typeface="Calibri" panose="020F0502020204030204" charset="0"/>
                        </a:rPr>
                        <a:t>Scrum term</a:t>
                      </a:r>
                      <a:endParaRPr lang="en-US" sz="18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l"/>
                      <a:r>
                        <a:rPr lang="en-US" sz="1800" b="1" dirty="0" smtClean="0">
                          <a:solidFill>
                            <a:sysClr val="window" lastClr="FFFFFF"/>
                          </a:solidFill>
                          <a:latin typeface="Calibri" panose="020F0502020204030204" charset="0"/>
                        </a:rPr>
                        <a:t>Definition</a:t>
                      </a:r>
                      <a:endParaRPr lang="en-US" sz="18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899160">
                <a:tc>
                  <a:txBody>
                    <a:bodyPr/>
                    <a:p>
                      <a:pPr indent="347345" algn="l">
                        <a:spcAft>
                          <a:spcPts val="600"/>
                        </a:spcAft>
                        <a:tabLst>
                          <a:tab pos="342900" algn="l"/>
                          <a:tab pos="685800" algn="l"/>
                          <a:tab pos="1028700" algn="l"/>
                        </a:tabLst>
                      </a:pPr>
                      <a:r>
                        <a:rPr lang="en-GB" sz="1800" baseline="0" dirty="0">
                          <a:solidFill>
                            <a:srgbClr val="000000"/>
                          </a:solidFill>
                          <a:effectLst/>
                          <a:latin typeface="Arial" panose="020B0604020202020204"/>
                          <a:ea typeface="Times New Roman" panose="02020603050405020304"/>
                          <a:cs typeface="Times New Roman" panose="02020603050405020304"/>
                        </a:rPr>
                        <a:t>Scrum</a:t>
                      </a:r>
                      <a:r>
                        <a:rPr lang="en-US" altLang="en-GB" sz="1800" baseline="0" dirty="0">
                          <a:solidFill>
                            <a:srgbClr val="000000"/>
                          </a:solidFill>
                          <a:effectLst/>
                          <a:latin typeface="Arial" panose="020B0604020202020204"/>
                          <a:ea typeface="Times New Roman" panose="02020603050405020304"/>
                          <a:cs typeface="Times New Roman" panose="02020603050405020304"/>
                        </a:rPr>
                        <a:t>          </a:t>
                      </a:r>
                      <a:r>
                        <a:rPr lang="zh-CN" altLang="en-US" sz="1600" b="1" baseline="0" dirty="0" smtClean="0">
                          <a:solidFill>
                            <a:srgbClr val="C00000"/>
                          </a:solidFill>
                          <a:latin typeface="黑体" panose="02010609060101010101" pitchFamily="49" charset="-122"/>
                          <a:ea typeface="黑体" panose="02010609060101010101" pitchFamily="49" charset="-122"/>
                          <a:cs typeface="Calibri" panose="020F0502020204030204" charset="0"/>
                        </a:rPr>
                        <a:t>每日站立会议</a:t>
                      </a:r>
                      <a:endParaRPr lang="zh-CN" altLang="en-US" sz="1600" b="1" baseline="0"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indent="0" algn="l">
                        <a:spcAft>
                          <a:spcPts val="600"/>
                        </a:spcAft>
                        <a:tabLst>
                          <a:tab pos="342900" algn="l"/>
                          <a:tab pos="685800" algn="l"/>
                          <a:tab pos="1028700" algn="l"/>
                        </a:tabLst>
                      </a:pPr>
                      <a:r>
                        <a:rPr lang="en-GB" sz="1800" baseline="0" dirty="0">
                          <a:solidFill>
                            <a:srgbClr val="000000"/>
                          </a:solidFill>
                          <a:effectLst/>
                          <a:latin typeface="Arial" panose="020B0604020202020204"/>
                          <a:ea typeface="Times New Roman" panose="02020603050405020304"/>
                          <a:cs typeface="Times New Roman" panose="02020603050405020304"/>
                        </a:rPr>
                        <a:t>A daily meeting of the Scrum team that reviews progress and prioritizes work to be done that day. Ideally, this should be a short face-to-face meeting that includes the whole team</a:t>
                      </a:r>
                      <a:r>
                        <a:rPr lang="en-GB" sz="1800" baseline="0" dirty="0" smtClean="0">
                          <a:solidFill>
                            <a:srgbClr val="000000"/>
                          </a:solidFill>
                          <a:effectLst/>
                          <a:latin typeface="Arial" panose="020B0604020202020204"/>
                          <a:ea typeface="Times New Roman" panose="02020603050405020304"/>
                          <a:cs typeface="Times New Roman" panose="02020603050405020304"/>
                        </a:rPr>
                        <a:t>.</a:t>
                      </a:r>
                      <a:endParaRPr lang="en-GB" sz="1800" baseline="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944370">
                <a:tc>
                  <a:txBody>
                    <a:bodyPr/>
                    <a:p>
                      <a:pPr indent="347345" algn="l">
                        <a:spcAft>
                          <a:spcPts val="0"/>
                        </a:spcAft>
                        <a:tabLst>
                          <a:tab pos="342900" algn="l"/>
                          <a:tab pos="685800" algn="l"/>
                          <a:tab pos="1028700" algn="l"/>
                        </a:tabLst>
                      </a:pPr>
                      <a:r>
                        <a:rPr lang="en-GB" sz="1800" baseline="0" dirty="0" err="1">
                          <a:solidFill>
                            <a:srgbClr val="000000"/>
                          </a:solidFill>
                          <a:effectLst/>
                          <a:latin typeface="Arial" panose="020B0604020202020204"/>
                          <a:ea typeface="Times New Roman" panose="02020603050405020304"/>
                          <a:cs typeface="Times New Roman" panose="02020603050405020304"/>
                        </a:rPr>
                        <a:t>ScrumMaster</a:t>
                      </a:r>
                      <a:r>
                        <a:rPr lang="en-US" altLang="en-GB" sz="1800" baseline="0" dirty="0" err="1">
                          <a:solidFill>
                            <a:srgbClr val="000000"/>
                          </a:solidFill>
                          <a:effectLst/>
                          <a:latin typeface="Arial" panose="020B0604020202020204"/>
                          <a:ea typeface="Times New Roman" panose="02020603050405020304"/>
                          <a:cs typeface="Times New Roman" panose="02020603050405020304"/>
                        </a:rPr>
                        <a:t> </a:t>
                      </a:r>
                      <a:r>
                        <a:rPr lang="zh-CN" altLang="en-US" sz="1600" b="1" baseline="0" dirty="0" smtClean="0">
                          <a:solidFill>
                            <a:srgbClr val="C00000"/>
                          </a:solidFill>
                          <a:latin typeface="黑体" panose="02010609060101010101" pitchFamily="49" charset="-122"/>
                          <a:ea typeface="黑体" panose="02010609060101010101" pitchFamily="49" charset="-122"/>
                          <a:cs typeface="Calibri" panose="020F0502020204030204" charset="0"/>
                        </a:rPr>
                        <a:t>Scrum主管</a:t>
                      </a:r>
                      <a:endParaRPr lang="zh-CN" altLang="en-US" sz="1600" b="1" baseline="0"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indent="0" algn="l">
                        <a:spcAft>
                          <a:spcPts val="0"/>
                        </a:spcAft>
                        <a:tabLst>
                          <a:tab pos="342900" algn="l"/>
                          <a:tab pos="685800" algn="l"/>
                          <a:tab pos="1028700" algn="l"/>
                        </a:tabLst>
                      </a:pPr>
                      <a:r>
                        <a:rPr lang="en-GB" sz="1800" baseline="0" dirty="0">
                          <a:solidFill>
                            <a:srgbClr val="000000"/>
                          </a:solidFill>
                          <a:effectLst/>
                          <a:latin typeface="Arial" panose="020B0604020202020204"/>
                          <a:ea typeface="Times New Roman" panose="02020603050405020304"/>
                          <a:cs typeface="Times New Roman" panose="02020603050405020304"/>
                        </a:rPr>
                        <a:t>The </a:t>
                      </a:r>
                      <a:r>
                        <a:rPr lang="en-GB" sz="1800" baseline="0" dirty="0" err="1">
                          <a:solidFill>
                            <a:srgbClr val="000000"/>
                          </a:solidFill>
                          <a:effectLst/>
                          <a:latin typeface="Arial" panose="020B0604020202020204"/>
                          <a:ea typeface="Times New Roman" panose="02020603050405020304"/>
                          <a:cs typeface="Times New Roman" panose="02020603050405020304"/>
                        </a:rPr>
                        <a:t>ScrumMaster</a:t>
                      </a:r>
                      <a:r>
                        <a:rPr lang="en-GB" sz="1800" baseline="0" dirty="0">
                          <a:solidFill>
                            <a:srgbClr val="000000"/>
                          </a:solidFill>
                          <a:effectLst/>
                          <a:latin typeface="Arial" panose="020B0604020202020204"/>
                          <a:ea typeface="Times New Roman" panose="02020603050405020304"/>
                          <a:cs typeface="Times New Roman" panose="02020603050405020304"/>
                        </a:rPr>
                        <a:t> is responsible for ensuring that the Scrum process is followed and guides the team in the effective use of Scrum. He or she is responsible for interfacing with the rest of the company and for ensuring that the Scrum team is not diverted by outside interference. The Scrum developers are adamant that the </a:t>
                      </a:r>
                      <a:r>
                        <a:rPr lang="en-GB" sz="1800" baseline="0" dirty="0" err="1">
                          <a:solidFill>
                            <a:srgbClr val="000000"/>
                          </a:solidFill>
                          <a:effectLst/>
                          <a:latin typeface="Arial" panose="020B0604020202020204"/>
                          <a:ea typeface="Times New Roman" panose="02020603050405020304"/>
                          <a:cs typeface="Times New Roman" panose="02020603050405020304"/>
                        </a:rPr>
                        <a:t>ScrumMaster</a:t>
                      </a:r>
                      <a:r>
                        <a:rPr lang="en-GB" sz="1800" baseline="0" dirty="0">
                          <a:solidFill>
                            <a:srgbClr val="000000"/>
                          </a:solidFill>
                          <a:effectLst/>
                          <a:latin typeface="Arial" panose="020B0604020202020204"/>
                          <a:ea typeface="Times New Roman" panose="02020603050405020304"/>
                          <a:cs typeface="Times New Roman" panose="02020603050405020304"/>
                        </a:rPr>
                        <a:t> should not be thought of as a project manager. Others, however, may not always find it easy to see the difference</a:t>
                      </a:r>
                      <a:r>
                        <a:rPr lang="en-GB" sz="1800" baseline="0" dirty="0" smtClean="0">
                          <a:solidFill>
                            <a:srgbClr val="000000"/>
                          </a:solidFill>
                          <a:effectLst/>
                          <a:latin typeface="Arial" panose="020B0604020202020204"/>
                          <a:ea typeface="Times New Roman" panose="02020603050405020304"/>
                          <a:cs typeface="Times New Roman" panose="02020603050405020304"/>
                        </a:rPr>
                        <a:t>.</a:t>
                      </a:r>
                      <a:endParaRPr lang="en-GB" sz="1800" baseline="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423545">
                <a:tc>
                  <a:txBody>
                    <a:bodyPr/>
                    <a:p>
                      <a:pPr indent="347345" algn="l">
                        <a:spcAft>
                          <a:spcPts val="0"/>
                        </a:spcAft>
                        <a:tabLst>
                          <a:tab pos="342900" algn="l"/>
                          <a:tab pos="685800" algn="l"/>
                          <a:tab pos="1028700" algn="l"/>
                        </a:tabLst>
                      </a:pPr>
                      <a:r>
                        <a:rPr lang="en-GB" sz="1800" baseline="0" dirty="0">
                          <a:solidFill>
                            <a:srgbClr val="000000"/>
                          </a:solidFill>
                          <a:effectLst/>
                          <a:latin typeface="Arial" panose="020B0604020202020204"/>
                          <a:ea typeface="Times New Roman" panose="02020603050405020304"/>
                          <a:cs typeface="Times New Roman" panose="02020603050405020304"/>
                        </a:rPr>
                        <a:t>Sprint</a:t>
                      </a:r>
                      <a:r>
                        <a:rPr lang="en-US" altLang="en-GB" sz="1800" baseline="0" dirty="0">
                          <a:solidFill>
                            <a:srgbClr val="000000"/>
                          </a:solidFill>
                          <a:effectLst/>
                          <a:latin typeface="Arial" panose="020B0604020202020204"/>
                          <a:ea typeface="Times New Roman" panose="02020603050405020304"/>
                          <a:cs typeface="Times New Roman" panose="02020603050405020304"/>
                        </a:rPr>
                        <a:t> </a:t>
                      </a:r>
                      <a:r>
                        <a:rPr lang="zh-CN" altLang="en-US" sz="1600" b="1" baseline="0" dirty="0" smtClean="0">
                          <a:solidFill>
                            <a:srgbClr val="C00000"/>
                          </a:solidFill>
                          <a:latin typeface="黑体" panose="02010609060101010101" pitchFamily="49" charset="-122"/>
                          <a:ea typeface="黑体" panose="02010609060101010101" pitchFamily="49" charset="-122"/>
                          <a:cs typeface="Calibri" panose="020F0502020204030204" charset="0"/>
                        </a:rPr>
                        <a:t>冲刺</a:t>
                      </a:r>
                      <a:endParaRPr lang="zh-CN" altLang="en-US" sz="1600" b="1" baseline="0"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indent="0" algn="l">
                        <a:spcAft>
                          <a:spcPts val="0"/>
                        </a:spcAft>
                        <a:tabLst>
                          <a:tab pos="342900" algn="l"/>
                          <a:tab pos="685800" algn="l"/>
                          <a:tab pos="1028700" algn="l"/>
                        </a:tabLst>
                      </a:pPr>
                      <a:r>
                        <a:rPr lang="en-GB" sz="1800" baseline="0" dirty="0">
                          <a:solidFill>
                            <a:srgbClr val="000000"/>
                          </a:solidFill>
                          <a:effectLst/>
                          <a:latin typeface="Arial" panose="020B0604020202020204"/>
                          <a:ea typeface="Times New Roman" panose="02020603050405020304"/>
                          <a:cs typeface="Times New Roman" panose="02020603050405020304"/>
                        </a:rPr>
                        <a:t>A development iteration. Sprints are usually 2-4 weeks long.</a:t>
                      </a:r>
                      <a:endParaRPr lang="en-GB" sz="1800" baseline="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215390">
                <a:tc>
                  <a:txBody>
                    <a:bodyPr/>
                    <a:p>
                      <a:pPr indent="347345" algn="l">
                        <a:spcAft>
                          <a:spcPts val="0"/>
                        </a:spcAft>
                        <a:buClrTx/>
                        <a:buSzTx/>
                        <a:buFontTx/>
                        <a:tabLst>
                          <a:tab pos="342900" algn="l"/>
                          <a:tab pos="685800" algn="l"/>
                          <a:tab pos="1028700" algn="l"/>
                        </a:tabLst>
                      </a:pPr>
                      <a:r>
                        <a:rPr lang="en-GB" sz="1800" baseline="0" dirty="0">
                          <a:solidFill>
                            <a:srgbClr val="000000"/>
                          </a:solidFill>
                          <a:effectLst/>
                          <a:latin typeface="Arial" panose="020B0604020202020204"/>
                          <a:ea typeface="Times New Roman" panose="02020603050405020304"/>
                          <a:cs typeface="Times New Roman" panose="02020603050405020304"/>
                        </a:rPr>
                        <a:t>Velocity</a:t>
                      </a:r>
                      <a:r>
                        <a:rPr lang="en-US" altLang="en-GB" sz="1800" baseline="0" dirty="0">
                          <a:solidFill>
                            <a:srgbClr val="000000"/>
                          </a:solidFill>
                          <a:effectLst/>
                          <a:latin typeface="Arial" panose="020B0604020202020204"/>
                          <a:ea typeface="Times New Roman" panose="02020603050405020304"/>
                          <a:cs typeface="Times New Roman" panose="02020603050405020304"/>
                        </a:rPr>
                        <a:t> </a:t>
                      </a:r>
                      <a:r>
                        <a:rPr lang="zh-CN" altLang="en-US" sz="1600" b="1" baseline="0" dirty="0" smtClean="0">
                          <a:solidFill>
                            <a:srgbClr val="C00000"/>
                          </a:solidFill>
                          <a:latin typeface="黑体" panose="02010609060101010101" pitchFamily="49" charset="-122"/>
                          <a:ea typeface="黑体" panose="02010609060101010101" pitchFamily="49" charset="-122"/>
                          <a:cs typeface="Calibri" panose="020F0502020204030204" charset="0"/>
                        </a:rPr>
                        <a:t>速度</a:t>
                      </a:r>
                      <a:endParaRPr lang="zh-CN" altLang="en-US" sz="1600" b="1" baseline="0"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indent="0" algn="l">
                        <a:spcAft>
                          <a:spcPts val="0"/>
                        </a:spcAft>
                        <a:tabLst>
                          <a:tab pos="342900" algn="l"/>
                          <a:tab pos="685800" algn="l"/>
                          <a:tab pos="1028700" algn="l"/>
                        </a:tabLst>
                      </a:pPr>
                      <a:r>
                        <a:rPr lang="en-GB" sz="1800" baseline="0" dirty="0">
                          <a:solidFill>
                            <a:srgbClr val="000000"/>
                          </a:solidFill>
                          <a:effectLst/>
                          <a:latin typeface="Arial" panose="020B0604020202020204"/>
                          <a:ea typeface="Times New Roman" panose="02020603050405020304"/>
                          <a:cs typeface="Times New Roman" panose="02020603050405020304"/>
                        </a:rPr>
                        <a:t>An estimate of how much product backlog effort that a team can cover in a single sprint.  Understanding a team’s velocity helps them estimate what can be covered in a sprint and provides a basis for measuring improving performance</a:t>
                      </a:r>
                      <a:r>
                        <a:rPr lang="en-GB" sz="1800" baseline="0" dirty="0" smtClean="0">
                          <a:solidFill>
                            <a:srgbClr val="000000"/>
                          </a:solidFill>
                          <a:effectLst/>
                          <a:latin typeface="Arial" panose="020B0604020202020204"/>
                          <a:ea typeface="Times New Roman" panose="02020603050405020304"/>
                          <a:cs typeface="Times New Roman" panose="02020603050405020304"/>
                        </a:rPr>
                        <a:t>.</a:t>
                      </a:r>
                      <a:endParaRPr lang="en-GB" sz="1800" baseline="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5" name="Rectangle 3"/>
          <p:cNvSpPr>
            <a:spLocks noGrp="1" noRot="1"/>
          </p:cNvSpPr>
          <p:nvPr>
            <p:ph type="subTitle" idx="1"/>
            <p:custDataLst>
              <p:tags r:id="rId2"/>
            </p:custDataLst>
          </p:nvPr>
        </p:nvSpPr>
        <p:spPr>
          <a:xfrm>
            <a:off x="88900" y="744855"/>
            <a:ext cx="8977630"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Scrum</a:t>
            </a:r>
            <a:endParaRPr lang="zh-CN" altLang="en-US" sz="3200" dirty="0">
              <a:solidFill>
                <a:schemeClr val="accent1">
                  <a:lumMod val="75000"/>
                </a:schemeClr>
              </a:solidFill>
              <a:ea typeface="宋体" panose="02010600030101010101" pitchFamily="2" charset="-122"/>
              <a:sym typeface="+mn-ea"/>
            </a:endParaRPr>
          </a:p>
        </p:txBody>
      </p:sp>
      <p:sp>
        <p:nvSpPr>
          <p:cNvPr id="6" name="Content Placeholder 2"/>
          <p:cNvSpPr>
            <a:spLocks noGrp="1"/>
          </p:cNvSpPr>
          <p:nvPr/>
        </p:nvSpPr>
        <p:spPr>
          <a:xfrm>
            <a:off x="88265" y="1313180"/>
            <a:ext cx="8952865" cy="49599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Scrum is an agile method </a:t>
            </a:r>
            <a:r>
              <a:rPr lang="en-US" sz="3200" dirty="0" smtClean="0">
                <a:solidFill>
                  <a:schemeClr val="accent2">
                    <a:lumMod val="75000"/>
                  </a:schemeClr>
                </a:solidFill>
                <a:latin typeface="Calibri" panose="020F0502020204030204" charset="0"/>
                <a:cs typeface="Calibri" panose="020F0502020204030204" charset="0"/>
                <a:sym typeface="+mn-ea"/>
              </a:rPr>
              <a:t>insofar as it follows the principles from the agile manifesto</a:t>
            </a:r>
            <a:r>
              <a:rPr lang="en-US" sz="3200" dirty="0" smtClean="0">
                <a:solidFill>
                  <a:schemeClr val="accent2">
                    <a:lumMod val="75000"/>
                  </a:schemeClr>
                </a:solidFill>
                <a:latin typeface="Calibri" panose="020F0502020204030204" charset="0"/>
                <a:cs typeface="Calibri" panose="020F0502020204030204" charset="0"/>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Scrum是敏捷方法</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It focuses on providing a framework for agile project organization, and it does not mandate the use of specific development practices.</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关注</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提供框架</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  </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This means that it can be more easily integrated with existing practice.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易于与现有实践</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集成</a:t>
            </a:r>
            <a:endParaRPr lang="en-US" sz="3200" dirty="0" smtClean="0">
              <a:solidFill>
                <a:schemeClr val="accent2">
                  <a:lumMod val="7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Consequently, as agile methods have become a mainstream approach to software development, Scrum has emerged as the most widely used method.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敏捷方法成为主流</a:t>
            </a:r>
            <a:r>
              <a:rPr lang="en-US" altLang="zh-CN" dirty="0" smtClean="0">
                <a:solidFill>
                  <a:srgbClr val="C00000"/>
                </a:solidFill>
                <a:latin typeface="黑体" panose="02010609060101010101" pitchFamily="49" charset="-122"/>
                <a:ea typeface="黑体" panose="02010609060101010101" pitchFamily="49" charset="-122"/>
                <a:cs typeface="Calibri" panose="020F0502020204030204" charset="0"/>
              </a:rPr>
              <a:t> -&gt;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Scrum最广泛使用</a:t>
            </a:r>
            <a:r>
              <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rPr>
              <a:t> </a:t>
            </a:r>
            <a:endPar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7715"/>
            <a:ext cx="8977630" cy="5721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Scrum sprint cycle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06045" y="1445895"/>
            <a:ext cx="8909685" cy="3512820"/>
          </a:xfrm>
          <a:prstGeom prst="rect">
            <a:avLst/>
          </a:prstGeom>
        </p:spPr>
      </p:pic>
      <p:sp>
        <p:nvSpPr>
          <p:cNvPr id="5" name="Rectangle 3"/>
          <p:cNvSpPr>
            <a:spLocks noGrp="1" noRot="1"/>
          </p:cNvSpPr>
          <p:nvPr>
            <p:custDataLst>
              <p:tags r:id="rId4"/>
            </p:custDataLst>
          </p:nvPr>
        </p:nvSpPr>
        <p:spPr>
          <a:xfrm>
            <a:off x="130810" y="5165090"/>
            <a:ext cx="8884285" cy="109982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800"/>
              </a:spcBef>
              <a:buSzTx/>
              <a:buFont typeface="Wingdings" panose="05000000000000000000" pitchFamily="2" charset="2"/>
              <a:buNone/>
            </a:pPr>
            <a:r>
              <a:rPr lang="en-US" altLang="zh-CN" sz="2000" b="0" dirty="0">
                <a:solidFill>
                  <a:schemeClr val="tx1"/>
                </a:solidFill>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The Scrum process or sprint cycle is shown in Figure 3.9. </a:t>
            </a:r>
            <a:endParaRPr lang="en-US" altLang="zh-CN" sz="2000" b="0" dirty="0">
              <a:solidFill>
                <a:schemeClr val="tx1"/>
              </a:solidFill>
              <a:ea typeface="宋体" panose="02010600030101010101" pitchFamily="2" charset="-122"/>
              <a:sym typeface="+mn-ea"/>
            </a:endParaRPr>
          </a:p>
          <a:p>
            <a:pPr marL="0" indent="0" algn="l" eaLnBrk="1" hangingPunct="1">
              <a:lnSpc>
                <a:spcPct val="90000"/>
              </a:lnSpc>
              <a:spcBef>
                <a:spcPts val="800"/>
              </a:spcBef>
              <a:buSzTx/>
              <a:buFont typeface="Wingdings" panose="05000000000000000000" pitchFamily="2" charset="2"/>
              <a:buNone/>
            </a:pPr>
            <a:r>
              <a:rPr lang="en-US" altLang="zh-CN" sz="2000" b="0" dirty="0">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The input to the process is the product backlog. Each process iteration produces a product increment that could be delivered to customers.</a:t>
            </a:r>
            <a:endParaRPr lang="en-US" altLang="zh-CN" sz="2000" b="0" dirty="0">
              <a:solidFill>
                <a:schemeClr val="tx1"/>
              </a:solidFill>
              <a:ea typeface="宋体" panose="02010600030101010101" pitchFamily="2" charset="-122"/>
              <a:sym typeface="+mn-ea"/>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0570"/>
            <a:ext cx="8977630" cy="5549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Scrum sprint cycle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73660" y="1313180"/>
            <a:ext cx="8992870" cy="52044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starting point for the Scrum sprint cycle is the product backlog, </a:t>
            </a:r>
            <a:r>
              <a:rPr lang="en-US" sz="3100" dirty="0" smtClean="0">
                <a:solidFill>
                  <a:schemeClr val="accent2">
                    <a:lumMod val="75000"/>
                  </a:schemeClr>
                </a:solidFill>
                <a:latin typeface="Calibri" panose="020F0502020204030204" charset="0"/>
                <a:cs typeface="Calibri" panose="020F0502020204030204" charset="0"/>
                <a:sym typeface="+mn-ea"/>
              </a:rPr>
              <a:t>which is the list of work to be done on the project.</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起点</a:t>
            </a:r>
            <a:endParaRPr lang="en-US" sz="32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Each sprint cycle lasts a fixed length of time, which is usually between 2 and 4 weeks.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持续时间</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Product Owner prioritizes the items on the product backlog to define which are the most important items to be developed.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确定优先权</a:t>
            </a:r>
            <a:r>
              <a:rPr lang="en-US" sz="3200" dirty="0" smtClean="0">
                <a:solidFill>
                  <a:schemeClr val="accent2">
                    <a:lumMod val="75000"/>
                  </a:schemeClr>
                </a:solidFill>
                <a:latin typeface="Calibri" panose="020F0502020204030204" charset="0"/>
                <a:cs typeface="Calibri" panose="020F0502020204030204" charset="0"/>
              </a:rPr>
              <a:t> </a:t>
            </a:r>
            <a:endParaRPr lang="en-US" sz="32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The whole team then select which of the highest priority items can be completed. They then estimate the time required to complete these items. This leads to the creation of a sprint backlog.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选择</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0570"/>
            <a:ext cx="8977630" cy="5619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Sprint cycle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71755" y="1313180"/>
            <a:ext cx="8994775" cy="52508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team self-organizes to decide who will work on what, and the sprint begins.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冲刺开始</a:t>
            </a:r>
            <a:endParaRPr lang="en-US" sz="30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During the sprint, the team holds short daily meetings (Scrums) to review progress and, where necessary, to re-prioritize work. There is no top-down direction from the ScrumMaster. The daily interactions among Scrum teams may be coordinated using a Scrum board.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每天简短会议 </a:t>
            </a:r>
            <a:endParaRPr lang="en-US" sz="30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At the end of each sprint, there is a review meeting, which involves the whole team. The work done is reviewed and presented to stakeholders. The next sprint cycle then begins.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最后，全团队评审会，交付</a:t>
            </a:r>
            <a:endParaRPr lang="zh-CN" altLang="en-US" sz="30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78815"/>
            <a:ext cx="8977630" cy="5619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Teamwork in Scrum</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团队合作</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124460" y="1169670"/>
            <a:ext cx="8893175" cy="54991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lang="en-US" sz="3000" dirty="0" smtClean="0">
                <a:solidFill>
                  <a:schemeClr val="accent2">
                    <a:lumMod val="75000"/>
                  </a:schemeClr>
                </a:solidFill>
                <a:latin typeface="Calibri" panose="020F0502020204030204" charset="0"/>
                <a:cs typeface="Calibri" panose="020F0502020204030204" charset="0"/>
              </a:rPr>
              <a:t>The “Scrum master” is a facilitator who arranges daily meetings, tracks the backlog of work to be done, records decisions, measures progress against the backlog and communicates with stackholders outside of the team.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Scrum主管的作用</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The whole team attends short daily meetings (Scrums) where all team members share information, describe their progress since the last meeting, problems that have arisen and what is planned for the following day.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团队交流</a:t>
            </a:r>
            <a:endParaRPr lang="en-US" sz="3000" dirty="0" smtClean="0">
              <a:solidFill>
                <a:schemeClr val="accent2">
                  <a:lumMod val="75000"/>
                </a:schemeClr>
              </a:solidFill>
              <a:latin typeface="Calibri" panose="020F0502020204030204" charset="0"/>
              <a:cs typeface="Calibri" panose="020F0502020204030204" charset="0"/>
            </a:endParaRPr>
          </a:p>
          <a:p>
            <a:pPr lvl="1" algn="l">
              <a:lnSpc>
                <a:spcPct val="90000"/>
              </a:lnSpc>
              <a:spcBef>
                <a:spcPts val="600"/>
              </a:spcBef>
              <a:spcAft>
                <a:spcPts val="0"/>
              </a:spcAft>
            </a:pPr>
            <a:r>
              <a:rPr lang="en-US" sz="2800" b="0" dirty="0" smtClean="0">
                <a:latin typeface="Calibri" panose="020F0502020204030204" charset="0"/>
                <a:cs typeface="Calibri" panose="020F0502020204030204" charset="0"/>
                <a:sym typeface="+mn-ea"/>
              </a:rPr>
              <a:t>This means that everyone on the team knows what is going on and, if problems arise, can re-plan short-term work to cope with them.</a:t>
            </a:r>
            <a:endParaRPr lang="en-US" sz="3200" b="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0725"/>
            <a:ext cx="8977630" cy="5213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Scrum benefits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Scrum益处</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1168387" name="Rectangle 3"/>
          <p:cNvSpPr>
            <a:spLocks noGrp="1" noChangeArrowheads="1"/>
          </p:cNvSpPr>
          <p:nvPr/>
        </p:nvSpPr>
        <p:spPr>
          <a:xfrm>
            <a:off x="73660" y="1241425"/>
            <a:ext cx="8968105" cy="54184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product is broken down into a set of manageable and understandable chunks.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产品分解为可管理、可理解的块</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Unstable requirements do not hold up progress.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不稳定需求不会阻碍进度</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whole team has visibility of everything, and consequently team communication and morale are improved.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提升团队沟通和士气</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Customers see on-time delivery of increments and gain feedback on how the product works.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按时交付</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2900" dirty="0" smtClean="0">
                <a:solidFill>
                  <a:schemeClr val="accent2">
                    <a:lumMod val="75000"/>
                  </a:schemeClr>
                </a:solidFill>
                <a:latin typeface="Calibri" panose="020F0502020204030204" charset="0"/>
                <a:cs typeface="Calibri" panose="020F0502020204030204" charset="0"/>
              </a:rPr>
              <a:t> Trust between customers and developers is established, and a positive culture is created in which everyone expects the project to succeed.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信任+积极文化</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2480"/>
            <a:ext cx="8977630" cy="5213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Distributed Scrum</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分布式Scrum</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40005" y="1450340"/>
            <a:ext cx="7489825" cy="5057775"/>
          </a:xfrm>
          <a:prstGeom prst="rect">
            <a:avLst/>
          </a:prstGeom>
        </p:spPr>
      </p:pic>
      <p:sp>
        <p:nvSpPr>
          <p:cNvPr id="5" name="Rectangle 3"/>
          <p:cNvSpPr>
            <a:spLocks noGrp="1" noRot="1"/>
          </p:cNvSpPr>
          <p:nvPr>
            <p:custDataLst>
              <p:tags r:id="rId4"/>
            </p:custDataLst>
          </p:nvPr>
        </p:nvSpPr>
        <p:spPr>
          <a:xfrm>
            <a:off x="7540625" y="931545"/>
            <a:ext cx="1525270" cy="538988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80000"/>
              </a:lnSpc>
              <a:spcBef>
                <a:spcPts val="800"/>
              </a:spcBef>
              <a:buSzTx/>
              <a:buFont typeface="Wingdings" panose="05000000000000000000" pitchFamily="2" charset="2"/>
              <a:buNone/>
            </a:pPr>
            <a:r>
              <a:rPr lang="en-US" altLang="zh-CN" sz="1600" b="0" dirty="0">
                <a:solidFill>
                  <a:schemeClr val="tx2">
                    <a:lumMod val="75000"/>
                    <a:lumOff val="25000"/>
                  </a:schemeClr>
                </a:solidFill>
                <a:ea typeface="宋体" panose="02010600030101010101" pitchFamily="2" charset="-122"/>
                <a:sym typeface="Symbol" panose="05050102010706020507" charset="0"/>
              </a:rPr>
              <a:t> T</a:t>
            </a:r>
            <a:r>
              <a:rPr lang="en-US" altLang="zh-CN" sz="1600" b="0" dirty="0">
                <a:solidFill>
                  <a:schemeClr val="tx2">
                    <a:lumMod val="75000"/>
                    <a:lumOff val="25000"/>
                  </a:schemeClr>
                </a:solidFill>
                <a:ea typeface="宋体" panose="02010600030101010101" pitchFamily="2" charset="-122"/>
                <a:sym typeface="+mn-ea"/>
              </a:rPr>
              <a:t>here have been developments of Scrum for distributed development environments and multi-team working. </a:t>
            </a:r>
            <a:endParaRPr lang="en-US" altLang="zh-CN" sz="1600" b="0" dirty="0">
              <a:solidFill>
                <a:schemeClr val="tx2">
                  <a:lumMod val="75000"/>
                  <a:lumOff val="25000"/>
                </a:schemeClr>
              </a:solidFill>
              <a:ea typeface="宋体" panose="02010600030101010101" pitchFamily="2" charset="-122"/>
              <a:sym typeface="+mn-ea"/>
            </a:endParaRPr>
          </a:p>
          <a:p>
            <a:pPr marL="0" indent="0" algn="l" eaLnBrk="1" hangingPunct="1">
              <a:lnSpc>
                <a:spcPct val="80000"/>
              </a:lnSpc>
              <a:spcBef>
                <a:spcPts val="800"/>
              </a:spcBef>
              <a:buSzTx/>
              <a:buFont typeface="Wingdings" panose="05000000000000000000" pitchFamily="2" charset="2"/>
              <a:buNone/>
            </a:pPr>
            <a:r>
              <a:rPr lang="en-US" altLang="zh-CN" sz="1600" b="0" dirty="0">
                <a:solidFill>
                  <a:schemeClr val="tx2">
                    <a:lumMod val="75000"/>
                    <a:lumOff val="25000"/>
                  </a:schemeClr>
                </a:solidFill>
                <a:ea typeface="宋体" panose="02010600030101010101" pitchFamily="2" charset="-122"/>
                <a:sym typeface="Symbol" panose="05050102010706020507" charset="0"/>
              </a:rPr>
              <a:t> </a:t>
            </a:r>
            <a:r>
              <a:rPr lang="en-US" altLang="zh-CN" sz="1600" b="0" dirty="0">
                <a:solidFill>
                  <a:schemeClr val="tx2">
                    <a:lumMod val="75000"/>
                    <a:lumOff val="25000"/>
                  </a:schemeClr>
                </a:solidFill>
                <a:ea typeface="宋体" panose="02010600030101010101" pitchFamily="2" charset="-122"/>
                <a:sym typeface="+mn-ea"/>
              </a:rPr>
              <a:t>Typically, for offshore development, the product owner is in a different country from the development team, which may also be distributed. </a:t>
            </a:r>
            <a:endParaRPr lang="en-US" altLang="zh-CN" sz="1600" b="0" dirty="0">
              <a:solidFill>
                <a:schemeClr val="tx2">
                  <a:lumMod val="75000"/>
                  <a:lumOff val="25000"/>
                </a:schemeClr>
              </a:solidFill>
              <a:ea typeface="宋体" panose="02010600030101010101" pitchFamily="2" charset="-122"/>
              <a:sym typeface="+mn-ea"/>
            </a:endParaRPr>
          </a:p>
          <a:p>
            <a:pPr marL="0" indent="0" algn="l" eaLnBrk="1" hangingPunct="1">
              <a:lnSpc>
                <a:spcPct val="80000"/>
              </a:lnSpc>
              <a:spcBef>
                <a:spcPts val="800"/>
              </a:spcBef>
              <a:buSzTx/>
              <a:buFont typeface="Wingdings" panose="05000000000000000000" pitchFamily="2" charset="2"/>
              <a:buNone/>
            </a:pPr>
            <a:r>
              <a:rPr lang="en-US" altLang="zh-CN" sz="1600" b="0" dirty="0">
                <a:solidFill>
                  <a:schemeClr val="tx2">
                    <a:lumMod val="75000"/>
                    <a:lumOff val="25000"/>
                  </a:schemeClr>
                </a:solidFill>
                <a:ea typeface="宋体" panose="02010600030101010101" pitchFamily="2" charset="-122"/>
                <a:sym typeface="Symbol" panose="05050102010706020507" charset="0"/>
              </a:rPr>
              <a:t> </a:t>
            </a:r>
            <a:r>
              <a:rPr lang="en-US" altLang="zh-CN" sz="1600" b="0" dirty="0">
                <a:solidFill>
                  <a:schemeClr val="tx2">
                    <a:lumMod val="75000"/>
                    <a:lumOff val="25000"/>
                  </a:schemeClr>
                </a:solidFill>
                <a:ea typeface="宋体" panose="02010600030101010101" pitchFamily="2" charset="-122"/>
                <a:sym typeface="+mn-ea"/>
              </a:rPr>
              <a:t>Figure 3.10 shows the requirements for Distributed Scrum.</a:t>
            </a:r>
            <a:endParaRPr lang="en-US" altLang="zh-CN" sz="1600" b="0" dirty="0">
              <a:solidFill>
                <a:schemeClr val="tx2">
                  <a:lumMod val="75000"/>
                  <a:lumOff val="25000"/>
                </a:schemeClr>
              </a:solidFill>
              <a:ea typeface="宋体" panose="02010600030101010101" pitchFamily="2" charset="-122"/>
              <a:sym typeface="+mn-ea"/>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2480"/>
            <a:ext cx="8977630" cy="5213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Scaling agile methods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敏捷方法伸缩</a:t>
            </a:r>
            <a:r>
              <a:rPr lang="en-US" altLang="zh-CN" sz="3200" dirty="0">
                <a:solidFill>
                  <a:schemeClr val="accent1">
                    <a:lumMod val="75000"/>
                  </a:schemeClr>
                </a:solidFill>
                <a:ea typeface="宋体" panose="02010600030101010101" pitchFamily="2" charset="-122"/>
                <a:sym typeface="+mn-ea"/>
              </a:rPr>
              <a:t>  </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6200" y="1384935"/>
            <a:ext cx="8989695" cy="51371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lang="en-US" sz="3100" dirty="0" smtClean="0">
                <a:solidFill>
                  <a:schemeClr val="accent2">
                    <a:lumMod val="75000"/>
                  </a:schemeClr>
                </a:solidFill>
                <a:latin typeface="Calibri" panose="020F0502020204030204" charset="0"/>
                <a:cs typeface="Calibri" panose="020F0502020204030204" charset="0"/>
              </a:rPr>
              <a:t>Agile methods have proved to be successful for small and medium sized projects that can be developed by a small co-located team.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适用于小、中产品</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Of course, the need for faster delivery of software, which is more suited to customer needs, also applies to both larger systems and larger companies.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 大系统、大公司也有快速交付的需要</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Scaling up agile methods involves changing these to cope with larger, longer projects where there are multiple development teams, perhaps working in different locations.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敏捷方法伸缩所涉及事项</a:t>
            </a:r>
            <a:endParaRPr lang="en-US" sz="32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4235"/>
            <a:ext cx="8977630" cy="5213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Scaling </a:t>
            </a:r>
            <a:r>
              <a:rPr lang="zh-CN" altLang="en-US" sz="3200" dirty="0">
                <a:solidFill>
                  <a:schemeClr val="accent1">
                    <a:lumMod val="75000"/>
                  </a:schemeClr>
                </a:solidFill>
                <a:ea typeface="宋体" panose="02010600030101010101" pitchFamily="2" charset="-122"/>
                <a:sym typeface="+mn-ea"/>
              </a:rPr>
              <a:t>up</a:t>
            </a:r>
            <a:r>
              <a:rPr lang="zh-CN" altLang="en-US" sz="3200" dirty="0">
                <a:solidFill>
                  <a:schemeClr val="accent1">
                    <a:lumMod val="75000"/>
                  </a:schemeClr>
                </a:solidFill>
                <a:ea typeface="宋体" panose="02010600030101010101" pitchFamily="2" charset="-122"/>
                <a:sym typeface="+mn-ea"/>
              </a:rPr>
              <a:t> and scaling </a:t>
            </a:r>
            <a:r>
              <a:rPr lang="zh-CN" altLang="en-US" sz="3200" dirty="0">
                <a:solidFill>
                  <a:schemeClr val="accent1">
                    <a:lumMod val="75000"/>
                  </a:schemeClr>
                </a:solidFill>
                <a:ea typeface="宋体" panose="02010600030101010101" pitchFamily="2" charset="-122"/>
                <a:sym typeface="+mn-ea"/>
              </a:rPr>
              <a:t>out</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伸缩的两方面 </a:t>
            </a:r>
            <a:r>
              <a:rPr lang="en-US" altLang="zh-CN" sz="3200" dirty="0">
                <a:solidFill>
                  <a:schemeClr val="accent1">
                    <a:lumMod val="75000"/>
                  </a:schemeClr>
                </a:solidFill>
                <a:ea typeface="宋体" panose="02010600030101010101" pitchFamily="2" charset="-122"/>
                <a:sym typeface="+mn-ea"/>
              </a:rPr>
              <a:t>  </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33985" y="1456690"/>
            <a:ext cx="8849360" cy="42595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“Scaling up” these methods to handle the development of large systems that are too big to be developed by a single small team. </a:t>
            </a:r>
            <a:r>
              <a:rPr lang="en-US" altLang="en-GB" sz="31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纵向伸缩</a:t>
            </a:r>
            <a:r>
              <a:rPr lang="en-US" altLang="en-GB" sz="3100" dirty="0" smtClean="0">
                <a:solidFill>
                  <a:schemeClr val="accent2">
                    <a:lumMod val="75000"/>
                  </a:schemeClr>
                </a:solidFill>
                <a:latin typeface="Calibri" panose="020F0502020204030204" charset="0"/>
                <a:cs typeface="Calibri" panose="020F0502020204030204" charset="0"/>
              </a:rPr>
              <a:t> </a:t>
            </a:r>
            <a:endParaRPr lang="en-US" altLang="en-GB"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“Scaling out” these methods from specialized development teams to more widespread use in a large company that has many years of software development experience.  </a:t>
            </a:r>
            <a:r>
              <a:rPr lang="en-US" altLang="en-GB" sz="31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横向伸缩</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200" smtClean="0">
                <a:solidFill>
                  <a:schemeClr val="accent2">
                    <a:lumMod val="75000"/>
                  </a:schemeClr>
                </a:solidFill>
                <a:latin typeface="Calibri" panose="020F0502020204030204" charset="0"/>
                <a:cs typeface="Calibri" panose="020F0502020204030204" charset="0"/>
              </a:rPr>
              <a:t> </a:t>
            </a:r>
            <a:r>
              <a:rPr sz="3200" smtClean="0">
                <a:solidFill>
                  <a:schemeClr val="accent2">
                    <a:lumMod val="75000"/>
                  </a:schemeClr>
                </a:solidFill>
                <a:latin typeface="Calibri" panose="020F0502020204030204" charset="0"/>
                <a:cs typeface="Calibri" panose="020F0502020204030204" charset="0"/>
              </a:rPr>
              <a:t>Of course, scaling up and scaling out are closely related.</a:t>
            </a:r>
            <a:r>
              <a:rPr lang="en-US" sz="310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两者紧密关联</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0725"/>
            <a:ext cx="8977630" cy="5213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Practical problems with agile methods</a:t>
            </a:r>
            <a:r>
              <a:rPr lang="en-US" altLang="zh-CN" sz="30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实际问题</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265" y="1241425"/>
            <a:ext cx="8977630" cy="52647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informality of agile development is incompatible with the legal approach to contract definition that is commonly used in large companies.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不正式，与合同定义的合法途径不相容</a:t>
            </a:r>
            <a:endParaRPr lang="en-US" sz="3100" dirty="0" smtClean="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Agile methods are most appropriate for new software development rather than for software maintenance.</a:t>
            </a:r>
            <a:r>
              <a:rPr lang="en-US" sz="2800" b="0" dirty="0" smtClean="0">
                <a:solidFill>
                  <a:schemeClr val="tx1"/>
                </a:solidFill>
                <a:latin typeface="Calibri" panose="020F0502020204030204" charset="0"/>
                <a:cs typeface="Calibri" panose="020F0502020204030204" charset="0"/>
              </a:rPr>
              <a:t> Yet the majority of software costs in large companies come from maintaining their existing software systems.</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最适合新软件开发，不适合软件维护</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Agile methods are designed for small co-located teams, </a:t>
            </a:r>
            <a:r>
              <a:rPr lang="en-US" sz="2800" b="0" dirty="0" smtClean="0">
                <a:solidFill>
                  <a:schemeClr val="tx1"/>
                </a:solidFill>
                <a:latin typeface="Calibri" panose="020F0502020204030204" charset="0"/>
                <a:cs typeface="Calibri" panose="020F0502020204030204" charset="0"/>
              </a:rPr>
              <a:t>yet much software development now involves worldwide distributed teams.</a:t>
            </a:r>
            <a:r>
              <a:rPr lang="en-US" sz="30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只适于小、同地团队</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buNone/>
            </a:pPr>
            <a:endParaRPr lang="en-US" sz="31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7710"/>
            <a:ext cx="8977630" cy="5861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Contractual issues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合同问题</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11125" y="1313180"/>
            <a:ext cx="8919210" cy="53505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7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Most software contracts for custom systems are based on a </a:t>
            </a:r>
            <a:r>
              <a:rPr lang="en-US" sz="3100" dirty="0" smtClean="0">
                <a:solidFill>
                  <a:schemeClr val="accent2">
                    <a:lumMod val="75000"/>
                  </a:schemeClr>
                </a:solidFill>
                <a:latin typeface="Calibri" panose="020F0502020204030204" charset="0"/>
                <a:cs typeface="Calibri" panose="020F0502020204030204" charset="0"/>
                <a:sym typeface="+mn-ea"/>
              </a:rPr>
              <a:t>requirements document</a:t>
            </a:r>
            <a:r>
              <a:rPr lang="en-US" sz="3100" dirty="0" smtClean="0">
                <a:solidFill>
                  <a:schemeClr val="accent2">
                    <a:lumMod val="75000"/>
                  </a:schemeClr>
                </a:solidFill>
                <a:latin typeface="Calibri" panose="020F0502020204030204" charset="0"/>
                <a:cs typeface="Calibri" panose="020F0502020204030204" charset="0"/>
              </a:rPr>
              <a:t> </a:t>
            </a:r>
            <a:r>
              <a:rPr lang="en-US" sz="3100" dirty="0" smtClean="0">
                <a:solidFill>
                  <a:schemeClr val="accent2">
                    <a:lumMod val="75000"/>
                  </a:schemeClr>
                </a:solidFill>
                <a:latin typeface="Calibri" panose="020F0502020204030204" charset="0"/>
                <a:cs typeface="Calibri" panose="020F0502020204030204" charset="0"/>
                <a:sym typeface="+mn-ea"/>
              </a:rPr>
              <a:t>between the customer and the supplier</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合同基于需求文档</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Bef>
                <a:spcPts val="7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Because the interleaved development of requirements and code is fundamental to agile methods, there is no definitive statement of requirements that can be included in the contract.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但在</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敏捷方法中，</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合同中无法包含明确的需求说明。</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7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Consequently, agile methods have to rely on contracts in which the customer pays for the time required for system development rather than the development of a specific set of requirements.</a:t>
            </a:r>
            <a:r>
              <a:rPr lang="en-US" sz="3100" dirty="0" smtClean="0">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故在合同中</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客户为系统开发时间</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而不是为特定需求开发付费</a:t>
            </a:r>
            <a:endParaRPr lang="zh-CN" altLang="en-US" sz="3100" b="0" dirty="0" smtClean="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0895"/>
            <a:ext cx="8977630" cy="5340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methods and software maintenance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9375" y="1384935"/>
            <a:ext cx="8987155" cy="52501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lang="en-US" sz="3000" dirty="0" smtClean="0">
                <a:solidFill>
                  <a:schemeClr val="accent2">
                    <a:lumMod val="75000"/>
                  </a:schemeClr>
                </a:solidFill>
                <a:latin typeface="Calibri" panose="020F0502020204030204" charset="0"/>
                <a:cs typeface="Calibri" panose="020F0502020204030204" charset="0"/>
              </a:rPr>
              <a:t>Most organizations spend more on maintaining existing software than they do on new software development. So, if agile methods are to be successful, they have to support maintenance as well as original development.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敏捷方法应该支持维护</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lang="en-US" sz="3000" dirty="0" smtClean="0">
                <a:solidFill>
                  <a:schemeClr val="accent2">
                    <a:lumMod val="75000"/>
                  </a:schemeClr>
                </a:solidFill>
                <a:latin typeface="Calibri" panose="020F0502020204030204" charset="0"/>
                <a:cs typeface="Calibri" panose="020F0502020204030204" charset="0"/>
              </a:rPr>
              <a:t>Two key issues: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两个关键问题</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GB" sz="2800" b="0" dirty="0" smtClean="0">
                <a:solidFill>
                  <a:schemeClr val="tx1"/>
                </a:solidFill>
                <a:latin typeface="Calibri" panose="020F0502020204030204" charset="0"/>
                <a:cs typeface="Calibri" panose="020F0502020204030204" charset="0"/>
              </a:rPr>
              <a:t>Are systems that are developed using an agile approach maintainable, given the emphasis in the development process of minimizing formal documentation?</a:t>
            </a:r>
            <a:r>
              <a:rPr lang="en-US" altLang="en-GB" sz="2800" b="0" dirty="0" smtClean="0">
                <a:solidFill>
                  <a:schemeClr val="tx1"/>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强调最小化文档情况下，敏捷方法开发的系统可维护吗？</a:t>
            </a:r>
            <a:endParaRPr lang="en-GB" sz="2800" b="0" dirty="0" smtClean="0">
              <a:latin typeface="Calibri" panose="020F0502020204030204" charset="0"/>
              <a:cs typeface="Calibri" panose="020F0502020204030204" charset="0"/>
            </a:endParaRPr>
          </a:p>
          <a:p>
            <a:pPr lvl="1">
              <a:lnSpc>
                <a:spcPct val="85000"/>
              </a:lnSpc>
              <a:spcBef>
                <a:spcPts val="600"/>
              </a:spcBef>
              <a:spcAft>
                <a:spcPts val="0"/>
              </a:spcAft>
            </a:pPr>
            <a:r>
              <a:rPr lang="en-GB" sz="2800" b="0" dirty="0" smtClean="0">
                <a:solidFill>
                  <a:schemeClr val="tx1"/>
                </a:solidFill>
                <a:latin typeface="Calibri" panose="020F0502020204030204" charset="0"/>
                <a:cs typeface="Calibri" panose="020F0502020204030204" charset="0"/>
              </a:rPr>
              <a:t>Can agile methods be used effectively for evolving a system in response to customer change requests?</a:t>
            </a:r>
            <a:r>
              <a:rPr lang="en-US" altLang="en-GB" sz="2800" b="0" dirty="0" smtClean="0">
                <a:solidFill>
                  <a:schemeClr val="tx1"/>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为响应客户变更请求，敏捷方法可有效用于系统演化吗？</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0730"/>
            <a:ext cx="8977630" cy="5524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maintenance</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敏捷维护</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6515" y="1313180"/>
            <a:ext cx="9037320" cy="52914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7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Key problems are: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关键问题</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87000"/>
              </a:lnSpc>
              <a:spcBef>
                <a:spcPts val="600"/>
              </a:spcBef>
              <a:spcAft>
                <a:spcPts val="0"/>
              </a:spcAft>
            </a:pPr>
            <a:r>
              <a:rPr lang="en-US" sz="2800" dirty="0" smtClean="0">
                <a:latin typeface="Calibri" panose="020F0502020204030204" charset="0"/>
                <a:cs typeface="Calibri" panose="020F0502020204030204" charset="0"/>
              </a:rPr>
              <a:t>Lack of product documentation</a:t>
            </a:r>
            <a:r>
              <a:rPr lang="en-US" sz="2800" b="0" dirty="0" smtClean="0">
                <a:latin typeface="Calibri" panose="020F0502020204030204" charset="0"/>
                <a:cs typeface="Calibri" panose="020F0502020204030204" charset="0"/>
              </a:rPr>
              <a:t>:  m</a:t>
            </a:r>
            <a:r>
              <a:rPr lang="en-US" sz="2600" b="0" dirty="0" smtClean="0">
                <a:latin typeface="Calibri" panose="020F0502020204030204" charset="0"/>
                <a:cs typeface="Calibri" panose="020F0502020204030204" charset="0"/>
              </a:rPr>
              <a:t>any agile methods collect requirements informally and incrementally and do not create a coherent requirements document. These may therefore make subsequent system maintenance more difficult and expensive.  </a:t>
            </a:r>
            <a:r>
              <a:rPr lang="en-US" sz="2400" b="0" dirty="0" smtClean="0">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缺产品文档</a:t>
            </a:r>
            <a:endParaRPr lang="en-US" sz="2400" b="0" dirty="0" smtClean="0">
              <a:latin typeface="Calibri" panose="020F0502020204030204" charset="0"/>
              <a:cs typeface="Calibri" panose="020F0502020204030204" charset="0"/>
            </a:endParaRPr>
          </a:p>
          <a:p>
            <a:pPr lvl="1">
              <a:lnSpc>
                <a:spcPct val="87000"/>
              </a:lnSpc>
              <a:spcBef>
                <a:spcPts val="600"/>
              </a:spcBef>
              <a:spcAft>
                <a:spcPts val="0"/>
              </a:spcAft>
            </a:pPr>
            <a:r>
              <a:rPr lang="en-US" sz="2800" dirty="0" smtClean="0">
                <a:latin typeface="Calibri" panose="020F0502020204030204" charset="0"/>
                <a:cs typeface="Calibri" panose="020F0502020204030204" charset="0"/>
              </a:rPr>
              <a:t>Keeping customers involved</a:t>
            </a:r>
            <a:r>
              <a:rPr lang="zh-CN" altLang="en-US" sz="2800" b="0" dirty="0" smtClean="0">
                <a:latin typeface="Calibri" panose="020F0502020204030204" charset="0"/>
                <a:ea typeface="宋体" panose="02010600030101010101" pitchFamily="2" charset="-122"/>
                <a:cs typeface="Calibri" panose="020F0502020204030204" charset="0"/>
              </a:rPr>
              <a:t>：</a:t>
            </a:r>
            <a:r>
              <a:rPr lang="en-US" altLang="zh-CN" sz="2600" b="0" dirty="0" smtClean="0">
                <a:latin typeface="Calibri" panose="020F0502020204030204" charset="0"/>
                <a:ea typeface="宋体" panose="02010600030101010101" pitchFamily="2" charset="-122"/>
                <a:cs typeface="Calibri" panose="020F0502020204030204" charset="0"/>
              </a:rPr>
              <a:t>w</a:t>
            </a:r>
            <a:r>
              <a:rPr lang="en-US" sz="2600" b="0" dirty="0" smtClean="0">
                <a:latin typeface="Calibri" panose="020F0502020204030204" charset="0"/>
                <a:cs typeface="Calibri" panose="020F0502020204030204" charset="0"/>
              </a:rPr>
              <a:t>hile a customer may justify the full-time involvement during system development, this is less likely during maintenance. Customer representatives are likely to lose interest.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保持客户参与</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7000"/>
              </a:lnSpc>
              <a:spcBef>
                <a:spcPts val="600"/>
              </a:spcBef>
              <a:spcAft>
                <a:spcPts val="0"/>
              </a:spcAft>
            </a:pPr>
            <a:r>
              <a:rPr lang="en-US" sz="2800" dirty="0" smtClean="0">
                <a:latin typeface="Calibri" panose="020F0502020204030204" charset="0"/>
                <a:cs typeface="Calibri" panose="020F0502020204030204" charset="0"/>
                <a:sym typeface="+mn-ea"/>
              </a:rPr>
              <a:t>Development team </a:t>
            </a:r>
            <a:r>
              <a:rPr lang="en-US" sz="2800" dirty="0" smtClean="0">
                <a:latin typeface="Calibri" panose="020F0502020204030204" charset="0"/>
                <a:cs typeface="Calibri" panose="020F0502020204030204" charset="0"/>
              </a:rPr>
              <a:t>continuity</a:t>
            </a:r>
            <a:r>
              <a:rPr lang="zh-CN" altLang="en-US" sz="2800" dirty="0" smtClean="0">
                <a:latin typeface="Calibri" panose="020F0502020204030204" charset="0"/>
                <a:ea typeface="宋体" panose="02010600030101010101" pitchFamily="2" charset="-122"/>
                <a:cs typeface="Calibri" panose="020F0502020204030204" charset="0"/>
              </a:rPr>
              <a:t>：</a:t>
            </a:r>
            <a:r>
              <a:rPr lang="en-US" altLang="zh-CN" sz="2600" b="0" dirty="0" smtClean="0">
                <a:latin typeface="Calibri" panose="020F0502020204030204" charset="0"/>
                <a:ea typeface="宋体" panose="02010600030101010101" pitchFamily="2" charset="-122"/>
                <a:cs typeface="Calibri" panose="020F0502020204030204" charset="0"/>
              </a:rPr>
              <a:t>i</a:t>
            </a:r>
            <a:r>
              <a:rPr lang="zh-CN" altLang="en-US" sz="2600" b="0" dirty="0" smtClean="0">
                <a:latin typeface="Calibri" panose="020F0502020204030204" charset="0"/>
                <a:ea typeface="宋体" panose="02010600030101010101" pitchFamily="2" charset="-122"/>
                <a:cs typeface="Calibri" panose="020F0502020204030204" charset="0"/>
              </a:rPr>
              <a:t>f an agile development team is</a:t>
            </a:r>
            <a:r>
              <a:rPr lang="en-US" altLang="zh-CN" sz="2600" b="0" dirty="0" smtClean="0">
                <a:latin typeface="Calibri" panose="020F0502020204030204" charset="0"/>
                <a:ea typeface="宋体" panose="02010600030101010101" pitchFamily="2" charset="-122"/>
                <a:cs typeface="Calibri" panose="020F0502020204030204" charset="0"/>
              </a:rPr>
              <a:t> </a:t>
            </a:r>
            <a:r>
              <a:rPr lang="en-US" sz="2600" b="0" dirty="0" smtClean="0">
                <a:latin typeface="Calibri" panose="020F0502020204030204" charset="0"/>
                <a:cs typeface="Calibri" panose="020F0502020204030204" charset="0"/>
              </a:rPr>
              <a:t>broken up, then it is difficult for new team members to build up the same understanding of the system and its components.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开发团队的延续性</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1045"/>
            <a:ext cx="8977630" cy="5499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principles and organizational practice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graphicFrame>
        <p:nvGraphicFramePr>
          <p:cNvPr id="6" name="Content Placeholder 5"/>
          <p:cNvGraphicFramePr>
            <a:graphicFrameLocks noGrp="1"/>
          </p:cNvGraphicFramePr>
          <p:nvPr>
            <p:custDataLst>
              <p:tags r:id="rId3"/>
            </p:custDataLst>
          </p:nvPr>
        </p:nvGraphicFramePr>
        <p:xfrm>
          <a:off x="104775" y="2215515"/>
          <a:ext cx="8927465" cy="5141595"/>
        </p:xfrm>
        <a:graphic>
          <a:graphicData uri="http://schemas.openxmlformats.org/drawingml/2006/table">
            <a:tbl>
              <a:tblPr firstRow="1" bandRow="1">
                <a:effectLst/>
                <a:tableStyleId>{5940675A-B579-460E-94D1-54222C63F5DA}</a:tableStyleId>
              </a:tblPr>
              <a:tblGrid>
                <a:gridCol w="1687195"/>
                <a:gridCol w="7240270"/>
              </a:tblGrid>
              <a:tr h="449580">
                <a:tc>
                  <a:txBody>
                    <a:bodyPr/>
                    <a:p>
                      <a:r>
                        <a:rPr lang="en-US" sz="2200" b="1" dirty="0" smtClean="0">
                          <a:solidFill>
                            <a:sysClr val="window" lastClr="FFFFFF"/>
                          </a:solidFill>
                          <a:latin typeface="Calibri" panose="020F0502020204030204" charset="0"/>
                        </a:rPr>
                        <a:t>Principle</a:t>
                      </a:r>
                      <a:endParaRPr lang="en-US" sz="22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r>
                        <a:rPr lang="en-US" sz="2200" b="1" dirty="0" smtClean="0">
                          <a:solidFill>
                            <a:sysClr val="window" lastClr="FFFFFF"/>
                          </a:solidFill>
                          <a:latin typeface="Calibri" panose="020F0502020204030204" charset="0"/>
                        </a:rPr>
                        <a:t>Practice</a:t>
                      </a:r>
                      <a:endParaRPr lang="en-US" sz="22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2069465">
                <a:tc>
                  <a:txBody>
                    <a:bodyPr/>
                    <a:p>
                      <a:pPr indent="0" algn="l">
                        <a:spcAft>
                          <a:spcPts val="0"/>
                        </a:spcAft>
                        <a:tabLst>
                          <a:tab pos="342900" algn="l"/>
                          <a:tab pos="685800" algn="l"/>
                          <a:tab pos="1028700" algn="l"/>
                        </a:tabLst>
                      </a:pPr>
                      <a:r>
                        <a:rPr lang="en-GB" sz="2200" dirty="0">
                          <a:solidFill>
                            <a:srgbClr val="000000"/>
                          </a:solidFill>
                          <a:effectLst/>
                          <a:latin typeface="Arial" panose="020B0604020202020204"/>
                          <a:ea typeface="Times New Roman" panose="02020603050405020304"/>
                          <a:cs typeface="Times New Roman" panose="02020603050405020304"/>
                        </a:rPr>
                        <a:t>Customer involvement</a:t>
                      </a:r>
                      <a:r>
                        <a:rPr lang="zh-CN" altLang="en-GB" sz="2200" dirty="0">
                          <a:solidFill>
                            <a:srgbClr val="C00000"/>
                          </a:solidFill>
                          <a:effectLst/>
                          <a:latin typeface="黑体" panose="02010609060101010101" pitchFamily="49" charset="-122"/>
                          <a:ea typeface="黑体" panose="02010609060101010101" pitchFamily="49" charset="-122"/>
                          <a:cs typeface="Times New Roman" panose="02020603050405020304"/>
                        </a:rPr>
                        <a:t>客户参与</a:t>
                      </a:r>
                      <a:endParaRPr lang="zh-CN" altLang="en-GB" sz="2200" dirty="0">
                        <a:solidFill>
                          <a:srgbClr val="C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indent="0" algn="l">
                        <a:spcAft>
                          <a:spcPts val="0"/>
                        </a:spcAft>
                        <a:tabLst>
                          <a:tab pos="342900" algn="l"/>
                          <a:tab pos="685800" algn="l"/>
                          <a:tab pos="1028700" algn="l"/>
                        </a:tabLst>
                      </a:pPr>
                      <a:r>
                        <a:rPr lang="en-GB" sz="2200" dirty="0">
                          <a:solidFill>
                            <a:srgbClr val="000000"/>
                          </a:solidFill>
                          <a:effectLst/>
                          <a:latin typeface="Arial" panose="020B0604020202020204"/>
                          <a:ea typeface="Times New Roman" panose="02020603050405020304"/>
                          <a:cs typeface="Times New Roman" panose="02020603050405020304"/>
                        </a:rPr>
                        <a:t>This depends on having a customer who is willing and able to spend time with the development team and who can represent all system stakeholders. Often, customer representatives have other demands on their time and cannot play a full part in the software development. </a:t>
                      </a:r>
                      <a:endParaRPr lang="en-GB" sz="2200" dirty="0">
                        <a:solidFill>
                          <a:srgbClr val="000000"/>
                        </a:solidFill>
                        <a:effectLst/>
                        <a:latin typeface="Arial" panose="020B0604020202020204"/>
                        <a:ea typeface="Times New Roman" panose="02020603050405020304"/>
                        <a:cs typeface="Times New Roman" panose="02020603050405020304"/>
                      </a:endParaRPr>
                    </a:p>
                    <a:p>
                      <a:pPr indent="0" algn="l">
                        <a:spcAft>
                          <a:spcPts val="0"/>
                        </a:spcAft>
                        <a:tabLst>
                          <a:tab pos="342900" algn="l"/>
                          <a:tab pos="685800" algn="l"/>
                          <a:tab pos="1028700" algn="l"/>
                        </a:tabLst>
                      </a:pPr>
                      <a:r>
                        <a:rPr lang="en-GB" sz="2200" dirty="0">
                          <a:solidFill>
                            <a:srgbClr val="000000"/>
                          </a:solidFill>
                          <a:effectLst/>
                          <a:latin typeface="Arial" panose="020B0604020202020204"/>
                          <a:ea typeface="Times New Roman" panose="02020603050405020304"/>
                          <a:cs typeface="Times New Roman" panose="02020603050405020304"/>
                        </a:rPr>
                        <a:t>Where there are external stakeholders, such as regulators, it is difficult to represent their views to the agile team</a:t>
                      </a:r>
                      <a:r>
                        <a:rPr lang="en-GB" sz="2200" dirty="0" smtClean="0">
                          <a:solidFill>
                            <a:srgbClr val="000000"/>
                          </a:solidFill>
                          <a:effectLst/>
                          <a:latin typeface="Arial" panose="020B0604020202020204"/>
                          <a:ea typeface="Times New Roman" panose="02020603050405020304"/>
                          <a:cs typeface="Times New Roman" panose="02020603050405020304"/>
                        </a:rPr>
                        <a:t>.</a:t>
                      </a:r>
                      <a:endParaRPr lang="en-GB" sz="220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34415">
                <a:tc>
                  <a:txBody>
                    <a:bodyPr/>
                    <a:p>
                      <a:pPr indent="0" algn="l">
                        <a:spcAft>
                          <a:spcPts val="0"/>
                        </a:spcAft>
                        <a:tabLst>
                          <a:tab pos="342900" algn="l"/>
                          <a:tab pos="685800" algn="l"/>
                          <a:tab pos="1028700" algn="l"/>
                        </a:tabLst>
                      </a:pPr>
                      <a:r>
                        <a:rPr lang="en-GB" sz="2200" dirty="0">
                          <a:solidFill>
                            <a:srgbClr val="000000"/>
                          </a:solidFill>
                          <a:effectLst/>
                          <a:latin typeface="Arial" panose="020B0604020202020204"/>
                          <a:ea typeface="Times New Roman" panose="02020603050405020304"/>
                          <a:cs typeface="Times New Roman" panose="02020603050405020304"/>
                        </a:rPr>
                        <a:t>Embrace change</a:t>
                      </a:r>
                      <a:endParaRPr lang="en-GB" sz="2200" dirty="0">
                        <a:solidFill>
                          <a:srgbClr val="000000"/>
                        </a:solidFill>
                        <a:effectLst/>
                        <a:latin typeface="Arial" panose="020B0604020202020204"/>
                        <a:ea typeface="Times New Roman" panose="02020603050405020304"/>
                        <a:cs typeface="Times New Roman" panose="02020603050405020304"/>
                      </a:endParaRPr>
                    </a:p>
                    <a:p>
                      <a:pPr indent="0" algn="l">
                        <a:spcAft>
                          <a:spcPts val="0"/>
                        </a:spcAft>
                        <a:tabLst>
                          <a:tab pos="342900" algn="l"/>
                          <a:tab pos="685800" algn="l"/>
                          <a:tab pos="1028700" algn="l"/>
                        </a:tabLst>
                      </a:pPr>
                      <a:r>
                        <a:rPr lang="zh-CN" altLang="en-GB" sz="2200" dirty="0">
                          <a:solidFill>
                            <a:srgbClr val="C00000"/>
                          </a:solidFill>
                          <a:effectLst/>
                          <a:latin typeface="黑体" panose="02010609060101010101" pitchFamily="49" charset="-122"/>
                          <a:ea typeface="黑体" panose="02010609060101010101" pitchFamily="49" charset="-122"/>
                          <a:cs typeface="Times New Roman" panose="02020603050405020304"/>
                        </a:rPr>
                        <a:t>拥抱变化</a:t>
                      </a:r>
                      <a:endParaRPr lang="zh-CN" altLang="en-GB" sz="2200" dirty="0">
                        <a:solidFill>
                          <a:srgbClr val="000000"/>
                        </a:solidFill>
                        <a:effectLst/>
                        <a:latin typeface="Arial" panose="020B0604020202020204"/>
                        <a:ea typeface="宋体" panose="02010600030101010101" pitchFamily="2" charset="-122"/>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indent="0" algn="l">
                        <a:spcAft>
                          <a:spcPts val="0"/>
                        </a:spcAft>
                        <a:tabLst>
                          <a:tab pos="342900" algn="l"/>
                          <a:tab pos="685800" algn="l"/>
                          <a:tab pos="1028700" algn="l"/>
                        </a:tabLst>
                      </a:pPr>
                      <a:r>
                        <a:rPr lang="en-GB" sz="2200" dirty="0">
                          <a:solidFill>
                            <a:srgbClr val="000000"/>
                          </a:solidFill>
                          <a:effectLst/>
                          <a:latin typeface="Arial" panose="020B0604020202020204"/>
                          <a:ea typeface="Times New Roman" panose="02020603050405020304"/>
                          <a:cs typeface="Times New Roman" panose="02020603050405020304"/>
                        </a:rPr>
                        <a:t>Prioritizing changes can be extremely difficult, especially in systems for which there are many stakeholders. Typically, each stakeholder gives different priorities to different changes</a:t>
                      </a:r>
                      <a:r>
                        <a:rPr lang="en-GB" sz="2200" dirty="0" smtClean="0">
                          <a:solidFill>
                            <a:srgbClr val="000000"/>
                          </a:solidFill>
                          <a:effectLst/>
                          <a:latin typeface="Arial" panose="020B0604020202020204"/>
                          <a:ea typeface="Times New Roman" panose="02020603050405020304"/>
                          <a:cs typeface="Times New Roman" panose="02020603050405020304"/>
                        </a:rPr>
                        <a:t>.</a:t>
                      </a:r>
                      <a:endParaRPr lang="en-GB" sz="220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sp>
        <p:nvSpPr>
          <p:cNvPr id="3" name="Content Placeholder 2"/>
          <p:cNvSpPr>
            <a:spLocks noGrp="1"/>
          </p:cNvSpPr>
          <p:nvPr/>
        </p:nvSpPr>
        <p:spPr>
          <a:xfrm>
            <a:off x="56515" y="1313180"/>
            <a:ext cx="9037320" cy="8750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 principles underlying agile methods are </a:t>
            </a:r>
            <a:r>
              <a:rPr lang="en-US" sz="3200" u="sng" dirty="0" smtClean="0">
                <a:solidFill>
                  <a:schemeClr val="accent2">
                    <a:lumMod val="75000"/>
                  </a:schemeClr>
                </a:solidFill>
                <a:latin typeface="Calibri" panose="020F0502020204030204" charset="0"/>
                <a:cs typeface="Calibri" panose="020F0502020204030204" charset="0"/>
              </a:rPr>
              <a:t>sometimes difficult to realize</a:t>
            </a:r>
            <a:r>
              <a:rPr lang="en-US" sz="3200" dirty="0" smtClean="0">
                <a:solidFill>
                  <a:schemeClr val="accent2">
                    <a:lumMod val="75000"/>
                  </a:schemeClr>
                </a:solidFill>
                <a:latin typeface="Calibri" panose="020F0502020204030204" charset="0"/>
                <a:cs typeface="Calibri" panose="020F0502020204030204" charset="0"/>
              </a:rPr>
              <a:t> in practice.</a:t>
            </a:r>
            <a:endParaRPr lang="zh-CN" altLang="en-US" sz="32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2800"/>
            <a:ext cx="8977630" cy="5499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principles and organizational practice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graphicFrame>
        <p:nvGraphicFramePr>
          <p:cNvPr id="2" name="Content Placeholder 5"/>
          <p:cNvGraphicFramePr>
            <a:graphicFrameLocks noGrp="1"/>
          </p:cNvGraphicFramePr>
          <p:nvPr>
            <p:custDataLst>
              <p:tags r:id="rId3"/>
            </p:custDataLst>
          </p:nvPr>
        </p:nvGraphicFramePr>
        <p:xfrm>
          <a:off x="126365" y="1429385"/>
          <a:ext cx="8869045" cy="4860925"/>
        </p:xfrm>
        <a:graphic>
          <a:graphicData uri="http://schemas.openxmlformats.org/drawingml/2006/table">
            <a:tbl>
              <a:tblPr firstRow="1" bandRow="1">
                <a:effectLst/>
                <a:tableStyleId>{5940675A-B579-460E-94D1-54222C63F5DA}</a:tableStyleId>
              </a:tblPr>
              <a:tblGrid>
                <a:gridCol w="1751965"/>
                <a:gridCol w="7117080"/>
              </a:tblGrid>
              <a:tr h="502285">
                <a:tc>
                  <a:txBody>
                    <a:bodyPr/>
                    <a:p>
                      <a:r>
                        <a:rPr lang="en-US" sz="2200" b="1" dirty="0" smtClean="0">
                          <a:solidFill>
                            <a:sysClr val="window" lastClr="FFFFFF"/>
                          </a:solidFill>
                          <a:latin typeface="Calibri" panose="020F0502020204030204" charset="0"/>
                        </a:rPr>
                        <a:t>Principle</a:t>
                      </a:r>
                      <a:endParaRPr lang="en-US" sz="22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r>
                        <a:rPr lang="en-US" sz="2200" b="1" dirty="0" smtClean="0">
                          <a:solidFill>
                            <a:sysClr val="window" lastClr="FFFFFF"/>
                          </a:solidFill>
                          <a:latin typeface="Calibri" panose="020F0502020204030204" charset="0"/>
                        </a:rPr>
                        <a:t>Practice</a:t>
                      </a:r>
                      <a:endParaRPr lang="en-US" sz="22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866140">
                <a:tc>
                  <a:txBody>
                    <a:bodyPr/>
                    <a:p>
                      <a:pPr indent="0" algn="l">
                        <a:spcAft>
                          <a:spcPts val="0"/>
                        </a:spcAft>
                        <a:buNone/>
                        <a:tabLst>
                          <a:tab pos="342900" algn="l"/>
                          <a:tab pos="685800" algn="l"/>
                          <a:tab pos="1028700" algn="l"/>
                        </a:tabLst>
                      </a:pPr>
                      <a:r>
                        <a:rPr lang="en-GB" sz="2200">
                          <a:solidFill>
                            <a:srgbClr val="000000"/>
                          </a:solidFill>
                          <a:effectLst/>
                          <a:latin typeface="Arial" panose="020B0604020202020204"/>
                          <a:ea typeface="Times New Roman" panose="02020603050405020304"/>
                          <a:cs typeface="Times New Roman" panose="02020603050405020304"/>
                          <a:sym typeface="+mn-ea"/>
                        </a:rPr>
                        <a:t>Incremental delivery</a:t>
                      </a:r>
                      <a:endParaRPr lang="en-GB" sz="2200">
                        <a:solidFill>
                          <a:srgbClr val="000000"/>
                        </a:solidFill>
                        <a:effectLst/>
                        <a:latin typeface="Arial" panose="020B0604020202020204"/>
                        <a:ea typeface="Times New Roman" panose="02020603050405020304"/>
                        <a:cs typeface="Times New Roman" panose="02020603050405020304"/>
                        <a:sym typeface="+mn-ea"/>
                      </a:endParaRPr>
                    </a:p>
                    <a:p>
                      <a:pPr indent="0" algn="l">
                        <a:spcAft>
                          <a:spcPts val="0"/>
                        </a:spcAft>
                        <a:buNone/>
                        <a:tabLst>
                          <a:tab pos="342900" algn="l"/>
                          <a:tab pos="685800" algn="l"/>
                          <a:tab pos="1028700" algn="l"/>
                        </a:tabLst>
                      </a:pPr>
                      <a:r>
                        <a:rPr lang="zh-CN" altLang="en-GB" sz="2200">
                          <a:solidFill>
                            <a:srgbClr val="C00000"/>
                          </a:solidFill>
                          <a:effectLst/>
                          <a:latin typeface="黑体" panose="02010609060101010101" pitchFamily="49" charset="-122"/>
                          <a:ea typeface="黑体" panose="02010609060101010101" pitchFamily="49" charset="-122"/>
                          <a:cs typeface="Times New Roman" panose="02020603050405020304"/>
                          <a:sym typeface="+mn-ea"/>
                        </a:rPr>
                        <a:t>增量式交付</a:t>
                      </a:r>
                      <a:endParaRPr lang="zh-CN" altLang="en-GB" sz="2200" baseline="0" dirty="0">
                        <a:solidFill>
                          <a:srgbClr val="C00000"/>
                        </a:solidFill>
                        <a:effectLst/>
                        <a:latin typeface="黑体" panose="02010609060101010101" pitchFamily="49" charset="-122"/>
                        <a:ea typeface="黑体" panose="02010609060101010101" pitchFamily="49" charset="-122"/>
                        <a:cs typeface="Times New Roman" panose="02020603050405020304"/>
                        <a:sym typeface="+mn-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indent="0" algn="l">
                        <a:spcAft>
                          <a:spcPts val="0"/>
                        </a:spcAft>
                        <a:buNone/>
                        <a:tabLst>
                          <a:tab pos="342900" algn="l"/>
                          <a:tab pos="685800" algn="l"/>
                          <a:tab pos="1028700" algn="l"/>
                        </a:tabLst>
                      </a:pPr>
                      <a:r>
                        <a:rPr lang="en-GB" sz="2200" dirty="0">
                          <a:solidFill>
                            <a:srgbClr val="000000"/>
                          </a:solidFill>
                          <a:effectLst/>
                          <a:latin typeface="Arial" panose="020B0604020202020204"/>
                          <a:ea typeface="Times New Roman" panose="02020603050405020304"/>
                          <a:cs typeface="Times New Roman" panose="02020603050405020304"/>
                          <a:sym typeface="+mn-ea"/>
                        </a:rPr>
                        <a:t>Rapid iterations and short-term planning for development does not always fit in with the longer-term planning cycles of </a:t>
                      </a:r>
                      <a:r>
                        <a:rPr lang="en-GB" sz="2200" u="sng" dirty="0">
                          <a:solidFill>
                            <a:srgbClr val="000000"/>
                          </a:solidFill>
                          <a:effectLst/>
                          <a:latin typeface="Arial" panose="020B0604020202020204"/>
                          <a:ea typeface="Times New Roman" panose="02020603050405020304"/>
                          <a:cs typeface="Times New Roman" panose="02020603050405020304"/>
                          <a:sym typeface="+mn-ea"/>
                        </a:rPr>
                        <a:t>business planning and marketing</a:t>
                      </a:r>
                      <a:r>
                        <a:rPr lang="en-GB" sz="2200" dirty="0">
                          <a:solidFill>
                            <a:srgbClr val="000000"/>
                          </a:solidFill>
                          <a:effectLst/>
                          <a:latin typeface="Arial" panose="020B0604020202020204"/>
                          <a:ea typeface="Times New Roman" panose="02020603050405020304"/>
                          <a:cs typeface="Times New Roman" panose="02020603050405020304"/>
                          <a:sym typeface="+mn-ea"/>
                        </a:rPr>
                        <a:t>. Marketing managers may need to know what product features several months in advance to prepare an effective marketing campaign.</a:t>
                      </a:r>
                      <a:endParaRPr lang="en-GB" altLang="en-US" sz="2200" baseline="0" dirty="0">
                        <a:solidFill>
                          <a:srgbClr val="000000"/>
                        </a:solidFill>
                        <a:effectLst/>
                        <a:latin typeface="Arial" panose="020B0604020202020204"/>
                        <a:ea typeface="Times New Roman" panose="02020603050405020304"/>
                        <a:cs typeface="Times New Roman" panose="02020603050405020304"/>
                        <a:sym typeface="+mn-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866140">
                <a:tc>
                  <a:txBody>
                    <a:bodyPr/>
                    <a:p>
                      <a:pPr indent="0" algn="l">
                        <a:spcAft>
                          <a:spcPts val="0"/>
                        </a:spcAft>
                        <a:tabLst>
                          <a:tab pos="342900" algn="l"/>
                          <a:tab pos="685800" algn="l"/>
                          <a:tab pos="1028700" algn="l"/>
                        </a:tabLst>
                      </a:pPr>
                      <a:r>
                        <a:rPr lang="en-GB" sz="2200" baseline="0" dirty="0">
                          <a:solidFill>
                            <a:srgbClr val="000000"/>
                          </a:solidFill>
                          <a:effectLst/>
                          <a:latin typeface="Arial" panose="020B0604020202020204"/>
                          <a:ea typeface="Times New Roman" panose="02020603050405020304"/>
                          <a:cs typeface="Times New Roman" panose="02020603050405020304"/>
                        </a:rPr>
                        <a:t>Maintain simplicity</a:t>
                      </a:r>
                      <a:endParaRPr lang="en-GB" sz="2200" baseline="0" dirty="0">
                        <a:solidFill>
                          <a:srgbClr val="000000"/>
                        </a:solidFill>
                        <a:effectLst/>
                        <a:latin typeface="Arial" panose="020B0604020202020204"/>
                        <a:ea typeface="Times New Roman" panose="02020603050405020304"/>
                        <a:cs typeface="Times New Roman" panose="02020603050405020304"/>
                      </a:endParaRPr>
                    </a:p>
                    <a:p>
                      <a:pPr indent="0" algn="l">
                        <a:spcAft>
                          <a:spcPts val="0"/>
                        </a:spcAft>
                        <a:tabLst>
                          <a:tab pos="342900" algn="l"/>
                          <a:tab pos="685800" algn="l"/>
                          <a:tab pos="1028700" algn="l"/>
                        </a:tabLst>
                      </a:pPr>
                      <a:r>
                        <a:rPr lang="zh-CN" altLang="en-GB" sz="2200" baseline="0">
                          <a:solidFill>
                            <a:srgbClr val="C00000"/>
                          </a:solidFill>
                          <a:effectLst/>
                          <a:latin typeface="黑体" panose="02010609060101010101" pitchFamily="49" charset="-122"/>
                          <a:ea typeface="黑体" panose="02010609060101010101" pitchFamily="49" charset="-122"/>
                          <a:cs typeface="Times New Roman" panose="02020603050405020304"/>
                        </a:rPr>
                        <a:t>保持简单</a:t>
                      </a:r>
                      <a:endParaRPr lang="zh-CN" altLang="en-GB" sz="2200" baseline="0">
                        <a:solidFill>
                          <a:srgbClr val="C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indent="0" algn="l">
                        <a:spcAft>
                          <a:spcPts val="0"/>
                        </a:spcAft>
                        <a:tabLst>
                          <a:tab pos="342900" algn="l"/>
                          <a:tab pos="685800" algn="l"/>
                          <a:tab pos="1028700" algn="l"/>
                        </a:tabLst>
                      </a:pPr>
                      <a:r>
                        <a:rPr lang="en-GB" sz="2200" baseline="0" dirty="0">
                          <a:solidFill>
                            <a:srgbClr val="000000"/>
                          </a:solidFill>
                          <a:effectLst/>
                          <a:latin typeface="Arial" panose="020B0604020202020204"/>
                          <a:ea typeface="Times New Roman" panose="02020603050405020304"/>
                          <a:cs typeface="Times New Roman" panose="02020603050405020304"/>
                        </a:rPr>
                        <a:t>Under pressure from delivery schedules, team members may not have time to carry out desirable system simplifications</a:t>
                      </a:r>
                      <a:r>
                        <a:rPr lang="en-GB" sz="2200" baseline="0" dirty="0" smtClean="0">
                          <a:solidFill>
                            <a:srgbClr val="000000"/>
                          </a:solidFill>
                          <a:effectLst/>
                          <a:latin typeface="Arial" panose="020B0604020202020204"/>
                          <a:ea typeface="Times New Roman" panose="02020603050405020304"/>
                          <a:cs typeface="Times New Roman" panose="02020603050405020304"/>
                        </a:rPr>
                        <a:t>.</a:t>
                      </a:r>
                      <a:endParaRPr lang="en-GB" sz="2200" baseline="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341120">
                <a:tc>
                  <a:txBody>
                    <a:bodyPr/>
                    <a:p>
                      <a:pPr indent="0" algn="l">
                        <a:spcAft>
                          <a:spcPts val="0"/>
                        </a:spcAft>
                        <a:tabLst>
                          <a:tab pos="342900" algn="l"/>
                          <a:tab pos="685800" algn="l"/>
                          <a:tab pos="1028700" algn="l"/>
                        </a:tabLst>
                      </a:pPr>
                      <a:r>
                        <a:rPr lang="en-GB" sz="2200" baseline="0">
                          <a:solidFill>
                            <a:srgbClr val="000000"/>
                          </a:solidFill>
                          <a:effectLst/>
                          <a:latin typeface="Arial" panose="020B0604020202020204"/>
                          <a:ea typeface="Times New Roman" panose="02020603050405020304"/>
                          <a:cs typeface="Times New Roman" panose="02020603050405020304"/>
                        </a:rPr>
                        <a:t>People</a:t>
                      </a:r>
                      <a:r>
                        <a:rPr lang="en-US" altLang="en-GB" sz="2200" baseline="0">
                          <a:solidFill>
                            <a:srgbClr val="000000"/>
                          </a:solidFill>
                          <a:effectLst/>
                          <a:latin typeface="Arial" panose="020B0604020202020204"/>
                          <a:ea typeface="Times New Roman" panose="02020603050405020304"/>
                          <a:cs typeface="Times New Roman" panose="02020603050405020304"/>
                        </a:rPr>
                        <a:t>,</a:t>
                      </a:r>
                      <a:r>
                        <a:rPr lang="en-GB" sz="2200" baseline="0">
                          <a:solidFill>
                            <a:srgbClr val="000000"/>
                          </a:solidFill>
                          <a:effectLst/>
                          <a:latin typeface="Arial" panose="020B0604020202020204"/>
                          <a:ea typeface="Times New Roman" panose="02020603050405020304"/>
                          <a:cs typeface="Times New Roman" panose="02020603050405020304"/>
                        </a:rPr>
                        <a:t> not process</a:t>
                      </a:r>
                      <a:r>
                        <a:rPr lang="en-US" altLang="en-GB" sz="2200" baseline="0">
                          <a:solidFill>
                            <a:srgbClr val="000000"/>
                          </a:solidFill>
                          <a:effectLst/>
                          <a:latin typeface="Arial" panose="020B0604020202020204"/>
                          <a:ea typeface="Times New Roman" panose="02020603050405020304"/>
                          <a:cs typeface="Times New Roman" panose="02020603050405020304"/>
                        </a:rPr>
                        <a:t> </a:t>
                      </a:r>
                      <a:r>
                        <a:rPr lang="zh-CN" altLang="en-GB" sz="2200" baseline="0">
                          <a:solidFill>
                            <a:srgbClr val="C00000"/>
                          </a:solidFill>
                          <a:effectLst/>
                          <a:latin typeface="黑体" panose="02010609060101010101" pitchFamily="49" charset="-122"/>
                          <a:ea typeface="黑体" panose="02010609060101010101" pitchFamily="49" charset="-122"/>
                          <a:cs typeface="Times New Roman" panose="02020603050405020304"/>
                        </a:rPr>
                        <a:t>人,而不是过程</a:t>
                      </a:r>
                      <a:endParaRPr lang="en-US" altLang="zh-CN" sz="2200" baseline="0">
                        <a:solidFill>
                          <a:srgbClr val="000000"/>
                        </a:solidFill>
                        <a:effectLst/>
                        <a:latin typeface="Arial" panose="020B0604020202020204"/>
                        <a:ea typeface="宋体" panose="02010600030101010101" pitchFamily="2" charset="-122"/>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indent="0" algn="l">
                        <a:spcAft>
                          <a:spcPts val="0"/>
                        </a:spcAft>
                        <a:tabLst>
                          <a:tab pos="342900" algn="l"/>
                          <a:tab pos="685800" algn="l"/>
                          <a:tab pos="1028700" algn="l"/>
                        </a:tabLst>
                      </a:pPr>
                      <a:r>
                        <a:rPr lang="en-GB" sz="2200" baseline="0" dirty="0">
                          <a:solidFill>
                            <a:srgbClr val="000000"/>
                          </a:solidFill>
                          <a:effectLst/>
                          <a:latin typeface="Arial" panose="020B0604020202020204"/>
                          <a:ea typeface="Times New Roman" panose="02020603050405020304"/>
                          <a:cs typeface="Times New Roman" panose="02020603050405020304"/>
                        </a:rPr>
                        <a:t>Individual team members may not have suitable personalities for the intense involvement that is typical of agile methods, and therefore may not interact well with other team members</a:t>
                      </a:r>
                      <a:r>
                        <a:rPr lang="en-GB" sz="2200" baseline="0" dirty="0" smtClean="0">
                          <a:solidFill>
                            <a:srgbClr val="000000"/>
                          </a:solidFill>
                          <a:effectLst/>
                          <a:latin typeface="Arial" panose="020B0604020202020204"/>
                          <a:ea typeface="Times New Roman" panose="02020603050405020304"/>
                          <a:cs typeface="Times New Roman" panose="02020603050405020304"/>
                        </a:rPr>
                        <a:t>.</a:t>
                      </a:r>
                      <a:endParaRPr lang="en-GB" sz="2200" baseline="0" dirty="0">
                        <a:solidFill>
                          <a:srgbClr val="000000"/>
                        </a:solidFill>
                        <a:effectLst/>
                        <a:latin typeface="Arial" panose="020B0604020202020204"/>
                        <a:ea typeface="Times New Roman" panose="02020603050405020304"/>
                        <a:cs typeface="Times New Roman" panose="02020603050405020304"/>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3655" y="1353185"/>
            <a:ext cx="9060180" cy="2737485"/>
          </a:xfrm>
          <a:prstGeom prst="rect">
            <a:avLst/>
          </a:prstGeom>
        </p:spPr>
      </p:pic>
      <p:sp>
        <p:nvSpPr>
          <p:cNvPr id="15363" name="Rectangle 3"/>
          <p:cNvSpPr>
            <a:spLocks noGrp="1" noRot="1"/>
          </p:cNvSpPr>
          <p:nvPr>
            <p:ph type="subTitle" idx="1"/>
            <p:custDataLst>
              <p:tags r:id="rId2"/>
            </p:custDataLst>
          </p:nvPr>
        </p:nvSpPr>
        <p:spPr>
          <a:xfrm>
            <a:off x="88900" y="741045"/>
            <a:ext cx="8977630" cy="5232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en-US" altLang="zh-CN" sz="3000" dirty="0">
                <a:solidFill>
                  <a:schemeClr val="accent1">
                    <a:lumMod val="75000"/>
                  </a:schemeClr>
                </a:solidFill>
                <a:ea typeface="宋体" panose="02010600030101010101" pitchFamily="2" charset="-122"/>
                <a:sym typeface="+mn-ea"/>
              </a:rPr>
              <a:t>Factors for the choice of plan-based or agile</a:t>
            </a:r>
            <a:endParaRPr lang="en-US" altLang="zh-CN"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3"/>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5" name="Rectangle 3"/>
          <p:cNvSpPr>
            <a:spLocks noGrp="1" noRot="1"/>
          </p:cNvSpPr>
          <p:nvPr>
            <p:custDataLst>
              <p:tags r:id="rId4"/>
            </p:custDataLst>
          </p:nvPr>
        </p:nvSpPr>
        <p:spPr>
          <a:xfrm>
            <a:off x="130810" y="4160520"/>
            <a:ext cx="8884285" cy="2423795"/>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85000"/>
              </a:lnSpc>
              <a:spcBef>
                <a:spcPts val="600"/>
              </a:spcBef>
              <a:buSzTx/>
              <a:buFont typeface="Wingdings" panose="05000000000000000000" pitchFamily="2" charset="2"/>
              <a:buNone/>
            </a:pPr>
            <a:r>
              <a:rPr lang="en-US" altLang="zh-CN" sz="2200" b="0" dirty="0">
                <a:solidFill>
                  <a:schemeClr val="tx1"/>
                </a:solidFill>
                <a:ea typeface="宋体" panose="02010600030101010101" pitchFamily="2" charset="-122"/>
                <a:sym typeface="Symbol" panose="05050102010706020507" charset="0"/>
              </a:rPr>
              <a:t> </a:t>
            </a:r>
            <a:r>
              <a:rPr lang="en-US" altLang="zh-CN" sz="2200" b="0" dirty="0">
                <a:solidFill>
                  <a:schemeClr val="tx1"/>
                </a:solidFill>
                <a:ea typeface="宋体" panose="02010600030101010101" pitchFamily="2" charset="-122"/>
                <a:sym typeface="+mn-ea"/>
              </a:rPr>
              <a:t>Most large “agile” software development projects combine practices from plan-driven and agile approaches. Some are mostly agile, and others are mostly plan-driven but with some agile practices. </a:t>
            </a:r>
            <a:r>
              <a:rPr lang="zh-CN" altLang="en-US" sz="2000" b="0" dirty="0">
                <a:solidFill>
                  <a:srgbClr val="C00000"/>
                </a:solidFill>
                <a:latin typeface="黑体" panose="02010609060101010101" pitchFamily="49" charset="-122"/>
                <a:ea typeface="黑体" panose="02010609060101010101" pitchFamily="49" charset="-122"/>
                <a:sym typeface="+mn-ea"/>
              </a:rPr>
              <a:t>两者结合</a:t>
            </a:r>
            <a:endParaRPr lang="en-US" altLang="zh-CN" sz="2200" b="0" dirty="0">
              <a:solidFill>
                <a:schemeClr val="tx1"/>
              </a:solidFill>
              <a:ea typeface="宋体" panose="02010600030101010101" pitchFamily="2" charset="-122"/>
              <a:sym typeface="+mn-ea"/>
            </a:endParaRPr>
          </a:p>
          <a:p>
            <a:pPr marL="0" indent="0" algn="l" eaLnBrk="1" hangingPunct="1">
              <a:lnSpc>
                <a:spcPct val="85000"/>
              </a:lnSpc>
              <a:spcBef>
                <a:spcPts val="600"/>
              </a:spcBef>
              <a:buSzTx/>
              <a:buFont typeface="Wingdings" panose="05000000000000000000" pitchFamily="2" charset="2"/>
              <a:buNone/>
            </a:pPr>
            <a:r>
              <a:rPr lang="en-US" altLang="zh-CN" sz="2200" b="0" dirty="0">
                <a:ea typeface="宋体" panose="02010600030101010101" pitchFamily="2" charset="-122"/>
                <a:sym typeface="Symbol" panose="05050102010706020507" charset="0"/>
              </a:rPr>
              <a:t> </a:t>
            </a:r>
            <a:r>
              <a:rPr lang="en-US" altLang="zh-CN" sz="2200" b="0" dirty="0">
                <a:solidFill>
                  <a:schemeClr val="tx1"/>
                </a:solidFill>
                <a:ea typeface="宋体" panose="02010600030101010101" pitchFamily="2" charset="-122"/>
                <a:sym typeface="+mn-ea"/>
              </a:rPr>
              <a:t>To decide on the balance between a plan-based and an agile approach, you have to answer a range of technical, human and organizational questions. These relate to the system being developed, the development team, and the organizations that are developing and procuring the system (Figure 3.12).   </a:t>
            </a:r>
            <a:r>
              <a:rPr lang="zh-CN" altLang="en-US" sz="2000" b="0" dirty="0">
                <a:solidFill>
                  <a:srgbClr val="C00000"/>
                </a:solidFill>
                <a:latin typeface="黑体" panose="02010609060101010101" pitchFamily="49" charset="-122"/>
                <a:ea typeface="黑体" panose="02010609060101010101" pitchFamily="49" charset="-122"/>
                <a:sym typeface="+mn-ea"/>
              </a:rPr>
              <a:t>3因素：系统、团队、组织</a:t>
            </a:r>
            <a:endParaRPr lang="zh-CN" altLang="en-US" sz="2000" b="0" dirty="0">
              <a:solidFill>
                <a:srgbClr val="C00000"/>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5960"/>
            <a:ext cx="8977630" cy="5207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System issues</a:t>
            </a:r>
            <a:r>
              <a:rPr lang="en-US" altLang="zh-CN" sz="3200" dirty="0">
                <a:solidFill>
                  <a:schemeClr val="accent1">
                    <a:lumMod val="75000"/>
                  </a:schemeClr>
                </a:solidFill>
                <a:ea typeface="宋体" panose="02010600030101010101" pitchFamily="2" charset="-122"/>
                <a:sym typeface="+mn-ea"/>
              </a:rPr>
              <a:t>   </a:t>
            </a:r>
            <a:r>
              <a:rPr lang="zh-CN" altLang="en-US"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系统问题</a:t>
            </a:r>
            <a:endParaRPr lang="zh-CN" altLang="en-US"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9690" y="1241425"/>
            <a:ext cx="8996045" cy="54343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4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How large is the system being developed?</a:t>
            </a:r>
            <a:r>
              <a:rPr lang="en-US" altLang="en-GB" sz="3100" dirty="0" smtClean="0">
                <a:solidFill>
                  <a:schemeClr val="accent2">
                    <a:lumMod val="75000"/>
                  </a:schemeClr>
                </a:solidFill>
                <a:latin typeface="Calibri" panose="020F0502020204030204" charset="0"/>
                <a:cs typeface="Calibri" panose="020F0502020204030204" charset="0"/>
              </a:rPr>
              <a:t> </a:t>
            </a:r>
            <a:r>
              <a:rPr lang="en-GB" sz="2500" b="0" dirty="0">
                <a:latin typeface="Calibri" panose="020F0502020204030204" charset="0"/>
                <a:cs typeface="Calibri" panose="020F0502020204030204" charset="0"/>
              </a:rPr>
              <a:t>Agile methods are most effective</a:t>
            </a:r>
            <a:r>
              <a:rPr lang="en-US" altLang="en-GB" sz="2500" b="0" dirty="0">
                <a:latin typeface="Calibri" panose="020F0502020204030204" charset="0"/>
                <a:cs typeface="Calibri" panose="020F0502020204030204" charset="0"/>
              </a:rPr>
              <a:t> </a:t>
            </a:r>
            <a:r>
              <a:rPr lang="en-GB" sz="2500" b="0" dirty="0">
                <a:latin typeface="Calibri" panose="020F0502020204030204" charset="0"/>
                <a:cs typeface="Calibri" panose="020F0502020204030204" charset="0"/>
              </a:rPr>
              <a:t>when the system </a:t>
            </a:r>
            <a:r>
              <a:rPr lang="en-US" altLang="en-GB" sz="2500" b="0" dirty="0">
                <a:latin typeface="Calibri" panose="020F0502020204030204" charset="0"/>
                <a:cs typeface="Calibri" panose="020F0502020204030204" charset="0"/>
              </a:rPr>
              <a:t>is</a:t>
            </a:r>
            <a:r>
              <a:rPr lang="en-GB" sz="2500" b="0" dirty="0">
                <a:latin typeface="Calibri" panose="020F0502020204030204" charset="0"/>
                <a:cs typeface="Calibri" panose="020F0502020204030204" charset="0"/>
              </a:rPr>
              <a:t> developed with a small co-located team. </a:t>
            </a:r>
            <a:r>
              <a:rPr lang="en-US" altLang="en-GB" sz="2500" b="0" dirty="0">
                <a:latin typeface="Calibri" panose="020F0502020204030204" charset="0"/>
                <a:cs typeface="Calibri" panose="020F0502020204030204" charset="0"/>
              </a:rPr>
              <a:t>F</a:t>
            </a:r>
            <a:r>
              <a:rPr lang="en-GB" sz="2500" b="0" dirty="0">
                <a:latin typeface="Calibri" panose="020F0502020204030204" charset="0"/>
                <a:cs typeface="Calibri" panose="020F0502020204030204" charset="0"/>
              </a:rPr>
              <a:t>or large systems that</a:t>
            </a:r>
            <a:r>
              <a:rPr lang="en-US" altLang="en-GB" sz="2500" b="0" dirty="0">
                <a:latin typeface="Calibri" panose="020F0502020204030204" charset="0"/>
                <a:cs typeface="Calibri" panose="020F0502020204030204" charset="0"/>
              </a:rPr>
              <a:t> </a:t>
            </a:r>
            <a:r>
              <a:rPr lang="en-GB" sz="2500" b="0" dirty="0">
                <a:latin typeface="Calibri" panose="020F0502020204030204" charset="0"/>
                <a:cs typeface="Calibri" panose="020F0502020204030204" charset="0"/>
              </a:rPr>
              <a:t>require larger teams, plan-driven approach have to be used. </a:t>
            </a:r>
            <a:r>
              <a:rPr lang="en-US" altLang="en-GB" sz="2500" b="0" dirty="0">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系统大小</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4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What type of system is being developed?</a:t>
            </a:r>
            <a:r>
              <a:rPr lang="en-US" altLang="en-GB" sz="3100" dirty="0" smtClean="0">
                <a:solidFill>
                  <a:schemeClr val="accent2">
                    <a:lumMod val="75000"/>
                  </a:schemeClr>
                </a:solidFill>
                <a:latin typeface="Calibri" panose="020F0502020204030204" charset="0"/>
                <a:cs typeface="Calibri" panose="020F0502020204030204" charset="0"/>
              </a:rPr>
              <a:t> </a:t>
            </a:r>
            <a:r>
              <a:rPr lang="en-GB" sz="2500" b="0" dirty="0">
                <a:latin typeface="Calibri" panose="020F0502020204030204" charset="0"/>
                <a:cs typeface="Calibri" panose="020F0502020204030204" charset="0"/>
              </a:rPr>
              <a:t>For systems that require a lot of analysis</a:t>
            </a:r>
            <a:r>
              <a:rPr lang="en-US" altLang="en-GB" sz="2500" b="0" dirty="0">
                <a:latin typeface="Calibri" panose="020F0502020204030204" charset="0"/>
                <a:cs typeface="Calibri" panose="020F0502020204030204" charset="0"/>
              </a:rPr>
              <a:t> </a:t>
            </a:r>
            <a:r>
              <a:rPr lang="en-GB" sz="2500" b="0" dirty="0">
                <a:latin typeface="Calibri" panose="020F0502020204030204" charset="0"/>
                <a:cs typeface="Calibri" panose="020F0502020204030204" charset="0"/>
              </a:rPr>
              <a:t>before implementation </a:t>
            </a:r>
            <a:r>
              <a:rPr lang="en-US" altLang="en-GB" sz="2500" b="0" dirty="0">
                <a:latin typeface="Calibri" panose="020F0502020204030204" charset="0"/>
                <a:cs typeface="Calibri" panose="020F0502020204030204" charset="0"/>
              </a:rPr>
              <a:t>and thus </a:t>
            </a:r>
            <a:r>
              <a:rPr lang="en-GB" sz="2500" b="0" dirty="0">
                <a:latin typeface="Calibri" panose="020F0502020204030204" charset="0"/>
                <a:cs typeface="Calibri" panose="020F0502020204030204" charset="0"/>
              </a:rPr>
              <a:t>need detailed design</a:t>
            </a:r>
            <a:r>
              <a:rPr lang="en-US" altLang="en-GB" sz="2500" b="0" dirty="0">
                <a:latin typeface="Calibri" panose="020F0502020204030204" charset="0"/>
                <a:cs typeface="Calibri" panose="020F0502020204030204" charset="0"/>
              </a:rPr>
              <a:t>, a</a:t>
            </a:r>
            <a:r>
              <a:rPr lang="en-GB" sz="2500" b="0" dirty="0">
                <a:latin typeface="Calibri" panose="020F0502020204030204" charset="0"/>
                <a:cs typeface="Calibri" panose="020F0502020204030204" charset="0"/>
              </a:rPr>
              <a:t> plan</a:t>
            </a:r>
            <a:r>
              <a:rPr lang="en-US" altLang="en-GB" sz="2500" b="0" dirty="0">
                <a:latin typeface="Calibri" panose="020F0502020204030204" charset="0"/>
                <a:cs typeface="Calibri" panose="020F0502020204030204" charset="0"/>
              </a:rPr>
              <a:t>-</a:t>
            </a:r>
            <a:r>
              <a:rPr lang="en-GB" sz="2500" b="0" dirty="0">
                <a:latin typeface="Calibri" panose="020F0502020204030204" charset="0"/>
                <a:cs typeface="Calibri" panose="020F0502020204030204" charset="0"/>
              </a:rPr>
              <a:t>driven approach </a:t>
            </a:r>
            <a:r>
              <a:rPr lang="en-US" sz="2500" b="0" dirty="0">
                <a:latin typeface="Calibri" panose="020F0502020204030204" charset="0"/>
                <a:cs typeface="Calibri" panose="020F0502020204030204" charset="0"/>
              </a:rPr>
              <a:t>is</a:t>
            </a:r>
            <a:r>
              <a:rPr lang="en-US" altLang="en-GB" sz="2500" b="0" dirty="0">
                <a:latin typeface="Calibri" panose="020F0502020204030204" charset="0"/>
                <a:cs typeface="Calibri" panose="020F0502020204030204" charset="0"/>
              </a:rPr>
              <a:t> </a:t>
            </a:r>
            <a:r>
              <a:rPr lang="en-GB" sz="2500" b="0" dirty="0">
                <a:latin typeface="Calibri" panose="020F0502020204030204" charset="0"/>
                <a:cs typeface="Calibri" panose="020F0502020204030204" charset="0"/>
              </a:rPr>
              <a:t>best.</a:t>
            </a:r>
            <a:r>
              <a:rPr lang="en-US" altLang="en-GB" sz="2500" b="0" dirty="0">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系统类型</a:t>
            </a:r>
            <a:endParaRPr lang="en-GB" sz="2500" b="0" dirty="0" smtClean="0">
              <a:latin typeface="Calibri" panose="020F0502020204030204" charset="0"/>
              <a:cs typeface="Calibri" panose="020F0502020204030204" charset="0"/>
            </a:endParaRPr>
          </a:p>
          <a:p>
            <a:pPr>
              <a:lnSpc>
                <a:spcPct val="85000"/>
              </a:lnSpc>
              <a:spcBef>
                <a:spcPts val="4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What is the expected system lifetime?</a:t>
            </a:r>
            <a:r>
              <a:rPr lang="en-US" altLang="en-GB" sz="3100" dirty="0" smtClean="0">
                <a:solidFill>
                  <a:schemeClr val="accent2">
                    <a:lumMod val="75000"/>
                  </a:schemeClr>
                </a:solidFill>
                <a:latin typeface="Calibri" panose="020F0502020204030204" charset="0"/>
                <a:cs typeface="Calibri" panose="020F0502020204030204" charset="0"/>
              </a:rPr>
              <a:t> </a:t>
            </a:r>
            <a:r>
              <a:rPr lang="en-US" altLang="en-GB" sz="2500" b="0" dirty="0">
                <a:latin typeface="Calibri" panose="020F0502020204030204" charset="0"/>
                <a:cs typeface="Calibri" panose="020F0502020204030204" charset="0"/>
              </a:rPr>
              <a:t>Long-lifetime systems require more</a:t>
            </a:r>
            <a:r>
              <a:rPr lang="en-GB" sz="2500" b="0" dirty="0">
                <a:latin typeface="Calibri" panose="020F0502020204030204" charset="0"/>
                <a:cs typeface="Calibri" panose="020F0502020204030204" charset="0"/>
              </a:rPr>
              <a:t> documentation. However, supporters of agile methods argue that documentation is frequently not kept up to date and is not of much use for maintenance.</a:t>
            </a:r>
            <a:r>
              <a:rPr lang="en-US" altLang="en-GB" sz="2500" b="0" dirty="0">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生命周期</a:t>
            </a:r>
            <a:endParaRPr lang="en-GB" sz="2500" b="0" dirty="0">
              <a:latin typeface="Calibri" panose="020F0502020204030204" charset="0"/>
              <a:cs typeface="Calibri" panose="020F0502020204030204" charset="0"/>
            </a:endParaRPr>
          </a:p>
          <a:p>
            <a:pPr>
              <a:lnSpc>
                <a:spcPct val="85000"/>
              </a:lnSpc>
              <a:spcBef>
                <a:spcPts val="4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Is the system subject to external regulation?</a:t>
            </a:r>
            <a:r>
              <a:rPr lang="en-US" altLang="en-GB" sz="3100" dirty="0" smtClean="0">
                <a:solidFill>
                  <a:schemeClr val="accent2">
                    <a:lumMod val="75000"/>
                  </a:schemeClr>
                </a:solidFill>
                <a:latin typeface="Calibri" panose="020F0502020204030204" charset="0"/>
                <a:cs typeface="Calibri" panose="020F0502020204030204" charset="0"/>
              </a:rPr>
              <a:t> </a:t>
            </a:r>
            <a:r>
              <a:rPr lang="en-US" altLang="en-GB" sz="2600" b="0" dirty="0">
                <a:latin typeface="Calibri" panose="020F0502020204030204" charset="0"/>
                <a:cs typeface="Calibri" panose="020F0502020204030204" charset="0"/>
              </a:rPr>
              <a:t>If a system has to be approved by an external regulator, then you will probably be required to produce detailed documentation as part of the system safety case.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外部管制</a:t>
            </a:r>
            <a:endParaRPr lang="zh-CN" altLang="en-US" sz="2600" b="0" dirty="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7715"/>
            <a:ext cx="8977630" cy="5645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People and teams</a:t>
            </a:r>
            <a:r>
              <a:rPr lang="en-US" altLang="zh-CN" sz="3200" dirty="0">
                <a:solidFill>
                  <a:schemeClr val="accent1">
                    <a:lumMod val="75000"/>
                  </a:schemeClr>
                </a:solidFill>
                <a:ea typeface="宋体" panose="02010600030101010101" pitchFamily="2" charset="-122"/>
                <a:sym typeface="+mn-ea"/>
              </a:rPr>
              <a:t>  </a:t>
            </a:r>
            <a:r>
              <a:rPr lang="zh-CN" altLang="en-US"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个人和团队</a:t>
            </a:r>
            <a:endParaRPr lang="zh-CN" altLang="en-US"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8265" y="1384935"/>
            <a:ext cx="9005570" cy="50857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How good are the designers and programmers in the development team?</a:t>
            </a:r>
            <a:r>
              <a:rPr lang="en-US" altLang="en-GB" sz="3100" dirty="0" smtClean="0">
                <a:solidFill>
                  <a:schemeClr val="accent2">
                    <a:lumMod val="75000"/>
                  </a:schemeClr>
                </a:solidFill>
                <a:latin typeface="Calibri" panose="020F0502020204030204" charset="0"/>
                <a:cs typeface="Calibri" panose="020F0502020204030204" charset="0"/>
              </a:rPr>
              <a:t>  </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设计者和编程者怎么样？</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GB" sz="2800" b="0" dirty="0" smtClean="0">
                <a:latin typeface="Calibri" panose="020F0502020204030204" charset="0"/>
                <a:cs typeface="Calibri" panose="020F0502020204030204" charset="0"/>
              </a:rPr>
              <a:t>It is sometimes argued that agile methods require higher skill levels than plan-based approaches in which programmers simply translate a detailed design into code.</a:t>
            </a:r>
            <a:r>
              <a:rPr lang="en-US" altLang="en-GB" sz="2800" b="0" dirty="0" smtClean="0">
                <a:latin typeface="Calibri" panose="020F0502020204030204" charset="0"/>
                <a:cs typeface="Calibri" panose="020F0502020204030204" charset="0"/>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敏捷方法需要更高级技能</a:t>
            </a:r>
            <a:endParaRPr lang="en-GB" sz="2800" b="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How is the development team organized?</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团队如何组织</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GB" sz="2800" b="0" dirty="0" smtClean="0">
                <a:latin typeface="Calibri" panose="020F0502020204030204" charset="0"/>
                <a:cs typeface="Calibri" panose="020F0502020204030204" charset="0"/>
              </a:rPr>
              <a:t>Design documents may be required if the team is </a:t>
            </a:r>
            <a:r>
              <a:rPr lang="en-GB" sz="2800" b="0" dirty="0" err="1" smtClean="0">
                <a:latin typeface="Calibri" panose="020F0502020204030204" charset="0"/>
                <a:cs typeface="Calibri" panose="020F0502020204030204" charset="0"/>
              </a:rPr>
              <a:t>dsitributed</a:t>
            </a:r>
            <a:r>
              <a:rPr lang="en-GB" sz="2800" b="0" dirty="0" smtClean="0">
                <a:latin typeface="Calibri" panose="020F0502020204030204" charset="0"/>
                <a:cs typeface="Calibri" panose="020F0502020204030204" charset="0"/>
              </a:rPr>
              <a:t>.</a:t>
            </a:r>
            <a:endParaRPr lang="en-GB" sz="2800" b="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What support technologies are available?</a:t>
            </a:r>
            <a:r>
              <a:rPr lang="en-US" altLang="en-GB" sz="3100" dirty="0" smtClean="0">
                <a:solidFill>
                  <a:schemeClr val="accent2">
                    <a:lumMod val="75000"/>
                  </a:schemeClr>
                </a:solidFill>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支持技术</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GB" sz="2800" b="0" dirty="0" smtClean="0">
                <a:latin typeface="Calibri" panose="020F0502020204030204" charset="0"/>
                <a:cs typeface="Calibri" panose="020F0502020204030204" charset="0"/>
              </a:rPr>
              <a:t>Agile methods</a:t>
            </a:r>
            <a:r>
              <a:rPr lang="en-US" altLang="en-GB" sz="2800" b="0" dirty="0" smtClean="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often rely on good tools to keep track of an evolving design.</a:t>
            </a:r>
            <a:endParaRPr lang="en-GB" sz="2800" b="0" dirty="0" smtClean="0">
              <a:latin typeface="Calibri" panose="020F0502020204030204" charset="0"/>
              <a:cs typeface="Calibri" panose="020F0502020204030204"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7390"/>
            <a:ext cx="8977630" cy="5581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Management issues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管理问题</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24130" y="1241425"/>
            <a:ext cx="9054465" cy="54432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Is it important to have a detailed</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specification and design before moving to</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implementation?</a:t>
            </a:r>
            <a:r>
              <a:rPr lang="en-GB" sz="2800" b="0" dirty="0" smtClean="0">
                <a:latin typeface="Calibri" panose="020F0502020204030204" charset="0"/>
                <a:cs typeface="Calibri" panose="020F0502020204030204" charset="0"/>
              </a:rPr>
              <a:t> If so, you need to use a plan-driven approach for requirements engineering but may use agile development practices during system implementation.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是否先有详细规格说明，然后实现</a:t>
            </a:r>
            <a:endParaRPr lang="en-GB" sz="2000" dirty="0" smtClean="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Is an incremental delivery strategy </a:t>
            </a:r>
            <a:r>
              <a:rPr lang="en-GB" sz="3000" dirty="0" smtClean="0">
                <a:solidFill>
                  <a:schemeClr val="accent2">
                    <a:lumMod val="75000"/>
                  </a:schemeClr>
                </a:solidFill>
                <a:latin typeface="Calibri" panose="020F0502020204030204" charset="0"/>
                <a:cs typeface="Calibri" panose="020F0502020204030204" charset="0"/>
              </a:rPr>
              <a:t>realistic? Will</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customer representatives are willing to participate in the</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development team?</a:t>
            </a:r>
            <a:r>
              <a:rPr lang="en-US" altLang="en-GB" sz="3000" dirty="0" smtClean="0">
                <a:solidFill>
                  <a:schemeClr val="accent2">
                    <a:lumMod val="75000"/>
                  </a:schemeClr>
                </a:solidFill>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是否</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增量式交付</a:t>
            </a:r>
            <a:r>
              <a:rPr lang="en-US" altLang="zh-CN"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客户是否愿意参加团队</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Are there cultural issues that may affect system development? </a:t>
            </a:r>
            <a:r>
              <a:rPr lang="en-GB" sz="2800" b="0" dirty="0" smtClean="0">
                <a:latin typeface="Calibri" panose="020F0502020204030204" charset="0"/>
                <a:cs typeface="Calibri" panose="020F0502020204030204" charset="0"/>
              </a:rPr>
              <a:t>Traditional engineering organizations have a culture of plan-based development, </a:t>
            </a:r>
            <a:r>
              <a:rPr lang="en-US" altLang="en-GB" sz="2800" b="0" dirty="0" smtClean="0">
                <a:latin typeface="Calibri" panose="020F0502020204030204" charset="0"/>
                <a:cs typeface="Calibri" panose="020F0502020204030204" charset="0"/>
              </a:rPr>
              <a:t>t</a:t>
            </a:r>
            <a:r>
              <a:rPr lang="en-GB" sz="2800" b="0" dirty="0" smtClean="0">
                <a:latin typeface="Calibri" panose="020F0502020204030204" charset="0"/>
                <a:cs typeface="Calibri" panose="020F0502020204030204" charset="0"/>
              </a:rPr>
              <a:t>his usually requires extensive design documentation rather than the informal knowledge used in agile processes.</a:t>
            </a:r>
            <a:r>
              <a:rPr lang="en-US" altLang="en-GB" sz="2800" b="0" dirty="0" smtClean="0">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是否有文化问题</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743710" y="2409190"/>
            <a:ext cx="7235190" cy="4241165"/>
          </a:xfrm>
          <a:prstGeom prst="rect">
            <a:avLst/>
          </a:prstGeom>
        </p:spPr>
      </p:pic>
      <p:sp>
        <p:nvSpPr>
          <p:cNvPr id="15363" name="Rectangle 3"/>
          <p:cNvSpPr>
            <a:spLocks noGrp="1" noRot="1"/>
          </p:cNvSpPr>
          <p:nvPr>
            <p:ph type="subTitle" idx="1"/>
            <p:custDataLst>
              <p:tags r:id="rId2"/>
            </p:custDataLst>
          </p:nvPr>
        </p:nvSpPr>
        <p:spPr>
          <a:xfrm>
            <a:off x="88900" y="695960"/>
            <a:ext cx="8977630" cy="5937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Agile methods for large systems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3"/>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5" name="Rectangle 3"/>
          <p:cNvSpPr>
            <a:spLocks noGrp="1" noRot="1"/>
          </p:cNvSpPr>
          <p:nvPr>
            <p:custDataLst>
              <p:tags r:id="rId4"/>
            </p:custDataLst>
          </p:nvPr>
        </p:nvSpPr>
        <p:spPr>
          <a:xfrm>
            <a:off x="130810" y="2581910"/>
            <a:ext cx="1739265" cy="2202815"/>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85000"/>
              </a:lnSpc>
              <a:spcBef>
                <a:spcPts val="600"/>
              </a:spcBef>
              <a:buSzTx/>
              <a:buFont typeface="Wingdings" panose="05000000000000000000" pitchFamily="2" charset="2"/>
              <a:buNone/>
            </a:pPr>
            <a:r>
              <a:rPr lang="en-US" altLang="zh-CN" sz="2200" b="0" dirty="0">
                <a:ea typeface="宋体" panose="02010600030101010101" pitchFamily="2" charset="-122"/>
                <a:sym typeface="Symbol" panose="05050102010706020507" charset="0"/>
              </a:rPr>
              <a:t> </a:t>
            </a:r>
            <a:r>
              <a:rPr lang="en-US" altLang="zh-CN" sz="2200" b="0" u="sng" dirty="0">
                <a:solidFill>
                  <a:schemeClr val="tx1"/>
                </a:solidFill>
                <a:ea typeface="宋体" panose="02010600030101010101" pitchFamily="2" charset="-122"/>
                <a:sym typeface="+mn-ea"/>
              </a:rPr>
              <a:t>Six principal factors</a:t>
            </a:r>
            <a:r>
              <a:rPr lang="en-US" altLang="zh-CN" sz="2200" b="0" dirty="0">
                <a:solidFill>
                  <a:schemeClr val="tx1"/>
                </a:solidFill>
                <a:ea typeface="宋体" panose="02010600030101010101" pitchFamily="2" charset="-122"/>
                <a:sym typeface="+mn-ea"/>
              </a:rPr>
              <a:t> (Figure 3.13) contribute to this complexity.</a:t>
            </a:r>
            <a:endParaRPr lang="zh-CN" altLang="en-US" sz="2200" b="0" dirty="0">
              <a:solidFill>
                <a:schemeClr val="tx1"/>
              </a:solidFill>
              <a:ea typeface="宋体" panose="02010600030101010101" pitchFamily="2" charset="-122"/>
              <a:sym typeface="+mn-ea"/>
            </a:endParaRPr>
          </a:p>
        </p:txBody>
      </p:sp>
      <p:sp>
        <p:nvSpPr>
          <p:cNvPr id="6" name="Rectangle 3"/>
          <p:cNvSpPr>
            <a:spLocks noGrp="1" noRot="1"/>
          </p:cNvSpPr>
          <p:nvPr>
            <p:custDataLst>
              <p:tags r:id="rId5"/>
            </p:custDataLst>
          </p:nvPr>
        </p:nvSpPr>
        <p:spPr>
          <a:xfrm>
            <a:off x="114300" y="1273810"/>
            <a:ext cx="8884285" cy="122936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85000"/>
              </a:lnSpc>
              <a:spcBef>
                <a:spcPts val="600"/>
              </a:spcBef>
              <a:buSzTx/>
              <a:buFont typeface="Wingdings" panose="05000000000000000000" pitchFamily="2" charset="2"/>
              <a:buNone/>
            </a:pPr>
            <a:r>
              <a:rPr lang="en-US" altLang="zh-CN" sz="2200" b="0" dirty="0">
                <a:solidFill>
                  <a:schemeClr val="tx1"/>
                </a:solidFill>
                <a:ea typeface="宋体" panose="02010600030101010101" pitchFamily="2" charset="-122"/>
                <a:sym typeface="Symbol" panose="05050102010706020507" charset="0"/>
              </a:rPr>
              <a:t> </a:t>
            </a:r>
            <a:r>
              <a:rPr lang="en-US" altLang="zh-CN" sz="2200" b="0" dirty="0">
                <a:solidFill>
                  <a:schemeClr val="tx1"/>
                </a:solidFill>
                <a:ea typeface="宋体" panose="02010600030101010101" pitchFamily="2" charset="-122"/>
                <a:sym typeface="+mn-ea"/>
              </a:rPr>
              <a:t>Agile methods have to evolve to be used for large-scale software development. The fundamental reason for this is that large-scale software systems are much more complex and difficult to understand and manage.  </a:t>
            </a:r>
            <a:r>
              <a:rPr lang="zh-CN" altLang="en-US" sz="2000" b="0" dirty="0">
                <a:solidFill>
                  <a:srgbClr val="C00000"/>
                </a:solidFill>
                <a:latin typeface="黑体" panose="02010609060101010101" pitchFamily="49" charset="-122"/>
                <a:ea typeface="黑体" panose="02010609060101010101" pitchFamily="49" charset="-122"/>
                <a:sym typeface="+mn-ea"/>
              </a:rPr>
              <a:t>敏捷方法</a:t>
            </a:r>
            <a:r>
              <a:rPr lang="zh-CN" altLang="en-US" sz="2000" b="0" dirty="0">
                <a:solidFill>
                  <a:srgbClr val="C00000"/>
                </a:solidFill>
                <a:latin typeface="黑体" panose="02010609060101010101" pitchFamily="49" charset="-122"/>
                <a:ea typeface="黑体" panose="02010609060101010101" pitchFamily="49" charset="-122"/>
                <a:sym typeface="+mn-ea"/>
              </a:rPr>
              <a:t>必须</a:t>
            </a:r>
            <a:r>
              <a:rPr lang="zh-CN" altLang="en-US" sz="2000" b="0" dirty="0">
                <a:solidFill>
                  <a:srgbClr val="C00000"/>
                </a:solidFill>
                <a:latin typeface="黑体" panose="02010609060101010101" pitchFamily="49" charset="-122"/>
                <a:ea typeface="黑体" panose="02010609060101010101" pitchFamily="49" charset="-122"/>
                <a:sym typeface="+mn-ea"/>
              </a:rPr>
              <a:t>进化，以用于大规模软件开发</a:t>
            </a:r>
            <a:endParaRPr lang="zh-CN" altLang="en-US" sz="2000" b="0" dirty="0">
              <a:solidFill>
                <a:srgbClr val="C00000"/>
              </a:solidFill>
              <a:latin typeface="黑体" panose="02010609060101010101" pitchFamily="49" charset="-122"/>
              <a:ea typeface="黑体" panose="02010609060101010101" pitchFamily="49" charset="-122"/>
              <a:sym typeface="+mn-ea"/>
            </a:endParaRPr>
          </a:p>
        </p:txBody>
      </p:sp>
      <p:pic>
        <p:nvPicPr>
          <p:cNvPr id="7" name="图片 6"/>
          <p:cNvPicPr>
            <a:picLocks noChangeAspect="1"/>
          </p:cNvPicPr>
          <p:nvPr/>
        </p:nvPicPr>
        <p:blipFill>
          <a:blip r:embed="rId6"/>
          <a:stretch>
            <a:fillRect/>
          </a:stretch>
        </p:blipFill>
        <p:spPr>
          <a:xfrm>
            <a:off x="266065" y="4754880"/>
            <a:ext cx="1866900" cy="504825"/>
          </a:xfrm>
          <a:prstGeom prst="rect">
            <a:avLst/>
          </a:prstGeom>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8665"/>
            <a:ext cx="8977630" cy="5651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Six factors </a:t>
            </a:r>
            <a:r>
              <a:rPr lang="en-US" altLang="zh-CN" sz="3200" dirty="0">
                <a:solidFill>
                  <a:schemeClr val="accent1">
                    <a:lumMod val="75000"/>
                  </a:schemeClr>
                </a:solidFill>
                <a:ea typeface="宋体" panose="02010600030101010101" pitchFamily="2" charset="-122"/>
                <a:sym typeface="+mn-ea"/>
              </a:rPr>
              <a:t>that </a:t>
            </a:r>
            <a:r>
              <a:rPr lang="zh-CN" altLang="en-US" sz="3200" dirty="0">
                <a:solidFill>
                  <a:schemeClr val="accent1">
                    <a:lumMod val="75000"/>
                  </a:schemeClr>
                </a:solidFill>
                <a:ea typeface="宋体" panose="02010600030101010101" pitchFamily="2" charset="-122"/>
                <a:sym typeface="+mn-ea"/>
              </a:rPr>
              <a:t>contribute to complexity</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5725" y="1313180"/>
            <a:ext cx="8969375" cy="53340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Large systems are usually </a:t>
            </a:r>
            <a:r>
              <a:rPr lang="en-US" altLang="en-GB" sz="3000" u="sng" dirty="0" smtClean="0">
                <a:solidFill>
                  <a:schemeClr val="accent2">
                    <a:lumMod val="75000"/>
                  </a:schemeClr>
                </a:solidFill>
                <a:latin typeface="Calibri" panose="020F0502020204030204" charset="0"/>
                <a:cs typeface="Calibri" panose="020F0502020204030204" charset="0"/>
              </a:rPr>
              <a:t>systems of systems</a:t>
            </a:r>
            <a:r>
              <a:rPr lang="en-US" altLang="en-GB" sz="3000" dirty="0" smtClean="0">
                <a:solidFill>
                  <a:schemeClr val="accent2">
                    <a:lumMod val="75000"/>
                  </a:schemeClr>
                </a:solidFill>
                <a:latin typeface="Calibri" panose="020F0502020204030204" charset="0"/>
                <a:cs typeface="Calibri" panose="020F0502020204030204" charset="0"/>
              </a:rPr>
              <a:t>—</a:t>
            </a:r>
            <a:r>
              <a:rPr lang="en-US" altLang="en-GB" sz="2800" b="0" dirty="0" smtClean="0">
                <a:solidFill>
                  <a:schemeClr val="tx1"/>
                </a:solidFill>
                <a:latin typeface="Calibri" panose="020F0502020204030204" charset="0"/>
                <a:cs typeface="Calibri" panose="020F0502020204030204" charset="0"/>
              </a:rPr>
              <a:t>collections of separate, communicating systems, where separate teams develop each system. Often, these teams work in different places, sometimes in different time zones.</a:t>
            </a:r>
            <a:r>
              <a:rPr lang="en-US" altLang="en-GB" sz="30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系统之系统</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2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Large systems are </a:t>
            </a:r>
            <a:r>
              <a:rPr lang="en-GB" sz="3000" u="sng" dirty="0" smtClean="0">
                <a:solidFill>
                  <a:schemeClr val="accent2">
                    <a:lumMod val="75000"/>
                  </a:schemeClr>
                </a:solidFill>
                <a:latin typeface="Calibri" panose="020F0502020204030204" charset="0"/>
                <a:cs typeface="Calibri" panose="020F0502020204030204" charset="0"/>
              </a:rPr>
              <a:t>brownfield systems</a:t>
            </a:r>
            <a:r>
              <a:rPr lang="en-GB" sz="3000" dirty="0" smtClean="0">
                <a:solidFill>
                  <a:schemeClr val="accent2">
                    <a:lumMod val="75000"/>
                  </a:schemeClr>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that is, they</a:t>
            </a:r>
            <a:r>
              <a:rPr lang="en-US" altLang="en-GB" sz="2800" b="0" dirty="0" smtClean="0">
                <a:solidFill>
                  <a:schemeClr val="tx1"/>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include and interact with a number of existing systems. Many of the requirements are concerned with th</a:t>
            </a:r>
            <a:r>
              <a:rPr lang="en-US" altLang="en-GB" sz="2800" b="0" dirty="0" smtClean="0">
                <a:solidFill>
                  <a:schemeClr val="tx1"/>
                </a:solidFill>
                <a:latin typeface="Calibri" panose="020F0502020204030204" charset="0"/>
                <a:cs typeface="Calibri" panose="020F0502020204030204" charset="0"/>
              </a:rPr>
              <a:t>e</a:t>
            </a:r>
            <a:r>
              <a:rPr lang="en-GB" sz="2800" b="0" dirty="0" smtClean="0">
                <a:solidFill>
                  <a:schemeClr val="tx1"/>
                </a:solidFill>
                <a:latin typeface="Calibri" panose="020F0502020204030204" charset="0"/>
                <a:cs typeface="Calibri" panose="020F0502020204030204" charset="0"/>
              </a:rPr>
              <a:t> interaction and don’t lend themselves to</a:t>
            </a:r>
            <a:r>
              <a:rPr lang="en-US" altLang="en-GB" sz="2800" b="0" dirty="0" smtClean="0">
                <a:solidFill>
                  <a:schemeClr val="tx1"/>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flexibility and incremental development.</a:t>
            </a:r>
            <a:r>
              <a:rPr lang="en-GB" sz="3000" dirty="0" smtClean="0">
                <a:solidFill>
                  <a:schemeClr val="accent2">
                    <a:lumMod val="75000"/>
                  </a:schemeClr>
                </a:solidFill>
                <a:latin typeface="Calibri" panose="020F0502020204030204" charset="0"/>
                <a:cs typeface="Calibri" panose="020F0502020204030204" charset="0"/>
              </a:rPr>
              <a:t> </a:t>
            </a:r>
            <a:r>
              <a:rPr lang="en-US" altLang="en-GB" sz="30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棕地系统</a:t>
            </a:r>
            <a:endParaRPr lang="en-GB" sz="3000" dirty="0" smtClean="0">
              <a:solidFill>
                <a:schemeClr val="accent2">
                  <a:lumMod val="75000"/>
                </a:schemeClr>
              </a:solidFill>
              <a:latin typeface="Calibri" panose="020F0502020204030204" charset="0"/>
              <a:cs typeface="Calibri" panose="020F0502020204030204" charset="0"/>
            </a:endParaRPr>
          </a:p>
          <a:p>
            <a:pPr>
              <a:lnSpc>
                <a:spcPct val="82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Where several systems are integrated to create a system, a significant fraction of</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the development is concerned with system configuration rather than original</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code development. </a:t>
            </a:r>
            <a:r>
              <a:rPr lang="en-US" altLang="en-GB" sz="30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集成的系统</a:t>
            </a:r>
            <a:endPar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9535" y="1313180"/>
            <a:ext cx="8954135" cy="51993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Large systems and their development processes are often constrained by external rules and regulations limiting the way that they can be developed.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受限</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Large systems have a long procurement and development time. It is difficult to maintain coherent teams who know about the system over that period.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连贯团队</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90000"/>
              </a:lnSpc>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Large systems usually have a diverse set of</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stakeholders with different perspectives and</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objectives.</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It is practically impossible to involve all of</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these different stakeholders in the development</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process.</a:t>
            </a:r>
            <a:r>
              <a:rPr lang="en-US" altLang="en-GB" sz="30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不同干系人</a:t>
            </a:r>
            <a:endParaRPr lang="zh-CN" altLang="en-US" sz="30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
        <p:nvSpPr>
          <p:cNvPr id="5" name="Rectangle 3"/>
          <p:cNvSpPr>
            <a:spLocks noGrp="1" noRot="1"/>
          </p:cNvSpPr>
          <p:nvPr>
            <p:ph type="subTitle" idx="1"/>
            <p:custDataLst>
              <p:tags r:id="rId2"/>
            </p:custDataLst>
          </p:nvPr>
        </p:nvSpPr>
        <p:spPr>
          <a:xfrm>
            <a:off x="88900" y="767080"/>
            <a:ext cx="8977630" cy="4933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chemeClr val="accent1">
                    <a:lumMod val="75000"/>
                  </a:schemeClr>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Six factors </a:t>
            </a:r>
            <a:r>
              <a:rPr lang="en-US" altLang="zh-CN" sz="3000" dirty="0">
                <a:solidFill>
                  <a:schemeClr val="accent1">
                    <a:lumMod val="75000"/>
                  </a:schemeClr>
                </a:solidFill>
                <a:ea typeface="宋体" panose="02010600030101010101" pitchFamily="2" charset="-122"/>
                <a:sym typeface="+mn-ea"/>
              </a:rPr>
              <a:t>that </a:t>
            </a:r>
            <a:r>
              <a:rPr lang="zh-CN" altLang="en-US" sz="3000" dirty="0">
                <a:solidFill>
                  <a:schemeClr val="accent1">
                    <a:lumMod val="75000"/>
                  </a:schemeClr>
                </a:solidFill>
                <a:ea typeface="宋体" panose="02010600030101010101" pitchFamily="2" charset="-122"/>
                <a:sym typeface="+mn-ea"/>
              </a:rPr>
              <a:t>contribute to complexity</a:t>
            </a:r>
            <a:r>
              <a:rPr lang="en-US" altLang="zh-CN" sz="30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ea typeface="宋体" panose="02010600030101010101" pitchFamily="2" charset="-122"/>
                <a:sym typeface="+mn-ea"/>
              </a:rPr>
              <a:t>cont’d</a:t>
            </a:r>
            <a:endParaRPr lang="en-US" altLang="zh-CN"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7715"/>
            <a:ext cx="8977630" cy="5645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IBM</a:t>
            </a:r>
            <a:r>
              <a:rPr lang="en-US" altLang="zh-CN" sz="3200" dirty="0">
                <a:solidFill>
                  <a:schemeClr val="accent1">
                    <a:lumMod val="75000"/>
                  </a:schemeClr>
                </a:solidFill>
                <a:ea typeface="宋体" panose="02010600030101010101" pitchFamily="2" charset="-122"/>
                <a:sym typeface="+mn-ea"/>
              </a:rPr>
              <a:t>’</a:t>
            </a:r>
            <a:r>
              <a:rPr lang="zh-CN" altLang="en-US" sz="3200" dirty="0">
                <a:solidFill>
                  <a:schemeClr val="accent1">
                    <a:lumMod val="75000"/>
                  </a:schemeClr>
                </a:solidFill>
                <a:ea typeface="宋体" panose="02010600030101010101" pitchFamily="2" charset="-122"/>
                <a:sym typeface="+mn-ea"/>
              </a:rPr>
              <a:t>s agility at scale model</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33655" y="1475740"/>
            <a:ext cx="8987790" cy="5105400"/>
          </a:xfrm>
          <a:prstGeom prst="rect">
            <a:avLst/>
          </a:prstGeom>
        </p:spPr>
      </p:pic>
      <p:sp>
        <p:nvSpPr>
          <p:cNvPr id="5" name="Rectangle 3"/>
          <p:cNvSpPr>
            <a:spLocks noGrp="1" noRot="1"/>
          </p:cNvSpPr>
          <p:nvPr>
            <p:custDataLst>
              <p:tags r:id="rId4"/>
            </p:custDataLst>
          </p:nvPr>
        </p:nvSpPr>
        <p:spPr>
          <a:xfrm>
            <a:off x="7388225" y="2868930"/>
            <a:ext cx="1574800" cy="329057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85000"/>
              </a:lnSpc>
              <a:spcBef>
                <a:spcPts val="600"/>
              </a:spcBef>
              <a:buSzTx/>
              <a:buFont typeface="Wingdings" panose="05000000000000000000" pitchFamily="2" charset="2"/>
              <a:buNone/>
            </a:pPr>
            <a:r>
              <a:rPr lang="en-US" altLang="zh-CN" sz="2000" b="0" dirty="0">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IBM has developed a framework for the large-scale use of agile methods called the Agile Scaling Model (ASM).</a:t>
            </a:r>
            <a:endParaRPr lang="zh-CN" altLang="en-US" sz="2000" b="0" dirty="0">
              <a:solidFill>
                <a:schemeClr val="tx1"/>
              </a:solidFill>
              <a:ea typeface="宋体" panose="02010600030101010101" pitchFamily="2" charset="-122"/>
              <a:sym typeface="+mn-ea"/>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5960"/>
            <a:ext cx="8977630" cy="7486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700" dirty="0">
                <a:solidFill>
                  <a:srgbClr val="0070C0"/>
                </a:solidFill>
                <a:ea typeface="宋体" panose="02010600030101010101" pitchFamily="2" charset="-122"/>
                <a:sym typeface="+mn-ea"/>
              </a:rPr>
              <a:t> </a:t>
            </a:r>
            <a:r>
              <a:rPr lang="en-US" altLang="zh-CN" sz="2700" dirty="0">
                <a:solidFill>
                  <a:schemeClr val="accent1">
                    <a:lumMod val="75000"/>
                  </a:schemeClr>
                </a:solidFill>
                <a:ea typeface="宋体" panose="02010600030101010101" pitchFamily="2" charset="-122"/>
                <a:sym typeface="+mn-ea"/>
              </a:rPr>
              <a:t>T</a:t>
            </a:r>
            <a:r>
              <a:rPr lang="zh-CN" altLang="en-US" sz="2700" dirty="0">
                <a:solidFill>
                  <a:schemeClr val="accent1">
                    <a:lumMod val="75000"/>
                  </a:schemeClr>
                </a:solidFill>
                <a:ea typeface="宋体" panose="02010600030101010101" pitchFamily="2" charset="-122"/>
                <a:sym typeface="+mn-ea"/>
              </a:rPr>
              <a:t>hings in common</a:t>
            </a:r>
            <a:r>
              <a:rPr lang="en-US" altLang="zh-CN" sz="2700" dirty="0">
                <a:solidFill>
                  <a:schemeClr val="accent1">
                    <a:lumMod val="75000"/>
                  </a:schemeClr>
                </a:solidFill>
                <a:ea typeface="宋体" panose="02010600030101010101" pitchFamily="2" charset="-122"/>
                <a:sym typeface="+mn-ea"/>
              </a:rPr>
              <a:t> for s</a:t>
            </a:r>
            <a:r>
              <a:rPr lang="zh-CN" altLang="en-US" sz="2700" dirty="0">
                <a:solidFill>
                  <a:schemeClr val="accent1">
                    <a:lumMod val="75000"/>
                  </a:schemeClr>
                </a:solidFill>
                <a:ea typeface="宋体" panose="02010600030101010101" pitchFamily="2" charset="-122"/>
                <a:sym typeface="+mn-ea"/>
              </a:rPr>
              <a:t>caling </a:t>
            </a:r>
            <a:r>
              <a:rPr lang="zh-CN" altLang="en-US" sz="2700" dirty="0">
                <a:solidFill>
                  <a:schemeClr val="accent1">
                    <a:lumMod val="75000"/>
                  </a:schemeClr>
                </a:solidFill>
                <a:ea typeface="宋体" panose="02010600030101010101" pitchFamily="2" charset="-122"/>
                <a:sym typeface="+mn-ea"/>
              </a:rPr>
              <a:t>agile methods</a:t>
            </a:r>
            <a:r>
              <a:rPr lang="zh-CN" altLang="en-US" sz="27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敏捷方法伸缩的共同点</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74295" y="1528445"/>
            <a:ext cx="8980805" cy="52419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altLang="en-GB" sz="2900" dirty="0" smtClean="0">
                <a:solidFill>
                  <a:schemeClr val="accent2">
                    <a:lumMod val="75000"/>
                  </a:schemeClr>
                </a:solidFill>
                <a:latin typeface="Calibri" panose="020F0502020204030204" charset="0"/>
                <a:cs typeface="Calibri" panose="020F0502020204030204" charset="0"/>
              </a:rPr>
              <a:t> A completely incremental approach to requirements engineering is impossible.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完全增量式不可能</a:t>
            </a:r>
            <a:endParaRPr lang="en-US" altLang="en-GB" sz="2000" dirty="0" smtClean="0">
              <a:solidFill>
                <a:schemeClr val="accent2">
                  <a:lumMod val="75000"/>
                </a:schemeClr>
              </a:solidFill>
              <a:latin typeface="Calibri" panose="020F0502020204030204" charset="0"/>
              <a:cs typeface="Calibri" panose="020F0502020204030204" charset="0"/>
            </a:endParaRPr>
          </a:p>
          <a:p>
            <a:pPr>
              <a:lnSpc>
                <a:spcPct val="82000"/>
              </a:lnSpc>
              <a:spcBef>
                <a:spcPts val="500"/>
              </a:spcBef>
              <a:spcAft>
                <a:spcPts val="0"/>
              </a:spcAft>
            </a:pPr>
            <a:r>
              <a:rPr lang="en-US" altLang="en-GB" sz="2900" dirty="0" smtClean="0">
                <a:solidFill>
                  <a:schemeClr val="accent2">
                    <a:lumMod val="75000"/>
                  </a:schemeClr>
                </a:solidFill>
                <a:latin typeface="Calibri" panose="020F0502020204030204" charset="0"/>
                <a:cs typeface="Calibri" panose="020F0502020204030204" charset="0"/>
              </a:rPr>
              <a:t> There cannot be a single product owner or customer representative, </a:t>
            </a:r>
            <a:r>
              <a:rPr lang="en-US" altLang="en-GB" sz="2700" b="0" dirty="0" smtClean="0">
                <a:solidFill>
                  <a:schemeClr val="tx1"/>
                </a:solidFill>
                <a:latin typeface="Calibri" panose="020F0502020204030204" charset="0"/>
                <a:cs typeface="Calibri" panose="020F0502020204030204" charset="0"/>
              </a:rPr>
              <a:t>they have to communicate and negotiate throughout. </a:t>
            </a:r>
            <a:r>
              <a:rPr lang="en-US" altLang="en-GB" sz="2000" dirty="0" smtClean="0">
                <a:solidFill>
                  <a:schemeClr val="accent2">
                    <a:lumMod val="75000"/>
                  </a:schemeClr>
                </a:solidFill>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不止一个产品负责人或客户代表</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 </a:t>
            </a:r>
            <a:endParaRPr lang="en-US" altLang="en-GB" sz="3100" dirty="0" smtClean="0">
              <a:solidFill>
                <a:schemeClr val="accent2">
                  <a:lumMod val="75000"/>
                </a:schemeClr>
              </a:solidFill>
              <a:latin typeface="Calibri" panose="020F0502020204030204" charset="0"/>
              <a:cs typeface="Calibri" panose="020F0502020204030204" charset="0"/>
            </a:endParaRPr>
          </a:p>
          <a:p>
            <a:pPr>
              <a:lnSpc>
                <a:spcPct val="82000"/>
              </a:lnSpc>
              <a:spcBef>
                <a:spcPts val="500"/>
              </a:spcBef>
              <a:spcAft>
                <a:spcPts val="0"/>
              </a:spcAft>
            </a:pPr>
            <a:r>
              <a:rPr lang="en-US" altLang="en-GB" sz="2900" dirty="0" smtClean="0">
                <a:solidFill>
                  <a:schemeClr val="accent2">
                    <a:lumMod val="75000"/>
                  </a:schemeClr>
                </a:solidFill>
                <a:latin typeface="Calibri" panose="020F0502020204030204" charset="0"/>
                <a:cs typeface="Calibri" panose="020F0502020204030204" charset="0"/>
              </a:rPr>
              <a:t> It is not possible to focus only on the code.</a:t>
            </a:r>
            <a:r>
              <a:rPr lang="en-US" altLang="en-GB" sz="2700" dirty="0" smtClean="0">
                <a:solidFill>
                  <a:schemeClr val="accent2">
                    <a:lumMod val="75000"/>
                  </a:schemeClr>
                </a:solidFill>
                <a:latin typeface="Calibri" panose="020F0502020204030204" charset="0"/>
                <a:cs typeface="Calibri" panose="020F0502020204030204" charset="0"/>
              </a:rPr>
              <a:t> </a:t>
            </a:r>
            <a:r>
              <a:rPr lang="en-US" altLang="en-GB" sz="2700" b="0" dirty="0" smtClean="0">
                <a:solidFill>
                  <a:schemeClr val="tx1"/>
                </a:solidFill>
                <a:latin typeface="Calibri" panose="020F0502020204030204" charset="0"/>
                <a:cs typeface="Calibri" panose="020F0502020204030204" charset="0"/>
              </a:rPr>
              <a:t>You need to do more up-front design and system documentation.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不能只关注代码，还要做前期设计和文档</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2000"/>
              </a:lnSpc>
              <a:spcBef>
                <a:spcPts val="500"/>
              </a:spcBef>
              <a:spcAft>
                <a:spcPts val="0"/>
              </a:spcAft>
            </a:pPr>
            <a:r>
              <a:rPr lang="en-US" altLang="en-GB" sz="2900" dirty="0" smtClean="0">
                <a:solidFill>
                  <a:schemeClr val="accent2">
                    <a:lumMod val="75000"/>
                  </a:schemeClr>
                </a:solidFill>
                <a:latin typeface="Calibri" panose="020F0502020204030204" charset="0"/>
                <a:cs typeface="Calibri" panose="020F0502020204030204" charset="0"/>
              </a:rPr>
              <a:t> Cross-team communication mechanisms have to be designed and used.   </a:t>
            </a:r>
            <a:r>
              <a:rPr lang="en-US" altLang="en-GB" sz="2000" dirty="0" smtClean="0">
                <a:solidFill>
                  <a:schemeClr val="accent2">
                    <a:lumMod val="75000"/>
                  </a:schemeClr>
                </a:solidFill>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建立和利用跨团队的沟通机制</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2000"/>
              </a:lnSpc>
              <a:spcBef>
                <a:spcPts val="500"/>
              </a:spcBef>
              <a:spcAft>
                <a:spcPts val="0"/>
              </a:spcAft>
            </a:pPr>
            <a:r>
              <a:rPr lang="en-US" altLang="en-GB" sz="2900" dirty="0" smtClean="0">
                <a:solidFill>
                  <a:schemeClr val="accent2">
                    <a:lumMod val="75000"/>
                  </a:schemeClr>
                </a:solidFill>
                <a:latin typeface="Calibri" panose="020F0502020204030204" charset="0"/>
                <a:cs typeface="Calibri" panose="020F0502020204030204" charset="0"/>
              </a:rPr>
              <a:t> Continuous integration is impossible when several separate programs have to be integrated to create the system.</a:t>
            </a:r>
            <a:r>
              <a:rPr lang="en-US" altLang="en-GB" sz="2700" dirty="0" smtClean="0">
                <a:solidFill>
                  <a:schemeClr val="accent2">
                    <a:lumMod val="75000"/>
                  </a:schemeClr>
                </a:solidFill>
                <a:latin typeface="Calibri" panose="020F0502020204030204" charset="0"/>
                <a:cs typeface="Calibri" panose="020F0502020204030204" charset="0"/>
              </a:rPr>
              <a:t> </a:t>
            </a:r>
            <a:r>
              <a:rPr lang="en-US" altLang="en-GB" sz="2700" b="0" dirty="0" smtClean="0">
                <a:solidFill>
                  <a:schemeClr val="tx1"/>
                </a:solidFill>
                <a:latin typeface="Calibri" panose="020F0502020204030204" charset="0"/>
                <a:cs typeface="Calibri" panose="020F0502020204030204" charset="0"/>
              </a:rPr>
              <a:t>But it is essential to maintain frequent system builds and regular releases.</a:t>
            </a:r>
            <a:r>
              <a:rPr lang="en-US" altLang="en-GB" sz="2700" dirty="0" smtClean="0">
                <a:solidFill>
                  <a:schemeClr val="accent2">
                    <a:lumMod val="75000"/>
                  </a:schemeClr>
                </a:solidFill>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持续集成不可能, 频繁构建+定期发布</a:t>
            </a:r>
            <a:endParaRPr lang="zh-CN" altLang="en-US" sz="20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5960"/>
            <a:ext cx="8977630" cy="8604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700" dirty="0">
                <a:solidFill>
                  <a:srgbClr val="0070C0"/>
                </a:solidFill>
                <a:ea typeface="宋体" panose="02010600030101010101" pitchFamily="2" charset="-122"/>
                <a:sym typeface="+mn-ea"/>
              </a:rPr>
              <a:t> </a:t>
            </a:r>
            <a:r>
              <a:rPr lang="en-US" altLang="zh-CN" sz="2700" dirty="0">
                <a:solidFill>
                  <a:schemeClr val="accent1">
                    <a:lumMod val="75000"/>
                  </a:schemeClr>
                </a:solidFill>
                <a:ea typeface="宋体" panose="02010600030101010101" pitchFamily="2" charset="-122"/>
                <a:sym typeface="+mn-ea"/>
              </a:rPr>
              <a:t>K</a:t>
            </a:r>
            <a:r>
              <a:rPr lang="zh-CN" altLang="en-US" sz="2700" dirty="0">
                <a:solidFill>
                  <a:schemeClr val="accent1">
                    <a:lumMod val="75000"/>
                  </a:schemeClr>
                </a:solidFill>
                <a:ea typeface="宋体" panose="02010600030101010101" pitchFamily="2" charset="-122"/>
                <a:sym typeface="+mn-ea"/>
              </a:rPr>
              <a:t>ey characteristics of multi-team</a:t>
            </a:r>
            <a:r>
              <a:rPr lang="en-US" altLang="zh-CN" sz="2700" dirty="0">
                <a:solidFill>
                  <a:schemeClr val="accent1">
                    <a:lumMod val="75000"/>
                  </a:schemeClr>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Scrum</a:t>
            </a:r>
            <a:r>
              <a:rPr lang="en-US" altLang="zh-CN" sz="27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多团队</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Scrum</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的关键特性</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3340" y="1528445"/>
            <a:ext cx="9012555" cy="51530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000" i="1" dirty="0">
                <a:solidFill>
                  <a:schemeClr val="accent2">
                    <a:lumMod val="75000"/>
                  </a:schemeClr>
                </a:solidFill>
                <a:latin typeface="Calibri" panose="020F0502020204030204" charset="0"/>
                <a:cs typeface="Calibri" panose="020F0502020204030204" charset="0"/>
              </a:rPr>
              <a:t> </a:t>
            </a:r>
            <a:r>
              <a:rPr lang="en-GB" sz="3000" i="1" dirty="0">
                <a:solidFill>
                  <a:schemeClr val="accent2">
                    <a:lumMod val="75000"/>
                  </a:schemeClr>
                </a:solidFill>
                <a:latin typeface="Calibri" panose="020F0502020204030204" charset="0"/>
                <a:cs typeface="Calibri" panose="020F0502020204030204" charset="0"/>
              </a:rPr>
              <a:t>Role replication</a:t>
            </a:r>
            <a:r>
              <a:rPr lang="en-US" altLang="en-GB" sz="3000" dirty="0">
                <a:solidFill>
                  <a:schemeClr val="accent2">
                    <a:lumMod val="75000"/>
                  </a:schemeClr>
                </a:solidFill>
                <a:latin typeface="Calibri" panose="020F0502020204030204" charset="0"/>
                <a:cs typeface="Calibri" panose="020F0502020204030204" charset="0"/>
              </a:rPr>
              <a:t>:</a:t>
            </a:r>
            <a:r>
              <a:rPr lang="en-US" altLang="en-GB" sz="3000" i="1" dirty="0">
                <a:solidFill>
                  <a:schemeClr val="accent2">
                    <a:lumMod val="75000"/>
                  </a:schemeClr>
                </a:solidFill>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Each </a:t>
            </a:r>
            <a:r>
              <a:rPr lang="en-GB" sz="2800" b="0" dirty="0">
                <a:latin typeface="Calibri" panose="020F0502020204030204" charset="0"/>
                <a:cs typeface="Calibri" panose="020F0502020204030204" charset="0"/>
              </a:rPr>
              <a:t>team has a Product Owner and </a:t>
            </a:r>
            <a:r>
              <a:rPr lang="en-GB" sz="2800" b="0" dirty="0" err="1">
                <a:latin typeface="Calibri" panose="020F0502020204030204" charset="0"/>
                <a:cs typeface="Calibri" panose="020F0502020204030204" charset="0"/>
              </a:rPr>
              <a:t>ScrumMaster</a:t>
            </a:r>
            <a:r>
              <a:rPr lang="en-GB" sz="2800" b="0" dirty="0">
                <a:latin typeface="Calibri" panose="020F0502020204030204" charset="0"/>
                <a:cs typeface="Calibri" panose="020F0502020204030204" charset="0"/>
              </a:rPr>
              <a:t>. There may be a chief Product Owner and ScrumMaster for the</a:t>
            </a:r>
            <a:r>
              <a:rPr lang="en-US" altLang="en-GB" sz="2800" b="0" dirty="0">
                <a:latin typeface="Calibri" panose="020F0502020204030204" charset="0"/>
                <a:cs typeface="Calibri" panose="020F0502020204030204" charset="0"/>
              </a:rPr>
              <a:t> entire project.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角色重复 </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altLang="en-GB" sz="3000" i="1" dirty="0" smtClean="0">
                <a:solidFill>
                  <a:schemeClr val="accent2">
                    <a:lumMod val="75000"/>
                  </a:schemeClr>
                </a:solidFill>
                <a:latin typeface="Calibri" panose="020F0502020204030204" charset="0"/>
                <a:cs typeface="Calibri" panose="020F0502020204030204" charset="0"/>
              </a:rPr>
              <a:t> </a:t>
            </a:r>
            <a:r>
              <a:rPr lang="en-GB" sz="3000" i="1" dirty="0" smtClean="0">
                <a:solidFill>
                  <a:schemeClr val="accent2">
                    <a:lumMod val="75000"/>
                  </a:schemeClr>
                </a:solidFill>
                <a:latin typeface="Calibri" panose="020F0502020204030204" charset="0"/>
                <a:cs typeface="Calibri" panose="020F0502020204030204" charset="0"/>
              </a:rPr>
              <a:t>Product </a:t>
            </a:r>
            <a:r>
              <a:rPr lang="en-GB" sz="3000" i="1" dirty="0">
                <a:solidFill>
                  <a:schemeClr val="accent2">
                    <a:lumMod val="75000"/>
                  </a:schemeClr>
                </a:solidFill>
                <a:latin typeface="Calibri" panose="020F0502020204030204" charset="0"/>
                <a:cs typeface="Calibri" panose="020F0502020204030204" charset="0"/>
              </a:rPr>
              <a:t>architects</a:t>
            </a:r>
            <a:r>
              <a:rPr lang="en-US" altLang="en-GB" sz="3000" dirty="0">
                <a:solidFill>
                  <a:schemeClr val="accent2">
                    <a:lumMod val="75000"/>
                  </a:schemeClr>
                </a:solidFill>
                <a:latin typeface="Calibri" panose="020F0502020204030204" charset="0"/>
                <a:cs typeface="Calibri" panose="020F0502020204030204" charset="0"/>
              </a:rPr>
              <a:t>:</a:t>
            </a:r>
            <a:r>
              <a:rPr lang="en-GB" sz="3000" dirty="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Each </a:t>
            </a:r>
            <a:r>
              <a:rPr lang="en-GB" sz="2800" b="0" dirty="0">
                <a:latin typeface="Calibri" panose="020F0502020204030204" charset="0"/>
                <a:cs typeface="Calibri" panose="020F0502020204030204" charset="0"/>
              </a:rPr>
              <a:t>team chooses a product architect</a:t>
            </a:r>
            <a:r>
              <a:rPr lang="en-US" altLang="en-GB" sz="2800" b="0" dirty="0">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 and these architects collaborate to design and evolve the overall system architecture.</a:t>
            </a:r>
            <a:r>
              <a:rPr lang="en-US" altLang="en-GB" sz="2800" b="0" dirty="0">
                <a:latin typeface="Calibri" panose="020F0502020204030204" charset="0"/>
                <a:cs typeface="Calibri" panose="020F0502020204030204" charset="0"/>
              </a:rPr>
              <a:t> </a:t>
            </a:r>
            <a:r>
              <a:rPr lang="en-US" altLang="en-GB" sz="2600" b="0" dirty="0">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产品架构师</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altLang="en-GB" sz="3000" i="1" dirty="0" smtClean="0">
                <a:solidFill>
                  <a:schemeClr val="accent2">
                    <a:lumMod val="75000"/>
                  </a:schemeClr>
                </a:solidFill>
                <a:latin typeface="Calibri" panose="020F0502020204030204" charset="0"/>
                <a:cs typeface="Calibri" panose="020F0502020204030204" charset="0"/>
              </a:rPr>
              <a:t> </a:t>
            </a:r>
            <a:r>
              <a:rPr lang="en-GB" sz="3000" i="1" dirty="0" smtClean="0">
                <a:solidFill>
                  <a:schemeClr val="accent2">
                    <a:lumMod val="75000"/>
                  </a:schemeClr>
                </a:solidFill>
                <a:latin typeface="Calibri" panose="020F0502020204030204" charset="0"/>
                <a:cs typeface="Calibri" panose="020F0502020204030204" charset="0"/>
              </a:rPr>
              <a:t>Release </a:t>
            </a:r>
            <a:r>
              <a:rPr lang="en-GB" sz="3000" i="1" dirty="0">
                <a:solidFill>
                  <a:schemeClr val="accent2">
                    <a:lumMod val="75000"/>
                  </a:schemeClr>
                </a:solidFill>
                <a:latin typeface="Calibri" panose="020F0502020204030204" charset="0"/>
                <a:cs typeface="Calibri" panose="020F0502020204030204" charset="0"/>
              </a:rPr>
              <a:t>alignment</a:t>
            </a:r>
            <a:r>
              <a:rPr lang="en-US" altLang="en-GB" sz="3000" dirty="0">
                <a:solidFill>
                  <a:schemeClr val="accent2">
                    <a:lumMod val="75000"/>
                  </a:schemeClr>
                </a:solidFill>
                <a:latin typeface="Calibri" panose="020F0502020204030204" charset="0"/>
                <a:cs typeface="Calibri" panose="020F0502020204030204" charset="0"/>
              </a:rPr>
              <a:t>:</a:t>
            </a:r>
            <a:r>
              <a:rPr lang="en-US" altLang="en-GB" sz="3000" i="1" dirty="0">
                <a:solidFill>
                  <a:schemeClr val="accent2">
                    <a:lumMod val="75000"/>
                  </a:schemeClr>
                </a:solidFill>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The </a:t>
            </a:r>
            <a:r>
              <a:rPr lang="en-GB" sz="2800" b="0" dirty="0">
                <a:latin typeface="Calibri" panose="020F0502020204030204" charset="0"/>
                <a:cs typeface="Calibri" panose="020F0502020204030204" charset="0"/>
              </a:rPr>
              <a:t>dates of product releases from each team are aligned so that a demonstrable and complete system is produced.</a:t>
            </a:r>
            <a:r>
              <a:rPr lang="en-US" altLang="en-GB" sz="2800" b="0" dirty="0">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发布同步</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altLang="en-GB" sz="3000" i="1" dirty="0" smtClean="0">
                <a:solidFill>
                  <a:schemeClr val="accent2">
                    <a:lumMod val="75000"/>
                  </a:schemeClr>
                </a:solidFill>
                <a:latin typeface="Calibri" panose="020F0502020204030204" charset="0"/>
                <a:cs typeface="Calibri" panose="020F0502020204030204" charset="0"/>
              </a:rPr>
              <a:t> </a:t>
            </a:r>
            <a:r>
              <a:rPr lang="en-GB" sz="3000" i="1" dirty="0" smtClean="0">
                <a:solidFill>
                  <a:schemeClr val="accent2">
                    <a:lumMod val="75000"/>
                  </a:schemeClr>
                </a:solidFill>
                <a:latin typeface="Calibri" panose="020F0502020204030204" charset="0"/>
                <a:cs typeface="Calibri" panose="020F0502020204030204" charset="0"/>
              </a:rPr>
              <a:t>Scrum </a:t>
            </a:r>
            <a:r>
              <a:rPr lang="en-GB" sz="3000" i="1" dirty="0">
                <a:solidFill>
                  <a:schemeClr val="accent2">
                    <a:lumMod val="75000"/>
                  </a:schemeClr>
                </a:solidFill>
                <a:latin typeface="Calibri" panose="020F0502020204030204" charset="0"/>
                <a:cs typeface="Calibri" panose="020F0502020204030204" charset="0"/>
              </a:rPr>
              <a:t>of Scrums</a:t>
            </a:r>
            <a:r>
              <a:rPr lang="en-US" altLang="en-GB" sz="3000" dirty="0">
                <a:solidFill>
                  <a:schemeClr val="accent2">
                    <a:lumMod val="75000"/>
                  </a:schemeClr>
                </a:solidFill>
                <a:latin typeface="Calibri" panose="020F0502020204030204" charset="0"/>
                <a:cs typeface="Calibri" panose="020F0502020204030204" charset="0"/>
              </a:rPr>
              <a:t>:</a:t>
            </a:r>
            <a:r>
              <a:rPr lang="en-US" altLang="en-GB" sz="3000" i="1" dirty="0">
                <a:solidFill>
                  <a:schemeClr val="accent2">
                    <a:lumMod val="75000"/>
                  </a:schemeClr>
                </a:solidFill>
                <a:latin typeface="Calibri" panose="020F0502020204030204" charset="0"/>
                <a:cs typeface="Calibri" panose="020F0502020204030204" charset="0"/>
              </a:rPr>
              <a:t> </a:t>
            </a:r>
            <a:r>
              <a:rPr lang="en-US" sz="2800" b="0" dirty="0">
                <a:latin typeface="Calibri" panose="020F0502020204030204" charset="0"/>
                <a:cs typeface="Calibri" panose="020F0502020204030204" charset="0"/>
              </a:rPr>
              <a:t>There is a daily Scrum of Scrums where representatives from each team meet to discuss progress, identify problems, and plan the work to be done that day.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每日站立会议</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9460"/>
            <a:ext cx="8977630" cy="919480"/>
          </a:xfrm>
        </p:spPr>
        <p:txBody>
          <a:bodyPr vert="horz" wrap="square" lIns="91440" tIns="45720" rIns="91440" bIns="45720" anchor="t" anchorCtr="0">
            <a:noAutofit/>
          </a:bodyPr>
          <a:p>
            <a:pPr algn="l" eaLnBrk="1" latinLnBrk="0" hangingPunct="1">
              <a:lnSpc>
                <a:spcPct val="80000"/>
              </a:lnSpc>
              <a:spcBef>
                <a:spcPts val="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a:t>
            </a:r>
            <a:r>
              <a:rPr lang="en-US" sz="3200" dirty="0">
                <a:solidFill>
                  <a:schemeClr val="accent1">
                    <a:lumMod val="75000"/>
                  </a:schemeClr>
                </a:solidFill>
                <a:ea typeface="宋体" panose="02010600030101010101" pitchFamily="2" charset="-122"/>
                <a:sym typeface="+mn-ea"/>
              </a:rPr>
              <a:t>D</a:t>
            </a:r>
            <a:r>
              <a:rPr lang="en-US" altLang="zh-CN" sz="3200" dirty="0">
                <a:solidFill>
                  <a:schemeClr val="accent1">
                    <a:lumMod val="75000"/>
                  </a:schemeClr>
                </a:solidFill>
                <a:ea typeface="宋体" panose="02010600030101010101" pitchFamily="2" charset="-122"/>
                <a:sym typeface="+mn-ea"/>
              </a:rPr>
              <a:t>ifficulties </a:t>
            </a:r>
            <a:r>
              <a:rPr lang="zh-CN" altLang="en-US" sz="3200" dirty="0">
                <a:solidFill>
                  <a:schemeClr val="accent1">
                    <a:lumMod val="75000"/>
                  </a:schemeClr>
                </a:solidFill>
                <a:ea typeface="宋体" panose="02010600030101010101" pitchFamily="2" charset="-122"/>
                <a:sym typeface="+mn-ea"/>
              </a:rPr>
              <a:t>to introduce agile methods</a:t>
            </a: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into large companies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大公司引入敏捷方法的困难</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35560" y="1600200"/>
            <a:ext cx="9030970" cy="52152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GB" sz="2700" dirty="0" smtClean="0">
                <a:solidFill>
                  <a:schemeClr val="accent2">
                    <a:lumMod val="75000"/>
                  </a:schemeClr>
                </a:solidFill>
                <a:latin typeface="Calibri" panose="020F0502020204030204" charset="0"/>
                <a:cs typeface="Calibri" panose="020F0502020204030204" charset="0"/>
              </a:rPr>
              <a:t>Project managers who do not have experience of agile methods may be reluctant</a:t>
            </a:r>
            <a:r>
              <a:rPr lang="en-US" altLang="en-GB" sz="2700" dirty="0" smtClean="0">
                <a:solidFill>
                  <a:schemeClr val="accent2">
                    <a:lumMod val="75000"/>
                  </a:schemeClr>
                </a:solidFill>
                <a:latin typeface="Calibri" panose="020F0502020204030204" charset="0"/>
                <a:cs typeface="Calibri" panose="020F0502020204030204" charset="0"/>
              </a:rPr>
              <a:t> </a:t>
            </a:r>
            <a:r>
              <a:rPr lang="en-GB" sz="2700" dirty="0" smtClean="0">
                <a:solidFill>
                  <a:schemeClr val="accent2">
                    <a:lumMod val="75000"/>
                  </a:schemeClr>
                </a:solidFill>
                <a:latin typeface="Calibri" panose="020F0502020204030204" charset="0"/>
                <a:cs typeface="Calibri" panose="020F0502020204030204" charset="0"/>
              </a:rPr>
              <a:t>to accept the risk of a new approach.</a:t>
            </a:r>
            <a:r>
              <a:rPr lang="en-US" altLang="en-GB" sz="27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项目经理没经验，不愿冒险</a:t>
            </a:r>
            <a:endParaRPr lang="en-GB" sz="2700" dirty="0" smtClean="0">
              <a:solidFill>
                <a:schemeClr val="accent2">
                  <a:lumMod val="75000"/>
                </a:schemeClr>
              </a:solidFill>
              <a:latin typeface="Calibri" panose="020F0502020204030204" charset="0"/>
              <a:cs typeface="Calibri" panose="020F0502020204030204" charset="0"/>
            </a:endParaRPr>
          </a:p>
          <a:p>
            <a:pPr algn="l">
              <a:lnSpc>
                <a:spcPct val="85000"/>
              </a:lnSpc>
              <a:spcAft>
                <a:spcPts val="0"/>
              </a:spcAft>
              <a:buClrTx/>
              <a:buSzTx/>
            </a:pPr>
            <a:r>
              <a:rPr lang="en-GB" sz="2700" dirty="0" smtClean="0">
                <a:solidFill>
                  <a:schemeClr val="accent2">
                    <a:lumMod val="75000"/>
                  </a:schemeClr>
                </a:solidFill>
                <a:latin typeface="Calibri" panose="020F0502020204030204" charset="0"/>
                <a:cs typeface="Calibri" panose="020F0502020204030204" charset="0"/>
              </a:rPr>
              <a:t>Large organizations have quality procedures and standards that all projects are expected to follow, and, because of the bureaucratic nature, these are</a:t>
            </a:r>
            <a:r>
              <a:rPr lang="en-US" altLang="en-GB" sz="2700" dirty="0" smtClean="0">
                <a:solidFill>
                  <a:schemeClr val="accent2">
                    <a:lumMod val="75000"/>
                  </a:schemeClr>
                </a:solidFill>
                <a:latin typeface="Calibri" panose="020F0502020204030204" charset="0"/>
                <a:cs typeface="Calibri" panose="020F0502020204030204" charset="0"/>
              </a:rPr>
              <a:t> </a:t>
            </a:r>
            <a:r>
              <a:rPr lang="en-GB" sz="2700" dirty="0" smtClean="0">
                <a:solidFill>
                  <a:schemeClr val="accent2">
                    <a:lumMod val="75000"/>
                  </a:schemeClr>
                </a:solidFill>
                <a:latin typeface="Calibri" panose="020F0502020204030204" charset="0"/>
                <a:cs typeface="Calibri" panose="020F0502020204030204" charset="0"/>
              </a:rPr>
              <a:t>likely to be incompatible with agile methods. </a:t>
            </a:r>
            <a:r>
              <a:rPr lang="en-US" altLang="en-GB" sz="27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官僚本性，与敏捷方法不相容</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altLang="en-GB" sz="2700" dirty="0" smtClean="0">
                <a:solidFill>
                  <a:schemeClr val="accent2">
                    <a:lumMod val="75000"/>
                  </a:schemeClr>
                </a:solidFill>
                <a:latin typeface="Calibri" panose="020F0502020204030204" charset="0"/>
                <a:cs typeface="Calibri" panose="020F0502020204030204" charset="0"/>
              </a:rPr>
              <a:t>Agile methods seem to work best when team members have a relatively high skill level. However, within large organizations, there are likely to be a wide range of skills and abilities.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团队成员技能不一</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altLang="en-GB" sz="2700" dirty="0" smtClean="0">
                <a:solidFill>
                  <a:schemeClr val="accent2">
                    <a:lumMod val="75000"/>
                  </a:schemeClr>
                </a:solidFill>
                <a:latin typeface="Calibri" panose="020F0502020204030204" charset="0"/>
                <a:cs typeface="Calibri" panose="020F0502020204030204" charset="0"/>
              </a:rPr>
              <a:t>There may be cultural resistance to agile methods, especially in organizations that have a long history of using conventional systems engineering processes.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文化抵触</a:t>
            </a:r>
            <a:endParaRPr lang="zh-CN" altLang="en-US" sz="27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7715"/>
            <a:ext cx="8977630" cy="5645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Key points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56845" y="1313180"/>
            <a:ext cx="8840470" cy="50450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Agile methods are incremental development methods that focus on rapid software development, frequent releases of the software, reducing process overheads by minimizing documentation and producing high-quality code.  </a:t>
            </a:r>
            <a:endParaRPr lang="en-GB"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Agile development practices include</a:t>
            </a:r>
            <a:endParaRPr lang="en-GB"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User stories for system specification</a:t>
            </a:r>
            <a:endParaRPr lang="en-GB"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 Frequent releases of the software, </a:t>
            </a:r>
            <a:endParaRPr lang="en-GB"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Continuous software improvement </a:t>
            </a:r>
            <a:endParaRPr lang="en-GB"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Test-first development</a:t>
            </a:r>
            <a:endParaRPr lang="en-GB"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Customer participation in the development team.</a:t>
            </a:r>
            <a:endParaRPr lang="en-GB" sz="2800" b="0" dirty="0" smtClean="0">
              <a:latin typeface="Calibri" panose="020F0502020204030204" charset="0"/>
              <a:cs typeface="Calibri" panose="020F0502020204030204"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2800"/>
            <a:ext cx="8977630" cy="5721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Key points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40905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3  Agile Software Development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35255" y="1384935"/>
            <a:ext cx="8822690" cy="50647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Scrum is an agile method that provides a project management framework.</a:t>
            </a:r>
            <a:r>
              <a:rPr lang="en-GB" dirty="0" smtClean="0">
                <a:latin typeface="Calibri" panose="020F0502020204030204" charset="0"/>
                <a:cs typeface="Calibri" panose="020F0502020204030204" charset="0"/>
              </a:rPr>
              <a:t> </a:t>
            </a:r>
            <a:endParaRPr lang="en-GB"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It is centred round a set of sprints, which are fixed time periods when a system increment is developed.</a:t>
            </a:r>
            <a:endParaRPr lang="en-GB" sz="2800" b="0" dirty="0" smtClean="0">
              <a:latin typeface="Calibri" panose="020F0502020204030204" charset="0"/>
              <a:cs typeface="Calibri" panose="020F0502020204030204" charset="0"/>
            </a:endParaRPr>
          </a:p>
          <a:p>
            <a:pPr>
              <a:lnSpc>
                <a:spcPct val="90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Many practical development methods are a mixture of plan-based and agile development. </a:t>
            </a:r>
            <a:endParaRPr lang="en-GB"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Scaling agile methods for large systems is difficult.</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Large systems need up-front design and some documentation and organizational practice may conflict with the informality of agile approaches.</a:t>
            </a:r>
            <a:endParaRPr lang="en-GB" sz="2800" b="0" dirty="0" smtClean="0">
              <a:latin typeface="Calibri" panose="020F0502020204030204" charset="0"/>
              <a:cs typeface="Calibri" panose="020F0502020204030204"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TABLE_ENDDRAG_ORIGIN_RECT" val="706*436"/>
  <p:tag name="TABLE_ENDDRAG_RECT" val="6*116*706*436"/>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TABLE_ENDDRAG_ORIGIN_RECT" val="698*462"/>
  <p:tag name="TABLE_ENDDRAG_RECT" val="10*105*698*462"/>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TABLE_ENDDRAG_ORIGIN_RECT" val="703*385"/>
  <p:tag name="TABLE_ENDDRAG_RECT" val="8*117*703*385"/>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TABLE_ENDDRAG_ORIGIN_RECT" val="705*415"/>
  <p:tag name="TABLE_ENDDRAG_RECT" val="8*99*705*415"/>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TABLE_ENDDRAG_ORIGIN_RECT" val="705*398"/>
  <p:tag name="TABLE_ENDDRAG_RECT" val="7*122*705*398"/>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TABLE_ENDDRAG_ORIGIN_RECT" val="697*382"/>
  <p:tag name="TABLE_ENDDRAG_RECT" val="13*105*697*382"/>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TABLE_ENDDRAG_ORIGIN_RECT" val="698*198"/>
  <p:tag name="TABLE_ENDDRAG_RECT" val="15*146*698*198"/>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36741</Words>
  <Application>WPS 演示</Application>
  <PresentationFormat>信纸(8.5x11 英寸)</PresentationFormat>
  <Paragraphs>668</Paragraphs>
  <Slides>62</Slides>
  <Notes>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62</vt:i4>
      </vt:variant>
    </vt:vector>
  </HeadingPairs>
  <TitlesOfParts>
    <vt:vector size="76" baseType="lpstr">
      <vt:lpstr>Arial</vt:lpstr>
      <vt:lpstr>宋体</vt:lpstr>
      <vt:lpstr>Wingdings</vt:lpstr>
      <vt:lpstr>Times New Roman</vt:lpstr>
      <vt:lpstr>黑体</vt:lpstr>
      <vt:lpstr>仿宋</vt:lpstr>
      <vt:lpstr>Arial</vt:lpstr>
      <vt:lpstr>MS PGothic</vt:lpstr>
      <vt:lpstr>Calibri</vt:lpstr>
      <vt:lpstr>微软雅黑</vt:lpstr>
      <vt:lpstr>Arial Unicode MS</vt:lpstr>
      <vt:lpstr>Symbol</vt:lpstr>
      <vt:lpstr>Times New Roman</vt:lpstr>
      <vt:lpstr>CS152-SP98</vt:lpstr>
      <vt:lpstr> Software Engineering</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lpstr>Chap. 3  Agile Software Development</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2164</cp:revision>
  <cp:lastPrinted>1999-08-22T22:40:00Z</cp:lastPrinted>
  <dcterms:created xsi:type="dcterms:W3CDTF">1997-08-19T16:58:00Z</dcterms:created>
  <dcterms:modified xsi:type="dcterms:W3CDTF">2025-09-28T09:55:15Z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3E2B1C6E25C54BFF8474069605F54195_13</vt:lpwstr>
  </property>
</Properties>
</file>