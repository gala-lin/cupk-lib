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5"/>
  </p:handoutMasterIdLst>
  <p:sldIdLst>
    <p:sldId id="256" r:id="rId3"/>
    <p:sldId id="1597" r:id="rId5"/>
    <p:sldId id="1930" r:id="rId6"/>
    <p:sldId id="1931" r:id="rId7"/>
    <p:sldId id="1932" r:id="rId8"/>
    <p:sldId id="1933" r:id="rId9"/>
    <p:sldId id="1934" r:id="rId10"/>
    <p:sldId id="1935" r:id="rId11"/>
    <p:sldId id="1936" r:id="rId12"/>
    <p:sldId id="1937" r:id="rId13"/>
    <p:sldId id="1938" r:id="rId14"/>
    <p:sldId id="1939" r:id="rId15"/>
    <p:sldId id="1940" r:id="rId16"/>
    <p:sldId id="1941" r:id="rId17"/>
    <p:sldId id="1966" r:id="rId18"/>
    <p:sldId id="1942" r:id="rId19"/>
    <p:sldId id="1943" r:id="rId20"/>
    <p:sldId id="1951" r:id="rId21"/>
    <p:sldId id="1967" r:id="rId22"/>
    <p:sldId id="1968" r:id="rId23"/>
    <p:sldId id="1965" r:id="rId24"/>
  </p:sldIdLst>
  <p:sldSz cx="9144000" cy="6858000" type="letter"/>
  <p:notesSz cx="9163050" cy="6877050"/>
  <p:custDataLst>
    <p:tags r:id="rId29"/>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45" userDrawn="1">
          <p15:clr>
            <a:srgbClr val="A4A3A4"/>
          </p15:clr>
        </p15:guide>
        <p15:guide id="2" pos="28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45"/>
        <p:guide pos="287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48.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22.xml"/><Relationship Id="rId1" Type="http://schemas.openxmlformats.org/officeDocument/2006/relationships/tags" Target="../tags/tag21.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endParaRPr lang="zh-CN" altLang="en-US" b="1" dirty="0" smtClean="0">
              <a:solidFill>
                <a:srgbClr val="134AD5"/>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0" y="1528445"/>
            <a:ext cx="8229600" cy="36436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The reuse landscape     </a:t>
            </a:r>
            <a:r>
              <a:rPr lang="zh-CN" altLang="en-US" sz="28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复用概览</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Application frameworks  </a:t>
            </a:r>
            <a:r>
              <a:rPr lang="zh-CN" altLang="en-US" sz="28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应用框架</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Software product lines   </a:t>
            </a:r>
            <a:r>
              <a:rPr lang="zh-CN" altLang="en-US" sz="28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软件产品线</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Application system reuse  (</a:t>
            </a:r>
            <a:r>
              <a:rPr lang="zh-CN" altLang="en-US" sz="28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留作自学</a:t>
            </a:r>
            <a:r>
              <a:rPr lang="en-US" sz="3200" dirty="0" smtClean="0">
                <a:solidFill>
                  <a:schemeClr val="tx2">
                    <a:lumMod val="75000"/>
                    <a:lumOff val="25000"/>
                  </a:schemeClr>
                </a:solidFill>
                <a:latin typeface="Calibri" panose="020F0502020204030204" charset="0"/>
                <a:cs typeface="Calibri" panose="020F0502020204030204" charset="0"/>
              </a:rPr>
              <a:t>) </a:t>
            </a:r>
            <a:endParaRPr lang="en-US" sz="32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4946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软件复用</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97283" name="Rectangle 3"/>
          <p:cNvSpPr>
            <a:spLocks noGrp="1" noChangeArrowheads="1"/>
          </p:cNvSpPr>
          <p:nvPr/>
        </p:nvSpPr>
        <p:spPr>
          <a:xfrm>
            <a:off x="34925" y="1241425"/>
            <a:ext cx="9043670" cy="5464810"/>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altLang="en-GB" sz="3100" dirty="0">
                <a:solidFill>
                  <a:schemeClr val="accent2">
                    <a:lumMod val="75000"/>
                  </a:schemeClr>
                </a:solidFill>
                <a:latin typeface="Calibri" panose="020F0502020204030204" charset="0"/>
                <a:cs typeface="Calibri" panose="020F0502020204030204" charset="0"/>
              </a:rPr>
              <a:t> Reuse-based software engineering is a software engineering strategy where the development process is geared to reusing existing software.</a:t>
            </a:r>
            <a:r>
              <a:rPr lang="en-US" altLang="en-GB" sz="2700" dirty="0">
                <a:solidFill>
                  <a:schemeClr val="accent2">
                    <a:lumMod val="75000"/>
                  </a:schemeClr>
                </a:solidFill>
                <a:latin typeface="Calibri" panose="020F0502020204030204" charset="0"/>
                <a:cs typeface="Calibri" panose="020F0502020204030204" charset="0"/>
              </a:rPr>
              <a:t> </a:t>
            </a:r>
            <a:r>
              <a:rPr lang="en-US" altLang="en-GB" sz="2700" b="0" dirty="0">
                <a:solidFill>
                  <a:schemeClr val="tx1"/>
                </a:solidFill>
                <a:latin typeface="Calibri" panose="020F0502020204030204" charset="0"/>
                <a:cs typeface="Calibri" panose="020F0502020204030204" charset="0"/>
              </a:rPr>
              <a:t>The move to reuse-based development has been in response to demands for lower software production and maintenance costs, faster delivery of systems, and increased software quality.  </a:t>
            </a:r>
            <a:r>
              <a:rPr lang="zh-CN" altLang="en-US" b="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基于复用的软件工程的含义</a:t>
            </a:r>
            <a:endParaRPr lang="en-US" altLang="en-GB" sz="2800" b="0" dirty="0">
              <a:solidFill>
                <a:schemeClr val="tx1"/>
              </a:solidFill>
              <a:latin typeface="Calibri" panose="020F0502020204030204" charset="0"/>
              <a:cs typeface="Calibri" panose="020F0502020204030204" charset="0"/>
            </a:endParaRPr>
          </a:p>
          <a:p>
            <a:pPr>
              <a:lnSpc>
                <a:spcPct val="82000"/>
              </a:lnSpc>
              <a:spcAft>
                <a:spcPts val="0"/>
              </a:spcAft>
            </a:pPr>
            <a:r>
              <a:rPr lang="en-US" altLang="en-GB" sz="3100" dirty="0">
                <a:solidFill>
                  <a:schemeClr val="accent2">
                    <a:lumMod val="75000"/>
                  </a:schemeClr>
                </a:solidFill>
                <a:latin typeface="Calibri" panose="020F0502020204030204" charset="0"/>
                <a:cs typeface="Calibri" panose="020F0502020204030204" charset="0"/>
              </a:rPr>
              <a:t> Reusable software of different kinds is now widely available.</a:t>
            </a:r>
            <a:r>
              <a:rPr lang="en-US" altLang="en-GB" sz="2700" b="0" dirty="0">
                <a:solidFill>
                  <a:schemeClr val="tx1"/>
                </a:solidFill>
                <a:latin typeface="Calibri" panose="020F0502020204030204" charset="0"/>
                <a:cs typeface="Calibri" panose="020F0502020204030204" charset="0"/>
              </a:rPr>
              <a:t> The open-source movement meant that there is a huge code base that can be reused. Many domain-specific application systems are available that can be tailored and adapted to customer requirements. Some large companies provide a range of reusable components. Standards make it easier to develop software and reuse them across a range of applications.  </a:t>
            </a:r>
            <a:r>
              <a:rPr lang="zh-CN" altLang="en-US" sz="2400" b="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各种复用软件已广泛可获得</a:t>
            </a:r>
            <a:endParaRPr lang="en-GB" sz="32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89408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en-US" altLang="zh-CN" sz="3000" dirty="0">
                <a:solidFill>
                  <a:schemeClr val="accent1">
                    <a:lumMod val="75000"/>
                  </a:schemeClr>
                </a:solidFill>
                <a:ea typeface="宋体" panose="02010600030101010101" pitchFamily="2" charset="-122"/>
                <a:sym typeface="+mn-ea"/>
              </a:rPr>
              <a:t>S</a:t>
            </a:r>
            <a:r>
              <a:rPr lang="zh-CN" altLang="en-US" sz="3000" dirty="0">
                <a:solidFill>
                  <a:schemeClr val="accent1">
                    <a:lumMod val="75000"/>
                  </a:schemeClr>
                </a:solidFill>
                <a:ea typeface="宋体" panose="02010600030101010101" pitchFamily="2" charset="-122"/>
                <a:sym typeface="+mn-ea"/>
              </a:rPr>
              <a:t>oftware units that are reused may be</a:t>
            </a:r>
            <a:r>
              <a:rPr lang="en-US" altLang="zh-CN" sz="3000" dirty="0">
                <a:solidFill>
                  <a:schemeClr val="accent1">
                    <a:lumMod val="75000"/>
                  </a:schemeClr>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of radically different sizes. </a:t>
            </a:r>
            <a:r>
              <a:rPr lang="en-US" altLang="zh-CN" sz="3000" dirty="0">
                <a:solidFill>
                  <a:schemeClr val="accent1">
                    <a:lumMod val="75000"/>
                  </a:schemeClr>
                </a:solidFill>
                <a:ea typeface="宋体" panose="02010600030101010101" pitchFamily="2" charset="-122"/>
                <a:sym typeface="+mn-ea"/>
              </a:rPr>
              <a:t>e.g.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复用软件单元大小</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8195" name="Rectangle 3"/>
          <p:cNvSpPr>
            <a:spLocks noGrp="1" noChangeArrowheads="1"/>
          </p:cNvSpPr>
          <p:nvPr/>
        </p:nvSpPr>
        <p:spPr>
          <a:xfrm>
            <a:off x="30480" y="1676400"/>
            <a:ext cx="9036050" cy="4908550"/>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85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System reuse</a:t>
            </a:r>
            <a:r>
              <a:rPr lang="en-US" altLang="en-GB" sz="3200" dirty="0" smtClean="0">
                <a:solidFill>
                  <a:schemeClr val="accent2">
                    <a:lumMod val="75000"/>
                  </a:schemeClr>
                </a:solidFill>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Complete systems, which may be made up of a number of</a:t>
            </a:r>
            <a:r>
              <a:rPr lang="en-US" altLang="en-GB" sz="2800" b="0" dirty="0" smtClean="0">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application programs, may be reused as part of a system of systems.</a:t>
            </a:r>
            <a:r>
              <a:rPr lang="en-US" altLang="en-GB" sz="2800" b="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系统复用</a:t>
            </a:r>
            <a:endParaRPr lang="en-GB" sz="2800" dirty="0" smtClean="0">
              <a:latin typeface="Calibri" panose="020F0502020204030204" charset="0"/>
              <a:cs typeface="Calibri" panose="020F0502020204030204" charset="0"/>
            </a:endParaRPr>
          </a:p>
          <a:p>
            <a:pPr algn="l">
              <a:lnSpc>
                <a:spcPct val="85000"/>
              </a:lnSpc>
              <a:spcBef>
                <a:spcPts val="600"/>
              </a:spcBef>
              <a:spcAft>
                <a:spcPts val="0"/>
              </a:spcAft>
              <a:buClrTx/>
              <a:buSzTx/>
            </a:pPr>
            <a:r>
              <a:rPr lang="en-GB" sz="3200" dirty="0" smtClean="0">
                <a:solidFill>
                  <a:schemeClr val="accent2">
                    <a:lumMod val="75000"/>
                  </a:schemeClr>
                </a:solidFill>
                <a:latin typeface="Calibri" panose="020F0502020204030204" charset="0"/>
                <a:cs typeface="Calibri" panose="020F0502020204030204" charset="0"/>
              </a:rPr>
              <a:t> Application reuse</a:t>
            </a:r>
            <a:r>
              <a:rPr lang="en-US" altLang="en-GB" sz="3200" dirty="0" smtClean="0">
                <a:solidFill>
                  <a:schemeClr val="accent2">
                    <a:lumMod val="75000"/>
                  </a:schemeClr>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An application may be reused by incorporating it into other systems or by configuring the application for different</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customers.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 应用复用</a:t>
            </a:r>
            <a:endParaRPr lang="en-GB" sz="2800" dirty="0">
              <a:latin typeface="Calibri" panose="020F0502020204030204" charset="0"/>
              <a:cs typeface="Calibri" panose="020F0502020204030204" charset="0"/>
            </a:endParaRPr>
          </a:p>
          <a:p>
            <a:pPr algn="l">
              <a:lnSpc>
                <a:spcPct val="85000"/>
              </a:lnSpc>
              <a:spcBef>
                <a:spcPts val="600"/>
              </a:spcBef>
              <a:spcAft>
                <a:spcPts val="0"/>
              </a:spcAft>
              <a:buClrTx/>
              <a:buSzTx/>
            </a:pPr>
            <a:r>
              <a:rPr lang="en-GB" sz="3200" dirty="0" smtClean="0">
                <a:solidFill>
                  <a:schemeClr val="accent2">
                    <a:lumMod val="75000"/>
                  </a:schemeClr>
                </a:solidFill>
                <a:latin typeface="Calibri" panose="020F0502020204030204" charset="0"/>
                <a:cs typeface="Calibri" panose="020F0502020204030204" charset="0"/>
              </a:rPr>
              <a:t> Component reuse</a:t>
            </a:r>
            <a:r>
              <a:rPr lang="en-US" altLang="en-GB" sz="3200" dirty="0" smtClean="0">
                <a:solidFill>
                  <a:schemeClr val="accent2">
                    <a:lumMod val="75000"/>
                  </a:schemeClr>
                </a:solidFill>
                <a:latin typeface="Calibri" panose="020F0502020204030204" charset="0"/>
                <a:cs typeface="Calibri" panose="020F0502020204030204" charset="0"/>
              </a:rPr>
              <a:t>: </a:t>
            </a:r>
            <a:r>
              <a:rPr lang="en-GB" sz="2800" b="0" dirty="0" smtClean="0">
                <a:solidFill>
                  <a:schemeClr val="tx1"/>
                </a:solidFill>
                <a:latin typeface="Calibri" panose="020F0502020204030204" charset="0"/>
                <a:cs typeface="Calibri" panose="020F0502020204030204" charset="0"/>
              </a:rPr>
              <a:t>Components of an application, ranging in size from subsystems to single objects, may be reused. </a:t>
            </a:r>
            <a:r>
              <a:rPr lang="en-US" altLang="en-GB"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构件复用</a:t>
            </a:r>
            <a:endParaRPr lang="en-GB" sz="2800" dirty="0" smtClean="0">
              <a:latin typeface="Calibri" panose="020F0502020204030204" charset="0"/>
              <a:cs typeface="Calibri" panose="020F0502020204030204" charset="0"/>
            </a:endParaRPr>
          </a:p>
          <a:p>
            <a:pPr algn="l">
              <a:lnSpc>
                <a:spcPct val="85000"/>
              </a:lnSpc>
              <a:spcBef>
                <a:spcPts val="600"/>
              </a:spcBef>
              <a:spcAft>
                <a:spcPts val="0"/>
              </a:spcAft>
              <a:buClrTx/>
              <a:buSzTx/>
            </a:pPr>
            <a:r>
              <a:rPr lang="en-GB" sz="3200" dirty="0" smtClean="0">
                <a:solidFill>
                  <a:schemeClr val="accent2">
                    <a:lumMod val="75000"/>
                  </a:schemeClr>
                </a:solidFill>
                <a:latin typeface="Calibri" panose="020F0502020204030204" charset="0"/>
                <a:cs typeface="Calibri" panose="020F0502020204030204" charset="0"/>
              </a:rPr>
              <a:t> Object and function reuse</a:t>
            </a:r>
            <a:r>
              <a:rPr lang="en-US" altLang="en-GB" sz="3200" dirty="0" smtClean="0">
                <a:solidFill>
                  <a:schemeClr val="accent2">
                    <a:lumMod val="75000"/>
                  </a:schemeClr>
                </a:solidFill>
                <a:latin typeface="Calibri" panose="020F0502020204030204" charset="0"/>
                <a:cs typeface="Calibri" panose="020F0502020204030204" charset="0"/>
              </a:rPr>
              <a:t>: </a:t>
            </a:r>
            <a:r>
              <a:rPr lang="en-GB" sz="2800" b="0" dirty="0">
                <a:latin typeface="Calibri" panose="020F0502020204030204" charset="0"/>
                <a:cs typeface="Calibri" panose="020F0502020204030204" charset="0"/>
              </a:rPr>
              <a:t>Software components that implement a single function, such as a mathematical function, or an object class may be reused. </a:t>
            </a:r>
            <a:r>
              <a:rPr lang="en-US" altLang="en-GB" sz="2800" b="0" dirty="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对象和函数复用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8820"/>
            <a:ext cx="8977630" cy="5943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Benefits of software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软件复用的益处</a:t>
            </a:r>
            <a:endParaRPr lang="en-US" altLang="zh-CN"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graphicFrame>
        <p:nvGraphicFramePr>
          <p:cNvPr id="2" name="Content Placeholder 3"/>
          <p:cNvGraphicFramePr>
            <a:graphicFrameLocks noGrp="1"/>
          </p:cNvGraphicFramePr>
          <p:nvPr>
            <p:custDataLst>
              <p:tags r:id="rId3"/>
            </p:custDataLst>
          </p:nvPr>
        </p:nvGraphicFramePr>
        <p:xfrm>
          <a:off x="89535" y="1338580"/>
          <a:ext cx="8961755" cy="5328285"/>
        </p:xfrm>
        <a:graphic>
          <a:graphicData uri="http://schemas.openxmlformats.org/drawingml/2006/table">
            <a:tbl>
              <a:tblPr firstRow="1" bandRow="1">
                <a:effectLst/>
                <a:tableStyleId>{5940675A-B579-460E-94D1-54222C63F5DA}</a:tableStyleId>
              </a:tblPr>
              <a:tblGrid>
                <a:gridCol w="2001520"/>
                <a:gridCol w="6960235"/>
              </a:tblGrid>
              <a:tr h="474980">
                <a:tc>
                  <a:txBody>
                    <a:bodyPr/>
                    <a:p>
                      <a:pPr algn="ctr">
                        <a:spcAft>
                          <a:spcPts val="0"/>
                        </a:spcAft>
                      </a:pPr>
                      <a:r>
                        <a:rPr lang="en-GB" sz="2100" b="1" dirty="0" smtClean="0">
                          <a:solidFill>
                            <a:schemeClr val="bg1"/>
                          </a:solidFill>
                          <a:latin typeface="Arial" panose="020B0604020202020204"/>
                          <a:ea typeface="Times New Roman" panose="02020603050405020304"/>
                          <a:cs typeface="Arial" panose="020B0604020202020204"/>
                        </a:rPr>
                        <a:t>Benefit</a:t>
                      </a:r>
                      <a:endParaRPr lang="en-GB" sz="21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pPr>
                      <a:r>
                        <a:rPr lang="en-GB" sz="2100" b="1" dirty="0" smtClean="0">
                          <a:solidFill>
                            <a:schemeClr val="bg1"/>
                          </a:solidFill>
                          <a:latin typeface="Arial" panose="020B0604020202020204"/>
                          <a:ea typeface="Times New Roman" panose="02020603050405020304"/>
                          <a:cs typeface="Arial" panose="020B0604020202020204"/>
                        </a:rPr>
                        <a:t>Explanation</a:t>
                      </a:r>
                      <a:endParaRPr lang="en-GB" sz="21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362710">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Accelerated development</a:t>
                      </a:r>
                      <a:r>
                        <a:rPr lang="zh-CN" altLang="en-GB" sz="2100" dirty="0">
                          <a:solidFill>
                            <a:srgbClr val="C00000"/>
                          </a:solidFill>
                          <a:latin typeface="黑体" panose="02010609060101010101" pitchFamily="49" charset="-122"/>
                          <a:ea typeface="黑体" panose="02010609060101010101" pitchFamily="49" charset="-122"/>
                          <a:cs typeface="Arial" panose="020B0604020202020204"/>
                        </a:rPr>
                        <a:t>加速开发</a:t>
                      </a:r>
                      <a:endParaRPr lang="zh-CN" altLang="en-GB" sz="2100" dirty="0">
                        <a:solidFill>
                          <a:srgbClr val="C00000"/>
                        </a:solidFill>
                        <a:latin typeface="黑体" panose="02010609060101010101" pitchFamily="49" charset="-122"/>
                        <a:ea typeface="黑体" panose="02010609060101010101" pitchFamily="49"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Bringing a system to market as early as possible is often more important than overall development costs. Reusing software can speed up system production because both development and validation time may be reduced</a:t>
                      </a:r>
                      <a:r>
                        <a:rPr lang="en-GB" sz="2100" dirty="0" smtClean="0">
                          <a:solidFill>
                            <a:srgbClr val="000000"/>
                          </a:solidFill>
                          <a:latin typeface="Arial" panose="020B0604020202020204"/>
                          <a:ea typeface="Times New Roman" panose="02020603050405020304"/>
                          <a:cs typeface="Arial" panose="020B0604020202020204"/>
                        </a:rPr>
                        <a:t>.</a:t>
                      </a:r>
                      <a:endParaRPr lang="en-GB" sz="21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64260">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Effective use of specialists</a:t>
                      </a:r>
                      <a:r>
                        <a:rPr lang="zh-CN" altLang="en-GB" sz="2100" dirty="0">
                          <a:solidFill>
                            <a:srgbClr val="C00000"/>
                          </a:solidFill>
                          <a:latin typeface="黑体" panose="02010609060101010101" pitchFamily="49" charset="-122"/>
                          <a:ea typeface="黑体" panose="02010609060101010101" pitchFamily="49" charset="-122"/>
                          <a:cs typeface="Arial" panose="020B0604020202020204"/>
                        </a:rPr>
                        <a:t>有效专家利用</a:t>
                      </a:r>
                      <a:endParaRPr lang="zh-CN" altLang="en-GB" sz="2100" dirty="0">
                        <a:solidFill>
                          <a:srgbClr val="C00000"/>
                        </a:solidFill>
                        <a:latin typeface="黑体" panose="02010609060101010101" pitchFamily="49" charset="-122"/>
                        <a:ea typeface="黑体" panose="02010609060101010101" pitchFamily="49"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Instead of doing the same work over and over again, application specialists can develop reusable software that encapsulates their knowledge.</a:t>
                      </a:r>
                      <a:endParaRPr lang="en-GB" sz="21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353185">
                <a:tc>
                  <a:txBody>
                    <a:bodyPr/>
                    <a:p>
                      <a:pPr algn="l">
                        <a:spcAft>
                          <a:spcPts val="0"/>
                        </a:spcAft>
                      </a:pPr>
                      <a:r>
                        <a:rPr lang="en-GB" sz="2100" dirty="0" smtClean="0">
                          <a:solidFill>
                            <a:srgbClr val="000000"/>
                          </a:solidFill>
                          <a:latin typeface="Arial" panose="020B0604020202020204"/>
                          <a:ea typeface="Times New Roman" panose="02020603050405020304"/>
                          <a:cs typeface="Arial" panose="020B0604020202020204"/>
                        </a:rPr>
                        <a:t>Increased </a:t>
                      </a:r>
                      <a:r>
                        <a:rPr lang="en-GB" sz="2100" dirty="0">
                          <a:solidFill>
                            <a:srgbClr val="000000"/>
                          </a:solidFill>
                          <a:latin typeface="Arial" panose="020B0604020202020204"/>
                          <a:ea typeface="Times New Roman" panose="02020603050405020304"/>
                          <a:cs typeface="Arial" panose="020B0604020202020204"/>
                        </a:rPr>
                        <a:t>dependability</a:t>
                      </a:r>
                      <a:r>
                        <a:rPr lang="en-US" altLang="en-GB" sz="2100" dirty="0">
                          <a:solidFill>
                            <a:srgbClr val="000000"/>
                          </a:solidFill>
                          <a:latin typeface="Arial" panose="020B0604020202020204"/>
                          <a:ea typeface="Times New Roman" panose="02020603050405020304"/>
                          <a:cs typeface="Arial" panose="020B0604020202020204"/>
                        </a:rPr>
                        <a:t> </a:t>
                      </a:r>
                      <a:r>
                        <a:rPr lang="zh-CN" altLang="en-GB" sz="2100" dirty="0">
                          <a:solidFill>
                            <a:srgbClr val="C00000"/>
                          </a:solidFill>
                          <a:latin typeface="黑体" panose="02010609060101010101" pitchFamily="49" charset="-122"/>
                          <a:ea typeface="黑体" panose="02010609060101010101" pitchFamily="49" charset="-122"/>
                          <a:cs typeface="Arial" panose="020B0604020202020204"/>
                        </a:rPr>
                        <a:t>提高可依赖性</a:t>
                      </a:r>
                      <a:endParaRPr lang="zh-CN" altLang="en-GB" sz="2100" dirty="0">
                        <a:solidFill>
                          <a:srgbClr val="000000"/>
                        </a:solidFill>
                        <a:latin typeface="Arial" panose="020B0604020202020204"/>
                        <a:ea typeface="宋体" panose="02010600030101010101" pitchFamily="2"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Reused software, which has been tried and tested in working systems, should be more dependable than new software. Its design and implementation faults should have been found and fixed. </a:t>
                      </a:r>
                      <a:endParaRPr lang="en-GB" sz="21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73150">
                <a:tc>
                  <a:txBody>
                    <a:bodyPr/>
                    <a:p>
                      <a:pPr algn="l">
                        <a:spcAft>
                          <a:spcPts val="0"/>
                        </a:spcAft>
                        <a:buNone/>
                      </a:pPr>
                      <a:r>
                        <a:rPr lang="en-GB" altLang="en-US" sz="2000" dirty="0">
                          <a:solidFill>
                            <a:srgbClr val="000000"/>
                          </a:solidFill>
                          <a:latin typeface="Arial" panose="020B0604020202020204"/>
                          <a:ea typeface="Times New Roman" panose="02020603050405020304"/>
                          <a:cs typeface="Arial" panose="020B0604020202020204"/>
                        </a:rPr>
                        <a:t>Lower development costs</a:t>
                      </a:r>
                      <a:r>
                        <a:rPr lang="zh-CN" altLang="en-GB" sz="1600" dirty="0">
                          <a:solidFill>
                            <a:srgbClr val="C00000"/>
                          </a:solidFill>
                          <a:latin typeface="黑体" panose="02010609060101010101" pitchFamily="49" charset="-122"/>
                          <a:ea typeface="黑体" panose="02010609060101010101" pitchFamily="49" charset="-122"/>
                          <a:cs typeface="Arial" panose="020B0604020202020204"/>
                        </a:rPr>
                        <a:t>降低开发成本</a:t>
                      </a:r>
                      <a:endParaRPr lang="zh-CN" altLang="en-GB" sz="1600" dirty="0">
                        <a:solidFill>
                          <a:srgbClr val="C00000"/>
                        </a:solidFill>
                        <a:latin typeface="黑体" panose="02010609060101010101" pitchFamily="49" charset="-122"/>
                        <a:ea typeface="黑体" panose="02010609060101010101" pitchFamily="49"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buNone/>
                      </a:pPr>
                      <a:r>
                        <a:rPr lang="en-GB" altLang="en-US" sz="2100" dirty="0">
                          <a:solidFill>
                            <a:srgbClr val="000000"/>
                          </a:solidFill>
                          <a:latin typeface="Arial" panose="020B0604020202020204"/>
                          <a:ea typeface="Times New Roman" panose="02020603050405020304"/>
                          <a:cs typeface="Arial" panose="020B0604020202020204"/>
                        </a:rPr>
                        <a:t>Development costs are proportional to the size of the software being developed. Reusing software means that fewer lines of code have to be written.</a:t>
                      </a:r>
                      <a:endParaRPr lang="en-GB" altLang="en-US" sz="21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3115"/>
            <a:ext cx="8977630" cy="520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Benefits of software reuse</a:t>
            </a:r>
            <a:r>
              <a:rPr lang="en-US" altLang="zh-CN" sz="32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软件复用的益处</a:t>
            </a:r>
            <a:endParaRPr lang="en-US" altLang="zh-CN"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graphicFrame>
        <p:nvGraphicFramePr>
          <p:cNvPr id="3" name="Content Placeholder 3"/>
          <p:cNvGraphicFramePr>
            <a:graphicFrameLocks noGrp="1"/>
          </p:cNvGraphicFramePr>
          <p:nvPr>
            <p:custDataLst>
              <p:tags r:id="rId3"/>
            </p:custDataLst>
          </p:nvPr>
        </p:nvGraphicFramePr>
        <p:xfrm>
          <a:off x="88900" y="1426845"/>
          <a:ext cx="8966835" cy="4831080"/>
        </p:xfrm>
        <a:graphic>
          <a:graphicData uri="http://schemas.openxmlformats.org/drawingml/2006/table">
            <a:tbl>
              <a:tblPr firstRow="1" bandRow="1">
                <a:effectLst/>
                <a:tableStyleId>{5940675A-B579-460E-94D1-54222C63F5DA}</a:tableStyleId>
              </a:tblPr>
              <a:tblGrid>
                <a:gridCol w="1614170"/>
                <a:gridCol w="7352665"/>
              </a:tblGrid>
              <a:tr h="513080">
                <a:tc>
                  <a:txBody>
                    <a:bodyPr/>
                    <a:p>
                      <a:pPr algn="ctr">
                        <a:spcAft>
                          <a:spcPts val="0"/>
                        </a:spcAft>
                      </a:pPr>
                      <a:r>
                        <a:rPr lang="en-GB" sz="2200" b="1" dirty="0" smtClean="0">
                          <a:solidFill>
                            <a:schemeClr val="bg1"/>
                          </a:solidFill>
                          <a:latin typeface="Arial" panose="020B0604020202020204"/>
                          <a:ea typeface="Times New Roman" panose="02020603050405020304"/>
                          <a:cs typeface="Arial" panose="020B0604020202020204"/>
                        </a:rPr>
                        <a:t>Benefit</a:t>
                      </a:r>
                      <a:endParaRPr lang="en-GB" sz="22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pPr>
                      <a:r>
                        <a:rPr lang="en-GB" sz="2200" b="1" dirty="0" smtClean="0">
                          <a:solidFill>
                            <a:schemeClr val="bg1"/>
                          </a:solidFill>
                          <a:latin typeface="Arial" panose="020B0604020202020204"/>
                          <a:ea typeface="Times New Roman" panose="02020603050405020304"/>
                          <a:cs typeface="Arial" panose="020B0604020202020204"/>
                        </a:rPr>
                        <a:t>Explanation</a:t>
                      </a:r>
                      <a:endParaRPr lang="en-GB" sz="22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998345">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Reduced process risk</a:t>
                      </a:r>
                      <a:r>
                        <a:rPr lang="zh-CN" altLang="en-GB" sz="2100" dirty="0">
                          <a:solidFill>
                            <a:srgbClr val="C00000"/>
                          </a:solidFill>
                          <a:latin typeface="黑体" panose="02010609060101010101" pitchFamily="49" charset="-122"/>
                          <a:ea typeface="黑体" panose="02010609060101010101" pitchFamily="49" charset="-122"/>
                          <a:cs typeface="Arial" panose="020B0604020202020204"/>
                        </a:rPr>
                        <a:t>降低过程风险</a:t>
                      </a:r>
                      <a:endParaRPr lang="zh-CN" altLang="en-GB" sz="2100" dirty="0">
                        <a:solidFill>
                          <a:srgbClr val="C00000"/>
                        </a:solidFill>
                        <a:latin typeface="黑体" panose="02010609060101010101" pitchFamily="49" charset="-122"/>
                        <a:ea typeface="黑体" panose="02010609060101010101" pitchFamily="49"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The cost of existing software is already known, wh</a:t>
                      </a:r>
                      <a:r>
                        <a:rPr lang="en-US" altLang="en-GB" sz="2100" dirty="0">
                          <a:solidFill>
                            <a:srgbClr val="000000"/>
                          </a:solidFill>
                          <a:latin typeface="Arial" panose="020B0604020202020204"/>
                          <a:ea typeface="Times New Roman" panose="02020603050405020304"/>
                          <a:cs typeface="Arial" panose="020B0604020202020204"/>
                        </a:rPr>
                        <a:t>ile</a:t>
                      </a:r>
                      <a:r>
                        <a:rPr lang="en-GB" sz="2100" dirty="0">
                          <a:solidFill>
                            <a:srgbClr val="000000"/>
                          </a:solidFill>
                          <a:latin typeface="Arial" panose="020B0604020202020204"/>
                          <a:ea typeface="Times New Roman" panose="02020603050405020304"/>
                          <a:cs typeface="Arial" panose="020B0604020202020204"/>
                        </a:rPr>
                        <a:t> the costs of development are always a matter of judgment. This is an important factor for project management because it reduces the margin of error in project cost estimation. This is </a:t>
                      </a:r>
                      <a:r>
                        <a:rPr lang="en-US" altLang="en-GB" sz="2100" dirty="0">
                          <a:solidFill>
                            <a:srgbClr val="000000"/>
                          </a:solidFill>
                          <a:latin typeface="Arial" panose="020B0604020202020204"/>
                          <a:ea typeface="Times New Roman" panose="02020603050405020304"/>
                          <a:cs typeface="Arial" panose="020B0604020202020204"/>
                        </a:rPr>
                        <a:t>especially</a:t>
                      </a:r>
                      <a:r>
                        <a:rPr lang="en-GB" sz="2100" dirty="0">
                          <a:solidFill>
                            <a:srgbClr val="000000"/>
                          </a:solidFill>
                          <a:latin typeface="Arial" panose="020B0604020202020204"/>
                          <a:ea typeface="Times New Roman" panose="02020603050405020304"/>
                          <a:cs typeface="Arial" panose="020B0604020202020204"/>
                        </a:rPr>
                        <a:t> true when large software components such as subsystems are reused.</a:t>
                      </a:r>
                      <a:endParaRPr lang="en-GB" sz="21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2319655">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Standards compliance</a:t>
                      </a:r>
                      <a:r>
                        <a:rPr lang="zh-CN" altLang="en-GB" sz="2100" dirty="0">
                          <a:solidFill>
                            <a:srgbClr val="C00000"/>
                          </a:solidFill>
                          <a:latin typeface="黑体" panose="02010609060101010101" pitchFamily="49" charset="-122"/>
                          <a:ea typeface="黑体" panose="02010609060101010101" pitchFamily="49" charset="-122"/>
                          <a:cs typeface="Arial" panose="020B0604020202020204"/>
                        </a:rPr>
                        <a:t>符合标准</a:t>
                      </a:r>
                      <a:endParaRPr lang="zh-CN" altLang="en-GB" sz="2100" dirty="0">
                        <a:solidFill>
                          <a:srgbClr val="C00000"/>
                        </a:solidFill>
                        <a:latin typeface="黑体" panose="02010609060101010101" pitchFamily="49" charset="-122"/>
                        <a:ea typeface="黑体" panose="02010609060101010101" pitchFamily="49"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Some standards, such as user interface standards, can be implemented as a set of reusable components. For example, if menus in a user interface are implemented using reusable components, all applications present the same menu formats to users. The use of standard user interfaces improves dependability because users make fewer mistakes when presented with a familiar interface.</a:t>
                      </a:r>
                      <a:endParaRPr lang="en-GB" sz="21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1360"/>
            <a:ext cx="8977630" cy="520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en-US" sz="3200" dirty="0">
                <a:solidFill>
                  <a:schemeClr val="accent1">
                    <a:lumMod val="75000"/>
                  </a:schemeClr>
                </a:solidFill>
                <a:ea typeface="宋体" panose="02010600030101010101" pitchFamily="2" charset="-122"/>
                <a:sym typeface="+mn-ea"/>
              </a:rPr>
              <a:t>Problems</a:t>
            </a:r>
            <a:r>
              <a:rPr lang="zh-CN" altLang="en-US" sz="3200" dirty="0">
                <a:solidFill>
                  <a:schemeClr val="accent1">
                    <a:lumMod val="75000"/>
                  </a:schemeClr>
                </a:solidFill>
                <a:ea typeface="宋体" panose="02010600030101010101" pitchFamily="2" charset="-122"/>
                <a:sym typeface="+mn-ea"/>
              </a:rPr>
              <a:t> with reuse </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复用的问题</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graphicFrame>
        <p:nvGraphicFramePr>
          <p:cNvPr id="2" name="Content Placeholder 3"/>
          <p:cNvGraphicFramePr>
            <a:graphicFrameLocks noGrp="1"/>
          </p:cNvGraphicFramePr>
          <p:nvPr>
            <p:custDataLst>
              <p:tags r:id="rId3"/>
            </p:custDataLst>
          </p:nvPr>
        </p:nvGraphicFramePr>
        <p:xfrm>
          <a:off x="96520" y="1250315"/>
          <a:ext cx="8969375" cy="5531485"/>
        </p:xfrm>
        <a:graphic>
          <a:graphicData uri="http://schemas.openxmlformats.org/drawingml/2006/table">
            <a:tbl>
              <a:tblPr firstRow="1" bandRow="1">
                <a:effectLst/>
                <a:tableStyleId>{5940675A-B579-460E-94D1-54222C63F5DA}</a:tableStyleId>
              </a:tblPr>
              <a:tblGrid>
                <a:gridCol w="2884805"/>
                <a:gridCol w="6084570"/>
              </a:tblGrid>
              <a:tr h="511810">
                <a:tc>
                  <a:txBody>
                    <a:bodyPr/>
                    <a:p>
                      <a:pPr algn="ctr">
                        <a:spcAft>
                          <a:spcPts val="0"/>
                        </a:spcAft>
                      </a:pPr>
                      <a:r>
                        <a:rPr lang="en-GB" sz="2000" b="1" dirty="0" smtClean="0">
                          <a:solidFill>
                            <a:schemeClr val="bg1"/>
                          </a:solidFill>
                          <a:latin typeface="Arial" panose="020B0604020202020204"/>
                          <a:ea typeface="Times New Roman" panose="02020603050405020304"/>
                          <a:cs typeface="Arial" panose="020B0604020202020204"/>
                        </a:rPr>
                        <a:t>Problem</a:t>
                      </a:r>
                      <a:endParaRPr lang="en-GB" sz="20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pPr>
                      <a:r>
                        <a:rPr lang="en-GB" sz="2000" b="1" dirty="0" smtClean="0">
                          <a:solidFill>
                            <a:schemeClr val="bg1"/>
                          </a:solidFill>
                          <a:latin typeface="Arial" panose="020B0604020202020204"/>
                          <a:ea typeface="Times New Roman" panose="02020603050405020304"/>
                          <a:cs typeface="Arial" panose="020B0604020202020204"/>
                        </a:rPr>
                        <a:t>Explanation</a:t>
                      </a:r>
                      <a:endParaRPr lang="en-GB" sz="20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230630">
                <a:tc>
                  <a:txBody>
                    <a:bodyPr/>
                    <a:p>
                      <a:pPr algn="l">
                        <a:spcAft>
                          <a:spcPts val="0"/>
                        </a:spcAft>
                      </a:pPr>
                      <a:r>
                        <a:rPr lang="en-GB" sz="2000" dirty="0">
                          <a:solidFill>
                            <a:srgbClr val="000000"/>
                          </a:solidFill>
                          <a:latin typeface="Arial" panose="020B0604020202020204"/>
                          <a:ea typeface="Times New Roman" panose="02020603050405020304"/>
                          <a:cs typeface="Arial" panose="020B0604020202020204"/>
                        </a:rPr>
                        <a:t>Creating, maintaining, and using a component library</a:t>
                      </a:r>
                      <a:r>
                        <a:rPr lang="en-US" altLang="en-GB" sz="2000" dirty="0">
                          <a:solidFill>
                            <a:srgbClr val="000000"/>
                          </a:solidFill>
                          <a:latin typeface="Arial" panose="020B0604020202020204"/>
                          <a:ea typeface="Times New Roman" panose="02020603050405020304"/>
                          <a:cs typeface="Arial" panose="020B0604020202020204"/>
                        </a:rPr>
                        <a:t> </a:t>
                      </a:r>
                      <a:r>
                        <a:rPr lang="zh-CN" altLang="en-US" sz="2000" dirty="0">
                          <a:solidFill>
                            <a:srgbClr val="C00000"/>
                          </a:solidFill>
                          <a:latin typeface="黑体" panose="02010609060101010101" pitchFamily="49" charset="-122"/>
                          <a:ea typeface="黑体" panose="02010609060101010101" pitchFamily="49" charset="-122"/>
                          <a:cs typeface="Arial" panose="020B0604020202020204"/>
                        </a:rPr>
                        <a:t>创建、维护及使用构件库</a:t>
                      </a:r>
                      <a:endParaRPr lang="zh-CN" altLang="en-US" sz="2000" dirty="0">
                        <a:solidFill>
                          <a:srgbClr val="C00000"/>
                        </a:solidFill>
                        <a:latin typeface="黑体" panose="02010609060101010101" pitchFamily="49" charset="-122"/>
                        <a:ea typeface="黑体" panose="02010609060101010101" pitchFamily="49"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000" dirty="0">
                          <a:solidFill>
                            <a:srgbClr val="000000"/>
                          </a:solidFill>
                          <a:latin typeface="Arial" panose="020B0604020202020204"/>
                          <a:ea typeface="Times New Roman" panose="02020603050405020304"/>
                          <a:cs typeface="Arial" panose="020B0604020202020204"/>
                        </a:rPr>
                        <a:t>Populating a reusable component library and ensuring the software developers can use this library can be expensive. Development processes have to be adapted to ensure that the library is used. </a:t>
                      </a:r>
                      <a:endParaRPr lang="en-GB" sz="20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802765">
                <a:tc>
                  <a:txBody>
                    <a:bodyPr/>
                    <a:p>
                      <a:pPr algn="l">
                        <a:spcAft>
                          <a:spcPts val="0"/>
                        </a:spcAft>
                      </a:pPr>
                      <a:r>
                        <a:rPr lang="en-GB" sz="2000">
                          <a:solidFill>
                            <a:srgbClr val="000000"/>
                          </a:solidFill>
                          <a:latin typeface="Arial" panose="020B0604020202020204"/>
                          <a:ea typeface="Times New Roman" panose="02020603050405020304"/>
                          <a:cs typeface="Arial" panose="020B0604020202020204"/>
                        </a:rPr>
                        <a:t>Finding, understanding, and adapting reusable components</a:t>
                      </a:r>
                      <a:r>
                        <a:rPr lang="en-US" altLang="en-GB" sz="2000">
                          <a:solidFill>
                            <a:srgbClr val="000000"/>
                          </a:solidFill>
                          <a:latin typeface="Arial" panose="020B0604020202020204"/>
                          <a:ea typeface="Times New Roman" panose="02020603050405020304"/>
                          <a:cs typeface="Arial" panose="020B0604020202020204"/>
                        </a:rPr>
                        <a:t>  </a:t>
                      </a:r>
                      <a:r>
                        <a:rPr lang="zh-CN" altLang="en-US" sz="2000" dirty="0">
                          <a:solidFill>
                            <a:srgbClr val="C00000"/>
                          </a:solidFill>
                          <a:latin typeface="黑体" panose="02010609060101010101" pitchFamily="49" charset="-122"/>
                          <a:ea typeface="黑体" panose="02010609060101010101" pitchFamily="49" charset="-122"/>
                          <a:cs typeface="Arial" panose="020B0604020202020204"/>
                        </a:rPr>
                        <a:t>查找、理解及适配可复用构件</a:t>
                      </a:r>
                      <a:endParaRPr lang="zh-CN" altLang="en-US" sz="2000" dirty="0">
                        <a:solidFill>
                          <a:srgbClr val="C00000"/>
                        </a:solidFill>
                        <a:latin typeface="黑体" panose="02010609060101010101" pitchFamily="49" charset="-122"/>
                        <a:ea typeface="黑体" panose="02010609060101010101" pitchFamily="49"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000" dirty="0">
                          <a:solidFill>
                            <a:srgbClr val="000000"/>
                          </a:solidFill>
                          <a:latin typeface="Arial" panose="020B0604020202020204"/>
                          <a:ea typeface="Times New Roman" panose="02020603050405020304"/>
                          <a:cs typeface="Arial" panose="020B0604020202020204"/>
                        </a:rPr>
                        <a:t>Software components have to be discovered in a library, understood and, sometimes, adapted to work in a new environment. Engineers must be reasonably confident of finding a component in the library before they include a component search as part of their normal development process.</a:t>
                      </a:r>
                      <a:r>
                        <a:rPr lang="en-GB" sz="2000" dirty="0" smtClean="0">
                          <a:solidFill>
                            <a:srgbClr val="000000"/>
                          </a:solidFill>
                          <a:latin typeface="Arial" panose="020B0604020202020204"/>
                          <a:ea typeface="Times New Roman" panose="02020603050405020304"/>
                          <a:cs typeface="Arial" panose="020B0604020202020204"/>
                        </a:rPr>
                        <a:t> </a:t>
                      </a:r>
                      <a:endParaRPr lang="en-GB" sz="20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231900">
                <a:tc>
                  <a:txBody>
                    <a:bodyPr/>
                    <a:p>
                      <a:pPr algn="l">
                        <a:spcAft>
                          <a:spcPts val="0"/>
                        </a:spcAft>
                      </a:pPr>
                      <a:r>
                        <a:rPr lang="en-GB" sz="2000" dirty="0" smtClean="0">
                          <a:solidFill>
                            <a:srgbClr val="000000"/>
                          </a:solidFill>
                          <a:latin typeface="Arial" panose="020B0604020202020204"/>
                          <a:ea typeface="Times New Roman" panose="02020603050405020304"/>
                          <a:cs typeface="Arial" panose="020B0604020202020204"/>
                        </a:rPr>
                        <a:t>Increased </a:t>
                      </a:r>
                      <a:r>
                        <a:rPr lang="en-GB" sz="2000" dirty="0">
                          <a:solidFill>
                            <a:srgbClr val="000000"/>
                          </a:solidFill>
                          <a:latin typeface="Arial" panose="020B0604020202020204"/>
                          <a:ea typeface="Times New Roman" panose="02020603050405020304"/>
                          <a:cs typeface="Arial" panose="020B0604020202020204"/>
                        </a:rPr>
                        <a:t>maintenance costs</a:t>
                      </a:r>
                      <a:r>
                        <a:rPr lang="en-US" altLang="en-GB" sz="2000" dirty="0">
                          <a:solidFill>
                            <a:srgbClr val="000000"/>
                          </a:solidFill>
                          <a:latin typeface="Arial" panose="020B0604020202020204"/>
                          <a:ea typeface="Times New Roman" panose="02020603050405020304"/>
                          <a:cs typeface="Arial" panose="020B0604020202020204"/>
                        </a:rPr>
                        <a:t>  </a:t>
                      </a:r>
                      <a:r>
                        <a:rPr lang="zh-CN" altLang="en-US" sz="2000" dirty="0">
                          <a:solidFill>
                            <a:srgbClr val="C00000"/>
                          </a:solidFill>
                          <a:latin typeface="黑体" panose="02010609060101010101" pitchFamily="49" charset="-122"/>
                          <a:ea typeface="黑体" panose="02010609060101010101" pitchFamily="49" charset="-122"/>
                          <a:cs typeface="Arial" panose="020B0604020202020204"/>
                        </a:rPr>
                        <a:t>增加维护成本</a:t>
                      </a:r>
                      <a:endParaRPr lang="zh-CN" altLang="en-US" sz="2000" dirty="0">
                        <a:solidFill>
                          <a:srgbClr val="C00000"/>
                        </a:solidFill>
                        <a:latin typeface="黑体" panose="02010609060101010101" pitchFamily="49" charset="-122"/>
                        <a:ea typeface="黑体" panose="02010609060101010101" pitchFamily="49"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000" dirty="0">
                          <a:solidFill>
                            <a:srgbClr val="000000"/>
                          </a:solidFill>
                          <a:latin typeface="Arial" panose="020B0604020202020204"/>
                          <a:ea typeface="Times New Roman" panose="02020603050405020304"/>
                          <a:cs typeface="Arial" panose="020B0604020202020204"/>
                        </a:rPr>
                        <a:t>If the source code of a reused software system or component is not available</a:t>
                      </a:r>
                      <a:r>
                        <a:rPr lang="en-US" altLang="en-GB" sz="2000" dirty="0">
                          <a:solidFill>
                            <a:srgbClr val="000000"/>
                          </a:solidFill>
                          <a:latin typeface="Arial" panose="020B0604020202020204"/>
                          <a:ea typeface="Times New Roman" panose="02020603050405020304"/>
                          <a:cs typeface="Arial" panose="020B0604020202020204"/>
                        </a:rPr>
                        <a:t>,</a:t>
                      </a:r>
                      <a:r>
                        <a:rPr lang="en-GB" sz="2000" dirty="0">
                          <a:solidFill>
                            <a:srgbClr val="000000"/>
                          </a:solidFill>
                          <a:latin typeface="Arial" panose="020B0604020202020204"/>
                          <a:ea typeface="Times New Roman" panose="02020603050405020304"/>
                          <a:cs typeface="Arial" panose="020B0604020202020204"/>
                        </a:rPr>
                        <a:t> then maintenance costs may be higher because the reused elements of the system may become incompatible with changes</a:t>
                      </a:r>
                      <a:r>
                        <a:rPr lang="en-US" altLang="en-GB" sz="2000" dirty="0">
                          <a:solidFill>
                            <a:srgbClr val="000000"/>
                          </a:solidFill>
                          <a:latin typeface="Arial" panose="020B0604020202020204"/>
                          <a:ea typeface="Times New Roman" panose="02020603050405020304"/>
                          <a:cs typeface="Arial" panose="020B0604020202020204"/>
                        </a:rPr>
                        <a:t> made to the system</a:t>
                      </a:r>
                      <a:r>
                        <a:rPr lang="en-GB" sz="2000" dirty="0">
                          <a:solidFill>
                            <a:srgbClr val="000000"/>
                          </a:solidFill>
                          <a:latin typeface="Arial" panose="020B0604020202020204"/>
                          <a:ea typeface="Times New Roman" panose="02020603050405020304"/>
                          <a:cs typeface="Arial" panose="020B0604020202020204"/>
                        </a:rPr>
                        <a:t>.</a:t>
                      </a:r>
                      <a:endParaRPr lang="en-GB" sz="20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3115"/>
            <a:ext cx="8977630" cy="520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Problems with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复用的问题</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graphicFrame>
        <p:nvGraphicFramePr>
          <p:cNvPr id="3" name="Content Placeholder 3"/>
          <p:cNvGraphicFramePr>
            <a:graphicFrameLocks noGrp="1"/>
          </p:cNvGraphicFramePr>
          <p:nvPr>
            <p:custDataLst>
              <p:tags r:id="rId3"/>
            </p:custDataLst>
          </p:nvPr>
        </p:nvGraphicFramePr>
        <p:xfrm>
          <a:off x="144780" y="1398905"/>
          <a:ext cx="8885555" cy="4653915"/>
        </p:xfrm>
        <a:graphic>
          <a:graphicData uri="http://schemas.openxmlformats.org/drawingml/2006/table">
            <a:tbl>
              <a:tblPr firstRow="1" bandRow="1">
                <a:effectLst/>
                <a:tableStyleId>{5940675A-B579-460E-94D1-54222C63F5DA}</a:tableStyleId>
              </a:tblPr>
              <a:tblGrid>
                <a:gridCol w="1859915"/>
                <a:gridCol w="7025640"/>
              </a:tblGrid>
              <a:tr h="542290">
                <a:tc>
                  <a:txBody>
                    <a:bodyPr/>
                    <a:p>
                      <a:pPr algn="ctr">
                        <a:spcAft>
                          <a:spcPts val="0"/>
                        </a:spcAft>
                      </a:pPr>
                      <a:r>
                        <a:rPr lang="en-GB" sz="2100" b="1" dirty="0" smtClean="0">
                          <a:solidFill>
                            <a:schemeClr val="bg1"/>
                          </a:solidFill>
                          <a:latin typeface="Arial" panose="020B0604020202020204"/>
                          <a:ea typeface="Times New Roman" panose="02020603050405020304"/>
                          <a:cs typeface="Arial" panose="020B0604020202020204"/>
                        </a:rPr>
                        <a:t>Problem</a:t>
                      </a:r>
                      <a:endParaRPr lang="en-GB" sz="21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pPr>
                      <a:r>
                        <a:rPr lang="en-GB" sz="2100" b="1" dirty="0" smtClean="0">
                          <a:solidFill>
                            <a:schemeClr val="bg1"/>
                          </a:solidFill>
                          <a:latin typeface="Arial" panose="020B0604020202020204"/>
                          <a:ea typeface="Times New Roman" panose="02020603050405020304"/>
                          <a:cs typeface="Arial" panose="020B0604020202020204"/>
                        </a:rPr>
                        <a:t>Explanation</a:t>
                      </a:r>
                      <a:endParaRPr lang="en-GB" sz="21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993265">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Lack of tool support</a:t>
                      </a:r>
                      <a:r>
                        <a:rPr lang="en-US" altLang="en-GB" sz="2100" dirty="0">
                          <a:solidFill>
                            <a:srgbClr val="000000"/>
                          </a:solidFill>
                          <a:latin typeface="Arial" panose="020B0604020202020204"/>
                          <a:ea typeface="Times New Roman" panose="02020603050405020304"/>
                          <a:cs typeface="Arial" panose="020B0604020202020204"/>
                        </a:rPr>
                        <a:t>  </a:t>
                      </a:r>
                      <a:r>
                        <a:rPr lang="zh-CN" altLang="en-GB" sz="2100" dirty="0">
                          <a:solidFill>
                            <a:srgbClr val="C00000"/>
                          </a:solidFill>
                          <a:latin typeface="黑体" panose="02010609060101010101" pitchFamily="49" charset="-122"/>
                          <a:ea typeface="黑体" panose="02010609060101010101" pitchFamily="49" charset="-122"/>
                          <a:cs typeface="Arial" panose="020B0604020202020204"/>
                        </a:rPr>
                        <a:t>缺少工具支持</a:t>
                      </a:r>
                      <a:endParaRPr lang="zh-CN" altLang="en-GB" sz="2100" dirty="0">
                        <a:solidFill>
                          <a:srgbClr val="C00000"/>
                        </a:solidFill>
                        <a:latin typeface="黑体" panose="02010609060101010101" pitchFamily="49" charset="-122"/>
                        <a:ea typeface="黑体" panose="02010609060101010101" pitchFamily="49" charset="-122"/>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Some software tools do not support development with reuse. It may be difficult or impossible to integrate these tools with a component library system. The software process assumed by these tools may not take reuse into account. This is </a:t>
                      </a:r>
                      <a:r>
                        <a:rPr lang="en-US" altLang="en-GB" sz="2100" dirty="0">
                          <a:solidFill>
                            <a:srgbClr val="000000"/>
                          </a:solidFill>
                          <a:latin typeface="Arial" panose="020B0604020202020204"/>
                          <a:ea typeface="Times New Roman" panose="02020603050405020304"/>
                          <a:cs typeface="Arial" panose="020B0604020202020204"/>
                        </a:rPr>
                        <a:t> more likely to be the case for </a:t>
                      </a:r>
                      <a:r>
                        <a:rPr lang="en-GB" sz="2100" dirty="0">
                          <a:solidFill>
                            <a:srgbClr val="000000"/>
                          </a:solidFill>
                          <a:latin typeface="Arial" panose="020B0604020202020204"/>
                          <a:ea typeface="Times New Roman" panose="02020603050405020304"/>
                          <a:cs typeface="Arial" panose="020B0604020202020204"/>
                        </a:rPr>
                        <a:t>tools that support embedded systems engineering</a:t>
                      </a:r>
                      <a:r>
                        <a:rPr lang="en-US" altLang="en-GB" sz="2100" dirty="0">
                          <a:solidFill>
                            <a:srgbClr val="000000"/>
                          </a:solidFill>
                          <a:latin typeface="Arial" panose="020B0604020202020204"/>
                          <a:ea typeface="Times New Roman" panose="02020603050405020304"/>
                          <a:cs typeface="Arial" panose="020B0604020202020204"/>
                        </a:rPr>
                        <a:t> than </a:t>
                      </a:r>
                      <a:r>
                        <a:rPr lang="en-GB" sz="2100" dirty="0">
                          <a:solidFill>
                            <a:srgbClr val="000000"/>
                          </a:solidFill>
                          <a:latin typeface="Arial" panose="020B0604020202020204"/>
                          <a:ea typeface="Times New Roman" panose="02020603050405020304"/>
                          <a:cs typeface="Arial" panose="020B0604020202020204"/>
                        </a:rPr>
                        <a:t>for object-oriented development tools.</a:t>
                      </a:r>
                      <a:endParaRPr lang="en-GB" sz="21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798320">
                <a:tc>
                  <a:txBody>
                    <a:bodyPr/>
                    <a:p>
                      <a:pPr algn="l">
                        <a:spcAft>
                          <a:spcPts val="0"/>
                        </a:spcAft>
                      </a:pPr>
                      <a:r>
                        <a:rPr lang="en-US" altLang="en-GB" sz="2100">
                          <a:solidFill>
                            <a:srgbClr val="000000"/>
                          </a:solidFill>
                          <a:latin typeface="Arial" panose="020B0604020202020204"/>
                          <a:ea typeface="Times New Roman" panose="02020603050405020304"/>
                          <a:cs typeface="Arial" panose="020B0604020202020204"/>
                        </a:rPr>
                        <a:t>“</a:t>
                      </a:r>
                      <a:r>
                        <a:rPr lang="en-GB" sz="2100">
                          <a:solidFill>
                            <a:srgbClr val="000000"/>
                          </a:solidFill>
                          <a:latin typeface="Arial" panose="020B0604020202020204"/>
                          <a:ea typeface="Times New Roman" panose="02020603050405020304"/>
                          <a:cs typeface="Arial" panose="020B0604020202020204"/>
                        </a:rPr>
                        <a:t>Not-invented-here</a:t>
                      </a:r>
                      <a:r>
                        <a:rPr lang="en-US" altLang="en-GB" sz="2100">
                          <a:solidFill>
                            <a:srgbClr val="000000"/>
                          </a:solidFill>
                          <a:latin typeface="Arial" panose="020B0604020202020204"/>
                          <a:ea typeface="Times New Roman" panose="02020603050405020304"/>
                          <a:cs typeface="Arial" panose="020B0604020202020204"/>
                        </a:rPr>
                        <a:t>”</a:t>
                      </a:r>
                      <a:r>
                        <a:rPr lang="en-GB" sz="2100">
                          <a:solidFill>
                            <a:srgbClr val="000000"/>
                          </a:solidFill>
                          <a:latin typeface="Arial" panose="020B0604020202020204"/>
                          <a:ea typeface="Times New Roman" panose="02020603050405020304"/>
                          <a:cs typeface="Arial" panose="020B0604020202020204"/>
                        </a:rPr>
                        <a:t> syndrome</a:t>
                      </a:r>
                      <a:r>
                        <a:rPr lang="en-US" altLang="en-GB" sz="2100">
                          <a:solidFill>
                            <a:srgbClr val="000000"/>
                          </a:solidFill>
                          <a:latin typeface="Arial" panose="020B0604020202020204"/>
                          <a:ea typeface="Times New Roman" panose="02020603050405020304"/>
                          <a:cs typeface="Arial" panose="020B0604020202020204"/>
                        </a:rPr>
                        <a:t> </a:t>
                      </a:r>
                      <a:r>
                        <a:rPr lang="zh-CN" altLang="en-US" sz="2100">
                          <a:solidFill>
                            <a:srgbClr val="C00000"/>
                          </a:solidFill>
                          <a:latin typeface="黑体" panose="02010609060101010101" pitchFamily="49" charset="-122"/>
                          <a:ea typeface="黑体" panose="02010609060101010101" pitchFamily="49" charset="-122"/>
                          <a:cs typeface="黑体" panose="02010609060101010101" pitchFamily="49" charset="-122"/>
                        </a:rPr>
                        <a:t>“不</a:t>
                      </a:r>
                      <a:r>
                        <a:rPr lang="zh-CN" altLang="en-US" sz="2100">
                          <a:solidFill>
                            <a:srgbClr val="C00000"/>
                          </a:solidFill>
                          <a:latin typeface="黑体" panose="02010609060101010101" pitchFamily="49" charset="-122"/>
                          <a:ea typeface="黑体" panose="02010609060101010101" pitchFamily="49" charset="-122"/>
                          <a:cs typeface="黑体" panose="02010609060101010101" pitchFamily="49" charset="-122"/>
                        </a:rPr>
                        <a:t>是在此发明</a:t>
                      </a:r>
                      <a:r>
                        <a:rPr lang="en-US" altLang="en-GB" sz="210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zh-CN" altLang="en-US" sz="2100">
                          <a:solidFill>
                            <a:srgbClr val="C00000"/>
                          </a:solidFill>
                          <a:latin typeface="黑体" panose="02010609060101010101" pitchFamily="49" charset="-122"/>
                          <a:ea typeface="黑体" panose="02010609060101010101" pitchFamily="49" charset="-122"/>
                          <a:cs typeface="黑体" panose="02010609060101010101" pitchFamily="49" charset="-122"/>
                        </a:rPr>
                        <a:t>综合症</a:t>
                      </a:r>
                      <a:endParaRPr lang="zh-CN" altLang="en-US" sz="2100">
                        <a:solidFill>
                          <a:srgbClr val="C00000"/>
                        </a:solidFill>
                        <a:latin typeface="黑体" panose="02010609060101010101" pitchFamily="49" charset="-122"/>
                        <a:ea typeface="黑体" panose="02010609060101010101" pitchFamily="49" charset="-122"/>
                        <a:cs typeface="黑体" panose="02010609060101010101" pitchFamily="49" charset="-122"/>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100" dirty="0">
                          <a:solidFill>
                            <a:srgbClr val="000000"/>
                          </a:solidFill>
                          <a:latin typeface="Arial" panose="020B0604020202020204"/>
                          <a:ea typeface="Times New Roman" panose="02020603050405020304"/>
                          <a:cs typeface="Arial" panose="020B0604020202020204"/>
                        </a:rPr>
                        <a:t>Some software engineers prefer to rewrite components because they believe they can improve on them. This is partly to do with trust and partly to do with the fact that writing original software is seen as more challenging than reusing other people’s software.</a:t>
                      </a:r>
                      <a:endParaRPr lang="en-GB" sz="2100" dirty="0">
                        <a:solidFill>
                          <a:srgbClr val="000000"/>
                        </a:solidFill>
                        <a:latin typeface="Arial" panose="020B0604020202020204"/>
                        <a:ea typeface="Times New Roman" panose="02020603050405020304"/>
                        <a:cs typeface="Arial" panose="020B0604020202020204"/>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15.1 The reuse landscape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复用概览</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97283" name="Rectangle 3"/>
          <p:cNvSpPr>
            <a:spLocks noGrp="1" noChangeArrowheads="1"/>
          </p:cNvSpPr>
          <p:nvPr/>
        </p:nvSpPr>
        <p:spPr>
          <a:xfrm>
            <a:off x="45720" y="1456690"/>
            <a:ext cx="9020810" cy="4193540"/>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The techniques for </a:t>
            </a:r>
            <a:r>
              <a:rPr lang="en-US" altLang="en-GB" sz="3200" dirty="0">
                <a:solidFill>
                  <a:schemeClr val="accent2">
                    <a:lumMod val="75000"/>
                  </a:schemeClr>
                </a:solidFill>
                <a:latin typeface="Calibri" panose="020F0502020204030204" charset="0"/>
                <a:cs typeface="Calibri" panose="020F0502020204030204" charset="0"/>
                <a:sym typeface="+mn-ea"/>
              </a:rPr>
              <a:t>software reuse </a:t>
            </a:r>
            <a:r>
              <a:rPr lang="en-US" altLang="en-GB" sz="3200" dirty="0">
                <a:solidFill>
                  <a:schemeClr val="accent2">
                    <a:lumMod val="75000"/>
                  </a:schemeClr>
                </a:solidFill>
                <a:latin typeface="Calibri" panose="020F0502020204030204" charset="0"/>
                <a:cs typeface="Calibri" panose="020F0502020204030204" charset="0"/>
              </a:rPr>
              <a:t>exploit the facts </a:t>
            </a:r>
            <a:r>
              <a:rPr lang="en-US" altLang="en-GB" sz="2800" b="0" dirty="0">
                <a:solidFill>
                  <a:schemeClr val="tx1"/>
                </a:solidFill>
                <a:latin typeface="Calibri" panose="020F0502020204030204" charset="0"/>
                <a:cs typeface="Calibri" panose="020F0502020204030204" charset="0"/>
              </a:rPr>
              <a:t>that systems in the same application domain are similar and have potential for reuse, that reuse is possible at different levels from simple functions to complete applications, and that standards for reusable components facilitate reuse. </a:t>
            </a:r>
            <a:r>
              <a:rPr lang="en-US" altLang="en-GB" sz="3200" dirty="0">
                <a:solidFill>
                  <a:schemeClr val="accent2">
                    <a:lumMod val="75000"/>
                  </a:schemeClr>
                </a:solidFill>
                <a:latin typeface="Calibri" panose="020F0502020204030204" charset="0"/>
                <a:cs typeface="Calibri" panose="020F0502020204030204" charset="0"/>
              </a:rPr>
              <a:t>  </a:t>
            </a:r>
            <a:r>
              <a:rPr lang="zh-CN" altLang="en-US" dirty="0">
                <a:solidFill>
                  <a:srgbClr val="C00000"/>
                </a:solidFill>
                <a:latin typeface="黑体" panose="02010609060101010101" pitchFamily="49" charset="-122"/>
                <a:ea typeface="黑体" panose="02010609060101010101" pitchFamily="49" charset="-122"/>
                <a:cs typeface="Calibri" panose="020F0502020204030204" charset="0"/>
              </a:rPr>
              <a:t>复用的依据</a:t>
            </a:r>
            <a:endParaRPr lang="en-US" altLang="en-GB" sz="3200" dirty="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Figure 15.3 shows the “reuse landscape”—different ways of implementing software reuse. Each of these approaches to reuse is briefly described in Figure 15.4.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图示: 复用概览和途径</a:t>
            </a:r>
            <a:endParaRPr lang="zh-CN" altLang="en-US" sz="32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2315"/>
            <a:ext cx="8977630" cy="6445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reuse landscape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复用概览</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387985" y="1314450"/>
            <a:ext cx="8365490" cy="4244340"/>
          </a:xfrm>
          <a:prstGeom prst="rect">
            <a:avLst/>
          </a:prstGeom>
        </p:spPr>
      </p:pic>
      <p:sp>
        <p:nvSpPr>
          <p:cNvPr id="3" name="Content Placeholder 2"/>
          <p:cNvSpPr>
            <a:spLocks noGrp="1"/>
          </p:cNvSpPr>
          <p:nvPr/>
        </p:nvSpPr>
        <p:spPr>
          <a:xfrm>
            <a:off x="85725" y="5601970"/>
            <a:ext cx="8964930" cy="117094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buNone/>
            </a:pPr>
            <a:r>
              <a:rPr lang="en-US" altLang="en-GB" sz="1800" b="0" dirty="0"/>
              <a:t>* </a:t>
            </a:r>
            <a:r>
              <a:rPr sz="1800" b="0" dirty="0"/>
              <a:t>Given this array of techniques for reuse, the key question is “which is the most</a:t>
            </a:r>
            <a:r>
              <a:rPr lang="en-US" sz="1800" b="0" dirty="0"/>
              <a:t> </a:t>
            </a:r>
            <a:r>
              <a:rPr sz="1800" b="0" dirty="0"/>
              <a:t>appropriate technique to use in a particular situation?” Obviously, the answer to this</a:t>
            </a:r>
            <a:r>
              <a:rPr lang="en-US" sz="1800" b="0" dirty="0"/>
              <a:t> </a:t>
            </a:r>
            <a:r>
              <a:rPr sz="1800" b="0" dirty="0"/>
              <a:t>question depends on the requirements for the system being developed, the technology</a:t>
            </a:r>
            <a:r>
              <a:rPr lang="en-US" sz="1800" b="0" dirty="0"/>
              <a:t> and reusable assets available, and the expertise of the development team.</a:t>
            </a:r>
            <a:r>
              <a:rPr sz="1800" b="0" dirty="0"/>
              <a:t> </a:t>
            </a:r>
            <a:endParaRPr lang="en-US" sz="1800" b="0" dirty="0"/>
          </a:p>
        </p:txBody>
      </p:sp>
      <p:pic>
        <p:nvPicPr>
          <p:cNvPr id="5" name="图片 4"/>
          <p:cNvPicPr>
            <a:picLocks noChangeAspect="1"/>
          </p:cNvPicPr>
          <p:nvPr/>
        </p:nvPicPr>
        <p:blipFill>
          <a:blip r:embed="rId4"/>
          <a:stretch>
            <a:fillRect/>
          </a:stretch>
        </p:blipFill>
        <p:spPr>
          <a:xfrm>
            <a:off x="7063105" y="1186180"/>
            <a:ext cx="1762125" cy="46672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4375"/>
            <a:ext cx="8977630" cy="6959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Approaches </a:t>
            </a:r>
            <a:r>
              <a:rPr lang="en-US" altLang="zh-CN" sz="3200" dirty="0">
                <a:solidFill>
                  <a:schemeClr val="accent1">
                    <a:lumMod val="75000"/>
                  </a:schemeClr>
                </a:solidFill>
                <a:ea typeface="宋体" panose="02010600030101010101" pitchFamily="2" charset="-122"/>
                <a:sym typeface="+mn-ea"/>
              </a:rPr>
              <a:t>to</a:t>
            </a:r>
            <a:r>
              <a:rPr lang="zh-CN" altLang="en-US" sz="3200" dirty="0">
                <a:solidFill>
                  <a:schemeClr val="accent1">
                    <a:lumMod val="75000"/>
                  </a:schemeClr>
                </a:solidFill>
                <a:ea typeface="宋体" panose="02010600030101010101" pitchFamily="2" charset="-122"/>
                <a:sym typeface="+mn-ea"/>
              </a:rPr>
              <a:t>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复用的途径</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graphicFrame>
        <p:nvGraphicFramePr>
          <p:cNvPr id="6" name="Content Placeholder 5"/>
          <p:cNvGraphicFramePr>
            <a:graphicFrameLocks noGrp="1"/>
          </p:cNvGraphicFramePr>
          <p:nvPr>
            <p:custDataLst>
              <p:tags r:id="rId3"/>
            </p:custDataLst>
          </p:nvPr>
        </p:nvGraphicFramePr>
        <p:xfrm>
          <a:off x="89535" y="1337310"/>
          <a:ext cx="8977630" cy="5523230"/>
        </p:xfrm>
        <a:graphic>
          <a:graphicData uri="http://schemas.openxmlformats.org/drawingml/2006/table">
            <a:tbl>
              <a:tblPr firstRow="1" bandRow="1">
                <a:effectLst/>
                <a:tableStyleId>{5940675A-B579-460E-94D1-54222C63F5DA}</a:tableStyleId>
              </a:tblPr>
              <a:tblGrid>
                <a:gridCol w="2884170"/>
                <a:gridCol w="6093460"/>
              </a:tblGrid>
              <a:tr h="511810">
                <a:tc>
                  <a:txBody>
                    <a:bodyPr/>
                    <a:p>
                      <a:pPr algn="ctr">
                        <a:spcAft>
                          <a:spcPts val="0"/>
                        </a:spcAft>
                      </a:pPr>
                      <a:r>
                        <a:rPr lang="en-GB" sz="2400" b="1" dirty="0" smtClean="0">
                          <a:solidFill>
                            <a:schemeClr val="bg1"/>
                          </a:solidFill>
                          <a:latin typeface="Arial" panose="020B0604020202020204"/>
                          <a:ea typeface="Times New Roman" panose="02020603050405020304"/>
                          <a:cs typeface="Arial" panose="020B0604020202020204"/>
                        </a:rPr>
                        <a:t>Approach</a:t>
                      </a:r>
                      <a:endParaRPr lang="en-GB" sz="24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pPr>
                      <a:r>
                        <a:rPr lang="en-GB" sz="2400" b="1" dirty="0" smtClean="0">
                          <a:solidFill>
                            <a:schemeClr val="bg1"/>
                          </a:solidFill>
                          <a:latin typeface="Arial" panose="020B0604020202020204"/>
                          <a:ea typeface="Times New Roman" panose="02020603050405020304"/>
                          <a:cs typeface="Arial" panose="020B0604020202020204"/>
                        </a:rPr>
                        <a:t>Description</a:t>
                      </a:r>
                      <a:endParaRPr lang="en-GB" sz="24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756920">
                <a:tc>
                  <a:txBody>
                    <a:bodyPr/>
                    <a:p>
                      <a:pPr algn="l">
                        <a:spcAft>
                          <a:spcPts val="0"/>
                        </a:spcAft>
                      </a:pPr>
                      <a:r>
                        <a:rPr lang="en-GB" sz="2200" dirty="0">
                          <a:solidFill>
                            <a:srgbClr val="000000"/>
                          </a:solidFill>
                          <a:effectLst/>
                          <a:latin typeface="Calibri" panose="020F0502020204030204" charset="0"/>
                          <a:ea typeface="Times New Roman" panose="02020603050405020304"/>
                          <a:cs typeface="Calibri" panose="020F0502020204030204" charset="0"/>
                        </a:rPr>
                        <a:t>Application frameworks</a:t>
                      </a:r>
                      <a:r>
                        <a:rPr lang="zh-CN" altLang="en-GB" sz="2200" dirty="0">
                          <a:solidFill>
                            <a:srgbClr val="FF0000"/>
                          </a:solidFill>
                          <a:effectLst/>
                          <a:latin typeface="黑体" panose="02010609060101010101" pitchFamily="49" charset="-122"/>
                          <a:ea typeface="黑体" panose="02010609060101010101" pitchFamily="49" charset="-122"/>
                          <a:cs typeface="Calibri" panose="020F0502020204030204" charset="0"/>
                        </a:rPr>
                        <a:t>应用框架</a:t>
                      </a:r>
                      <a:endParaRPr lang="zh-CN" altLang="en-GB" sz="22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200">
                          <a:solidFill>
                            <a:srgbClr val="000000"/>
                          </a:solidFill>
                          <a:effectLst/>
                          <a:latin typeface="Calibri" panose="020F0502020204030204" charset="0"/>
                          <a:ea typeface="Times New Roman" panose="02020603050405020304"/>
                          <a:cs typeface="Calibri" panose="020F0502020204030204" charset="0"/>
                        </a:rPr>
                        <a:t>Collections of abstract and concrete classes are adapted and extended to create application systems.</a:t>
                      </a:r>
                      <a:endParaRPr lang="en-GB" sz="220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705485">
                <a:tc>
                  <a:txBody>
                    <a:bodyPr/>
                    <a:p>
                      <a:pPr algn="l">
                        <a:spcAft>
                          <a:spcPts val="0"/>
                        </a:spcAft>
                      </a:pPr>
                      <a:r>
                        <a:rPr lang="en-GB" sz="2200" dirty="0">
                          <a:solidFill>
                            <a:srgbClr val="000000"/>
                          </a:solidFill>
                          <a:effectLst/>
                          <a:latin typeface="Calibri" panose="020F0502020204030204" charset="0"/>
                          <a:ea typeface="Times New Roman" panose="02020603050405020304"/>
                          <a:cs typeface="Calibri" panose="020F0502020204030204" charset="0"/>
                        </a:rPr>
                        <a:t>Application system integration</a:t>
                      </a:r>
                      <a:r>
                        <a:rPr lang="en-US" altLang="en-GB" sz="2200" dirty="0">
                          <a:solidFill>
                            <a:srgbClr val="000000"/>
                          </a:solidFill>
                          <a:effectLst/>
                          <a:latin typeface="Calibri" panose="020F0502020204030204" charset="0"/>
                          <a:ea typeface="Times New Roman" panose="02020603050405020304"/>
                          <a:cs typeface="Calibri" panose="020F0502020204030204" charset="0"/>
                        </a:rPr>
                        <a:t> </a:t>
                      </a:r>
                      <a:r>
                        <a:rPr lang="zh-CN" altLang="en-US" sz="1800" dirty="0">
                          <a:solidFill>
                            <a:srgbClr val="FF0000"/>
                          </a:solidFill>
                          <a:effectLst/>
                          <a:latin typeface="黑体" panose="02010609060101010101" pitchFamily="49" charset="-122"/>
                          <a:ea typeface="黑体" panose="02010609060101010101" pitchFamily="49" charset="-122"/>
                          <a:cs typeface="Calibri" panose="020F0502020204030204" charset="0"/>
                        </a:rPr>
                        <a:t>应用系统集成</a:t>
                      </a:r>
                      <a:endParaRPr lang="zh-CN" altLang="en-US" sz="18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200">
                          <a:solidFill>
                            <a:srgbClr val="000000"/>
                          </a:solidFill>
                          <a:effectLst/>
                          <a:latin typeface="Calibri" panose="020F0502020204030204" charset="0"/>
                          <a:ea typeface="Times New Roman" panose="02020603050405020304"/>
                          <a:cs typeface="Calibri" panose="020F0502020204030204" charset="0"/>
                        </a:rPr>
                        <a:t>Two or more application systems are integrated to provide extended functionality</a:t>
                      </a:r>
                      <a:endParaRPr lang="en-GB" sz="220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013460">
                <a:tc>
                  <a:txBody>
                    <a:bodyPr/>
                    <a:p>
                      <a:pPr algn="l">
                        <a:spcAft>
                          <a:spcPts val="0"/>
                        </a:spcAft>
                      </a:pPr>
                      <a:r>
                        <a:rPr lang="en-GB" sz="2200" dirty="0">
                          <a:solidFill>
                            <a:srgbClr val="000000"/>
                          </a:solidFill>
                          <a:effectLst/>
                          <a:latin typeface="Calibri" panose="020F0502020204030204" charset="0"/>
                          <a:ea typeface="Times New Roman" panose="02020603050405020304"/>
                          <a:cs typeface="Calibri" panose="020F0502020204030204" charset="0"/>
                        </a:rPr>
                        <a:t>Architectural patterns</a:t>
                      </a:r>
                      <a:r>
                        <a:rPr lang="en-US" altLang="en-GB" sz="2200" dirty="0">
                          <a:solidFill>
                            <a:srgbClr val="000000"/>
                          </a:solidFill>
                          <a:effectLst/>
                          <a:latin typeface="Calibri" panose="020F0502020204030204" charset="0"/>
                          <a:ea typeface="Times New Roman" panose="02020603050405020304"/>
                          <a:cs typeface="Calibri" panose="020F0502020204030204" charset="0"/>
                        </a:rPr>
                        <a:t> </a:t>
                      </a:r>
                      <a:r>
                        <a:rPr lang="zh-CN" altLang="en-US" sz="2000" dirty="0">
                          <a:solidFill>
                            <a:srgbClr val="FF0000"/>
                          </a:solidFill>
                          <a:effectLst/>
                          <a:latin typeface="黑体" panose="02010609060101010101" pitchFamily="49" charset="-122"/>
                          <a:ea typeface="黑体" panose="02010609060101010101" pitchFamily="49" charset="-122"/>
                          <a:cs typeface="Calibri" panose="020F0502020204030204" charset="0"/>
                        </a:rPr>
                        <a:t>体系结构模式</a:t>
                      </a:r>
                      <a:endParaRPr lang="zh-CN" altLang="en-US" sz="20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200" dirty="0">
                          <a:solidFill>
                            <a:srgbClr val="000000"/>
                          </a:solidFill>
                          <a:effectLst/>
                          <a:latin typeface="Calibri" panose="020F0502020204030204" charset="0"/>
                          <a:ea typeface="Times New Roman" panose="02020603050405020304"/>
                          <a:cs typeface="Calibri" panose="020F0502020204030204" charset="0"/>
                        </a:rPr>
                        <a:t>Standard software architectures that support common types of application system are used as the basis of applications. </a:t>
                      </a:r>
                      <a:endParaRPr lang="en-GB" sz="2200" dirty="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702310">
                <a:tc>
                  <a:txBody>
                    <a:bodyPr/>
                    <a:p>
                      <a:pPr algn="l">
                        <a:spcAft>
                          <a:spcPts val="0"/>
                        </a:spcAft>
                      </a:pPr>
                      <a:r>
                        <a:rPr lang="en-GB" sz="2200">
                          <a:solidFill>
                            <a:srgbClr val="000000"/>
                          </a:solidFill>
                          <a:effectLst/>
                          <a:latin typeface="Calibri" panose="020F0502020204030204" charset="0"/>
                          <a:ea typeface="Times New Roman" panose="02020603050405020304"/>
                          <a:cs typeface="Calibri" panose="020F0502020204030204" charset="0"/>
                        </a:rPr>
                        <a:t>Aspect-oriented software development</a:t>
                      </a:r>
                      <a:r>
                        <a:rPr lang="en-US" altLang="en-GB" sz="2200">
                          <a:solidFill>
                            <a:srgbClr val="000000"/>
                          </a:solidFill>
                          <a:effectLst/>
                          <a:latin typeface="Calibri" panose="020F0502020204030204" charset="0"/>
                          <a:ea typeface="Times New Roman" panose="02020603050405020304"/>
                          <a:cs typeface="Calibri" panose="020F0502020204030204" charset="0"/>
                        </a:rPr>
                        <a:t> </a:t>
                      </a:r>
                      <a:r>
                        <a:rPr lang="zh-CN" altLang="en-US" sz="2000" dirty="0">
                          <a:solidFill>
                            <a:srgbClr val="FF0000"/>
                          </a:solidFill>
                          <a:effectLst/>
                          <a:latin typeface="黑体" panose="02010609060101010101" pitchFamily="49" charset="-122"/>
                          <a:ea typeface="黑体" panose="02010609060101010101" pitchFamily="49" charset="-122"/>
                          <a:cs typeface="Calibri" panose="020F0502020204030204" charset="0"/>
                        </a:rPr>
                        <a:t>面向方面的软件开发</a:t>
                      </a:r>
                      <a:endParaRPr lang="zh-CN" altLang="en-US" sz="20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200" dirty="0">
                          <a:solidFill>
                            <a:srgbClr val="000000"/>
                          </a:solidFill>
                          <a:effectLst/>
                          <a:latin typeface="Calibri" panose="020F0502020204030204" charset="0"/>
                          <a:ea typeface="Times New Roman" panose="02020603050405020304"/>
                          <a:cs typeface="Calibri" panose="020F0502020204030204" charset="0"/>
                        </a:rPr>
                        <a:t>Shared components are woven into an application at different places when the program is compiled. </a:t>
                      </a:r>
                      <a:endParaRPr lang="en-GB" sz="2200" dirty="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012825">
                <a:tc>
                  <a:txBody>
                    <a:bodyPr/>
                    <a:p>
                      <a:pPr algn="l">
                        <a:spcAft>
                          <a:spcPts val="0"/>
                        </a:spcAft>
                      </a:pPr>
                      <a:r>
                        <a:rPr lang="en-GB" sz="2200">
                          <a:solidFill>
                            <a:srgbClr val="000000"/>
                          </a:solidFill>
                          <a:effectLst/>
                          <a:latin typeface="Calibri" panose="020F0502020204030204" charset="0"/>
                          <a:ea typeface="Times New Roman" panose="02020603050405020304"/>
                          <a:cs typeface="Calibri" panose="020F0502020204030204" charset="0"/>
                        </a:rPr>
                        <a:t>Component-based software engineering</a:t>
                      </a:r>
                      <a:r>
                        <a:rPr lang="en-US" altLang="en-GB" sz="2200">
                          <a:solidFill>
                            <a:srgbClr val="000000"/>
                          </a:solidFill>
                          <a:effectLst/>
                          <a:latin typeface="Calibri" panose="020F0502020204030204" charset="0"/>
                          <a:ea typeface="Times New Roman" panose="02020603050405020304"/>
                          <a:cs typeface="Calibri" panose="020F0502020204030204" charset="0"/>
                        </a:rPr>
                        <a:t>  </a:t>
                      </a:r>
                      <a:r>
                        <a:rPr lang="zh-CN" altLang="en-US" sz="2000" dirty="0">
                          <a:solidFill>
                            <a:srgbClr val="FF0000"/>
                          </a:solidFill>
                          <a:effectLst/>
                          <a:latin typeface="黑体" panose="02010609060101010101" pitchFamily="49" charset="-122"/>
                          <a:ea typeface="黑体" panose="02010609060101010101" pitchFamily="49" charset="-122"/>
                          <a:cs typeface="Calibri" panose="020F0502020204030204" charset="0"/>
                        </a:rPr>
                        <a:t>基于构件的软件工程</a:t>
                      </a:r>
                      <a:endParaRPr lang="zh-CN" altLang="en-US" sz="20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200" dirty="0">
                          <a:solidFill>
                            <a:srgbClr val="000000"/>
                          </a:solidFill>
                          <a:effectLst/>
                          <a:latin typeface="Calibri" panose="020F0502020204030204" charset="0"/>
                          <a:ea typeface="Times New Roman" panose="02020603050405020304"/>
                          <a:cs typeface="Calibri" panose="020F0502020204030204" charset="0"/>
                        </a:rPr>
                        <a:t>Systems are developed by integrating components (collections of objects) that conform to component-model standards. </a:t>
                      </a:r>
                      <a:endParaRPr lang="en-GB" sz="2200" dirty="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graphicFrame>
        <p:nvGraphicFramePr>
          <p:cNvPr id="2" name="Content Placeholder 5"/>
          <p:cNvGraphicFramePr>
            <a:graphicFrameLocks noGrp="1"/>
          </p:cNvGraphicFramePr>
          <p:nvPr>
            <p:custDataLst>
              <p:tags r:id="rId2"/>
            </p:custDataLst>
          </p:nvPr>
        </p:nvGraphicFramePr>
        <p:xfrm>
          <a:off x="89535" y="1278255"/>
          <a:ext cx="8978900" cy="5540375"/>
        </p:xfrm>
        <a:graphic>
          <a:graphicData uri="http://schemas.openxmlformats.org/drawingml/2006/table">
            <a:tbl>
              <a:tblPr firstRow="1" bandRow="1">
                <a:effectLst/>
                <a:tableStyleId>{5940675A-B579-460E-94D1-54222C63F5DA}</a:tableStyleId>
              </a:tblPr>
              <a:tblGrid>
                <a:gridCol w="2381250"/>
                <a:gridCol w="6597650"/>
              </a:tblGrid>
              <a:tr h="481330">
                <a:tc>
                  <a:txBody>
                    <a:bodyPr/>
                    <a:p>
                      <a:pPr algn="ctr">
                        <a:spcAft>
                          <a:spcPts val="0"/>
                        </a:spcAft>
                      </a:pPr>
                      <a:r>
                        <a:rPr lang="en-GB" sz="2200" b="1" dirty="0" smtClean="0">
                          <a:solidFill>
                            <a:schemeClr val="bg1"/>
                          </a:solidFill>
                          <a:latin typeface="Arial" panose="020B0604020202020204"/>
                          <a:ea typeface="Times New Roman" panose="02020603050405020304"/>
                          <a:cs typeface="Arial" panose="020B0604020202020204"/>
                        </a:rPr>
                        <a:t>Approach</a:t>
                      </a:r>
                      <a:endParaRPr lang="en-GB" sz="22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pPr>
                      <a:r>
                        <a:rPr lang="en-GB" sz="2200" b="1" dirty="0" smtClean="0">
                          <a:solidFill>
                            <a:schemeClr val="bg1"/>
                          </a:solidFill>
                          <a:latin typeface="Arial" panose="020B0604020202020204"/>
                          <a:ea typeface="Times New Roman" panose="02020603050405020304"/>
                          <a:cs typeface="Arial" panose="020B0604020202020204"/>
                        </a:rPr>
                        <a:t>Description</a:t>
                      </a:r>
                      <a:endParaRPr lang="en-GB" sz="22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033145">
                <a:tc>
                  <a:txBody>
                    <a:bodyPr/>
                    <a:p>
                      <a:pPr algn="l">
                        <a:spcAft>
                          <a:spcPts val="0"/>
                        </a:spcAft>
                      </a:pPr>
                      <a:r>
                        <a:rPr lang="en-GB" sz="2100" dirty="0">
                          <a:solidFill>
                            <a:srgbClr val="000000"/>
                          </a:solidFill>
                          <a:effectLst/>
                          <a:latin typeface="Calibri" panose="020F0502020204030204" charset="0"/>
                          <a:ea typeface="Times New Roman" panose="02020603050405020304"/>
                          <a:cs typeface="Calibri" panose="020F0502020204030204" charset="0"/>
                        </a:rPr>
                        <a:t>Configurable application systems</a:t>
                      </a:r>
                      <a:r>
                        <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rPr>
                        <a:t>可配置应用系统</a:t>
                      </a:r>
                      <a:endPar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100">
                          <a:solidFill>
                            <a:srgbClr val="000000"/>
                          </a:solidFill>
                          <a:effectLst/>
                          <a:latin typeface="Calibri" panose="020F0502020204030204" charset="0"/>
                          <a:ea typeface="Times New Roman" panose="02020603050405020304"/>
                          <a:cs typeface="Calibri" panose="020F0502020204030204" charset="0"/>
                        </a:rPr>
                        <a:t>Domain-specific systems are designed so that they can be configured to the needs of specific system customers.</a:t>
                      </a:r>
                      <a:endParaRPr lang="en-GB" sz="210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21080">
                <a:tc>
                  <a:txBody>
                    <a:bodyPr/>
                    <a:p>
                      <a:pPr algn="l">
                        <a:spcAft>
                          <a:spcPts val="0"/>
                        </a:spcAft>
                      </a:pPr>
                      <a:r>
                        <a:rPr lang="en-GB" sz="2100" dirty="0">
                          <a:solidFill>
                            <a:srgbClr val="000000"/>
                          </a:solidFill>
                          <a:effectLst/>
                          <a:latin typeface="Calibri" panose="020F0502020204030204" charset="0"/>
                          <a:ea typeface="Times New Roman" panose="02020603050405020304"/>
                          <a:cs typeface="Calibri" panose="020F0502020204030204" charset="0"/>
                        </a:rPr>
                        <a:t>Design patterns</a:t>
                      </a:r>
                      <a:r>
                        <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rPr>
                        <a:t>设计模式</a:t>
                      </a:r>
                      <a:endPar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100">
                          <a:solidFill>
                            <a:srgbClr val="000000"/>
                          </a:solidFill>
                          <a:effectLst/>
                          <a:latin typeface="Calibri" panose="020F0502020204030204" charset="0"/>
                          <a:ea typeface="Times New Roman" panose="02020603050405020304"/>
                          <a:cs typeface="Calibri" panose="020F0502020204030204" charset="0"/>
                        </a:rPr>
                        <a:t>Generic abstractions that occur across applications are represented as design patterns showing abstract and concrete objects and interactions. </a:t>
                      </a:r>
                      <a:endParaRPr lang="en-GB" sz="210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743585">
                <a:tc>
                  <a:txBody>
                    <a:bodyPr/>
                    <a:p>
                      <a:pPr algn="l">
                        <a:spcAft>
                          <a:spcPts val="0"/>
                        </a:spcAft>
                      </a:pPr>
                      <a:r>
                        <a:rPr lang="en-GB" sz="2100" dirty="0">
                          <a:solidFill>
                            <a:srgbClr val="000000"/>
                          </a:solidFill>
                          <a:effectLst/>
                          <a:latin typeface="Calibri" panose="020F0502020204030204" charset="0"/>
                          <a:ea typeface="Times New Roman" panose="02020603050405020304"/>
                          <a:cs typeface="Calibri" panose="020F0502020204030204" charset="0"/>
                        </a:rPr>
                        <a:t>ERP systems</a:t>
                      </a:r>
                      <a:r>
                        <a:rPr lang="en-US" altLang="en-GB" sz="2100" dirty="0">
                          <a:solidFill>
                            <a:srgbClr val="000000"/>
                          </a:solidFill>
                          <a:effectLst/>
                          <a:latin typeface="Calibri" panose="020F0502020204030204" charset="0"/>
                          <a:ea typeface="Times New Roman" panose="02020603050405020304"/>
                          <a:cs typeface="Calibri" panose="020F0502020204030204" charset="0"/>
                        </a:rPr>
                        <a:t>ERP</a:t>
                      </a:r>
                      <a:r>
                        <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rPr>
                        <a:t>系统</a:t>
                      </a:r>
                      <a:endPar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100" dirty="0">
                          <a:solidFill>
                            <a:srgbClr val="000000"/>
                          </a:solidFill>
                          <a:effectLst/>
                          <a:latin typeface="Calibri" panose="020F0502020204030204" charset="0"/>
                          <a:ea typeface="Times New Roman" panose="02020603050405020304"/>
                          <a:cs typeface="Calibri" panose="020F0502020204030204" charset="0"/>
                        </a:rPr>
                        <a:t>Large-scale systems that encapsulate generic business functionality and rules are configured for an organization.</a:t>
                      </a:r>
                      <a:endParaRPr lang="en-GB" sz="2100" dirty="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78865">
                <a:tc>
                  <a:txBody>
                    <a:bodyPr/>
                    <a:p>
                      <a:pPr algn="l">
                        <a:spcAft>
                          <a:spcPts val="0"/>
                        </a:spcAft>
                      </a:pPr>
                      <a:r>
                        <a:rPr lang="en-GB" sz="2100">
                          <a:solidFill>
                            <a:srgbClr val="000000"/>
                          </a:solidFill>
                          <a:effectLst/>
                          <a:latin typeface="Calibri" panose="020F0502020204030204" charset="0"/>
                          <a:ea typeface="Times New Roman" panose="02020603050405020304"/>
                          <a:cs typeface="Calibri" panose="020F0502020204030204" charset="0"/>
                        </a:rPr>
                        <a:t>Legacy system wrapping</a:t>
                      </a:r>
                      <a:r>
                        <a:rPr lang="en-US" altLang="en-GB" sz="2100">
                          <a:solidFill>
                            <a:srgbClr val="000000"/>
                          </a:solidFill>
                          <a:effectLst/>
                          <a:latin typeface="Calibri" panose="020F0502020204030204" charset="0"/>
                          <a:ea typeface="Times New Roman" panose="02020603050405020304"/>
                          <a:cs typeface="Calibri" panose="020F0502020204030204" charset="0"/>
                        </a:rPr>
                        <a:t> </a:t>
                      </a:r>
                      <a:r>
                        <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rPr>
                        <a:t>遗留系统包装</a:t>
                      </a:r>
                      <a:endPar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100" dirty="0">
                          <a:solidFill>
                            <a:srgbClr val="000000"/>
                          </a:solidFill>
                          <a:effectLst/>
                          <a:latin typeface="Calibri" panose="020F0502020204030204" charset="0"/>
                          <a:ea typeface="Times New Roman" panose="02020603050405020304"/>
                          <a:cs typeface="Calibri" panose="020F0502020204030204" charset="0"/>
                        </a:rPr>
                        <a:t>Legacy systems are ‘wrapped’ by defining a set of interfaces and providing access to these legacy systems through these interfaces.</a:t>
                      </a:r>
                      <a:endParaRPr lang="en-GB" sz="2100" dirty="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078865">
                <a:tc>
                  <a:txBody>
                    <a:bodyPr/>
                    <a:p>
                      <a:pPr algn="l">
                        <a:spcAft>
                          <a:spcPts val="0"/>
                        </a:spcAft>
                      </a:pPr>
                      <a:r>
                        <a:rPr lang="en-GB" sz="2100">
                          <a:solidFill>
                            <a:srgbClr val="000000"/>
                          </a:solidFill>
                          <a:effectLst/>
                          <a:latin typeface="Calibri" panose="020F0502020204030204" charset="0"/>
                          <a:ea typeface="Times New Roman" panose="02020603050405020304"/>
                          <a:cs typeface="Calibri" panose="020F0502020204030204" charset="0"/>
                        </a:rPr>
                        <a:t>Model-driven engineering</a:t>
                      </a:r>
                      <a:r>
                        <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rPr>
                        <a:t>模型驱动的工程</a:t>
                      </a:r>
                      <a:endParaRPr lang="zh-CN" altLang="en-GB" sz="2100" dirty="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100" dirty="0">
                          <a:solidFill>
                            <a:srgbClr val="000000"/>
                          </a:solidFill>
                          <a:effectLst/>
                          <a:latin typeface="Calibri" panose="020F0502020204030204" charset="0"/>
                          <a:ea typeface="Times New Roman" panose="02020603050405020304"/>
                          <a:cs typeface="Calibri" panose="020F0502020204030204" charset="0"/>
                        </a:rPr>
                        <a:t>Software is represented as domain models and implementation independent models</a:t>
                      </a:r>
                      <a:r>
                        <a:rPr lang="en-US" altLang="en-GB" sz="2100" dirty="0">
                          <a:solidFill>
                            <a:srgbClr val="000000"/>
                          </a:solidFill>
                          <a:effectLst/>
                          <a:latin typeface="Calibri" panose="020F0502020204030204" charset="0"/>
                          <a:ea typeface="Times New Roman" panose="02020603050405020304"/>
                          <a:cs typeface="Calibri" panose="020F0502020204030204" charset="0"/>
                        </a:rPr>
                        <a:t>,</a:t>
                      </a:r>
                      <a:r>
                        <a:rPr lang="en-GB" sz="2100" dirty="0">
                          <a:solidFill>
                            <a:srgbClr val="000000"/>
                          </a:solidFill>
                          <a:effectLst/>
                          <a:latin typeface="Calibri" panose="020F0502020204030204" charset="0"/>
                          <a:ea typeface="Times New Roman" panose="02020603050405020304"/>
                          <a:cs typeface="Calibri" panose="020F0502020204030204" charset="0"/>
                        </a:rPr>
                        <a:t> and code is generated from these models.</a:t>
                      </a:r>
                      <a:endParaRPr lang="en-GB" sz="2100" dirty="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
        <p:nvSpPr>
          <p:cNvPr id="5" name="Rectangle 3"/>
          <p:cNvSpPr>
            <a:spLocks noGrp="1" noRot="1"/>
          </p:cNvSpPr>
          <p:nvPr>
            <p:ph type="subTitle" idx="1"/>
            <p:custDataLst>
              <p:tags r:id="rId3"/>
            </p:custDataLst>
          </p:nvPr>
        </p:nvSpPr>
        <p:spPr>
          <a:xfrm>
            <a:off x="88900" y="671830"/>
            <a:ext cx="8977630" cy="6038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Approaches </a:t>
            </a:r>
            <a:r>
              <a:rPr lang="en-US" altLang="zh-CN" sz="3200" dirty="0">
                <a:solidFill>
                  <a:schemeClr val="accent1">
                    <a:lumMod val="75000"/>
                  </a:schemeClr>
                </a:solidFill>
                <a:ea typeface="宋体" panose="02010600030101010101" pitchFamily="2" charset="-122"/>
                <a:sym typeface="+mn-ea"/>
              </a:rPr>
              <a:t>to</a:t>
            </a:r>
            <a:r>
              <a:rPr lang="zh-CN" altLang="en-US" sz="3200" dirty="0">
                <a:solidFill>
                  <a:schemeClr val="accent1">
                    <a:lumMod val="75000"/>
                  </a:schemeClr>
                </a:solidFill>
                <a:ea typeface="宋体" panose="02010600030101010101" pitchFamily="2" charset="-122"/>
                <a:sym typeface="+mn-ea"/>
              </a:rPr>
              <a:t>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复用的途径（续）</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graphicFrame>
        <p:nvGraphicFramePr>
          <p:cNvPr id="6" name="Content Placeholder 5"/>
          <p:cNvGraphicFramePr>
            <a:graphicFrameLocks noGrp="1"/>
          </p:cNvGraphicFramePr>
          <p:nvPr>
            <p:custDataLst>
              <p:tags r:id="rId2"/>
            </p:custDataLst>
          </p:nvPr>
        </p:nvGraphicFramePr>
        <p:xfrm>
          <a:off x="122555" y="1268730"/>
          <a:ext cx="8897620" cy="5433695"/>
        </p:xfrm>
        <a:graphic>
          <a:graphicData uri="http://schemas.openxmlformats.org/drawingml/2006/table">
            <a:tbl>
              <a:tblPr firstRow="1" bandRow="1">
                <a:effectLst/>
                <a:tableStyleId>{5940675A-B579-460E-94D1-54222C63F5DA}</a:tableStyleId>
              </a:tblPr>
              <a:tblGrid>
                <a:gridCol w="2480945"/>
                <a:gridCol w="6416675"/>
              </a:tblGrid>
              <a:tr h="511810">
                <a:tc>
                  <a:txBody>
                    <a:bodyPr/>
                    <a:p>
                      <a:pPr algn="ctr">
                        <a:spcAft>
                          <a:spcPts val="0"/>
                        </a:spcAft>
                      </a:pPr>
                      <a:r>
                        <a:rPr lang="en-GB" sz="2300" b="1" dirty="0" smtClean="0">
                          <a:solidFill>
                            <a:schemeClr val="bg1"/>
                          </a:solidFill>
                          <a:latin typeface="Arial" panose="020B0604020202020204"/>
                          <a:ea typeface="Times New Roman" panose="02020603050405020304"/>
                          <a:cs typeface="Arial" panose="020B0604020202020204"/>
                        </a:rPr>
                        <a:t>Approach</a:t>
                      </a:r>
                      <a:endParaRPr lang="en-GB" sz="23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pPr>
                      <a:r>
                        <a:rPr lang="en-GB" sz="2300" b="1" dirty="0" smtClean="0">
                          <a:solidFill>
                            <a:schemeClr val="bg1"/>
                          </a:solidFill>
                          <a:latin typeface="Arial" panose="020B0604020202020204"/>
                          <a:ea typeface="Times New Roman" panose="02020603050405020304"/>
                          <a:cs typeface="Arial" panose="020B0604020202020204"/>
                        </a:rPr>
                        <a:t>Description</a:t>
                      </a:r>
                      <a:endParaRPr lang="en-GB" sz="2300" b="1" dirty="0" smtClean="0">
                        <a:solidFill>
                          <a:schemeClr val="bg1"/>
                        </a:solidFill>
                        <a:latin typeface="Arial" panose="020B0604020202020204"/>
                        <a:ea typeface="Times New Roman" panose="02020603050405020304"/>
                        <a:cs typeface="Arial" panose="020B0604020202020204"/>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943610">
                <a:tc>
                  <a:txBody>
                    <a:bodyPr/>
                    <a:p>
                      <a:pPr algn="l">
                        <a:spcAft>
                          <a:spcPts val="0"/>
                        </a:spcAft>
                      </a:pPr>
                      <a:r>
                        <a:rPr lang="en-GB" sz="2300">
                          <a:solidFill>
                            <a:srgbClr val="000000"/>
                          </a:solidFill>
                          <a:effectLst/>
                          <a:latin typeface="Calibri" panose="020F0502020204030204" charset="0"/>
                          <a:ea typeface="Times New Roman" panose="02020603050405020304"/>
                          <a:cs typeface="Calibri" panose="020F0502020204030204" charset="0"/>
                        </a:rPr>
                        <a:t>Program generators</a:t>
                      </a:r>
                      <a:r>
                        <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rPr>
                        <a:t>程序生成器</a:t>
                      </a:r>
                      <a:endPar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300">
                          <a:solidFill>
                            <a:srgbClr val="000000"/>
                          </a:solidFill>
                          <a:effectLst/>
                          <a:latin typeface="Calibri" panose="020F0502020204030204" charset="0"/>
                          <a:ea typeface="Times New Roman" panose="02020603050405020304"/>
                          <a:cs typeface="Calibri" panose="020F0502020204030204" charset="0"/>
                        </a:rPr>
                        <a:t>A generator system embeds knowledge of a type of application and is used to generate systems in that domain from a user-supplied system model.</a:t>
                      </a:r>
                      <a:endParaRPr lang="en-GB" sz="230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657225">
                <a:tc>
                  <a:txBody>
                    <a:bodyPr/>
                    <a:p>
                      <a:pPr algn="l">
                        <a:spcAft>
                          <a:spcPts val="0"/>
                        </a:spcAft>
                      </a:pPr>
                      <a:r>
                        <a:rPr lang="en-GB" sz="2300">
                          <a:solidFill>
                            <a:srgbClr val="000000"/>
                          </a:solidFill>
                          <a:effectLst/>
                          <a:latin typeface="Calibri" panose="020F0502020204030204" charset="0"/>
                          <a:ea typeface="Times New Roman" panose="02020603050405020304"/>
                          <a:cs typeface="Calibri" panose="020F0502020204030204" charset="0"/>
                        </a:rPr>
                        <a:t>Program libraries</a:t>
                      </a:r>
                      <a:r>
                        <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rPr>
                        <a:t>程序库</a:t>
                      </a:r>
                      <a:endPar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300">
                          <a:solidFill>
                            <a:srgbClr val="000000"/>
                          </a:solidFill>
                          <a:effectLst/>
                          <a:latin typeface="Calibri" panose="020F0502020204030204" charset="0"/>
                          <a:ea typeface="Times New Roman" panose="02020603050405020304"/>
                          <a:cs typeface="Calibri" panose="020F0502020204030204" charset="0"/>
                        </a:rPr>
                        <a:t>Class and function libraries that implement commonly used abstractions are available for reuse.</a:t>
                      </a:r>
                      <a:endParaRPr lang="en-GB" sz="230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055370">
                <a:tc>
                  <a:txBody>
                    <a:bodyPr/>
                    <a:p>
                      <a:pPr algn="l">
                        <a:spcAft>
                          <a:spcPts val="0"/>
                        </a:spcAft>
                      </a:pPr>
                      <a:r>
                        <a:rPr lang="en-GB" sz="2300">
                          <a:solidFill>
                            <a:srgbClr val="000000"/>
                          </a:solidFill>
                          <a:effectLst/>
                          <a:latin typeface="Calibri" panose="020F0502020204030204" charset="0"/>
                          <a:ea typeface="Times New Roman" panose="02020603050405020304"/>
                          <a:cs typeface="Calibri" panose="020F0502020204030204" charset="0"/>
                        </a:rPr>
                        <a:t>Service-oriented systems</a:t>
                      </a:r>
                      <a:r>
                        <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rPr>
                        <a:t>面向服务的系统</a:t>
                      </a:r>
                      <a:endPar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300">
                          <a:solidFill>
                            <a:srgbClr val="000000"/>
                          </a:solidFill>
                          <a:effectLst/>
                          <a:latin typeface="Calibri" panose="020F0502020204030204" charset="0"/>
                          <a:ea typeface="Times New Roman" panose="02020603050405020304"/>
                          <a:cs typeface="Calibri" panose="020F0502020204030204" charset="0"/>
                        </a:rPr>
                        <a:t>Systems are developed by linking shared services, which may be externally provided. </a:t>
                      </a:r>
                      <a:endParaRPr lang="en-GB" sz="230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78230">
                <a:tc>
                  <a:txBody>
                    <a:bodyPr/>
                    <a:p>
                      <a:pPr algn="l">
                        <a:spcAft>
                          <a:spcPts val="0"/>
                        </a:spcAft>
                      </a:pPr>
                      <a:r>
                        <a:rPr lang="en-GB" sz="2300">
                          <a:solidFill>
                            <a:srgbClr val="000000"/>
                          </a:solidFill>
                          <a:effectLst/>
                          <a:latin typeface="Calibri" panose="020F0502020204030204" charset="0"/>
                          <a:ea typeface="Times New Roman" panose="02020603050405020304"/>
                          <a:cs typeface="Calibri" panose="020F0502020204030204" charset="0"/>
                        </a:rPr>
                        <a:t>Software product lines</a:t>
                      </a:r>
                      <a:r>
                        <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rPr>
                        <a:t>软件产品线</a:t>
                      </a:r>
                      <a:endPar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300" dirty="0">
                          <a:solidFill>
                            <a:srgbClr val="000000"/>
                          </a:solidFill>
                          <a:effectLst/>
                          <a:latin typeface="Calibri" panose="020F0502020204030204" charset="0"/>
                          <a:ea typeface="Times New Roman" panose="02020603050405020304"/>
                          <a:cs typeface="Calibri" panose="020F0502020204030204" charset="0"/>
                        </a:rPr>
                        <a:t>An application type is generalized around a common architecture so that it can be adapted for different customers.</a:t>
                      </a:r>
                      <a:endParaRPr lang="en-GB" sz="2300" dirty="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758825">
                <a:tc>
                  <a:txBody>
                    <a:bodyPr/>
                    <a:p>
                      <a:pPr algn="l">
                        <a:spcAft>
                          <a:spcPts val="0"/>
                        </a:spcAft>
                      </a:pPr>
                      <a:r>
                        <a:rPr lang="en-GB" sz="2300">
                          <a:solidFill>
                            <a:srgbClr val="000000"/>
                          </a:solidFill>
                          <a:effectLst/>
                          <a:latin typeface="Calibri" panose="020F0502020204030204" charset="0"/>
                          <a:ea typeface="Times New Roman" panose="02020603050405020304"/>
                          <a:cs typeface="Calibri" panose="020F0502020204030204" charset="0"/>
                        </a:rPr>
                        <a:t>Systems of systems</a:t>
                      </a:r>
                      <a:r>
                        <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rPr>
                        <a:t>系统之系统</a:t>
                      </a:r>
                      <a:endParaRPr lang="zh-CN" altLang="en-GB" sz="2300">
                        <a:solidFill>
                          <a:srgbClr val="FF0000"/>
                        </a:solidFill>
                        <a:effectLst/>
                        <a:latin typeface="黑体" panose="02010609060101010101" pitchFamily="49" charset="-122"/>
                        <a:ea typeface="黑体" panose="02010609060101010101" pitchFamily="49" charset="-122"/>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GB" sz="2300" dirty="0">
                          <a:solidFill>
                            <a:srgbClr val="000000"/>
                          </a:solidFill>
                          <a:effectLst/>
                          <a:latin typeface="Calibri" panose="020F0502020204030204" charset="0"/>
                          <a:ea typeface="Times New Roman" panose="02020603050405020304"/>
                          <a:cs typeface="Calibri" panose="020F0502020204030204" charset="0"/>
                        </a:rPr>
                        <a:t>Two or more distributed systems are integrated to create a new system. </a:t>
                      </a:r>
                      <a:endParaRPr lang="en-GB" sz="2300" dirty="0">
                        <a:solidFill>
                          <a:srgbClr val="000000"/>
                        </a:solidFill>
                        <a:effectLst/>
                        <a:latin typeface="Calibri" panose="020F0502020204030204" charset="0"/>
                        <a:ea typeface="Times New Roman" panose="02020603050405020304"/>
                        <a:cs typeface="Calibri" panose="020F0502020204030204" charset="0"/>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
        <p:nvSpPr>
          <p:cNvPr id="3" name="Rectangle 3"/>
          <p:cNvSpPr>
            <a:spLocks noGrp="1" noRot="1"/>
          </p:cNvSpPr>
          <p:nvPr>
            <p:ph type="subTitle" idx="1"/>
            <p:custDataLst>
              <p:tags r:id="rId3"/>
            </p:custDataLst>
          </p:nvPr>
        </p:nvSpPr>
        <p:spPr>
          <a:xfrm>
            <a:off x="88900" y="699135"/>
            <a:ext cx="8977630" cy="6159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Approaches </a:t>
            </a:r>
            <a:r>
              <a:rPr lang="en-US" altLang="zh-CN" sz="3200" dirty="0">
                <a:solidFill>
                  <a:schemeClr val="accent1">
                    <a:lumMod val="75000"/>
                  </a:schemeClr>
                </a:solidFill>
                <a:ea typeface="宋体" panose="02010600030101010101" pitchFamily="2" charset="-122"/>
                <a:sym typeface="+mn-ea"/>
              </a:rPr>
              <a:t>to</a:t>
            </a:r>
            <a:r>
              <a:rPr lang="zh-CN" altLang="en-US" sz="3200" dirty="0">
                <a:solidFill>
                  <a:schemeClr val="accent1">
                    <a:lumMod val="75000"/>
                  </a:schemeClr>
                </a:solidFill>
                <a:ea typeface="宋体" panose="02010600030101010101" pitchFamily="2" charset="-122"/>
                <a:sym typeface="+mn-ea"/>
              </a:rPr>
              <a:t>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复用的途径（续）</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9140"/>
            <a:ext cx="8977630" cy="9696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Key factors</a:t>
            </a: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when planning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规划复用时的关键因素</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97283" name="Rectangle 3"/>
          <p:cNvSpPr>
            <a:spLocks noGrp="1" noChangeArrowheads="1"/>
          </p:cNvSpPr>
          <p:nvPr/>
        </p:nvSpPr>
        <p:spPr>
          <a:xfrm>
            <a:off x="68580" y="1671955"/>
            <a:ext cx="8997315" cy="4784725"/>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The development schedule for the software:</a:t>
            </a:r>
            <a:r>
              <a:rPr lang="en-US" altLang="en-GB" sz="2800" b="0" dirty="0">
                <a:solidFill>
                  <a:schemeClr val="tx1"/>
                </a:solidFill>
                <a:latin typeface="Calibri" panose="020F0502020204030204" charset="0"/>
                <a:cs typeface="Calibri" panose="020F0502020204030204" charset="0"/>
              </a:rPr>
              <a:t> If the software has to be developed quickly, you should try to reuse complete systems rather than individual components.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开发进度</a:t>
            </a:r>
            <a:endParaRPr lang="en-US" altLang="en-GB" dirty="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The expected software lifetime: </a:t>
            </a:r>
            <a:r>
              <a:rPr lang="en-US" altLang="en-GB" sz="2800" b="0" dirty="0">
                <a:solidFill>
                  <a:schemeClr val="tx1"/>
                </a:solidFill>
                <a:latin typeface="Calibri" panose="020F0502020204030204" charset="0"/>
                <a:cs typeface="Calibri" panose="020F0502020204030204" charset="0"/>
              </a:rPr>
              <a:t>If you are developing a long-lifetime system, you should focus on the maintainability and not just think about the immediate benefits of reuse.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预期软件生命周期</a:t>
            </a:r>
            <a:endParaRPr lang="en-US" altLang="en-GB" dirty="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The background, skills and experience of the development team: </a:t>
            </a:r>
            <a:r>
              <a:rPr lang="en-US" altLang="en-GB" sz="2800" b="0" dirty="0">
                <a:solidFill>
                  <a:schemeClr val="tx1"/>
                </a:solidFill>
                <a:latin typeface="Calibri" panose="020F0502020204030204" charset="0"/>
                <a:cs typeface="Calibri" panose="020F0502020204030204" charset="0"/>
              </a:rPr>
              <a:t>You should focus your reuse effort in areas where your development team has expertise.</a:t>
            </a:r>
            <a:r>
              <a:rPr lang="en-US" altLang="en-GB" b="0" dirty="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开发团队的背景、技能和经验</a:t>
            </a:r>
            <a:endParaRPr lang="en-GB"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5490"/>
            <a:ext cx="8977630" cy="9982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Key factors</a:t>
            </a: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when planning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规划复用时的关键因素（续）</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97283" name="Rectangle 3"/>
          <p:cNvSpPr>
            <a:spLocks noGrp="1" noChangeArrowheads="1"/>
          </p:cNvSpPr>
          <p:nvPr/>
        </p:nvSpPr>
        <p:spPr>
          <a:xfrm>
            <a:off x="68580" y="1743710"/>
            <a:ext cx="8997315" cy="4827905"/>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The criticality of the software and its non-functional requirements:</a:t>
            </a:r>
            <a:r>
              <a:rPr lang="en-US" altLang="en-GB" sz="2800" b="0" dirty="0">
                <a:solidFill>
                  <a:schemeClr val="tx1"/>
                </a:solidFill>
                <a:latin typeface="Calibri" panose="020F0502020204030204" charset="0"/>
                <a:cs typeface="Calibri" panose="020F0502020204030204" charset="0"/>
              </a:rPr>
              <a:t> For a critical system that has to be certified by an external regulator you may have to create a safety or security case for the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软件的关键性及其非功能需求</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The application domain:</a:t>
            </a:r>
            <a:r>
              <a:rPr lang="en-US" altLang="en-GB" sz="2800" b="0" dirty="0">
                <a:solidFill>
                  <a:schemeClr val="tx1"/>
                </a:solidFill>
                <a:latin typeface="Calibri" panose="020F0502020204030204" charset="0"/>
                <a:cs typeface="Calibri" panose="020F0502020204030204" charset="0"/>
              </a:rPr>
              <a:t> In many application domains, there are generic products that may be reused by configuring them to a local situation.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应用领域</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The platform on which the system will run:</a:t>
            </a:r>
            <a:r>
              <a:rPr lang="en-US" altLang="en-GB" sz="2800" b="0" dirty="0">
                <a:solidFill>
                  <a:schemeClr val="tx1"/>
                </a:solidFill>
                <a:latin typeface="Calibri" panose="020F0502020204030204" charset="0"/>
                <a:cs typeface="Calibri" panose="020F0502020204030204" charset="0"/>
              </a:rPr>
              <a:t> Generic application systems may be platform-specific, and you may only be able to reuse these if your system is designed for the same platform.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系统工作于其上的平台</a:t>
            </a:r>
            <a:endParaRPr lang="zh-CN" altLang="en-US" sz="2800" b="0" dirty="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15.2</a:t>
            </a: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Application frameworks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应用框架</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97283" name="Rectangle 3"/>
          <p:cNvSpPr>
            <a:spLocks noGrp="1" noChangeArrowheads="1"/>
          </p:cNvSpPr>
          <p:nvPr/>
        </p:nvSpPr>
        <p:spPr>
          <a:xfrm>
            <a:off x="45720" y="1384935"/>
            <a:ext cx="9020810" cy="5042535"/>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100" dirty="0">
                <a:solidFill>
                  <a:schemeClr val="accent2">
                    <a:lumMod val="75000"/>
                  </a:schemeClr>
                </a:solidFill>
                <a:latin typeface="Calibri" panose="020F0502020204030204" charset="0"/>
                <a:cs typeface="Calibri" panose="020F0502020204030204" charset="0"/>
              </a:rPr>
              <a:t> Experience has shown that objects are often too fine-grained and are often specialized for particular applications.</a:t>
            </a:r>
            <a:r>
              <a:rPr lang="en-US" altLang="en-GB" sz="2800" dirty="0">
                <a:solidFill>
                  <a:schemeClr val="accent2">
                    <a:lumMod val="75000"/>
                  </a:schemeClr>
                </a:solidFill>
                <a:latin typeface="Calibri" panose="020F0502020204030204" charset="0"/>
                <a:cs typeface="Calibri" panose="020F0502020204030204" charset="0"/>
              </a:rPr>
              <a:t> </a:t>
            </a:r>
            <a:r>
              <a:rPr lang="en-US" altLang="en-GB" sz="2800" b="0" dirty="0">
                <a:solidFill>
                  <a:schemeClr val="tx1"/>
                </a:solidFill>
                <a:latin typeface="Calibri" panose="020F0502020204030204" charset="0"/>
                <a:cs typeface="Calibri" panose="020F0502020204030204" charset="0"/>
              </a:rPr>
              <a:t>It often takes longer to understand and adapt the object than to reimplement it.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对象过于细粒度</a:t>
            </a:r>
            <a:endParaRPr lang="en-US" altLang="en-GB" sz="2800" dirty="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3100" dirty="0">
                <a:solidFill>
                  <a:schemeClr val="accent2">
                    <a:lumMod val="75000"/>
                  </a:schemeClr>
                </a:solidFill>
                <a:latin typeface="Calibri" panose="020F0502020204030204" charset="0"/>
                <a:cs typeface="Calibri" panose="020F0502020204030204" charset="0"/>
              </a:rPr>
              <a:t> It has now become clear that object-oriented reuse is best supported in object-oriented development process through larger-grain abstractions called frameworks.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面向对象的复用最好用框架来支持</a:t>
            </a:r>
            <a:endParaRPr lang="en-US" altLang="en-GB" sz="3200" dirty="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Framework definition</a:t>
            </a:r>
            <a:r>
              <a:rPr lang="en-US" altLang="en-GB" sz="3200" dirty="0">
                <a:solidFill>
                  <a:schemeClr val="accent2">
                    <a:lumMod val="75000"/>
                  </a:schemeClr>
                </a:solidFill>
                <a:latin typeface="Calibri" panose="020F0502020204030204" charset="0"/>
                <a:cs typeface="Calibri" panose="020F0502020204030204" charset="0"/>
              </a:rPr>
              <a:t>: </a:t>
            </a:r>
            <a:r>
              <a:rPr lang="en-US" altLang="en-GB" sz="2800" b="0" dirty="0">
                <a:solidFill>
                  <a:schemeClr val="tx1"/>
                </a:solidFill>
                <a:latin typeface="Calibri" panose="020F0502020204030204" charset="0"/>
                <a:cs typeface="Calibri" panose="020F0502020204030204" charset="0"/>
              </a:rPr>
              <a:t>“</a:t>
            </a:r>
            <a:r>
              <a:rPr lang="zh-CN" altLang="en-GB" sz="2800" b="0" dirty="0">
                <a:solidFill>
                  <a:schemeClr val="tx1"/>
                </a:solidFill>
                <a:latin typeface="Calibri" panose="020F0502020204030204" charset="0"/>
                <a:ea typeface="宋体" panose="02010600030101010101" pitchFamily="2" charset="-122"/>
                <a:cs typeface="Calibri" panose="020F0502020204030204" charset="0"/>
              </a:rPr>
              <a:t>an integrated set of software artifacts (such as classes, objects and components) that</a:t>
            </a:r>
            <a:r>
              <a:rPr lang="en-US" altLang="zh-CN" sz="2800" b="0" dirty="0">
                <a:solidFill>
                  <a:schemeClr val="tx1"/>
                </a:solidFill>
                <a:latin typeface="Calibri" panose="020F0502020204030204" charset="0"/>
                <a:ea typeface="宋体" panose="02010600030101010101" pitchFamily="2" charset="-122"/>
                <a:cs typeface="Calibri" panose="020F0502020204030204" charset="0"/>
              </a:rPr>
              <a:t> </a:t>
            </a:r>
            <a:r>
              <a:rPr lang="zh-CN" altLang="en-GB" sz="2800" b="0" dirty="0">
                <a:solidFill>
                  <a:schemeClr val="tx1"/>
                </a:solidFill>
                <a:latin typeface="Calibri" panose="020F0502020204030204" charset="0"/>
                <a:ea typeface="宋体" panose="02010600030101010101" pitchFamily="2" charset="-122"/>
                <a:cs typeface="Calibri" panose="020F0502020204030204" charset="0"/>
              </a:rPr>
              <a:t>collaborate to provide a reusable architecture for a family</a:t>
            </a:r>
            <a:r>
              <a:rPr lang="en-US" altLang="zh-CN" sz="2800" b="0" dirty="0">
                <a:solidFill>
                  <a:schemeClr val="tx1"/>
                </a:solidFill>
                <a:latin typeface="Calibri" panose="020F0502020204030204" charset="0"/>
                <a:ea typeface="宋体" panose="02010600030101010101" pitchFamily="2" charset="-122"/>
                <a:cs typeface="Calibri" panose="020F0502020204030204" charset="0"/>
              </a:rPr>
              <a:t> </a:t>
            </a:r>
            <a:r>
              <a:rPr lang="zh-CN" altLang="en-GB" sz="2800" b="0" dirty="0">
                <a:solidFill>
                  <a:schemeClr val="tx1"/>
                </a:solidFill>
                <a:latin typeface="Calibri" panose="020F0502020204030204" charset="0"/>
                <a:ea typeface="宋体" panose="02010600030101010101" pitchFamily="2" charset="-122"/>
                <a:cs typeface="Calibri" panose="020F0502020204030204" charset="0"/>
              </a:rPr>
              <a:t>of related applications.</a:t>
            </a:r>
            <a:r>
              <a:rPr lang="en-US" altLang="en-GB" sz="2800" b="0" dirty="0">
                <a:solidFill>
                  <a:schemeClr val="tx1"/>
                </a:solidFill>
                <a:latin typeface="Calibri" panose="020F0502020204030204" charset="0"/>
                <a:cs typeface="Calibri" panose="020F0502020204030204" charset="0"/>
                <a:sym typeface="+mn-ea"/>
              </a:rPr>
              <a:t>”</a:t>
            </a:r>
            <a:r>
              <a:rPr lang="en-US" altLang="zh-CN" sz="3200" dirty="0">
                <a:solidFill>
                  <a:schemeClr val="accent2">
                    <a:lumMod val="75000"/>
                  </a:schemeClr>
                </a:solidFill>
                <a:latin typeface="Calibri" panose="020F0502020204030204" charset="0"/>
                <a:ea typeface="宋体" panose="02010600030101010101" pitchFamily="2" charset="-122"/>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框架定义</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4690"/>
            <a:ext cx="8977630" cy="6203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Reuse through framework</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通过框架来复用</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97283" name="Rectangle 3"/>
          <p:cNvSpPr>
            <a:spLocks noGrp="1" noChangeArrowheads="1"/>
          </p:cNvSpPr>
          <p:nvPr/>
        </p:nvSpPr>
        <p:spPr>
          <a:xfrm>
            <a:off x="68580" y="1241425"/>
            <a:ext cx="8998585" cy="5462905"/>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Frameworks provide support for generic features that are likely to be used in all applications of a similar type.</a:t>
            </a:r>
            <a:r>
              <a:rPr lang="en-US" altLang="en-GB" sz="2600" b="0" dirty="0">
                <a:solidFill>
                  <a:schemeClr val="tx1"/>
                </a:solidFill>
                <a:latin typeface="Calibri" panose="020F0502020204030204" charset="0"/>
                <a:cs typeface="Calibri" panose="020F0502020204030204" charset="0"/>
              </a:rPr>
              <a:t> For example, a user interface framework will provide support for interface event handling and will include a set of widgets that can be used to construct displays.</a:t>
            </a:r>
            <a:r>
              <a:rPr lang="en-US" altLang="en-GB" sz="2000" b="0" dirty="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框架为类似应用的通用特性提供支持</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Frameworks provide a skeleton architecture for the application as well as the reuse of specific classes in the system.</a:t>
            </a:r>
            <a:r>
              <a:rPr lang="en-US" altLang="en-GB" sz="2600" dirty="0">
                <a:solidFill>
                  <a:schemeClr val="accent2">
                    <a:lumMod val="75000"/>
                  </a:schemeClr>
                </a:solidFill>
                <a:latin typeface="Calibri" panose="020F0502020204030204" charset="0"/>
                <a:cs typeface="Calibri" panose="020F0502020204030204" charset="0"/>
              </a:rPr>
              <a:t> </a:t>
            </a:r>
            <a:r>
              <a:rPr lang="en-US" altLang="en-GB" sz="2600" b="0" dirty="0">
                <a:solidFill>
                  <a:schemeClr val="tx1"/>
                </a:solidFill>
                <a:latin typeface="Calibri" panose="020F0502020204030204" charset="0"/>
                <a:cs typeface="Calibri" panose="020F0502020204030204" charset="0"/>
              </a:rPr>
              <a:t>The architecture is implemented by the object classes and their interactions.</a:t>
            </a:r>
            <a:r>
              <a:rPr lang="en-US" altLang="en-GB" sz="2000" b="0" dirty="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框架提供骨架体系结构以及类的复用</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Frameworks are implemented as a collection of object classes in an object-oriented programming language.</a:t>
            </a:r>
            <a:r>
              <a:rPr lang="en-US" altLang="en-GB" sz="2600" b="0" dirty="0">
                <a:solidFill>
                  <a:schemeClr val="tx1"/>
                </a:solidFill>
                <a:latin typeface="Calibri" panose="020F0502020204030204" charset="0"/>
                <a:cs typeface="Calibri" panose="020F0502020204030204" charset="0"/>
              </a:rPr>
              <a:t> Therefore, frameworks are language-specific. Frameworks are available in object-oriented programming languages such as Java, C#, and C++.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框架被实现为一系列类</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9780"/>
            <a:ext cx="8977630" cy="5765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15.3 Software product lines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软件产品线</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104451" name="Rectangle 3"/>
          <p:cNvSpPr>
            <a:spLocks noGrp="1" noChangeArrowheads="1"/>
          </p:cNvSpPr>
          <p:nvPr/>
        </p:nvSpPr>
        <p:spPr>
          <a:xfrm>
            <a:off x="57150" y="1355725"/>
            <a:ext cx="9009380" cy="4500880"/>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800"/>
              </a:spcBef>
              <a:spcAft>
                <a:spcPts val="0"/>
              </a:spcAft>
            </a:pPr>
            <a:r>
              <a:rPr lang="en-US" altLang="en-GB" sz="3000">
                <a:solidFill>
                  <a:schemeClr val="accent2">
                    <a:lumMod val="75000"/>
                  </a:schemeClr>
                </a:solidFill>
                <a:latin typeface="Calibri" panose="020F0502020204030204" charset="0"/>
                <a:cs typeface="Calibri" panose="020F0502020204030204" charset="0"/>
              </a:rPr>
              <a:t> </a:t>
            </a:r>
            <a:r>
              <a:rPr lang="en-US" altLang="en-GB" sz="3200">
                <a:solidFill>
                  <a:schemeClr val="accent2">
                    <a:lumMod val="75000"/>
                  </a:schemeClr>
                </a:solidFill>
                <a:latin typeface="Calibri" panose="020F0502020204030204" charset="0"/>
                <a:cs typeface="Calibri" panose="020F0502020204030204" charset="0"/>
              </a:rPr>
              <a:t>When a company has to support a number of similar but not identical systems, one of the most effective approaches to reuse is to create a </a:t>
            </a:r>
            <a:r>
              <a:rPr lang="en-US" altLang="en-GB" sz="3200" u="sng">
                <a:solidFill>
                  <a:schemeClr val="accent2">
                    <a:lumMod val="75000"/>
                  </a:schemeClr>
                </a:solidFill>
                <a:latin typeface="Calibri" panose="020F0502020204030204" charset="0"/>
                <a:cs typeface="Calibri" panose="020F0502020204030204" charset="0"/>
              </a:rPr>
              <a:t>software product line</a:t>
            </a:r>
            <a:r>
              <a:rPr lang="en-US" altLang="en-GB" sz="320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应用背景:为一些类似但不相同的系统提供支持</a:t>
            </a:r>
            <a:endParaRPr lang="en-US" altLang="en-GB" sz="3200">
              <a:solidFill>
                <a:schemeClr val="accent2">
                  <a:lumMod val="75000"/>
                </a:schemeClr>
              </a:solidFill>
              <a:latin typeface="Calibri" panose="020F0502020204030204" charset="0"/>
              <a:cs typeface="Calibri" panose="020F0502020204030204" charset="0"/>
            </a:endParaRPr>
          </a:p>
          <a:p>
            <a:pPr lvl="1">
              <a:lnSpc>
                <a:spcPct val="85000"/>
              </a:lnSpc>
              <a:spcBef>
                <a:spcPts val="800"/>
              </a:spcBef>
              <a:spcAft>
                <a:spcPts val="0"/>
              </a:spcAft>
            </a:pPr>
            <a:r>
              <a:rPr lang="en-US" altLang="en-GB" sz="2800" b="0">
                <a:solidFill>
                  <a:schemeClr val="tx1"/>
                </a:solidFill>
                <a:latin typeface="Calibri" panose="020F0502020204030204" charset="0"/>
                <a:cs typeface="Calibri" panose="020F0502020204030204" charset="0"/>
              </a:rPr>
              <a:t>For example, a printer manufacturer has to develop printer control software, where there is a specific version of the product for each type of printer. </a:t>
            </a:r>
            <a:endParaRPr lang="en-US" altLang="en-GB" sz="2800" b="0">
              <a:solidFill>
                <a:schemeClr val="tx1"/>
              </a:solidFill>
              <a:latin typeface="Calibri" panose="020F0502020204030204" charset="0"/>
              <a:cs typeface="Calibri" panose="020F0502020204030204" charset="0"/>
            </a:endParaRPr>
          </a:p>
          <a:p>
            <a:pPr lvl="1">
              <a:lnSpc>
                <a:spcPct val="85000"/>
              </a:lnSpc>
              <a:spcBef>
                <a:spcPts val="800"/>
              </a:spcBef>
              <a:spcAft>
                <a:spcPts val="0"/>
              </a:spcAft>
            </a:pPr>
            <a:r>
              <a:rPr lang="en-US" altLang="en-GB" sz="2800" b="0">
                <a:solidFill>
                  <a:schemeClr val="tx1"/>
                </a:solidFill>
                <a:latin typeface="Calibri" panose="020F0502020204030204" charset="0"/>
                <a:cs typeface="Calibri" panose="020F0502020204030204" charset="0"/>
              </a:rPr>
              <a:t> These software versions have much in common, so it makes sense to create a core product (the product line) and adapt this for each printer type.   </a:t>
            </a:r>
            <a:endParaRPr lang="en-GB" sz="2800">
              <a:latin typeface="Calibri" panose="020F0502020204030204" charset="0"/>
              <a:cs typeface="Calibri" panose="020F050202020403020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1685"/>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The meaning the </a:t>
            </a:r>
            <a:r>
              <a:rPr lang="zh-CN" altLang="en-US" sz="3200" dirty="0">
                <a:solidFill>
                  <a:schemeClr val="accent1">
                    <a:lumMod val="75000"/>
                  </a:schemeClr>
                </a:solidFill>
                <a:ea typeface="宋体" panose="02010600030101010101" pitchFamily="2" charset="-122"/>
                <a:sym typeface="+mn-ea"/>
              </a:rPr>
              <a:t>product lines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软件产品线的含义</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104451" name="Rectangle 3"/>
          <p:cNvSpPr>
            <a:spLocks noGrp="1" noChangeArrowheads="1"/>
          </p:cNvSpPr>
          <p:nvPr/>
        </p:nvSpPr>
        <p:spPr>
          <a:xfrm>
            <a:off x="57150" y="1355725"/>
            <a:ext cx="9009380" cy="4859655"/>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 software product line is a set of applications with a common architecture and shared components, with each application specialized to reflect specific customer requirements.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含义</a:t>
            </a:r>
            <a:endParaRPr lang="en-US" altLang="en-GB" sz="3200">
              <a:solidFill>
                <a:schemeClr val="accent2">
                  <a:lumMod val="75000"/>
                </a:schemeClr>
              </a:solidFill>
              <a:latin typeface="Calibri" panose="020F0502020204030204" charset="0"/>
              <a:cs typeface="Calibri" panose="020F0502020204030204" charset="0"/>
            </a:endParaRPr>
          </a:p>
          <a:p>
            <a:pPr lvl="1">
              <a:lnSpc>
                <a:spcPct val="85000"/>
              </a:lnSpc>
              <a:spcBef>
                <a:spcPts val="800"/>
              </a:spcBef>
              <a:spcAft>
                <a:spcPts val="0"/>
              </a:spcAft>
            </a:pPr>
            <a:r>
              <a:rPr lang="en-US" altLang="en-GB" sz="2800" b="0">
                <a:solidFill>
                  <a:schemeClr val="tx1"/>
                </a:solidFill>
                <a:latin typeface="Calibri" panose="020F0502020204030204" charset="0"/>
                <a:cs typeface="Calibri" panose="020F0502020204030204" charset="0"/>
              </a:rPr>
              <a:t>The core system is designed so that it can be configured and adapted to suit the needs of different customers or equipment. </a:t>
            </a:r>
            <a:endParaRPr lang="en-US" altLang="en-GB" sz="2800" b="0">
              <a:solidFill>
                <a:schemeClr val="tx1"/>
              </a:solidFill>
              <a:latin typeface="Calibri" panose="020F0502020204030204" charset="0"/>
              <a:cs typeface="Calibri" panose="020F0502020204030204" charset="0"/>
            </a:endParaRPr>
          </a:p>
          <a:p>
            <a:pPr lvl="1">
              <a:lnSpc>
                <a:spcPct val="85000"/>
              </a:lnSpc>
              <a:spcBef>
                <a:spcPts val="800"/>
              </a:spcBef>
              <a:spcAft>
                <a:spcPts val="0"/>
              </a:spcAft>
            </a:pPr>
            <a:r>
              <a:rPr lang="en-US" altLang="en-GB" sz="2800" b="0">
                <a:solidFill>
                  <a:schemeClr val="tx1"/>
                </a:solidFill>
                <a:latin typeface="Calibri" panose="020F0502020204030204" charset="0"/>
                <a:cs typeface="Calibri" panose="020F0502020204030204" charset="0"/>
              </a:rPr>
              <a:t>This may involve the configuration of some components, implementing additional components, and modifying some of the components to reflect new requirements.</a:t>
            </a:r>
            <a:endParaRPr lang="en-US" altLang="en-GB" sz="2800" b="0">
              <a:solidFill>
                <a:schemeClr val="tx1"/>
              </a:solidFill>
              <a:latin typeface="Calibri" panose="020F0502020204030204" charset="0"/>
              <a:cs typeface="Calibri" panose="020F0502020204030204" charset="0"/>
            </a:endParaRPr>
          </a:p>
          <a:p>
            <a:pPr>
              <a:lnSpc>
                <a:spcPct val="85000"/>
              </a:lnSpc>
              <a:spcBef>
                <a:spcPts val="800"/>
              </a:spcBef>
              <a:spcAft>
                <a:spcPts val="0"/>
              </a:spcAft>
            </a:pPr>
            <a:endParaRPr lang="en-US" altLang="en-GB" sz="2800" b="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1685"/>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900" dirty="0">
                <a:solidFill>
                  <a:schemeClr val="accent1">
                    <a:lumMod val="75000"/>
                  </a:schemeClr>
                </a:solidFill>
                <a:ea typeface="宋体" panose="02010600030101010101" pitchFamily="2" charset="-122"/>
                <a:sym typeface="+mn-ea"/>
              </a:rPr>
              <a:t> </a:t>
            </a:r>
            <a:r>
              <a:rPr lang="en-US" altLang="zh-CN" sz="2900" dirty="0">
                <a:solidFill>
                  <a:schemeClr val="accent1">
                    <a:lumMod val="75000"/>
                  </a:schemeClr>
                </a:solidFill>
                <a:ea typeface="宋体" panose="02010600030101010101" pitchFamily="2" charset="-122"/>
                <a:sym typeface="+mn-ea"/>
              </a:rPr>
              <a:t>Benefits of s</a:t>
            </a:r>
            <a:r>
              <a:rPr lang="zh-CN" altLang="en-US" sz="2900" dirty="0">
                <a:solidFill>
                  <a:schemeClr val="accent1">
                    <a:lumMod val="75000"/>
                  </a:schemeClr>
                </a:solidFill>
                <a:ea typeface="宋体" panose="02010600030101010101" pitchFamily="2" charset="-122"/>
                <a:sym typeface="+mn-ea"/>
              </a:rPr>
              <a:t>oftware product lines</a:t>
            </a:r>
            <a:r>
              <a:rPr lang="en-US" altLang="zh-CN" sz="29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软件产品线的益处</a:t>
            </a:r>
            <a:endParaRPr lang="en-US" altLang="zh-CN"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
        <p:nvSpPr>
          <p:cNvPr id="104451" name="Rectangle 3"/>
          <p:cNvSpPr>
            <a:spLocks noGrp="1" noChangeArrowheads="1"/>
          </p:cNvSpPr>
          <p:nvPr/>
        </p:nvSpPr>
        <p:spPr>
          <a:xfrm>
            <a:off x="57150" y="1283970"/>
            <a:ext cx="9009380" cy="5231130"/>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200">
                <a:solidFill>
                  <a:schemeClr val="accent2">
                    <a:lumMod val="75000"/>
                  </a:schemeClr>
                </a:solidFill>
                <a:latin typeface="Calibri" panose="020F0502020204030204" charset="0"/>
                <a:cs typeface="Calibri" panose="020F0502020204030204" charset="0"/>
              </a:rPr>
              <a:t> Developing applications by adapting a generic version of the application means that a high proportion of the application code is reused in each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应用代码的很大部分被复用</a:t>
            </a:r>
            <a:endParaRPr lang="en-US" altLang="en-GB" sz="320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3200">
                <a:solidFill>
                  <a:schemeClr val="accent2">
                    <a:lumMod val="75000"/>
                  </a:schemeClr>
                </a:solidFill>
                <a:latin typeface="Calibri" panose="020F0502020204030204" charset="0"/>
                <a:cs typeface="Calibri" panose="020F0502020204030204" charset="0"/>
              </a:rPr>
              <a:t> Testing is simplified because tests for large parts of the application may also be reused, thus reducing the overall application development time.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测试得以简化,因应用中很大一部分的测试也可复用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altLang="en-GB" sz="3200">
                <a:solidFill>
                  <a:schemeClr val="accent2">
                    <a:lumMod val="75000"/>
                  </a:schemeClr>
                </a:solidFill>
                <a:latin typeface="Calibri" panose="020F0502020204030204" charset="0"/>
                <a:cs typeface="Calibri" panose="020F0502020204030204" charset="0"/>
              </a:rPr>
              <a:t> Engineers learn about the application domain through the software product line and so become specialists who can work quickly to develop new applications.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工程师得以成为专家,能迅速开发新应用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9780"/>
            <a:ext cx="8977630" cy="5765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15.4 Application system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留做自学</a:t>
            </a:r>
            <a:r>
              <a:rPr lang="en-US" altLang="zh-CN" sz="3200" dirty="0">
                <a:solidFill>
                  <a:schemeClr val="accent1">
                    <a:lumMod val="75000"/>
                  </a:schemeClr>
                </a:solidFill>
                <a:ea typeface="宋体" panose="02010600030101010101" pitchFamily="2" charset="-122"/>
                <a:sym typeface="+mn-ea"/>
              </a:rPr>
              <a:t>)</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472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15  Software Reuse</a:t>
            </a:r>
            <a:endParaRPr lang="en-US" altLang="zh-CN" sz="2800" dirty="0">
              <a:solidFill>
                <a:srgbClr val="660066"/>
              </a:solidFill>
              <a:ea typeface="黑体" panose="02010609060101010101" pitchFamily="49" charset="-122"/>
              <a:cs typeface="+mj-lt"/>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TABLE_ENDDRAG_ORIGIN_RECT" val="705*418"/>
  <p:tag name="TABLE_ENDDRAG_RECT" val="7*105*705*418"/>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TABLE_ENDDRAG_ORIGIN_RECT" val="706*380"/>
  <p:tag name="TABLE_ENDDRAG_RECT" val="7*129*706*380"/>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TABLE_ENDDRAG_ORIGIN_RECT" val="706*371"/>
  <p:tag name="TABLE_ENDDRAG_RECT" val="7*109*706*371"/>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TABLE_ENDDRAG_ORIGIN_RECT" val="699*336"/>
  <p:tag name="TABLE_ENDDRAG_RECT" val="11*110*699*336"/>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TABLE_ENDDRAG_ORIGIN_RECT" val="706*389"/>
  <p:tag name="TABLE_ENDDRAG_RECT" val="7*144*706*389"/>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TABLE_ENDDRAG_ORIGIN_RECT" val="707*430"/>
  <p:tag name="TABLE_ENDDRAG_RECT" val="7*100*707*430"/>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TABLE_ENDDRAG_ORIGIN_RECT" val="674*318"/>
  <p:tag name="TABLE_ENDDRAG_RECT" val="9*146*674*318"/>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12812</Words>
  <Application>WPS 演示</Application>
  <PresentationFormat>信纸(8.5x11 英寸)</PresentationFormat>
  <Paragraphs>267</Paragraphs>
  <Slides>21</Slides>
  <Notes>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Arial</vt:lpstr>
      <vt:lpstr>宋体</vt:lpstr>
      <vt:lpstr>Wingdings</vt:lpstr>
      <vt:lpstr>Times New Roman</vt:lpstr>
      <vt:lpstr>黑体</vt:lpstr>
      <vt:lpstr>仿宋</vt:lpstr>
      <vt:lpstr>Arial</vt:lpstr>
      <vt:lpstr>MS PGothic</vt:lpstr>
      <vt:lpstr>Calibri</vt:lpstr>
      <vt:lpstr>Times New Roman</vt:lpstr>
      <vt:lpstr>微软雅黑</vt:lpstr>
      <vt:lpstr>Arial Unicode MS</vt:lpstr>
      <vt:lpstr>CS152-SP98</vt:lpstr>
      <vt:lpstr> Software Engineering</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lpstr>Chap. 15  Software Reuse</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2173</cp:revision>
  <cp:lastPrinted>1999-08-22T22:40:00Z</cp:lastPrinted>
  <dcterms:created xsi:type="dcterms:W3CDTF">1997-08-19T16:58:00Z</dcterms:created>
  <dcterms:modified xsi:type="dcterms:W3CDTF">2025-11-15T10:34:01Z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3E2B1C6E25C54BFF8474069605F54195_13</vt:lpwstr>
  </property>
</Properties>
</file>