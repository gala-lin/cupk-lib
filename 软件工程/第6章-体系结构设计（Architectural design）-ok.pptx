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9"/>
  </p:handoutMasterIdLst>
  <p:sldIdLst>
    <p:sldId id="256" r:id="rId3"/>
    <p:sldId id="1597" r:id="rId5"/>
    <p:sldId id="1810" r:id="rId6"/>
    <p:sldId id="1811" r:id="rId7"/>
    <p:sldId id="1812" r:id="rId8"/>
    <p:sldId id="1813" r:id="rId9"/>
    <p:sldId id="1814" r:id="rId10"/>
    <p:sldId id="1815" r:id="rId11"/>
    <p:sldId id="1817" r:id="rId12"/>
    <p:sldId id="1818" r:id="rId13"/>
    <p:sldId id="1819" r:id="rId14"/>
    <p:sldId id="1820" r:id="rId15"/>
    <p:sldId id="1821" r:id="rId16"/>
    <p:sldId id="1822" r:id="rId17"/>
    <p:sldId id="1823" r:id="rId18"/>
    <p:sldId id="1824" r:id="rId19"/>
    <p:sldId id="1825" r:id="rId20"/>
    <p:sldId id="1826" r:id="rId21"/>
    <p:sldId id="1827" r:id="rId22"/>
    <p:sldId id="1828" r:id="rId23"/>
    <p:sldId id="1829" r:id="rId24"/>
    <p:sldId id="1830" r:id="rId25"/>
    <p:sldId id="1831" r:id="rId26"/>
    <p:sldId id="1832" r:id="rId27"/>
    <p:sldId id="1833" r:id="rId28"/>
    <p:sldId id="1834" r:id="rId29"/>
    <p:sldId id="1835" r:id="rId30"/>
    <p:sldId id="1836" r:id="rId31"/>
    <p:sldId id="1837" r:id="rId32"/>
    <p:sldId id="1838" r:id="rId33"/>
    <p:sldId id="1839" r:id="rId34"/>
    <p:sldId id="1841" r:id="rId35"/>
    <p:sldId id="1842" r:id="rId36"/>
    <p:sldId id="1843" r:id="rId37"/>
    <p:sldId id="1844" r:id="rId38"/>
  </p:sldIdLst>
  <p:sldSz cx="9144000" cy="6858000" type="letter"/>
  <p:notesSz cx="9163050" cy="6877050"/>
  <p:custDataLst>
    <p:tags r:id="rId43"/>
  </p:custDataLst>
  <p:kinsoku lang="zh-CN" invalStChars="、。，．・：；？！゛゜ヽヾゝゞ々ー’”）〕］｝〉》」』】°‰′″℃￠％ぁぃぅぇぉっゃゅょゎァィゥェォッャュョヮヵヶ!%),.:;?]}｡｣､･ｧｨｩｪｫｬｭｮｯｰﾞﾟ" invalEndChars="‘“（〔［｛〈《「『【￥＄$([\{｢￡"/>
  <p:defaultTextStyle>
    <a:defPPr>
      <a:defRPr lang="en-US"/>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12" userDrawn="1">
          <p15:clr>
            <a:srgbClr val="A4A3A4"/>
          </p15:clr>
        </p15:guide>
        <p15:guide id="2" pos="288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2FDB2607-1784-4EEB-B798-7EB5836EED8A}">
        <p14:showMediaCtrls xmlns:p14="http://schemas.microsoft.com/office/powerpoint/2010/main" val="1"/>
      </p:ext>
    </p:extLst>
  </p:showPr>
  <p:clrMru>
    <a:srgbClr val="CC0000"/>
    <a:srgbClr val="134AD5"/>
    <a:srgbClr val="B3380D"/>
    <a:srgbClr val="E6E6E6"/>
    <a:srgbClr val="660066"/>
    <a:srgbClr val="FF0000"/>
    <a:srgbClr val="800000"/>
    <a:srgbClr val="000066"/>
    <a:srgbClr val="003300"/>
    <a:srgbClr val="0054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3646"/>
    <p:restoredTop sz="73912"/>
  </p:normalViewPr>
  <p:slideViewPr>
    <p:cSldViewPr showGuides="1">
      <p:cViewPr varScale="1">
        <p:scale>
          <a:sx n="75" d="100"/>
          <a:sy n="75" d="100"/>
        </p:scale>
        <p:origin x="-1092" y="-102"/>
      </p:cViewPr>
      <p:guideLst>
        <p:guide orient="horz" pos="2112"/>
        <p:guide pos="2883"/>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1812"/>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3" Type="http://schemas.openxmlformats.org/officeDocument/2006/relationships/tags" Target="tags/tag73.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notesMaster" Target="notesMasters/notesMaster1.xml"/><Relationship Id="rId39" Type="http://schemas.openxmlformats.org/officeDocument/2006/relationships/handoutMaster" Target="handoutMasters/handoutMaster1.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194" name="Rectangle 2"/>
          <p:cNvSpPr>
            <a:spLocks noTextEdit="1"/>
          </p:cNvSpPr>
          <p:nvPr>
            <p:ph type="sldImg"/>
          </p:nvPr>
        </p:nvSpPr>
        <p:spPr>
          <a:xfrm>
            <a:off x="2878138" y="441325"/>
            <a:ext cx="3424237" cy="2568575"/>
          </a:xfrm>
          <a:prstGeom prst="rect">
            <a:avLst/>
          </a:prstGeom>
          <a:noFill/>
          <a:ln w="12700">
            <a:noFill/>
          </a:ln>
        </p:spPr>
      </p:sp>
      <p:sp>
        <p:nvSpPr>
          <p:cNvPr id="2051" name="Rectangle 3"/>
          <p:cNvSpPr>
            <a:spLocks noGrp="1" noChangeArrowheads="1"/>
          </p:cNvSpPr>
          <p:nvPr>
            <p:ph type="body" sz="quarter" idx="3"/>
          </p:nvPr>
        </p:nvSpPr>
        <p:spPr bwMode="auto">
          <a:xfrm>
            <a:off x="687388" y="3267075"/>
            <a:ext cx="7899400" cy="309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692" tIns="44550" rIns="90692" bIns="44550" numCol="1" anchor="t" anchorCtr="0" compatLnSpc="1"/>
          <a:lstStyle/>
          <a:p>
            <a:pPr marL="0" marR="0" lvl="0" indent="0" algn="just" defTabSz="914400" rtl="0" eaLnBrk="0" fontAlgn="base" latinLnBrk="0" hangingPunct="0">
              <a:lnSpc>
                <a:spcPct val="90000"/>
              </a:lnSpc>
              <a:spcBef>
                <a:spcPct val="40000"/>
              </a:spcBef>
              <a:spcAft>
                <a:spcPct val="0"/>
              </a:spcAft>
              <a:buClrTx/>
              <a:buSzTx/>
              <a:buFontTx/>
              <a:buNone/>
              <a:defRPr/>
            </a:pPr>
            <a:r>
              <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We want this to be in font 11 and justify.</a:t>
            </a:r>
            <a:endPar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just" rtl="0" eaLnBrk="0" fontAlgn="base" hangingPunct="0">
      <a:lnSpc>
        <a:spcPct val="90000"/>
      </a:lnSpc>
      <a:spcBef>
        <a:spcPct val="40000"/>
      </a:spcBef>
      <a:spcAft>
        <a:spcPct val="0"/>
      </a:spcAft>
      <a:defRPr sz="1100" kern="1200">
        <a:solidFill>
          <a:schemeClr val="tx1"/>
        </a:solidFill>
        <a:latin typeface="Arial" panose="020B0604020202020204" pitchFamily="34" charset="0"/>
        <a:ea typeface="+mn-ea"/>
        <a:cs typeface="+mn-cs"/>
      </a:defRPr>
    </a:lvl1pPr>
    <a:lvl2pPr marL="742950" indent="-28575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2pPr>
    <a:lvl3pPr marL="11430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3pPr>
    <a:lvl4pPr marL="16002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4pPr>
    <a:lvl5pPr marL="20574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a:spLocks noGrp="1"/>
          </p:cNvSpPr>
          <p:nvPr>
            <p:ph type="body"/>
          </p:nvPr>
        </p:nvSpPr>
        <p:spPr>
          <a:ln w="12700"/>
        </p:spPr>
        <p:txBody>
          <a:bodyPr wrap="square" lIns="90692" tIns="44550" rIns="90692" bIns="44550" anchor="t" anchorCtr="0"/>
          <a:p>
            <a:pPr lvl="0"/>
            <a:endParaRPr lang="en-US" altLang="zh-CN" dirty="0">
              <a:ea typeface="宋体" panose="02010600030101010101" pitchFamily="2" charset="-122"/>
            </a:endParaRPr>
          </a:p>
        </p:txBody>
      </p:sp>
      <p:sp>
        <p:nvSpPr>
          <p:cNvPr id="10242" name="Rectangle 3"/>
          <p:cNvSpPr>
            <a:spLocks noTextEdit="1"/>
          </p:cNvSpPr>
          <p:nvPr>
            <p:ph type="sldImg"/>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87042" name="Rectangle 1026"/>
          <p:cNvSpPr>
            <a:spLocks noGrp="1" noChangeArrowheads="1"/>
          </p:cNvSpPr>
          <p:nvPr>
            <p:ph type="ctrTitle"/>
          </p:nvPr>
        </p:nvSpPr>
        <p:spPr>
          <a:xfrm>
            <a:off x="2378075" y="2020888"/>
            <a:ext cx="4325938" cy="368300"/>
          </a:xfrm>
        </p:spPr>
        <p:txBody>
          <a:bodyPr/>
          <a:lstStyle>
            <a:lvl1pPr>
              <a:defRPr>
                <a:solidFill>
                  <a:schemeClr val="accent2"/>
                </a:solidFill>
              </a:defRPr>
            </a:lvl1pPr>
          </a:lstStyle>
          <a:p>
            <a:pPr lvl="0" fontAlgn="base"/>
            <a:r>
              <a:rPr lang="en-US" altLang="zh-CN" strike="noStrike" noProof="0" smtClean="0"/>
              <a:t>Click to edit Master title style</a:t>
            </a:r>
            <a:endParaRPr lang="en-US" altLang="zh-CN" strike="noStrike" noProof="0" smtClean="0"/>
          </a:p>
        </p:txBody>
      </p:sp>
      <p:sp>
        <p:nvSpPr>
          <p:cNvPr id="87043" name="Rectangle 1027"/>
          <p:cNvSpPr>
            <a:spLocks noGrp="1" noChangeArrowheads="1"/>
          </p:cNvSpPr>
          <p:nvPr>
            <p:ph type="subTitle" idx="1"/>
          </p:nvPr>
        </p:nvSpPr>
        <p:spPr>
          <a:xfrm>
            <a:off x="1371600" y="3886200"/>
            <a:ext cx="6400800" cy="325438"/>
          </a:xfrm>
        </p:spPr>
        <p:txBody>
          <a:bodyPr/>
          <a:lstStyle>
            <a:lvl1pPr marL="0" indent="0" algn="ctr">
              <a:buFontTx/>
              <a:buNone/>
              <a:defRPr/>
            </a:lvl1pPr>
          </a:lstStyle>
          <a:p>
            <a:pPr lvl="0" fontAlgn="base"/>
            <a:r>
              <a:rPr lang="en-US" altLang="zh-CN" strike="noStrike" noProof="0" smtClean="0"/>
              <a:t>Click to edit Master subtitle style</a:t>
            </a:r>
            <a:endParaRPr lang="en-US" altLang="zh-CN" strike="noStrike" noProof="0" smtClean="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63500" tIns="25400" rIns="63500" bIns="2540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75000"/>
              </a:lnSpc>
              <a:spcBef>
                <a:spcPct val="65000"/>
              </a:spcBef>
              <a:spcAft>
                <a:spcPct val="0"/>
              </a:spcAft>
              <a:buClrTx/>
              <a:buSzPct val="100000"/>
              <a:buFontTx/>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2250" y="304800"/>
            <a:ext cx="1962150" cy="30480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304800"/>
            <a:ext cx="5734050" cy="30480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762000" y="304800"/>
            <a:ext cx="752475" cy="368300"/>
          </a:xfrm>
          <a:prstGeom prst="rect">
            <a:avLst/>
          </a:prstGeom>
          <a:noFill/>
          <a:ln w="12700">
            <a:noFill/>
          </a:ln>
        </p:spPr>
        <p:txBody>
          <a:bodyPr wrap="none" lIns="63500" tIns="25400" rIns="63500" bIns="25400" anchor="t" anchorCtr="0">
            <a:spAutoFit/>
          </a:bodyPr>
          <a:p>
            <a:pPr lvl="0"/>
            <a:r>
              <a:rPr lang="en-US" altLang="zh-CN" dirty="0"/>
              <a:t>Title</a:t>
            </a:r>
            <a:endParaRPr lang="en-US" altLang="zh-CN" dirty="0"/>
          </a:p>
        </p:txBody>
      </p:sp>
      <p:sp>
        <p:nvSpPr>
          <p:cNvPr id="1027" name="Rectangle 5"/>
          <p:cNvSpPr>
            <a:spLocks noGrp="1"/>
          </p:cNvSpPr>
          <p:nvPr>
            <p:ph type="body"/>
          </p:nvPr>
        </p:nvSpPr>
        <p:spPr>
          <a:xfrm>
            <a:off x="685800" y="1143000"/>
            <a:ext cx="7848600" cy="2209800"/>
          </a:xfrm>
          <a:prstGeom prst="rect">
            <a:avLst/>
          </a:prstGeom>
          <a:noFill/>
          <a:ln w="12700">
            <a:noFill/>
          </a:ln>
        </p:spPr>
        <p:txBody>
          <a:bodyPr lIns="63500" tIns="25400" rIns="63500" bIns="25400" anchor="t" anchorCtr="0">
            <a:spAutoFit/>
          </a:bodyPr>
          <a:p>
            <a:pPr lvl="0"/>
            <a:r>
              <a:rPr lang="en-US" altLang="zh-CN" dirty="0"/>
              <a:t>This is our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a:p>
            <a:pPr lvl="0"/>
            <a:r>
              <a:rPr lang="en-US" altLang="zh-CN" dirty="0"/>
              <a:t>This is our next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p:txBody>
      </p:sp>
      <p:sp>
        <p:nvSpPr>
          <p:cNvPr id="1028" name="Line 7"/>
          <p:cNvSpPr/>
          <p:nvPr/>
        </p:nvSpPr>
        <p:spPr>
          <a:xfrm>
            <a:off x="609600" y="635000"/>
            <a:ext cx="8059738" cy="0"/>
          </a:xfrm>
          <a:prstGeom prst="line">
            <a:avLst/>
          </a:prstGeom>
          <a:ln w="47625" cap="flat" cmpd="thickThin">
            <a:solidFill>
              <a:schemeClr val="accent2"/>
            </a:solidFill>
            <a:prstDash val="solid"/>
            <a:round/>
            <a:headEnd type="none" w="sm" len="sm"/>
            <a:tailEnd type="none" w="sm" len="sm"/>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87000"/>
        </a:lnSpc>
        <a:spcBef>
          <a:spcPct val="0"/>
        </a:spcBef>
        <a:spcAft>
          <a:spcPct val="0"/>
        </a:spcAft>
        <a:defRPr sz="2400" b="1">
          <a:solidFill>
            <a:schemeClr val="tx2"/>
          </a:solidFill>
          <a:latin typeface="+mj-lt"/>
          <a:ea typeface="+mj-ea"/>
          <a:cs typeface="+mj-cs"/>
        </a:defRPr>
      </a:lvl1pPr>
      <a:lvl2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2pPr>
      <a:lvl3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3pPr>
      <a:lvl4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4pPr>
      <a:lvl5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5pPr>
      <a:lvl6pPr marL="4572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6pPr>
      <a:lvl7pPr marL="9144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7pPr>
      <a:lvl8pPr marL="13716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8pPr>
      <a:lvl9pPr marL="18288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9pPr>
    </p:titleStyle>
    <p:body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tags" Target="../tags/tag8.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tags" Target="../tags/tag9.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tags" Target="../tags/tag13.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xml"/><Relationship Id="rId1" Type="http://schemas.openxmlformats.org/officeDocument/2006/relationships/tags" Target="../tags/tag15.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xml"/><Relationship Id="rId1" Type="http://schemas.openxmlformats.org/officeDocument/2006/relationships/tags" Target="../tags/tag17.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tags" Target="../tags/tag19.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1.xml"/><Relationship Id="rId1" Type="http://schemas.openxmlformats.org/officeDocument/2006/relationships/tags" Target="../tags/tag20.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xml"/><Relationship Id="rId1" Type="http://schemas.openxmlformats.org/officeDocument/2006/relationships/tags" Target="../tags/tag2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5.xml"/><Relationship Id="rId1" Type="http://schemas.openxmlformats.org/officeDocument/2006/relationships/tags" Target="../tags/tag24.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tags" Target="../tags/tag27.xml"/><Relationship Id="rId1" Type="http://schemas.openxmlformats.org/officeDocument/2006/relationships/tags" Target="../tags/tag26.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tags" Target="../tags/tag28.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1.xml"/><Relationship Id="rId1" Type="http://schemas.openxmlformats.org/officeDocument/2006/relationships/tags" Target="../tags/tag30.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3.xml"/><Relationship Id="rId1" Type="http://schemas.openxmlformats.org/officeDocument/2006/relationships/tags" Target="../tags/tag32.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tags" Target="../tags/tag38.xml"/><Relationship Id="rId1" Type="http://schemas.openxmlformats.org/officeDocument/2006/relationships/tags" Target="../tags/tag37.xml"/></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png"/><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2.xml"/><Relationship Id="rId1" Type="http://schemas.openxmlformats.org/officeDocument/2006/relationships/tags" Target="../tags/tag41.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tags" Target="../tags/tag47.xml"/><Relationship Id="rId1" Type="http://schemas.openxmlformats.org/officeDocument/2006/relationships/tags" Target="../tags/tag46.xml"/></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tags" Target="../tags/tag49.xml"/><Relationship Id="rId1" Type="http://schemas.openxmlformats.org/officeDocument/2006/relationships/tags" Target="../tags/tag48.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1.xml"/><Relationship Id="rId1" Type="http://schemas.openxmlformats.org/officeDocument/2006/relationships/tags" Target="../tags/tag50.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5.png"/><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s>
</file>

<file path=ppt/slides/_rels/slide2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tags" Target="../tags/tag56.xml"/><Relationship Id="rId1" Type="http://schemas.openxmlformats.org/officeDocument/2006/relationships/tags" Target="../tags/tag55.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8.xml"/><Relationship Id="rId1" Type="http://schemas.openxmlformats.org/officeDocument/2006/relationships/tags" Target="../tags/tag57.xml"/></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8.png"/><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9.png"/><Relationship Id="rId2" Type="http://schemas.openxmlformats.org/officeDocument/2006/relationships/tags" Target="../tags/tag63.xml"/><Relationship Id="rId1" Type="http://schemas.openxmlformats.org/officeDocument/2006/relationships/tags" Target="../tags/tag62.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5.xml"/><Relationship Id="rId1" Type="http://schemas.openxmlformats.org/officeDocument/2006/relationships/tags" Target="../tags/tag64.xml"/></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0.png"/><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s>
</file>

<file path=ppt/slides/_rels/slide3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tags" Target="../tags/tag70.xml"/><Relationship Id="rId1" Type="http://schemas.openxmlformats.org/officeDocument/2006/relationships/tags" Target="../tags/tag69.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2.xml"/><Relationship Id="rId1" Type="http://schemas.openxmlformats.org/officeDocument/2006/relationships/tags" Target="../tags/tag7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a:spLocks noGrp="1"/>
          </p:cNvSpPr>
          <p:nvPr>
            <p:ph type="ctrTitle"/>
          </p:nvPr>
        </p:nvSpPr>
        <p:spPr>
          <a:xfrm>
            <a:off x="1673543" y="1693228"/>
            <a:ext cx="5869940" cy="1096645"/>
          </a:xfrm>
        </p:spPr>
        <p:txBody>
          <a:bodyPr vert="horz" wrap="none" lIns="63500" tIns="25400" rIns="63500" bIns="25400" anchor="ctr" anchorCtr="0">
            <a:spAutoFit/>
          </a:bodyPr>
          <a:p>
            <a:pPr algn="ctr">
              <a:lnSpc>
                <a:spcPct val="100000"/>
              </a:lnSpc>
              <a:buClrTx/>
              <a:buSzTx/>
              <a:buFontTx/>
            </a:pPr>
            <a:br>
              <a:rPr lang="en-US" altLang="zh-CN" dirty="0">
                <a:latin typeface="+mj-lt"/>
                <a:ea typeface="宋体" panose="02010600030101010101" pitchFamily="2" charset="-122"/>
                <a:cs typeface="+mj-cs"/>
              </a:rPr>
            </a:br>
            <a:r>
              <a:rPr lang="en-US" altLang="zh-CN" sz="4400" dirty="0">
                <a:solidFill>
                  <a:srgbClr val="000066"/>
                </a:solidFill>
                <a:ea typeface="黑体" panose="02010609060101010101" pitchFamily="49" charset="-122"/>
                <a:cs typeface="+mj-lt"/>
              </a:rPr>
              <a:t>Software Engineering</a:t>
            </a:r>
            <a:endParaRPr lang="en-US" altLang="zh-CN" sz="4400" dirty="0">
              <a:solidFill>
                <a:srgbClr val="000066"/>
              </a:solidFill>
              <a:ea typeface="黑体" panose="02010609060101010101" pitchFamily="49" charset="-122"/>
              <a:cs typeface="+mj-lt"/>
            </a:endParaRPr>
          </a:p>
        </p:txBody>
      </p:sp>
      <p:sp>
        <p:nvSpPr>
          <p:cNvPr id="9219" name="Text Box 8"/>
          <p:cNvSpPr txBox="1"/>
          <p:nvPr/>
        </p:nvSpPr>
        <p:spPr>
          <a:xfrm>
            <a:off x="252095" y="3197860"/>
            <a:ext cx="8641080" cy="1579880"/>
          </a:xfrm>
          <a:prstGeom prst="rect">
            <a:avLst/>
          </a:prstGeom>
          <a:noFill/>
          <a:ln w="12700">
            <a:noFill/>
          </a:ln>
        </p:spPr>
        <p:txBody>
          <a:bodyPr anchor="t" anchorCtr="0">
            <a:noAutofit/>
          </a:bodyPr>
          <a:p>
            <a:pPr eaLnBrk="0" hangingPunct="0">
              <a:spcBef>
                <a:spcPct val="50000"/>
              </a:spcBef>
            </a:pPr>
            <a:r>
              <a:rPr lang="en-US" altLang="zh-CN" b="0" dirty="0">
                <a:solidFill>
                  <a:srgbClr val="005400"/>
                </a:solidFill>
                <a:latin typeface="Arial" panose="020B0604020202020204" pitchFamily="34" charset="0"/>
                <a:ea typeface="宋体" panose="02010600030101010101" pitchFamily="2" charset="-122"/>
              </a:rPr>
              <a:t>                                 Wei-Min Wu</a:t>
            </a:r>
            <a:r>
              <a:rPr lang="zh-CN" altLang="en-US" b="0" dirty="0">
                <a:solidFill>
                  <a:srgbClr val="005400"/>
                </a:solidFill>
                <a:latin typeface="Arial" panose="020B0604020202020204" pitchFamily="34" charset="0"/>
                <a:ea typeface="宋体" panose="02010600030101010101" pitchFamily="2" charset="-122"/>
              </a:rPr>
              <a:t>（</a:t>
            </a:r>
            <a:r>
              <a:rPr lang="zh-CN" altLang="en-US" sz="2800" b="0" dirty="0">
                <a:solidFill>
                  <a:srgbClr val="003300"/>
                </a:solidFill>
                <a:latin typeface="仿宋" panose="02010609060101010101" pitchFamily="49" charset="-122"/>
                <a:ea typeface="仿宋" panose="02010609060101010101" pitchFamily="49" charset="-122"/>
              </a:rPr>
              <a:t>吴为民）</a:t>
            </a:r>
            <a:endParaRPr lang="zh-CN" altLang="en-US" sz="2800" b="0" dirty="0">
              <a:solidFill>
                <a:srgbClr val="003300"/>
              </a:solidFill>
              <a:latin typeface="Arial" panose="020B0604020202020204" pitchFamily="34" charset="0"/>
              <a:ea typeface="宋体" panose="02010600030101010101" pitchFamily="2" charset="-122"/>
            </a:endParaRPr>
          </a:p>
          <a:p>
            <a:pPr eaLnBrk="0" hangingPunct="0">
              <a:spcBef>
                <a:spcPct val="50000"/>
              </a:spcBef>
            </a:pPr>
            <a:r>
              <a:rPr lang="en-US" altLang="zh-CN" sz="2800" b="0" dirty="0">
                <a:solidFill>
                  <a:srgbClr val="003300"/>
                </a:solidFill>
                <a:latin typeface="Arial" panose="020B0604020202020204" pitchFamily="34" charset="0"/>
                <a:ea typeface="宋体" panose="02010600030101010101" pitchFamily="2" charset="-122"/>
              </a:rPr>
              <a:t>                            </a:t>
            </a:r>
            <a:r>
              <a:rPr lang="zh-CN" altLang="en-US" sz="2800" b="0" dirty="0">
                <a:solidFill>
                  <a:srgbClr val="003300"/>
                </a:solidFill>
                <a:latin typeface="Arial" panose="020B0604020202020204" pitchFamily="34" charset="0"/>
                <a:ea typeface="宋体" panose="02010600030101010101" pitchFamily="2" charset="-122"/>
              </a:rPr>
              <a:t>School of Petroleum</a:t>
            </a:r>
            <a:endParaRPr lang="en-US" altLang="zh-CN" sz="2800" b="0" dirty="0">
              <a:solidFill>
                <a:srgbClr val="003300"/>
              </a:solidFill>
              <a:latin typeface="Arial" panose="020B0604020202020204" pitchFamily="34" charset="0"/>
              <a:ea typeface="宋体" panose="02010600030101010101" pitchFamily="2" charset="-122"/>
            </a:endParaRPr>
          </a:p>
          <a:p>
            <a:pPr eaLnBrk="0" hangingPunct="0">
              <a:spcBef>
                <a:spcPts val="0"/>
              </a:spcBef>
            </a:pPr>
            <a:r>
              <a:rPr lang="en-US" altLang="zh-CN" sz="2800" b="0" dirty="0">
                <a:solidFill>
                  <a:srgbClr val="003300"/>
                </a:solidFill>
                <a:latin typeface="Arial" panose="020B0604020202020204" pitchFamily="34" charset="0"/>
                <a:ea typeface="宋体" panose="02010600030101010101" pitchFamily="2" charset="-122"/>
              </a:rPr>
              <a:t>    China University of Petroleum - Beijing at Karamay</a:t>
            </a:r>
            <a:endParaRPr lang="zh-CN" altLang="en-US" sz="2800" b="0" dirty="0">
              <a:solidFill>
                <a:srgbClr val="003300"/>
              </a:solidFill>
              <a:latin typeface="Arial" panose="020B0604020202020204" pitchFamily="34" charset="0"/>
              <a:ea typeface="宋体" panose="02010600030101010101" pitchFamily="2" charset="-122"/>
            </a:endParaRPr>
          </a:p>
        </p:txBody>
      </p:sp>
      <p:sp>
        <p:nvSpPr>
          <p:cNvPr id="9220" name="Text Box 10"/>
          <p:cNvSpPr txBox="1"/>
          <p:nvPr/>
        </p:nvSpPr>
        <p:spPr>
          <a:xfrm>
            <a:off x="6589395" y="6022340"/>
            <a:ext cx="2022475" cy="398780"/>
          </a:xfrm>
          <a:prstGeom prst="rect">
            <a:avLst/>
          </a:prstGeom>
          <a:noFill/>
          <a:ln w="12700">
            <a:noFill/>
          </a:ln>
        </p:spPr>
        <p:txBody>
          <a:bodyPr wrap="square" anchor="t" anchorCtr="0">
            <a:spAutoFit/>
          </a:bodyPr>
          <a:p>
            <a:pPr eaLnBrk="0" hangingPunct="0">
              <a:spcBef>
                <a:spcPct val="50000"/>
              </a:spcBef>
            </a:pPr>
            <a:r>
              <a:rPr lang="en-US" altLang="zh-CN" sz="2000" b="0" i="1" dirty="0">
                <a:solidFill>
                  <a:schemeClr val="tx1"/>
                </a:solidFill>
                <a:latin typeface="Arial" panose="020B0604020202020204" pitchFamily="34" charset="0"/>
                <a:ea typeface="宋体" panose="02010600030101010101" pitchFamily="2" charset="-122"/>
              </a:rPr>
              <a:t>Fall, 2025</a:t>
            </a:r>
            <a:endParaRPr lang="zh-CN" altLang="en-US" sz="2000" b="0" i="1" dirty="0">
              <a:solidFill>
                <a:schemeClr val="tx1"/>
              </a:solidFill>
              <a:latin typeface="Arial" panose="020B0604020202020204" pitchFamily="34" charset="0"/>
              <a:ea typeface="宋体" panose="0201060003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67410"/>
            <a:ext cx="8977630" cy="6629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Topics covered</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覆盖主题</a:t>
            </a:r>
            <a:endParaRPr lang="zh-CN" altLang="en-US" b="1" dirty="0" smtClean="0">
              <a:solidFill>
                <a:schemeClr val="accent1">
                  <a:lumMod val="75000"/>
                </a:schemeClr>
              </a:solidFill>
              <a:latin typeface="黑体" panose="02010609060101010101" pitchFamily="49" charset="-122"/>
              <a:ea typeface="黑体" panose="02010609060101010101" pitchFamily="49" charset="-122"/>
              <a:cs typeface="+mn-cs"/>
              <a:sym typeface="+mn-ea"/>
            </a:endParaRPr>
          </a:p>
        </p:txBody>
      </p:sp>
      <p:sp>
        <p:nvSpPr>
          <p:cNvPr id="4" name="Rectangle 2"/>
          <p:cNvSpPr>
            <a:spLocks noGrp="1"/>
          </p:cNvSpPr>
          <p:nvPr>
            <p:ph type="title"/>
            <p:custDataLst>
              <p:tags r:id="rId2"/>
            </p:custDataLst>
          </p:nvPr>
        </p:nvSpPr>
        <p:spPr>
          <a:xfrm>
            <a:off x="617538" y="198755"/>
            <a:ext cx="50850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6  Architectural Design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349250" y="1528445"/>
            <a:ext cx="8478520" cy="274256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Architectural design decisions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体系结构设计决策</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Architectural views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sym typeface="+mn-ea"/>
              </a:rPr>
              <a:t>体系结构视图</a:t>
            </a:r>
            <a:endParaRPr lang="en-US" sz="3200" dirty="0" smtClean="0">
              <a:solidFill>
                <a:schemeClr val="tx2">
                  <a:lumMod val="75000"/>
                  <a:lumOff val="25000"/>
                </a:schemeClr>
              </a:solidFill>
              <a:latin typeface="Calibri" panose="020F0502020204030204" charset="0"/>
              <a:cs typeface="Calibri" panose="020F0502020204030204" charset="0"/>
            </a:endParaRPr>
          </a:p>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Architectural patterns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sym typeface="+mn-ea"/>
              </a:rPr>
              <a:t>体系结构模式</a:t>
            </a:r>
            <a:endParaRPr lang="en-US" sz="3200" dirty="0" smtClean="0">
              <a:solidFill>
                <a:schemeClr val="tx2">
                  <a:lumMod val="75000"/>
                  <a:lumOff val="25000"/>
                </a:schemeClr>
              </a:solidFill>
              <a:latin typeface="Calibri" panose="020F0502020204030204" charset="0"/>
              <a:cs typeface="Calibri" panose="020F0502020204030204" charset="0"/>
            </a:endParaRPr>
          </a:p>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Application architectures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应用体系结构（留作自学）</a:t>
            </a:r>
            <a:endParaRPr lang="zh-CN" altLang="en-US" sz="3200" dirty="0" smtClean="0">
              <a:solidFill>
                <a:schemeClr val="tx2">
                  <a:lumMod val="75000"/>
                  <a:lumOff val="25000"/>
                </a:schemeClr>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13435"/>
            <a:ext cx="8977630" cy="55435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Architectural design</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体系结构设计</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0850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6  Architectural Design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59690" y="1384935"/>
            <a:ext cx="9006205" cy="496379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Architectural design is concerned with understanding how a software system should be </a:t>
            </a:r>
            <a:r>
              <a:rPr lang="en-US" sz="3100" u="sng" dirty="0" smtClean="0">
                <a:solidFill>
                  <a:schemeClr val="tx2">
                    <a:lumMod val="75000"/>
                    <a:lumOff val="25000"/>
                  </a:schemeClr>
                </a:solidFill>
                <a:latin typeface="Calibri" panose="020F0502020204030204" charset="0"/>
                <a:cs typeface="Calibri" panose="020F0502020204030204" charset="0"/>
              </a:rPr>
              <a:t>organized</a:t>
            </a:r>
            <a:r>
              <a:rPr lang="en-US" sz="3100" dirty="0" smtClean="0">
                <a:solidFill>
                  <a:schemeClr val="tx2">
                    <a:lumMod val="75000"/>
                    <a:lumOff val="25000"/>
                  </a:schemeClr>
                </a:solidFill>
                <a:latin typeface="Calibri" panose="020F0502020204030204" charset="0"/>
                <a:cs typeface="Calibri" panose="020F0502020204030204" charset="0"/>
              </a:rPr>
              <a:t> and designing the </a:t>
            </a:r>
            <a:r>
              <a:rPr lang="en-US" sz="3100" u="sng" dirty="0" smtClean="0">
                <a:solidFill>
                  <a:schemeClr val="tx2">
                    <a:lumMod val="75000"/>
                    <a:lumOff val="25000"/>
                  </a:schemeClr>
                </a:solidFill>
                <a:latin typeface="Calibri" panose="020F0502020204030204" charset="0"/>
                <a:cs typeface="Calibri" panose="020F0502020204030204" charset="0"/>
              </a:rPr>
              <a:t>overall structure</a:t>
            </a:r>
            <a:r>
              <a:rPr lang="en-US" sz="3100" dirty="0" smtClean="0">
                <a:solidFill>
                  <a:schemeClr val="tx2">
                    <a:lumMod val="75000"/>
                    <a:lumOff val="25000"/>
                  </a:schemeClr>
                </a:solidFill>
                <a:latin typeface="Calibri" panose="020F0502020204030204" charset="0"/>
                <a:cs typeface="Calibri" panose="020F0502020204030204" charset="0"/>
              </a:rPr>
              <a:t> of that system.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关注</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理解应如何组织软件系统</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如何设计系统整体结构</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a:t>
            </a:r>
            <a:r>
              <a:rPr lang="en-US" sz="3100" dirty="0" smtClean="0">
                <a:solidFill>
                  <a:schemeClr val="tx2">
                    <a:lumMod val="75000"/>
                    <a:lumOff val="25000"/>
                  </a:schemeClr>
                </a:solidFill>
                <a:latin typeface="Calibri" panose="020F0502020204030204" charset="0"/>
                <a:cs typeface="Calibri" panose="020F0502020204030204" charset="0"/>
                <a:sym typeface="+mn-ea"/>
              </a:rPr>
              <a:t>It </a:t>
            </a:r>
            <a:r>
              <a:rPr lang="en-US" sz="3100" dirty="0" smtClean="0">
                <a:solidFill>
                  <a:schemeClr val="tx2">
                    <a:lumMod val="75000"/>
                    <a:lumOff val="25000"/>
                  </a:schemeClr>
                </a:solidFill>
                <a:latin typeface="Calibri" panose="020F0502020204030204" charset="0"/>
                <a:cs typeface="Calibri" panose="020F0502020204030204" charset="0"/>
              </a:rPr>
              <a:t>is critical link between design and requirements engineering, as it identifies the main structural </a:t>
            </a:r>
            <a:r>
              <a:rPr lang="en-US" sz="3100" u="sng" dirty="0" smtClean="0">
                <a:solidFill>
                  <a:schemeClr val="tx2">
                    <a:lumMod val="75000"/>
                    <a:lumOff val="25000"/>
                  </a:schemeClr>
                </a:solidFill>
                <a:latin typeface="Calibri" panose="020F0502020204030204" charset="0"/>
                <a:cs typeface="Calibri" panose="020F0502020204030204" charset="0"/>
              </a:rPr>
              <a:t>components</a:t>
            </a:r>
            <a:r>
              <a:rPr lang="en-US" sz="3100" dirty="0" smtClean="0">
                <a:solidFill>
                  <a:schemeClr val="tx2">
                    <a:lumMod val="75000"/>
                    <a:lumOff val="25000"/>
                  </a:schemeClr>
                </a:solidFill>
                <a:latin typeface="Calibri" panose="020F0502020204030204" charset="0"/>
                <a:cs typeface="Calibri" panose="020F0502020204030204" charset="0"/>
              </a:rPr>
              <a:t> in a system and the </a:t>
            </a:r>
            <a:r>
              <a:rPr lang="en-US" sz="3100" u="sng" dirty="0" smtClean="0">
                <a:solidFill>
                  <a:schemeClr val="tx2">
                    <a:lumMod val="75000"/>
                    <a:lumOff val="25000"/>
                  </a:schemeClr>
                </a:solidFill>
                <a:latin typeface="Calibri" panose="020F0502020204030204" charset="0"/>
                <a:cs typeface="Calibri" panose="020F0502020204030204" charset="0"/>
              </a:rPr>
              <a:t>relationships</a:t>
            </a:r>
            <a:r>
              <a:rPr lang="en-US" sz="3100" dirty="0" smtClean="0">
                <a:solidFill>
                  <a:schemeClr val="tx2">
                    <a:lumMod val="75000"/>
                    <a:lumOff val="25000"/>
                  </a:schemeClr>
                </a:solidFill>
                <a:latin typeface="Calibri" panose="020F0502020204030204" charset="0"/>
                <a:cs typeface="Calibri" panose="020F0502020204030204" charset="0"/>
              </a:rPr>
              <a:t> between them.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是设计与需求工程之间的关键环节</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The output of the architectural design process is an </a:t>
            </a:r>
            <a:r>
              <a:rPr lang="en-US" sz="3100" u="sng" dirty="0" smtClean="0">
                <a:solidFill>
                  <a:schemeClr val="tx2">
                    <a:lumMod val="75000"/>
                    <a:lumOff val="25000"/>
                  </a:schemeClr>
                </a:solidFill>
                <a:latin typeface="Calibri" panose="020F0502020204030204" charset="0"/>
                <a:cs typeface="Calibri" panose="020F0502020204030204" charset="0"/>
              </a:rPr>
              <a:t>architectural model</a:t>
            </a:r>
            <a:r>
              <a:rPr lang="en-US" sz="3100" dirty="0" smtClean="0">
                <a:solidFill>
                  <a:schemeClr val="tx2">
                    <a:lumMod val="75000"/>
                    <a:lumOff val="25000"/>
                  </a:schemeClr>
                </a:solidFill>
                <a:latin typeface="Calibri" panose="020F0502020204030204" charset="0"/>
                <a:cs typeface="Calibri" panose="020F0502020204030204" charset="0"/>
              </a:rPr>
              <a:t> that describes how the system is organized as a set of communicating components.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输出: 结构模型，描述了系统如何组织为一组相互通信的构件</a:t>
            </a:r>
            <a:endParaRPr lang="zh-CN" altLang="en-US" sz="2000" kern="0" dirty="0" smtClean="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08355"/>
            <a:ext cx="8977630" cy="6502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Agility and architecture</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敏捷与体系结构</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50850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6  Architectural Design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60325" y="1384935"/>
            <a:ext cx="9006205" cy="518858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It is generally accepted that an early stage of an agile development process should focus on designing an overall system architecture.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敏捷开发过程：开发过程早期</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应该关注设计一个整体的系统体系结构</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Incremental development of architectures is not usually successful.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体系结构的增量式开发通常不成功</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Refactoring components in response to changes is usually relatively easy. However, refactoring the system architecture is expensive because you may need to modify most system components to adapt them to the architectural changes.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重构组件相对容易，但重构系统体系结构是昂贵的</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因为需要修改大多数组件</a:t>
            </a:r>
            <a:endParaRPr lang="zh-CN" altLang="en-US" sz="3200" dirty="0" smtClean="0">
              <a:solidFill>
                <a:schemeClr val="tx2">
                  <a:lumMod val="75000"/>
                  <a:lumOff val="25000"/>
                </a:schemeClr>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40410"/>
            <a:ext cx="8977630" cy="54165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700" dirty="0">
                <a:solidFill>
                  <a:srgbClr val="0070C0"/>
                </a:solidFill>
                <a:ea typeface="宋体" panose="02010600030101010101" pitchFamily="2" charset="-122"/>
                <a:sym typeface="+mn-ea"/>
              </a:rPr>
              <a:t> </a:t>
            </a:r>
            <a:r>
              <a:rPr lang="zh-CN" altLang="en-US" sz="2700" dirty="0">
                <a:solidFill>
                  <a:schemeClr val="accent1">
                    <a:lumMod val="75000"/>
                  </a:schemeClr>
                </a:solidFill>
                <a:ea typeface="宋体" panose="02010600030101010101" pitchFamily="2" charset="-122"/>
                <a:sym typeface="+mn-ea"/>
              </a:rPr>
              <a:t>The architecture of a packing robot control system</a:t>
            </a:r>
            <a:endParaRPr lang="zh-CN" altLang="en-US" sz="27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50850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6  Architectural Design</a:t>
            </a:r>
            <a:endParaRPr lang="en-US" altLang="zh-CN" sz="2800" dirty="0">
              <a:solidFill>
                <a:srgbClr val="660066"/>
              </a:solidFill>
              <a:ea typeface="黑体" panose="02010609060101010101" pitchFamily="49" charset="-122"/>
              <a:cs typeface="+mj-lt"/>
            </a:endParaRPr>
          </a:p>
        </p:txBody>
      </p:sp>
      <p:pic>
        <p:nvPicPr>
          <p:cNvPr id="2" name="图片 1"/>
          <p:cNvPicPr>
            <a:picLocks noChangeAspect="1"/>
          </p:cNvPicPr>
          <p:nvPr/>
        </p:nvPicPr>
        <p:blipFill>
          <a:blip r:embed="rId3"/>
          <a:stretch>
            <a:fillRect/>
          </a:stretch>
        </p:blipFill>
        <p:spPr>
          <a:xfrm>
            <a:off x="3088640" y="1292860"/>
            <a:ext cx="5972175" cy="5314950"/>
          </a:xfrm>
          <a:prstGeom prst="rect">
            <a:avLst/>
          </a:prstGeom>
        </p:spPr>
      </p:pic>
      <p:sp>
        <p:nvSpPr>
          <p:cNvPr id="10" name="Content Placeholder 2"/>
          <p:cNvSpPr>
            <a:spLocks noGrp="1"/>
          </p:cNvSpPr>
          <p:nvPr/>
        </p:nvSpPr>
        <p:spPr>
          <a:xfrm>
            <a:off x="120650" y="1318895"/>
            <a:ext cx="3077210" cy="224218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To understand system architecture, look at Fig. 6.1.</a:t>
            </a:r>
            <a:endParaRPr lang="en-US" sz="20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This diagram shows an abstract model of the architecture for a packing robot system.</a:t>
            </a:r>
            <a:endParaRPr lang="en-US" sz="20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a:t>
            </a:r>
            <a:r>
              <a:rPr lang="en-US" sz="2000" b="0" dirty="0" smtClean="0">
                <a:solidFill>
                  <a:schemeClr val="tx1"/>
                </a:solidFill>
                <a:latin typeface="Calibri" panose="020F0502020204030204" charset="0"/>
                <a:cs typeface="Calibri" panose="020F0502020204030204" charset="0"/>
                <a:sym typeface="+mn-ea"/>
              </a:rPr>
              <a:t>The system can pack different kinds of objects. </a:t>
            </a:r>
            <a:endParaRPr lang="en-US" sz="20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a:t>
            </a:r>
            <a:endParaRPr lang="en-US" sz="2000" b="0" dirty="0" smtClean="0">
              <a:solidFill>
                <a:schemeClr val="tx1"/>
              </a:solidFill>
              <a:latin typeface="Calibri" panose="020F0502020204030204" charset="0"/>
              <a:cs typeface="Calibri" panose="020F0502020204030204" charset="0"/>
            </a:endParaRPr>
          </a:p>
        </p:txBody>
      </p:sp>
      <p:sp>
        <p:nvSpPr>
          <p:cNvPr id="3" name="Content Placeholder 2"/>
          <p:cNvSpPr>
            <a:spLocks noGrp="1"/>
          </p:cNvSpPr>
          <p:nvPr/>
        </p:nvSpPr>
        <p:spPr>
          <a:xfrm>
            <a:off x="120015" y="3598545"/>
            <a:ext cx="3696335" cy="300863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It uses a vision component to pick out objects on a conveyor, identify the type of object, and select the right kind of packaging. The system then moves objects from the delivery conveyor to be packaged. It places packaged objects on another conveyor. </a:t>
            </a:r>
            <a:endParaRPr lang="en-US" sz="20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The architectural model shows these components and the links between them.</a:t>
            </a:r>
            <a:endParaRPr lang="en-US" sz="2000" b="0" dirty="0" smtClean="0">
              <a:solidFill>
                <a:schemeClr val="tx1"/>
              </a:solidFill>
              <a:latin typeface="Calibri" panose="020F0502020204030204" charset="0"/>
              <a:cs typeface="Calibri" panose="020F0502020204030204" charset="0"/>
            </a:endParaRPr>
          </a:p>
        </p:txBody>
      </p:sp>
      <p:pic>
        <p:nvPicPr>
          <p:cNvPr id="5" name="图片 4"/>
          <p:cNvPicPr>
            <a:picLocks noChangeAspect="1"/>
          </p:cNvPicPr>
          <p:nvPr/>
        </p:nvPicPr>
        <p:blipFill>
          <a:blip r:embed="rId4"/>
          <a:stretch>
            <a:fillRect/>
          </a:stretch>
        </p:blipFill>
        <p:spPr>
          <a:xfrm>
            <a:off x="7130415" y="1301750"/>
            <a:ext cx="1914525" cy="666750"/>
          </a:xfrm>
          <a:prstGeom prst="rect">
            <a:avLst/>
          </a:prstGeom>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06120"/>
            <a:ext cx="8977630" cy="53530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Architectural abstraction</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体系结构抽象</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0850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6  Architectural Design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45085" y="1241425"/>
            <a:ext cx="9021445" cy="537781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Bef>
                <a:spcPts val="6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In practice, there is a significant overlap between the processes of requirements engineering and architectural design.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需求工程与体系结构设计的过程有显著重叠</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2000"/>
              </a:lnSpc>
              <a:spcBef>
                <a:spcPts val="6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You can design software architectures at two levels of abstraction,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sym typeface="+mn-ea"/>
              </a:rPr>
              <a:t>可在</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两个</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sym typeface="+mn-ea"/>
              </a:rPr>
              <a:t>抽象</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级别上设计</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sym typeface="+mn-ea"/>
              </a:rPr>
              <a:t>软件体系结构</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2000"/>
              </a:lnSpc>
              <a:spcBef>
                <a:spcPts val="600"/>
              </a:spcBef>
              <a:spcAft>
                <a:spcPts val="0"/>
              </a:spcAft>
            </a:pPr>
            <a:r>
              <a:rPr lang="en-US" sz="2700" i="1" dirty="0" smtClean="0">
                <a:solidFill>
                  <a:schemeClr val="tx1"/>
                </a:solidFill>
                <a:latin typeface="Calibri" panose="020F0502020204030204" charset="0"/>
                <a:cs typeface="Calibri" panose="020F0502020204030204" charset="0"/>
              </a:rPr>
              <a:t>Architecture in the small</a:t>
            </a:r>
            <a:r>
              <a:rPr lang="en-US" sz="2700" b="0" dirty="0" smtClean="0">
                <a:solidFill>
                  <a:schemeClr val="tx1"/>
                </a:solidFill>
                <a:latin typeface="Calibri" panose="020F0502020204030204" charset="0"/>
                <a:cs typeface="Calibri" panose="020F0502020204030204" charset="0"/>
              </a:rPr>
              <a:t>: is concerned with the architecture of </a:t>
            </a:r>
            <a:r>
              <a:rPr lang="en-US" sz="2700" b="0" u="sng" dirty="0" smtClean="0">
                <a:solidFill>
                  <a:schemeClr val="tx1"/>
                </a:solidFill>
                <a:latin typeface="Calibri" panose="020F0502020204030204" charset="0"/>
                <a:cs typeface="Calibri" panose="020F0502020204030204" charset="0"/>
              </a:rPr>
              <a:t>individual programs</a:t>
            </a:r>
            <a:r>
              <a:rPr lang="en-US" sz="2700" b="0" dirty="0" smtClean="0">
                <a:solidFill>
                  <a:schemeClr val="tx1"/>
                </a:solidFill>
                <a:latin typeface="Calibri" panose="020F0502020204030204" charset="0"/>
                <a:cs typeface="Calibri" panose="020F0502020204030204" charset="0"/>
              </a:rPr>
              <a:t>. At this level, we are concerned with the way that an individual program is decomposed into </a:t>
            </a:r>
            <a:r>
              <a:rPr lang="en-US" sz="2700" b="0" u="sng" dirty="0" smtClean="0">
                <a:solidFill>
                  <a:schemeClr val="tx1"/>
                </a:solidFill>
                <a:latin typeface="Calibri" panose="020F0502020204030204" charset="0"/>
                <a:cs typeface="Calibri" panose="020F0502020204030204" charset="0"/>
              </a:rPr>
              <a:t>components</a:t>
            </a:r>
            <a:r>
              <a:rPr lang="en-US" sz="2700" b="0" dirty="0" smtClean="0">
                <a:solidFill>
                  <a:schemeClr val="tx1"/>
                </a:solidFill>
                <a:latin typeface="Calibri" panose="020F0502020204030204" charset="0"/>
                <a:cs typeface="Calibri" panose="020F0502020204030204" charset="0"/>
              </a:rPr>
              <a:t>.</a:t>
            </a:r>
            <a:r>
              <a:rPr lang="en-US" sz="2600" b="0" dirty="0" smtClean="0">
                <a:solidFill>
                  <a:schemeClr val="tx1"/>
                </a:solidFill>
                <a:latin typeface="Calibri" panose="020F0502020204030204" charset="0"/>
                <a:cs typeface="Calibri" panose="020F0502020204030204" charset="0"/>
              </a:rPr>
              <a:t>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rPr>
              <a:t>小体系结构</a:t>
            </a:r>
            <a:endParaRPr lang="zh-CN" altLang="en-US" sz="26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2000"/>
              </a:lnSpc>
              <a:spcBef>
                <a:spcPts val="600"/>
              </a:spcBef>
              <a:spcAft>
                <a:spcPts val="0"/>
              </a:spcAft>
            </a:pPr>
            <a:r>
              <a:rPr lang="en-US" sz="2700" i="1" dirty="0" smtClean="0">
                <a:solidFill>
                  <a:schemeClr val="tx1"/>
                </a:solidFill>
                <a:latin typeface="Calibri" panose="020F0502020204030204" charset="0"/>
                <a:cs typeface="Calibri" panose="020F0502020204030204" charset="0"/>
              </a:rPr>
              <a:t>Architecture in the large</a:t>
            </a:r>
            <a:r>
              <a:rPr lang="en-US" sz="2700" b="0" dirty="0" smtClean="0">
                <a:solidFill>
                  <a:schemeClr val="tx1"/>
                </a:solidFill>
                <a:latin typeface="Calibri" panose="020F0502020204030204" charset="0"/>
                <a:cs typeface="Calibri" panose="020F0502020204030204" charset="0"/>
              </a:rPr>
              <a:t>: is concerned with the architecture of </a:t>
            </a:r>
            <a:r>
              <a:rPr lang="en-US" sz="2700" b="0" u="sng" dirty="0" smtClean="0">
                <a:solidFill>
                  <a:schemeClr val="tx1"/>
                </a:solidFill>
                <a:latin typeface="Calibri" panose="020F0502020204030204" charset="0"/>
                <a:cs typeface="Calibri" panose="020F0502020204030204" charset="0"/>
              </a:rPr>
              <a:t>complex enterprise systems</a:t>
            </a:r>
            <a:r>
              <a:rPr lang="en-US" sz="2700" b="0" dirty="0" smtClean="0">
                <a:solidFill>
                  <a:schemeClr val="tx1"/>
                </a:solidFill>
                <a:latin typeface="Calibri" panose="020F0502020204030204" charset="0"/>
                <a:cs typeface="Calibri" panose="020F0502020204030204" charset="0"/>
              </a:rPr>
              <a:t> that include other systems, programs, and program components. These systems are </a:t>
            </a:r>
            <a:r>
              <a:rPr lang="en-US" sz="2700" b="0" u="sng" dirty="0" smtClean="0">
                <a:solidFill>
                  <a:schemeClr val="tx1"/>
                </a:solidFill>
                <a:latin typeface="Calibri" panose="020F0502020204030204" charset="0"/>
                <a:cs typeface="Calibri" panose="020F0502020204030204" charset="0"/>
              </a:rPr>
              <a:t>distributed</a:t>
            </a:r>
            <a:r>
              <a:rPr lang="en-US" sz="2700" b="0" dirty="0" smtClean="0">
                <a:solidFill>
                  <a:schemeClr val="tx1"/>
                </a:solidFill>
                <a:latin typeface="Calibri" panose="020F0502020204030204" charset="0"/>
                <a:cs typeface="Calibri" panose="020F0502020204030204" charset="0"/>
              </a:rPr>
              <a:t> over different computers, owned and managed by </a:t>
            </a:r>
            <a:r>
              <a:rPr lang="en-US" sz="2700" b="0" u="sng" dirty="0" smtClean="0">
                <a:solidFill>
                  <a:schemeClr val="tx1"/>
                </a:solidFill>
                <a:latin typeface="Calibri" panose="020F0502020204030204" charset="0"/>
                <a:cs typeface="Calibri" panose="020F0502020204030204" charset="0"/>
              </a:rPr>
              <a:t>different companies</a:t>
            </a:r>
            <a:r>
              <a:rPr lang="en-US" sz="2700" b="0" dirty="0" smtClean="0">
                <a:solidFill>
                  <a:schemeClr val="tx1"/>
                </a:solidFill>
                <a:latin typeface="Calibri" panose="020F0502020204030204" charset="0"/>
                <a:cs typeface="Calibri" panose="020F0502020204030204" charset="0"/>
              </a:rPr>
              <a:t>.</a:t>
            </a:r>
            <a:r>
              <a:rPr lang="en-US" sz="2600" b="0" dirty="0" smtClean="0">
                <a:solidFill>
                  <a:schemeClr val="tx1"/>
                </a:solidFill>
                <a:latin typeface="Calibri" panose="020F0502020204030204" charset="0"/>
                <a:cs typeface="Calibri" panose="020F0502020204030204" charset="0"/>
              </a:rPr>
              <a:t>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rPr>
              <a:t>大体系结构</a:t>
            </a:r>
            <a:endParaRPr lang="zh-CN" altLang="en-US" b="0" dirty="0" smtClean="0">
              <a:solidFill>
                <a:schemeClr val="tx1"/>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21690"/>
            <a:ext cx="8977630" cy="855345"/>
          </a:xfrm>
        </p:spPr>
        <p:txBody>
          <a:bodyPr vert="horz" wrap="square" lIns="91440" tIns="45720" rIns="91440" bIns="45720" anchor="t" anchorCtr="0">
            <a:noAutofit/>
          </a:bodyPr>
          <a:p>
            <a:pPr algn="l" eaLnBrk="1" latinLnBrk="0" hangingPunct="1">
              <a:lnSpc>
                <a:spcPct val="85000"/>
              </a:lnSpc>
              <a:spcBef>
                <a:spcPts val="600"/>
              </a:spcBef>
              <a:buSzTx/>
              <a:buFont typeface="Wingdings" panose="05000000000000000000" pitchFamily="2" charset="2"/>
              <a:buChar char="§"/>
            </a:pPr>
            <a:r>
              <a:rPr lang="zh-CN" altLang="en-US" sz="2900" dirty="0">
                <a:solidFill>
                  <a:schemeClr val="accent1">
                    <a:lumMod val="75000"/>
                  </a:schemeClr>
                </a:solidFill>
                <a:ea typeface="宋体" panose="02010600030101010101" pitchFamily="2" charset="-122"/>
                <a:sym typeface="+mn-ea"/>
              </a:rPr>
              <a:t> Advantages of explicit</a:t>
            </a:r>
            <a:r>
              <a:rPr lang="en-US" altLang="zh-CN" sz="2900" dirty="0">
                <a:solidFill>
                  <a:schemeClr val="accent1">
                    <a:lumMod val="75000"/>
                  </a:schemeClr>
                </a:solidFill>
                <a:ea typeface="宋体" panose="02010600030101010101" pitchFamily="2" charset="-122"/>
                <a:sym typeface="+mn-ea"/>
              </a:rPr>
              <a:t>ly</a:t>
            </a:r>
            <a:r>
              <a:rPr lang="zh-CN" altLang="en-US" sz="2900" dirty="0">
                <a:solidFill>
                  <a:schemeClr val="accent1">
                    <a:lumMod val="75000"/>
                  </a:schemeClr>
                </a:solidFill>
                <a:ea typeface="宋体" panose="02010600030101010101" pitchFamily="2" charset="-122"/>
                <a:sym typeface="+mn-ea"/>
              </a:rPr>
              <a:t> </a:t>
            </a:r>
            <a:r>
              <a:rPr lang="en-US" altLang="zh-CN" sz="2900" dirty="0">
                <a:solidFill>
                  <a:schemeClr val="accent1">
                    <a:lumMod val="75000"/>
                  </a:schemeClr>
                </a:solidFill>
                <a:ea typeface="宋体" panose="02010600030101010101" pitchFamily="2" charset="-122"/>
                <a:sym typeface="+mn-ea"/>
              </a:rPr>
              <a:t>design and document software </a:t>
            </a:r>
            <a:r>
              <a:rPr lang="zh-CN" altLang="en-US" sz="2900" dirty="0">
                <a:solidFill>
                  <a:schemeClr val="accent1">
                    <a:lumMod val="75000"/>
                  </a:schemeClr>
                </a:solidFill>
                <a:ea typeface="宋体" panose="02010600030101010101" pitchFamily="2" charset="-122"/>
                <a:sym typeface="+mn-ea"/>
              </a:rPr>
              <a:t>architecture</a:t>
            </a:r>
            <a:r>
              <a:rPr lang="en-US" altLang="zh-CN" sz="2900" dirty="0">
                <a:solidFill>
                  <a:schemeClr val="accent1">
                    <a:lumMod val="75000"/>
                  </a:schemeClr>
                </a:solidFill>
                <a:ea typeface="宋体" panose="02010600030101010101" pitchFamily="2" charset="-122"/>
                <a:sym typeface="+mn-ea"/>
              </a:rPr>
              <a:t> </a:t>
            </a:r>
            <a:r>
              <a:rPr lang="zh-CN" altLang="en-US" sz="2300" dirty="0">
                <a:solidFill>
                  <a:schemeClr val="accent1">
                    <a:lumMod val="75000"/>
                  </a:schemeClr>
                </a:solidFill>
                <a:latin typeface="黑体" panose="02010609060101010101" pitchFamily="49" charset="-122"/>
                <a:ea typeface="黑体" panose="02010609060101010101" pitchFamily="49" charset="-122"/>
                <a:sym typeface="+mn-ea"/>
              </a:rPr>
              <a:t>明确地设计和文档化体系结构的优势</a:t>
            </a:r>
            <a:endParaRPr lang="zh-CN" altLang="en-US" sz="2300"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0850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6  Architectural Design</a:t>
            </a:r>
            <a:endParaRPr lang="en-US" altLang="zh-CN" sz="2800" dirty="0">
              <a:solidFill>
                <a:srgbClr val="660066"/>
              </a:solidFill>
              <a:ea typeface="黑体" panose="02010609060101010101" pitchFamily="49" charset="-122"/>
              <a:cs typeface="+mj-lt"/>
            </a:endParaRPr>
          </a:p>
        </p:txBody>
      </p:sp>
      <p:sp>
        <p:nvSpPr>
          <p:cNvPr id="45059" name="Rectangle 3"/>
          <p:cNvSpPr>
            <a:spLocks noGrp="1" noChangeArrowheads="1"/>
          </p:cNvSpPr>
          <p:nvPr/>
        </p:nvSpPr>
        <p:spPr>
          <a:xfrm>
            <a:off x="74930" y="1671955"/>
            <a:ext cx="8992235" cy="469773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altLang="en-GB" sz="3200" dirty="0">
                <a:solidFill>
                  <a:schemeClr val="tx2">
                    <a:lumMod val="75000"/>
                    <a:lumOff val="25000"/>
                  </a:schemeClr>
                </a:solidFill>
                <a:latin typeface="Calibri" panose="020F0502020204030204" charset="0"/>
                <a:cs typeface="Calibri" panose="020F0502020204030204" charset="0"/>
              </a:rPr>
              <a:t> </a:t>
            </a:r>
            <a:r>
              <a:rPr lang="en-GB" sz="3200" dirty="0">
                <a:solidFill>
                  <a:schemeClr val="tx2">
                    <a:lumMod val="75000"/>
                    <a:lumOff val="25000"/>
                  </a:schemeClr>
                </a:solidFill>
                <a:latin typeface="Calibri" panose="020F0502020204030204" charset="0"/>
                <a:cs typeface="Calibri" panose="020F0502020204030204" charset="0"/>
              </a:rPr>
              <a:t>Stakeholder communication</a:t>
            </a:r>
            <a:r>
              <a:rPr lang="en-US" altLang="en-GB" sz="3200" dirty="0">
                <a:solidFill>
                  <a:schemeClr val="tx2">
                    <a:lumMod val="75000"/>
                    <a:lumOff val="25000"/>
                  </a:schemeClr>
                </a:solidFill>
                <a:latin typeface="Calibri" panose="020F0502020204030204" charset="0"/>
                <a:cs typeface="Calibri" panose="020F0502020204030204" charset="0"/>
              </a:rPr>
              <a:t>: </a:t>
            </a:r>
            <a:r>
              <a:rPr lang="en-GB" sz="2800" b="0" dirty="0">
                <a:solidFill>
                  <a:schemeClr val="tx1"/>
                </a:solidFill>
                <a:latin typeface="Calibri" panose="020F0502020204030204" charset="0"/>
                <a:cs typeface="Calibri" panose="020F0502020204030204" charset="0"/>
              </a:rPr>
              <a:t>The architecture is a high-level presentation of the system that may be used as a focus for discussion by a range of different stakeholders.</a:t>
            </a:r>
            <a:r>
              <a:rPr lang="en-US" altLang="en-GB" sz="2800" b="0" dirty="0">
                <a:solidFill>
                  <a:schemeClr val="tx1"/>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sym typeface="+mn-ea"/>
              </a:rPr>
              <a:t>干系人交流</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Bef>
                <a:spcPts val="600"/>
              </a:spcBef>
              <a:spcAft>
                <a:spcPts val="0"/>
              </a:spcAft>
            </a:pPr>
            <a:r>
              <a:rPr lang="en-US" altLang="en-GB" sz="3200" dirty="0">
                <a:solidFill>
                  <a:schemeClr val="tx2">
                    <a:lumMod val="75000"/>
                    <a:lumOff val="25000"/>
                  </a:schemeClr>
                </a:solidFill>
                <a:latin typeface="Calibri" panose="020F0502020204030204" charset="0"/>
                <a:cs typeface="Calibri" panose="020F0502020204030204" charset="0"/>
              </a:rPr>
              <a:t> </a:t>
            </a:r>
            <a:r>
              <a:rPr lang="en-GB" sz="3200" dirty="0">
                <a:solidFill>
                  <a:schemeClr val="tx2">
                    <a:lumMod val="75000"/>
                    <a:lumOff val="25000"/>
                  </a:schemeClr>
                </a:solidFill>
                <a:latin typeface="Calibri" panose="020F0502020204030204" charset="0"/>
                <a:cs typeface="Calibri" panose="020F0502020204030204" charset="0"/>
              </a:rPr>
              <a:t>System analysis</a:t>
            </a:r>
            <a:r>
              <a:rPr lang="en-US" altLang="en-GB" sz="3200" dirty="0">
                <a:solidFill>
                  <a:schemeClr val="tx2">
                    <a:lumMod val="75000"/>
                    <a:lumOff val="25000"/>
                  </a:schemeClr>
                </a:solidFill>
                <a:latin typeface="Calibri" panose="020F0502020204030204" charset="0"/>
                <a:cs typeface="Calibri" panose="020F0502020204030204" charset="0"/>
              </a:rPr>
              <a:t>:</a:t>
            </a:r>
            <a:r>
              <a:rPr lang="en-US" altLang="en-GB" sz="3200" dirty="0">
                <a:solidFill>
                  <a:schemeClr val="tx1"/>
                </a:solidFill>
                <a:latin typeface="Calibri" panose="020F0502020204030204" charset="0"/>
                <a:cs typeface="Calibri" panose="020F0502020204030204" charset="0"/>
              </a:rPr>
              <a:t> </a:t>
            </a:r>
            <a:r>
              <a:rPr lang="en-GB" sz="2800" b="0" dirty="0">
                <a:solidFill>
                  <a:schemeClr val="tx1"/>
                </a:solidFill>
                <a:latin typeface="Calibri" panose="020F0502020204030204" charset="0"/>
                <a:cs typeface="Calibri" panose="020F0502020204030204" charset="0"/>
              </a:rPr>
              <a:t>Making the system architecture explicit at early stage requires some analysis. Architectural design decisions</a:t>
            </a:r>
            <a:r>
              <a:rPr lang="en-US" altLang="en-GB" sz="2800" b="0" dirty="0">
                <a:solidFill>
                  <a:schemeClr val="tx1"/>
                </a:solidFill>
                <a:latin typeface="Calibri" panose="020F0502020204030204" charset="0"/>
                <a:cs typeface="Calibri" panose="020F0502020204030204" charset="0"/>
              </a:rPr>
              <a:t> </a:t>
            </a:r>
            <a:r>
              <a:rPr lang="en-GB" sz="2800" b="0" dirty="0">
                <a:solidFill>
                  <a:schemeClr val="tx1"/>
                </a:solidFill>
                <a:latin typeface="Calibri" panose="020F0502020204030204" charset="0"/>
                <a:cs typeface="Calibri" panose="020F0502020204030204" charset="0"/>
              </a:rPr>
              <a:t>have a profound effect on whether or not the system can meet critical requirements such as performance, reliability, and maintainability.</a:t>
            </a:r>
            <a:r>
              <a:rPr lang="en-US" altLang="en-GB" sz="2800" b="0" dirty="0">
                <a:solidFill>
                  <a:schemeClr val="tx1"/>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sym typeface="+mn-ea"/>
              </a:rPr>
              <a:t>系统分析</a:t>
            </a:r>
            <a:endParaRPr lang="en-GB" sz="2800" b="0" dirty="0">
              <a:latin typeface="Calibri" panose="020F0502020204030204" charset="0"/>
              <a:cs typeface="Calibri" panose="020F0502020204030204" charset="0"/>
            </a:endParaRPr>
          </a:p>
          <a:p>
            <a:pPr>
              <a:lnSpc>
                <a:spcPct val="85000"/>
              </a:lnSpc>
              <a:spcBef>
                <a:spcPts val="600"/>
              </a:spcBef>
              <a:spcAft>
                <a:spcPts val="0"/>
              </a:spcAft>
            </a:pPr>
            <a:r>
              <a:rPr lang="en-US" altLang="en-GB" sz="3200" dirty="0">
                <a:solidFill>
                  <a:schemeClr val="tx2">
                    <a:lumMod val="75000"/>
                    <a:lumOff val="25000"/>
                  </a:schemeClr>
                </a:solidFill>
                <a:latin typeface="Calibri" panose="020F0502020204030204" charset="0"/>
                <a:cs typeface="Calibri" panose="020F0502020204030204" charset="0"/>
              </a:rPr>
              <a:t> </a:t>
            </a:r>
            <a:r>
              <a:rPr lang="en-GB" sz="3200" dirty="0">
                <a:solidFill>
                  <a:schemeClr val="tx2">
                    <a:lumMod val="75000"/>
                    <a:lumOff val="25000"/>
                  </a:schemeClr>
                </a:solidFill>
                <a:latin typeface="Calibri" panose="020F0502020204030204" charset="0"/>
                <a:cs typeface="Calibri" panose="020F0502020204030204" charset="0"/>
              </a:rPr>
              <a:t>Large-scale reuse</a:t>
            </a:r>
            <a:r>
              <a:rPr lang="en-US" altLang="en-GB" sz="3200" dirty="0">
                <a:solidFill>
                  <a:schemeClr val="tx2">
                    <a:lumMod val="75000"/>
                    <a:lumOff val="25000"/>
                  </a:schemeClr>
                </a:solidFill>
                <a:latin typeface="Calibri" panose="020F0502020204030204" charset="0"/>
                <a:cs typeface="Calibri" panose="020F0502020204030204" charset="0"/>
              </a:rPr>
              <a:t>:</a:t>
            </a:r>
            <a:r>
              <a:rPr lang="en-US" altLang="en-GB" sz="3200" dirty="0">
                <a:solidFill>
                  <a:schemeClr val="tx1"/>
                </a:solidFill>
                <a:latin typeface="Calibri" panose="020F0502020204030204" charset="0"/>
                <a:cs typeface="Calibri" panose="020F0502020204030204" charset="0"/>
              </a:rPr>
              <a:t> </a:t>
            </a:r>
            <a:r>
              <a:rPr lang="en-GB" sz="2800" b="0" dirty="0">
                <a:solidFill>
                  <a:schemeClr val="tx1"/>
                </a:solidFill>
                <a:latin typeface="Calibri" panose="020F0502020204030204" charset="0"/>
                <a:cs typeface="Calibri" panose="020F0502020204030204" charset="0"/>
              </a:rPr>
              <a:t>The system</a:t>
            </a:r>
            <a:r>
              <a:rPr lang="en-US" altLang="en-GB" sz="2800" b="0" dirty="0">
                <a:solidFill>
                  <a:schemeClr val="tx1"/>
                </a:solidFill>
                <a:latin typeface="Calibri" panose="020F0502020204030204" charset="0"/>
                <a:cs typeface="Calibri" panose="020F0502020204030204" charset="0"/>
              </a:rPr>
              <a:t> </a:t>
            </a:r>
            <a:r>
              <a:rPr lang="en-GB" sz="2800" b="0" dirty="0">
                <a:solidFill>
                  <a:schemeClr val="tx1"/>
                </a:solidFill>
                <a:latin typeface="Calibri" panose="020F0502020204030204" charset="0"/>
                <a:cs typeface="Calibri" panose="020F0502020204030204" charset="0"/>
              </a:rPr>
              <a:t>architecture is often the same for systems with similar requirements and so can</a:t>
            </a:r>
            <a:r>
              <a:rPr lang="en-US" altLang="en-GB" sz="2800" b="0" dirty="0">
                <a:solidFill>
                  <a:schemeClr val="tx1"/>
                </a:solidFill>
                <a:latin typeface="Calibri" panose="020F0502020204030204" charset="0"/>
                <a:cs typeface="Calibri" panose="020F0502020204030204" charset="0"/>
              </a:rPr>
              <a:t> </a:t>
            </a:r>
            <a:r>
              <a:rPr lang="en-GB" sz="2800" b="0" dirty="0">
                <a:solidFill>
                  <a:schemeClr val="tx1"/>
                </a:solidFill>
                <a:latin typeface="Calibri" panose="020F0502020204030204" charset="0"/>
                <a:cs typeface="Calibri" panose="020F0502020204030204" charset="0"/>
              </a:rPr>
              <a:t>support large-scale software reuse. </a:t>
            </a:r>
            <a:r>
              <a:rPr lang="en-US" altLang="en-GB" sz="2800" b="0" dirty="0">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sym typeface="+mn-ea"/>
              </a:rPr>
              <a:t>大规模复用</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15975"/>
            <a:ext cx="8977630" cy="53213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Architectural representations</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体系结构表示</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0850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6  Architectural Design</a:t>
            </a:r>
            <a:endParaRPr lang="en-US" altLang="zh-CN" sz="2800" dirty="0">
              <a:solidFill>
                <a:srgbClr val="660066"/>
              </a:solidFill>
              <a:ea typeface="黑体" panose="02010609060101010101" pitchFamily="49" charset="-122"/>
              <a:cs typeface="+mj-lt"/>
            </a:endParaRPr>
          </a:p>
        </p:txBody>
      </p:sp>
      <p:sp>
        <p:nvSpPr>
          <p:cNvPr id="45059" name="Rectangle 3"/>
          <p:cNvSpPr>
            <a:spLocks noGrp="1" noChangeArrowheads="1"/>
          </p:cNvSpPr>
          <p:nvPr/>
        </p:nvSpPr>
        <p:spPr>
          <a:xfrm>
            <a:off x="40005" y="1384935"/>
            <a:ext cx="9026525" cy="507555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100" dirty="0">
                <a:solidFill>
                  <a:schemeClr val="tx2">
                    <a:lumMod val="75000"/>
                    <a:lumOff val="25000"/>
                  </a:schemeClr>
                </a:solidFill>
                <a:latin typeface="Calibri" panose="020F0502020204030204" charset="0"/>
                <a:cs typeface="Calibri" panose="020F0502020204030204" charset="0"/>
              </a:rPr>
              <a:t> System architectures are often modeled informally using simple </a:t>
            </a:r>
            <a:r>
              <a:rPr lang="en-US" sz="3100" u="sng" dirty="0">
                <a:solidFill>
                  <a:schemeClr val="tx2">
                    <a:lumMod val="75000"/>
                    <a:lumOff val="25000"/>
                  </a:schemeClr>
                </a:solidFill>
                <a:latin typeface="Calibri" panose="020F0502020204030204" charset="0"/>
                <a:cs typeface="Calibri" panose="020F0502020204030204" charset="0"/>
              </a:rPr>
              <a:t>block diagrams</a:t>
            </a:r>
            <a:r>
              <a:rPr lang="en-US" sz="3100" dirty="0">
                <a:solidFill>
                  <a:schemeClr val="tx2">
                    <a:lumMod val="75000"/>
                    <a:lumOff val="25000"/>
                  </a:schemeClr>
                </a:solidFill>
                <a:latin typeface="Calibri" panose="020F0502020204030204" charset="0"/>
                <a:cs typeface="Calibri" panose="020F0502020204030204" charset="0"/>
              </a:rPr>
              <a:t>, as in Fig. 6.1. </a:t>
            </a:r>
            <a:r>
              <a:rPr lang="en-US" sz="2700" b="0" dirty="0">
                <a:solidFill>
                  <a:schemeClr val="tx1"/>
                </a:solidFill>
                <a:latin typeface="Calibri" panose="020F0502020204030204" charset="0"/>
                <a:cs typeface="Calibri" panose="020F0502020204030204" charset="0"/>
              </a:rPr>
              <a:t>Each box in the diagram represents a component. Boxes within boxes indicate that the component has been decomposed to subcomponents. Arrows mean that data and or control signals are passed from component to component in the direction of the arrows.  </a:t>
            </a:r>
            <a:r>
              <a:rPr lang="en-US" sz="2800" b="0" dirty="0">
                <a:solidFill>
                  <a:schemeClr val="tx1"/>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非正式建模：简单的框图</a:t>
            </a:r>
            <a:endParaRPr lang="en-US" sz="3100" dirty="0">
              <a:solidFill>
                <a:schemeClr val="tx2">
                  <a:lumMod val="75000"/>
                  <a:lumOff val="25000"/>
                </a:schemeClr>
              </a:solidFill>
              <a:latin typeface="Calibri" panose="020F0502020204030204" charset="0"/>
              <a:cs typeface="Calibri" panose="020F0502020204030204" charset="0"/>
            </a:endParaRPr>
          </a:p>
          <a:p>
            <a:pPr>
              <a:lnSpc>
                <a:spcPct val="85000"/>
              </a:lnSpc>
              <a:spcAft>
                <a:spcPts val="0"/>
              </a:spcAft>
            </a:pPr>
            <a:r>
              <a:rPr lang="en-US" sz="3100" dirty="0">
                <a:solidFill>
                  <a:schemeClr val="tx2">
                    <a:lumMod val="75000"/>
                    <a:lumOff val="25000"/>
                  </a:schemeClr>
                </a:solidFill>
                <a:latin typeface="Calibri" panose="020F0502020204030204" charset="0"/>
                <a:cs typeface="Calibri" panose="020F0502020204030204" charset="0"/>
              </a:rPr>
              <a:t> Block diagrams can be readily understand and widespread used. However, someone claim that these informal diagrams are poor architectural representations, </a:t>
            </a:r>
            <a:r>
              <a:rPr lang="en-US" sz="2700" b="0" dirty="0">
                <a:solidFill>
                  <a:schemeClr val="tx1"/>
                </a:solidFill>
                <a:latin typeface="Calibri" panose="020F0502020204030204" charset="0"/>
                <a:cs typeface="Calibri" panose="020F0502020204030204" charset="0"/>
              </a:rPr>
              <a:t>as they show neither the type of the relationships among system components nor the components’ externally visible properties. </a:t>
            </a:r>
            <a:r>
              <a:rPr lang="en-US" sz="2800" b="0" dirty="0">
                <a:solidFill>
                  <a:schemeClr val="tx1"/>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但遭到批评</a:t>
            </a:r>
            <a:endParaRPr lang="en-US" altLang="zh-CN" sz="2800" b="0" dirty="0">
              <a:solidFill>
                <a:schemeClr val="tx1"/>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63905"/>
            <a:ext cx="8977630" cy="5715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Use of architectural models</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体系结构模型的运用</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0850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6  Architectural Design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49530" y="1335405"/>
            <a:ext cx="9017635" cy="528637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000" dirty="0" smtClean="0">
                <a:solidFill>
                  <a:schemeClr val="tx2">
                    <a:lumMod val="75000"/>
                    <a:lumOff val="25000"/>
                  </a:schemeClr>
                </a:solidFill>
                <a:latin typeface="Calibri" panose="020F0502020204030204" charset="0"/>
                <a:cs typeface="Calibri" panose="020F0502020204030204" charset="0"/>
                <a:sym typeface="+mn-ea"/>
              </a:rPr>
              <a:t> The contradictions between architectural theory and industrial practice arise because there are two ways in which an architectural model is used.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sym typeface="+mn-ea"/>
              </a:rPr>
              <a:t>因为体系结构模型有如下两种使用方式，引起体系结构理论与工业实践之间的矛盾</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5000"/>
              </a:lnSpc>
              <a:spcBef>
                <a:spcPts val="600"/>
              </a:spcBef>
              <a:spcAft>
                <a:spcPts val="0"/>
              </a:spcAft>
            </a:pPr>
            <a:r>
              <a:rPr lang="en-US" sz="2600" dirty="0" smtClean="0">
                <a:solidFill>
                  <a:schemeClr val="tx1"/>
                </a:solidFill>
                <a:latin typeface="Calibri" panose="020F0502020204030204" charset="0"/>
                <a:cs typeface="Calibri" panose="020F0502020204030204" charset="0"/>
              </a:rPr>
              <a:t>As a way of encouraging discussions about the system design: </a:t>
            </a:r>
            <a:r>
              <a:rPr lang="en-GB" sz="2500" b="0" dirty="0" smtClean="0">
                <a:solidFill>
                  <a:schemeClr val="tx1"/>
                </a:solidFill>
                <a:latin typeface="Calibri" panose="020F0502020204030204" charset="0"/>
                <a:cs typeface="Calibri" panose="020F0502020204030204" charset="0"/>
              </a:rPr>
              <a:t>A high-level</a:t>
            </a:r>
            <a:r>
              <a:rPr lang="en-US" altLang="en-GB" sz="2500" b="0" dirty="0" smtClean="0">
                <a:solidFill>
                  <a:schemeClr val="tx1"/>
                </a:solidFill>
                <a:latin typeface="Calibri" panose="020F0502020204030204" charset="0"/>
                <a:cs typeface="Calibri" panose="020F0502020204030204" charset="0"/>
              </a:rPr>
              <a:t> </a:t>
            </a:r>
            <a:r>
              <a:rPr lang="en-GB" sz="2500" b="0" dirty="0" smtClean="0">
                <a:solidFill>
                  <a:schemeClr val="tx1"/>
                </a:solidFill>
                <a:latin typeface="Calibri" panose="020F0502020204030204" charset="0"/>
                <a:cs typeface="Calibri" panose="020F0502020204030204" charset="0"/>
              </a:rPr>
              <a:t>architectural view of a system is useful for communication with system stakeholders and project planning because it isn</a:t>
            </a:r>
            <a:r>
              <a:rPr lang="en-US" altLang="en-GB" sz="2500" b="0" dirty="0" smtClean="0">
                <a:solidFill>
                  <a:schemeClr val="tx1"/>
                </a:solidFill>
                <a:latin typeface="Calibri" panose="020F0502020204030204" charset="0"/>
                <a:cs typeface="Calibri" panose="020F0502020204030204" charset="0"/>
              </a:rPr>
              <a:t>’</a:t>
            </a:r>
            <a:r>
              <a:rPr lang="en-GB" sz="2500" b="0" dirty="0" smtClean="0">
                <a:solidFill>
                  <a:schemeClr val="tx1"/>
                </a:solidFill>
                <a:latin typeface="Calibri" panose="020F0502020204030204" charset="0"/>
                <a:cs typeface="Calibri" panose="020F0502020204030204" charset="0"/>
              </a:rPr>
              <a:t>t cluttered with detail.</a:t>
            </a:r>
            <a:r>
              <a:rPr lang="en-US" altLang="en-GB" sz="2500" b="0" dirty="0" smtClean="0">
                <a:solidFill>
                  <a:schemeClr val="tx1"/>
                </a:solidFill>
                <a:latin typeface="Calibri" panose="020F0502020204030204" charset="0"/>
                <a:cs typeface="Calibri" panose="020F0502020204030204" charset="0"/>
              </a:rPr>
              <a:t> </a:t>
            </a:r>
            <a:r>
              <a:rPr lang="en-GB" sz="2500" b="0" dirty="0" smtClean="0">
                <a:solidFill>
                  <a:schemeClr val="tx1"/>
                </a:solidFill>
                <a:latin typeface="Calibri" panose="020F0502020204030204" charset="0"/>
                <a:cs typeface="Calibri" panose="020F0502020204030204" charset="0"/>
              </a:rPr>
              <a:t>Stakeholders understand an abstract view of system.</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作为鼓励讨论系统设计的方式</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sym typeface="+mn-ea"/>
              </a:rPr>
              <a:t>要求抽象</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a:t>
            </a:r>
            <a:endParaRPr lang="en-GB" sz="2330" b="0" dirty="0" smtClean="0">
              <a:latin typeface="Calibri" panose="020F0502020204030204" charset="0"/>
              <a:cs typeface="Calibri" panose="020F0502020204030204" charset="0"/>
            </a:endParaRPr>
          </a:p>
          <a:p>
            <a:pPr lvl="1">
              <a:lnSpc>
                <a:spcPct val="85000"/>
              </a:lnSpc>
              <a:spcBef>
                <a:spcPts val="600"/>
              </a:spcBef>
              <a:spcAft>
                <a:spcPts val="0"/>
              </a:spcAft>
            </a:pPr>
            <a:r>
              <a:rPr lang="en-US" sz="2600" dirty="0" smtClean="0">
                <a:solidFill>
                  <a:schemeClr val="tx1"/>
                </a:solidFill>
                <a:latin typeface="Calibri" panose="020F0502020204030204" charset="0"/>
                <a:cs typeface="Calibri" panose="020F0502020204030204" charset="0"/>
              </a:rPr>
              <a:t> As a way of documenting an architecture that has been designed:</a:t>
            </a:r>
            <a:r>
              <a:rPr lang="en-US" sz="2500" dirty="0" smtClean="0">
                <a:solidFill>
                  <a:schemeClr val="tx1"/>
                </a:solidFill>
                <a:latin typeface="Calibri" panose="020F0502020204030204" charset="0"/>
                <a:cs typeface="Calibri" panose="020F0502020204030204" charset="0"/>
              </a:rPr>
              <a:t> </a:t>
            </a:r>
            <a:r>
              <a:rPr lang="en-GB" sz="2500" b="0" dirty="0" smtClean="0">
                <a:solidFill>
                  <a:schemeClr val="tx1"/>
                </a:solidFill>
                <a:latin typeface="Calibri" panose="020F0502020204030204" charset="0"/>
                <a:cs typeface="Calibri" panose="020F0502020204030204" charset="0"/>
              </a:rPr>
              <a:t>The aim is to produce a complete system model that shows different components in a system, their interfaces and connections. The argument is</a:t>
            </a:r>
            <a:r>
              <a:rPr lang="en-US" altLang="en-GB" sz="2500" b="0" dirty="0" smtClean="0">
                <a:solidFill>
                  <a:schemeClr val="tx1"/>
                </a:solidFill>
                <a:latin typeface="Calibri" panose="020F0502020204030204" charset="0"/>
                <a:cs typeface="Calibri" panose="020F0502020204030204" charset="0"/>
              </a:rPr>
              <a:t> </a:t>
            </a:r>
            <a:r>
              <a:rPr lang="en-GB" sz="2500" b="0" dirty="0" smtClean="0">
                <a:solidFill>
                  <a:schemeClr val="tx1"/>
                </a:solidFill>
                <a:latin typeface="Calibri" panose="020F0502020204030204" charset="0"/>
                <a:cs typeface="Calibri" panose="020F0502020204030204" charset="0"/>
              </a:rPr>
              <a:t>that such a detailed architectural description makes it easier to understand and</a:t>
            </a:r>
            <a:r>
              <a:rPr lang="en-US" altLang="en-GB" sz="2500" b="0" dirty="0" smtClean="0">
                <a:solidFill>
                  <a:schemeClr val="tx1"/>
                </a:solidFill>
                <a:latin typeface="Calibri" panose="020F0502020204030204" charset="0"/>
                <a:cs typeface="Calibri" panose="020F0502020204030204" charset="0"/>
              </a:rPr>
              <a:t> </a:t>
            </a:r>
            <a:r>
              <a:rPr lang="en-GB" sz="2500" b="0" dirty="0" smtClean="0">
                <a:solidFill>
                  <a:schemeClr val="tx1"/>
                </a:solidFill>
                <a:latin typeface="Calibri" panose="020F0502020204030204" charset="0"/>
                <a:cs typeface="Calibri" panose="020F0502020204030204" charset="0"/>
              </a:rPr>
              <a:t>evolve the system.</a:t>
            </a:r>
            <a:r>
              <a:rPr lang="en-US" altLang="en-GB" sz="2500" b="0" dirty="0" smtClean="0">
                <a:solidFill>
                  <a:schemeClr val="tx1"/>
                </a:solidFill>
                <a:latin typeface="Calibri" panose="020F0502020204030204" charset="0"/>
                <a:cs typeface="Calibri" panose="020F0502020204030204" charset="0"/>
              </a:rPr>
              <a:t> </a:t>
            </a:r>
            <a:r>
              <a:rPr lang="en-US" altLang="en-GB" sz="2330" b="0" dirty="0" smtClean="0">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作为文档化已设计好体系结构的方式</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sym typeface="+mn-ea"/>
              </a:rPr>
              <a:t>要求详细</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a:t>
            </a:r>
            <a:endPar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63905"/>
            <a:ext cx="8977630" cy="53657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ea typeface="宋体" panose="02010600030101010101" pitchFamily="2" charset="-122"/>
                <a:sym typeface="+mn-ea"/>
              </a:rPr>
              <a:t> </a:t>
            </a:r>
            <a:r>
              <a:rPr lang="en-US" altLang="zh-CN" sz="2800" dirty="0">
                <a:solidFill>
                  <a:schemeClr val="accent1">
                    <a:lumMod val="75000"/>
                  </a:schemeClr>
                </a:solidFill>
                <a:ea typeface="宋体" panose="02010600030101010101" pitchFamily="2" charset="-122"/>
                <a:sym typeface="+mn-ea"/>
              </a:rPr>
              <a:t>6</a:t>
            </a:r>
            <a:r>
              <a:rPr lang="zh-CN" altLang="en-US" sz="2800" dirty="0">
                <a:solidFill>
                  <a:schemeClr val="accent1">
                    <a:lumMod val="75000"/>
                  </a:schemeClr>
                </a:solidFill>
                <a:ea typeface="宋体" panose="02010600030101010101" pitchFamily="2" charset="-122"/>
                <a:sym typeface="+mn-ea"/>
              </a:rPr>
              <a:t>.1 Architectural design decisions</a:t>
            </a:r>
            <a:r>
              <a:rPr lang="en-US" altLang="zh-CN" sz="28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体系结构设计决策</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0850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6  Architectural Design</a:t>
            </a:r>
            <a:endParaRPr lang="en-US" altLang="zh-CN" sz="2800" dirty="0">
              <a:solidFill>
                <a:srgbClr val="660066"/>
              </a:solidFill>
              <a:ea typeface="黑体" panose="02010609060101010101" pitchFamily="49" charset="-122"/>
              <a:cs typeface="+mj-lt"/>
            </a:endParaRPr>
          </a:p>
        </p:txBody>
      </p:sp>
      <p:sp>
        <p:nvSpPr>
          <p:cNvPr id="45059" name="Rectangle 3"/>
          <p:cNvSpPr>
            <a:spLocks noGrp="1" noChangeArrowheads="1"/>
          </p:cNvSpPr>
          <p:nvPr/>
        </p:nvSpPr>
        <p:spPr>
          <a:xfrm>
            <a:off x="74930" y="1313180"/>
            <a:ext cx="8992235" cy="539242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200" dirty="0">
                <a:solidFill>
                  <a:schemeClr val="tx2">
                    <a:lumMod val="75000"/>
                    <a:lumOff val="25000"/>
                  </a:schemeClr>
                </a:solidFill>
                <a:latin typeface="Calibri" panose="020F0502020204030204" charset="0"/>
                <a:cs typeface="Calibri" panose="020F0502020204030204" charset="0"/>
              </a:rPr>
              <a:t> Architectural design is a creative process in which you design a system organization that will satisfy the functional and non-functional requirements of a system.</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是一个创造性过程</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设计系统组织，满足功能</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非功能需求</a:t>
            </a:r>
            <a:endParaRPr lang="en-US" sz="2000" dirty="0">
              <a:solidFill>
                <a:schemeClr val="tx2">
                  <a:lumMod val="75000"/>
                  <a:lumOff val="25000"/>
                </a:schemeClr>
              </a:solidFill>
              <a:latin typeface="Calibri" panose="020F0502020204030204" charset="0"/>
              <a:cs typeface="Calibri" panose="020F0502020204030204" charset="0"/>
            </a:endParaRPr>
          </a:p>
          <a:p>
            <a:pPr>
              <a:lnSpc>
                <a:spcPct val="85000"/>
              </a:lnSpc>
              <a:spcAft>
                <a:spcPts val="0"/>
              </a:spcAft>
            </a:pPr>
            <a:r>
              <a:rPr lang="en-US" sz="3200" dirty="0">
                <a:solidFill>
                  <a:schemeClr val="tx2">
                    <a:lumMod val="75000"/>
                    <a:lumOff val="25000"/>
                  </a:schemeClr>
                </a:solidFill>
                <a:latin typeface="Calibri" panose="020F0502020204030204" charset="0"/>
                <a:cs typeface="Calibri" panose="020F0502020204030204" charset="0"/>
              </a:rPr>
              <a:t> There is no formulaic architectural design process. </a:t>
            </a:r>
            <a:r>
              <a:rPr lang="en-US" sz="2800" b="0" dirty="0">
                <a:solidFill>
                  <a:schemeClr val="tx1"/>
                </a:solidFill>
                <a:latin typeface="Calibri" panose="020F0502020204030204" charset="0"/>
                <a:cs typeface="Calibri" panose="020F0502020204030204" charset="0"/>
              </a:rPr>
              <a:t>It depends on the type of system being developed, the background and experience of the system architect, and the specific requirements for the system.</a:t>
            </a:r>
            <a:r>
              <a:rPr lang="en-US" sz="3200" dirty="0">
                <a:solidFill>
                  <a:schemeClr val="tx2">
                    <a:lumMod val="75000"/>
                    <a:lumOff val="25000"/>
                  </a:schemeClr>
                </a:solidFill>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没有公式化的体系结构设计过程，依赖于系统类型、系统架构师的背景和经验、及特定需求</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Aft>
                <a:spcPts val="0"/>
              </a:spcAft>
            </a:pPr>
            <a:r>
              <a:rPr lang="en-US" sz="3200" dirty="0">
                <a:solidFill>
                  <a:schemeClr val="tx2">
                    <a:lumMod val="75000"/>
                    <a:lumOff val="25000"/>
                  </a:schemeClr>
                </a:solidFill>
                <a:latin typeface="Calibri" panose="020F0502020204030204" charset="0"/>
                <a:cs typeface="Calibri" panose="020F0502020204030204" charset="0"/>
              </a:rPr>
              <a:t> Consequently, it is best to consider architectural design as a series of decisions to be made rather than a sequence of activities.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因此，最好将体系结构设计看成一系列要做的决策而不是一序列的活动</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tretch>
            <a:fillRect/>
          </a:stretch>
        </p:blipFill>
        <p:spPr>
          <a:xfrm>
            <a:off x="82550" y="703580"/>
            <a:ext cx="9018270" cy="4919980"/>
          </a:xfrm>
          <a:prstGeom prst="rect">
            <a:avLst/>
          </a:prstGeom>
        </p:spPr>
      </p:pic>
      <p:sp>
        <p:nvSpPr>
          <p:cNvPr id="7" name="Rectangle 3"/>
          <p:cNvSpPr>
            <a:spLocks noGrp="1" noRot="1"/>
          </p:cNvSpPr>
          <p:nvPr>
            <p:ph type="subTitle" idx="1"/>
            <p:custDataLst>
              <p:tags r:id="rId2"/>
            </p:custDataLst>
          </p:nvPr>
        </p:nvSpPr>
        <p:spPr>
          <a:xfrm>
            <a:off x="88900" y="66040"/>
            <a:ext cx="8977630" cy="56578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Architecture </a:t>
            </a:r>
            <a:r>
              <a:rPr lang="en-US" altLang="zh-CN" sz="3200" dirty="0">
                <a:solidFill>
                  <a:schemeClr val="accent1">
                    <a:lumMod val="75000"/>
                  </a:schemeClr>
                </a:solidFill>
                <a:ea typeface="宋体" panose="02010600030101010101" pitchFamily="2" charset="-122"/>
                <a:sym typeface="+mn-ea"/>
              </a:rPr>
              <a:t>design decisions</a:t>
            </a:r>
            <a:endParaRPr lang="en-US" altLang="zh-CN" sz="3200" dirty="0">
              <a:solidFill>
                <a:schemeClr val="accent1">
                  <a:lumMod val="75000"/>
                </a:schemeClr>
              </a:solidFill>
              <a:ea typeface="宋体" panose="02010600030101010101" pitchFamily="2" charset="-122"/>
              <a:sym typeface="+mn-ea"/>
            </a:endParaRPr>
          </a:p>
        </p:txBody>
      </p:sp>
      <p:sp>
        <p:nvSpPr>
          <p:cNvPr id="10" name="Content Placeholder 2"/>
          <p:cNvSpPr>
            <a:spLocks noGrp="1"/>
          </p:cNvSpPr>
          <p:nvPr/>
        </p:nvSpPr>
        <p:spPr>
          <a:xfrm>
            <a:off x="102235" y="5624195"/>
            <a:ext cx="8964295" cy="109791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1900" b="0" dirty="0" smtClean="0">
                <a:solidFill>
                  <a:schemeClr val="tx1"/>
                </a:solidFill>
                <a:latin typeface="Calibri" panose="020F0502020204030204" charset="0"/>
                <a:cs typeface="Calibri" panose="020F0502020204030204" charset="0"/>
              </a:rPr>
              <a:t>* During the architectural design process, system architects have to make a number of structural decisions that profoundly affect the system and its development process. </a:t>
            </a:r>
            <a:endParaRPr lang="en-US" sz="19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1900" b="0" dirty="0" smtClean="0">
                <a:solidFill>
                  <a:schemeClr val="tx1"/>
                </a:solidFill>
                <a:latin typeface="Calibri" panose="020F0502020204030204" charset="0"/>
                <a:cs typeface="Calibri" panose="020F0502020204030204" charset="0"/>
              </a:rPr>
              <a:t>* Based on their knowledge and experience, they have to consider the fundamental questions shown in Figure 6.2.</a:t>
            </a:r>
            <a:endParaRPr lang="en-US" sz="1900" b="0" dirty="0" smtClean="0">
              <a:solidFill>
                <a:schemeClr val="tx1"/>
              </a:solidFill>
              <a:latin typeface="Calibri" panose="020F0502020204030204" charset="0"/>
              <a:cs typeface="Calibri" panose="020F0502020204030204" charset="0"/>
            </a:endParaRPr>
          </a:p>
        </p:txBody>
      </p:sp>
      <p:pic>
        <p:nvPicPr>
          <p:cNvPr id="2" name="图片 1"/>
          <p:cNvPicPr>
            <a:picLocks noChangeAspect="1"/>
          </p:cNvPicPr>
          <p:nvPr/>
        </p:nvPicPr>
        <p:blipFill>
          <a:blip r:embed="rId3"/>
          <a:stretch>
            <a:fillRect/>
          </a:stretch>
        </p:blipFill>
        <p:spPr>
          <a:xfrm>
            <a:off x="6588125" y="198755"/>
            <a:ext cx="2095500" cy="504825"/>
          </a:xfrm>
          <a:prstGeom prst="rect">
            <a:avLst/>
          </a:prstGeom>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00405"/>
            <a:ext cx="8977630" cy="5867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Architecture reuse</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体系结构复用</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0850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6  Architectural Design</a:t>
            </a:r>
            <a:endParaRPr lang="en-US" altLang="zh-CN" sz="2800" dirty="0">
              <a:solidFill>
                <a:srgbClr val="660066"/>
              </a:solidFill>
              <a:ea typeface="黑体" panose="02010609060101010101" pitchFamily="49" charset="-122"/>
              <a:cs typeface="+mj-lt"/>
            </a:endParaRPr>
          </a:p>
        </p:txBody>
      </p:sp>
      <p:sp>
        <p:nvSpPr>
          <p:cNvPr id="45059" name="Rectangle 3"/>
          <p:cNvSpPr>
            <a:spLocks noGrp="1" noChangeArrowheads="1"/>
          </p:cNvSpPr>
          <p:nvPr/>
        </p:nvSpPr>
        <p:spPr>
          <a:xfrm>
            <a:off x="81280" y="1241425"/>
            <a:ext cx="8985250" cy="543052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altLang="en-GB" sz="3000" dirty="0">
                <a:solidFill>
                  <a:schemeClr val="tx2">
                    <a:lumMod val="75000"/>
                    <a:lumOff val="25000"/>
                  </a:schemeClr>
                </a:solidFill>
                <a:latin typeface="Calibri" panose="020F0502020204030204" charset="0"/>
                <a:cs typeface="Calibri" panose="020F0502020204030204" charset="0"/>
              </a:rPr>
              <a:t> Systems in the same application domain often have similar architectures that reflect the fundamental concepts of the domain.</a:t>
            </a:r>
            <a:r>
              <a:rPr lang="en-US" altLang="en-GB" sz="3200" dirty="0">
                <a:solidFill>
                  <a:schemeClr val="tx2">
                    <a:lumMod val="75000"/>
                    <a:lumOff val="25000"/>
                  </a:schemeClr>
                </a:solidFill>
                <a:latin typeface="Calibri" panose="020F0502020204030204" charset="0"/>
                <a:cs typeface="Calibri" panose="020F0502020204030204" charset="0"/>
              </a:rPr>
              <a:t> </a:t>
            </a:r>
            <a:r>
              <a:rPr lang="en-US" altLang="en-GB" sz="2800" b="0" dirty="0">
                <a:solidFill>
                  <a:schemeClr val="tx1"/>
                </a:solidFill>
                <a:latin typeface="Calibri" panose="020F0502020204030204" charset="0"/>
                <a:cs typeface="Calibri" panose="020F0502020204030204" charset="0"/>
              </a:rPr>
              <a:t>For example, application product lines are applications that are built around a core architecture with variants that satisfy specific customer requirements.</a:t>
            </a:r>
            <a:r>
              <a:rPr lang="en-US" altLang="en-GB" sz="3200" dirty="0">
                <a:solidFill>
                  <a:schemeClr val="tx2">
                    <a:lumMod val="75000"/>
                    <a:lumOff val="25000"/>
                  </a:schemeClr>
                </a:solidFill>
                <a:latin typeface="Calibri" panose="020F0502020204030204" charset="0"/>
                <a:cs typeface="Calibri" panose="020F0502020204030204" charset="0"/>
              </a:rPr>
              <a:t> </a:t>
            </a:r>
            <a:r>
              <a:rPr lang="zh-CN" altLang="en-US" dirty="0">
                <a:solidFill>
                  <a:srgbClr val="C00000"/>
                </a:solidFill>
                <a:latin typeface="黑体" panose="02010609060101010101" pitchFamily="49" charset="-122"/>
                <a:ea typeface="黑体" panose="02010609060101010101" pitchFamily="49" charset="-122"/>
                <a:cs typeface="Calibri" panose="020F0502020204030204" charset="0"/>
              </a:rPr>
              <a:t>相同应用领域的系统通常有类似的体系结构</a:t>
            </a:r>
            <a:endParaRPr lang="en-US" altLang="en-GB" dirty="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85000"/>
              </a:lnSpc>
              <a:spcBef>
                <a:spcPts val="600"/>
              </a:spcBef>
              <a:spcAft>
                <a:spcPts val="0"/>
              </a:spcAft>
            </a:pPr>
            <a:r>
              <a:rPr lang="en-US" altLang="en-GB" sz="3000" dirty="0">
                <a:solidFill>
                  <a:schemeClr val="tx2">
                    <a:lumMod val="75000"/>
                    <a:lumOff val="25000"/>
                  </a:schemeClr>
                </a:solidFill>
                <a:latin typeface="Calibri" panose="020F0502020204030204" charset="0"/>
                <a:cs typeface="Calibri" panose="020F0502020204030204" charset="0"/>
              </a:rPr>
              <a:t> The architecture of a software system may be based on a particular Architectural pattern or style.  </a:t>
            </a:r>
            <a:r>
              <a:rPr lang="en-US" altLang="en-GB" sz="2800" b="0" dirty="0">
                <a:solidFill>
                  <a:schemeClr val="tx1"/>
                </a:solidFill>
                <a:latin typeface="Calibri" panose="020F0502020204030204" charset="0"/>
                <a:cs typeface="Calibri" panose="020F0502020204030204" charset="0"/>
              </a:rPr>
              <a:t>Architectural patterns capture the essence of an architecture that has been used in different software systems. You should be aware of common patterns, where they can be used, and their strengths and weaknesses when making decisions about the architecture of a system. </a:t>
            </a:r>
            <a:r>
              <a:rPr lang="zh-CN" altLang="en-US" sz="2400" dirty="0">
                <a:solidFill>
                  <a:srgbClr val="C00000"/>
                </a:solidFill>
                <a:latin typeface="黑体" panose="02010609060101010101" pitchFamily="49" charset="-122"/>
                <a:ea typeface="黑体" panose="02010609060101010101" pitchFamily="49" charset="-122"/>
                <a:cs typeface="Calibri" panose="020F0502020204030204" charset="0"/>
              </a:rPr>
              <a:t>软件系统的</a:t>
            </a:r>
            <a:r>
              <a:rPr lang="zh-CN" altLang="en-US" dirty="0">
                <a:solidFill>
                  <a:srgbClr val="C00000"/>
                </a:solidFill>
                <a:latin typeface="黑体" panose="02010609060101010101" pitchFamily="49" charset="-122"/>
                <a:ea typeface="黑体" panose="02010609060101010101" pitchFamily="49" charset="-122"/>
                <a:cs typeface="Calibri" panose="020F0502020204030204" charset="0"/>
                <a:sym typeface="+mn-ea"/>
              </a:rPr>
              <a:t>体系结构可基于特定的体系结构模式</a:t>
            </a:r>
            <a:r>
              <a:rPr lang="zh-CN" altLang="en-US" sz="2400" dirty="0">
                <a:solidFill>
                  <a:srgbClr val="C00000"/>
                </a:solidFill>
                <a:latin typeface="黑体" panose="02010609060101010101" pitchFamily="49" charset="-122"/>
                <a:ea typeface="黑体" panose="02010609060101010101" pitchFamily="49" charset="-122"/>
                <a:cs typeface="Calibri" panose="020F0502020204030204" charset="0"/>
              </a:rPr>
              <a:t>或风格</a:t>
            </a:r>
            <a:endParaRPr lang="zh-CN" altLang="en-US" sz="2400" dirty="0">
              <a:solidFill>
                <a:srgbClr val="C00000"/>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00100"/>
            <a:ext cx="8977630" cy="1494155"/>
          </a:xfrm>
        </p:spPr>
        <p:txBody>
          <a:bodyPr vert="horz" wrap="square" lIns="91440" tIns="45720" rIns="91440" bIns="45720" anchor="t" anchorCtr="0">
            <a:noAutofit/>
          </a:bodyPr>
          <a:p>
            <a:pPr algn="l" eaLnBrk="1" latinLnBrk="0" hangingPunct="1">
              <a:lnSpc>
                <a:spcPct val="85000"/>
              </a:lnSpc>
              <a:spcBef>
                <a:spcPts val="600"/>
              </a:spcBef>
              <a:buSzTx/>
              <a:buFont typeface="Wingdings" panose="05000000000000000000" pitchFamily="2" charset="2"/>
              <a:buChar char="§"/>
            </a:pPr>
            <a:r>
              <a:rPr lang="en-US" altLang="zh-CN" sz="2700" dirty="0">
                <a:solidFill>
                  <a:schemeClr val="accent1">
                    <a:lumMod val="75000"/>
                  </a:schemeClr>
                </a:solidFill>
                <a:ea typeface="宋体" panose="02010600030101010101" pitchFamily="2" charset="-122"/>
                <a:sym typeface="+mn-ea"/>
              </a:rPr>
              <a:t> T</a:t>
            </a:r>
            <a:r>
              <a:rPr lang="zh-CN" altLang="en-US" sz="2700" dirty="0">
                <a:solidFill>
                  <a:schemeClr val="accent1">
                    <a:lumMod val="75000"/>
                  </a:schemeClr>
                </a:solidFill>
                <a:ea typeface="宋体" panose="02010600030101010101" pitchFamily="2" charset="-122"/>
                <a:sym typeface="+mn-ea"/>
              </a:rPr>
              <a:t>he choice of</a:t>
            </a:r>
            <a:r>
              <a:rPr lang="en-US" altLang="zh-CN" sz="2700" dirty="0">
                <a:solidFill>
                  <a:schemeClr val="accent1">
                    <a:lumMod val="75000"/>
                  </a:schemeClr>
                </a:solidFill>
                <a:ea typeface="宋体" panose="02010600030101010101" pitchFamily="2" charset="-122"/>
                <a:sym typeface="+mn-ea"/>
              </a:rPr>
              <a:t> </a:t>
            </a:r>
            <a:r>
              <a:rPr lang="zh-CN" altLang="en-US" sz="2700" dirty="0">
                <a:solidFill>
                  <a:schemeClr val="accent1">
                    <a:lumMod val="75000"/>
                  </a:schemeClr>
                </a:solidFill>
                <a:ea typeface="宋体" panose="02010600030101010101" pitchFamily="2" charset="-122"/>
                <a:sym typeface="+mn-ea"/>
              </a:rPr>
              <a:t>architectural style and structure should</a:t>
            </a:r>
            <a:r>
              <a:rPr lang="en-US" altLang="zh-CN" sz="2700" dirty="0">
                <a:solidFill>
                  <a:schemeClr val="accent1">
                    <a:lumMod val="75000"/>
                  </a:schemeClr>
                </a:solidFill>
                <a:ea typeface="宋体" panose="02010600030101010101" pitchFamily="2" charset="-122"/>
                <a:sym typeface="+mn-ea"/>
              </a:rPr>
              <a:t> </a:t>
            </a:r>
            <a:r>
              <a:rPr lang="zh-CN" altLang="en-US" sz="2700" dirty="0">
                <a:solidFill>
                  <a:schemeClr val="accent1">
                    <a:lumMod val="75000"/>
                  </a:schemeClr>
                </a:solidFill>
                <a:ea typeface="宋体" panose="02010600030101010101" pitchFamily="2" charset="-122"/>
                <a:sym typeface="+mn-ea"/>
              </a:rPr>
              <a:t>depend on the non-functional requirements of the system</a:t>
            </a:r>
            <a:r>
              <a:rPr lang="en-US" altLang="zh-CN" sz="2700" dirty="0">
                <a:solidFill>
                  <a:schemeClr val="accent1">
                    <a:lumMod val="75000"/>
                  </a:schemeClr>
                </a:solidFill>
                <a:ea typeface="宋体" panose="02010600030101010101" pitchFamily="2" charset="-122"/>
                <a:sym typeface="+mn-ea"/>
              </a:rPr>
              <a:t> </a:t>
            </a:r>
            <a:r>
              <a:rPr lang="zh-CN" altLang="en-US" sz="2700" dirty="0">
                <a:solidFill>
                  <a:schemeClr val="accent1">
                    <a:lumMod val="75000"/>
                  </a:schemeClr>
                </a:solidFill>
                <a:ea typeface="宋体" panose="02010600030101010101" pitchFamily="2" charset="-122"/>
                <a:sym typeface="+mn-ea"/>
              </a:rPr>
              <a:t>because of the close relationship between </a:t>
            </a:r>
            <a:r>
              <a:rPr lang="en-US" altLang="zh-CN" sz="2700" dirty="0">
                <a:solidFill>
                  <a:schemeClr val="accent1">
                    <a:lumMod val="75000"/>
                  </a:schemeClr>
                </a:solidFill>
                <a:ea typeface="宋体" panose="02010600030101010101" pitchFamily="2" charset="-122"/>
                <a:sym typeface="+mn-ea"/>
              </a:rPr>
              <a:t>them:  </a:t>
            </a:r>
            <a:r>
              <a:rPr lang="zh-CN" altLang="en-US" sz="2400" kern="1200" dirty="0">
                <a:solidFill>
                  <a:srgbClr val="C00000"/>
                </a:solidFill>
                <a:latin typeface="黑体" panose="02010609060101010101" pitchFamily="49" charset="-122"/>
                <a:ea typeface="黑体" panose="02010609060101010101" pitchFamily="49" charset="-122"/>
                <a:cs typeface="Calibri" panose="020F0502020204030204" charset="0"/>
                <a:sym typeface="+mn-ea"/>
              </a:rPr>
              <a:t>体系结构风格的选择取决于非功能需求</a:t>
            </a:r>
            <a:endParaRPr lang="zh-CN" altLang="en-US" sz="2400" kern="1200" dirty="0">
              <a:solidFill>
                <a:srgbClr val="C00000"/>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50850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6  Architectural Design</a:t>
            </a:r>
            <a:endParaRPr lang="en-US" altLang="zh-CN" sz="2800" dirty="0">
              <a:solidFill>
                <a:srgbClr val="660066"/>
              </a:solidFill>
              <a:ea typeface="黑体" panose="02010609060101010101" pitchFamily="49" charset="-122"/>
              <a:cs typeface="+mj-lt"/>
            </a:endParaRPr>
          </a:p>
        </p:txBody>
      </p:sp>
      <p:sp>
        <p:nvSpPr>
          <p:cNvPr id="50179" name="Rectangle 3"/>
          <p:cNvSpPr>
            <a:spLocks noGrp="1" noChangeArrowheads="1"/>
          </p:cNvSpPr>
          <p:nvPr/>
        </p:nvSpPr>
        <p:spPr>
          <a:xfrm>
            <a:off x="88265" y="2245995"/>
            <a:ext cx="8978265" cy="432181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000" dirty="0">
                <a:solidFill>
                  <a:schemeClr val="accent2">
                    <a:lumMod val="75000"/>
                  </a:schemeClr>
                </a:solidFill>
                <a:latin typeface="Calibri" panose="020F0502020204030204" charset="0"/>
                <a:cs typeface="Calibri" panose="020F0502020204030204" charset="0"/>
              </a:rPr>
              <a:t> Performance: </a:t>
            </a:r>
            <a:r>
              <a:rPr lang="en-US" sz="2600" b="0" dirty="0">
                <a:solidFill>
                  <a:schemeClr val="tx1"/>
                </a:solidFill>
                <a:latin typeface="Calibri" panose="020F0502020204030204" charset="0"/>
                <a:cs typeface="Calibri" panose="020F0502020204030204" charset="0"/>
                <a:sym typeface="+mn-ea"/>
              </a:rPr>
              <a:t>Localize critical operations within a small number of components and </a:t>
            </a:r>
            <a:r>
              <a:rPr lang="en-US" sz="2600" b="0" dirty="0" err="1">
                <a:solidFill>
                  <a:schemeClr val="tx1"/>
                </a:solidFill>
                <a:latin typeface="Calibri" panose="020F0502020204030204" charset="0"/>
                <a:cs typeface="Calibri" panose="020F0502020204030204" charset="0"/>
              </a:rPr>
              <a:t>minimise</a:t>
            </a:r>
            <a:r>
              <a:rPr lang="en-US" sz="2600" b="0" dirty="0">
                <a:solidFill>
                  <a:schemeClr val="tx1"/>
                </a:solidFill>
                <a:latin typeface="Calibri" panose="020F0502020204030204" charset="0"/>
                <a:cs typeface="Calibri" panose="020F0502020204030204" charset="0"/>
              </a:rPr>
              <a:t> communications. Use large rather than fine-grain components.</a:t>
            </a:r>
            <a:r>
              <a:rPr lang="en-US" sz="2600" b="0" dirty="0">
                <a:latin typeface="Calibri" panose="020F0502020204030204" charset="0"/>
                <a:cs typeface="Calibri" panose="020F0502020204030204" charset="0"/>
              </a:rPr>
              <a:t>  </a:t>
            </a:r>
            <a:r>
              <a:rPr lang="zh-CN" altLang="en-US" sz="2400" dirty="0">
                <a:solidFill>
                  <a:srgbClr val="C00000"/>
                </a:solidFill>
                <a:latin typeface="黑体" panose="02010609060101010101" pitchFamily="49" charset="-122"/>
                <a:ea typeface="黑体" panose="02010609060101010101" pitchFamily="49" charset="-122"/>
                <a:cs typeface="Calibri" panose="020F0502020204030204" charset="0"/>
              </a:rPr>
              <a:t> 性能</a:t>
            </a:r>
            <a:endParaRPr lang="en-US" sz="2700" b="0" dirty="0">
              <a:latin typeface="Calibri" panose="020F0502020204030204" charset="0"/>
              <a:cs typeface="Calibri" panose="020F0502020204030204" charset="0"/>
            </a:endParaRPr>
          </a:p>
          <a:p>
            <a:pPr>
              <a:lnSpc>
                <a:spcPct val="85000"/>
              </a:lnSpc>
              <a:spcBef>
                <a:spcPts val="600"/>
              </a:spcBef>
              <a:spcAft>
                <a:spcPts val="0"/>
              </a:spcAft>
            </a:pPr>
            <a:r>
              <a:rPr lang="en-US" sz="3000" dirty="0">
                <a:solidFill>
                  <a:schemeClr val="accent2">
                    <a:lumMod val="75000"/>
                  </a:schemeClr>
                </a:solidFill>
                <a:latin typeface="Calibri" panose="020F0502020204030204" charset="0"/>
                <a:cs typeface="Calibri" panose="020F0502020204030204" charset="0"/>
              </a:rPr>
              <a:t> Security: </a:t>
            </a:r>
            <a:r>
              <a:rPr lang="en-US" sz="2600" b="0" dirty="0">
                <a:solidFill>
                  <a:schemeClr val="tx1"/>
                </a:solidFill>
                <a:latin typeface="Calibri" panose="020F0502020204030204" charset="0"/>
                <a:cs typeface="Calibri" panose="020F0502020204030204" charset="0"/>
              </a:rPr>
              <a:t>Use a layered architecture, with the most critical assets protected in the innermost layers.</a:t>
            </a:r>
            <a:r>
              <a:rPr lang="en-US" sz="2600" b="0" dirty="0">
                <a:latin typeface="Calibri" panose="020F0502020204030204" charset="0"/>
                <a:cs typeface="Calibri" panose="020F0502020204030204" charset="0"/>
              </a:rPr>
              <a:t>    </a:t>
            </a:r>
            <a:r>
              <a:rPr lang="zh-CN" altLang="en-US" sz="2400" dirty="0">
                <a:solidFill>
                  <a:srgbClr val="C00000"/>
                </a:solidFill>
                <a:latin typeface="黑体" panose="02010609060101010101" pitchFamily="49" charset="-122"/>
                <a:ea typeface="黑体" panose="02010609060101010101" pitchFamily="49" charset="-122"/>
                <a:cs typeface="Calibri" panose="020F0502020204030204" charset="0"/>
              </a:rPr>
              <a:t>信息安全</a:t>
            </a:r>
            <a:endParaRPr lang="en-US" sz="2600" b="0" dirty="0">
              <a:latin typeface="Calibri" panose="020F0502020204030204" charset="0"/>
              <a:cs typeface="Calibri" panose="020F0502020204030204" charset="0"/>
            </a:endParaRPr>
          </a:p>
          <a:p>
            <a:pPr>
              <a:lnSpc>
                <a:spcPct val="85000"/>
              </a:lnSpc>
              <a:spcBef>
                <a:spcPts val="600"/>
              </a:spcBef>
              <a:spcAft>
                <a:spcPts val="0"/>
              </a:spcAft>
            </a:pPr>
            <a:r>
              <a:rPr lang="en-US" sz="3000" dirty="0">
                <a:solidFill>
                  <a:schemeClr val="accent2">
                    <a:lumMod val="75000"/>
                  </a:schemeClr>
                </a:solidFill>
                <a:latin typeface="Calibri" panose="020F0502020204030204" charset="0"/>
                <a:cs typeface="Calibri" panose="020F0502020204030204" charset="0"/>
              </a:rPr>
              <a:t> Safety:</a:t>
            </a:r>
            <a:r>
              <a:rPr lang="en-US" sz="3000" dirty="0">
                <a:solidFill>
                  <a:schemeClr val="tx1"/>
                </a:solidFill>
                <a:latin typeface="Calibri" panose="020F0502020204030204" charset="0"/>
                <a:cs typeface="Calibri" panose="020F0502020204030204" charset="0"/>
              </a:rPr>
              <a:t> </a:t>
            </a:r>
            <a:r>
              <a:rPr lang="en-US" sz="2600" b="0" dirty="0">
                <a:solidFill>
                  <a:schemeClr val="tx1"/>
                </a:solidFill>
                <a:latin typeface="Calibri" panose="020F0502020204030204" charset="0"/>
                <a:cs typeface="Calibri" panose="020F0502020204030204" charset="0"/>
              </a:rPr>
              <a:t>Safety-related operations are co-located in a single component or in a small number of components.</a:t>
            </a:r>
            <a:r>
              <a:rPr lang="en-US" sz="2600" b="0" dirty="0">
                <a:latin typeface="Calibri" panose="020F0502020204030204" charset="0"/>
                <a:cs typeface="Calibri" panose="020F0502020204030204" charset="0"/>
              </a:rPr>
              <a:t>   </a:t>
            </a:r>
            <a:r>
              <a:rPr lang="zh-CN" altLang="en-US" sz="2400" dirty="0">
                <a:solidFill>
                  <a:srgbClr val="C00000"/>
                </a:solidFill>
                <a:latin typeface="黑体" panose="02010609060101010101" pitchFamily="49" charset="-122"/>
                <a:ea typeface="黑体" panose="02010609060101010101" pitchFamily="49" charset="-122"/>
                <a:cs typeface="Calibri" panose="020F0502020204030204" charset="0"/>
              </a:rPr>
              <a:t>安全性</a:t>
            </a:r>
            <a:endParaRPr lang="en-US" sz="2600" b="0" dirty="0">
              <a:latin typeface="Calibri" panose="020F0502020204030204" charset="0"/>
              <a:cs typeface="Calibri" panose="020F0502020204030204" charset="0"/>
            </a:endParaRPr>
          </a:p>
          <a:p>
            <a:pPr>
              <a:lnSpc>
                <a:spcPct val="85000"/>
              </a:lnSpc>
              <a:spcBef>
                <a:spcPts val="600"/>
              </a:spcBef>
              <a:spcAft>
                <a:spcPts val="0"/>
              </a:spcAft>
            </a:pPr>
            <a:r>
              <a:rPr lang="en-US" sz="3000" dirty="0">
                <a:solidFill>
                  <a:schemeClr val="accent2">
                    <a:lumMod val="75000"/>
                  </a:schemeClr>
                </a:solidFill>
                <a:latin typeface="Calibri" panose="020F0502020204030204" charset="0"/>
                <a:cs typeface="Calibri" panose="020F0502020204030204" charset="0"/>
              </a:rPr>
              <a:t> Availability:</a:t>
            </a:r>
            <a:r>
              <a:rPr lang="en-US" sz="2600" b="0" dirty="0">
                <a:solidFill>
                  <a:schemeClr val="tx1"/>
                </a:solidFill>
                <a:latin typeface="Calibri" panose="020F0502020204030204" charset="0"/>
                <a:cs typeface="Calibri" panose="020F0502020204030204" charset="0"/>
              </a:rPr>
              <a:t> Include redundant components so as to replace and update components without stopping the system. </a:t>
            </a:r>
            <a:r>
              <a:rPr lang="zh-CN" altLang="en-US" sz="2400" dirty="0">
                <a:solidFill>
                  <a:srgbClr val="C00000"/>
                </a:solidFill>
                <a:latin typeface="黑体" panose="02010609060101010101" pitchFamily="49" charset="-122"/>
                <a:ea typeface="黑体" panose="02010609060101010101" pitchFamily="49" charset="-122"/>
                <a:cs typeface="Calibri" panose="020F0502020204030204" charset="0"/>
              </a:rPr>
              <a:t>可用性</a:t>
            </a:r>
            <a:endParaRPr lang="zh-CN" altLang="en-US" sz="2400" dirty="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85000"/>
              </a:lnSpc>
              <a:spcBef>
                <a:spcPts val="600"/>
              </a:spcBef>
              <a:spcAft>
                <a:spcPts val="0"/>
              </a:spcAft>
            </a:pPr>
            <a:r>
              <a:rPr lang="en-US" sz="3000" dirty="0">
                <a:solidFill>
                  <a:schemeClr val="accent2">
                    <a:lumMod val="75000"/>
                  </a:schemeClr>
                </a:solidFill>
                <a:latin typeface="Calibri" panose="020F0502020204030204" charset="0"/>
                <a:cs typeface="Calibri" panose="020F0502020204030204" charset="0"/>
              </a:rPr>
              <a:t> Maintainability: </a:t>
            </a:r>
            <a:r>
              <a:rPr lang="en-US" sz="2600" b="0" dirty="0">
                <a:solidFill>
                  <a:schemeClr val="tx1"/>
                </a:solidFill>
                <a:latin typeface="Calibri" panose="020F0502020204030204" charset="0"/>
                <a:cs typeface="Calibri" panose="020F0502020204030204" charset="0"/>
              </a:rPr>
              <a:t>Use fine-grain, self-contained components that may readily be changed.</a:t>
            </a:r>
            <a:r>
              <a:rPr lang="en-US" sz="2600" b="0" dirty="0">
                <a:latin typeface="Calibri" panose="020F0502020204030204" charset="0"/>
                <a:cs typeface="Calibri" panose="020F0502020204030204" charset="0"/>
              </a:rPr>
              <a:t>  </a:t>
            </a:r>
            <a:r>
              <a:rPr lang="zh-CN" altLang="en-US" sz="2400" dirty="0">
                <a:solidFill>
                  <a:srgbClr val="C00000"/>
                </a:solidFill>
                <a:latin typeface="黑体" panose="02010609060101010101" pitchFamily="49" charset="-122"/>
                <a:ea typeface="黑体" panose="02010609060101010101" pitchFamily="49" charset="-122"/>
                <a:cs typeface="Calibri" panose="020F0502020204030204" charset="0"/>
              </a:rPr>
              <a:t>可维护性</a:t>
            </a:r>
            <a:endParaRPr lang="zh-CN" altLang="en-US" sz="2600" b="0" dirty="0">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5970"/>
            <a:ext cx="8977630" cy="68072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200" dirty="0">
                <a:solidFill>
                  <a:schemeClr val="accent1">
                    <a:lumMod val="75000"/>
                  </a:schemeClr>
                </a:solidFill>
                <a:ea typeface="宋体" panose="02010600030101010101" pitchFamily="2" charset="-122"/>
                <a:sym typeface="+mn-ea"/>
              </a:rPr>
              <a:t> 6.2 Architectural views</a:t>
            </a:r>
            <a:r>
              <a:rPr lang="en-US" altLang="zh-CN" sz="3200" dirty="0">
                <a:solidFill>
                  <a:schemeClr val="accent1">
                    <a:lumMod val="75000"/>
                  </a:schemeClr>
                </a:solidFill>
                <a:ea typeface="宋体" panose="02010600030101010101" pitchFamily="2" charset="-122"/>
                <a:sym typeface="+mn-ea"/>
              </a:rPr>
              <a:t>  </a:t>
            </a:r>
            <a:r>
              <a:rPr lang="zh-CN" altLang="en-US" sz="2400" kern="1200" dirty="0">
                <a:solidFill>
                  <a:srgbClr val="C00000"/>
                </a:solidFill>
                <a:latin typeface="黑体" panose="02010609060101010101" pitchFamily="49" charset="-122"/>
                <a:ea typeface="黑体" panose="02010609060101010101" pitchFamily="49" charset="-122"/>
                <a:cs typeface="Calibri" panose="020F0502020204030204" charset="0"/>
                <a:sym typeface="+mn-ea"/>
              </a:rPr>
              <a:t>体系结构视图</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50850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6  Architectural Design</a:t>
            </a:r>
            <a:endParaRPr lang="en-US" altLang="zh-CN" sz="2800" dirty="0">
              <a:solidFill>
                <a:srgbClr val="660066"/>
              </a:solidFill>
              <a:ea typeface="黑体" panose="02010609060101010101" pitchFamily="49" charset="-122"/>
              <a:cs typeface="+mj-lt"/>
            </a:endParaRPr>
          </a:p>
        </p:txBody>
      </p:sp>
      <p:sp>
        <p:nvSpPr>
          <p:cNvPr id="45059" name="Rectangle 3"/>
          <p:cNvSpPr>
            <a:spLocks noGrp="1" noChangeArrowheads="1"/>
          </p:cNvSpPr>
          <p:nvPr/>
        </p:nvSpPr>
        <p:spPr>
          <a:xfrm>
            <a:off x="60325" y="1384935"/>
            <a:ext cx="9006205" cy="524065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altLang="en-GB" sz="3000" dirty="0">
                <a:solidFill>
                  <a:schemeClr val="tx2">
                    <a:lumMod val="75000"/>
                    <a:lumOff val="25000"/>
                  </a:schemeClr>
                </a:solidFill>
                <a:latin typeface="Calibri" panose="020F0502020204030204" charset="0"/>
                <a:cs typeface="Calibri" panose="020F0502020204030204" charset="0"/>
              </a:rPr>
              <a:t> </a:t>
            </a:r>
            <a:r>
              <a:rPr lang="en-US" altLang="en-GB" sz="3200" dirty="0">
                <a:solidFill>
                  <a:schemeClr val="tx2">
                    <a:lumMod val="75000"/>
                    <a:lumOff val="25000"/>
                  </a:schemeClr>
                </a:solidFill>
                <a:latin typeface="Calibri" panose="020F0502020204030204" charset="0"/>
                <a:cs typeface="Calibri" panose="020F0502020204030204" charset="0"/>
              </a:rPr>
              <a:t>Two priblems:</a:t>
            </a:r>
            <a:r>
              <a:rPr lang="en-US" altLang="en-GB" sz="3000" dirty="0">
                <a:solidFill>
                  <a:schemeClr val="tx2">
                    <a:lumMod val="75000"/>
                    <a:lumOff val="25000"/>
                  </a:schemeClr>
                </a:solidFill>
                <a:latin typeface="Calibri" panose="020F0502020204030204" charset="0"/>
                <a:cs typeface="Calibri" panose="020F0502020204030204" charset="0"/>
              </a:rPr>
              <a:t> </a:t>
            </a:r>
            <a:r>
              <a:rPr lang="en-US" altLang="en-GB" sz="2800" b="0" dirty="0">
                <a:solidFill>
                  <a:schemeClr val="tx1"/>
                </a:solidFill>
                <a:latin typeface="Symbol" panose="05050102010706020507" charset="0"/>
                <a:ea typeface="宋体" panose="02010600030101010101" pitchFamily="2" charset="-122"/>
                <a:cs typeface="Calibri" panose="020F0502020204030204" charset="0"/>
              </a:rPr>
              <a:t>①</a:t>
            </a:r>
            <a:r>
              <a:rPr lang="en-US" altLang="en-GB" sz="2800" b="0" dirty="0">
                <a:solidFill>
                  <a:schemeClr val="tx1"/>
                </a:solidFill>
                <a:latin typeface="Calibri" panose="020F0502020204030204" charset="0"/>
                <a:cs typeface="Calibri" panose="020F0502020204030204" charset="0"/>
              </a:rPr>
              <a:t> What views or perspectives are useful when designing and documenting a system’s architecture? </a:t>
            </a:r>
            <a:r>
              <a:rPr lang="en-US" altLang="en-GB" sz="2800" b="0" dirty="0">
                <a:solidFill>
                  <a:schemeClr val="tx1"/>
                </a:solidFill>
                <a:latin typeface="Symbol" panose="05050102010706020507" charset="0"/>
                <a:ea typeface="宋体" panose="02010600030101010101" pitchFamily="2" charset="-122"/>
                <a:cs typeface="Calibri" panose="020F0502020204030204" charset="0"/>
              </a:rPr>
              <a:t>②</a:t>
            </a:r>
            <a:r>
              <a:rPr lang="en-US" altLang="en-GB" sz="2800" b="0" dirty="0">
                <a:solidFill>
                  <a:schemeClr val="tx1"/>
                </a:solidFill>
                <a:latin typeface="Calibri" panose="020F0502020204030204" charset="0"/>
                <a:cs typeface="Calibri" panose="020F0502020204030204" charset="0"/>
              </a:rPr>
              <a:t> What notations should be used for describing architectural models?  </a:t>
            </a:r>
            <a:r>
              <a:rPr lang="zh-CN" altLang="en-US" sz="2000" dirty="0">
                <a:solidFill>
                  <a:srgbClr val="C00000"/>
                </a:solidFill>
                <a:latin typeface="黑体" panose="02010609060101010101" pitchFamily="49" charset="-122"/>
                <a:ea typeface="黑体" panose="02010609060101010101" pitchFamily="49" charset="-122"/>
                <a:cs typeface="Calibri" panose="020F0502020204030204" charset="0"/>
              </a:rPr>
              <a:t>两个问题</a:t>
            </a:r>
            <a:r>
              <a:rPr lang="en-US" altLang="zh-CN" sz="2000" dirty="0">
                <a:solidFill>
                  <a:srgbClr val="C00000"/>
                </a:solidFill>
                <a:latin typeface="黑体" panose="02010609060101010101" pitchFamily="49" charset="-122"/>
                <a:ea typeface="黑体" panose="02010609060101010101" pitchFamily="49" charset="-122"/>
                <a:cs typeface="Calibri" panose="020F0502020204030204" charset="0"/>
              </a:rPr>
              <a:t>: </a:t>
            </a:r>
            <a:r>
              <a:rPr lang="zh-CN" altLang="en-US" sz="2000" dirty="0">
                <a:solidFill>
                  <a:srgbClr val="C00000"/>
                </a:solidFill>
                <a:latin typeface="黑体" panose="02010609060101010101" pitchFamily="49" charset="-122"/>
                <a:ea typeface="黑体" panose="02010609060101010101" pitchFamily="49" charset="-122"/>
                <a:cs typeface="Calibri" panose="020F0502020204030204" charset="0"/>
              </a:rPr>
              <a:t>什么视图或视角是有用的？应该用什么表示法？</a:t>
            </a:r>
            <a:endParaRPr lang="zh-CN" altLang="en-US" sz="2400" dirty="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85000"/>
              </a:lnSpc>
              <a:spcBef>
                <a:spcPts val="600"/>
              </a:spcBef>
              <a:spcAft>
                <a:spcPts val="0"/>
              </a:spcAft>
            </a:pPr>
            <a:r>
              <a:rPr lang="en-US" sz="3200" dirty="0">
                <a:solidFill>
                  <a:schemeClr val="tx2">
                    <a:lumMod val="75000"/>
                    <a:lumOff val="25000"/>
                  </a:schemeClr>
                </a:solidFill>
                <a:latin typeface="Calibri" panose="020F0502020204030204" charset="0"/>
                <a:cs typeface="Calibri" panose="020F0502020204030204" charset="0"/>
              </a:rPr>
              <a:t> A</a:t>
            </a:r>
            <a:r>
              <a:rPr lang="en-GB" sz="3200" dirty="0">
                <a:solidFill>
                  <a:schemeClr val="tx2">
                    <a:lumMod val="75000"/>
                    <a:lumOff val="25000"/>
                  </a:schemeClr>
                </a:solidFill>
                <a:latin typeface="Calibri" panose="020F0502020204030204" charset="0"/>
                <a:cs typeface="Calibri" panose="020F0502020204030204" charset="0"/>
              </a:rPr>
              <a:t> graphical model can only show one view or perspective of</a:t>
            </a:r>
            <a:r>
              <a:rPr lang="en-US" altLang="en-GB" sz="3200" dirty="0">
                <a:solidFill>
                  <a:schemeClr val="tx2">
                    <a:lumMod val="75000"/>
                    <a:lumOff val="25000"/>
                  </a:schemeClr>
                </a:solidFill>
                <a:latin typeface="Calibri" panose="020F0502020204030204" charset="0"/>
                <a:cs typeface="Calibri" panose="020F0502020204030204" charset="0"/>
              </a:rPr>
              <a:t> </a:t>
            </a:r>
            <a:r>
              <a:rPr lang="en-GB" sz="3200" dirty="0">
                <a:solidFill>
                  <a:schemeClr val="tx2">
                    <a:lumMod val="75000"/>
                    <a:lumOff val="25000"/>
                  </a:schemeClr>
                </a:solidFill>
                <a:latin typeface="Calibri" panose="020F0502020204030204" charset="0"/>
                <a:cs typeface="Calibri" panose="020F0502020204030204" charset="0"/>
              </a:rPr>
              <a:t>the system.</a:t>
            </a:r>
            <a:r>
              <a:rPr lang="en-GB" sz="3000" dirty="0">
                <a:solidFill>
                  <a:schemeClr val="tx2">
                    <a:lumMod val="75000"/>
                    <a:lumOff val="25000"/>
                  </a:schemeClr>
                </a:solidFill>
                <a:latin typeface="Calibri" panose="020F0502020204030204" charset="0"/>
                <a:cs typeface="Calibri" panose="020F0502020204030204" charset="0"/>
              </a:rPr>
              <a:t> </a:t>
            </a:r>
            <a:r>
              <a:rPr lang="en-GB" sz="2800" b="0" dirty="0">
                <a:solidFill>
                  <a:schemeClr val="tx1"/>
                </a:solidFill>
                <a:latin typeface="Calibri" panose="020F0502020204030204" charset="0"/>
                <a:cs typeface="Calibri" panose="020F0502020204030204" charset="0"/>
              </a:rPr>
              <a:t>It m</a:t>
            </a:r>
            <a:r>
              <a:rPr lang="en-US" altLang="en-GB" sz="2800" b="0" dirty="0">
                <a:solidFill>
                  <a:schemeClr val="tx1"/>
                </a:solidFill>
                <a:latin typeface="Calibri" panose="020F0502020204030204" charset="0"/>
                <a:cs typeface="Calibri" panose="020F0502020204030204" charset="0"/>
              </a:rPr>
              <a:t>ight</a:t>
            </a:r>
            <a:r>
              <a:rPr lang="en-GB" sz="2800" b="0" dirty="0">
                <a:solidFill>
                  <a:schemeClr val="tx1"/>
                </a:solidFill>
                <a:latin typeface="Calibri" panose="020F0502020204030204" charset="0"/>
                <a:cs typeface="Calibri" panose="020F0502020204030204" charset="0"/>
              </a:rPr>
              <a:t> show how a system is decomposed into modules, how the</a:t>
            </a:r>
            <a:r>
              <a:rPr lang="en-US" altLang="en-GB" sz="2800" b="0" dirty="0">
                <a:solidFill>
                  <a:schemeClr val="tx1"/>
                </a:solidFill>
                <a:latin typeface="Calibri" panose="020F0502020204030204" charset="0"/>
                <a:cs typeface="Calibri" panose="020F0502020204030204" charset="0"/>
              </a:rPr>
              <a:t> </a:t>
            </a:r>
            <a:r>
              <a:rPr lang="en-GB" sz="2800" b="0" dirty="0">
                <a:solidFill>
                  <a:schemeClr val="tx1"/>
                </a:solidFill>
                <a:latin typeface="Calibri" panose="020F0502020204030204" charset="0"/>
                <a:cs typeface="Calibri" panose="020F0502020204030204" charset="0"/>
              </a:rPr>
              <a:t>runtime processes interact, or the different ways in which system components are</a:t>
            </a:r>
            <a:r>
              <a:rPr lang="en-US" altLang="en-GB" sz="2800" b="0" dirty="0">
                <a:solidFill>
                  <a:schemeClr val="tx1"/>
                </a:solidFill>
                <a:latin typeface="Calibri" panose="020F0502020204030204" charset="0"/>
                <a:cs typeface="Calibri" panose="020F0502020204030204" charset="0"/>
              </a:rPr>
              <a:t> </a:t>
            </a:r>
            <a:r>
              <a:rPr lang="en-GB" sz="2800" b="0" dirty="0">
                <a:solidFill>
                  <a:schemeClr val="tx1"/>
                </a:solidFill>
                <a:latin typeface="Calibri" panose="020F0502020204030204" charset="0"/>
                <a:cs typeface="Calibri" panose="020F0502020204030204" charset="0"/>
              </a:rPr>
              <a:t>distributed. Because these are useful at different times, for</a:t>
            </a:r>
            <a:r>
              <a:rPr lang="en-US" altLang="en-GB" sz="2800" b="0" dirty="0">
                <a:solidFill>
                  <a:schemeClr val="tx1"/>
                </a:solidFill>
                <a:latin typeface="Calibri" panose="020F0502020204030204" charset="0"/>
                <a:cs typeface="Calibri" panose="020F0502020204030204" charset="0"/>
              </a:rPr>
              <a:t> </a:t>
            </a:r>
            <a:r>
              <a:rPr lang="en-GB" sz="2800" b="0" dirty="0">
                <a:solidFill>
                  <a:schemeClr val="tx1"/>
                </a:solidFill>
                <a:latin typeface="Calibri" panose="020F0502020204030204" charset="0"/>
                <a:cs typeface="Calibri" panose="020F0502020204030204" charset="0"/>
              </a:rPr>
              <a:t>both design and documentation, you usually need to present multiple views of the</a:t>
            </a:r>
            <a:r>
              <a:rPr lang="en-US" altLang="en-GB" sz="2800" b="0" dirty="0">
                <a:solidFill>
                  <a:schemeClr val="tx1"/>
                </a:solidFill>
                <a:latin typeface="Calibri" panose="020F0502020204030204" charset="0"/>
                <a:cs typeface="Calibri" panose="020F0502020204030204" charset="0"/>
              </a:rPr>
              <a:t> </a:t>
            </a:r>
            <a:r>
              <a:rPr lang="en-GB" sz="2800" b="0" dirty="0">
                <a:solidFill>
                  <a:schemeClr val="tx1"/>
                </a:solidFill>
                <a:latin typeface="Calibri" panose="020F0502020204030204" charset="0"/>
                <a:cs typeface="Calibri" panose="020F0502020204030204" charset="0"/>
              </a:rPr>
              <a:t>software architecture.</a:t>
            </a:r>
            <a:r>
              <a:rPr lang="en-US" altLang="en-GB" sz="2800" b="0" dirty="0">
                <a:solidFill>
                  <a:schemeClr val="tx1"/>
                </a:solidFill>
                <a:latin typeface="Calibri" panose="020F0502020204030204" charset="0"/>
                <a:cs typeface="Calibri" panose="020F0502020204030204" charset="0"/>
              </a:rPr>
              <a:t> </a:t>
            </a:r>
            <a:r>
              <a:rPr lang="zh-CN" altLang="en-US" sz="2000" dirty="0">
                <a:solidFill>
                  <a:srgbClr val="C00000"/>
                </a:solidFill>
                <a:latin typeface="黑体" panose="02010609060101010101" pitchFamily="49" charset="-122"/>
                <a:ea typeface="黑体" panose="02010609060101010101" pitchFamily="49" charset="-122"/>
                <a:cs typeface="Calibri" panose="020F0502020204030204" charset="0"/>
              </a:rPr>
              <a:t>一种图形模型只能展示一种视图或视角；通常需要展示软件体系结构的多种视图</a:t>
            </a:r>
            <a:endParaRPr lang="zh-CN" altLang="en-US" sz="2000" dirty="0">
              <a:solidFill>
                <a:srgbClr val="C00000"/>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9460"/>
            <a:ext cx="8977630" cy="65214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en-US" altLang="zh-CN" sz="3200" dirty="0">
                <a:solidFill>
                  <a:schemeClr val="accent1">
                    <a:lumMod val="75000"/>
                  </a:schemeClr>
                </a:solidFill>
                <a:ea typeface="宋体" panose="02010600030101010101" pitchFamily="2" charset="-122"/>
                <a:sym typeface="+mn-ea"/>
              </a:rPr>
              <a:t>Krutchen’s 4+1 view model   </a:t>
            </a:r>
            <a:r>
              <a:rPr lang="zh-CN" altLang="en-US" sz="2400" kern="1200" dirty="0">
                <a:solidFill>
                  <a:srgbClr val="C00000"/>
                </a:solidFill>
                <a:latin typeface="黑体" panose="02010609060101010101" pitchFamily="49" charset="-122"/>
                <a:ea typeface="黑体" panose="02010609060101010101" pitchFamily="49" charset="-122"/>
                <a:cs typeface="Calibri" panose="020F0502020204030204" charset="0"/>
                <a:sym typeface="+mn-ea"/>
              </a:rPr>
              <a:t>4+1视图模型</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50850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6  Architectural Design</a:t>
            </a:r>
            <a:endParaRPr lang="en-US" altLang="zh-CN" sz="2800" dirty="0">
              <a:solidFill>
                <a:srgbClr val="660066"/>
              </a:solidFill>
              <a:ea typeface="黑体" panose="02010609060101010101" pitchFamily="49" charset="-122"/>
              <a:cs typeface="+mj-lt"/>
            </a:endParaRPr>
          </a:p>
        </p:txBody>
      </p:sp>
      <p:pic>
        <p:nvPicPr>
          <p:cNvPr id="2" name="图片 1"/>
          <p:cNvPicPr>
            <a:picLocks noChangeAspect="1"/>
          </p:cNvPicPr>
          <p:nvPr/>
        </p:nvPicPr>
        <p:blipFill>
          <a:blip r:embed="rId3"/>
          <a:stretch>
            <a:fillRect/>
          </a:stretch>
        </p:blipFill>
        <p:spPr>
          <a:xfrm>
            <a:off x="2622550" y="1345565"/>
            <a:ext cx="6401435" cy="4801235"/>
          </a:xfrm>
          <a:prstGeom prst="rect">
            <a:avLst/>
          </a:prstGeom>
        </p:spPr>
      </p:pic>
      <p:sp>
        <p:nvSpPr>
          <p:cNvPr id="10" name="Content Placeholder 2"/>
          <p:cNvSpPr>
            <a:spLocks noGrp="1"/>
          </p:cNvSpPr>
          <p:nvPr/>
        </p:nvSpPr>
        <p:spPr>
          <a:xfrm>
            <a:off x="120650" y="1673225"/>
            <a:ext cx="2778125" cy="437134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Aft>
                <a:spcPts val="0"/>
              </a:spcAft>
              <a:buNone/>
            </a:pPr>
            <a:r>
              <a:rPr lang="en-US" sz="2300" b="0" dirty="0" smtClean="0">
                <a:solidFill>
                  <a:schemeClr val="tx1"/>
                </a:solidFill>
                <a:latin typeface="Calibri" panose="020F0502020204030204" charset="0"/>
                <a:cs typeface="Calibri" panose="020F0502020204030204" charset="0"/>
              </a:rPr>
              <a:t>* There are different opinions as to what views are required. </a:t>
            </a:r>
            <a:endParaRPr lang="en-US" sz="2300" b="0" dirty="0" smtClean="0">
              <a:solidFill>
                <a:schemeClr val="tx1"/>
              </a:solidFill>
              <a:latin typeface="Calibri" panose="020F0502020204030204" charset="0"/>
              <a:cs typeface="Calibri" panose="020F0502020204030204" charset="0"/>
            </a:endParaRPr>
          </a:p>
          <a:p>
            <a:pPr marL="0" indent="0">
              <a:lnSpc>
                <a:spcPct val="85000"/>
              </a:lnSpc>
              <a:spcAft>
                <a:spcPts val="0"/>
              </a:spcAft>
              <a:buNone/>
            </a:pPr>
            <a:r>
              <a:rPr lang="en-US" sz="2300" b="0" dirty="0" smtClean="0">
                <a:solidFill>
                  <a:schemeClr val="tx1"/>
                </a:solidFill>
                <a:latin typeface="Calibri" panose="020F0502020204030204" charset="0"/>
                <a:cs typeface="Calibri" panose="020F0502020204030204" charset="0"/>
              </a:rPr>
              <a:t>* Krutchen in his well-known 4+1 view model of software architecture, suggests that there should be four fundamental architectural views, which can be linked through common use cases or scenarios (Figure 6.3). </a:t>
            </a:r>
            <a:endParaRPr lang="en-US" sz="2300" b="0" dirty="0" smtClean="0">
              <a:solidFill>
                <a:schemeClr val="tx1"/>
              </a:solidFill>
              <a:latin typeface="Calibri" panose="020F0502020204030204" charset="0"/>
              <a:cs typeface="Calibri" panose="020F0502020204030204" charset="0"/>
            </a:endParaRPr>
          </a:p>
        </p:txBody>
      </p:sp>
      <p:pic>
        <p:nvPicPr>
          <p:cNvPr id="3" name="图片 2"/>
          <p:cNvPicPr>
            <a:picLocks noChangeAspect="1"/>
          </p:cNvPicPr>
          <p:nvPr/>
        </p:nvPicPr>
        <p:blipFill>
          <a:blip r:embed="rId4"/>
          <a:stretch>
            <a:fillRect/>
          </a:stretch>
        </p:blipFill>
        <p:spPr>
          <a:xfrm>
            <a:off x="4968240" y="5859780"/>
            <a:ext cx="1933575" cy="447675"/>
          </a:xfrm>
          <a:prstGeom prst="rect">
            <a:avLst/>
          </a:prstGeom>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41045"/>
            <a:ext cx="8977630" cy="57848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4 + 1 view model </a:t>
            </a:r>
            <a:r>
              <a:rPr lang="en-US" altLang="zh-CN" sz="3200" dirty="0">
                <a:solidFill>
                  <a:schemeClr val="accent1">
                    <a:lumMod val="75000"/>
                  </a:schemeClr>
                </a:solidFill>
                <a:ea typeface="宋体" panose="02010600030101010101" pitchFamily="2" charset="-122"/>
                <a:sym typeface="+mn-ea"/>
              </a:rPr>
              <a:t> </a:t>
            </a:r>
            <a:r>
              <a:rPr lang="zh-CN" altLang="en-US" sz="2400" kern="1200" dirty="0">
                <a:solidFill>
                  <a:srgbClr val="C00000"/>
                </a:solidFill>
                <a:latin typeface="黑体" panose="02010609060101010101" pitchFamily="49" charset="-122"/>
                <a:ea typeface="黑体" panose="02010609060101010101" pitchFamily="49" charset="-122"/>
                <a:cs typeface="Calibri" panose="020F0502020204030204" charset="0"/>
                <a:sym typeface="+mn-ea"/>
              </a:rPr>
              <a:t>4+1视图模型</a:t>
            </a:r>
            <a:endParaRPr lang="en-US" altLang="zh-CN"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50850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6  Architectural Design</a:t>
            </a:r>
            <a:endParaRPr lang="en-US" altLang="zh-CN" sz="2800" dirty="0">
              <a:solidFill>
                <a:srgbClr val="660066"/>
              </a:solidFill>
              <a:ea typeface="黑体" panose="02010609060101010101" pitchFamily="49" charset="-122"/>
              <a:cs typeface="+mj-lt"/>
            </a:endParaRPr>
          </a:p>
        </p:txBody>
      </p:sp>
      <p:sp>
        <p:nvSpPr>
          <p:cNvPr id="45059" name="Rectangle 3"/>
          <p:cNvSpPr>
            <a:spLocks noGrp="1" noChangeArrowheads="1"/>
          </p:cNvSpPr>
          <p:nvPr/>
        </p:nvSpPr>
        <p:spPr>
          <a:xfrm>
            <a:off x="62230" y="1313180"/>
            <a:ext cx="9004300" cy="535622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Aft>
                <a:spcPts val="0"/>
              </a:spcAft>
            </a:pPr>
            <a:r>
              <a:rPr lang="en-US" sz="3000" dirty="0">
                <a:solidFill>
                  <a:schemeClr val="tx2">
                    <a:lumMod val="75000"/>
                    <a:lumOff val="25000"/>
                  </a:schemeClr>
                </a:solidFill>
                <a:latin typeface="Calibri" panose="020F0502020204030204" charset="0"/>
                <a:cs typeface="Calibri" panose="020F0502020204030204" charset="0"/>
              </a:rPr>
              <a:t> </a:t>
            </a:r>
            <a:r>
              <a:rPr sz="3000" dirty="0">
                <a:solidFill>
                  <a:schemeClr val="tx2">
                    <a:lumMod val="75000"/>
                    <a:lumOff val="25000"/>
                  </a:schemeClr>
                </a:solidFill>
                <a:latin typeface="Calibri" panose="020F0502020204030204" charset="0"/>
                <a:cs typeface="Calibri" panose="020F0502020204030204" charset="0"/>
              </a:rPr>
              <a:t>A logical view,</a:t>
            </a:r>
            <a:r>
              <a:rPr sz="2700" dirty="0">
                <a:solidFill>
                  <a:schemeClr val="tx2">
                    <a:lumMod val="75000"/>
                    <a:lumOff val="25000"/>
                  </a:schemeClr>
                </a:solidFill>
                <a:latin typeface="Calibri" panose="020F0502020204030204" charset="0"/>
                <a:cs typeface="Calibri" panose="020F0502020204030204" charset="0"/>
              </a:rPr>
              <a:t> </a:t>
            </a:r>
            <a:r>
              <a:rPr sz="2700" b="0" dirty="0">
                <a:solidFill>
                  <a:schemeClr val="tx1"/>
                </a:solidFill>
                <a:latin typeface="Calibri" panose="020F0502020204030204" charset="0"/>
                <a:cs typeface="Calibri" panose="020F0502020204030204" charset="0"/>
              </a:rPr>
              <a:t>which shows the key abstractions in the system as </a:t>
            </a:r>
            <a:r>
              <a:rPr sz="2700" b="0" u="sng" dirty="0">
                <a:solidFill>
                  <a:schemeClr val="tx1"/>
                </a:solidFill>
                <a:latin typeface="Calibri" panose="020F0502020204030204" charset="0"/>
                <a:cs typeface="Calibri" panose="020F0502020204030204" charset="0"/>
              </a:rPr>
              <a:t>objects or</a:t>
            </a:r>
            <a:r>
              <a:rPr lang="en-US" sz="2700" b="0" u="sng" dirty="0">
                <a:solidFill>
                  <a:schemeClr val="tx1"/>
                </a:solidFill>
                <a:latin typeface="Calibri" panose="020F0502020204030204" charset="0"/>
                <a:cs typeface="Calibri" panose="020F0502020204030204" charset="0"/>
              </a:rPr>
              <a:t> </a:t>
            </a:r>
            <a:r>
              <a:rPr sz="2700" b="0" u="sng" dirty="0">
                <a:solidFill>
                  <a:schemeClr val="tx1"/>
                </a:solidFill>
                <a:latin typeface="Calibri" panose="020F0502020204030204" charset="0"/>
                <a:cs typeface="Calibri" panose="020F0502020204030204" charset="0"/>
              </a:rPr>
              <a:t>object classes</a:t>
            </a:r>
            <a:r>
              <a:rPr sz="2700" b="0" dirty="0">
                <a:solidFill>
                  <a:schemeClr val="tx1"/>
                </a:solidFill>
                <a:latin typeface="Calibri" panose="020F0502020204030204" charset="0"/>
                <a:cs typeface="Calibri" panose="020F0502020204030204" charset="0"/>
              </a:rPr>
              <a:t>.</a:t>
            </a:r>
            <a:r>
              <a:rPr lang="en-US" sz="2700" b="0" dirty="0">
                <a:solidFill>
                  <a:schemeClr val="tx1"/>
                </a:solidFill>
                <a:latin typeface="Calibri" panose="020F0502020204030204" charset="0"/>
                <a:cs typeface="Calibri" panose="020F0502020204030204" charset="0"/>
              </a:rPr>
              <a:t> It is possible to relate the </a:t>
            </a:r>
            <a:r>
              <a:rPr lang="en-US" sz="2700" b="0" u="sng" dirty="0">
                <a:solidFill>
                  <a:schemeClr val="tx1"/>
                </a:solidFill>
                <a:latin typeface="Calibri" panose="020F0502020204030204" charset="0"/>
                <a:cs typeface="Calibri" panose="020F0502020204030204" charset="0"/>
              </a:rPr>
              <a:t>system requirements</a:t>
            </a:r>
            <a:r>
              <a:rPr lang="en-US" sz="2700" b="0" dirty="0">
                <a:solidFill>
                  <a:schemeClr val="tx1"/>
                </a:solidFill>
                <a:latin typeface="Calibri" panose="020F0502020204030204" charset="0"/>
                <a:cs typeface="Calibri" panose="020F0502020204030204" charset="0"/>
              </a:rPr>
              <a:t> to entities in this view.</a:t>
            </a:r>
            <a:r>
              <a:rPr lang="en-US" sz="2600" b="0" dirty="0">
                <a:solidFill>
                  <a:schemeClr val="tx1"/>
                </a:solidFill>
                <a:latin typeface="Calibri" panose="020F0502020204030204" charset="0"/>
                <a:cs typeface="Calibri" panose="020F0502020204030204" charset="0"/>
              </a:rPr>
              <a:t> </a:t>
            </a:r>
            <a:r>
              <a:rPr lang="zh-CN" altLang="en-US" sz="2400" dirty="0">
                <a:solidFill>
                  <a:srgbClr val="C00000"/>
                </a:solidFill>
                <a:latin typeface="黑体" panose="02010609060101010101" pitchFamily="49" charset="-122"/>
                <a:ea typeface="黑体" panose="02010609060101010101" pitchFamily="49" charset="-122"/>
                <a:cs typeface="Calibri" panose="020F0502020204030204" charset="0"/>
              </a:rPr>
              <a:t>逻辑视图</a:t>
            </a:r>
            <a:endParaRPr sz="3200" dirty="0">
              <a:solidFill>
                <a:schemeClr val="tx2">
                  <a:lumMod val="75000"/>
                  <a:lumOff val="25000"/>
                </a:schemeClr>
              </a:solidFill>
              <a:latin typeface="Calibri" panose="020F0502020204030204" charset="0"/>
              <a:cs typeface="Calibri" panose="020F0502020204030204" charset="0"/>
            </a:endParaRPr>
          </a:p>
          <a:p>
            <a:pPr>
              <a:lnSpc>
                <a:spcPct val="82000"/>
              </a:lnSpc>
              <a:spcAft>
                <a:spcPts val="0"/>
              </a:spcAft>
            </a:pPr>
            <a:r>
              <a:rPr lang="en-US" sz="3000" dirty="0">
                <a:solidFill>
                  <a:schemeClr val="tx2">
                    <a:lumMod val="75000"/>
                    <a:lumOff val="25000"/>
                  </a:schemeClr>
                </a:solidFill>
                <a:latin typeface="Calibri" panose="020F0502020204030204" charset="0"/>
                <a:cs typeface="Calibri" panose="020F0502020204030204" charset="0"/>
              </a:rPr>
              <a:t> A process view,</a:t>
            </a:r>
            <a:r>
              <a:rPr lang="en-US" sz="2700" dirty="0">
                <a:solidFill>
                  <a:schemeClr val="tx2">
                    <a:lumMod val="75000"/>
                    <a:lumOff val="25000"/>
                  </a:schemeClr>
                </a:solidFill>
                <a:latin typeface="Calibri" panose="020F0502020204030204" charset="0"/>
                <a:cs typeface="Calibri" panose="020F0502020204030204" charset="0"/>
              </a:rPr>
              <a:t> </a:t>
            </a:r>
            <a:r>
              <a:rPr lang="en-US" sz="2700" b="0" dirty="0">
                <a:solidFill>
                  <a:schemeClr val="tx1"/>
                </a:solidFill>
                <a:latin typeface="Calibri" panose="020F0502020204030204" charset="0"/>
                <a:cs typeface="Calibri" panose="020F0502020204030204" charset="0"/>
              </a:rPr>
              <a:t>which shows how, at runtime, the system is composed of </a:t>
            </a:r>
            <a:r>
              <a:rPr lang="en-US" sz="2700" b="0" u="sng" dirty="0">
                <a:solidFill>
                  <a:schemeClr val="tx1"/>
                </a:solidFill>
                <a:latin typeface="Calibri" panose="020F0502020204030204" charset="0"/>
                <a:cs typeface="Calibri" panose="020F0502020204030204" charset="0"/>
              </a:rPr>
              <a:t>interacting processes</a:t>
            </a:r>
            <a:r>
              <a:rPr lang="en-US" sz="2700" b="0" dirty="0">
                <a:solidFill>
                  <a:schemeClr val="tx1"/>
                </a:solidFill>
                <a:latin typeface="Calibri" panose="020F0502020204030204" charset="0"/>
                <a:cs typeface="Calibri" panose="020F0502020204030204" charset="0"/>
              </a:rPr>
              <a:t>. It is useful for making judgments about </a:t>
            </a:r>
            <a:r>
              <a:rPr lang="en-US" sz="2700" b="0" u="sng" dirty="0">
                <a:solidFill>
                  <a:schemeClr val="tx1"/>
                </a:solidFill>
                <a:latin typeface="Calibri" panose="020F0502020204030204" charset="0"/>
                <a:cs typeface="Calibri" panose="020F0502020204030204" charset="0"/>
              </a:rPr>
              <a:t>non-functional</a:t>
            </a:r>
            <a:r>
              <a:rPr lang="en-US" sz="2700" b="0" dirty="0">
                <a:solidFill>
                  <a:schemeClr val="tx1"/>
                </a:solidFill>
                <a:latin typeface="Calibri" panose="020F0502020204030204" charset="0"/>
                <a:cs typeface="Calibri" panose="020F0502020204030204" charset="0"/>
              </a:rPr>
              <a:t> characteristics.  </a:t>
            </a:r>
            <a:r>
              <a:rPr lang="zh-CN" altLang="en-US" sz="2400" dirty="0">
                <a:solidFill>
                  <a:srgbClr val="C00000"/>
                </a:solidFill>
                <a:latin typeface="黑体" panose="02010609060101010101" pitchFamily="49" charset="-122"/>
                <a:ea typeface="黑体" panose="02010609060101010101" pitchFamily="49" charset="-122"/>
                <a:cs typeface="Calibri" panose="020F0502020204030204" charset="0"/>
              </a:rPr>
              <a:t>进程视图</a:t>
            </a:r>
            <a:endParaRPr lang="en-US" sz="3200" dirty="0">
              <a:solidFill>
                <a:schemeClr val="tx2">
                  <a:lumMod val="75000"/>
                  <a:lumOff val="25000"/>
                </a:schemeClr>
              </a:solidFill>
              <a:latin typeface="Calibri" panose="020F0502020204030204" charset="0"/>
              <a:cs typeface="Calibri" panose="020F0502020204030204" charset="0"/>
            </a:endParaRPr>
          </a:p>
          <a:p>
            <a:pPr>
              <a:lnSpc>
                <a:spcPct val="82000"/>
              </a:lnSpc>
              <a:spcAft>
                <a:spcPts val="0"/>
              </a:spcAft>
            </a:pPr>
            <a:r>
              <a:rPr lang="en-US" sz="3000" dirty="0">
                <a:solidFill>
                  <a:schemeClr val="tx2">
                    <a:lumMod val="75000"/>
                    <a:lumOff val="25000"/>
                  </a:schemeClr>
                </a:solidFill>
                <a:latin typeface="Calibri" panose="020F0502020204030204" charset="0"/>
                <a:cs typeface="Calibri" panose="020F0502020204030204" charset="0"/>
              </a:rPr>
              <a:t> A development view,</a:t>
            </a:r>
            <a:r>
              <a:rPr lang="en-US" sz="2700" dirty="0">
                <a:solidFill>
                  <a:schemeClr val="tx2">
                    <a:lumMod val="75000"/>
                    <a:lumOff val="25000"/>
                  </a:schemeClr>
                </a:solidFill>
                <a:latin typeface="Calibri" panose="020F0502020204030204" charset="0"/>
                <a:cs typeface="Calibri" panose="020F0502020204030204" charset="0"/>
              </a:rPr>
              <a:t> </a:t>
            </a:r>
            <a:r>
              <a:rPr lang="en-US" sz="2700" b="0" dirty="0">
                <a:solidFill>
                  <a:schemeClr val="tx1"/>
                </a:solidFill>
                <a:latin typeface="Calibri" panose="020F0502020204030204" charset="0"/>
                <a:cs typeface="Calibri" panose="020F0502020204030204" charset="0"/>
              </a:rPr>
              <a:t>which shows how the software is </a:t>
            </a:r>
            <a:r>
              <a:rPr lang="en-US" sz="2700" b="0" u="sng" dirty="0">
                <a:solidFill>
                  <a:schemeClr val="tx1"/>
                </a:solidFill>
                <a:latin typeface="Calibri" panose="020F0502020204030204" charset="0"/>
                <a:cs typeface="Calibri" panose="020F0502020204030204" charset="0"/>
              </a:rPr>
              <a:t>decomposed for development</a:t>
            </a:r>
            <a:r>
              <a:rPr lang="en-US" sz="2700" b="0" dirty="0">
                <a:solidFill>
                  <a:schemeClr val="tx1"/>
                </a:solidFill>
                <a:latin typeface="Calibri" panose="020F0502020204030204" charset="0"/>
                <a:cs typeface="Calibri" panose="020F0502020204030204" charset="0"/>
              </a:rPr>
              <a:t>; This view is useful for software </a:t>
            </a:r>
            <a:r>
              <a:rPr lang="en-US" sz="2700" b="0" u="sng" dirty="0">
                <a:solidFill>
                  <a:schemeClr val="tx1"/>
                </a:solidFill>
                <a:latin typeface="Calibri" panose="020F0502020204030204" charset="0"/>
                <a:cs typeface="Calibri" panose="020F0502020204030204" charset="0"/>
              </a:rPr>
              <a:t>managers and programmers</a:t>
            </a:r>
            <a:r>
              <a:rPr lang="en-US" sz="2700" b="0" dirty="0">
                <a:solidFill>
                  <a:schemeClr val="tx1"/>
                </a:solidFill>
                <a:latin typeface="Calibri" panose="020F0502020204030204" charset="0"/>
                <a:cs typeface="Calibri" panose="020F0502020204030204" charset="0"/>
              </a:rPr>
              <a:t>.    </a:t>
            </a:r>
            <a:r>
              <a:rPr lang="zh-CN" altLang="en-US" sz="2400" dirty="0">
                <a:solidFill>
                  <a:srgbClr val="C00000"/>
                </a:solidFill>
                <a:latin typeface="黑体" panose="02010609060101010101" pitchFamily="49" charset="-122"/>
                <a:ea typeface="黑体" panose="02010609060101010101" pitchFamily="49" charset="-122"/>
                <a:cs typeface="Calibri" panose="020F0502020204030204" charset="0"/>
              </a:rPr>
              <a:t>开发视图</a:t>
            </a:r>
            <a:endParaRPr lang="en-US" sz="3200" dirty="0">
              <a:solidFill>
                <a:schemeClr val="tx2">
                  <a:lumMod val="75000"/>
                  <a:lumOff val="25000"/>
                </a:schemeClr>
              </a:solidFill>
              <a:latin typeface="Calibri" panose="020F0502020204030204" charset="0"/>
              <a:cs typeface="Calibri" panose="020F0502020204030204" charset="0"/>
            </a:endParaRPr>
          </a:p>
          <a:p>
            <a:pPr>
              <a:lnSpc>
                <a:spcPct val="82000"/>
              </a:lnSpc>
              <a:spcAft>
                <a:spcPts val="0"/>
              </a:spcAft>
            </a:pPr>
            <a:r>
              <a:rPr lang="en-US" sz="3000" dirty="0">
                <a:solidFill>
                  <a:schemeClr val="tx2">
                    <a:lumMod val="75000"/>
                    <a:lumOff val="25000"/>
                  </a:schemeClr>
                </a:solidFill>
                <a:latin typeface="Calibri" panose="020F0502020204030204" charset="0"/>
                <a:cs typeface="Calibri" panose="020F0502020204030204" charset="0"/>
              </a:rPr>
              <a:t> </a:t>
            </a:r>
            <a:r>
              <a:rPr sz="3000" dirty="0">
                <a:solidFill>
                  <a:schemeClr val="tx2">
                    <a:lumMod val="75000"/>
                    <a:lumOff val="25000"/>
                  </a:schemeClr>
                </a:solidFill>
                <a:latin typeface="Calibri" panose="020F0502020204030204" charset="0"/>
                <a:cs typeface="Calibri" panose="020F0502020204030204" charset="0"/>
              </a:rPr>
              <a:t>A physical view,</a:t>
            </a:r>
            <a:r>
              <a:rPr sz="2700" dirty="0">
                <a:solidFill>
                  <a:schemeClr val="tx2">
                    <a:lumMod val="75000"/>
                    <a:lumOff val="25000"/>
                  </a:schemeClr>
                </a:solidFill>
                <a:latin typeface="Calibri" panose="020F0502020204030204" charset="0"/>
                <a:cs typeface="Calibri" panose="020F0502020204030204" charset="0"/>
              </a:rPr>
              <a:t> </a:t>
            </a:r>
            <a:r>
              <a:rPr sz="2700" b="0" dirty="0">
                <a:solidFill>
                  <a:schemeClr val="tx1"/>
                </a:solidFill>
                <a:latin typeface="Calibri" panose="020F0502020204030204" charset="0"/>
                <a:cs typeface="Calibri" panose="020F0502020204030204" charset="0"/>
              </a:rPr>
              <a:t>which shows the system </a:t>
            </a:r>
            <a:r>
              <a:rPr sz="2700" b="0" u="sng" dirty="0">
                <a:solidFill>
                  <a:schemeClr val="tx1"/>
                </a:solidFill>
                <a:latin typeface="Calibri" panose="020F0502020204030204" charset="0"/>
                <a:cs typeface="Calibri" panose="020F0502020204030204" charset="0"/>
              </a:rPr>
              <a:t>hardware</a:t>
            </a:r>
            <a:r>
              <a:rPr sz="2700" b="0" dirty="0">
                <a:solidFill>
                  <a:schemeClr val="tx1"/>
                </a:solidFill>
                <a:latin typeface="Calibri" panose="020F0502020204030204" charset="0"/>
                <a:cs typeface="Calibri" panose="020F0502020204030204" charset="0"/>
              </a:rPr>
              <a:t> and how </a:t>
            </a:r>
            <a:r>
              <a:rPr sz="2700" b="0" u="sng" dirty="0">
                <a:solidFill>
                  <a:schemeClr val="tx1"/>
                </a:solidFill>
                <a:latin typeface="Calibri" panose="020F0502020204030204" charset="0"/>
                <a:cs typeface="Calibri" panose="020F0502020204030204" charset="0"/>
              </a:rPr>
              <a:t>software components</a:t>
            </a:r>
            <a:r>
              <a:rPr sz="2700" b="0" dirty="0">
                <a:solidFill>
                  <a:schemeClr val="tx1"/>
                </a:solidFill>
                <a:latin typeface="Calibri" panose="020F0502020204030204" charset="0"/>
                <a:cs typeface="Calibri" panose="020F0502020204030204" charset="0"/>
              </a:rPr>
              <a:t> are </a:t>
            </a:r>
            <a:r>
              <a:rPr sz="2700" b="0" u="sng" dirty="0">
                <a:solidFill>
                  <a:schemeClr val="tx1"/>
                </a:solidFill>
                <a:latin typeface="Calibri" panose="020F0502020204030204" charset="0"/>
                <a:cs typeface="Calibri" panose="020F0502020204030204" charset="0"/>
              </a:rPr>
              <a:t>distributed</a:t>
            </a:r>
            <a:r>
              <a:rPr sz="2700" b="0" dirty="0">
                <a:solidFill>
                  <a:schemeClr val="tx1"/>
                </a:solidFill>
                <a:latin typeface="Calibri" panose="020F0502020204030204" charset="0"/>
                <a:cs typeface="Calibri" panose="020F0502020204030204" charset="0"/>
              </a:rPr>
              <a:t> across the processors in the system. This view is useful for</a:t>
            </a:r>
            <a:r>
              <a:rPr lang="en-US" sz="2700" b="0" dirty="0">
                <a:solidFill>
                  <a:schemeClr val="tx1"/>
                </a:solidFill>
                <a:latin typeface="Calibri" panose="020F0502020204030204" charset="0"/>
                <a:cs typeface="Calibri" panose="020F0502020204030204" charset="0"/>
              </a:rPr>
              <a:t> </a:t>
            </a:r>
            <a:r>
              <a:rPr sz="2700" b="0" u="sng" dirty="0">
                <a:solidFill>
                  <a:schemeClr val="tx1"/>
                </a:solidFill>
                <a:latin typeface="Calibri" panose="020F0502020204030204" charset="0"/>
                <a:cs typeface="Calibri" panose="020F0502020204030204" charset="0"/>
              </a:rPr>
              <a:t>systems engineers</a:t>
            </a:r>
            <a:r>
              <a:rPr sz="2700" b="0" dirty="0">
                <a:solidFill>
                  <a:schemeClr val="tx1"/>
                </a:solidFill>
                <a:latin typeface="Calibri" panose="020F0502020204030204" charset="0"/>
                <a:cs typeface="Calibri" panose="020F0502020204030204" charset="0"/>
              </a:rPr>
              <a:t> planning a system deployment.</a:t>
            </a:r>
            <a:r>
              <a:rPr lang="en-US" sz="2700" dirty="0">
                <a:solidFill>
                  <a:schemeClr val="tx2">
                    <a:lumMod val="75000"/>
                    <a:lumOff val="25000"/>
                  </a:schemeClr>
                </a:solidFill>
                <a:latin typeface="Calibri" panose="020F0502020204030204" charset="0"/>
                <a:cs typeface="Calibri" panose="020F0502020204030204" charset="0"/>
              </a:rPr>
              <a:t>  </a:t>
            </a:r>
            <a:r>
              <a:rPr lang="zh-CN" altLang="en-US" sz="2400" dirty="0">
                <a:solidFill>
                  <a:srgbClr val="C00000"/>
                </a:solidFill>
                <a:latin typeface="黑体" panose="02010609060101010101" pitchFamily="49" charset="-122"/>
                <a:ea typeface="黑体" panose="02010609060101010101" pitchFamily="49" charset="-122"/>
                <a:cs typeface="Calibri" panose="020F0502020204030204" charset="0"/>
              </a:rPr>
              <a:t>物理视图</a:t>
            </a:r>
            <a:endParaRPr lang="zh-CN" altLang="en-US" sz="2400" dirty="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82000"/>
              </a:lnSpc>
              <a:spcAft>
                <a:spcPts val="0"/>
              </a:spcAft>
            </a:pPr>
            <a:r>
              <a:rPr lang="en-US" sz="3000" dirty="0">
                <a:solidFill>
                  <a:schemeClr val="tx2">
                    <a:lumMod val="75000"/>
                    <a:lumOff val="25000"/>
                  </a:schemeClr>
                </a:solidFill>
                <a:latin typeface="Calibri" panose="020F0502020204030204" charset="0"/>
                <a:cs typeface="Calibri" panose="020F0502020204030204" charset="0"/>
              </a:rPr>
              <a:t> </a:t>
            </a:r>
            <a:r>
              <a:rPr sz="3000" dirty="0">
                <a:solidFill>
                  <a:schemeClr val="tx2">
                    <a:lumMod val="75000"/>
                    <a:lumOff val="25000"/>
                  </a:schemeClr>
                </a:solidFill>
                <a:latin typeface="Calibri" panose="020F0502020204030204" charset="0"/>
                <a:cs typeface="Calibri" panose="020F0502020204030204" charset="0"/>
              </a:rPr>
              <a:t>Related using use cases or scenarios</a:t>
            </a:r>
            <a:r>
              <a:rPr lang="en-US" sz="3000" dirty="0">
                <a:solidFill>
                  <a:schemeClr val="tx2">
                    <a:lumMod val="75000"/>
                    <a:lumOff val="25000"/>
                  </a:schemeClr>
                </a:solidFill>
                <a:latin typeface="Calibri" panose="020F0502020204030204" charset="0"/>
                <a:cs typeface="Calibri" panose="020F0502020204030204" charset="0"/>
              </a:rPr>
              <a:t> </a:t>
            </a:r>
            <a:r>
              <a:rPr sz="3000" dirty="0">
                <a:solidFill>
                  <a:schemeClr val="tx2">
                    <a:lumMod val="75000"/>
                    <a:lumOff val="25000"/>
                  </a:schemeClr>
                </a:solidFill>
                <a:latin typeface="Calibri" panose="020F0502020204030204" charset="0"/>
                <a:cs typeface="Calibri" panose="020F0502020204030204" charset="0"/>
              </a:rPr>
              <a:t>(+1)</a:t>
            </a:r>
            <a:r>
              <a:rPr lang="en-US" sz="3000" dirty="0">
                <a:solidFill>
                  <a:schemeClr val="tx2">
                    <a:lumMod val="75000"/>
                    <a:lumOff val="25000"/>
                  </a:schemeClr>
                </a:solidFill>
                <a:latin typeface="Calibri" panose="020F0502020204030204" charset="0"/>
                <a:cs typeface="Calibri" panose="020F0502020204030204" charset="0"/>
              </a:rPr>
              <a:t> </a:t>
            </a:r>
            <a:r>
              <a:rPr lang="zh-CN" altLang="en-US" sz="1800" dirty="0">
                <a:solidFill>
                  <a:srgbClr val="C00000"/>
                </a:solidFill>
                <a:latin typeface="黑体" panose="02010609060101010101" pitchFamily="49" charset="-122"/>
                <a:ea typeface="黑体" panose="02010609060101010101" pitchFamily="49" charset="-122"/>
                <a:cs typeface="Calibri" panose="020F0502020204030204" charset="0"/>
              </a:rPr>
              <a:t>以用例或场景联系</a:t>
            </a:r>
            <a:endParaRPr lang="zh-CN" altLang="en-US" sz="1800" dirty="0">
              <a:solidFill>
                <a:srgbClr val="C00000"/>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9145"/>
            <a:ext cx="8977630" cy="57785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900" dirty="0">
                <a:solidFill>
                  <a:srgbClr val="0070C0"/>
                </a:solidFill>
                <a:ea typeface="宋体" panose="02010600030101010101" pitchFamily="2" charset="-122"/>
                <a:sym typeface="+mn-ea"/>
              </a:rPr>
              <a:t> </a:t>
            </a:r>
            <a:r>
              <a:rPr lang="zh-CN" altLang="en-US" sz="2900" dirty="0">
                <a:solidFill>
                  <a:schemeClr val="accent1">
                    <a:lumMod val="75000"/>
                  </a:schemeClr>
                </a:solidFill>
                <a:ea typeface="宋体" panose="02010600030101010101" pitchFamily="2" charset="-122"/>
                <a:sym typeface="+mn-ea"/>
              </a:rPr>
              <a:t>Representing architectural views</a:t>
            </a:r>
            <a:r>
              <a:rPr lang="en-US" altLang="zh-CN" sz="2900" dirty="0">
                <a:solidFill>
                  <a:schemeClr val="accent1">
                    <a:lumMod val="75000"/>
                  </a:schemeClr>
                </a:solidFill>
                <a:ea typeface="宋体" panose="02010600030101010101" pitchFamily="2" charset="-122"/>
                <a:sym typeface="+mn-ea"/>
              </a:rPr>
              <a:t> </a:t>
            </a:r>
            <a:r>
              <a:rPr lang="zh-CN" altLang="en-US" sz="2400" kern="1200" dirty="0">
                <a:solidFill>
                  <a:srgbClr val="C00000"/>
                </a:solidFill>
                <a:latin typeface="黑体" panose="02010609060101010101" pitchFamily="49" charset="-122"/>
                <a:ea typeface="黑体" panose="02010609060101010101" pitchFamily="49" charset="-122"/>
                <a:cs typeface="Calibri" panose="020F0502020204030204" charset="0"/>
                <a:sym typeface="+mn-ea"/>
              </a:rPr>
              <a:t>表示体系结构视图</a:t>
            </a:r>
            <a:endParaRPr lang="zh-CN" altLang="en-US" sz="2400" kern="1200" dirty="0">
              <a:solidFill>
                <a:srgbClr val="C00000"/>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50850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6  Architectural Design</a:t>
            </a:r>
            <a:endParaRPr lang="en-US" altLang="zh-CN" sz="2800" dirty="0">
              <a:solidFill>
                <a:srgbClr val="660066"/>
              </a:solidFill>
              <a:ea typeface="黑体" panose="02010609060101010101" pitchFamily="49" charset="-122"/>
              <a:cs typeface="+mj-lt"/>
            </a:endParaRPr>
          </a:p>
        </p:txBody>
      </p:sp>
      <p:sp>
        <p:nvSpPr>
          <p:cNvPr id="45059" name="Rectangle 3"/>
          <p:cNvSpPr>
            <a:spLocks noGrp="1" noChangeArrowheads="1"/>
          </p:cNvSpPr>
          <p:nvPr/>
        </p:nvSpPr>
        <p:spPr>
          <a:xfrm>
            <a:off x="62865" y="1313180"/>
            <a:ext cx="9003030" cy="532765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Aft>
                <a:spcPts val="0"/>
              </a:spcAft>
            </a:pPr>
            <a:r>
              <a:rPr lang="en-US" sz="3000" dirty="0">
                <a:solidFill>
                  <a:schemeClr val="tx2">
                    <a:lumMod val="75000"/>
                    <a:lumOff val="25000"/>
                  </a:schemeClr>
                </a:solidFill>
                <a:latin typeface="Calibri" panose="020F0502020204030204" charset="0"/>
                <a:cs typeface="Calibri" panose="020F0502020204030204" charset="0"/>
              </a:rPr>
              <a:t> There are differing views about whether or not software architects should use UML for describing and documenting software architectures.</a:t>
            </a:r>
            <a:r>
              <a:rPr lang="en-US" sz="3100" b="0" dirty="0">
                <a:solidFill>
                  <a:schemeClr val="tx1"/>
                </a:solidFill>
                <a:latin typeface="Calibri" panose="020F0502020204030204" charset="0"/>
                <a:cs typeface="Calibri" panose="020F0502020204030204" charset="0"/>
              </a:rPr>
              <a:t> </a:t>
            </a:r>
            <a:r>
              <a:rPr lang="en-US" sz="2700" b="0" dirty="0">
                <a:solidFill>
                  <a:schemeClr val="tx1"/>
                </a:solidFill>
                <a:latin typeface="Calibri" panose="020F0502020204030204" charset="0"/>
                <a:cs typeface="Calibri" panose="020F0502020204030204" charset="0"/>
              </a:rPr>
              <a:t>The UML was for describing object-oriented systems, but at architectural design, you often want to describe systems at a higher level of abstraction. </a:t>
            </a:r>
            <a:r>
              <a:rPr lang="zh-CN" altLang="en-US" sz="2000" dirty="0">
                <a:solidFill>
                  <a:srgbClr val="C00000"/>
                </a:solidFill>
                <a:latin typeface="黑体" panose="02010609060101010101" pitchFamily="49" charset="-122"/>
                <a:ea typeface="黑体" panose="02010609060101010101" pitchFamily="49" charset="-122"/>
                <a:cs typeface="Calibri" panose="020F0502020204030204" charset="0"/>
              </a:rPr>
              <a:t>是否使用UML来描述和文档软件化体系结构：观点不同</a:t>
            </a:r>
            <a:endParaRPr lang="zh-CN" altLang="en-US" sz="2000" dirty="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82000"/>
              </a:lnSpc>
              <a:spcAft>
                <a:spcPts val="0"/>
              </a:spcAft>
            </a:pPr>
            <a:r>
              <a:rPr lang="en-US" sz="3000" dirty="0">
                <a:solidFill>
                  <a:schemeClr val="tx2">
                    <a:lumMod val="75000"/>
                    <a:lumOff val="25000"/>
                  </a:schemeClr>
                </a:solidFill>
                <a:latin typeface="Calibri" panose="020F0502020204030204" charset="0"/>
                <a:cs typeface="Calibri" panose="020F0502020204030204" charset="0"/>
              </a:rPr>
              <a:t> Some researchers propose to use more specialized ADL (</a:t>
            </a:r>
            <a:r>
              <a:rPr lang="en-US" sz="3000" dirty="0">
                <a:solidFill>
                  <a:schemeClr val="tx2">
                    <a:lumMod val="75000"/>
                    <a:lumOff val="25000"/>
                  </a:schemeClr>
                </a:solidFill>
                <a:latin typeface="Calibri" panose="020F0502020204030204" charset="0"/>
                <a:cs typeface="Calibri" panose="020F0502020204030204" charset="0"/>
                <a:sym typeface="+mn-ea"/>
              </a:rPr>
              <a:t>architectural description languages</a:t>
            </a:r>
            <a:r>
              <a:rPr lang="en-US" sz="3000" dirty="0">
                <a:solidFill>
                  <a:schemeClr val="tx2">
                    <a:lumMod val="75000"/>
                    <a:lumOff val="25000"/>
                  </a:schemeClr>
                </a:solidFill>
                <a:latin typeface="Calibri" panose="020F0502020204030204" charset="0"/>
                <a:cs typeface="Calibri" panose="020F0502020204030204" charset="0"/>
              </a:rPr>
              <a:t>) to describe system architectures. </a:t>
            </a:r>
            <a:r>
              <a:rPr lang="en-US" sz="2700" b="0" dirty="0">
                <a:solidFill>
                  <a:schemeClr val="tx1"/>
                </a:solidFill>
                <a:latin typeface="Calibri" panose="020F0502020204030204" charset="0"/>
                <a:cs typeface="Calibri" panose="020F0502020204030204" charset="0"/>
              </a:rPr>
              <a:t>Since ADLs are specialist languages, domain and application specialists find it hard to understand and use ADLs. </a:t>
            </a:r>
            <a:r>
              <a:rPr lang="en-US" sz="3200" dirty="0">
                <a:solidFill>
                  <a:schemeClr val="tx2">
                    <a:lumMod val="75000"/>
                    <a:lumOff val="25000"/>
                  </a:schemeClr>
                </a:solidFill>
                <a:latin typeface="Calibri" panose="020F0502020204030204" charset="0"/>
                <a:cs typeface="Calibri" panose="020F0502020204030204" charset="0"/>
              </a:rPr>
              <a:t> </a:t>
            </a:r>
            <a:r>
              <a:rPr lang="zh-CN" altLang="en-US" sz="2000" dirty="0">
                <a:solidFill>
                  <a:srgbClr val="C00000"/>
                </a:solidFill>
                <a:latin typeface="黑体" panose="02010609060101010101" pitchFamily="49" charset="-122"/>
                <a:ea typeface="黑体" panose="02010609060101010101" pitchFamily="49" charset="-122"/>
                <a:cs typeface="Calibri" panose="020F0502020204030204" charset="0"/>
              </a:rPr>
              <a:t>使用更专业化的体系结构描述语言：难以理解和使用</a:t>
            </a:r>
            <a:endParaRPr lang="zh-CN" altLang="en-US" sz="2000" dirty="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82000"/>
              </a:lnSpc>
              <a:spcAft>
                <a:spcPts val="0"/>
              </a:spcAft>
            </a:pPr>
            <a:r>
              <a:rPr lang="en-US" sz="3000" dirty="0">
                <a:solidFill>
                  <a:schemeClr val="tx2">
                    <a:lumMod val="75000"/>
                    <a:lumOff val="25000"/>
                  </a:schemeClr>
                </a:solidFill>
                <a:latin typeface="Calibri" panose="020F0502020204030204" charset="0"/>
                <a:cs typeface="Calibri" panose="020F0502020204030204" charset="0"/>
              </a:rPr>
              <a:t> Agile Users: </a:t>
            </a:r>
            <a:r>
              <a:rPr lang="en-US" sz="2700" b="0" dirty="0">
                <a:solidFill>
                  <a:schemeClr val="tx1"/>
                </a:solidFill>
                <a:latin typeface="Calibri" panose="020F0502020204030204" charset="0"/>
                <a:cs typeface="Calibri" panose="020F0502020204030204" charset="0"/>
              </a:rPr>
              <a:t>Except for critical systems, it isn’t worth developing a detailed architectural description from </a:t>
            </a:r>
            <a:r>
              <a:rPr lang="en-US" sz="2000" b="0" dirty="0">
                <a:solidFill>
                  <a:schemeClr val="tx1"/>
                </a:solidFill>
                <a:latin typeface="Calibri" panose="020F0502020204030204" charset="0"/>
                <a:cs typeface="Calibri" panose="020F0502020204030204" charset="0"/>
              </a:rPr>
              <a:t>Krutchen’s</a:t>
            </a:r>
            <a:r>
              <a:rPr lang="en-US" sz="2700" b="0" dirty="0">
                <a:solidFill>
                  <a:schemeClr val="tx1"/>
                </a:solidFill>
                <a:latin typeface="Calibri" panose="020F0502020204030204" charset="0"/>
                <a:cs typeface="Calibri" panose="020F0502020204030204" charset="0"/>
              </a:rPr>
              <a:t> four perspectives. </a:t>
            </a:r>
            <a:r>
              <a:rPr lang="zh-CN" altLang="en-US" sz="2000" dirty="0">
                <a:solidFill>
                  <a:srgbClr val="C00000"/>
                </a:solidFill>
                <a:latin typeface="黑体" panose="02010609060101010101" pitchFamily="49" charset="-122"/>
                <a:ea typeface="黑体" panose="02010609060101010101" pitchFamily="49" charset="-122"/>
                <a:cs typeface="Calibri" panose="020F0502020204030204" charset="0"/>
              </a:rPr>
              <a:t>敏捷方法:除非是关键系统，开发详细描述不值得的</a:t>
            </a:r>
            <a:endParaRPr lang="zh-CN" altLang="en-US" sz="2000" dirty="0">
              <a:solidFill>
                <a:srgbClr val="C00000"/>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9615"/>
            <a:ext cx="8977630" cy="55499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200" dirty="0">
                <a:solidFill>
                  <a:schemeClr val="accent1">
                    <a:lumMod val="75000"/>
                  </a:schemeClr>
                </a:solidFill>
                <a:ea typeface="宋体" panose="02010600030101010101" pitchFamily="2" charset="-122"/>
                <a:sym typeface="+mn-ea"/>
              </a:rPr>
              <a:t> 6.3 Architectural patterns</a:t>
            </a:r>
            <a:r>
              <a:rPr lang="en-US" altLang="zh-CN" sz="3200" dirty="0">
                <a:solidFill>
                  <a:schemeClr val="accent1">
                    <a:lumMod val="75000"/>
                  </a:schemeClr>
                </a:solidFill>
                <a:ea typeface="宋体" panose="02010600030101010101" pitchFamily="2" charset="-122"/>
                <a:sym typeface="+mn-ea"/>
              </a:rPr>
              <a:t>   </a:t>
            </a:r>
            <a:r>
              <a:rPr lang="zh-CN" altLang="en-US" sz="2400" kern="1200" dirty="0">
                <a:solidFill>
                  <a:srgbClr val="C00000"/>
                </a:solidFill>
                <a:latin typeface="黑体" panose="02010609060101010101" pitchFamily="49" charset="-122"/>
                <a:ea typeface="黑体" panose="02010609060101010101" pitchFamily="49" charset="-122"/>
                <a:cs typeface="Calibri" panose="020F0502020204030204" charset="0"/>
                <a:sym typeface="+mn-ea"/>
              </a:rPr>
              <a:t>体系结构模式</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50850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6  Architectural Design</a:t>
            </a:r>
            <a:endParaRPr lang="en-US" altLang="zh-CN" sz="2800" dirty="0">
              <a:solidFill>
                <a:srgbClr val="660066"/>
              </a:solidFill>
              <a:ea typeface="黑体" panose="02010609060101010101" pitchFamily="49" charset="-122"/>
              <a:cs typeface="+mj-lt"/>
            </a:endParaRPr>
          </a:p>
        </p:txBody>
      </p:sp>
      <p:sp>
        <p:nvSpPr>
          <p:cNvPr id="45059" name="Rectangle 3"/>
          <p:cNvSpPr>
            <a:spLocks noGrp="1" noChangeArrowheads="1"/>
          </p:cNvSpPr>
          <p:nvPr/>
        </p:nvSpPr>
        <p:spPr>
          <a:xfrm>
            <a:off x="88265" y="1241425"/>
            <a:ext cx="8978265" cy="470789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Aft>
                <a:spcPts val="0"/>
              </a:spcAft>
            </a:pPr>
            <a:r>
              <a:rPr lang="en-US" sz="3100" dirty="0">
                <a:solidFill>
                  <a:schemeClr val="tx2">
                    <a:lumMod val="75000"/>
                    <a:lumOff val="25000"/>
                  </a:schemeClr>
                </a:solidFill>
                <a:latin typeface="Calibri" panose="020F0502020204030204" charset="0"/>
                <a:cs typeface="Calibri" panose="020F0502020204030204" charset="0"/>
              </a:rPr>
              <a:t> The idea of patterns as a way of presenting, sharing, and reusing knowledge about software systems has been adopted in a number of areas of software engineering.  </a:t>
            </a:r>
            <a:r>
              <a:rPr lang="zh-CN" altLang="en-US" sz="2400" dirty="0">
                <a:solidFill>
                  <a:srgbClr val="C00000"/>
                </a:solidFill>
                <a:latin typeface="黑体" panose="02010609060101010101" pitchFamily="49" charset="-122"/>
                <a:ea typeface="黑体" panose="02010609060101010101" pitchFamily="49" charset="-122"/>
                <a:cs typeface="Calibri" panose="020F0502020204030204" charset="0"/>
              </a:rPr>
              <a:t>模式的思想在SE各领域中采用</a:t>
            </a:r>
            <a:endParaRPr lang="zh-CN" altLang="en-US" sz="2400" dirty="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82000"/>
              </a:lnSpc>
              <a:spcAft>
                <a:spcPts val="0"/>
              </a:spcAft>
            </a:pPr>
            <a:r>
              <a:rPr lang="en-US" sz="3100" dirty="0">
                <a:solidFill>
                  <a:schemeClr val="tx2">
                    <a:lumMod val="75000"/>
                    <a:lumOff val="25000"/>
                  </a:schemeClr>
                </a:solidFill>
                <a:latin typeface="Calibri" panose="020F0502020204030204" charset="0"/>
                <a:cs typeface="Calibri" panose="020F0502020204030204" charset="0"/>
              </a:rPr>
              <a:t> Architectural pattern is a stylized, abstract description of good practice, which has been tried and tested in different systems and environments.</a:t>
            </a:r>
            <a:r>
              <a:rPr lang="zh-CN" altLang="en-US" sz="2400" dirty="0">
                <a:solidFill>
                  <a:srgbClr val="C00000"/>
                </a:solidFill>
                <a:latin typeface="黑体" panose="02010609060101010101" pitchFamily="49" charset="-122"/>
                <a:ea typeface="黑体" panose="02010609060101010101" pitchFamily="49" charset="-122"/>
                <a:cs typeface="Calibri" panose="020F0502020204030204" charset="0"/>
              </a:rPr>
              <a:t>含义：好的实践的风格化、抽象化描述</a:t>
            </a:r>
            <a:endParaRPr lang="en-US" sz="3200" dirty="0">
              <a:solidFill>
                <a:schemeClr val="tx2">
                  <a:lumMod val="75000"/>
                  <a:lumOff val="25000"/>
                </a:schemeClr>
              </a:solidFill>
              <a:latin typeface="Calibri" panose="020F0502020204030204" charset="0"/>
              <a:cs typeface="Calibri" panose="020F0502020204030204" charset="0"/>
            </a:endParaRPr>
          </a:p>
          <a:p>
            <a:pPr>
              <a:lnSpc>
                <a:spcPct val="82000"/>
              </a:lnSpc>
              <a:spcAft>
                <a:spcPts val="0"/>
              </a:spcAft>
            </a:pPr>
            <a:r>
              <a:rPr lang="en-US" sz="3100" dirty="0">
                <a:solidFill>
                  <a:schemeClr val="tx2">
                    <a:lumMod val="75000"/>
                    <a:lumOff val="25000"/>
                  </a:schemeClr>
                </a:solidFill>
                <a:latin typeface="Calibri" panose="020F0502020204030204" charset="0"/>
                <a:cs typeface="Calibri" panose="020F0502020204030204" charset="0"/>
              </a:rPr>
              <a:t> It should include information on when it is and is not appropriate to use that pattern, and details on the pattern’s strengths and weaknesses. </a:t>
            </a:r>
            <a:r>
              <a:rPr lang="zh-CN" altLang="en-US" sz="2400" dirty="0">
                <a:solidFill>
                  <a:srgbClr val="C00000"/>
                </a:solidFill>
                <a:latin typeface="黑体" panose="02010609060101010101" pitchFamily="49" charset="-122"/>
                <a:ea typeface="黑体" panose="02010609060101010101" pitchFamily="49" charset="-122"/>
                <a:cs typeface="Calibri" panose="020F0502020204030204" charset="0"/>
              </a:rPr>
              <a:t>应包含：何时适合/不适合，优缺点</a:t>
            </a:r>
            <a:endParaRPr lang="zh-CN" altLang="en-US" sz="2400" dirty="0">
              <a:solidFill>
                <a:srgbClr val="C00000"/>
              </a:solidFill>
              <a:latin typeface="黑体" panose="02010609060101010101" pitchFamily="49" charset="-122"/>
              <a:ea typeface="黑体" panose="02010609060101010101" pitchFamily="49" charset="-122"/>
              <a:cs typeface="Calibri" panose="020F0502020204030204" charset="0"/>
            </a:endParaRPr>
          </a:p>
        </p:txBody>
      </p:sp>
      <p:sp>
        <p:nvSpPr>
          <p:cNvPr id="10" name="Content Placeholder 2"/>
          <p:cNvSpPr>
            <a:spLocks noGrp="1"/>
          </p:cNvSpPr>
          <p:nvPr/>
        </p:nvSpPr>
        <p:spPr>
          <a:xfrm>
            <a:off x="120650" y="6050280"/>
            <a:ext cx="8941435" cy="62928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Aft>
                <a:spcPts val="0"/>
              </a:spcAft>
              <a:buNone/>
            </a:pPr>
            <a:r>
              <a:rPr lang="en-US" sz="2200" b="0" dirty="0" smtClean="0">
                <a:solidFill>
                  <a:schemeClr val="tx1"/>
                </a:solidFill>
                <a:latin typeface="Calibri" panose="020F0502020204030204" charset="0"/>
                <a:cs typeface="Calibri" panose="020F0502020204030204" charset="0"/>
              </a:rPr>
              <a:t>* e.g. Fig. 6.4 describes MVC pattern. It is basis of interaction management in many web-based systems and is supported by most language frameworks. </a:t>
            </a:r>
            <a:endParaRPr lang="en-US" sz="22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38505"/>
            <a:ext cx="8977630" cy="6470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ea typeface="宋体" panose="02010600030101010101" pitchFamily="2" charset="-122"/>
                <a:sym typeface="+mn-ea"/>
              </a:rPr>
              <a:t> </a:t>
            </a:r>
            <a:r>
              <a:rPr lang="zh-CN" altLang="en-US" sz="2800" dirty="0">
                <a:solidFill>
                  <a:schemeClr val="accent1">
                    <a:lumMod val="75000"/>
                  </a:schemeClr>
                </a:solidFill>
                <a:ea typeface="宋体" panose="02010600030101010101" pitchFamily="2" charset="-122"/>
                <a:sym typeface="+mn-ea"/>
              </a:rPr>
              <a:t>MVC</a:t>
            </a:r>
            <a:r>
              <a:rPr lang="en-US" altLang="zh-CN" sz="2800" dirty="0">
                <a:solidFill>
                  <a:schemeClr val="accent1">
                    <a:lumMod val="75000"/>
                  </a:schemeClr>
                </a:solidFill>
                <a:ea typeface="宋体" panose="02010600030101010101" pitchFamily="2" charset="-122"/>
                <a:sym typeface="+mn-ea"/>
              </a:rPr>
              <a:t>(</a:t>
            </a:r>
            <a:r>
              <a:rPr lang="zh-CN" altLang="en-US" sz="2000" dirty="0">
                <a:solidFill>
                  <a:schemeClr val="accent1">
                    <a:lumMod val="75000"/>
                  </a:schemeClr>
                </a:solidFill>
                <a:ea typeface="宋体" panose="02010600030101010101" pitchFamily="2" charset="-122"/>
                <a:sym typeface="+mn-ea"/>
              </a:rPr>
              <a:t>Model-View-Controller</a:t>
            </a:r>
            <a:r>
              <a:rPr lang="en-US" altLang="zh-CN" sz="2800" dirty="0">
                <a:solidFill>
                  <a:schemeClr val="accent1">
                    <a:lumMod val="75000"/>
                  </a:schemeClr>
                </a:solidFill>
                <a:ea typeface="宋体" panose="02010600030101010101" pitchFamily="2" charset="-122"/>
                <a:sym typeface="+mn-ea"/>
              </a:rPr>
              <a:t>)</a:t>
            </a:r>
            <a:r>
              <a:rPr lang="zh-CN" altLang="en-US" sz="2800" dirty="0">
                <a:solidFill>
                  <a:schemeClr val="accent1">
                    <a:lumMod val="75000"/>
                  </a:schemeClr>
                </a:solidFill>
                <a:ea typeface="宋体" panose="02010600030101010101" pitchFamily="2" charset="-122"/>
                <a:sym typeface="+mn-ea"/>
              </a:rPr>
              <a:t> pattern</a:t>
            </a:r>
            <a:r>
              <a:rPr lang="en-US" altLang="zh-CN" sz="28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模型</a:t>
            </a:r>
            <a:r>
              <a:rPr lang="en-US" altLang="zh-CN"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a:t>
            </a:r>
            <a:r>
              <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视图</a:t>
            </a:r>
            <a:r>
              <a:rPr lang="en-US" altLang="zh-CN"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a:t>
            </a:r>
            <a:r>
              <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控制器模式</a:t>
            </a:r>
            <a:endPar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0850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6  Architectural Design</a:t>
            </a:r>
            <a:endParaRPr lang="en-US" altLang="zh-CN" sz="2800" dirty="0">
              <a:solidFill>
                <a:srgbClr val="660066"/>
              </a:solidFill>
              <a:ea typeface="黑体" panose="02010609060101010101" pitchFamily="49" charset="-122"/>
              <a:cs typeface="+mj-lt"/>
            </a:endParaRPr>
          </a:p>
        </p:txBody>
      </p:sp>
      <p:graphicFrame>
        <p:nvGraphicFramePr>
          <p:cNvPr id="2" name="Content Placeholder 3"/>
          <p:cNvGraphicFramePr>
            <a:graphicFrameLocks noGrp="1"/>
          </p:cNvGraphicFramePr>
          <p:nvPr>
            <p:custDataLst>
              <p:tags r:id="rId3"/>
            </p:custDataLst>
          </p:nvPr>
        </p:nvGraphicFramePr>
        <p:xfrm>
          <a:off x="88900" y="1346835"/>
          <a:ext cx="8965565" cy="5334635"/>
        </p:xfrm>
        <a:graphic>
          <a:graphicData uri="http://schemas.openxmlformats.org/drawingml/2006/table">
            <a:tbl>
              <a:tblPr firstRow="1" bandRow="1">
                <a:effectLst/>
                <a:tableStyleId>{5940675A-B579-460E-94D1-54222C63F5DA}</a:tableStyleId>
              </a:tblPr>
              <a:tblGrid>
                <a:gridCol w="1755775"/>
                <a:gridCol w="7209790"/>
              </a:tblGrid>
              <a:tr h="362585">
                <a:tc>
                  <a:txBody>
                    <a:bodyPr/>
                    <a:p>
                      <a:pPr algn="ctr">
                        <a:spcAft>
                          <a:spcPts val="0"/>
                        </a:spcAft>
                        <a:tabLst>
                          <a:tab pos="342900" algn="l"/>
                          <a:tab pos="685800" algn="l"/>
                          <a:tab pos="1028700" algn="l"/>
                        </a:tabLst>
                      </a:pPr>
                      <a:r>
                        <a:rPr lang="en-GB" sz="1800" b="1" dirty="0" smtClean="0">
                          <a:solidFill>
                            <a:schemeClr val="bg1"/>
                          </a:solidFill>
                          <a:latin typeface="Helvetica"/>
                          <a:ea typeface="Times New Roman" panose="02020603050405020304"/>
                          <a:cs typeface="Helvetica"/>
                        </a:rPr>
                        <a:t>Name</a:t>
                      </a:r>
                      <a:endParaRPr lang="en-GB" sz="1800" b="1" dirty="0" smtClean="0">
                        <a:solidFill>
                          <a:schemeClr val="bg1"/>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c>
                  <a:txBody>
                    <a:bodyPr/>
                    <a:p>
                      <a:pPr algn="ctr">
                        <a:spcAft>
                          <a:spcPts val="0"/>
                        </a:spcAft>
                        <a:tabLst>
                          <a:tab pos="342900" algn="l"/>
                          <a:tab pos="685800" algn="l"/>
                          <a:tab pos="1028700" algn="l"/>
                        </a:tabLst>
                      </a:pPr>
                      <a:r>
                        <a:rPr lang="en-GB" sz="1800" b="1" dirty="0">
                          <a:solidFill>
                            <a:schemeClr val="bg1"/>
                          </a:solidFill>
                          <a:latin typeface="Helvetica"/>
                          <a:ea typeface="Times New Roman" panose="02020603050405020304"/>
                          <a:cs typeface="Helvetica"/>
                        </a:rPr>
                        <a:t>MVC (Model-View-Controller</a:t>
                      </a:r>
                      <a:r>
                        <a:rPr lang="en-GB" sz="1800" b="1" dirty="0" smtClean="0">
                          <a:solidFill>
                            <a:schemeClr val="bg1"/>
                          </a:solidFill>
                          <a:latin typeface="Helvetica"/>
                          <a:ea typeface="Times New Roman" panose="02020603050405020304"/>
                          <a:cs typeface="Helvetica"/>
                        </a:rPr>
                        <a:t>)</a:t>
                      </a:r>
                      <a:endParaRPr lang="en-GB" sz="1800" b="1" dirty="0" smtClean="0">
                        <a:solidFill>
                          <a:schemeClr val="bg1"/>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r>
              <a:tr h="1932940">
                <a:tc>
                  <a:txBody>
                    <a:bodyPr/>
                    <a:p>
                      <a:pPr algn="l">
                        <a:spcAft>
                          <a:spcPts val="0"/>
                        </a:spcAft>
                        <a:tabLst>
                          <a:tab pos="342900" algn="l"/>
                          <a:tab pos="685800" algn="l"/>
                          <a:tab pos="1028700" algn="l"/>
                        </a:tabLst>
                      </a:pPr>
                      <a:r>
                        <a:rPr lang="en-GB" sz="1800" b="1" dirty="0" smtClean="0">
                          <a:solidFill>
                            <a:srgbClr val="000000"/>
                          </a:solidFill>
                          <a:latin typeface="Helvetica"/>
                          <a:ea typeface="Times New Roman" panose="02020603050405020304"/>
                          <a:cs typeface="Helvetica"/>
                        </a:rPr>
                        <a:t>Description</a:t>
                      </a:r>
                      <a:endParaRPr lang="en-GB" sz="1800" b="1" dirty="0" smtClean="0">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Aft>
                          <a:spcPts val="0"/>
                        </a:spcAft>
                        <a:tabLst>
                          <a:tab pos="342900" algn="l"/>
                          <a:tab pos="685800" algn="l"/>
                          <a:tab pos="1028700" algn="l"/>
                        </a:tabLst>
                      </a:pPr>
                      <a:r>
                        <a:rPr lang="en-GB" sz="1800" dirty="0">
                          <a:solidFill>
                            <a:srgbClr val="000000"/>
                          </a:solidFill>
                          <a:latin typeface="Helvetica"/>
                          <a:ea typeface="Times New Roman" panose="02020603050405020304"/>
                          <a:cs typeface="Helvetica"/>
                        </a:rPr>
                        <a:t>Separates presentation and interaction from the system data. The system is structured into three logical components that interact with each other. The Model component manages the system data and associated operations on that data. The View component defines and manages how the data is presented to the user. The Controller component manages user interaction (e.g., key presses, mouse clicks, etc.) and passes these interactions to the View and the Model. See Figure 6.</a:t>
                      </a:r>
                      <a:r>
                        <a:rPr lang="en-US" altLang="en-GB" sz="1800" dirty="0">
                          <a:solidFill>
                            <a:srgbClr val="000000"/>
                          </a:solidFill>
                          <a:latin typeface="Helvetica"/>
                          <a:ea typeface="Times New Roman" panose="02020603050405020304"/>
                          <a:cs typeface="Helvetica"/>
                        </a:rPr>
                        <a:t>5</a:t>
                      </a:r>
                      <a:r>
                        <a:rPr lang="en-GB" sz="1800" dirty="0">
                          <a:solidFill>
                            <a:srgbClr val="000000"/>
                          </a:solidFill>
                          <a:latin typeface="Helvetica"/>
                          <a:ea typeface="Times New Roman" panose="02020603050405020304"/>
                          <a:cs typeface="Helvetica"/>
                        </a:rPr>
                        <a:t>.</a:t>
                      </a:r>
                      <a:endParaRPr lang="en-GB" sz="1800" dirty="0">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560070">
                <a:tc>
                  <a:txBody>
                    <a:bodyPr/>
                    <a:p>
                      <a:pPr algn="l">
                        <a:spcAft>
                          <a:spcPts val="0"/>
                        </a:spcAft>
                        <a:tabLst>
                          <a:tab pos="342900" algn="l"/>
                          <a:tab pos="685800" algn="l"/>
                          <a:tab pos="1028700" algn="l"/>
                        </a:tabLst>
                      </a:pPr>
                      <a:r>
                        <a:rPr lang="en-GB" sz="1800" b="1">
                          <a:solidFill>
                            <a:srgbClr val="000000"/>
                          </a:solidFill>
                          <a:latin typeface="Helvetica"/>
                          <a:ea typeface="Times New Roman" panose="02020603050405020304"/>
                          <a:cs typeface="Helvetica"/>
                        </a:rPr>
                        <a:t>Example</a:t>
                      </a:r>
                      <a:endParaRPr lang="en-GB" sz="1800" b="1">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algn="l">
                        <a:spcAft>
                          <a:spcPts val="0"/>
                        </a:spcAft>
                        <a:tabLst>
                          <a:tab pos="342900" algn="l"/>
                          <a:tab pos="685800" algn="l"/>
                          <a:tab pos="1028700" algn="l"/>
                        </a:tabLst>
                      </a:pPr>
                      <a:r>
                        <a:rPr lang="en-GB" sz="1800" dirty="0">
                          <a:solidFill>
                            <a:srgbClr val="000000"/>
                          </a:solidFill>
                          <a:latin typeface="Helvetica"/>
                          <a:ea typeface="Times New Roman" panose="02020603050405020304"/>
                          <a:cs typeface="Helvetica"/>
                        </a:rPr>
                        <a:t>Figure 6.</a:t>
                      </a:r>
                      <a:r>
                        <a:rPr lang="en-US" altLang="en-GB" sz="1800" dirty="0">
                          <a:solidFill>
                            <a:srgbClr val="000000"/>
                          </a:solidFill>
                          <a:latin typeface="Helvetica"/>
                          <a:ea typeface="Times New Roman" panose="02020603050405020304"/>
                          <a:cs typeface="Helvetica"/>
                        </a:rPr>
                        <a:t>6</a:t>
                      </a:r>
                      <a:r>
                        <a:rPr lang="en-GB" sz="1800" dirty="0">
                          <a:solidFill>
                            <a:srgbClr val="000000"/>
                          </a:solidFill>
                          <a:latin typeface="Helvetica"/>
                          <a:ea typeface="Times New Roman" panose="02020603050405020304"/>
                          <a:cs typeface="Helvetica"/>
                        </a:rPr>
                        <a:t> shows the architecture of a web-based application system organized using the MVC pattern.</a:t>
                      </a:r>
                      <a:endParaRPr lang="en-GB" sz="1800" dirty="0">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r h="828040">
                <a:tc>
                  <a:txBody>
                    <a:bodyPr/>
                    <a:p>
                      <a:pPr algn="l">
                        <a:spcAft>
                          <a:spcPts val="0"/>
                        </a:spcAft>
                        <a:tabLst>
                          <a:tab pos="342900" algn="l"/>
                          <a:tab pos="685800" algn="l"/>
                          <a:tab pos="1028700" algn="l"/>
                        </a:tabLst>
                      </a:pPr>
                      <a:r>
                        <a:rPr lang="en-GB" sz="1800" b="1">
                          <a:solidFill>
                            <a:srgbClr val="000000"/>
                          </a:solidFill>
                          <a:latin typeface="Helvetica"/>
                          <a:ea typeface="Times New Roman" panose="02020603050405020304"/>
                          <a:cs typeface="Helvetica"/>
                        </a:rPr>
                        <a:t>When used</a:t>
                      </a:r>
                      <a:endParaRPr lang="en-GB" sz="1800" b="1">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Aft>
                          <a:spcPts val="0"/>
                        </a:spcAft>
                        <a:tabLst>
                          <a:tab pos="342900" algn="l"/>
                          <a:tab pos="685800" algn="l"/>
                          <a:tab pos="1028700" algn="l"/>
                        </a:tabLst>
                      </a:pPr>
                      <a:r>
                        <a:rPr lang="en-GB" sz="1800" dirty="0">
                          <a:solidFill>
                            <a:srgbClr val="000000"/>
                          </a:solidFill>
                          <a:latin typeface="Helvetica"/>
                          <a:ea typeface="Times New Roman" panose="02020603050405020304"/>
                          <a:cs typeface="Helvetica"/>
                        </a:rPr>
                        <a:t>Used when there are multiple ways to view and interact with data. Also used when the future requirements for interaction and presentation of data are unknown. </a:t>
                      </a:r>
                      <a:endParaRPr lang="en-GB" sz="1800" dirty="0">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829310">
                <a:tc>
                  <a:txBody>
                    <a:bodyPr/>
                    <a:p>
                      <a:pPr algn="l">
                        <a:spcAft>
                          <a:spcPts val="0"/>
                        </a:spcAft>
                        <a:tabLst>
                          <a:tab pos="342900" algn="l"/>
                          <a:tab pos="685800" algn="l"/>
                          <a:tab pos="1028700" algn="l"/>
                        </a:tabLst>
                      </a:pPr>
                      <a:r>
                        <a:rPr lang="en-GB" sz="1800" b="1">
                          <a:solidFill>
                            <a:srgbClr val="000000"/>
                          </a:solidFill>
                          <a:latin typeface="Helvetica"/>
                          <a:ea typeface="Times New Roman" panose="02020603050405020304"/>
                          <a:cs typeface="Helvetica"/>
                        </a:rPr>
                        <a:t>Advantages</a:t>
                      </a:r>
                      <a:endParaRPr lang="en-GB" sz="1800" b="1">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algn="l">
                        <a:spcAft>
                          <a:spcPts val="0"/>
                        </a:spcAft>
                        <a:tabLst>
                          <a:tab pos="342900" algn="l"/>
                          <a:tab pos="685800" algn="l"/>
                          <a:tab pos="1028700" algn="l"/>
                        </a:tabLst>
                      </a:pPr>
                      <a:r>
                        <a:rPr lang="en-GB" sz="1800" dirty="0">
                          <a:solidFill>
                            <a:srgbClr val="000000"/>
                          </a:solidFill>
                          <a:latin typeface="Helvetica"/>
                          <a:ea typeface="Times New Roman" panose="02020603050405020304"/>
                          <a:cs typeface="Helvetica"/>
                        </a:rPr>
                        <a:t>Allows the data to change independently of its representation and vice versa. Supports presentation of the same data in different ways</a:t>
                      </a:r>
                      <a:r>
                        <a:rPr lang="en-US" altLang="en-GB" sz="1800" dirty="0">
                          <a:solidFill>
                            <a:srgbClr val="000000"/>
                          </a:solidFill>
                          <a:latin typeface="Helvetica"/>
                          <a:ea typeface="Times New Roman" panose="02020603050405020304"/>
                          <a:cs typeface="Helvetica"/>
                        </a:rPr>
                        <a:t>,</a:t>
                      </a:r>
                      <a:r>
                        <a:rPr lang="en-GB" sz="1800" dirty="0">
                          <a:solidFill>
                            <a:srgbClr val="000000"/>
                          </a:solidFill>
                          <a:latin typeface="Helvetica"/>
                          <a:ea typeface="Times New Roman" panose="02020603050405020304"/>
                          <a:cs typeface="Helvetica"/>
                        </a:rPr>
                        <a:t> with changes made in one representation shown in all of them. </a:t>
                      </a:r>
                      <a:endParaRPr lang="en-GB" sz="1800" dirty="0">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r h="560070">
                <a:tc>
                  <a:txBody>
                    <a:bodyPr/>
                    <a:p>
                      <a:pPr algn="l">
                        <a:spcAft>
                          <a:spcPts val="0"/>
                        </a:spcAft>
                        <a:tabLst>
                          <a:tab pos="342900" algn="l"/>
                          <a:tab pos="685800" algn="l"/>
                          <a:tab pos="1028700" algn="l"/>
                        </a:tabLst>
                      </a:pPr>
                      <a:r>
                        <a:rPr lang="en-GB" sz="1800" b="1">
                          <a:solidFill>
                            <a:srgbClr val="000000"/>
                          </a:solidFill>
                          <a:latin typeface="Helvetica"/>
                          <a:ea typeface="Times New Roman" panose="02020603050405020304"/>
                          <a:cs typeface="Helvetica"/>
                        </a:rPr>
                        <a:t>Disadvantages</a:t>
                      </a:r>
                      <a:endParaRPr lang="en-GB" sz="1800" b="1">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Aft>
                          <a:spcPts val="0"/>
                        </a:spcAft>
                        <a:tabLst>
                          <a:tab pos="342900" algn="l"/>
                          <a:tab pos="685800" algn="l"/>
                          <a:tab pos="1028700" algn="l"/>
                        </a:tabLst>
                      </a:pPr>
                      <a:r>
                        <a:rPr lang="en-US" altLang="en-GB" sz="1800" dirty="0">
                          <a:solidFill>
                            <a:srgbClr val="000000"/>
                          </a:solidFill>
                          <a:latin typeface="Helvetica"/>
                          <a:ea typeface="Times New Roman" panose="02020603050405020304"/>
                          <a:cs typeface="Helvetica"/>
                        </a:rPr>
                        <a:t>May</a:t>
                      </a:r>
                      <a:r>
                        <a:rPr lang="en-GB" sz="1800" dirty="0">
                          <a:solidFill>
                            <a:srgbClr val="000000"/>
                          </a:solidFill>
                          <a:latin typeface="Helvetica"/>
                          <a:ea typeface="Times New Roman" panose="02020603050405020304"/>
                          <a:cs typeface="Helvetica"/>
                        </a:rPr>
                        <a:t> involve additional code and code complexity when the data model and interactions are simple</a:t>
                      </a:r>
                      <a:r>
                        <a:rPr lang="en-GB" sz="1800" dirty="0" smtClean="0">
                          <a:solidFill>
                            <a:srgbClr val="000000"/>
                          </a:solidFill>
                          <a:latin typeface="Helvetica"/>
                          <a:ea typeface="Times New Roman" panose="02020603050405020304"/>
                          <a:cs typeface="Helvetica"/>
                        </a:rPr>
                        <a:t>.</a:t>
                      </a:r>
                      <a:endParaRPr lang="en-GB" sz="1800" dirty="0">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bl>
          </a:graphicData>
        </a:graphic>
      </p:graphicFrame>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38505"/>
            <a:ext cx="8977630" cy="6470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The organization of the </a:t>
            </a:r>
            <a:r>
              <a:rPr lang="en-US" altLang="zh-CN" sz="3000" dirty="0">
                <a:solidFill>
                  <a:schemeClr val="accent1">
                    <a:lumMod val="75000"/>
                  </a:schemeClr>
                </a:solidFill>
                <a:ea typeface="宋体" panose="02010600030101010101" pitchFamily="2" charset="-122"/>
                <a:sym typeface="+mn-ea"/>
              </a:rPr>
              <a:t>MVC   </a:t>
            </a:r>
            <a:r>
              <a:rPr lang="zh-CN" altLang="en-US" sz="24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MVC组织</a:t>
            </a:r>
            <a:endParaRPr lang="zh-CN" altLang="en-US" sz="30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50850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6  Architectural Design</a:t>
            </a:r>
            <a:endParaRPr lang="en-US" altLang="zh-CN" sz="2800" dirty="0">
              <a:solidFill>
                <a:srgbClr val="660066"/>
              </a:solidFill>
              <a:ea typeface="黑体" panose="02010609060101010101" pitchFamily="49" charset="-122"/>
              <a:cs typeface="+mj-lt"/>
            </a:endParaRPr>
          </a:p>
        </p:txBody>
      </p:sp>
      <p:pic>
        <p:nvPicPr>
          <p:cNvPr id="2" name="图片 1"/>
          <p:cNvPicPr>
            <a:picLocks noChangeAspect="1"/>
          </p:cNvPicPr>
          <p:nvPr/>
        </p:nvPicPr>
        <p:blipFill>
          <a:blip r:embed="rId3"/>
          <a:stretch>
            <a:fillRect/>
          </a:stretch>
        </p:blipFill>
        <p:spPr>
          <a:xfrm>
            <a:off x="1062355" y="1265555"/>
            <a:ext cx="7960360" cy="5393690"/>
          </a:xfrm>
          <a:prstGeom prst="rect">
            <a:avLst/>
          </a:prstGeom>
        </p:spPr>
      </p:pic>
      <p:sp>
        <p:nvSpPr>
          <p:cNvPr id="10" name="Content Placeholder 2"/>
          <p:cNvSpPr>
            <a:spLocks noGrp="1"/>
          </p:cNvSpPr>
          <p:nvPr/>
        </p:nvSpPr>
        <p:spPr>
          <a:xfrm>
            <a:off x="120650" y="4973955"/>
            <a:ext cx="2219960" cy="160401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Aft>
                <a:spcPts val="0"/>
              </a:spcAft>
              <a:buNone/>
            </a:pPr>
            <a:r>
              <a:rPr lang="en-US" sz="2200" b="0" dirty="0" smtClean="0">
                <a:solidFill>
                  <a:schemeClr val="tx1"/>
                </a:solidFill>
                <a:latin typeface="Calibri" panose="020F0502020204030204" charset="0"/>
                <a:cs typeface="Calibri" panose="020F0502020204030204" charset="0"/>
              </a:rPr>
              <a:t>* These present the architecture from different views: Fig. 6.5 is a </a:t>
            </a:r>
            <a:r>
              <a:rPr lang="en-US" sz="2200" b="0" u="sng" dirty="0" smtClean="0">
                <a:solidFill>
                  <a:schemeClr val="tx1"/>
                </a:solidFill>
                <a:latin typeface="Calibri" panose="020F0502020204030204" charset="0"/>
                <a:cs typeface="Calibri" panose="020F0502020204030204" charset="0"/>
              </a:rPr>
              <a:t>conceptual view</a:t>
            </a:r>
            <a:endParaRPr lang="en-US" sz="2200" b="0" u="sng" dirty="0" smtClean="0">
              <a:solidFill>
                <a:schemeClr val="tx1"/>
              </a:solidFill>
              <a:latin typeface="Calibri" panose="020F0502020204030204" charset="0"/>
              <a:cs typeface="Calibri" panose="020F0502020204030204" charset="0"/>
            </a:endParaRPr>
          </a:p>
        </p:txBody>
      </p:sp>
      <p:pic>
        <p:nvPicPr>
          <p:cNvPr id="3" name="图片 2"/>
          <p:cNvPicPr>
            <a:picLocks noChangeAspect="1"/>
          </p:cNvPicPr>
          <p:nvPr/>
        </p:nvPicPr>
        <p:blipFill>
          <a:blip r:embed="rId4"/>
          <a:stretch>
            <a:fillRect/>
          </a:stretch>
        </p:blipFill>
        <p:spPr>
          <a:xfrm>
            <a:off x="7115810" y="5898515"/>
            <a:ext cx="1800225" cy="657225"/>
          </a:xfrm>
          <a:prstGeom prst="rect">
            <a:avLst/>
          </a:prstGeom>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787015" y="1242060"/>
            <a:ext cx="6230620" cy="5318125"/>
          </a:xfrm>
          <a:prstGeom prst="rect">
            <a:avLst/>
          </a:prstGeom>
        </p:spPr>
      </p:pic>
      <p:sp>
        <p:nvSpPr>
          <p:cNvPr id="15363" name="Rectangle 3"/>
          <p:cNvSpPr>
            <a:spLocks noGrp="1" noRot="1"/>
          </p:cNvSpPr>
          <p:nvPr>
            <p:ph type="subTitle" idx="1"/>
            <p:custDataLst>
              <p:tags r:id="rId2"/>
            </p:custDataLst>
          </p:nvPr>
        </p:nvSpPr>
        <p:spPr>
          <a:xfrm>
            <a:off x="88900" y="738505"/>
            <a:ext cx="8977630" cy="8026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700" dirty="0">
                <a:solidFill>
                  <a:srgbClr val="0070C0"/>
                </a:solidFill>
                <a:ea typeface="宋体" panose="02010600030101010101" pitchFamily="2" charset="-122"/>
                <a:sym typeface="+mn-ea"/>
              </a:rPr>
              <a:t> </a:t>
            </a:r>
            <a:r>
              <a:rPr lang="zh-CN" altLang="en-US" sz="2700" dirty="0">
                <a:solidFill>
                  <a:schemeClr val="accent1">
                    <a:lumMod val="75000"/>
                  </a:schemeClr>
                </a:solidFill>
                <a:ea typeface="宋体" panose="02010600030101010101" pitchFamily="2" charset="-122"/>
                <a:sym typeface="+mn-ea"/>
              </a:rPr>
              <a:t>Web application architecture using the MVC pattern</a:t>
            </a:r>
            <a:r>
              <a:rPr lang="en-US" altLang="zh-CN" sz="2700" dirty="0">
                <a:solidFill>
                  <a:schemeClr val="accent1">
                    <a:lumMod val="75000"/>
                  </a:schemeClr>
                </a:solidFill>
                <a:ea typeface="宋体" panose="02010600030101010101" pitchFamily="2" charset="-122"/>
                <a:sym typeface="+mn-ea"/>
              </a:rPr>
              <a:t> </a:t>
            </a:r>
            <a:r>
              <a:rPr lang="zh-CN" altLang="en-US" sz="20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使用</a:t>
            </a:r>
            <a:r>
              <a:rPr lang="en-US" altLang="zh-CN" sz="20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MVC</a:t>
            </a:r>
            <a:r>
              <a:rPr lang="zh-CN" altLang="en-US" sz="20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模式的</a:t>
            </a:r>
            <a:r>
              <a:rPr lang="en-US" altLang="zh-CN" sz="20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Web</a:t>
            </a:r>
            <a:r>
              <a:rPr lang="zh-CN" altLang="en-US" sz="20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应用体系结构</a:t>
            </a:r>
            <a:endParaRPr lang="zh-CN" altLang="en-US" sz="20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4" name="Rectangle 2"/>
          <p:cNvSpPr>
            <a:spLocks noGrp="1"/>
          </p:cNvSpPr>
          <p:nvPr>
            <p:ph type="title"/>
            <p:custDataLst>
              <p:tags r:id="rId3"/>
            </p:custDataLst>
          </p:nvPr>
        </p:nvSpPr>
        <p:spPr>
          <a:xfrm>
            <a:off x="617538" y="198755"/>
            <a:ext cx="50850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6  Architectural Design</a:t>
            </a:r>
            <a:endParaRPr lang="en-US" altLang="zh-CN" sz="2800" dirty="0">
              <a:solidFill>
                <a:srgbClr val="660066"/>
              </a:solidFill>
              <a:ea typeface="黑体" panose="02010609060101010101" pitchFamily="49" charset="-122"/>
              <a:cs typeface="+mj-lt"/>
            </a:endParaRPr>
          </a:p>
        </p:txBody>
      </p:sp>
      <p:sp>
        <p:nvSpPr>
          <p:cNvPr id="10" name="Content Placeholder 2"/>
          <p:cNvSpPr>
            <a:spLocks noGrp="1"/>
          </p:cNvSpPr>
          <p:nvPr/>
        </p:nvSpPr>
        <p:spPr>
          <a:xfrm>
            <a:off x="192405" y="1744980"/>
            <a:ext cx="2366645" cy="329755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Aft>
                <a:spcPts val="0"/>
              </a:spcAft>
              <a:buNone/>
            </a:pPr>
            <a:r>
              <a:rPr lang="en-US" sz="2200" b="0" dirty="0" smtClean="0">
                <a:solidFill>
                  <a:schemeClr val="tx1"/>
                </a:solidFill>
                <a:latin typeface="Calibri" panose="020F0502020204030204" charset="0"/>
                <a:cs typeface="Calibri" panose="020F0502020204030204" charset="0"/>
              </a:rPr>
              <a:t>* These present the architecture from different views: Fig. 6.6 </a:t>
            </a:r>
            <a:r>
              <a:rPr lang="en-US" sz="2200" b="0" u="sng" dirty="0" smtClean="0">
                <a:solidFill>
                  <a:schemeClr val="tx1"/>
                </a:solidFill>
                <a:latin typeface="Calibri" panose="020F0502020204030204" charset="0"/>
                <a:cs typeface="Calibri" panose="020F0502020204030204" charset="0"/>
              </a:rPr>
              <a:t>shows a runtime system</a:t>
            </a:r>
            <a:r>
              <a:rPr lang="en-US" sz="2200" b="0" dirty="0" smtClean="0">
                <a:solidFill>
                  <a:schemeClr val="tx1"/>
                </a:solidFill>
                <a:latin typeface="Calibri" panose="020F0502020204030204" charset="0"/>
                <a:cs typeface="Calibri" panose="020F0502020204030204" charset="0"/>
              </a:rPr>
              <a:t> architecture when this pattern is used for interaction management in a web-based system.</a:t>
            </a:r>
            <a:endParaRPr lang="en-US" sz="2200" b="0" dirty="0" smtClean="0">
              <a:solidFill>
                <a:schemeClr val="tx1"/>
              </a:solidFill>
              <a:latin typeface="Calibri" panose="020F0502020204030204" charset="0"/>
              <a:cs typeface="Calibri" panose="020F0502020204030204" charset="0"/>
            </a:endParaRPr>
          </a:p>
        </p:txBody>
      </p:sp>
      <p:pic>
        <p:nvPicPr>
          <p:cNvPr id="3" name="图片 2"/>
          <p:cNvPicPr>
            <a:picLocks noChangeAspect="1"/>
          </p:cNvPicPr>
          <p:nvPr/>
        </p:nvPicPr>
        <p:blipFill>
          <a:blip r:embed="rId4"/>
          <a:stretch>
            <a:fillRect/>
          </a:stretch>
        </p:blipFill>
        <p:spPr>
          <a:xfrm>
            <a:off x="1198880" y="5525770"/>
            <a:ext cx="1866900" cy="685800"/>
          </a:xfrm>
          <a:prstGeom prst="rect">
            <a:avLst/>
          </a:prstGeom>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68655"/>
            <a:ext cx="8977630" cy="51625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Layered architecture</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分层体系结构</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50850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6  Architectural Design</a:t>
            </a:r>
            <a:endParaRPr lang="en-US" altLang="zh-CN" sz="2800" dirty="0">
              <a:solidFill>
                <a:srgbClr val="660066"/>
              </a:solidFill>
              <a:ea typeface="黑体" panose="02010609060101010101" pitchFamily="49" charset="-122"/>
              <a:cs typeface="+mj-lt"/>
            </a:endParaRPr>
          </a:p>
        </p:txBody>
      </p:sp>
      <p:sp>
        <p:nvSpPr>
          <p:cNvPr id="45059" name="Rectangle 3"/>
          <p:cNvSpPr>
            <a:spLocks noGrp="1" noChangeArrowheads="1"/>
          </p:cNvSpPr>
          <p:nvPr/>
        </p:nvSpPr>
        <p:spPr>
          <a:xfrm>
            <a:off x="46990" y="1169670"/>
            <a:ext cx="9058275" cy="556133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Bef>
                <a:spcPts val="500"/>
              </a:spcBef>
              <a:spcAft>
                <a:spcPts val="0"/>
              </a:spcAft>
            </a:pPr>
            <a:r>
              <a:rPr lang="en-US" sz="3000" dirty="0">
                <a:solidFill>
                  <a:schemeClr val="tx2">
                    <a:lumMod val="75000"/>
                    <a:lumOff val="25000"/>
                  </a:schemeClr>
                </a:solidFill>
                <a:latin typeface="Calibri" panose="020F0502020204030204" charset="0"/>
                <a:cs typeface="Calibri" panose="020F0502020204030204" charset="0"/>
              </a:rPr>
              <a:t> The system functionality is organized into separate layers, each layer only relies on the facilities and services offered by the layer immediately beneath it.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系统功能分层组织,每层只依赖于紧邻的下一层提供的设施和服务</a:t>
            </a:r>
            <a:endParaRPr lang="en-US" sz="3200" dirty="0">
              <a:solidFill>
                <a:schemeClr val="tx2">
                  <a:lumMod val="75000"/>
                  <a:lumOff val="25000"/>
                </a:schemeClr>
              </a:solidFill>
              <a:latin typeface="Calibri" panose="020F0502020204030204" charset="0"/>
              <a:cs typeface="Calibri" panose="020F0502020204030204" charset="0"/>
            </a:endParaRPr>
          </a:p>
          <a:p>
            <a:pPr>
              <a:lnSpc>
                <a:spcPct val="82000"/>
              </a:lnSpc>
              <a:spcBef>
                <a:spcPts val="500"/>
              </a:spcBef>
              <a:spcAft>
                <a:spcPts val="0"/>
              </a:spcAft>
            </a:pPr>
            <a:r>
              <a:rPr lang="en-US" sz="3000" dirty="0">
                <a:solidFill>
                  <a:schemeClr val="tx2">
                    <a:lumMod val="75000"/>
                    <a:lumOff val="25000"/>
                  </a:schemeClr>
                </a:solidFill>
                <a:latin typeface="Calibri" panose="020F0502020204030204" charset="0"/>
                <a:cs typeface="Calibri" panose="020F0502020204030204" charset="0"/>
              </a:rPr>
              <a:t> This layered approach supports the incremental development of systems. </a:t>
            </a:r>
            <a:r>
              <a:rPr lang="en-US" sz="2700" b="0" dirty="0">
                <a:solidFill>
                  <a:schemeClr val="tx1"/>
                </a:solidFill>
                <a:latin typeface="Calibri" panose="020F0502020204030204" charset="0"/>
                <a:cs typeface="Calibri" panose="020F0502020204030204" charset="0"/>
              </a:rPr>
              <a:t>some services provided by a developed layer are made available to users.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支持增量式开发</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a:p>
            <a:pPr>
              <a:lnSpc>
                <a:spcPct val="82000"/>
              </a:lnSpc>
              <a:spcBef>
                <a:spcPts val="500"/>
              </a:spcBef>
              <a:spcAft>
                <a:spcPts val="0"/>
              </a:spcAft>
            </a:pPr>
            <a:r>
              <a:rPr lang="en-US" sz="3000" dirty="0">
                <a:solidFill>
                  <a:schemeClr val="tx2">
                    <a:lumMod val="75000"/>
                    <a:lumOff val="25000"/>
                  </a:schemeClr>
                </a:solidFill>
                <a:latin typeface="Calibri" panose="020F0502020204030204" charset="0"/>
                <a:cs typeface="Calibri" panose="020F0502020204030204" charset="0"/>
              </a:rPr>
              <a:t> The architecture is also changeable and portable.</a:t>
            </a:r>
            <a:r>
              <a:rPr lang="en-US" sz="3000" b="0" dirty="0">
                <a:solidFill>
                  <a:schemeClr val="tx1"/>
                </a:solidFill>
                <a:latin typeface="Calibri" panose="020F0502020204030204" charset="0"/>
                <a:cs typeface="Calibri" panose="020F0502020204030204" charset="0"/>
              </a:rPr>
              <a:t> </a:t>
            </a:r>
            <a:r>
              <a:rPr lang="en-US" sz="2700" b="0" dirty="0">
                <a:solidFill>
                  <a:schemeClr val="tx1"/>
                </a:solidFill>
                <a:latin typeface="Calibri" panose="020F0502020204030204" charset="0"/>
                <a:cs typeface="Calibri" panose="020F0502020204030204" charset="0"/>
              </a:rPr>
              <a:t>If its interface is unchanged, a new layer with extended functionality can replace an existing layer; when interfaces change, only the adjacent layer is affected.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可变和可移植</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a:p>
            <a:pPr>
              <a:lnSpc>
                <a:spcPct val="82000"/>
              </a:lnSpc>
              <a:spcBef>
                <a:spcPts val="500"/>
              </a:spcBef>
              <a:spcAft>
                <a:spcPts val="0"/>
              </a:spcAft>
            </a:pPr>
            <a:r>
              <a:rPr lang="en-US" sz="3000" dirty="0">
                <a:solidFill>
                  <a:schemeClr val="tx2">
                    <a:lumMod val="75000"/>
                    <a:lumOff val="25000"/>
                  </a:schemeClr>
                </a:solidFill>
                <a:latin typeface="Calibri" panose="020F0502020204030204" charset="0"/>
                <a:cs typeface="Calibri" panose="020F0502020204030204" charset="0"/>
              </a:rPr>
              <a:t> As layered systems localize dependencies, this makes it easier to provide multi-platform implementations of an application system.</a:t>
            </a:r>
            <a:r>
              <a:rPr lang="en-US" sz="3000" b="0" dirty="0">
                <a:solidFill>
                  <a:schemeClr val="tx1"/>
                </a:solidFill>
                <a:latin typeface="Calibri" panose="020F0502020204030204" charset="0"/>
                <a:cs typeface="Calibri" panose="020F0502020204030204" charset="0"/>
              </a:rPr>
              <a:t> </a:t>
            </a:r>
            <a:r>
              <a:rPr lang="en-US" sz="2700" b="0" dirty="0">
                <a:solidFill>
                  <a:schemeClr val="tx1"/>
                </a:solidFill>
                <a:latin typeface="Calibri" panose="020F0502020204030204" charset="0"/>
                <a:cs typeface="Calibri" panose="020F0502020204030204" charset="0"/>
              </a:rPr>
              <a:t>Only the machine-dependent layers need be reimplemented.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 依赖局部化,使多平台实现容易</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92150"/>
            <a:ext cx="8977630" cy="69342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The Layered architecture pattern</a:t>
            </a:r>
            <a:r>
              <a:rPr lang="en-US" altLang="zh-CN" sz="3000" dirty="0">
                <a:solidFill>
                  <a:schemeClr val="accent1">
                    <a:lumMod val="75000"/>
                  </a:schemeClr>
                </a:solidFill>
                <a:ea typeface="宋体" panose="02010600030101010101" pitchFamily="2" charset="-122"/>
                <a:sym typeface="+mn-ea"/>
              </a:rPr>
              <a:t> </a:t>
            </a:r>
            <a:r>
              <a:rPr lang="zh-CN" altLang="en-US" sz="2000" dirty="0">
                <a:solidFill>
                  <a:schemeClr val="accent1">
                    <a:lumMod val="75000"/>
                  </a:schemeClr>
                </a:solidFill>
                <a:latin typeface="黑体" panose="02010609060101010101" pitchFamily="49" charset="-122"/>
                <a:ea typeface="黑体" panose="02010609060101010101" pitchFamily="49" charset="-122"/>
                <a:sym typeface="+mn-ea"/>
              </a:rPr>
              <a:t>分层体系结构模式</a:t>
            </a:r>
            <a:endParaRPr lang="zh-CN" altLang="en-US" sz="2000"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0850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6  Architectural Design</a:t>
            </a:r>
            <a:endParaRPr lang="en-US" altLang="zh-CN" sz="2800" dirty="0">
              <a:solidFill>
                <a:srgbClr val="660066"/>
              </a:solidFill>
              <a:ea typeface="黑体" panose="02010609060101010101" pitchFamily="49" charset="-122"/>
              <a:cs typeface="+mj-lt"/>
            </a:endParaRPr>
          </a:p>
        </p:txBody>
      </p:sp>
      <p:graphicFrame>
        <p:nvGraphicFramePr>
          <p:cNvPr id="2" name="Content Placeholder 3"/>
          <p:cNvGraphicFramePr>
            <a:graphicFrameLocks noGrp="1"/>
          </p:cNvGraphicFramePr>
          <p:nvPr>
            <p:custDataLst>
              <p:tags r:id="rId3"/>
            </p:custDataLst>
          </p:nvPr>
        </p:nvGraphicFramePr>
        <p:xfrm>
          <a:off x="82550" y="1273175"/>
          <a:ext cx="8983345" cy="5441315"/>
        </p:xfrm>
        <a:graphic>
          <a:graphicData uri="http://schemas.openxmlformats.org/drawingml/2006/table">
            <a:tbl>
              <a:tblPr firstRow="1" bandRow="1">
                <a:effectLst/>
                <a:tableStyleId>{5940675A-B579-460E-94D1-54222C63F5DA}</a:tableStyleId>
              </a:tblPr>
              <a:tblGrid>
                <a:gridCol w="1811020"/>
                <a:gridCol w="7172325"/>
              </a:tblGrid>
              <a:tr h="384175">
                <a:tc>
                  <a:txBody>
                    <a:bodyPr/>
                    <a:p>
                      <a:pPr algn="ctr">
                        <a:spcAft>
                          <a:spcPts val="0"/>
                        </a:spcAft>
                        <a:tabLst>
                          <a:tab pos="342900" algn="l"/>
                          <a:tab pos="685800" algn="l"/>
                          <a:tab pos="1028700" algn="l"/>
                        </a:tabLst>
                      </a:pPr>
                      <a:r>
                        <a:rPr lang="en-GB" sz="1800" b="1" dirty="0" smtClean="0">
                          <a:solidFill>
                            <a:schemeClr val="bg1"/>
                          </a:solidFill>
                          <a:latin typeface="Helvetica"/>
                          <a:ea typeface="Times New Roman" panose="02020603050405020304"/>
                          <a:cs typeface="Helvetica"/>
                        </a:rPr>
                        <a:t>Name</a:t>
                      </a:r>
                      <a:endParaRPr lang="en-GB" sz="1800" b="1" dirty="0" smtClean="0">
                        <a:solidFill>
                          <a:schemeClr val="bg1"/>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c>
                  <a:txBody>
                    <a:bodyPr/>
                    <a:p>
                      <a:pPr algn="ctr">
                        <a:spcAft>
                          <a:spcPts val="0"/>
                        </a:spcAft>
                        <a:tabLst>
                          <a:tab pos="342900" algn="l"/>
                          <a:tab pos="685800" algn="l"/>
                          <a:tab pos="1028700" algn="l"/>
                        </a:tabLst>
                      </a:pPr>
                      <a:r>
                        <a:rPr lang="en-GB" sz="1800" b="1" dirty="0">
                          <a:solidFill>
                            <a:schemeClr val="bg1"/>
                          </a:solidFill>
                          <a:latin typeface="Helvetica"/>
                          <a:ea typeface="Times New Roman" panose="02020603050405020304"/>
                          <a:cs typeface="Helvetica"/>
                        </a:rPr>
                        <a:t>Layered </a:t>
                      </a:r>
                      <a:r>
                        <a:rPr lang="en-GB" sz="1800" b="1" dirty="0" smtClean="0">
                          <a:solidFill>
                            <a:schemeClr val="bg1"/>
                          </a:solidFill>
                          <a:latin typeface="Helvetica"/>
                          <a:ea typeface="Times New Roman" panose="02020603050405020304"/>
                          <a:cs typeface="Helvetica"/>
                        </a:rPr>
                        <a:t>architecture</a:t>
                      </a:r>
                      <a:endParaRPr lang="en-GB" sz="1800" b="1" dirty="0" smtClean="0">
                        <a:solidFill>
                          <a:schemeClr val="bg1"/>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r>
              <a:tr h="1097280">
                <a:tc>
                  <a:txBody>
                    <a:bodyPr/>
                    <a:p>
                      <a:pPr algn="l">
                        <a:spcAft>
                          <a:spcPts val="0"/>
                        </a:spcAft>
                        <a:tabLst>
                          <a:tab pos="342900" algn="l"/>
                          <a:tab pos="685800" algn="l"/>
                          <a:tab pos="1028700" algn="l"/>
                        </a:tabLst>
                      </a:pPr>
                      <a:r>
                        <a:rPr lang="en-GB" sz="1800" b="1" dirty="0" smtClean="0">
                          <a:solidFill>
                            <a:srgbClr val="000000"/>
                          </a:solidFill>
                          <a:latin typeface="Helvetica"/>
                          <a:ea typeface="Times New Roman" panose="02020603050405020304"/>
                          <a:cs typeface="Helvetica"/>
                        </a:rPr>
                        <a:t>Description</a:t>
                      </a:r>
                      <a:endParaRPr lang="en-GB" sz="1800" b="1" dirty="0" smtClean="0">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Aft>
                          <a:spcPts val="0"/>
                        </a:spcAft>
                        <a:tabLst>
                          <a:tab pos="342900" algn="l"/>
                          <a:tab pos="685800" algn="l"/>
                          <a:tab pos="1028700" algn="l"/>
                        </a:tabLst>
                      </a:pPr>
                      <a:r>
                        <a:rPr lang="en-GB" sz="1800" dirty="0">
                          <a:solidFill>
                            <a:srgbClr val="000000"/>
                          </a:solidFill>
                          <a:latin typeface="Helvetica"/>
                          <a:ea typeface="Times New Roman" panose="02020603050405020304"/>
                          <a:cs typeface="Helvetica"/>
                        </a:rPr>
                        <a:t>Organizes the system into layers with related functionality associated with each layer. A layer provides services to the layer above it so the lowest</a:t>
                      </a:r>
                      <a:r>
                        <a:rPr lang="en-US" altLang="en-GB" sz="1800" dirty="0">
                          <a:solidFill>
                            <a:srgbClr val="000000"/>
                          </a:solidFill>
                          <a:latin typeface="Helvetica"/>
                          <a:ea typeface="Times New Roman" panose="02020603050405020304"/>
                          <a:cs typeface="Helvetica"/>
                        </a:rPr>
                        <a:t> </a:t>
                      </a:r>
                      <a:r>
                        <a:rPr lang="en-GB" sz="1800" dirty="0">
                          <a:solidFill>
                            <a:srgbClr val="000000"/>
                          </a:solidFill>
                          <a:latin typeface="Helvetica"/>
                          <a:ea typeface="Times New Roman" panose="02020603050405020304"/>
                          <a:cs typeface="Helvetica"/>
                        </a:rPr>
                        <a:t>level layers represent core services that are likely to be used throughout the system. See Figure 6.</a:t>
                      </a:r>
                      <a:r>
                        <a:rPr lang="en-US" altLang="en-GB" sz="1800" dirty="0">
                          <a:solidFill>
                            <a:srgbClr val="000000"/>
                          </a:solidFill>
                          <a:latin typeface="Helvetica"/>
                          <a:ea typeface="Times New Roman" panose="02020603050405020304"/>
                          <a:cs typeface="Helvetica"/>
                        </a:rPr>
                        <a:t>8</a:t>
                      </a:r>
                      <a:r>
                        <a:rPr lang="en-GB" sz="1800" dirty="0">
                          <a:solidFill>
                            <a:srgbClr val="000000"/>
                          </a:solidFill>
                          <a:latin typeface="Helvetica"/>
                          <a:ea typeface="Times New Roman" panose="02020603050405020304"/>
                          <a:cs typeface="Helvetica"/>
                        </a:rPr>
                        <a:t>.</a:t>
                      </a:r>
                      <a:endParaRPr lang="en-GB" sz="1800" dirty="0">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548640">
                <a:tc>
                  <a:txBody>
                    <a:bodyPr/>
                    <a:p>
                      <a:pPr algn="l">
                        <a:spcAft>
                          <a:spcPts val="0"/>
                        </a:spcAft>
                        <a:tabLst>
                          <a:tab pos="342900" algn="l"/>
                          <a:tab pos="685800" algn="l"/>
                          <a:tab pos="1028700" algn="l"/>
                        </a:tabLst>
                      </a:pPr>
                      <a:r>
                        <a:rPr lang="en-GB" sz="1800" b="1">
                          <a:solidFill>
                            <a:srgbClr val="000000"/>
                          </a:solidFill>
                          <a:latin typeface="Helvetica"/>
                          <a:ea typeface="Times New Roman" panose="02020603050405020304"/>
                          <a:cs typeface="Helvetica"/>
                        </a:rPr>
                        <a:t>Example</a:t>
                      </a:r>
                      <a:endParaRPr lang="en-GB" sz="1800" b="1">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algn="l">
                        <a:spcAft>
                          <a:spcPts val="0"/>
                        </a:spcAft>
                        <a:tabLst>
                          <a:tab pos="342900" algn="l"/>
                          <a:tab pos="685800" algn="l"/>
                          <a:tab pos="1028700" algn="l"/>
                        </a:tabLst>
                      </a:pPr>
                      <a:r>
                        <a:rPr lang="en-GB" sz="1800" dirty="0">
                          <a:solidFill>
                            <a:srgbClr val="000000"/>
                          </a:solidFill>
                          <a:latin typeface="Helvetica"/>
                          <a:ea typeface="Times New Roman" panose="02020603050405020304"/>
                          <a:cs typeface="Helvetica"/>
                        </a:rPr>
                        <a:t>A layered model of a digital learning system to support learning of all subjects in schools (Figure 6.9).</a:t>
                      </a:r>
                      <a:endParaRPr lang="en-GB" sz="1800" dirty="0">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r h="1097280">
                <a:tc>
                  <a:txBody>
                    <a:bodyPr/>
                    <a:p>
                      <a:pPr algn="l">
                        <a:spcAft>
                          <a:spcPts val="0"/>
                        </a:spcAft>
                        <a:tabLst>
                          <a:tab pos="342900" algn="l"/>
                          <a:tab pos="685800" algn="l"/>
                          <a:tab pos="1028700" algn="l"/>
                        </a:tabLst>
                      </a:pPr>
                      <a:r>
                        <a:rPr lang="en-GB" sz="1800" b="1">
                          <a:solidFill>
                            <a:srgbClr val="000000"/>
                          </a:solidFill>
                          <a:latin typeface="Helvetica"/>
                          <a:ea typeface="Times New Roman" panose="02020603050405020304"/>
                          <a:cs typeface="Helvetica"/>
                        </a:rPr>
                        <a:t>When used</a:t>
                      </a:r>
                      <a:endParaRPr lang="en-GB" sz="1800" b="1">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Aft>
                          <a:spcPts val="0"/>
                        </a:spcAft>
                        <a:tabLst>
                          <a:tab pos="342900" algn="l"/>
                          <a:tab pos="685800" algn="l"/>
                          <a:tab pos="1028700" algn="l"/>
                        </a:tabLst>
                      </a:pPr>
                      <a:r>
                        <a:rPr lang="en-GB" sz="1800" dirty="0">
                          <a:solidFill>
                            <a:srgbClr val="000000"/>
                          </a:solidFill>
                          <a:latin typeface="Helvetica"/>
                          <a:ea typeface="Times New Roman" panose="02020603050405020304"/>
                          <a:cs typeface="Helvetica"/>
                        </a:rPr>
                        <a:t>Used when building new facilities on top of existing systems; when the development is spread across several teams with each team responsibility for a layer of functionality; when there is a requirement for multi-level security.</a:t>
                      </a:r>
                      <a:endParaRPr lang="en-GB" sz="1800" dirty="0">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883285">
                <a:tc>
                  <a:txBody>
                    <a:bodyPr/>
                    <a:p>
                      <a:pPr algn="l">
                        <a:spcAft>
                          <a:spcPts val="0"/>
                        </a:spcAft>
                        <a:tabLst>
                          <a:tab pos="342900" algn="l"/>
                          <a:tab pos="685800" algn="l"/>
                          <a:tab pos="1028700" algn="l"/>
                        </a:tabLst>
                      </a:pPr>
                      <a:r>
                        <a:rPr lang="en-GB" sz="1800" b="1">
                          <a:solidFill>
                            <a:srgbClr val="000000"/>
                          </a:solidFill>
                          <a:latin typeface="Helvetica"/>
                          <a:ea typeface="Times New Roman" panose="02020603050405020304"/>
                          <a:cs typeface="Helvetica"/>
                        </a:rPr>
                        <a:t>Advantages</a:t>
                      </a:r>
                      <a:endParaRPr lang="en-GB" sz="1800" b="1">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algn="l">
                        <a:spcAft>
                          <a:spcPts val="0"/>
                        </a:spcAft>
                        <a:tabLst>
                          <a:tab pos="342900" algn="l"/>
                          <a:tab pos="685800" algn="l"/>
                          <a:tab pos="1028700" algn="l"/>
                        </a:tabLst>
                      </a:pPr>
                      <a:r>
                        <a:rPr lang="en-GB" sz="1800" dirty="0">
                          <a:solidFill>
                            <a:srgbClr val="000000"/>
                          </a:solidFill>
                          <a:latin typeface="Helvetica"/>
                          <a:ea typeface="Times New Roman" panose="02020603050405020304"/>
                          <a:cs typeface="Helvetica"/>
                        </a:rPr>
                        <a:t>Allows replacement of entire layers so long as the interface is maintained. Redundant facilities (e.g., authentication) can be provided in each layer to increase the dependability of the system.</a:t>
                      </a:r>
                      <a:endParaRPr lang="en-GB" sz="1800" dirty="0">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r h="1430655">
                <a:tc>
                  <a:txBody>
                    <a:bodyPr/>
                    <a:p>
                      <a:pPr algn="l">
                        <a:spcAft>
                          <a:spcPts val="0"/>
                        </a:spcAft>
                        <a:tabLst>
                          <a:tab pos="342900" algn="l"/>
                          <a:tab pos="685800" algn="l"/>
                          <a:tab pos="1028700" algn="l"/>
                        </a:tabLst>
                      </a:pPr>
                      <a:r>
                        <a:rPr lang="en-GB" sz="1800" b="1">
                          <a:solidFill>
                            <a:srgbClr val="000000"/>
                          </a:solidFill>
                          <a:latin typeface="Helvetica"/>
                          <a:ea typeface="Times New Roman" panose="02020603050405020304"/>
                          <a:cs typeface="Helvetica"/>
                        </a:rPr>
                        <a:t>Disadvantages</a:t>
                      </a:r>
                      <a:endParaRPr lang="en-GB" sz="1800" b="1">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Aft>
                          <a:spcPts val="0"/>
                        </a:spcAft>
                        <a:tabLst>
                          <a:tab pos="342900" algn="l"/>
                          <a:tab pos="685800" algn="l"/>
                          <a:tab pos="1028700" algn="l"/>
                        </a:tabLst>
                      </a:pPr>
                      <a:r>
                        <a:rPr lang="en-GB" sz="1800" dirty="0">
                          <a:solidFill>
                            <a:srgbClr val="000000"/>
                          </a:solidFill>
                          <a:latin typeface="Helvetica"/>
                          <a:ea typeface="Times New Roman" panose="02020603050405020304"/>
                          <a:cs typeface="Helvetica"/>
                        </a:rPr>
                        <a:t>In practice, providing a clean separation between layers is often difficult and a high-level layer may have to interact directly with lower-level layers rather than through the layer immediately below it. Performance can be a problem because of multiple levels of interpretation of a service request as it is processed at each layer</a:t>
                      </a:r>
                      <a:r>
                        <a:rPr lang="en-GB" sz="1800" dirty="0" smtClean="0">
                          <a:solidFill>
                            <a:srgbClr val="000000"/>
                          </a:solidFill>
                          <a:latin typeface="Helvetica"/>
                          <a:ea typeface="Times New Roman" panose="02020603050405020304"/>
                          <a:cs typeface="Helvetica"/>
                        </a:rPr>
                        <a:t>.</a:t>
                      </a:r>
                      <a:endParaRPr lang="en-GB" sz="1800" dirty="0">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bl>
          </a:graphicData>
        </a:graphic>
      </p:graphicFrame>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13740"/>
            <a:ext cx="8977630" cy="60007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A generic layered architecture</a:t>
            </a:r>
            <a:r>
              <a:rPr lang="en-US" altLang="zh-CN" sz="30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一般的分层体系结构</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0850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6  Architectural Design</a:t>
            </a:r>
            <a:endParaRPr lang="en-US" altLang="zh-CN" sz="2800" dirty="0">
              <a:solidFill>
                <a:srgbClr val="660066"/>
              </a:solidFill>
              <a:ea typeface="黑体" panose="02010609060101010101" pitchFamily="49" charset="-122"/>
              <a:cs typeface="+mj-lt"/>
            </a:endParaRPr>
          </a:p>
        </p:txBody>
      </p:sp>
      <p:pic>
        <p:nvPicPr>
          <p:cNvPr id="2" name="图片 1"/>
          <p:cNvPicPr>
            <a:picLocks noChangeAspect="1"/>
          </p:cNvPicPr>
          <p:nvPr/>
        </p:nvPicPr>
        <p:blipFill>
          <a:blip r:embed="rId3"/>
          <a:stretch>
            <a:fillRect/>
          </a:stretch>
        </p:blipFill>
        <p:spPr>
          <a:xfrm>
            <a:off x="3096895" y="1314450"/>
            <a:ext cx="5809615" cy="4229735"/>
          </a:xfrm>
          <a:prstGeom prst="rect">
            <a:avLst/>
          </a:prstGeom>
        </p:spPr>
      </p:pic>
      <p:pic>
        <p:nvPicPr>
          <p:cNvPr id="5" name="图片 4"/>
          <p:cNvPicPr>
            <a:picLocks noChangeAspect="1"/>
          </p:cNvPicPr>
          <p:nvPr/>
        </p:nvPicPr>
        <p:blipFill>
          <a:blip r:embed="rId4"/>
          <a:stretch>
            <a:fillRect/>
          </a:stretch>
        </p:blipFill>
        <p:spPr>
          <a:xfrm>
            <a:off x="3221990" y="1482725"/>
            <a:ext cx="1695450" cy="447675"/>
          </a:xfrm>
          <a:prstGeom prst="rect">
            <a:avLst/>
          </a:prstGeom>
        </p:spPr>
      </p:pic>
      <p:sp>
        <p:nvSpPr>
          <p:cNvPr id="10" name="Content Placeholder 2"/>
          <p:cNvSpPr>
            <a:spLocks noGrp="1"/>
          </p:cNvSpPr>
          <p:nvPr/>
        </p:nvSpPr>
        <p:spPr>
          <a:xfrm>
            <a:off x="115570" y="1386205"/>
            <a:ext cx="2971800" cy="409829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Aft>
                <a:spcPts val="0"/>
              </a:spcAft>
              <a:buNone/>
            </a:pPr>
            <a:r>
              <a:rPr lang="en-US" sz="2000" b="0" dirty="0" smtClean="0">
                <a:solidFill>
                  <a:schemeClr val="tx1"/>
                </a:solidFill>
                <a:latin typeface="Calibri" panose="020F0502020204030204" charset="0"/>
                <a:cs typeface="Calibri" panose="020F0502020204030204" charset="0"/>
              </a:rPr>
              <a:t>* Figure 6.8 is an example of a layered architecture with four layers. The lowest layer includes </a:t>
            </a:r>
            <a:r>
              <a:rPr lang="en-US" sz="2000" b="0" u="sng" dirty="0" smtClean="0">
                <a:solidFill>
                  <a:schemeClr val="tx1"/>
                </a:solidFill>
                <a:latin typeface="Calibri" panose="020F0502020204030204" charset="0"/>
                <a:cs typeface="Calibri" panose="020F0502020204030204" charset="0"/>
              </a:rPr>
              <a:t>system support</a:t>
            </a:r>
            <a:r>
              <a:rPr lang="en-US" sz="2000" b="0" dirty="0" smtClean="0">
                <a:solidFill>
                  <a:schemeClr val="tx1"/>
                </a:solidFill>
                <a:latin typeface="Calibri" panose="020F0502020204030204" charset="0"/>
                <a:cs typeface="Calibri" panose="020F0502020204030204" charset="0"/>
              </a:rPr>
              <a:t> software—typically, database and operating system support. </a:t>
            </a:r>
            <a:endParaRPr lang="en-US" sz="2000" b="0" dirty="0" smtClean="0">
              <a:solidFill>
                <a:schemeClr val="tx1"/>
              </a:solidFill>
              <a:latin typeface="Calibri" panose="020F0502020204030204" charset="0"/>
              <a:cs typeface="Calibri" panose="020F0502020204030204" charset="0"/>
            </a:endParaRPr>
          </a:p>
          <a:p>
            <a:pPr marL="0" indent="0">
              <a:lnSpc>
                <a:spcPct val="85000"/>
              </a:lnSpc>
              <a:spcAft>
                <a:spcPts val="0"/>
              </a:spcAft>
              <a:buNone/>
            </a:pPr>
            <a:r>
              <a:rPr lang="en-US" sz="2000" b="0" dirty="0" smtClean="0">
                <a:solidFill>
                  <a:schemeClr val="tx1"/>
                </a:solidFill>
                <a:latin typeface="Calibri" panose="020F0502020204030204" charset="0"/>
                <a:cs typeface="Calibri" panose="020F0502020204030204" charset="0"/>
              </a:rPr>
              <a:t>* The next layer is the </a:t>
            </a:r>
            <a:r>
              <a:rPr lang="en-US" sz="2000" b="0" u="sng" dirty="0" smtClean="0">
                <a:solidFill>
                  <a:schemeClr val="tx1"/>
                </a:solidFill>
                <a:latin typeface="Calibri" panose="020F0502020204030204" charset="0"/>
                <a:cs typeface="Calibri" panose="020F0502020204030204" charset="0"/>
              </a:rPr>
              <a:t>application layer</a:t>
            </a:r>
            <a:r>
              <a:rPr lang="en-US" sz="2000" b="0" dirty="0" smtClean="0">
                <a:solidFill>
                  <a:schemeClr val="tx1"/>
                </a:solidFill>
                <a:latin typeface="Calibri" panose="020F0502020204030204" charset="0"/>
                <a:cs typeface="Calibri" panose="020F0502020204030204" charset="0"/>
              </a:rPr>
              <a:t>, which includes the components concerned with the application functionality and utility components used by other application components. </a:t>
            </a:r>
            <a:endParaRPr lang="en-US" sz="2000" b="0" dirty="0" smtClean="0">
              <a:solidFill>
                <a:schemeClr val="tx1"/>
              </a:solidFill>
              <a:latin typeface="Calibri" panose="020F0502020204030204" charset="0"/>
              <a:cs typeface="Calibri" panose="020F0502020204030204" charset="0"/>
            </a:endParaRPr>
          </a:p>
        </p:txBody>
      </p:sp>
      <p:sp>
        <p:nvSpPr>
          <p:cNvPr id="7" name="Content Placeholder 2"/>
          <p:cNvSpPr>
            <a:spLocks noGrp="1"/>
          </p:cNvSpPr>
          <p:nvPr/>
        </p:nvSpPr>
        <p:spPr>
          <a:xfrm>
            <a:off x="114935" y="5531485"/>
            <a:ext cx="8931275" cy="115379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Aft>
                <a:spcPts val="0"/>
              </a:spcAft>
              <a:buNone/>
            </a:pPr>
            <a:r>
              <a:rPr lang="en-US" sz="2000" b="0" dirty="0" smtClean="0">
                <a:solidFill>
                  <a:schemeClr val="tx1"/>
                </a:solidFill>
                <a:latin typeface="Calibri" panose="020F0502020204030204" charset="0"/>
                <a:cs typeface="Calibri" panose="020F0502020204030204" charset="0"/>
              </a:rPr>
              <a:t>* The third layer is concerned with user </a:t>
            </a:r>
            <a:r>
              <a:rPr lang="en-US" sz="2000" b="0" u="sng" dirty="0" smtClean="0">
                <a:solidFill>
                  <a:schemeClr val="tx1"/>
                </a:solidFill>
                <a:latin typeface="Calibri" panose="020F0502020204030204" charset="0"/>
                <a:cs typeface="Calibri" panose="020F0502020204030204" charset="0"/>
              </a:rPr>
              <a:t>interface management</a:t>
            </a:r>
            <a:r>
              <a:rPr lang="en-US" sz="2000" b="0" dirty="0" smtClean="0">
                <a:solidFill>
                  <a:schemeClr val="tx1"/>
                </a:solidFill>
                <a:latin typeface="Calibri" panose="020F0502020204030204" charset="0"/>
                <a:cs typeface="Calibri" panose="020F0502020204030204" charset="0"/>
              </a:rPr>
              <a:t> and providing user authentication and authorization, with the top layer providing </a:t>
            </a:r>
            <a:r>
              <a:rPr lang="en-US" sz="2000" b="0" u="sng" dirty="0" smtClean="0">
                <a:solidFill>
                  <a:schemeClr val="tx1"/>
                </a:solidFill>
                <a:latin typeface="Calibri" panose="020F0502020204030204" charset="0"/>
                <a:cs typeface="Calibri" panose="020F0502020204030204" charset="0"/>
              </a:rPr>
              <a:t>user interface</a:t>
            </a:r>
            <a:r>
              <a:rPr lang="en-US" sz="2000" b="0" dirty="0" smtClean="0">
                <a:solidFill>
                  <a:schemeClr val="tx1"/>
                </a:solidFill>
                <a:latin typeface="Calibri" panose="020F0502020204030204" charset="0"/>
                <a:cs typeface="Calibri" panose="020F0502020204030204" charset="0"/>
              </a:rPr>
              <a:t> facilities. </a:t>
            </a:r>
            <a:endParaRPr lang="en-US" sz="2000" b="0" dirty="0" smtClean="0">
              <a:solidFill>
                <a:schemeClr val="tx1"/>
              </a:solidFill>
              <a:latin typeface="Calibri" panose="020F0502020204030204" charset="0"/>
              <a:cs typeface="Calibri" panose="020F0502020204030204" charset="0"/>
            </a:endParaRPr>
          </a:p>
          <a:p>
            <a:pPr marL="0" indent="0">
              <a:lnSpc>
                <a:spcPct val="85000"/>
              </a:lnSpc>
              <a:spcAft>
                <a:spcPts val="0"/>
              </a:spcAft>
              <a:buNone/>
            </a:pPr>
            <a:r>
              <a:rPr lang="en-US" sz="2000" b="0" dirty="0" smtClean="0">
                <a:solidFill>
                  <a:schemeClr val="tx1"/>
                </a:solidFill>
                <a:latin typeface="Calibri" panose="020F0502020204030204" charset="0"/>
                <a:cs typeface="Calibri" panose="020F0502020204030204" charset="0"/>
              </a:rPr>
              <a:t>* Of course, the number of layers is arbitrary. Any of the layers in Figure 6.8 could be split into two or more layers.</a:t>
            </a:r>
            <a:endParaRPr lang="en-US" sz="20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89610"/>
            <a:ext cx="8977630" cy="66929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The architecture of the iLearn system</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例子</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0850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6  Architectural Design</a:t>
            </a:r>
            <a:endParaRPr lang="en-US" altLang="zh-CN" sz="2800" dirty="0">
              <a:solidFill>
                <a:srgbClr val="660066"/>
              </a:solidFill>
              <a:ea typeface="黑体" panose="02010609060101010101" pitchFamily="49" charset="-122"/>
              <a:cs typeface="+mj-lt"/>
            </a:endParaRPr>
          </a:p>
        </p:txBody>
      </p:sp>
      <p:pic>
        <p:nvPicPr>
          <p:cNvPr id="2" name="图片 1"/>
          <p:cNvPicPr>
            <a:picLocks noChangeAspect="1"/>
          </p:cNvPicPr>
          <p:nvPr/>
        </p:nvPicPr>
        <p:blipFill>
          <a:blip r:embed="rId3"/>
          <a:stretch>
            <a:fillRect/>
          </a:stretch>
        </p:blipFill>
        <p:spPr>
          <a:xfrm>
            <a:off x="3242310" y="1248410"/>
            <a:ext cx="5829300" cy="5450205"/>
          </a:xfrm>
          <a:prstGeom prst="rect">
            <a:avLst/>
          </a:prstGeom>
        </p:spPr>
      </p:pic>
      <p:sp>
        <p:nvSpPr>
          <p:cNvPr id="10" name="Content Placeholder 2"/>
          <p:cNvSpPr>
            <a:spLocks noGrp="1"/>
          </p:cNvSpPr>
          <p:nvPr/>
        </p:nvSpPr>
        <p:spPr>
          <a:xfrm>
            <a:off x="115570" y="1457960"/>
            <a:ext cx="3100070" cy="419417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Aft>
                <a:spcPts val="0"/>
              </a:spcAft>
              <a:buNone/>
            </a:pPr>
            <a:r>
              <a:rPr lang="en-US" b="0" dirty="0" smtClean="0">
                <a:solidFill>
                  <a:schemeClr val="tx1"/>
                </a:solidFill>
                <a:latin typeface="Calibri" panose="020F0502020204030204" charset="0"/>
                <a:cs typeface="Calibri" panose="020F0502020204030204" charset="0"/>
              </a:rPr>
              <a:t>*Figure 6.9 shows that the iLearn digital learning system, has a four-layer architecture that follows this pattern. </a:t>
            </a:r>
            <a:endParaRPr lang="en-US" b="0" dirty="0" smtClean="0">
              <a:solidFill>
                <a:schemeClr val="tx1"/>
              </a:solidFill>
              <a:latin typeface="Calibri" panose="020F0502020204030204" charset="0"/>
              <a:cs typeface="Calibri" panose="020F0502020204030204" charset="0"/>
            </a:endParaRPr>
          </a:p>
          <a:p>
            <a:pPr marL="0" indent="0">
              <a:lnSpc>
                <a:spcPct val="85000"/>
              </a:lnSpc>
              <a:spcAft>
                <a:spcPts val="0"/>
              </a:spcAft>
              <a:buNone/>
            </a:pPr>
            <a:r>
              <a:rPr lang="en-US" b="0" dirty="0" smtClean="0">
                <a:solidFill>
                  <a:schemeClr val="tx1"/>
                </a:solidFill>
                <a:latin typeface="Calibri" panose="020F0502020204030204" charset="0"/>
                <a:cs typeface="Calibri" panose="020F0502020204030204" charset="0"/>
              </a:rPr>
              <a:t>* You can see another example of the Layered Architecture pattern in Figure 6.19 (Section 6.4, which shows the organization of the Mentcare system. </a:t>
            </a:r>
            <a:endParaRPr lang="en-US" b="0" dirty="0" smtClean="0">
              <a:solidFill>
                <a:schemeClr val="tx1"/>
              </a:solidFill>
              <a:latin typeface="Calibri" panose="020F0502020204030204" charset="0"/>
              <a:cs typeface="Calibri" panose="020F0502020204030204" charset="0"/>
            </a:endParaRPr>
          </a:p>
        </p:txBody>
      </p:sp>
      <p:pic>
        <p:nvPicPr>
          <p:cNvPr id="3" name="图片 2"/>
          <p:cNvPicPr>
            <a:picLocks noChangeAspect="1"/>
          </p:cNvPicPr>
          <p:nvPr/>
        </p:nvPicPr>
        <p:blipFill>
          <a:blip r:embed="rId4"/>
          <a:stretch>
            <a:fillRect/>
          </a:stretch>
        </p:blipFill>
        <p:spPr>
          <a:xfrm>
            <a:off x="1379855" y="5784215"/>
            <a:ext cx="1647825" cy="742950"/>
          </a:xfrm>
          <a:prstGeom prst="rect">
            <a:avLst/>
          </a:prstGeom>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92150"/>
            <a:ext cx="8977630" cy="56451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Repository architecture</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仓储体系结构</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0850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6  Architectural Design</a:t>
            </a:r>
            <a:endParaRPr lang="en-US" altLang="zh-CN" sz="2800" dirty="0">
              <a:solidFill>
                <a:srgbClr val="660066"/>
              </a:solidFill>
              <a:ea typeface="黑体" panose="02010609060101010101" pitchFamily="49" charset="-122"/>
              <a:cs typeface="+mj-lt"/>
            </a:endParaRPr>
          </a:p>
        </p:txBody>
      </p:sp>
      <p:sp>
        <p:nvSpPr>
          <p:cNvPr id="13315" name="Rectangle 3"/>
          <p:cNvSpPr>
            <a:spLocks noGrp="1" noChangeArrowheads="1"/>
          </p:cNvSpPr>
          <p:nvPr/>
        </p:nvSpPr>
        <p:spPr>
          <a:xfrm>
            <a:off x="76200" y="1241425"/>
            <a:ext cx="8990330" cy="5367655"/>
          </a:xfrm>
          <a:prstGeom prst="rect">
            <a:avLst/>
          </a:prstGeom>
          <a:noFill/>
        </p:spPr>
        <p:txBody>
          <a:bodyPr lIns="90487" tIns="44450" rIns="90487" bIns="44450"/>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Bef>
                <a:spcPts val="600"/>
              </a:spcBef>
              <a:spcAft>
                <a:spcPts val="0"/>
              </a:spcAft>
            </a:pPr>
            <a:r>
              <a:rPr lang="en-US" altLang="en-GB" sz="3100" dirty="0">
                <a:solidFill>
                  <a:schemeClr val="accent2">
                    <a:lumMod val="75000"/>
                  </a:schemeClr>
                </a:solidFill>
                <a:latin typeface="Calibri" panose="020F0502020204030204" charset="0"/>
                <a:cs typeface="Calibri" panose="020F0502020204030204" charset="0"/>
              </a:rPr>
              <a:t> The Repository pattern (Fig. 6.10), describes how a set of interacting components can share data. </a:t>
            </a:r>
            <a:r>
              <a:rPr lang="en-US" altLang="en-GB" sz="2800" b="0" dirty="0">
                <a:solidFill>
                  <a:schemeClr val="tx1"/>
                </a:solidFill>
                <a:latin typeface="Calibri" panose="020F0502020204030204" charset="0"/>
                <a:cs typeface="Calibri" panose="020F0502020204030204" charset="0"/>
              </a:rPr>
              <a:t>The majority of systems that use large amounts of data are organized around a shared database or repository.</a:t>
            </a:r>
            <a:r>
              <a:rPr lang="en-US" altLang="en-GB" sz="3200" dirty="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含义</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a:p>
            <a:pPr>
              <a:lnSpc>
                <a:spcPct val="82000"/>
              </a:lnSpc>
              <a:spcBef>
                <a:spcPts val="600"/>
              </a:spcBef>
              <a:spcAft>
                <a:spcPts val="0"/>
              </a:spcAft>
            </a:pPr>
            <a:r>
              <a:rPr lang="en-US" altLang="en-GB" sz="3100" dirty="0">
                <a:solidFill>
                  <a:schemeClr val="accent2">
                    <a:lumMod val="75000"/>
                  </a:schemeClr>
                </a:solidFill>
                <a:latin typeface="Calibri" panose="020F0502020204030204" charset="0"/>
                <a:cs typeface="Calibri" panose="020F0502020204030204" charset="0"/>
              </a:rPr>
              <a:t> Fig. 6.11 shows a situation in which a repository might be used. </a:t>
            </a:r>
            <a:r>
              <a:rPr lang="en-US" altLang="en-GB" sz="2800" b="0" dirty="0">
                <a:solidFill>
                  <a:schemeClr val="tx1"/>
                </a:solidFill>
                <a:latin typeface="Calibri" panose="020F0502020204030204" charset="0"/>
                <a:cs typeface="Calibri" panose="020F0502020204030204" charset="0"/>
              </a:rPr>
              <a:t>This diagram </a:t>
            </a:r>
            <a:r>
              <a:rPr lang="en-GB" sz="2800" b="0" dirty="0">
                <a:solidFill>
                  <a:schemeClr val="tx1"/>
                </a:solidFill>
                <a:latin typeface="Calibri" panose="020F0502020204030204" charset="0"/>
                <a:cs typeface="Calibri" panose="020F0502020204030204" charset="0"/>
              </a:rPr>
              <a:t>shows an IDE that includes different tools to support model-driven development. The</a:t>
            </a:r>
            <a:r>
              <a:rPr lang="en-US" altLang="en-GB" sz="2800" b="0" dirty="0">
                <a:solidFill>
                  <a:schemeClr val="tx1"/>
                </a:solidFill>
                <a:latin typeface="Calibri" panose="020F0502020204030204" charset="0"/>
                <a:cs typeface="Calibri" panose="020F0502020204030204" charset="0"/>
              </a:rPr>
              <a:t> </a:t>
            </a:r>
            <a:r>
              <a:rPr lang="en-GB" sz="2800" b="0" dirty="0">
                <a:solidFill>
                  <a:schemeClr val="tx1"/>
                </a:solidFill>
                <a:latin typeface="Calibri" panose="020F0502020204030204" charset="0"/>
                <a:cs typeface="Calibri" panose="020F0502020204030204" charset="0"/>
              </a:rPr>
              <a:t>repository might be a version-controlled environment (</a:t>
            </a:r>
            <a:r>
              <a:rPr lang="en-US" altLang="en-GB" sz="2800" b="0" dirty="0">
                <a:solidFill>
                  <a:schemeClr val="tx1"/>
                </a:solidFill>
                <a:latin typeface="Calibri" panose="020F0502020204030204" charset="0"/>
                <a:cs typeface="Calibri" panose="020F0502020204030204" charset="0"/>
              </a:rPr>
              <a:t>see </a:t>
            </a:r>
            <a:r>
              <a:rPr lang="en-GB" sz="2800" b="0" dirty="0">
                <a:solidFill>
                  <a:schemeClr val="tx1"/>
                </a:solidFill>
                <a:latin typeface="Calibri" panose="020F0502020204030204" charset="0"/>
                <a:cs typeface="Calibri" panose="020F0502020204030204" charset="0"/>
              </a:rPr>
              <a:t>Ch</a:t>
            </a:r>
            <a:r>
              <a:rPr lang="en-US" altLang="en-GB" sz="2800" b="0" dirty="0">
                <a:solidFill>
                  <a:schemeClr val="tx1"/>
                </a:solidFill>
                <a:latin typeface="Calibri" panose="020F0502020204030204" charset="0"/>
                <a:cs typeface="Calibri" panose="020F0502020204030204" charset="0"/>
              </a:rPr>
              <a:t>apter</a:t>
            </a:r>
            <a:r>
              <a:rPr lang="en-GB" sz="2800" b="0" dirty="0">
                <a:solidFill>
                  <a:schemeClr val="tx1"/>
                </a:solidFill>
                <a:latin typeface="Calibri" panose="020F0502020204030204" charset="0"/>
                <a:cs typeface="Calibri" panose="020F0502020204030204" charset="0"/>
              </a:rPr>
              <a:t> 25) that keeps track of changes to software and allows rollback to earlier versions.</a:t>
            </a:r>
            <a:r>
              <a:rPr lang="en-US" altLang="en-GB" sz="2800" b="0" dirty="0">
                <a:solidFill>
                  <a:schemeClr val="tx1"/>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例子</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IDE</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集成开发环境</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mn-cs"/>
              </a:rPr>
              <a:t>)</a:t>
            </a:r>
            <a:endParaRPr lang="en-GB" sz="2800" b="0" dirty="0">
              <a:solidFill>
                <a:schemeClr val="tx1"/>
              </a:solidFill>
              <a:latin typeface="Calibri" panose="020F0502020204030204" charset="0"/>
              <a:cs typeface="Calibri" panose="020F0502020204030204" charset="0"/>
            </a:endParaRPr>
          </a:p>
          <a:p>
            <a:pPr>
              <a:lnSpc>
                <a:spcPct val="82000"/>
              </a:lnSpc>
              <a:spcBef>
                <a:spcPts val="600"/>
              </a:spcBef>
              <a:spcAft>
                <a:spcPts val="0"/>
              </a:spcAft>
            </a:pPr>
            <a:r>
              <a:rPr lang="en-US" altLang="en-GB" sz="3100" dirty="0">
                <a:solidFill>
                  <a:schemeClr val="accent2">
                    <a:lumMod val="75000"/>
                  </a:schemeClr>
                </a:solidFill>
                <a:latin typeface="Calibri" panose="020F0502020204030204" charset="0"/>
                <a:cs typeface="Calibri" panose="020F0502020204030204" charset="0"/>
              </a:rPr>
              <a:t> Organizing tools around a repository is an efficient way of sharing large amounts of data. </a:t>
            </a:r>
            <a:r>
              <a:rPr lang="en-US" altLang="en-GB" sz="2800" b="0" dirty="0">
                <a:solidFill>
                  <a:schemeClr val="tx1"/>
                </a:solidFill>
                <a:latin typeface="Calibri" panose="020F0502020204030204" charset="0"/>
                <a:cs typeface="Calibri" panose="020F0502020204030204" charset="0"/>
              </a:rPr>
              <a:t>no need to transmit data explicitly from one component to another.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围绕仓储来组织工具是共享大量数据的有效方式</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92150"/>
            <a:ext cx="8977630" cy="69342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The Repository pattern</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仓库模式</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0850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6  Architectural Design</a:t>
            </a:r>
            <a:endParaRPr lang="en-US" altLang="zh-CN" sz="2800" dirty="0">
              <a:solidFill>
                <a:srgbClr val="660066"/>
              </a:solidFill>
              <a:ea typeface="黑体" panose="02010609060101010101" pitchFamily="49" charset="-122"/>
              <a:cs typeface="+mj-lt"/>
            </a:endParaRPr>
          </a:p>
        </p:txBody>
      </p:sp>
      <p:graphicFrame>
        <p:nvGraphicFramePr>
          <p:cNvPr id="2" name="Content Placeholder 3"/>
          <p:cNvGraphicFramePr>
            <a:graphicFrameLocks noGrp="1"/>
          </p:cNvGraphicFramePr>
          <p:nvPr>
            <p:custDataLst>
              <p:tags r:id="rId3"/>
            </p:custDataLst>
          </p:nvPr>
        </p:nvGraphicFramePr>
        <p:xfrm>
          <a:off x="92075" y="1264285"/>
          <a:ext cx="8986520" cy="5382895"/>
        </p:xfrm>
        <a:graphic>
          <a:graphicData uri="http://schemas.openxmlformats.org/drawingml/2006/table">
            <a:tbl>
              <a:tblPr firstRow="1" bandRow="1">
                <a:effectLst/>
                <a:tableStyleId>{5940675A-B579-460E-94D1-54222C63F5DA}</a:tableStyleId>
              </a:tblPr>
              <a:tblGrid>
                <a:gridCol w="1597660"/>
                <a:gridCol w="7388860"/>
              </a:tblGrid>
              <a:tr h="382270">
                <a:tc>
                  <a:txBody>
                    <a:bodyPr/>
                    <a:p>
                      <a:pPr algn="ctr">
                        <a:spcAft>
                          <a:spcPts val="0"/>
                        </a:spcAft>
                        <a:tabLst>
                          <a:tab pos="342900" algn="l"/>
                          <a:tab pos="685800" algn="l"/>
                          <a:tab pos="1028700" algn="l"/>
                        </a:tabLst>
                      </a:pPr>
                      <a:r>
                        <a:rPr lang="en-GB" sz="1800" b="1" dirty="0" smtClean="0">
                          <a:solidFill>
                            <a:schemeClr val="bg1"/>
                          </a:solidFill>
                          <a:latin typeface="Helvetica"/>
                          <a:ea typeface="Times New Roman" panose="02020603050405020304"/>
                          <a:cs typeface="Helvetica"/>
                        </a:rPr>
                        <a:t>Name</a:t>
                      </a:r>
                      <a:endParaRPr lang="en-GB" sz="1800" b="1" dirty="0" smtClean="0">
                        <a:solidFill>
                          <a:schemeClr val="bg1"/>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c>
                  <a:txBody>
                    <a:bodyPr/>
                    <a:p>
                      <a:pPr algn="ctr">
                        <a:spcAft>
                          <a:spcPts val="0"/>
                        </a:spcAft>
                        <a:tabLst>
                          <a:tab pos="342900" algn="l"/>
                          <a:tab pos="685800" algn="l"/>
                          <a:tab pos="1028700" algn="l"/>
                        </a:tabLst>
                      </a:pPr>
                      <a:r>
                        <a:rPr lang="en-GB" sz="1800" b="1" dirty="0">
                          <a:solidFill>
                            <a:schemeClr val="bg1"/>
                          </a:solidFill>
                          <a:latin typeface="Helvetica"/>
                          <a:ea typeface="Times New Roman" panose="02020603050405020304"/>
                          <a:cs typeface="Helvetica"/>
                        </a:rPr>
                        <a:t>Repository</a:t>
                      </a:r>
                      <a:r>
                        <a:rPr lang="en-GB" sz="1800" b="1" dirty="0" smtClean="0">
                          <a:solidFill>
                            <a:schemeClr val="bg1"/>
                          </a:solidFill>
                          <a:latin typeface="Helvetica"/>
                          <a:ea typeface="Times New Roman" panose="02020603050405020304"/>
                          <a:cs typeface="Helvetica"/>
                        </a:rPr>
                        <a:t> </a:t>
                      </a:r>
                      <a:endParaRPr lang="en-GB" sz="1800" b="1" dirty="0" smtClean="0">
                        <a:solidFill>
                          <a:schemeClr val="bg1"/>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r>
              <a:tr h="822960">
                <a:tc>
                  <a:txBody>
                    <a:bodyPr/>
                    <a:p>
                      <a:pPr algn="l">
                        <a:spcAft>
                          <a:spcPts val="0"/>
                        </a:spcAft>
                        <a:tabLst>
                          <a:tab pos="342900" algn="l"/>
                          <a:tab pos="685800" algn="l"/>
                          <a:tab pos="1028700" algn="l"/>
                        </a:tabLst>
                      </a:pPr>
                      <a:r>
                        <a:rPr lang="en-GB" sz="1800" b="1" dirty="0" smtClean="0">
                          <a:solidFill>
                            <a:srgbClr val="000000"/>
                          </a:solidFill>
                          <a:latin typeface="Helvetica"/>
                          <a:ea typeface="Times New Roman" panose="02020603050405020304"/>
                          <a:cs typeface="Helvetica"/>
                        </a:rPr>
                        <a:t>Description</a:t>
                      </a:r>
                      <a:endParaRPr lang="en-GB" sz="1800" b="1" dirty="0" smtClean="0">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Aft>
                          <a:spcPts val="0"/>
                        </a:spcAft>
                        <a:tabLst>
                          <a:tab pos="342900" algn="l"/>
                          <a:tab pos="685800" algn="l"/>
                          <a:tab pos="1028700" algn="l"/>
                        </a:tabLst>
                      </a:pPr>
                      <a:r>
                        <a:rPr lang="en-GB" sz="1800" dirty="0">
                          <a:solidFill>
                            <a:srgbClr val="000000"/>
                          </a:solidFill>
                          <a:latin typeface="Helvetica"/>
                          <a:ea typeface="Times New Roman" panose="02020603050405020304"/>
                          <a:cs typeface="Helvetica"/>
                        </a:rPr>
                        <a:t>All data in a system is managed in a central repository that is accessible to all system components. Components do not interact directly, only through the repository. </a:t>
                      </a:r>
                      <a:endParaRPr lang="en-GB" sz="1800" dirty="0">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879475">
                <a:tc>
                  <a:txBody>
                    <a:bodyPr/>
                    <a:p>
                      <a:pPr algn="l">
                        <a:spcAft>
                          <a:spcPts val="0"/>
                        </a:spcAft>
                        <a:tabLst>
                          <a:tab pos="342900" algn="l"/>
                          <a:tab pos="685800" algn="l"/>
                          <a:tab pos="1028700" algn="l"/>
                        </a:tabLst>
                      </a:pPr>
                      <a:r>
                        <a:rPr lang="en-GB" sz="1800" b="1" dirty="0">
                          <a:solidFill>
                            <a:srgbClr val="000000"/>
                          </a:solidFill>
                          <a:latin typeface="Helvetica"/>
                          <a:ea typeface="Times New Roman" panose="02020603050405020304"/>
                          <a:cs typeface="Helvetica"/>
                        </a:rPr>
                        <a:t>Example</a:t>
                      </a:r>
                      <a:endParaRPr lang="en-GB" sz="1800" b="1" dirty="0">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algn="l">
                        <a:spcAft>
                          <a:spcPts val="0"/>
                        </a:spcAft>
                        <a:tabLst>
                          <a:tab pos="342900" algn="l"/>
                          <a:tab pos="685800" algn="l"/>
                          <a:tab pos="1028700" algn="l"/>
                        </a:tabLst>
                      </a:pPr>
                      <a:r>
                        <a:rPr lang="en-GB" sz="1800" dirty="0">
                          <a:solidFill>
                            <a:srgbClr val="000000"/>
                          </a:solidFill>
                          <a:latin typeface="Helvetica"/>
                          <a:ea typeface="Times New Roman" panose="02020603050405020304"/>
                          <a:cs typeface="Helvetica"/>
                        </a:rPr>
                        <a:t>Figure 6.</a:t>
                      </a:r>
                      <a:r>
                        <a:rPr lang="en-US" altLang="en-GB" sz="1800" dirty="0">
                          <a:solidFill>
                            <a:srgbClr val="000000"/>
                          </a:solidFill>
                          <a:latin typeface="Helvetica"/>
                          <a:ea typeface="Times New Roman" panose="02020603050405020304"/>
                          <a:cs typeface="Helvetica"/>
                        </a:rPr>
                        <a:t>11</a:t>
                      </a:r>
                      <a:r>
                        <a:rPr lang="en-GB" sz="1800" dirty="0">
                          <a:solidFill>
                            <a:srgbClr val="000000"/>
                          </a:solidFill>
                          <a:latin typeface="Helvetica"/>
                          <a:ea typeface="Times New Roman" panose="02020603050405020304"/>
                          <a:cs typeface="Helvetica"/>
                        </a:rPr>
                        <a:t> is an example of an IDE where the components use a repository of system design information. Each software tool generates information which is then available for use by other tools.</a:t>
                      </a:r>
                      <a:endParaRPr lang="en-GB" sz="1800" dirty="0">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r h="1099185">
                <a:tc>
                  <a:txBody>
                    <a:bodyPr/>
                    <a:p>
                      <a:pPr algn="l">
                        <a:spcAft>
                          <a:spcPts val="0"/>
                        </a:spcAft>
                        <a:tabLst>
                          <a:tab pos="342900" algn="l"/>
                          <a:tab pos="685800" algn="l"/>
                          <a:tab pos="1028700" algn="l"/>
                        </a:tabLst>
                      </a:pPr>
                      <a:r>
                        <a:rPr lang="en-GB" sz="1800" b="1">
                          <a:solidFill>
                            <a:srgbClr val="000000"/>
                          </a:solidFill>
                          <a:latin typeface="Helvetica"/>
                          <a:ea typeface="Times New Roman" panose="02020603050405020304"/>
                          <a:cs typeface="Helvetica"/>
                        </a:rPr>
                        <a:t>When used</a:t>
                      </a:r>
                      <a:endParaRPr lang="en-GB" sz="1800" b="1">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Aft>
                          <a:spcPts val="0"/>
                        </a:spcAft>
                        <a:tabLst>
                          <a:tab pos="342900" algn="l"/>
                          <a:tab pos="685800" algn="l"/>
                          <a:tab pos="1028700" algn="l"/>
                        </a:tabLst>
                      </a:pPr>
                      <a:r>
                        <a:rPr lang="en-GB" sz="1800" dirty="0">
                          <a:solidFill>
                            <a:srgbClr val="000000"/>
                          </a:solidFill>
                          <a:latin typeface="Helvetica"/>
                          <a:ea typeface="Times New Roman" panose="02020603050405020304"/>
                          <a:cs typeface="Helvetica"/>
                        </a:rPr>
                        <a:t>You should use this pattern when you have a system in which large volumes of information are generated that has to be stored for a long time. You may also use it in data-driven systems where the inclusion of data in the repository triggers an action or tool.</a:t>
                      </a:r>
                      <a:endParaRPr lang="en-GB" sz="1800" dirty="0">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1099820">
                <a:tc>
                  <a:txBody>
                    <a:bodyPr/>
                    <a:p>
                      <a:pPr algn="l">
                        <a:spcAft>
                          <a:spcPts val="0"/>
                        </a:spcAft>
                        <a:tabLst>
                          <a:tab pos="342900" algn="l"/>
                          <a:tab pos="685800" algn="l"/>
                          <a:tab pos="1028700" algn="l"/>
                        </a:tabLst>
                      </a:pPr>
                      <a:r>
                        <a:rPr lang="en-GB" sz="1800" b="1">
                          <a:solidFill>
                            <a:srgbClr val="000000"/>
                          </a:solidFill>
                          <a:latin typeface="Helvetica"/>
                          <a:ea typeface="Times New Roman" panose="02020603050405020304"/>
                          <a:cs typeface="Helvetica"/>
                        </a:rPr>
                        <a:t>Advantages</a:t>
                      </a:r>
                      <a:endParaRPr lang="en-GB" sz="1800" b="1">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algn="l">
                        <a:spcAft>
                          <a:spcPts val="0"/>
                        </a:spcAft>
                        <a:tabLst>
                          <a:tab pos="342900" algn="l"/>
                          <a:tab pos="685800" algn="l"/>
                          <a:tab pos="1028700" algn="l"/>
                        </a:tabLst>
                      </a:pPr>
                      <a:r>
                        <a:rPr lang="en-GB" sz="1800" dirty="0">
                          <a:solidFill>
                            <a:srgbClr val="000000"/>
                          </a:solidFill>
                          <a:latin typeface="Helvetica"/>
                          <a:ea typeface="Times New Roman" panose="02020603050405020304"/>
                          <a:cs typeface="Helvetica"/>
                        </a:rPr>
                        <a:t>Components can be independent</a:t>
                      </a:r>
                      <a:r>
                        <a:rPr lang="en-US" altLang="en-GB" sz="1800" dirty="0">
                          <a:solidFill>
                            <a:srgbClr val="000000"/>
                          </a:solidFill>
                          <a:latin typeface="Helvetica"/>
                          <a:ea typeface="Times New Roman" panose="02020603050405020304"/>
                          <a:cs typeface="Helvetica"/>
                        </a:rPr>
                        <a:t>; </a:t>
                      </a:r>
                      <a:r>
                        <a:rPr lang="en-GB" sz="1800" dirty="0">
                          <a:solidFill>
                            <a:srgbClr val="000000"/>
                          </a:solidFill>
                          <a:latin typeface="Helvetica"/>
                          <a:ea typeface="Times New Roman" panose="02020603050405020304"/>
                          <a:cs typeface="Helvetica"/>
                        </a:rPr>
                        <a:t>they do not need to know of the existence of other components. Changes made by one component can be propagated to all components. All data can be managed consistently (e.g., backups done at the same time) as it is all in one place. </a:t>
                      </a:r>
                      <a:endParaRPr lang="en-GB" sz="1800" dirty="0">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r h="1099185">
                <a:tc>
                  <a:txBody>
                    <a:bodyPr/>
                    <a:p>
                      <a:pPr algn="l">
                        <a:spcAft>
                          <a:spcPts val="0"/>
                        </a:spcAft>
                        <a:tabLst>
                          <a:tab pos="342900" algn="l"/>
                          <a:tab pos="685800" algn="l"/>
                          <a:tab pos="1028700" algn="l"/>
                        </a:tabLst>
                      </a:pPr>
                      <a:r>
                        <a:rPr lang="en-GB" sz="1600" b="1">
                          <a:solidFill>
                            <a:srgbClr val="000000"/>
                          </a:solidFill>
                          <a:latin typeface="Helvetica"/>
                          <a:ea typeface="Times New Roman" panose="02020603050405020304"/>
                          <a:cs typeface="Helvetica"/>
                        </a:rPr>
                        <a:t>Disadvantages</a:t>
                      </a:r>
                      <a:endParaRPr lang="en-GB" sz="1600" b="1">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Aft>
                          <a:spcPts val="0"/>
                        </a:spcAft>
                        <a:tabLst>
                          <a:tab pos="342900" algn="l"/>
                          <a:tab pos="685800" algn="l"/>
                          <a:tab pos="1028700" algn="l"/>
                        </a:tabLst>
                      </a:pPr>
                      <a:r>
                        <a:rPr lang="en-GB" sz="1800" dirty="0">
                          <a:solidFill>
                            <a:srgbClr val="000000"/>
                          </a:solidFill>
                          <a:latin typeface="Helvetica"/>
                          <a:ea typeface="Times New Roman" panose="02020603050405020304"/>
                          <a:cs typeface="Helvetica"/>
                        </a:rPr>
                        <a:t>The repository is a single point of failure so problems in the repository affect the whole system. May be inefficiencies in organizing all communication through the repository. Distributing the repository across several computers may be difficult</a:t>
                      </a:r>
                      <a:r>
                        <a:rPr lang="en-GB" sz="1800" dirty="0" smtClean="0">
                          <a:solidFill>
                            <a:srgbClr val="000000"/>
                          </a:solidFill>
                          <a:latin typeface="Helvetica"/>
                          <a:ea typeface="Times New Roman" panose="02020603050405020304"/>
                          <a:cs typeface="Helvetica"/>
                        </a:rPr>
                        <a:t>.</a:t>
                      </a:r>
                      <a:endParaRPr lang="en-GB" sz="1800" dirty="0">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bl>
          </a:graphicData>
        </a:graphic>
      </p:graphicFrame>
      <p:pic>
        <p:nvPicPr>
          <p:cNvPr id="3" name="图片 2"/>
          <p:cNvPicPr>
            <a:picLocks noChangeAspect="1"/>
          </p:cNvPicPr>
          <p:nvPr/>
        </p:nvPicPr>
        <p:blipFill>
          <a:blip r:embed="rId4"/>
          <a:stretch>
            <a:fillRect/>
          </a:stretch>
        </p:blipFill>
        <p:spPr>
          <a:xfrm>
            <a:off x="6861810" y="741680"/>
            <a:ext cx="1590675" cy="495300"/>
          </a:xfrm>
          <a:prstGeom prst="rect">
            <a:avLst/>
          </a:prstGeom>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34060"/>
            <a:ext cx="8977630" cy="5314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 repository architecture for an IDE</a:t>
            </a:r>
            <a:endParaRPr lang="en-US" altLang="zh-CN"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50850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6  Architectural Design</a:t>
            </a:r>
            <a:endParaRPr lang="en-US" altLang="zh-CN" sz="2800" dirty="0">
              <a:solidFill>
                <a:srgbClr val="660066"/>
              </a:solidFill>
              <a:ea typeface="黑体" panose="02010609060101010101" pitchFamily="49" charset="-122"/>
              <a:cs typeface="+mj-lt"/>
            </a:endParaRPr>
          </a:p>
        </p:txBody>
      </p:sp>
      <p:pic>
        <p:nvPicPr>
          <p:cNvPr id="2" name="图片 1"/>
          <p:cNvPicPr>
            <a:picLocks noChangeAspect="1"/>
          </p:cNvPicPr>
          <p:nvPr/>
        </p:nvPicPr>
        <p:blipFill>
          <a:blip r:embed="rId3"/>
          <a:stretch>
            <a:fillRect/>
          </a:stretch>
        </p:blipFill>
        <p:spPr>
          <a:xfrm>
            <a:off x="203200" y="1320800"/>
            <a:ext cx="8697595" cy="3864610"/>
          </a:xfrm>
          <a:prstGeom prst="rect">
            <a:avLst/>
          </a:prstGeom>
        </p:spPr>
      </p:pic>
      <p:pic>
        <p:nvPicPr>
          <p:cNvPr id="5" name="图片 4"/>
          <p:cNvPicPr>
            <a:picLocks noChangeAspect="1"/>
          </p:cNvPicPr>
          <p:nvPr/>
        </p:nvPicPr>
        <p:blipFill>
          <a:blip r:embed="rId4"/>
          <a:stretch>
            <a:fillRect/>
          </a:stretch>
        </p:blipFill>
        <p:spPr>
          <a:xfrm>
            <a:off x="6824345" y="1492250"/>
            <a:ext cx="1952625" cy="428625"/>
          </a:xfrm>
          <a:prstGeom prst="rect">
            <a:avLst/>
          </a:prstGeom>
        </p:spPr>
      </p:pic>
      <p:sp>
        <p:nvSpPr>
          <p:cNvPr id="10" name="Content Placeholder 2"/>
          <p:cNvSpPr>
            <a:spLocks noGrp="1"/>
          </p:cNvSpPr>
          <p:nvPr/>
        </p:nvSpPr>
        <p:spPr>
          <a:xfrm>
            <a:off x="94615" y="5189220"/>
            <a:ext cx="8945880" cy="162560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2000"/>
              </a:lnSpc>
              <a:spcAft>
                <a:spcPts val="0"/>
              </a:spcAft>
              <a:buNone/>
            </a:pPr>
            <a:r>
              <a:rPr lang="en-US" sz="2300" b="0" dirty="0" smtClean="0">
                <a:solidFill>
                  <a:schemeClr val="tx1"/>
                </a:solidFill>
                <a:latin typeface="Calibri" panose="020F0502020204030204" charset="0"/>
                <a:cs typeface="Calibri" panose="020F0502020204030204" charset="0"/>
              </a:rPr>
              <a:t>*Components must operate around an agreed repository data model. </a:t>
            </a:r>
            <a:endParaRPr lang="en-US" sz="2300" b="0" dirty="0" smtClean="0">
              <a:solidFill>
                <a:schemeClr val="tx1"/>
              </a:solidFill>
              <a:latin typeface="Calibri" panose="020F0502020204030204" charset="0"/>
              <a:cs typeface="Calibri" panose="020F0502020204030204" charset="0"/>
            </a:endParaRPr>
          </a:p>
          <a:p>
            <a:pPr marL="0" indent="0">
              <a:lnSpc>
                <a:spcPct val="82000"/>
              </a:lnSpc>
              <a:spcAft>
                <a:spcPts val="0"/>
              </a:spcAft>
              <a:buNone/>
            </a:pPr>
            <a:r>
              <a:rPr lang="en-US" sz="2300" b="0" dirty="0" smtClean="0">
                <a:solidFill>
                  <a:schemeClr val="tx1"/>
                </a:solidFill>
                <a:latin typeface="Calibri" panose="020F0502020204030204" charset="0"/>
                <a:cs typeface="Calibri" panose="020F0502020204030204" charset="0"/>
              </a:rPr>
              <a:t>* In practice, it may be difficult to distribute the repository over a number of machines. Although it is possible to distribute a logically centralized repository, this involves maintaining multiple copies of data. Keeping these consistent and up to date adds more overhead to the system.</a:t>
            </a:r>
            <a:endParaRPr lang="en-US" sz="23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92150"/>
            <a:ext cx="8977630" cy="54737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Client-server architecture</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客户机</a:t>
            </a:r>
            <a:r>
              <a:rPr lang="en-US" altLang="zh-CN"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a:t>
            </a:r>
            <a:r>
              <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服务器体系结构</a:t>
            </a:r>
            <a:endPar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0850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6  Architectural Design</a:t>
            </a:r>
            <a:endParaRPr lang="en-US" altLang="zh-CN" sz="2800" dirty="0">
              <a:solidFill>
                <a:srgbClr val="660066"/>
              </a:solidFill>
              <a:ea typeface="黑体" panose="02010609060101010101" pitchFamily="49" charset="-122"/>
              <a:cs typeface="+mj-lt"/>
            </a:endParaRPr>
          </a:p>
        </p:txBody>
      </p:sp>
      <p:sp>
        <p:nvSpPr>
          <p:cNvPr id="16387" name="Rectangle 3"/>
          <p:cNvSpPr>
            <a:spLocks noGrp="1" noChangeArrowheads="1"/>
          </p:cNvSpPr>
          <p:nvPr/>
        </p:nvSpPr>
        <p:spPr>
          <a:xfrm>
            <a:off x="88900" y="1241425"/>
            <a:ext cx="8977630" cy="5439410"/>
          </a:xfrm>
          <a:prstGeom prst="rect">
            <a:avLst/>
          </a:prstGeom>
          <a:noFill/>
        </p:spPr>
        <p:txBody>
          <a:bodyPr lIns="90487" tIns="44450" rIns="90487" bIns="44450"/>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Bef>
                <a:spcPts val="600"/>
              </a:spcBef>
              <a:spcAft>
                <a:spcPts val="0"/>
              </a:spcAft>
            </a:pPr>
            <a:r>
              <a:rPr lang="en-US" altLang="en-GB" sz="3000" dirty="0">
                <a:solidFill>
                  <a:schemeClr val="accent2">
                    <a:lumMod val="75000"/>
                  </a:schemeClr>
                </a:solidFill>
                <a:latin typeface="Calibri" panose="020F0502020204030204" charset="0"/>
                <a:cs typeface="Calibri" panose="020F0502020204030204" charset="0"/>
              </a:rPr>
              <a:t> The Client–Server pattern (Fig. 6.12), illustrates a commonly used runtime organization for distributed systems.</a:t>
            </a:r>
            <a:r>
              <a:rPr lang="en-US" altLang="en-GB" sz="3100" dirty="0">
                <a:solidFill>
                  <a:schemeClr val="accent2">
                    <a:lumMod val="75000"/>
                  </a:schemeClr>
                </a:solidFill>
                <a:latin typeface="Calibri" panose="020F0502020204030204" charset="0"/>
                <a:cs typeface="Calibri" panose="020F0502020204030204" charset="0"/>
              </a:rPr>
              <a:t> </a:t>
            </a:r>
            <a:r>
              <a:rPr lang="en-US" altLang="en-GB" sz="2700" b="0" dirty="0">
                <a:solidFill>
                  <a:schemeClr val="tx1"/>
                </a:solidFill>
                <a:latin typeface="Calibri" panose="020F0502020204030204" charset="0"/>
                <a:cs typeface="Calibri" panose="020F0502020204030204" charset="0"/>
              </a:rPr>
              <a:t>A system is organized as a set of services and associated servers, and clients that access and use the services.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系统组织为一组服务及相关的服务器</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客户访问并使用服务</a:t>
            </a:r>
            <a:endParaRPr lang="en-US" altLang="en-GB" sz="2000" dirty="0">
              <a:solidFill>
                <a:schemeClr val="accent2">
                  <a:lumMod val="75000"/>
                </a:schemeClr>
              </a:solidFill>
              <a:latin typeface="Calibri" panose="020F0502020204030204" charset="0"/>
              <a:cs typeface="Calibri" panose="020F0502020204030204" charset="0"/>
            </a:endParaRPr>
          </a:p>
          <a:p>
            <a:pPr>
              <a:lnSpc>
                <a:spcPct val="82000"/>
              </a:lnSpc>
              <a:spcBef>
                <a:spcPts val="600"/>
              </a:spcBef>
              <a:spcAft>
                <a:spcPts val="0"/>
              </a:spcAft>
            </a:pPr>
            <a:r>
              <a:rPr lang="en-US" altLang="en-GB" sz="3000" dirty="0">
                <a:solidFill>
                  <a:schemeClr val="accent2">
                    <a:lumMod val="75000"/>
                  </a:schemeClr>
                </a:solidFill>
                <a:latin typeface="Calibri" panose="020F0502020204030204" charset="0"/>
                <a:cs typeface="Calibri" panose="020F0502020204030204" charset="0"/>
              </a:rPr>
              <a:t> The major components of this model are: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主要构件</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a:p>
            <a:pPr lvl="1" algn="l">
              <a:lnSpc>
                <a:spcPct val="82000"/>
              </a:lnSpc>
              <a:spcBef>
                <a:spcPts val="600"/>
              </a:spcBef>
              <a:spcAft>
                <a:spcPts val="0"/>
              </a:spcAft>
            </a:pPr>
            <a:r>
              <a:rPr lang="en-GB" sz="2700" b="0" dirty="0" smtClean="0">
                <a:solidFill>
                  <a:schemeClr val="tx1"/>
                </a:solidFill>
                <a:latin typeface="Calibri" panose="020F0502020204030204" charset="0"/>
                <a:cs typeface="Calibri" panose="020F0502020204030204" charset="0"/>
                <a:sym typeface="+mn-ea"/>
              </a:rPr>
              <a:t>A set of </a:t>
            </a:r>
            <a:r>
              <a:rPr lang="en-GB" sz="2700" b="0" u="sng" dirty="0" smtClean="0">
                <a:solidFill>
                  <a:schemeClr val="tx1"/>
                </a:solidFill>
                <a:latin typeface="Calibri" panose="020F0502020204030204" charset="0"/>
                <a:cs typeface="Calibri" panose="020F0502020204030204" charset="0"/>
                <a:sym typeface="+mn-ea"/>
              </a:rPr>
              <a:t>servers</a:t>
            </a:r>
            <a:r>
              <a:rPr lang="en-GB" sz="2700" b="0" dirty="0" smtClean="0">
                <a:solidFill>
                  <a:schemeClr val="tx1"/>
                </a:solidFill>
                <a:latin typeface="Calibri" panose="020F0502020204030204" charset="0"/>
                <a:cs typeface="Calibri" panose="020F0502020204030204" charset="0"/>
                <a:sym typeface="+mn-ea"/>
              </a:rPr>
              <a:t> that offer services to other components. </a:t>
            </a:r>
            <a:endParaRPr lang="en-GB" sz="2700" b="0" dirty="0" smtClean="0">
              <a:solidFill>
                <a:schemeClr val="tx1"/>
              </a:solidFill>
              <a:latin typeface="Calibri" panose="020F0502020204030204" charset="0"/>
              <a:cs typeface="Calibri" panose="020F0502020204030204" charset="0"/>
              <a:sym typeface="+mn-ea"/>
            </a:endParaRPr>
          </a:p>
          <a:p>
            <a:pPr lvl="1" algn="l">
              <a:lnSpc>
                <a:spcPct val="82000"/>
              </a:lnSpc>
              <a:spcBef>
                <a:spcPts val="600"/>
              </a:spcBef>
              <a:spcAft>
                <a:spcPts val="0"/>
              </a:spcAft>
            </a:pPr>
            <a:r>
              <a:rPr lang="en-GB" sz="2700" b="0" dirty="0" smtClean="0">
                <a:solidFill>
                  <a:schemeClr val="tx1"/>
                </a:solidFill>
                <a:latin typeface="Calibri" panose="020F0502020204030204" charset="0"/>
                <a:cs typeface="Calibri" panose="020F0502020204030204" charset="0"/>
                <a:sym typeface="+mn-ea"/>
              </a:rPr>
              <a:t>A set of </a:t>
            </a:r>
            <a:r>
              <a:rPr lang="en-GB" sz="2700" b="0" u="sng" dirty="0" smtClean="0">
                <a:solidFill>
                  <a:schemeClr val="tx1"/>
                </a:solidFill>
                <a:latin typeface="Calibri" panose="020F0502020204030204" charset="0"/>
                <a:cs typeface="Calibri" panose="020F0502020204030204" charset="0"/>
                <a:sym typeface="+mn-ea"/>
              </a:rPr>
              <a:t>clients</a:t>
            </a:r>
            <a:r>
              <a:rPr lang="en-GB" sz="2700" b="0" dirty="0" smtClean="0">
                <a:solidFill>
                  <a:schemeClr val="tx1"/>
                </a:solidFill>
                <a:latin typeface="Calibri" panose="020F0502020204030204" charset="0"/>
                <a:cs typeface="Calibri" panose="020F0502020204030204" charset="0"/>
                <a:sym typeface="+mn-ea"/>
              </a:rPr>
              <a:t> that call on the services offered by servers. </a:t>
            </a:r>
            <a:endParaRPr lang="en-GB" sz="2700" b="0" dirty="0" smtClean="0">
              <a:solidFill>
                <a:schemeClr val="tx1"/>
              </a:solidFill>
              <a:latin typeface="Calibri" panose="020F0502020204030204" charset="0"/>
              <a:cs typeface="Calibri" panose="020F0502020204030204" charset="0"/>
              <a:sym typeface="+mn-ea"/>
            </a:endParaRPr>
          </a:p>
          <a:p>
            <a:pPr lvl="1" algn="l">
              <a:lnSpc>
                <a:spcPct val="82000"/>
              </a:lnSpc>
              <a:spcBef>
                <a:spcPts val="600"/>
              </a:spcBef>
              <a:spcAft>
                <a:spcPts val="0"/>
              </a:spcAft>
            </a:pPr>
            <a:r>
              <a:rPr lang="en-GB" sz="2700" b="0" dirty="0" smtClean="0">
                <a:solidFill>
                  <a:schemeClr val="tx1"/>
                </a:solidFill>
                <a:latin typeface="Calibri" panose="020F0502020204030204" charset="0"/>
                <a:cs typeface="Calibri" panose="020F0502020204030204" charset="0"/>
                <a:sym typeface="+mn-ea"/>
              </a:rPr>
              <a:t>A </a:t>
            </a:r>
            <a:r>
              <a:rPr lang="en-GB" sz="2700" b="0" u="sng" dirty="0" smtClean="0">
                <a:solidFill>
                  <a:schemeClr val="tx1"/>
                </a:solidFill>
                <a:latin typeface="Calibri" panose="020F0502020204030204" charset="0"/>
                <a:cs typeface="Calibri" panose="020F0502020204030204" charset="0"/>
                <a:sym typeface="+mn-ea"/>
              </a:rPr>
              <a:t>network</a:t>
            </a:r>
            <a:r>
              <a:rPr lang="en-GB" sz="2700" b="0" dirty="0" smtClean="0">
                <a:solidFill>
                  <a:schemeClr val="tx1"/>
                </a:solidFill>
                <a:latin typeface="Calibri" panose="020F0502020204030204" charset="0"/>
                <a:cs typeface="Calibri" panose="020F0502020204030204" charset="0"/>
                <a:sym typeface="+mn-ea"/>
              </a:rPr>
              <a:t> that allows the clients to access these services.</a:t>
            </a:r>
            <a:endParaRPr lang="en-GB" sz="2700" b="0" dirty="0" smtClean="0">
              <a:solidFill>
                <a:schemeClr val="tx1"/>
              </a:solidFill>
              <a:latin typeface="Calibri" panose="020F0502020204030204" charset="0"/>
              <a:cs typeface="Calibri" panose="020F0502020204030204" charset="0"/>
              <a:sym typeface="+mn-ea"/>
            </a:endParaRPr>
          </a:p>
          <a:p>
            <a:pPr algn="l">
              <a:lnSpc>
                <a:spcPct val="82000"/>
              </a:lnSpc>
              <a:spcBef>
                <a:spcPts val="600"/>
              </a:spcBef>
              <a:spcAft>
                <a:spcPts val="0"/>
              </a:spcAft>
            </a:pPr>
            <a:r>
              <a:rPr lang="en-US" altLang="en-GB" sz="3000" dirty="0">
                <a:solidFill>
                  <a:schemeClr val="accent2">
                    <a:lumMod val="75000"/>
                  </a:schemeClr>
                </a:solidFill>
                <a:latin typeface="Calibri" panose="020F0502020204030204" charset="0"/>
                <a:cs typeface="Calibri" panose="020F0502020204030204" charset="0"/>
                <a:sym typeface="+mn-ea"/>
              </a:rPr>
              <a:t> Clients may have to know the names of available servers and the services they provide. However, servers do not need to know the identity of clients or how many clients are accessing their services.</a:t>
            </a:r>
            <a:r>
              <a:rPr lang="en-US" altLang="en-GB" sz="3000" b="0" dirty="0">
                <a:solidFill>
                  <a:schemeClr val="tx1"/>
                </a:solidFill>
                <a:latin typeface="Calibri" panose="020F0502020204030204" charset="0"/>
                <a:cs typeface="Calibri" panose="020F0502020204030204" charset="0"/>
                <a:sym typeface="+mn-ea"/>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客户需要知道服务器及服务，服务器无需知道客户</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37870"/>
            <a:ext cx="8977630" cy="6477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chemeClr val="accent1">
                    <a:lumMod val="75000"/>
                  </a:schemeClr>
                </a:solidFill>
                <a:ea typeface="宋体" panose="02010600030101010101" pitchFamily="2" charset="-122"/>
                <a:sym typeface="+mn-ea"/>
              </a:rPr>
              <a:t> </a:t>
            </a:r>
            <a:r>
              <a:rPr lang="zh-CN" altLang="en-US" sz="2800" dirty="0">
                <a:solidFill>
                  <a:schemeClr val="accent1">
                    <a:lumMod val="75000"/>
                  </a:schemeClr>
                </a:solidFill>
                <a:ea typeface="宋体" panose="02010600030101010101" pitchFamily="2" charset="-122"/>
                <a:sym typeface="+mn-ea"/>
              </a:rPr>
              <a:t>The Client–server pattern</a:t>
            </a:r>
            <a:r>
              <a:rPr lang="en-US" altLang="zh-CN" sz="2800" dirty="0">
                <a:solidFill>
                  <a:schemeClr val="accent1">
                    <a:lumMod val="75000"/>
                  </a:schemeClr>
                </a:solidFill>
                <a:ea typeface="宋体" panose="02010600030101010101" pitchFamily="2" charset="-122"/>
                <a:sym typeface="+mn-ea"/>
              </a:rPr>
              <a:t> </a:t>
            </a:r>
            <a:r>
              <a:rPr lang="zh-CN" altLang="en-US" sz="20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客户机</a:t>
            </a:r>
            <a:r>
              <a:rPr lang="en-US" altLang="zh-CN" sz="20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a:t>
            </a:r>
            <a:r>
              <a:rPr lang="zh-CN" altLang="en-US" sz="20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服务器模式</a:t>
            </a:r>
            <a:endParaRPr lang="zh-CN" altLang="en-US" sz="20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0850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6  Architectural Design</a:t>
            </a:r>
            <a:endParaRPr lang="en-US" altLang="zh-CN" sz="2800" dirty="0">
              <a:solidFill>
                <a:srgbClr val="660066"/>
              </a:solidFill>
              <a:ea typeface="黑体" panose="02010609060101010101" pitchFamily="49" charset="-122"/>
              <a:cs typeface="+mj-lt"/>
            </a:endParaRPr>
          </a:p>
        </p:txBody>
      </p:sp>
      <p:graphicFrame>
        <p:nvGraphicFramePr>
          <p:cNvPr id="2" name="Content Placeholder 3"/>
          <p:cNvGraphicFramePr>
            <a:graphicFrameLocks noGrp="1"/>
          </p:cNvGraphicFramePr>
          <p:nvPr>
            <p:custDataLst>
              <p:tags r:id="rId3"/>
            </p:custDataLst>
          </p:nvPr>
        </p:nvGraphicFramePr>
        <p:xfrm>
          <a:off x="111760" y="1306195"/>
          <a:ext cx="8935085" cy="5390515"/>
        </p:xfrm>
        <a:graphic>
          <a:graphicData uri="http://schemas.openxmlformats.org/drawingml/2006/table">
            <a:tbl>
              <a:tblPr firstRow="1" bandRow="1">
                <a:effectLst/>
                <a:tableStyleId>{5940675A-B579-460E-94D1-54222C63F5DA}</a:tableStyleId>
              </a:tblPr>
              <a:tblGrid>
                <a:gridCol w="1445895"/>
                <a:gridCol w="7489190"/>
              </a:tblGrid>
              <a:tr h="445770">
                <a:tc>
                  <a:txBody>
                    <a:bodyPr/>
                    <a:p>
                      <a:pPr algn="ctr">
                        <a:spcAft>
                          <a:spcPts val="0"/>
                        </a:spcAft>
                        <a:tabLst>
                          <a:tab pos="342900" algn="l"/>
                          <a:tab pos="685800" algn="l"/>
                          <a:tab pos="1028700" algn="l"/>
                        </a:tabLst>
                      </a:pPr>
                      <a:r>
                        <a:rPr lang="en-GB" sz="1800" b="1" dirty="0" smtClean="0">
                          <a:solidFill>
                            <a:schemeClr val="bg1"/>
                          </a:solidFill>
                          <a:latin typeface="Helvetica"/>
                          <a:ea typeface="Times New Roman" panose="02020603050405020304"/>
                          <a:cs typeface="Helvetica"/>
                        </a:rPr>
                        <a:t>Name</a:t>
                      </a:r>
                      <a:endParaRPr lang="en-GB" sz="1800" b="1" dirty="0" smtClean="0">
                        <a:solidFill>
                          <a:schemeClr val="bg1"/>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c>
                  <a:txBody>
                    <a:bodyPr/>
                    <a:p>
                      <a:pPr algn="ctr">
                        <a:spcAft>
                          <a:spcPts val="0"/>
                        </a:spcAft>
                        <a:tabLst>
                          <a:tab pos="342900" algn="l"/>
                          <a:tab pos="685800" algn="l"/>
                          <a:tab pos="1028700" algn="l"/>
                        </a:tabLst>
                      </a:pPr>
                      <a:r>
                        <a:rPr lang="en-GB" sz="1800" b="1" dirty="0">
                          <a:solidFill>
                            <a:schemeClr val="bg1"/>
                          </a:solidFill>
                          <a:latin typeface="Helvetica"/>
                          <a:ea typeface="Times New Roman" panose="02020603050405020304"/>
                          <a:cs typeface="Helvetica"/>
                        </a:rPr>
                        <a:t>Client-</a:t>
                      </a:r>
                      <a:r>
                        <a:rPr lang="en-GB" sz="1800" b="1" dirty="0" smtClean="0">
                          <a:solidFill>
                            <a:schemeClr val="bg1"/>
                          </a:solidFill>
                          <a:latin typeface="Helvetica"/>
                          <a:ea typeface="Times New Roman" panose="02020603050405020304"/>
                          <a:cs typeface="Helvetica"/>
                        </a:rPr>
                        <a:t>server</a:t>
                      </a:r>
                      <a:endParaRPr lang="en-GB" sz="1800" b="1" dirty="0" smtClean="0">
                        <a:solidFill>
                          <a:schemeClr val="bg1"/>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r>
              <a:tr h="890905">
                <a:tc>
                  <a:txBody>
                    <a:bodyPr/>
                    <a:p>
                      <a:pPr algn="l">
                        <a:spcAft>
                          <a:spcPts val="0"/>
                        </a:spcAft>
                        <a:tabLst>
                          <a:tab pos="342900" algn="l"/>
                          <a:tab pos="685800" algn="l"/>
                          <a:tab pos="1028700" algn="l"/>
                        </a:tabLst>
                      </a:pPr>
                      <a:r>
                        <a:rPr lang="en-GB" sz="1800" b="1" dirty="0" smtClean="0">
                          <a:solidFill>
                            <a:srgbClr val="000000"/>
                          </a:solidFill>
                          <a:latin typeface="Helvetica"/>
                          <a:ea typeface="Times New Roman" panose="02020603050405020304"/>
                          <a:cs typeface="Helvetica"/>
                        </a:rPr>
                        <a:t>Description</a:t>
                      </a:r>
                      <a:endParaRPr lang="en-GB" sz="1800" b="1" dirty="0" smtClean="0">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Aft>
                          <a:spcPts val="0"/>
                        </a:spcAft>
                        <a:tabLst>
                          <a:tab pos="342900" algn="l"/>
                          <a:tab pos="685800" algn="l"/>
                          <a:tab pos="1028700" algn="l"/>
                        </a:tabLst>
                      </a:pPr>
                      <a:r>
                        <a:rPr lang="en-GB" sz="1900">
                          <a:solidFill>
                            <a:srgbClr val="000000"/>
                          </a:solidFill>
                          <a:latin typeface="Helvetica"/>
                          <a:ea typeface="Times New Roman" panose="02020603050405020304"/>
                          <a:cs typeface="Helvetica"/>
                        </a:rPr>
                        <a:t>In a client–server architecture, the system is presented as a set of services, with each service</a:t>
                      </a:r>
                      <a:r>
                        <a:rPr lang="en-US" altLang="en-GB" sz="1900">
                          <a:solidFill>
                            <a:srgbClr val="000000"/>
                          </a:solidFill>
                          <a:latin typeface="Helvetica"/>
                          <a:ea typeface="Times New Roman" panose="02020603050405020304"/>
                          <a:cs typeface="Helvetica"/>
                        </a:rPr>
                        <a:t> </a:t>
                      </a:r>
                      <a:r>
                        <a:rPr lang="en-GB" sz="1900">
                          <a:solidFill>
                            <a:srgbClr val="000000"/>
                          </a:solidFill>
                          <a:latin typeface="Helvetica"/>
                          <a:ea typeface="Times New Roman" panose="02020603050405020304"/>
                          <a:cs typeface="Helvetica"/>
                        </a:rPr>
                        <a:t>delivered by a separate server. Clients are users of these services and access servers to make</a:t>
                      </a:r>
                      <a:r>
                        <a:rPr lang="en-US" altLang="en-GB" sz="1900">
                          <a:solidFill>
                            <a:srgbClr val="000000"/>
                          </a:solidFill>
                          <a:latin typeface="Helvetica"/>
                          <a:ea typeface="Times New Roman" panose="02020603050405020304"/>
                          <a:cs typeface="Helvetica"/>
                        </a:rPr>
                        <a:t> </a:t>
                      </a:r>
                      <a:r>
                        <a:rPr lang="en-GB" sz="1900">
                          <a:solidFill>
                            <a:srgbClr val="000000"/>
                          </a:solidFill>
                          <a:latin typeface="Helvetica"/>
                          <a:ea typeface="Times New Roman" panose="02020603050405020304"/>
                          <a:cs typeface="Helvetica"/>
                        </a:rPr>
                        <a:t>use of them.</a:t>
                      </a:r>
                      <a:endParaRPr lang="en-GB" sz="1900">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548640">
                <a:tc>
                  <a:txBody>
                    <a:bodyPr/>
                    <a:p>
                      <a:pPr algn="l">
                        <a:spcAft>
                          <a:spcPts val="0"/>
                        </a:spcAft>
                        <a:tabLst>
                          <a:tab pos="342900" algn="l"/>
                          <a:tab pos="685800" algn="l"/>
                          <a:tab pos="1028700" algn="l"/>
                        </a:tabLst>
                      </a:pPr>
                      <a:r>
                        <a:rPr lang="en-GB" sz="1900" b="1">
                          <a:solidFill>
                            <a:srgbClr val="000000"/>
                          </a:solidFill>
                          <a:latin typeface="Helvetica"/>
                          <a:ea typeface="Times New Roman" panose="02020603050405020304"/>
                          <a:cs typeface="Helvetica"/>
                        </a:rPr>
                        <a:t>Example</a:t>
                      </a:r>
                      <a:endParaRPr lang="en-GB" sz="1900" b="1">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algn="l">
                        <a:spcAft>
                          <a:spcPts val="0"/>
                        </a:spcAft>
                        <a:tabLst>
                          <a:tab pos="342900" algn="l"/>
                          <a:tab pos="685800" algn="l"/>
                          <a:tab pos="1028700" algn="l"/>
                        </a:tabLst>
                      </a:pPr>
                      <a:r>
                        <a:rPr lang="en-GB" sz="1900" dirty="0">
                          <a:solidFill>
                            <a:srgbClr val="000000"/>
                          </a:solidFill>
                          <a:latin typeface="Helvetica"/>
                          <a:ea typeface="Times New Roman" panose="02020603050405020304"/>
                          <a:cs typeface="Helvetica"/>
                        </a:rPr>
                        <a:t>Figure 6.1</a:t>
                      </a:r>
                      <a:r>
                        <a:rPr lang="en-US" altLang="en-GB" sz="1900" dirty="0">
                          <a:solidFill>
                            <a:srgbClr val="000000"/>
                          </a:solidFill>
                          <a:latin typeface="Helvetica"/>
                          <a:ea typeface="Times New Roman" panose="02020603050405020304"/>
                          <a:cs typeface="Helvetica"/>
                        </a:rPr>
                        <a:t>3</a:t>
                      </a:r>
                      <a:r>
                        <a:rPr lang="en-GB" sz="1900" dirty="0">
                          <a:solidFill>
                            <a:srgbClr val="000000"/>
                          </a:solidFill>
                          <a:latin typeface="Helvetica"/>
                          <a:ea typeface="Times New Roman" panose="02020603050405020304"/>
                          <a:cs typeface="Helvetica"/>
                        </a:rPr>
                        <a:t> is an example of a film and video/DVD library organized as a client–server system.</a:t>
                      </a:r>
                      <a:endParaRPr lang="en-GB" sz="1900" dirty="0">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r h="822960">
                <a:tc>
                  <a:txBody>
                    <a:bodyPr/>
                    <a:p>
                      <a:pPr algn="l">
                        <a:spcAft>
                          <a:spcPts val="0"/>
                        </a:spcAft>
                        <a:tabLst>
                          <a:tab pos="342900" algn="l"/>
                          <a:tab pos="685800" algn="l"/>
                          <a:tab pos="1028700" algn="l"/>
                        </a:tabLst>
                      </a:pPr>
                      <a:r>
                        <a:rPr lang="en-GB" sz="1900" b="1">
                          <a:solidFill>
                            <a:srgbClr val="000000"/>
                          </a:solidFill>
                          <a:latin typeface="Helvetica"/>
                          <a:ea typeface="Times New Roman" panose="02020603050405020304"/>
                          <a:cs typeface="Helvetica"/>
                        </a:rPr>
                        <a:t>When used</a:t>
                      </a:r>
                      <a:endParaRPr lang="en-GB" sz="1900" b="1">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Aft>
                          <a:spcPts val="0"/>
                        </a:spcAft>
                        <a:tabLst>
                          <a:tab pos="342900" algn="l"/>
                          <a:tab pos="685800" algn="l"/>
                          <a:tab pos="1028700" algn="l"/>
                        </a:tabLst>
                      </a:pPr>
                      <a:r>
                        <a:rPr lang="en-GB" sz="1900" dirty="0">
                          <a:solidFill>
                            <a:srgbClr val="000000"/>
                          </a:solidFill>
                          <a:latin typeface="Helvetica"/>
                          <a:ea typeface="Times New Roman" panose="02020603050405020304"/>
                          <a:cs typeface="Helvetica"/>
                        </a:rPr>
                        <a:t>Used when data in a shared database has to be accessed from a range of locations. Because servers can be replicated, may also be used when the load on a system is variable.</a:t>
                      </a:r>
                      <a:endParaRPr lang="en-GB" sz="1900" dirty="0">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1097280">
                <a:tc>
                  <a:txBody>
                    <a:bodyPr/>
                    <a:p>
                      <a:pPr algn="l">
                        <a:spcAft>
                          <a:spcPts val="0"/>
                        </a:spcAft>
                        <a:tabLst>
                          <a:tab pos="342900" algn="l"/>
                          <a:tab pos="685800" algn="l"/>
                          <a:tab pos="1028700" algn="l"/>
                        </a:tabLst>
                      </a:pPr>
                      <a:r>
                        <a:rPr lang="en-GB" sz="1800" b="1">
                          <a:solidFill>
                            <a:srgbClr val="000000"/>
                          </a:solidFill>
                          <a:latin typeface="Helvetica"/>
                          <a:ea typeface="Times New Roman" panose="02020603050405020304"/>
                          <a:cs typeface="Helvetica"/>
                        </a:rPr>
                        <a:t>Advantages</a:t>
                      </a:r>
                      <a:endParaRPr lang="en-GB" sz="1800" b="1">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algn="l">
                        <a:spcAft>
                          <a:spcPts val="0"/>
                        </a:spcAft>
                        <a:tabLst>
                          <a:tab pos="342900" algn="l"/>
                          <a:tab pos="685800" algn="l"/>
                          <a:tab pos="1028700" algn="l"/>
                        </a:tabLst>
                      </a:pPr>
                      <a:r>
                        <a:rPr lang="en-GB" sz="1900" dirty="0">
                          <a:solidFill>
                            <a:srgbClr val="000000"/>
                          </a:solidFill>
                          <a:latin typeface="Helvetica"/>
                          <a:ea typeface="Times New Roman" panose="02020603050405020304"/>
                          <a:cs typeface="Helvetica"/>
                        </a:rPr>
                        <a:t>The principal advantage of this model is that servers can be distributed across a network. General functionality (e.g., a printing service) can be available to all clients and does not need to be implemented by all services. </a:t>
                      </a:r>
                      <a:endParaRPr lang="en-GB" sz="1900" dirty="0">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r h="1280795">
                <a:tc>
                  <a:txBody>
                    <a:bodyPr/>
                    <a:p>
                      <a:pPr algn="l">
                        <a:spcAft>
                          <a:spcPts val="0"/>
                        </a:spcAft>
                        <a:tabLst>
                          <a:tab pos="342900" algn="l"/>
                          <a:tab pos="685800" algn="l"/>
                          <a:tab pos="1028700" algn="l"/>
                        </a:tabLst>
                      </a:pPr>
                      <a:r>
                        <a:rPr lang="en-GB" sz="1400" b="1">
                          <a:solidFill>
                            <a:srgbClr val="000000"/>
                          </a:solidFill>
                          <a:latin typeface="Helvetica"/>
                          <a:ea typeface="Times New Roman" panose="02020603050405020304"/>
                          <a:cs typeface="Helvetica"/>
                        </a:rPr>
                        <a:t>Disadvantages</a:t>
                      </a:r>
                      <a:endParaRPr lang="en-GB" sz="1400" b="1">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Aft>
                          <a:spcPts val="0"/>
                        </a:spcAft>
                        <a:tabLst>
                          <a:tab pos="342900" algn="l"/>
                          <a:tab pos="685800" algn="l"/>
                          <a:tab pos="1028700" algn="l"/>
                        </a:tabLst>
                      </a:pPr>
                      <a:r>
                        <a:rPr lang="en-GB" sz="1900" dirty="0">
                          <a:solidFill>
                            <a:srgbClr val="000000"/>
                          </a:solidFill>
                          <a:latin typeface="Helvetica"/>
                          <a:ea typeface="Times New Roman" panose="02020603050405020304"/>
                          <a:cs typeface="Helvetica"/>
                        </a:rPr>
                        <a:t>Each service is a single point of failure so susceptible to denial</a:t>
                      </a:r>
                      <a:r>
                        <a:rPr lang="en-US" altLang="en-GB" sz="1900" dirty="0">
                          <a:solidFill>
                            <a:srgbClr val="000000"/>
                          </a:solidFill>
                          <a:latin typeface="Helvetica"/>
                          <a:ea typeface="Times New Roman" panose="02020603050405020304"/>
                          <a:cs typeface="Helvetica"/>
                        </a:rPr>
                        <a:t>-</a:t>
                      </a:r>
                      <a:r>
                        <a:rPr lang="en-GB" sz="1900" dirty="0">
                          <a:solidFill>
                            <a:srgbClr val="000000"/>
                          </a:solidFill>
                          <a:latin typeface="Helvetica"/>
                          <a:ea typeface="Times New Roman" panose="02020603050405020304"/>
                          <a:cs typeface="Helvetica"/>
                        </a:rPr>
                        <a:t>of</a:t>
                      </a:r>
                      <a:r>
                        <a:rPr lang="en-US" altLang="en-GB" sz="1900" dirty="0">
                          <a:solidFill>
                            <a:srgbClr val="000000"/>
                          </a:solidFill>
                          <a:latin typeface="Helvetica"/>
                          <a:ea typeface="Times New Roman" panose="02020603050405020304"/>
                          <a:cs typeface="Helvetica"/>
                        </a:rPr>
                        <a:t>-</a:t>
                      </a:r>
                      <a:r>
                        <a:rPr lang="en-GB" sz="1900" dirty="0">
                          <a:solidFill>
                            <a:srgbClr val="000000"/>
                          </a:solidFill>
                          <a:latin typeface="Helvetica"/>
                          <a:ea typeface="Times New Roman" panose="02020603050405020304"/>
                          <a:cs typeface="Helvetica"/>
                        </a:rPr>
                        <a:t>service attacks or server failure. Performance may be unpredictable because it depends on the network as well as the system. management problems </a:t>
                      </a:r>
                      <a:r>
                        <a:rPr lang="en-US" altLang="en-GB" sz="1900" dirty="0">
                          <a:solidFill>
                            <a:srgbClr val="000000"/>
                          </a:solidFill>
                          <a:latin typeface="Helvetica"/>
                          <a:ea typeface="Times New Roman" panose="02020603050405020304"/>
                          <a:cs typeface="Helvetica"/>
                        </a:rPr>
                        <a:t>m</a:t>
                      </a:r>
                      <a:r>
                        <a:rPr lang="en-GB" sz="1900" dirty="0">
                          <a:solidFill>
                            <a:srgbClr val="000000"/>
                          </a:solidFill>
                          <a:latin typeface="Helvetica"/>
                          <a:ea typeface="Times New Roman" panose="02020603050405020304"/>
                          <a:cs typeface="Helvetica"/>
                          <a:sym typeface="+mn-ea"/>
                        </a:rPr>
                        <a:t>ay </a:t>
                      </a:r>
                      <a:r>
                        <a:rPr lang="en-US" altLang="en-GB" sz="1900" dirty="0">
                          <a:solidFill>
                            <a:srgbClr val="000000"/>
                          </a:solidFill>
                          <a:latin typeface="Helvetica"/>
                          <a:ea typeface="Times New Roman" panose="02020603050405020304"/>
                          <a:cs typeface="Helvetica"/>
                          <a:sym typeface="+mn-ea"/>
                        </a:rPr>
                        <a:t>arise </a:t>
                      </a:r>
                      <a:r>
                        <a:rPr lang="en-GB" sz="1900" dirty="0">
                          <a:solidFill>
                            <a:srgbClr val="000000"/>
                          </a:solidFill>
                          <a:latin typeface="Helvetica"/>
                          <a:ea typeface="Times New Roman" panose="02020603050405020304"/>
                          <a:cs typeface="Helvetica"/>
                        </a:rPr>
                        <a:t>if servers are owned by different organizations</a:t>
                      </a:r>
                      <a:r>
                        <a:rPr lang="en-GB" sz="1900" dirty="0" smtClean="0">
                          <a:solidFill>
                            <a:srgbClr val="000000"/>
                          </a:solidFill>
                          <a:latin typeface="Helvetica"/>
                          <a:ea typeface="Times New Roman" panose="02020603050405020304"/>
                          <a:cs typeface="Helvetica"/>
                        </a:rPr>
                        <a:t>.</a:t>
                      </a:r>
                      <a:endParaRPr lang="en-GB" sz="1900" dirty="0">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bl>
          </a:graphicData>
        </a:graphic>
      </p:graphicFrame>
      <p:pic>
        <p:nvPicPr>
          <p:cNvPr id="3" name="图片 2"/>
          <p:cNvPicPr>
            <a:picLocks noChangeAspect="1"/>
          </p:cNvPicPr>
          <p:nvPr/>
        </p:nvPicPr>
        <p:blipFill>
          <a:blip r:embed="rId4"/>
          <a:stretch>
            <a:fillRect/>
          </a:stretch>
        </p:blipFill>
        <p:spPr>
          <a:xfrm>
            <a:off x="7101840" y="741680"/>
            <a:ext cx="1828800" cy="495300"/>
          </a:xfrm>
          <a:prstGeom prst="rect">
            <a:avLst/>
          </a:prstGeom>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35330"/>
            <a:ext cx="8977630" cy="650240"/>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en-US" altLang="zh-CN" sz="2800" dirty="0">
                <a:solidFill>
                  <a:srgbClr val="0070C0"/>
                </a:solidFill>
                <a:ea typeface="宋体" panose="02010600030101010101" pitchFamily="2" charset="-122"/>
                <a:sym typeface="+mn-ea"/>
              </a:rPr>
              <a:t> </a:t>
            </a:r>
            <a:r>
              <a:rPr lang="zh-CN" altLang="en-US" sz="2800" dirty="0">
                <a:solidFill>
                  <a:schemeClr val="accent1">
                    <a:lumMod val="75000"/>
                  </a:schemeClr>
                </a:solidFill>
                <a:ea typeface="宋体" panose="02010600030101010101" pitchFamily="2" charset="-122"/>
                <a:sym typeface="+mn-ea"/>
              </a:rPr>
              <a:t>A client–server architecture for a film library</a:t>
            </a:r>
            <a:r>
              <a:rPr lang="en-US" altLang="zh-CN" sz="2800" dirty="0">
                <a:solidFill>
                  <a:schemeClr val="accent1">
                    <a:lumMod val="75000"/>
                  </a:schemeClr>
                </a:solidFill>
                <a:ea typeface="宋体" panose="02010600030101010101" pitchFamily="2" charset="-122"/>
                <a:sym typeface="+mn-ea"/>
              </a:rPr>
              <a:t> </a:t>
            </a:r>
            <a:r>
              <a:rPr lang="zh-CN" altLang="en-US" sz="20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电影库的客户机</a:t>
            </a:r>
            <a:r>
              <a:rPr lang="en-US" altLang="zh-CN" sz="20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a:t>
            </a:r>
            <a:r>
              <a:rPr lang="zh-CN" altLang="en-US" sz="20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服务器体系结构</a:t>
            </a:r>
            <a:endParaRPr lang="zh-CN" altLang="en-US" sz="20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0850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6  Architectural Design</a:t>
            </a:r>
            <a:endParaRPr lang="en-US" altLang="zh-CN" sz="2800" dirty="0">
              <a:solidFill>
                <a:srgbClr val="660066"/>
              </a:solidFill>
              <a:ea typeface="黑体" panose="02010609060101010101" pitchFamily="49" charset="-122"/>
              <a:cs typeface="+mj-lt"/>
            </a:endParaRPr>
          </a:p>
        </p:txBody>
      </p:sp>
      <p:pic>
        <p:nvPicPr>
          <p:cNvPr id="2" name="图片 1"/>
          <p:cNvPicPr>
            <a:picLocks noChangeAspect="1"/>
          </p:cNvPicPr>
          <p:nvPr/>
        </p:nvPicPr>
        <p:blipFill>
          <a:blip r:embed="rId3"/>
          <a:stretch>
            <a:fillRect/>
          </a:stretch>
        </p:blipFill>
        <p:spPr>
          <a:xfrm>
            <a:off x="1972310" y="1617345"/>
            <a:ext cx="7102475" cy="4006215"/>
          </a:xfrm>
          <a:prstGeom prst="rect">
            <a:avLst/>
          </a:prstGeom>
        </p:spPr>
      </p:pic>
      <p:sp>
        <p:nvSpPr>
          <p:cNvPr id="10" name="Content Placeholder 2"/>
          <p:cNvSpPr>
            <a:spLocks noGrp="1"/>
          </p:cNvSpPr>
          <p:nvPr/>
        </p:nvSpPr>
        <p:spPr>
          <a:xfrm>
            <a:off x="94615" y="1529715"/>
            <a:ext cx="1960245" cy="506222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1400" b="0" dirty="0" smtClean="0">
                <a:solidFill>
                  <a:schemeClr val="tx1"/>
                </a:solidFill>
                <a:latin typeface="Calibri" panose="020F0502020204030204" charset="0"/>
                <a:cs typeface="Calibri" panose="020F0502020204030204" charset="0"/>
              </a:rPr>
              <a:t>* Fig. 6.13 A system that is based on client–server model.</a:t>
            </a:r>
            <a:endParaRPr lang="en-US" sz="14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1400" b="0" dirty="0" smtClean="0">
                <a:solidFill>
                  <a:schemeClr val="tx1"/>
                </a:solidFill>
                <a:latin typeface="Calibri" panose="020F0502020204030204" charset="0"/>
                <a:cs typeface="Calibri" panose="020F0502020204030204" charset="0"/>
              </a:rPr>
              <a:t>* A multiuser, web-based system for providing a film and photograph library.</a:t>
            </a:r>
            <a:endParaRPr lang="en-US" sz="14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1400" b="0" dirty="0" smtClean="0">
                <a:solidFill>
                  <a:schemeClr val="tx1"/>
                </a:solidFill>
                <a:latin typeface="Calibri" panose="020F0502020204030204" charset="0"/>
                <a:cs typeface="Calibri" panose="020F0502020204030204" charset="0"/>
              </a:rPr>
              <a:t>*Several servers manage and display the different types of media. Video frames need to be transmitted quickly and in synchrony but at relatively low resolution. They may be compressed in a store, so the video server can handle video compression and decompression in different formats; Still pictures, however, must be maintained at a high resolution, so it is appropriate to maintain them on a separate server. </a:t>
            </a:r>
            <a:endParaRPr lang="en-US" sz="1400" b="0" dirty="0" smtClean="0">
              <a:solidFill>
                <a:schemeClr val="tx1"/>
              </a:solidFill>
              <a:latin typeface="Calibri" panose="020F0502020204030204" charset="0"/>
              <a:cs typeface="Calibri" panose="020F0502020204030204" charset="0"/>
            </a:endParaRPr>
          </a:p>
        </p:txBody>
      </p:sp>
      <p:sp>
        <p:nvSpPr>
          <p:cNvPr id="5" name="Content Placeholder 2"/>
          <p:cNvSpPr>
            <a:spLocks noGrp="1"/>
          </p:cNvSpPr>
          <p:nvPr/>
        </p:nvSpPr>
        <p:spPr>
          <a:xfrm>
            <a:off x="1974850" y="5746750"/>
            <a:ext cx="7028180" cy="78549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1400" b="0" dirty="0" smtClean="0">
                <a:solidFill>
                  <a:schemeClr val="tx1"/>
                </a:solidFill>
                <a:latin typeface="Calibri" panose="020F0502020204030204" charset="0"/>
                <a:cs typeface="Calibri" panose="020F0502020204030204" charset="0"/>
              </a:rPr>
              <a:t>* The catalog must be able to deal with a variety of queries and provide links into the web information system that include data about the film and video clips, and an e-commerce system that supports the sale of photographs, film, and video clips. The client program is simply an integrated user interface, constructed using a web browser, to access these services.</a:t>
            </a:r>
            <a:endParaRPr lang="en-US" sz="14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72465"/>
            <a:ext cx="8977630" cy="559435"/>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en-US" altLang="zh-CN" sz="3100" dirty="0">
                <a:solidFill>
                  <a:srgbClr val="0070C0"/>
                </a:solidFill>
                <a:ea typeface="宋体" panose="02010600030101010101" pitchFamily="2" charset="-122"/>
                <a:sym typeface="+mn-ea"/>
              </a:rPr>
              <a:t> </a:t>
            </a:r>
            <a:r>
              <a:rPr lang="zh-CN" altLang="en-US" sz="3100" dirty="0">
                <a:solidFill>
                  <a:schemeClr val="accent1">
                    <a:lumMod val="75000"/>
                  </a:schemeClr>
                </a:solidFill>
                <a:ea typeface="宋体" panose="02010600030101010101" pitchFamily="2" charset="-122"/>
                <a:sym typeface="+mn-ea"/>
              </a:rPr>
              <a:t>Pipe and filter architecture</a:t>
            </a:r>
            <a:r>
              <a:rPr lang="en-US" altLang="zh-CN" sz="31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管道</a:t>
            </a:r>
            <a:r>
              <a:rPr lang="en-US" altLang="zh-CN"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a:t>
            </a:r>
            <a:r>
              <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过滤器体系结构</a:t>
            </a:r>
            <a:endPar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0850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6  Architectural Design</a:t>
            </a:r>
            <a:endParaRPr lang="en-US" altLang="zh-CN" sz="2800" dirty="0">
              <a:solidFill>
                <a:srgbClr val="660066"/>
              </a:solidFill>
              <a:ea typeface="黑体" panose="02010609060101010101" pitchFamily="49" charset="-122"/>
              <a:cs typeface="+mj-lt"/>
            </a:endParaRPr>
          </a:p>
        </p:txBody>
      </p:sp>
      <p:sp>
        <p:nvSpPr>
          <p:cNvPr id="16387" name="Rectangle 3"/>
          <p:cNvSpPr>
            <a:spLocks noGrp="1" noChangeArrowheads="1"/>
          </p:cNvSpPr>
          <p:nvPr/>
        </p:nvSpPr>
        <p:spPr>
          <a:xfrm>
            <a:off x="70485" y="1169670"/>
            <a:ext cx="8996045" cy="5636895"/>
          </a:xfrm>
          <a:prstGeom prst="rect">
            <a:avLst/>
          </a:prstGeom>
          <a:noFill/>
        </p:spPr>
        <p:txBody>
          <a:bodyPr lIns="90487" tIns="44450" rIns="90487" bIns="44450"/>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Bef>
                <a:spcPts val="500"/>
              </a:spcBef>
              <a:spcAft>
                <a:spcPts val="0"/>
              </a:spcAft>
            </a:pPr>
            <a:r>
              <a:rPr lang="en-US" altLang="en-GB" sz="3000" dirty="0">
                <a:solidFill>
                  <a:schemeClr val="accent2">
                    <a:lumMod val="75000"/>
                  </a:schemeClr>
                </a:solidFill>
                <a:latin typeface="Calibri" panose="020F0502020204030204" charset="0"/>
                <a:cs typeface="Calibri" panose="020F0502020204030204" charset="0"/>
              </a:rPr>
              <a:t> Pipe and Filter pattern (Fig. 6.14) is a model of the runtime organization of a system where functional transformations process inputs and produce outputs. </a:t>
            </a:r>
            <a:r>
              <a:rPr lang="en-US" altLang="en-GB" sz="2600" b="0" dirty="0">
                <a:solidFill>
                  <a:schemeClr val="tx1"/>
                </a:solidFill>
                <a:latin typeface="Calibri" panose="020F0502020204030204" charset="0"/>
                <a:cs typeface="Calibri" panose="020F0502020204030204" charset="0"/>
              </a:rPr>
              <a:t>Data flows from one to another and is transformed as it moves through the sequence.</a:t>
            </a:r>
            <a:r>
              <a:rPr lang="en-US" altLang="en-GB" sz="2700" b="0" dirty="0">
                <a:solidFill>
                  <a:schemeClr val="tx1"/>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功能转换</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处理输入</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产生输出</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a:p>
            <a:pPr>
              <a:lnSpc>
                <a:spcPct val="82000"/>
              </a:lnSpc>
              <a:spcBef>
                <a:spcPts val="500"/>
              </a:spcBef>
              <a:spcAft>
                <a:spcPts val="0"/>
              </a:spcAft>
            </a:pPr>
            <a:r>
              <a:rPr lang="en-US" altLang="en-GB" sz="3000" dirty="0">
                <a:solidFill>
                  <a:schemeClr val="accent2">
                    <a:lumMod val="75000"/>
                  </a:schemeClr>
                </a:solidFill>
                <a:latin typeface="Calibri" panose="020F0502020204030204" charset="0"/>
                <a:cs typeface="Calibri" panose="020F0502020204030204" charset="0"/>
              </a:rPr>
              <a:t> The name “pipe and filter” comes from the original Unix system.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名字来自Unix</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a:p>
            <a:pPr>
              <a:lnSpc>
                <a:spcPct val="82000"/>
              </a:lnSpc>
              <a:spcBef>
                <a:spcPts val="500"/>
              </a:spcBef>
              <a:spcAft>
                <a:spcPts val="0"/>
              </a:spcAft>
            </a:pPr>
            <a:r>
              <a:rPr lang="en-US" altLang="en-GB" sz="3000" dirty="0">
                <a:solidFill>
                  <a:schemeClr val="accent2">
                    <a:lumMod val="75000"/>
                  </a:schemeClr>
                </a:solidFill>
                <a:latin typeface="Calibri" panose="020F0502020204030204" charset="0"/>
                <a:cs typeface="Calibri" panose="020F0502020204030204" charset="0"/>
              </a:rPr>
              <a:t> Variants of this pattern have been very common. </a:t>
            </a:r>
            <a:r>
              <a:rPr lang="en-US" altLang="en-GB" sz="2600" b="0" dirty="0">
                <a:solidFill>
                  <a:schemeClr val="tx1"/>
                </a:solidFill>
                <a:latin typeface="Calibri" panose="020F0502020204030204" charset="0"/>
                <a:cs typeface="Calibri" panose="020F0502020204030204" charset="0"/>
              </a:rPr>
              <a:t>When transformations are sequential and in batchs, this model becomes a batch sequential model, a common architecture for data-processing systems. The architecture of an embedded system may also be organized as a process pipeline, with each process executing concurrently. </a:t>
            </a:r>
            <a:r>
              <a:rPr lang="en-US" altLang="en-GB" sz="2700" b="0" dirty="0">
                <a:solidFill>
                  <a:schemeClr val="tx1"/>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该模式的变体很常用</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a:p>
            <a:pPr>
              <a:lnSpc>
                <a:spcPct val="82000"/>
              </a:lnSpc>
              <a:spcBef>
                <a:spcPts val="500"/>
              </a:spcBef>
              <a:spcAft>
                <a:spcPts val="0"/>
              </a:spcAft>
            </a:pPr>
            <a:r>
              <a:rPr lang="en-US" altLang="en-GB" sz="3000" dirty="0">
                <a:solidFill>
                  <a:schemeClr val="accent2">
                    <a:lumMod val="75000"/>
                  </a:schemeClr>
                </a:solidFill>
                <a:latin typeface="Calibri" panose="020F0502020204030204" charset="0"/>
                <a:cs typeface="Calibri" panose="020F0502020204030204" charset="0"/>
              </a:rPr>
              <a:t> Interactive systems are difficult to write using the pipe and filter model.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交互式系统不适合用该模式</a:t>
            </a:r>
            <a:endParaRPr lang="zh-CN" altLang="en-US" sz="3100" dirty="0">
              <a:solidFill>
                <a:schemeClr val="accent2">
                  <a:lumMod val="75000"/>
                </a:schemeClr>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03580"/>
            <a:ext cx="8977630" cy="5556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ea typeface="宋体" panose="02010600030101010101" pitchFamily="2" charset="-122"/>
                <a:sym typeface="+mn-ea"/>
              </a:rPr>
              <a:t> </a:t>
            </a:r>
            <a:r>
              <a:rPr lang="zh-CN" altLang="en-US" sz="2800" dirty="0">
                <a:solidFill>
                  <a:schemeClr val="accent1">
                    <a:lumMod val="75000"/>
                  </a:schemeClr>
                </a:solidFill>
                <a:ea typeface="宋体" panose="02010600030101010101" pitchFamily="2" charset="-122"/>
                <a:sym typeface="+mn-ea"/>
              </a:rPr>
              <a:t>The pipe and filter pattern</a:t>
            </a:r>
            <a:r>
              <a:rPr lang="en-US" altLang="zh-CN" sz="2800" dirty="0">
                <a:solidFill>
                  <a:schemeClr val="accent1">
                    <a:lumMod val="75000"/>
                  </a:schemeClr>
                </a:solidFill>
                <a:ea typeface="宋体" panose="02010600030101010101" pitchFamily="2" charset="-122"/>
                <a:sym typeface="+mn-ea"/>
              </a:rPr>
              <a:t> </a:t>
            </a:r>
            <a:r>
              <a:rPr lang="zh-CN" altLang="en-US" sz="20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管道</a:t>
            </a:r>
            <a:r>
              <a:rPr lang="en-US" altLang="zh-CN" sz="20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a:t>
            </a:r>
            <a:r>
              <a:rPr lang="zh-CN" altLang="en-US" sz="20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过滤器模式</a:t>
            </a:r>
            <a:endParaRPr lang="zh-CN" altLang="en-US" sz="20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0850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6  Architectural Design</a:t>
            </a:r>
            <a:endParaRPr lang="en-US" altLang="zh-CN" sz="2800" dirty="0">
              <a:solidFill>
                <a:srgbClr val="660066"/>
              </a:solidFill>
              <a:ea typeface="黑体" panose="02010609060101010101" pitchFamily="49" charset="-122"/>
              <a:cs typeface="+mj-lt"/>
            </a:endParaRPr>
          </a:p>
        </p:txBody>
      </p:sp>
      <p:graphicFrame>
        <p:nvGraphicFramePr>
          <p:cNvPr id="2" name="Content Placeholder 3"/>
          <p:cNvGraphicFramePr>
            <a:graphicFrameLocks noGrp="1"/>
          </p:cNvGraphicFramePr>
          <p:nvPr>
            <p:custDataLst>
              <p:tags r:id="rId3"/>
            </p:custDataLst>
          </p:nvPr>
        </p:nvGraphicFramePr>
        <p:xfrm>
          <a:off x="111125" y="1263650"/>
          <a:ext cx="8934450" cy="5142865"/>
        </p:xfrm>
        <a:graphic>
          <a:graphicData uri="http://schemas.openxmlformats.org/drawingml/2006/table">
            <a:tbl>
              <a:tblPr firstRow="1" bandRow="1">
                <a:effectLst/>
                <a:tableStyleId>{5940675A-B579-460E-94D1-54222C63F5DA}</a:tableStyleId>
              </a:tblPr>
              <a:tblGrid>
                <a:gridCol w="1764665"/>
                <a:gridCol w="7169785"/>
              </a:tblGrid>
              <a:tr h="452755">
                <a:tc>
                  <a:txBody>
                    <a:bodyPr/>
                    <a:p>
                      <a:pPr algn="ctr">
                        <a:spcAft>
                          <a:spcPts val="0"/>
                        </a:spcAft>
                        <a:tabLst>
                          <a:tab pos="342900" algn="l"/>
                          <a:tab pos="685800" algn="l"/>
                          <a:tab pos="1028700" algn="l"/>
                        </a:tabLst>
                      </a:pPr>
                      <a:r>
                        <a:rPr lang="en-GB" sz="1800" b="1" dirty="0" smtClean="0">
                          <a:solidFill>
                            <a:schemeClr val="bg1"/>
                          </a:solidFill>
                          <a:latin typeface="Helvetica"/>
                          <a:ea typeface="Times New Roman" panose="02020603050405020304"/>
                          <a:cs typeface="Helvetica"/>
                        </a:rPr>
                        <a:t>Name</a:t>
                      </a:r>
                      <a:endParaRPr lang="en-GB" sz="1800" b="1" dirty="0" smtClean="0">
                        <a:solidFill>
                          <a:schemeClr val="bg1"/>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c>
                  <a:txBody>
                    <a:bodyPr/>
                    <a:p>
                      <a:pPr algn="ctr">
                        <a:spcAft>
                          <a:spcPts val="0"/>
                        </a:spcAft>
                        <a:tabLst>
                          <a:tab pos="342900" algn="l"/>
                          <a:tab pos="685800" algn="l"/>
                          <a:tab pos="1028700" algn="l"/>
                        </a:tabLst>
                      </a:pPr>
                      <a:r>
                        <a:rPr lang="en-GB" sz="1800" b="1" dirty="0">
                          <a:solidFill>
                            <a:schemeClr val="bg1"/>
                          </a:solidFill>
                          <a:latin typeface="Helvetica"/>
                          <a:ea typeface="Times New Roman" panose="02020603050405020304"/>
                          <a:cs typeface="Helvetica"/>
                        </a:rPr>
                        <a:t>Pipe and </a:t>
                      </a:r>
                      <a:r>
                        <a:rPr lang="en-GB" sz="1800" b="1" dirty="0" smtClean="0">
                          <a:solidFill>
                            <a:schemeClr val="bg1"/>
                          </a:solidFill>
                          <a:latin typeface="Helvetica"/>
                          <a:ea typeface="Times New Roman" panose="02020603050405020304"/>
                          <a:cs typeface="Helvetica"/>
                        </a:rPr>
                        <a:t>filter</a:t>
                      </a:r>
                      <a:endParaRPr lang="en-GB" sz="1800" b="1" dirty="0" smtClean="0">
                        <a:solidFill>
                          <a:schemeClr val="bg1"/>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r>
              <a:tr h="1042035">
                <a:tc>
                  <a:txBody>
                    <a:bodyPr/>
                    <a:p>
                      <a:pPr algn="l">
                        <a:spcAft>
                          <a:spcPts val="0"/>
                        </a:spcAft>
                        <a:tabLst>
                          <a:tab pos="342900" algn="l"/>
                          <a:tab pos="685800" algn="l"/>
                          <a:tab pos="1028700" algn="l"/>
                        </a:tabLst>
                      </a:pPr>
                      <a:r>
                        <a:rPr lang="en-GB" sz="1800" b="1" dirty="0" smtClean="0">
                          <a:solidFill>
                            <a:srgbClr val="000000"/>
                          </a:solidFill>
                          <a:latin typeface="Helvetica"/>
                          <a:ea typeface="Times New Roman" panose="02020603050405020304"/>
                          <a:cs typeface="Helvetica"/>
                        </a:rPr>
                        <a:t>Description</a:t>
                      </a:r>
                      <a:endParaRPr lang="en-GB" sz="1800" b="1" dirty="0" smtClean="0">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Aft>
                          <a:spcPts val="0"/>
                        </a:spcAft>
                        <a:tabLst>
                          <a:tab pos="342900" algn="l"/>
                          <a:tab pos="685800" algn="l"/>
                          <a:tab pos="1028700" algn="l"/>
                        </a:tabLst>
                      </a:pPr>
                      <a:r>
                        <a:rPr lang="en-GB" sz="1800">
                          <a:solidFill>
                            <a:srgbClr val="000000"/>
                          </a:solidFill>
                          <a:latin typeface="Helvetica"/>
                          <a:ea typeface="Times New Roman" panose="02020603050405020304"/>
                          <a:cs typeface="Helvetica"/>
                        </a:rPr>
                        <a:t>The processing of the data in a system is organized so that each processing component (filter) is discrete and carries out one type of data transformation. The data flows (as in a pipe) from one component to another for processing. </a:t>
                      </a:r>
                      <a:endParaRPr lang="en-GB" sz="1800">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521970">
                <a:tc>
                  <a:txBody>
                    <a:bodyPr/>
                    <a:p>
                      <a:pPr algn="l">
                        <a:spcAft>
                          <a:spcPts val="0"/>
                        </a:spcAft>
                        <a:tabLst>
                          <a:tab pos="342900" algn="l"/>
                          <a:tab pos="685800" algn="l"/>
                          <a:tab pos="1028700" algn="l"/>
                        </a:tabLst>
                      </a:pPr>
                      <a:r>
                        <a:rPr lang="en-GB" sz="1800" b="1">
                          <a:solidFill>
                            <a:srgbClr val="000000"/>
                          </a:solidFill>
                          <a:latin typeface="Helvetica"/>
                          <a:ea typeface="Times New Roman" panose="02020603050405020304"/>
                          <a:cs typeface="Helvetica"/>
                        </a:rPr>
                        <a:t>Example</a:t>
                      </a:r>
                      <a:endParaRPr lang="en-GB" sz="1800" b="1">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algn="l">
                        <a:spcAft>
                          <a:spcPts val="0"/>
                        </a:spcAft>
                        <a:tabLst>
                          <a:tab pos="342900" algn="l"/>
                          <a:tab pos="685800" algn="l"/>
                          <a:tab pos="1028700" algn="l"/>
                        </a:tabLst>
                      </a:pPr>
                      <a:r>
                        <a:rPr lang="en-GB" sz="1800">
                          <a:solidFill>
                            <a:srgbClr val="000000"/>
                          </a:solidFill>
                          <a:latin typeface="Helvetica"/>
                          <a:ea typeface="Times New Roman" panose="02020603050405020304"/>
                          <a:cs typeface="Helvetica"/>
                        </a:rPr>
                        <a:t>Figure 6.1</a:t>
                      </a:r>
                      <a:r>
                        <a:rPr lang="en-US" altLang="en-GB" sz="1800">
                          <a:solidFill>
                            <a:srgbClr val="000000"/>
                          </a:solidFill>
                          <a:latin typeface="Helvetica"/>
                          <a:ea typeface="Times New Roman" panose="02020603050405020304"/>
                          <a:cs typeface="Helvetica"/>
                        </a:rPr>
                        <a:t>5</a:t>
                      </a:r>
                      <a:r>
                        <a:rPr lang="en-GB" sz="1800">
                          <a:solidFill>
                            <a:srgbClr val="000000"/>
                          </a:solidFill>
                          <a:latin typeface="Helvetica"/>
                          <a:ea typeface="Times New Roman" panose="02020603050405020304"/>
                          <a:cs typeface="Helvetica"/>
                        </a:rPr>
                        <a:t> is an example of a pipe and filter system used for processing invoices.</a:t>
                      </a:r>
                      <a:endParaRPr lang="en-GB" sz="1800">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r h="781050">
                <a:tc>
                  <a:txBody>
                    <a:bodyPr/>
                    <a:p>
                      <a:pPr algn="l">
                        <a:spcAft>
                          <a:spcPts val="0"/>
                        </a:spcAft>
                        <a:tabLst>
                          <a:tab pos="342900" algn="l"/>
                          <a:tab pos="685800" algn="l"/>
                          <a:tab pos="1028700" algn="l"/>
                        </a:tabLst>
                      </a:pPr>
                      <a:r>
                        <a:rPr lang="en-GB" sz="1800" b="1">
                          <a:solidFill>
                            <a:srgbClr val="000000"/>
                          </a:solidFill>
                          <a:latin typeface="Helvetica"/>
                          <a:ea typeface="Times New Roman" panose="02020603050405020304"/>
                          <a:cs typeface="Helvetica"/>
                        </a:rPr>
                        <a:t>When used</a:t>
                      </a:r>
                      <a:endParaRPr lang="en-GB" sz="1800" b="1">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Aft>
                          <a:spcPts val="0"/>
                        </a:spcAft>
                        <a:tabLst>
                          <a:tab pos="342900" algn="l"/>
                          <a:tab pos="685800" algn="l"/>
                          <a:tab pos="1028700" algn="l"/>
                        </a:tabLst>
                      </a:pPr>
                      <a:r>
                        <a:rPr lang="en-GB" sz="1800">
                          <a:solidFill>
                            <a:srgbClr val="000000"/>
                          </a:solidFill>
                          <a:latin typeface="Helvetica"/>
                          <a:ea typeface="Times New Roman" panose="02020603050405020304"/>
                          <a:cs typeface="Helvetica"/>
                        </a:rPr>
                        <a:t>Commonly used in data</a:t>
                      </a:r>
                      <a:r>
                        <a:rPr lang="en-US" altLang="en-GB" sz="1800">
                          <a:solidFill>
                            <a:srgbClr val="000000"/>
                          </a:solidFill>
                          <a:latin typeface="Helvetica"/>
                          <a:ea typeface="Times New Roman" panose="02020603050405020304"/>
                          <a:cs typeface="Helvetica"/>
                        </a:rPr>
                        <a:t>-</a:t>
                      </a:r>
                      <a:r>
                        <a:rPr lang="en-GB" sz="1800">
                          <a:solidFill>
                            <a:srgbClr val="000000"/>
                          </a:solidFill>
                          <a:latin typeface="Helvetica"/>
                          <a:ea typeface="Times New Roman" panose="02020603050405020304"/>
                          <a:cs typeface="Helvetica"/>
                        </a:rPr>
                        <a:t>processing applications (both batch and transaction-based) where inputs are processed in separate stages to generate related outputs.</a:t>
                      </a:r>
                      <a:endParaRPr lang="en-GB" sz="1800">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1042035">
                <a:tc>
                  <a:txBody>
                    <a:bodyPr/>
                    <a:p>
                      <a:pPr algn="l">
                        <a:spcAft>
                          <a:spcPts val="0"/>
                        </a:spcAft>
                        <a:tabLst>
                          <a:tab pos="342900" algn="l"/>
                          <a:tab pos="685800" algn="l"/>
                          <a:tab pos="1028700" algn="l"/>
                        </a:tabLst>
                      </a:pPr>
                      <a:r>
                        <a:rPr lang="en-GB" sz="1800" b="1">
                          <a:solidFill>
                            <a:srgbClr val="000000"/>
                          </a:solidFill>
                          <a:latin typeface="Helvetica"/>
                          <a:ea typeface="Times New Roman" panose="02020603050405020304"/>
                          <a:cs typeface="Helvetica"/>
                        </a:rPr>
                        <a:t>Advantages</a:t>
                      </a:r>
                      <a:endParaRPr lang="en-GB" sz="1800" b="1">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algn="l">
                        <a:spcAft>
                          <a:spcPts val="0"/>
                        </a:spcAft>
                        <a:tabLst>
                          <a:tab pos="342900" algn="l"/>
                          <a:tab pos="685800" algn="l"/>
                          <a:tab pos="1028700" algn="l"/>
                        </a:tabLst>
                      </a:pPr>
                      <a:r>
                        <a:rPr lang="en-GB" sz="1800">
                          <a:solidFill>
                            <a:srgbClr val="000000"/>
                          </a:solidFill>
                          <a:latin typeface="Helvetica"/>
                          <a:ea typeface="Times New Roman" panose="02020603050405020304"/>
                          <a:cs typeface="Helvetica"/>
                        </a:rPr>
                        <a:t>Easy to understand and supports transformation reuse. Workflow style matches the structure of many business processes. Evolution by adding transformations is straightforward. Can be implemented as either a sequential or concurrent system.</a:t>
                      </a:r>
                      <a:endParaRPr lang="en-GB" sz="1800">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r h="1303020">
                <a:tc>
                  <a:txBody>
                    <a:bodyPr/>
                    <a:p>
                      <a:pPr algn="l">
                        <a:spcAft>
                          <a:spcPts val="0"/>
                        </a:spcAft>
                        <a:tabLst>
                          <a:tab pos="342900" algn="l"/>
                          <a:tab pos="685800" algn="l"/>
                          <a:tab pos="1028700" algn="l"/>
                        </a:tabLst>
                      </a:pPr>
                      <a:r>
                        <a:rPr lang="en-GB" sz="1800" b="1">
                          <a:solidFill>
                            <a:srgbClr val="000000"/>
                          </a:solidFill>
                          <a:latin typeface="Helvetica"/>
                          <a:ea typeface="Times New Roman" panose="02020603050405020304"/>
                          <a:cs typeface="Helvetica"/>
                        </a:rPr>
                        <a:t>Disadvantages</a:t>
                      </a:r>
                      <a:endParaRPr lang="en-GB" sz="1800" b="1">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Aft>
                          <a:spcPts val="0"/>
                        </a:spcAft>
                        <a:tabLst>
                          <a:tab pos="342900" algn="l"/>
                          <a:tab pos="685800" algn="l"/>
                          <a:tab pos="1028700" algn="l"/>
                        </a:tabLst>
                      </a:pPr>
                      <a:r>
                        <a:rPr lang="en-GB" sz="1800" dirty="0">
                          <a:solidFill>
                            <a:srgbClr val="000000"/>
                          </a:solidFill>
                          <a:latin typeface="Helvetica"/>
                          <a:ea typeface="Times New Roman" panose="02020603050405020304"/>
                          <a:cs typeface="Helvetica"/>
                        </a:rPr>
                        <a:t>The format for data transfer has to be agreed upon between communicating transformations. Each transformation must parse its input and </a:t>
                      </a:r>
                      <a:r>
                        <a:rPr lang="en-GB" sz="1800" dirty="0" err="1">
                          <a:solidFill>
                            <a:srgbClr val="000000"/>
                          </a:solidFill>
                          <a:latin typeface="Helvetica"/>
                          <a:ea typeface="Times New Roman" panose="02020603050405020304"/>
                          <a:cs typeface="Helvetica"/>
                        </a:rPr>
                        <a:t>unparse</a:t>
                      </a:r>
                      <a:r>
                        <a:rPr lang="en-GB" sz="1800" dirty="0">
                          <a:solidFill>
                            <a:srgbClr val="000000"/>
                          </a:solidFill>
                          <a:latin typeface="Helvetica"/>
                          <a:ea typeface="Times New Roman" panose="02020603050405020304"/>
                          <a:cs typeface="Helvetica"/>
                        </a:rPr>
                        <a:t> its output to the agreed form. This increases system overhead and may mean that it is impossible to </a:t>
                      </a:r>
                      <a:r>
                        <a:rPr lang="en-US" altLang="en-GB" sz="1800" dirty="0">
                          <a:solidFill>
                            <a:srgbClr val="000000"/>
                          </a:solidFill>
                          <a:latin typeface="Helvetica"/>
                          <a:ea typeface="Times New Roman" panose="02020603050405020304"/>
                          <a:cs typeface="Helvetica"/>
                        </a:rPr>
                        <a:t>reuse architectural</a:t>
                      </a:r>
                      <a:r>
                        <a:rPr lang="en-GB" sz="1800" dirty="0">
                          <a:solidFill>
                            <a:srgbClr val="000000"/>
                          </a:solidFill>
                          <a:latin typeface="Helvetica"/>
                          <a:ea typeface="Times New Roman" panose="02020603050405020304"/>
                          <a:cs typeface="Helvetica"/>
                        </a:rPr>
                        <a:t> </a:t>
                      </a:r>
                      <a:r>
                        <a:rPr lang="en-US" altLang="en-GB" sz="1800" dirty="0">
                          <a:solidFill>
                            <a:srgbClr val="000000"/>
                          </a:solidFill>
                          <a:latin typeface="Helvetica"/>
                          <a:ea typeface="Times New Roman" panose="02020603050405020304"/>
                          <a:cs typeface="Helvetica"/>
                        </a:rPr>
                        <a:t>components</a:t>
                      </a:r>
                      <a:r>
                        <a:rPr lang="en-GB" sz="1800" dirty="0">
                          <a:solidFill>
                            <a:srgbClr val="000000"/>
                          </a:solidFill>
                          <a:latin typeface="Helvetica"/>
                          <a:ea typeface="Times New Roman" panose="02020603050405020304"/>
                          <a:cs typeface="Helvetica"/>
                        </a:rPr>
                        <a:t> that use incompatible data structures</a:t>
                      </a:r>
                      <a:r>
                        <a:rPr lang="en-GB" sz="1800" dirty="0" smtClean="0">
                          <a:solidFill>
                            <a:srgbClr val="000000"/>
                          </a:solidFill>
                          <a:latin typeface="Helvetica"/>
                          <a:ea typeface="Times New Roman" panose="02020603050405020304"/>
                          <a:cs typeface="Helvetica"/>
                        </a:rPr>
                        <a:t>.</a:t>
                      </a:r>
                      <a:endParaRPr lang="en-GB" sz="1800" dirty="0">
                        <a:solidFill>
                          <a:srgbClr val="000000"/>
                        </a:solidFill>
                        <a:latin typeface="Helvetica"/>
                        <a:ea typeface="Times New Roman" panose="02020603050405020304"/>
                        <a:cs typeface="Helvetic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bl>
          </a:graphicData>
        </a:graphic>
      </p:graphicFrame>
      <p:pic>
        <p:nvPicPr>
          <p:cNvPr id="3" name="图片 2"/>
          <p:cNvPicPr>
            <a:picLocks noChangeAspect="1"/>
          </p:cNvPicPr>
          <p:nvPr/>
        </p:nvPicPr>
        <p:blipFill>
          <a:blip r:embed="rId4"/>
          <a:stretch>
            <a:fillRect/>
          </a:stretch>
        </p:blipFill>
        <p:spPr>
          <a:xfrm>
            <a:off x="7005955" y="751205"/>
            <a:ext cx="1876425" cy="476250"/>
          </a:xfrm>
          <a:prstGeom prst="rect">
            <a:avLst/>
          </a:prstGeom>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7240"/>
            <a:ext cx="8977630" cy="935355"/>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zh-CN" altLang="en-US" sz="2700" dirty="0">
                <a:solidFill>
                  <a:schemeClr val="accent1">
                    <a:lumMod val="75000"/>
                  </a:schemeClr>
                </a:solidFill>
                <a:ea typeface="宋体" panose="02010600030101010101" pitchFamily="2" charset="-122"/>
                <a:sym typeface="+mn-ea"/>
              </a:rPr>
              <a:t> </a:t>
            </a:r>
            <a:r>
              <a:rPr lang="en-US" altLang="zh-CN" sz="2700" dirty="0">
                <a:solidFill>
                  <a:schemeClr val="accent1">
                    <a:lumMod val="75000"/>
                  </a:schemeClr>
                </a:solidFill>
                <a:ea typeface="宋体" panose="02010600030101010101" pitchFamily="2" charset="-122"/>
                <a:sym typeface="+mn-ea"/>
              </a:rPr>
              <a:t>Example:</a:t>
            </a:r>
            <a:r>
              <a:rPr lang="zh-CN" altLang="en-US" sz="2700" dirty="0">
                <a:solidFill>
                  <a:schemeClr val="accent1">
                    <a:lumMod val="75000"/>
                  </a:schemeClr>
                </a:solidFill>
                <a:ea typeface="宋体" panose="02010600030101010101" pitchFamily="2" charset="-122"/>
                <a:sym typeface="+mn-ea"/>
              </a:rPr>
              <a:t> </a:t>
            </a:r>
            <a:r>
              <a:rPr lang="en-US" altLang="zh-CN" sz="2700" dirty="0">
                <a:solidFill>
                  <a:schemeClr val="accent1">
                    <a:lumMod val="75000"/>
                  </a:schemeClr>
                </a:solidFill>
                <a:ea typeface="宋体" panose="02010600030101010101" pitchFamily="2" charset="-122"/>
                <a:sym typeface="+mn-ea"/>
              </a:rPr>
              <a:t>T</a:t>
            </a:r>
            <a:r>
              <a:rPr lang="zh-CN" altLang="en-US" sz="2700" dirty="0">
                <a:solidFill>
                  <a:schemeClr val="accent1">
                    <a:lumMod val="75000"/>
                  </a:schemeClr>
                </a:solidFill>
                <a:ea typeface="宋体" panose="02010600030101010101" pitchFamily="2" charset="-122"/>
                <a:sym typeface="+mn-ea"/>
              </a:rPr>
              <a:t>he pipe and filter architecture used in a payments system</a:t>
            </a:r>
            <a:r>
              <a:rPr lang="en-US" altLang="zh-CN" sz="27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例子</a:t>
            </a:r>
            <a:r>
              <a:rPr lang="en-US" altLang="zh-CN" dirty="0">
                <a:solidFill>
                  <a:schemeClr val="accent1">
                    <a:lumMod val="75000"/>
                  </a:schemeClr>
                </a:solidFill>
                <a:latin typeface="黑体" panose="02010609060101010101" pitchFamily="49" charset="-122"/>
                <a:ea typeface="黑体" panose="02010609060101010101" pitchFamily="49" charset="-122"/>
                <a:sym typeface="+mn-ea"/>
              </a:rPr>
              <a:t>:</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支付系统的管道</a:t>
            </a:r>
            <a:r>
              <a:rPr lang="en-US" altLang="zh-CN" dirty="0">
                <a:solidFill>
                  <a:schemeClr val="accent1">
                    <a:lumMod val="75000"/>
                  </a:schemeClr>
                </a:solidFill>
                <a:latin typeface="黑体" panose="02010609060101010101" pitchFamily="49" charset="-122"/>
                <a:ea typeface="黑体" panose="02010609060101010101" pitchFamily="49" charset="-122"/>
                <a:sym typeface="+mn-ea"/>
              </a:rPr>
              <a:t>-</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过滤器体系结构</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0850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6  Architectural Design</a:t>
            </a:r>
            <a:endParaRPr lang="en-US" altLang="zh-CN" sz="2800" dirty="0">
              <a:solidFill>
                <a:srgbClr val="660066"/>
              </a:solidFill>
              <a:ea typeface="黑体" panose="02010609060101010101" pitchFamily="49" charset="-122"/>
              <a:cs typeface="+mj-lt"/>
            </a:endParaRPr>
          </a:p>
        </p:txBody>
      </p:sp>
      <p:pic>
        <p:nvPicPr>
          <p:cNvPr id="2" name="图片 1"/>
          <p:cNvPicPr>
            <a:picLocks noChangeAspect="1"/>
          </p:cNvPicPr>
          <p:nvPr/>
        </p:nvPicPr>
        <p:blipFill>
          <a:blip r:embed="rId3"/>
          <a:stretch>
            <a:fillRect/>
          </a:stretch>
        </p:blipFill>
        <p:spPr>
          <a:xfrm>
            <a:off x="38100" y="1769745"/>
            <a:ext cx="9067800" cy="2600325"/>
          </a:xfrm>
          <a:prstGeom prst="rect">
            <a:avLst/>
          </a:prstGeom>
        </p:spPr>
      </p:pic>
      <p:pic>
        <p:nvPicPr>
          <p:cNvPr id="6" name="图片 5"/>
          <p:cNvPicPr>
            <a:picLocks noChangeAspect="1"/>
          </p:cNvPicPr>
          <p:nvPr/>
        </p:nvPicPr>
        <p:blipFill>
          <a:blip r:embed="rId4"/>
          <a:stretch>
            <a:fillRect/>
          </a:stretch>
        </p:blipFill>
        <p:spPr>
          <a:xfrm>
            <a:off x="60960" y="1736725"/>
            <a:ext cx="2133600" cy="657225"/>
          </a:xfrm>
          <a:prstGeom prst="rect">
            <a:avLst/>
          </a:prstGeom>
        </p:spPr>
      </p:pic>
      <p:sp>
        <p:nvSpPr>
          <p:cNvPr id="7" name="Content Placeholder 2"/>
          <p:cNvSpPr>
            <a:spLocks noGrp="1"/>
          </p:cNvSpPr>
          <p:nvPr/>
        </p:nvSpPr>
        <p:spPr>
          <a:xfrm>
            <a:off x="88265" y="4455160"/>
            <a:ext cx="8978265" cy="222059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b="0" dirty="0" smtClean="0">
                <a:solidFill>
                  <a:schemeClr val="tx1"/>
                </a:solidFill>
                <a:latin typeface="Calibri" panose="020F0502020204030204" charset="0"/>
                <a:cs typeface="Calibri" panose="020F0502020204030204" charset="0"/>
              </a:rPr>
              <a:t>* An example of this type of system architecture, used in a batch processing application, is shown in Figure 6.15.</a:t>
            </a:r>
            <a:endParaRPr lang="en-US"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b="0" dirty="0" smtClean="0">
                <a:solidFill>
                  <a:schemeClr val="tx1"/>
                </a:solidFill>
                <a:latin typeface="Calibri" panose="020F0502020204030204" charset="0"/>
                <a:cs typeface="Calibri" panose="020F0502020204030204" charset="0"/>
              </a:rPr>
              <a:t>* An organization has issued invoices to customers. Once a week, payments that have been made are reconciled with the invoices. For those invoices that have been paid, a receipt is issued. For those invoices that have not been paid within the allowed payment time, a reminder is issued.</a:t>
            </a:r>
            <a:endParaRPr lang="en-US"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87400"/>
            <a:ext cx="8977630" cy="5486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100" dirty="0">
                <a:solidFill>
                  <a:schemeClr val="accent1">
                    <a:lumMod val="75000"/>
                  </a:schemeClr>
                </a:solidFill>
                <a:ea typeface="宋体" panose="02010600030101010101" pitchFamily="2" charset="-122"/>
                <a:sym typeface="+mn-ea"/>
              </a:rPr>
              <a:t> 6.4 Application architectures</a:t>
            </a:r>
            <a:r>
              <a:rPr lang="en-US" altLang="zh-CN" sz="3100" dirty="0">
                <a:solidFill>
                  <a:schemeClr val="accent1">
                    <a:lumMod val="75000"/>
                  </a:schemeClr>
                </a:solidFill>
                <a:ea typeface="宋体" panose="02010600030101010101" pitchFamily="2" charset="-122"/>
                <a:sym typeface="+mn-ea"/>
              </a:rPr>
              <a:t> (</a:t>
            </a:r>
            <a:r>
              <a:rPr lang="zh-CN" altLang="en-US" sz="3100" dirty="0">
                <a:solidFill>
                  <a:schemeClr val="accent1">
                    <a:lumMod val="75000"/>
                  </a:schemeClr>
                </a:solidFill>
                <a:latin typeface="黑体" panose="02010609060101010101" pitchFamily="49" charset="-122"/>
                <a:ea typeface="黑体" panose="02010609060101010101" pitchFamily="49" charset="-122"/>
                <a:sym typeface="+mn-ea"/>
              </a:rPr>
              <a:t>本节留作自学</a:t>
            </a:r>
            <a:r>
              <a:rPr lang="en-US" altLang="zh-CN" sz="3100" dirty="0">
                <a:solidFill>
                  <a:schemeClr val="accent1">
                    <a:lumMod val="75000"/>
                  </a:schemeClr>
                </a:solidFill>
                <a:ea typeface="宋体" panose="02010600030101010101" pitchFamily="2" charset="-122"/>
                <a:sym typeface="+mn-ea"/>
              </a:rPr>
              <a:t>)</a:t>
            </a:r>
            <a:endParaRPr lang="en-US" altLang="zh-CN" sz="31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50850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6  Architectural Design</a:t>
            </a:r>
            <a:endParaRPr lang="en-US" altLang="zh-CN" sz="2800" dirty="0">
              <a:solidFill>
                <a:srgbClr val="660066"/>
              </a:solidFill>
              <a:ea typeface="黑体" panose="02010609060101010101" pitchFamily="49" charset="-122"/>
              <a:cs typeface="+mj-lt"/>
            </a:endParaRPr>
          </a:p>
        </p:txBody>
      </p: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TABLE_ENDDRAG_ORIGIN_RECT" val="705*413"/>
  <p:tag name="TABLE_ENDDRAG_RECT" val="7*106*705*413"/>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TABLE_ENDDRAG_ORIGIN_RECT" val="707*419"/>
  <p:tag name="TABLE_ENDDRAG_RECT" val="6*100*707*419"/>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TABLE_ENDDRAG_ORIGIN_RECT" val="530*410"/>
  <p:tag name="TABLE_ENDDRAG_RECT" val="84*111*530*410"/>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TABLE_ENDDRAG_ORIGIN_RECT" val="703*409"/>
  <p:tag name="TABLE_ENDDRAG_RECT" val="8*102*703*409"/>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TABLE_ENDDRAG_ORIGIN_RECT" val="703*404"/>
  <p:tag name="TABLE_ENDDRAG_RECT" val="8*110*703*404"/>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PP_MARK_KEY" val="49d2eca4-30e1-4ef7-9bc7-486bee5195f9"/>
  <p:tag name="COMMONDATA" val="eyJoZGlkIjoiYWU0ZmM3NzM2M2MzNjY4OGU3MWVlODFhMGQ0MTAxM2IifQ=="/>
</p:tagLst>
</file>

<file path=ppt/theme/theme1.xml><?xml version="1.0" encoding="utf-8"?>
<a:theme xmlns:a="http://schemas.openxmlformats.org/drawingml/2006/main" name="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ln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23685</Words>
  <Application>WPS 演示</Application>
  <PresentationFormat>信纸(8.5x11 英寸)</PresentationFormat>
  <Paragraphs>383</Paragraphs>
  <Slides>35</Slides>
  <Notes>6</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35</vt:i4>
      </vt:variant>
    </vt:vector>
  </HeadingPairs>
  <TitlesOfParts>
    <vt:vector size="50" baseType="lpstr">
      <vt:lpstr>Arial</vt:lpstr>
      <vt:lpstr>宋体</vt:lpstr>
      <vt:lpstr>Wingdings</vt:lpstr>
      <vt:lpstr>Times New Roman</vt:lpstr>
      <vt:lpstr>黑体</vt:lpstr>
      <vt:lpstr>仿宋</vt:lpstr>
      <vt:lpstr>Arial</vt:lpstr>
      <vt:lpstr>MS PGothic</vt:lpstr>
      <vt:lpstr>Calibri</vt:lpstr>
      <vt:lpstr>微软雅黑</vt:lpstr>
      <vt:lpstr>Arial Unicode MS</vt:lpstr>
      <vt:lpstr>Symbol</vt:lpstr>
      <vt:lpstr>Helvetica</vt:lpstr>
      <vt:lpstr>Times New Roman</vt:lpstr>
      <vt:lpstr>CS152-SP98</vt:lpstr>
      <vt:lpstr> Software Engineering</vt:lpstr>
      <vt:lpstr>Chap. 6  Architectural Design</vt:lpstr>
      <vt:lpstr>Chap. 6  Architectural Design</vt:lpstr>
      <vt:lpstr>Chap. 6  Architectural Design</vt:lpstr>
      <vt:lpstr>Chap. 6  Architectural Design</vt:lpstr>
      <vt:lpstr>Chap. 6  Architectural Design</vt:lpstr>
      <vt:lpstr>Chap. 6  Architectural Design</vt:lpstr>
      <vt:lpstr>Chap. 6  Architectural Design</vt:lpstr>
      <vt:lpstr>Chap. 6  Architectural Design</vt:lpstr>
      <vt:lpstr>Chap. 6  Architectural Design</vt:lpstr>
      <vt:lpstr>PowerPoint 演示文稿</vt:lpstr>
      <vt:lpstr>Chap. 6  Architectural Design</vt:lpstr>
      <vt:lpstr>Chap. 6  Architectural Design</vt:lpstr>
      <vt:lpstr>Chap. 6  Architectural Design</vt:lpstr>
      <vt:lpstr>Chap. 6  Architectural Design</vt:lpstr>
      <vt:lpstr>Chap. 6  Architectural Design</vt:lpstr>
      <vt:lpstr>Chap. 6  Architectural Design</vt:lpstr>
      <vt:lpstr>Chap. 6  Architectural Design</vt:lpstr>
      <vt:lpstr>Chap. 6  Architectural Design</vt:lpstr>
      <vt:lpstr>Chap. 6  Architectural Design</vt:lpstr>
      <vt:lpstr>Chap. 6  Architectural Design</vt:lpstr>
      <vt:lpstr>Chap. 6  Architectural Design</vt:lpstr>
      <vt:lpstr>Chap. 6  Architectural Design</vt:lpstr>
      <vt:lpstr>Chap. 6  Architectural Design</vt:lpstr>
      <vt:lpstr>Chap. 6  Architectural Design</vt:lpstr>
      <vt:lpstr>Chap. 6  Architectural Design</vt:lpstr>
      <vt:lpstr>Chap. 6  Architectural Design</vt:lpstr>
      <vt:lpstr>Chap. 6  Architectural Design</vt:lpstr>
      <vt:lpstr>Chap. 6  Architectural Design</vt:lpstr>
      <vt:lpstr>Chap. 6  Architectural Design</vt:lpstr>
      <vt:lpstr>Chap. 6  Architectural Design</vt:lpstr>
      <vt:lpstr>Chap. 6  Architectural Design</vt:lpstr>
      <vt:lpstr>Chap. 6  Architectural Design</vt:lpstr>
      <vt:lpstr>Chap. 6  Architectural Design</vt:lpstr>
      <vt:lpstr>Chap. 6  Architectural Design</vt:lpstr>
    </vt:vector>
  </TitlesOfParts>
  <Company>UC Berkeley</Company>
  <LinksUpToDate>false</LinksUpToDate>
  <SharedDoc>false</SharedDoc>
  <HyperlinksChanged>false</HyperlinksChanged>
  <AppVersion>14.0000</AppVersion>
  <Pages>47</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Computer Architecture</dc:title>
  <dc:creator/>
  <cp:lastModifiedBy>WPS_1662112355</cp:lastModifiedBy>
  <cp:revision>2058</cp:revision>
  <cp:lastPrinted>1999-08-22T22:40:00Z</cp:lastPrinted>
  <dcterms:created xsi:type="dcterms:W3CDTF">1997-08-19T16:58:00Z</dcterms:created>
  <dcterms:modified xsi:type="dcterms:W3CDTF">2025-10-28T18:43:40Z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8B08EE175F564611B14F03EF9930CB31_13</vt:lpwstr>
  </property>
</Properties>
</file>