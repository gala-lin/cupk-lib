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3"/>
  </p:handoutMasterIdLst>
  <p:sldIdLst>
    <p:sldId id="256" r:id="rId3"/>
    <p:sldId id="1597" r:id="rId5"/>
    <p:sldId id="1794" r:id="rId6"/>
    <p:sldId id="1797" r:id="rId7"/>
    <p:sldId id="1798" r:id="rId8"/>
    <p:sldId id="1799" r:id="rId9"/>
    <p:sldId id="1800" r:id="rId10"/>
    <p:sldId id="1801" r:id="rId11"/>
    <p:sldId id="1804" r:id="rId12"/>
    <p:sldId id="1805" r:id="rId13"/>
    <p:sldId id="1806" r:id="rId14"/>
    <p:sldId id="1807" r:id="rId15"/>
    <p:sldId id="1808" r:id="rId16"/>
    <p:sldId id="1809" r:id="rId17"/>
    <p:sldId id="1811" r:id="rId18"/>
    <p:sldId id="1810" r:id="rId19"/>
    <p:sldId id="1812" r:id="rId20"/>
    <p:sldId id="1813" r:id="rId21"/>
    <p:sldId id="1814" r:id="rId22"/>
    <p:sldId id="1816" r:id="rId23"/>
    <p:sldId id="1819" r:id="rId24"/>
    <p:sldId id="1817" r:id="rId25"/>
    <p:sldId id="1821" r:id="rId26"/>
    <p:sldId id="1822" r:id="rId27"/>
    <p:sldId id="1824" r:id="rId28"/>
    <p:sldId id="1825" r:id="rId29"/>
    <p:sldId id="1826" r:id="rId30"/>
    <p:sldId id="1827" r:id="rId31"/>
    <p:sldId id="1829" r:id="rId32"/>
    <p:sldId id="1875" r:id="rId33"/>
    <p:sldId id="1830" r:id="rId34"/>
    <p:sldId id="1831" r:id="rId35"/>
    <p:sldId id="1832" r:id="rId36"/>
    <p:sldId id="1833" r:id="rId37"/>
    <p:sldId id="1834" r:id="rId38"/>
    <p:sldId id="1835" r:id="rId39"/>
    <p:sldId id="1836" r:id="rId40"/>
    <p:sldId id="1837" r:id="rId41"/>
    <p:sldId id="1839" r:id="rId42"/>
    <p:sldId id="1840" r:id="rId43"/>
    <p:sldId id="1841" r:id="rId44"/>
    <p:sldId id="1842" r:id="rId45"/>
    <p:sldId id="1843" r:id="rId46"/>
    <p:sldId id="1845" r:id="rId47"/>
    <p:sldId id="1846" r:id="rId48"/>
    <p:sldId id="1876" r:id="rId49"/>
    <p:sldId id="1848" r:id="rId50"/>
    <p:sldId id="1850" r:id="rId51"/>
    <p:sldId id="1851" r:id="rId52"/>
    <p:sldId id="1852" r:id="rId53"/>
    <p:sldId id="1853" r:id="rId54"/>
    <p:sldId id="1854" r:id="rId55"/>
    <p:sldId id="1855" r:id="rId56"/>
    <p:sldId id="1856" r:id="rId57"/>
    <p:sldId id="1857" r:id="rId58"/>
    <p:sldId id="1858" r:id="rId59"/>
    <p:sldId id="1859" r:id="rId60"/>
    <p:sldId id="1860" r:id="rId61"/>
    <p:sldId id="1861" r:id="rId62"/>
    <p:sldId id="1864" r:id="rId63"/>
    <p:sldId id="1877" r:id="rId64"/>
    <p:sldId id="1867" r:id="rId65"/>
    <p:sldId id="1868" r:id="rId66"/>
    <p:sldId id="1879" r:id="rId67"/>
    <p:sldId id="1869" r:id="rId68"/>
    <p:sldId id="1871" r:id="rId69"/>
    <p:sldId id="1872" r:id="rId70"/>
    <p:sldId id="1873" r:id="rId71"/>
    <p:sldId id="1874" r:id="rId72"/>
  </p:sldIdLst>
  <p:sldSz cx="9144000" cy="6858000" type="letter"/>
  <p:notesSz cx="9163050" cy="6877050"/>
  <p:custDataLst>
    <p:tags r:id="rId77"/>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084" userDrawn="1">
          <p15:clr>
            <a:srgbClr val="A4A3A4"/>
          </p15:clr>
        </p15:guide>
        <p15:guide id="2" pos="28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CC0000"/>
    <a:srgbClr val="134AD5"/>
    <a:srgbClr val="B3380D"/>
    <a:srgbClr val="E6E6E6"/>
    <a:srgbClr val="660066"/>
    <a:srgbClr val="FF0000"/>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084"/>
        <p:guide pos="2873"/>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7" Type="http://schemas.openxmlformats.org/officeDocument/2006/relationships/tags" Target="tags/tag146.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handoutMaster" Target="handoutMasters/handoutMaster1.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tags" Target="../tags/tag31.xml"/><Relationship Id="rId1" Type="http://schemas.openxmlformats.org/officeDocument/2006/relationships/tags" Target="../tags/tag3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tags" Target="../tags/tag43.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tags" Target="../tags/tag49.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4.xml"/><Relationship Id="rId1" Type="http://schemas.openxmlformats.org/officeDocument/2006/relationships/tags" Target="../tags/tag5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tags" Target="../tags/tag55.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tags" Target="../tags/tag57.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tags" Target="../tags/tag6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tags" Target="../tags/tag71.xml"/><Relationship Id="rId3" Type="http://schemas.openxmlformats.org/officeDocument/2006/relationships/image" Target="../media/image10.png"/><Relationship Id="rId2" Type="http://schemas.openxmlformats.org/officeDocument/2006/relationships/tags" Target="../tags/tag70.xml"/><Relationship Id="rId1" Type="http://schemas.openxmlformats.org/officeDocument/2006/relationships/tags" Target="../tags/tag69.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tags" Target="../tags/tag75.xml"/><Relationship Id="rId1" Type="http://schemas.openxmlformats.org/officeDocument/2006/relationships/tags" Target="../tags/tag74.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7.xml"/><Relationship Id="rId1" Type="http://schemas.openxmlformats.org/officeDocument/2006/relationships/tags" Target="../tags/tag76.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tags" Target="../tags/tag79.xml"/><Relationship Id="rId1" Type="http://schemas.openxmlformats.org/officeDocument/2006/relationships/tags" Target="../tags/tag7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1.xml"/><Relationship Id="rId1" Type="http://schemas.openxmlformats.org/officeDocument/2006/relationships/tags" Target="../tags/tag80.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6.xml"/><Relationship Id="rId1" Type="http://schemas.openxmlformats.org/officeDocument/2006/relationships/tags" Target="../tags/tag85.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8.xml"/><Relationship Id="rId1" Type="http://schemas.openxmlformats.org/officeDocument/2006/relationships/tags" Target="../tags/tag87.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0.xml"/><Relationship Id="rId1" Type="http://schemas.openxmlformats.org/officeDocument/2006/relationships/tags" Target="../tags/tag89.xml"/></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png"/><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tags" Target="../tags/tag94.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7.xml"/><Relationship Id="rId1" Type="http://schemas.openxmlformats.org/officeDocument/2006/relationships/tags" Target="../tags/tag96.xml"/></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tags" Target="../tags/tag99.xml"/><Relationship Id="rId1" Type="http://schemas.openxmlformats.org/officeDocument/2006/relationships/tags" Target="../tags/tag98.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tags" Target="../tags/tag100.xml"/></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6.xml"/><Relationship Id="rId1" Type="http://schemas.openxmlformats.org/officeDocument/2006/relationships/tags" Target="../tags/tag105.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tags" Target="../tags/tag108.xml"/><Relationship Id="rId1" Type="http://schemas.openxmlformats.org/officeDocument/2006/relationships/tags" Target="../tags/tag107.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0.xml"/><Relationship Id="rId1" Type="http://schemas.openxmlformats.org/officeDocument/2006/relationships/tags" Target="../tags/tag109.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tags" Target="../tags/tag111.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3.xml"/><Relationship Id="rId1" Type="http://schemas.openxmlformats.org/officeDocument/2006/relationships/tags" Target="../tags/tag112.xml"/></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1.xml"/><Relationship Id="rId1" Type="http://schemas.openxmlformats.org/officeDocument/2006/relationships/tags" Target="../tags/tag120.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3.xml"/><Relationship Id="rId1" Type="http://schemas.openxmlformats.org/officeDocument/2006/relationships/tags" Target="../tags/tag122.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5.xml"/><Relationship Id="rId1" Type="http://schemas.openxmlformats.org/officeDocument/2006/relationships/tags" Target="../tags/tag124.xml"/></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tags" Target="../tags/tag127.xml"/><Relationship Id="rId1" Type="http://schemas.openxmlformats.org/officeDocument/2006/relationships/tags" Target="../tags/tag126.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9.xml"/><Relationship Id="rId1" Type="http://schemas.openxmlformats.org/officeDocument/2006/relationships/tags" Target="../tags/tag128.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1.xml"/><Relationship Id="rId1" Type="http://schemas.openxmlformats.org/officeDocument/2006/relationships/tags" Target="../tags/tag130.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3.xml"/><Relationship Id="rId1" Type="http://schemas.openxmlformats.org/officeDocument/2006/relationships/tags" Target="../tags/tag132.xml"/></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3.png"/><Relationship Id="rId2" Type="http://schemas.openxmlformats.org/officeDocument/2006/relationships/tags" Target="../tags/tag135.xml"/><Relationship Id="rId1" Type="http://schemas.openxmlformats.org/officeDocument/2006/relationships/tags" Target="../tags/tag134.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7.xml"/><Relationship Id="rId1" Type="http://schemas.openxmlformats.org/officeDocument/2006/relationships/tags" Target="../tags/tag136.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9.xml"/><Relationship Id="rId1" Type="http://schemas.openxmlformats.org/officeDocument/2006/relationships/tags" Target="../tags/tag138.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1.xml"/><Relationship Id="rId1" Type="http://schemas.openxmlformats.org/officeDocument/2006/relationships/tags" Target="../tags/tag140.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3.xml"/><Relationship Id="rId1" Type="http://schemas.openxmlformats.org/officeDocument/2006/relationships/tags" Target="../tags/tag142.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5.xml"/><Relationship Id="rId1" Type="http://schemas.openxmlformats.org/officeDocument/2006/relationships/tags" Target="../tags/tag1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1673543" y="1693228"/>
            <a:ext cx="5869940" cy="1096645"/>
          </a:xfrm>
        </p:spPr>
        <p:txBody>
          <a:bodyPr vert="horz" wrap="none" lIns="63500" tIns="25400" rIns="63500" bIns="25400" anchor="ctr" anchorCtr="0">
            <a:spAutoFit/>
          </a:bodyPr>
          <a:p>
            <a:pPr algn="ctr">
              <a:lnSpc>
                <a:spcPct val="100000"/>
              </a:lnSpc>
              <a:buClrTx/>
              <a:buSzTx/>
              <a:buFontTx/>
            </a:pPr>
            <a:br>
              <a:rPr lang="en-US" altLang="zh-CN" dirty="0">
                <a:latin typeface="+mj-lt"/>
                <a:ea typeface="宋体" panose="02010600030101010101" pitchFamily="2" charset="-122"/>
                <a:cs typeface="+mj-cs"/>
              </a:rPr>
            </a:br>
            <a:r>
              <a:rPr lang="en-US" altLang="zh-CN" sz="4400" dirty="0">
                <a:solidFill>
                  <a:srgbClr val="000066"/>
                </a:solidFill>
                <a:ea typeface="黑体" panose="02010609060101010101" pitchFamily="49" charset="-122"/>
                <a:cs typeface="+mj-lt"/>
              </a:rPr>
              <a:t>Software Engineering</a:t>
            </a:r>
            <a:endParaRPr lang="en-US" altLang="zh-CN" sz="4400" dirty="0">
              <a:solidFill>
                <a:srgbClr val="000066"/>
              </a:solidFill>
              <a:ea typeface="黑体" panose="02010609060101010101" pitchFamily="49" charset="-122"/>
              <a:cs typeface="+mj-lt"/>
            </a:endParaRPr>
          </a:p>
        </p:txBody>
      </p:sp>
      <p:sp>
        <p:nvSpPr>
          <p:cNvPr id="9219" name="Text Box 8"/>
          <p:cNvSpPr txBox="1"/>
          <p:nvPr/>
        </p:nvSpPr>
        <p:spPr>
          <a:xfrm>
            <a:off x="252095" y="3197860"/>
            <a:ext cx="8641080" cy="157988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Wei-Min Wu</a:t>
            </a:r>
            <a:r>
              <a:rPr lang="zh-CN" altLang="en-US" b="0" dirty="0">
                <a:solidFill>
                  <a:srgbClr val="005400"/>
                </a:solidFill>
                <a:latin typeface="Arial" panose="020B0604020202020204" pitchFamily="34" charset="0"/>
                <a:ea typeface="宋体" panose="02010600030101010101" pitchFamily="2" charset="-122"/>
              </a:rPr>
              <a:t>（</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School of Petroleum</a:t>
            </a:r>
            <a:endParaRPr lang="en-US" altLang="zh-CN" sz="2800" b="0" dirty="0">
              <a:solidFill>
                <a:srgbClr val="003300"/>
              </a:solidFill>
              <a:latin typeface="Arial" panose="020B0604020202020204" pitchFamily="34" charset="0"/>
              <a:ea typeface="宋体" panose="02010600030101010101" pitchFamily="2" charset="-122"/>
            </a:endParaRPr>
          </a:p>
          <a:p>
            <a:pPr eaLnBrk="0" hangingPunct="0">
              <a:spcBef>
                <a:spcPts val="0"/>
              </a:spcBef>
            </a:pPr>
            <a:r>
              <a:rPr lang="en-US" altLang="zh-CN" sz="2800" b="0" dirty="0">
                <a:solidFill>
                  <a:srgbClr val="003300"/>
                </a:solidFill>
                <a:latin typeface="Arial" panose="020B0604020202020204" pitchFamily="34" charset="0"/>
                <a:ea typeface="宋体" panose="02010600030101010101" pitchFamily="2" charset="-122"/>
              </a:rPr>
              <a:t>    China University of Petroleum - Beijing at Karamay</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6589395" y="6022340"/>
            <a:ext cx="202247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Fall, 2025</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Topics covered</a:t>
            </a:r>
            <a:endParaRPr lang="zh-CN" altLang="en-US" b="1" dirty="0" smtClean="0">
              <a:solidFill>
                <a:srgbClr val="134AD5"/>
              </a:solidFill>
              <a:latin typeface="+mn-lt"/>
              <a:ea typeface="宋体" panose="02010600030101010101" pitchFamily="2" charset="-122"/>
              <a:cs typeface="+mn-cs"/>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14935" y="1528445"/>
            <a:ext cx="8923020" cy="449961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spcBef>
                <a:spcPts val="10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4.1 Functional and non-functional requirements</a:t>
            </a:r>
            <a:r>
              <a:rPr lang="zh-CN" altLang="en-US"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功能和非功能需求</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4.2 Requirements engineering processes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需求工程过程</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spcBef>
                <a:spcPts val="10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4.3 Requirements elicitation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需求抽取</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4.4 Requirements specification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需求规格说明</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4.5 Requirements validation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需求确认</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spcBef>
                <a:spcPts val="10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4.6 Requirements change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需求变更</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Requirements engineering</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需求工程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11125" y="1456690"/>
            <a:ext cx="8931910" cy="491045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0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The process of finding out, analyzing, documenting and checking the services the </a:t>
            </a:r>
            <a:r>
              <a:rPr lang="en-US" sz="3100" dirty="0" smtClean="0">
                <a:solidFill>
                  <a:schemeClr val="tx2">
                    <a:lumMod val="75000"/>
                    <a:lumOff val="25000"/>
                  </a:schemeClr>
                </a:solidFill>
                <a:latin typeface="Calibri" panose="020F0502020204030204" charset="0"/>
                <a:cs typeface="Calibri" panose="020F0502020204030204" charset="0"/>
                <a:sym typeface="+mn-ea"/>
              </a:rPr>
              <a:t>customer requires from a system,</a:t>
            </a:r>
            <a:r>
              <a:rPr lang="en-US" sz="3100" dirty="0" smtClean="0">
                <a:solidFill>
                  <a:schemeClr val="tx2">
                    <a:lumMod val="75000"/>
                    <a:lumOff val="25000"/>
                  </a:schemeClr>
                </a:solidFill>
                <a:latin typeface="Calibri" panose="020F0502020204030204" charset="0"/>
                <a:cs typeface="Calibri" panose="020F0502020204030204" charset="0"/>
              </a:rPr>
              <a:t> and constraints </a:t>
            </a:r>
            <a:r>
              <a:rPr lang="en-US" sz="3100" dirty="0" smtClean="0">
                <a:solidFill>
                  <a:schemeClr val="tx2">
                    <a:lumMod val="75000"/>
                    <a:lumOff val="25000"/>
                  </a:schemeClr>
                </a:solidFill>
                <a:latin typeface="Calibri" panose="020F0502020204030204" charset="0"/>
                <a:cs typeface="Calibri" panose="020F0502020204030204" charset="0"/>
                <a:sym typeface="+mn-ea"/>
              </a:rPr>
              <a:t>under which it operates and is developed</a:t>
            </a:r>
            <a:r>
              <a:rPr lang="en-US" sz="3100" dirty="0" smtClean="0">
                <a:solidFill>
                  <a:schemeClr val="tx2">
                    <a:lumMod val="75000"/>
                    <a:lumOff val="2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RE</a:t>
            </a:r>
            <a:r>
              <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 所需服务</a:t>
            </a:r>
            <a:r>
              <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a:t>
            </a:r>
            <a:r>
              <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约束</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10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The term “requirement” is not used consistently in the software industry.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术语“需求”用法不一</a:t>
            </a:r>
            <a:endParaRPr lang="en-US" sz="3100" dirty="0" smtClean="0">
              <a:solidFill>
                <a:schemeClr val="tx2">
                  <a:lumMod val="75000"/>
                  <a:lumOff val="25000"/>
                </a:schemeClr>
              </a:solidFill>
              <a:latin typeface="Calibri" panose="020F0502020204030204" charset="0"/>
              <a:cs typeface="Calibri" panose="020F0502020204030204" charset="0"/>
            </a:endParaRPr>
          </a:p>
          <a:p>
            <a:pPr lvl="1" algn="l">
              <a:lnSpc>
                <a:spcPct val="90000"/>
              </a:lnSpc>
              <a:spcBef>
                <a:spcPts val="600"/>
              </a:spcBef>
              <a:spcAft>
                <a:spcPts val="0"/>
              </a:spcAft>
            </a:pPr>
            <a:r>
              <a:rPr lang="en-GB" sz="2800" b="0">
                <a:latin typeface="Calibri" panose="020F0502020204030204" charset="0"/>
                <a:cs typeface="Calibri" panose="020F0502020204030204" charset="0"/>
                <a:sym typeface="+mn-ea"/>
              </a:rPr>
              <a:t>In some</a:t>
            </a:r>
            <a:r>
              <a:rPr lang="en-US" altLang="en-GB" sz="2800" b="0">
                <a:latin typeface="Calibri" panose="020F0502020204030204" charset="0"/>
                <a:cs typeface="Calibri" panose="020F0502020204030204" charset="0"/>
                <a:sym typeface="+mn-ea"/>
              </a:rPr>
              <a:t> </a:t>
            </a:r>
            <a:r>
              <a:rPr lang="en-GB" sz="2800" b="0">
                <a:latin typeface="Calibri" panose="020F0502020204030204" charset="0"/>
                <a:cs typeface="Calibri" panose="020F0502020204030204" charset="0"/>
                <a:sym typeface="+mn-ea"/>
              </a:rPr>
              <a:t>cases, a requirement is simply a high-level, abstract statement of a service that a</a:t>
            </a:r>
            <a:r>
              <a:rPr lang="en-US" altLang="en-GB" sz="2800" b="0">
                <a:latin typeface="Calibri" panose="020F0502020204030204" charset="0"/>
                <a:cs typeface="Calibri" panose="020F0502020204030204" charset="0"/>
                <a:sym typeface="+mn-ea"/>
              </a:rPr>
              <a:t> </a:t>
            </a:r>
            <a:r>
              <a:rPr lang="en-GB" sz="2800" b="0">
                <a:latin typeface="Calibri" panose="020F0502020204030204" charset="0"/>
                <a:cs typeface="Calibri" panose="020F0502020204030204" charset="0"/>
                <a:sym typeface="+mn-ea"/>
              </a:rPr>
              <a:t>system should provide or a constraint on a system. </a:t>
            </a:r>
            <a:r>
              <a:rPr lang="en-US" altLang="en-GB" sz="2800" b="0">
                <a:latin typeface="Calibri" panose="020F0502020204030204" charset="0"/>
                <a:cs typeface="Calibri" panose="020F0502020204030204" charset="0"/>
                <a:sym typeface="+mn-ea"/>
              </a:rPr>
              <a:t> </a:t>
            </a:r>
            <a:r>
              <a:rPr lang="zh-CN" altLang="en-US"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有时：高级抽象陈述</a:t>
            </a:r>
            <a:endParaRPr lang="zh-CN" altLang="en-US"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a:p>
            <a:pPr lvl="1" algn="l">
              <a:lnSpc>
                <a:spcPct val="90000"/>
              </a:lnSpc>
              <a:spcBef>
                <a:spcPts val="600"/>
              </a:spcBef>
              <a:spcAft>
                <a:spcPts val="0"/>
              </a:spcAft>
            </a:pPr>
            <a:r>
              <a:rPr lang="en-GB" sz="2800" b="0">
                <a:latin typeface="Calibri" panose="020F0502020204030204" charset="0"/>
                <a:cs typeface="Calibri" panose="020F0502020204030204" charset="0"/>
                <a:sym typeface="+mn-ea"/>
              </a:rPr>
              <a:t>At the other extreme, it is a</a:t>
            </a:r>
            <a:r>
              <a:rPr lang="en-US" altLang="en-GB" sz="2800" b="0">
                <a:latin typeface="Calibri" panose="020F0502020204030204" charset="0"/>
                <a:cs typeface="Calibri" panose="020F0502020204030204" charset="0"/>
                <a:sym typeface="+mn-ea"/>
              </a:rPr>
              <a:t> detailed, formal definition of a system function.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另一个极端：详细、正式定义</a:t>
            </a:r>
            <a:endParaRPr lang="zh-CN" altLang="en-US" sz="2800" b="0" dirty="0" smtClean="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5753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Types of requirement</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9219" name="Rectangle 3"/>
          <p:cNvSpPr>
            <a:spLocks noGrp="1" noChangeArrowheads="1"/>
          </p:cNvSpPr>
          <p:nvPr/>
        </p:nvSpPr>
        <p:spPr>
          <a:xfrm>
            <a:off x="59690" y="1241425"/>
            <a:ext cx="9006205" cy="5322570"/>
          </a:xfrm>
          <a:prstGeom prst="rect">
            <a:avLst/>
          </a:prstGeom>
          <a:noFill/>
        </p:spPr>
        <p:txBody>
          <a:bodyPr lIns="90487" tIns="44450" rIns="90487" bIns="44450"/>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200">
                <a:solidFill>
                  <a:schemeClr val="tx2">
                    <a:lumMod val="75000"/>
                    <a:lumOff val="25000"/>
                  </a:schemeClr>
                </a:solidFill>
                <a:latin typeface="Calibri" panose="020F0502020204030204" charset="0"/>
                <a:cs typeface="Calibri" panose="020F0502020204030204" charset="0"/>
              </a:rPr>
              <a:t> Requirements is thus </a:t>
            </a:r>
            <a:r>
              <a:rPr sz="3200">
                <a:solidFill>
                  <a:schemeClr val="tx2">
                    <a:lumMod val="75000"/>
                    <a:lumOff val="25000"/>
                  </a:schemeClr>
                </a:solidFill>
                <a:latin typeface="Calibri" panose="020F0502020204030204" charset="0"/>
                <a:cs typeface="Calibri" panose="020F0502020204030204" charset="0"/>
              </a:rPr>
              <a:t>distinguish</a:t>
            </a:r>
            <a:r>
              <a:rPr lang="en-US" sz="3200">
                <a:solidFill>
                  <a:schemeClr val="tx2">
                    <a:lumMod val="75000"/>
                    <a:lumOff val="25000"/>
                  </a:schemeClr>
                </a:solidFill>
                <a:latin typeface="Calibri" panose="020F0502020204030204" charset="0"/>
                <a:cs typeface="Calibri" panose="020F0502020204030204" charset="0"/>
              </a:rPr>
              <a:t>ed</a:t>
            </a:r>
            <a:r>
              <a:rPr sz="3200">
                <a:solidFill>
                  <a:schemeClr val="tx2">
                    <a:lumMod val="75000"/>
                    <a:lumOff val="25000"/>
                  </a:schemeClr>
                </a:solidFill>
                <a:latin typeface="Calibri" panose="020F0502020204030204" charset="0"/>
                <a:cs typeface="Calibri" panose="020F0502020204030204" charset="0"/>
              </a:rPr>
              <a:t> between</a:t>
            </a:r>
            <a:r>
              <a:rPr lang="en-US" sz="3200">
                <a:solidFill>
                  <a:schemeClr val="tx2">
                    <a:lumMod val="75000"/>
                    <a:lumOff val="25000"/>
                  </a:schemeClr>
                </a:solidFill>
                <a:latin typeface="Calibri" panose="020F0502020204030204" charset="0"/>
                <a:cs typeface="Calibri" panose="020F0502020204030204" charset="0"/>
              </a:rPr>
              <a:t> </a:t>
            </a:r>
            <a:r>
              <a:rPr sz="3200">
                <a:solidFill>
                  <a:schemeClr val="tx2">
                    <a:lumMod val="75000"/>
                    <a:lumOff val="25000"/>
                  </a:schemeClr>
                </a:solidFill>
                <a:latin typeface="Calibri" panose="020F0502020204030204" charset="0"/>
                <a:cs typeface="Calibri" panose="020F0502020204030204" charset="0"/>
              </a:rPr>
              <a:t>high-level abstract requirements and detailed</a:t>
            </a:r>
            <a:r>
              <a:rPr lang="en-US" sz="3200">
                <a:solidFill>
                  <a:schemeClr val="tx2">
                    <a:lumMod val="75000"/>
                    <a:lumOff val="25000"/>
                  </a:schemeClr>
                </a:solidFill>
                <a:latin typeface="Calibri" panose="020F0502020204030204" charset="0"/>
                <a:cs typeface="Calibri" panose="020F0502020204030204" charset="0"/>
              </a:rPr>
              <a:t> </a:t>
            </a:r>
            <a:r>
              <a:rPr sz="3200">
                <a:solidFill>
                  <a:schemeClr val="tx2">
                    <a:lumMod val="75000"/>
                    <a:lumOff val="25000"/>
                  </a:schemeClr>
                </a:solidFill>
                <a:latin typeface="Calibri" panose="020F0502020204030204" charset="0"/>
                <a:cs typeface="Calibri" panose="020F0502020204030204" charset="0"/>
              </a:rPr>
              <a:t>description of what should do</a:t>
            </a:r>
            <a:r>
              <a:rPr lang="en-US" sz="3200">
                <a:solidFill>
                  <a:schemeClr val="tx2">
                    <a:lumMod val="75000"/>
                    <a:lumOff val="25000"/>
                  </a:schemeClr>
                </a:solidFill>
                <a:latin typeface="Calibri" panose="020F0502020204030204" charset="0"/>
                <a:cs typeface="Calibri" panose="020F0502020204030204" charset="0"/>
              </a:rPr>
              <a:t>, as: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因而分为</a:t>
            </a:r>
            <a:endParaRPr lang="en-GB" sz="3200">
              <a:solidFill>
                <a:schemeClr val="tx2">
                  <a:lumMod val="75000"/>
                  <a:lumOff val="25000"/>
                </a:schemeClr>
              </a:solidFill>
              <a:latin typeface="Calibri" panose="020F0502020204030204" charset="0"/>
              <a:cs typeface="Calibri" panose="020F0502020204030204" charset="0"/>
            </a:endParaRPr>
          </a:p>
          <a:p>
            <a:pPr>
              <a:lnSpc>
                <a:spcPct val="85000"/>
              </a:lnSpc>
              <a:spcBef>
                <a:spcPts val="600"/>
              </a:spcBef>
              <a:spcAft>
                <a:spcPts val="0"/>
              </a:spcAft>
            </a:pPr>
            <a:r>
              <a:rPr lang="en-US" altLang="en-GB" sz="3200">
                <a:solidFill>
                  <a:schemeClr val="tx2">
                    <a:lumMod val="75000"/>
                    <a:lumOff val="25000"/>
                  </a:schemeClr>
                </a:solidFill>
                <a:latin typeface="Calibri" panose="020F0502020204030204" charset="0"/>
                <a:cs typeface="Calibri" panose="020F0502020204030204" charset="0"/>
              </a:rPr>
              <a:t> </a:t>
            </a:r>
            <a:r>
              <a:rPr lang="en-GB" sz="3200">
                <a:solidFill>
                  <a:schemeClr val="tx2">
                    <a:lumMod val="75000"/>
                    <a:lumOff val="25000"/>
                  </a:schemeClr>
                </a:solidFill>
                <a:latin typeface="Calibri" panose="020F0502020204030204" charset="0"/>
                <a:cs typeface="Calibri" panose="020F0502020204030204" charset="0"/>
              </a:rPr>
              <a:t>User requirements</a:t>
            </a:r>
            <a:r>
              <a:rPr lang="en-US" altLang="en-GB" sz="3200">
                <a:solidFill>
                  <a:schemeClr val="tx2">
                    <a:lumMod val="75000"/>
                    <a:lumOff val="2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用户需求</a:t>
            </a:r>
            <a:endParaRPr lang="en-GB" sz="3200">
              <a:solidFill>
                <a:schemeClr val="tx2">
                  <a:lumMod val="75000"/>
                  <a:lumOff val="2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US" altLang="en-GB" sz="2800" b="0">
                <a:latin typeface="Calibri" panose="020F0502020204030204" charset="0"/>
                <a:cs typeface="Calibri" panose="020F0502020204030204" charset="0"/>
              </a:rPr>
              <a:t>S</a:t>
            </a:r>
            <a:r>
              <a:rPr lang="en-GB" sz="2800" b="0">
                <a:latin typeface="Calibri" panose="020F0502020204030204" charset="0"/>
                <a:cs typeface="Calibri" panose="020F0502020204030204" charset="0"/>
              </a:rPr>
              <a:t>tatements, in natural language plus diagrams, of what services the system is expected to provide to system users and the constraints under</a:t>
            </a:r>
            <a:r>
              <a:rPr lang="en-US" altLang="en-GB" sz="2800" b="0">
                <a:latin typeface="Calibri" panose="020F0502020204030204" charset="0"/>
                <a:cs typeface="Calibri" panose="020F0502020204030204" charset="0"/>
              </a:rPr>
              <a:t> </a:t>
            </a:r>
            <a:r>
              <a:rPr lang="en-GB" sz="2800" b="0">
                <a:latin typeface="Calibri" panose="020F0502020204030204" charset="0"/>
                <a:cs typeface="Calibri" panose="020F0502020204030204" charset="0"/>
              </a:rPr>
              <a:t>which it must operate. </a:t>
            </a:r>
            <a:endParaRPr lang="en-GB" sz="2800" b="0">
              <a:latin typeface="Calibri" panose="020F0502020204030204" charset="0"/>
              <a:cs typeface="Calibri" panose="020F0502020204030204" charset="0"/>
            </a:endParaRPr>
          </a:p>
          <a:p>
            <a:pPr>
              <a:lnSpc>
                <a:spcPct val="85000"/>
              </a:lnSpc>
              <a:spcBef>
                <a:spcPts val="600"/>
              </a:spcBef>
              <a:spcAft>
                <a:spcPts val="0"/>
              </a:spcAft>
            </a:pPr>
            <a:r>
              <a:rPr lang="en-US" altLang="en-GB" sz="3200">
                <a:solidFill>
                  <a:schemeClr val="tx2">
                    <a:lumMod val="75000"/>
                    <a:lumOff val="25000"/>
                  </a:schemeClr>
                </a:solidFill>
                <a:latin typeface="Calibri" panose="020F0502020204030204" charset="0"/>
                <a:cs typeface="Calibri" panose="020F0502020204030204" charset="0"/>
              </a:rPr>
              <a:t> </a:t>
            </a:r>
            <a:r>
              <a:rPr lang="en-GB" sz="3200">
                <a:solidFill>
                  <a:schemeClr val="tx2">
                    <a:lumMod val="75000"/>
                    <a:lumOff val="25000"/>
                  </a:schemeClr>
                </a:solidFill>
                <a:latin typeface="Calibri" panose="020F0502020204030204" charset="0"/>
                <a:cs typeface="Calibri" panose="020F0502020204030204" charset="0"/>
              </a:rPr>
              <a:t>System requirements</a:t>
            </a:r>
            <a:r>
              <a:rPr lang="en-US" altLang="en-GB" sz="3200">
                <a:solidFill>
                  <a:schemeClr val="tx2">
                    <a:lumMod val="75000"/>
                    <a:lumOff val="2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系统需求</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1">
              <a:lnSpc>
                <a:spcPct val="85000"/>
              </a:lnSpc>
              <a:spcBef>
                <a:spcPts val="600"/>
              </a:spcBef>
              <a:spcAft>
                <a:spcPts val="0"/>
              </a:spcAft>
            </a:pPr>
            <a:r>
              <a:rPr lang="en-US" altLang="en-GB" sz="2800" b="0">
                <a:latin typeface="Calibri" panose="020F0502020204030204" charset="0"/>
                <a:cs typeface="Calibri" panose="020F0502020204030204" charset="0"/>
              </a:rPr>
              <a:t>M</a:t>
            </a:r>
            <a:r>
              <a:rPr lang="en-GB" sz="2800" b="0">
                <a:latin typeface="Calibri" panose="020F0502020204030204" charset="0"/>
                <a:cs typeface="Calibri" panose="020F0502020204030204" charset="0"/>
              </a:rPr>
              <a:t>ore detailed descriptions of the system’s</a:t>
            </a:r>
            <a:r>
              <a:rPr lang="en-US" altLang="en-GB" sz="2800" b="0">
                <a:latin typeface="Calibri" panose="020F0502020204030204" charset="0"/>
                <a:cs typeface="Calibri" panose="020F0502020204030204" charset="0"/>
              </a:rPr>
              <a:t> </a:t>
            </a:r>
            <a:r>
              <a:rPr lang="en-GB" sz="2800" b="0">
                <a:latin typeface="Calibri" panose="020F0502020204030204" charset="0"/>
                <a:cs typeface="Calibri" panose="020F0502020204030204" charset="0"/>
              </a:rPr>
              <a:t>functions, services, and operational constraints. The system requirements document should define exactly what is</a:t>
            </a:r>
            <a:r>
              <a:rPr lang="en-US" altLang="en-GB" sz="2800" b="0">
                <a:latin typeface="Calibri" panose="020F0502020204030204" charset="0"/>
                <a:cs typeface="Calibri" panose="020F0502020204030204" charset="0"/>
              </a:rPr>
              <a:t> </a:t>
            </a:r>
            <a:r>
              <a:rPr lang="en-GB" sz="2800" b="0">
                <a:latin typeface="Calibri" panose="020F0502020204030204" charset="0"/>
                <a:cs typeface="Calibri" panose="020F0502020204030204" charset="0"/>
              </a:rPr>
              <a:t>to be implemented. It may be part of the</a:t>
            </a:r>
            <a:r>
              <a:rPr lang="en-US" altLang="en-GB" sz="2800" b="0">
                <a:latin typeface="Calibri" panose="020F0502020204030204" charset="0"/>
                <a:cs typeface="Calibri" panose="020F0502020204030204" charset="0"/>
              </a:rPr>
              <a:t> </a:t>
            </a:r>
            <a:r>
              <a:rPr lang="en-GB" sz="2800" b="0">
                <a:latin typeface="Calibri" panose="020F0502020204030204" charset="0"/>
                <a:cs typeface="Calibri" panose="020F0502020204030204" charset="0"/>
              </a:rPr>
              <a:t>contract between the system buyer and</a:t>
            </a:r>
            <a:r>
              <a:rPr lang="en-US" altLang="en-GB" sz="2800" b="0">
                <a:latin typeface="Calibri" panose="020F0502020204030204" charset="0"/>
                <a:cs typeface="Calibri" panose="020F0502020204030204" charset="0"/>
              </a:rPr>
              <a:t> </a:t>
            </a:r>
            <a:r>
              <a:rPr lang="en-GB" sz="2800" b="0">
                <a:latin typeface="Calibri" panose="020F0502020204030204" charset="0"/>
                <a:cs typeface="Calibri" panose="020F0502020204030204" charset="0"/>
              </a:rPr>
              <a:t>the developers.</a:t>
            </a:r>
            <a:endParaRPr lang="en-GB" sz="2800" b="0">
              <a:latin typeface="Calibri" panose="020F0502020204030204" charset="0"/>
              <a:cs typeface="Calibri" panose="020F050202020403020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5753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User and system requirements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示例</a:t>
            </a:r>
            <a:endPar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647700" y="1322070"/>
            <a:ext cx="7927340" cy="1416685"/>
          </a:xfrm>
          <a:prstGeom prst="rect">
            <a:avLst/>
          </a:prstGeom>
        </p:spPr>
      </p:pic>
      <p:pic>
        <p:nvPicPr>
          <p:cNvPr id="5" name="图片 4"/>
          <p:cNvPicPr>
            <a:picLocks noChangeAspect="1"/>
          </p:cNvPicPr>
          <p:nvPr/>
        </p:nvPicPr>
        <p:blipFill>
          <a:blip r:embed="rId4"/>
          <a:stretch>
            <a:fillRect/>
          </a:stretch>
        </p:blipFill>
        <p:spPr>
          <a:xfrm>
            <a:off x="575945" y="2904490"/>
            <a:ext cx="7947025" cy="3676015"/>
          </a:xfrm>
          <a:prstGeom prst="rect">
            <a:avLst/>
          </a:prstGeom>
        </p:spPr>
      </p:pic>
      <p:pic>
        <p:nvPicPr>
          <p:cNvPr id="2" name="图片 1"/>
          <p:cNvPicPr>
            <a:picLocks noChangeAspect="1"/>
          </p:cNvPicPr>
          <p:nvPr/>
        </p:nvPicPr>
        <p:blipFill>
          <a:blip r:embed="rId5"/>
          <a:stretch>
            <a:fillRect/>
          </a:stretch>
        </p:blipFill>
        <p:spPr>
          <a:xfrm>
            <a:off x="576580" y="814705"/>
            <a:ext cx="8069580" cy="5836285"/>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111885" y="1701165"/>
            <a:ext cx="7011035" cy="3940810"/>
          </a:xfrm>
          <a:prstGeom prst="rect">
            <a:avLst/>
          </a:prstGeom>
        </p:spPr>
      </p:pic>
      <p:sp>
        <p:nvSpPr>
          <p:cNvPr id="15363" name="Rectangle 3"/>
          <p:cNvSpPr>
            <a:spLocks noGrp="1" noRot="1"/>
          </p:cNvSpPr>
          <p:nvPr>
            <p:ph type="subTitle" idx="1"/>
            <p:custDataLst>
              <p:tags r:id="rId2"/>
            </p:custDataLst>
          </p:nvPr>
        </p:nvSpPr>
        <p:spPr>
          <a:xfrm>
            <a:off x="88900" y="723900"/>
            <a:ext cx="8977630" cy="10160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000" dirty="0">
                <a:solidFill>
                  <a:schemeClr val="accent1">
                    <a:lumMod val="75000"/>
                  </a:schemeClr>
                </a:solidFill>
                <a:ea typeface="宋体" panose="02010600030101010101" pitchFamily="2" charset="-122"/>
                <a:sym typeface="+mn-ea"/>
              </a:rPr>
              <a:t> Readers of different types of requirements specification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不同需求规格类型的读者</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3"/>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5" name="Rectangle 3"/>
          <p:cNvSpPr>
            <a:spLocks noGrp="1" noRot="1"/>
          </p:cNvSpPr>
          <p:nvPr>
            <p:custDataLst>
              <p:tags r:id="rId4"/>
            </p:custDataLst>
          </p:nvPr>
        </p:nvSpPr>
        <p:spPr>
          <a:xfrm>
            <a:off x="130810" y="5667375"/>
            <a:ext cx="8935720" cy="958850"/>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500"/>
              </a:spcBef>
              <a:buSzTx/>
              <a:buFont typeface="Wingdings" panose="05000000000000000000" pitchFamily="2" charset="2"/>
              <a:buNone/>
            </a:pPr>
            <a:r>
              <a:rPr lang="en-US" altLang="zh-CN" sz="2000" b="0" dirty="0">
                <a:solidFill>
                  <a:schemeClr val="tx1"/>
                </a:solidFill>
                <a:ea typeface="宋体" panose="02010600030101010101" pitchFamily="2" charset="-122"/>
                <a:sym typeface="Symbol" panose="05050102010706020507" charset="0"/>
              </a:rPr>
              <a:t> </a:t>
            </a:r>
            <a:r>
              <a:rPr lang="en-US" altLang="zh-CN" sz="2000" b="0" dirty="0">
                <a:solidFill>
                  <a:schemeClr val="tx1"/>
                </a:solidFill>
                <a:ea typeface="宋体" panose="02010600030101010101" pitchFamily="2" charset="-122"/>
                <a:sym typeface="+mn-ea"/>
              </a:rPr>
              <a:t>The readers of the user requirements are not usually concerned with how the system will be implemented; The readers of the system requirements need to know more precisely what the system will do.</a:t>
            </a:r>
            <a:endParaRPr lang="en-US" altLang="zh-CN" sz="2000" b="0" dirty="0">
              <a:solidFill>
                <a:schemeClr val="tx1"/>
              </a:solidFill>
              <a:ea typeface="宋体" panose="02010600030101010101" pitchFamily="2" charset="-122"/>
              <a:sym typeface="+mn-ea"/>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886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System stakeholders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系统干系人</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75565" y="1384935"/>
            <a:ext cx="8990965" cy="336613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0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Any person who is affected by the system in some way and so who has a legitimate interest.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受系统影响、有合法利益的任何人</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90000"/>
              </a:lnSpc>
              <a:spcBef>
                <a:spcPts val="10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Stakeholders range from end-users of a system through managers to external stakeholders such as regulators, who certify the acceptability of the system.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范围广：最终用户、经理、外部干系人</a:t>
            </a:r>
            <a:endParaRPr lang="en-US" sz="3200" dirty="0" smtClean="0">
              <a:solidFill>
                <a:schemeClr val="tx2">
                  <a:lumMod val="75000"/>
                  <a:lumOff val="25000"/>
                </a:schemeClr>
              </a:solidFill>
              <a:latin typeface="Calibri" panose="020F0502020204030204" charset="0"/>
              <a:cs typeface="Calibri" panose="020F0502020204030204" charset="0"/>
            </a:endParaRPr>
          </a:p>
          <a:p>
            <a:pPr marL="0" indent="0">
              <a:lnSpc>
                <a:spcPct val="90000"/>
              </a:lnSpc>
              <a:spcBef>
                <a:spcPts val="1000"/>
              </a:spcBef>
              <a:spcAft>
                <a:spcPts val="0"/>
              </a:spcAft>
              <a:buNone/>
            </a:pPr>
            <a:endParaRPr lang="en-US" sz="2800" b="0" dirty="0">
              <a:latin typeface="Calibri" panose="020F0502020204030204" charset="0"/>
              <a:cs typeface="Calibri" panose="020F0502020204030204"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5886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Stakeholders in the Mentcare system</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示例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88900" y="1241425"/>
            <a:ext cx="8978265" cy="543115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500"/>
              </a:spcBef>
              <a:spcAft>
                <a:spcPts val="0"/>
              </a:spcAft>
            </a:pPr>
            <a:r>
              <a:rPr lang="en-US" sz="2500" b="0" u="sng" dirty="0" smtClean="0">
                <a:solidFill>
                  <a:schemeClr val="tx2">
                    <a:lumMod val="75000"/>
                    <a:lumOff val="25000"/>
                  </a:schemeClr>
                </a:solidFill>
                <a:latin typeface="Calibri" panose="020F0502020204030204" charset="0"/>
                <a:cs typeface="Calibri" panose="020F0502020204030204" charset="0"/>
              </a:rPr>
              <a:t>Patients</a:t>
            </a:r>
            <a:r>
              <a:rPr lang="en-US" sz="2500" b="0" dirty="0" smtClean="0">
                <a:solidFill>
                  <a:schemeClr val="tx2">
                    <a:lumMod val="75000"/>
                    <a:lumOff val="25000"/>
                  </a:schemeClr>
                </a:solidFill>
                <a:latin typeface="Calibri" panose="020F0502020204030204" charset="0"/>
                <a:cs typeface="Calibri" panose="020F0502020204030204" charset="0"/>
              </a:rPr>
              <a:t> </a:t>
            </a:r>
            <a:r>
              <a:rPr lang="en-US" sz="2500" b="0" dirty="0" smtClean="0">
                <a:solidFill>
                  <a:schemeClr val="tx1"/>
                </a:solidFill>
                <a:latin typeface="Calibri" panose="020F0502020204030204" charset="0"/>
                <a:cs typeface="Calibri" panose="020F0502020204030204" charset="0"/>
              </a:rPr>
              <a:t>whose information is recorded in the system and</a:t>
            </a:r>
            <a:r>
              <a:rPr lang="en-US" sz="2500" b="0" dirty="0" smtClean="0">
                <a:solidFill>
                  <a:schemeClr val="tx2">
                    <a:lumMod val="75000"/>
                    <a:lumOff val="25000"/>
                  </a:schemeClr>
                </a:solidFill>
                <a:latin typeface="Calibri" panose="020F0502020204030204" charset="0"/>
                <a:cs typeface="Calibri" panose="020F0502020204030204" charset="0"/>
              </a:rPr>
              <a:t> </a:t>
            </a:r>
            <a:r>
              <a:rPr lang="en-US" sz="2500" b="0" u="sng" dirty="0" smtClean="0">
                <a:solidFill>
                  <a:schemeClr val="tx2">
                    <a:lumMod val="75000"/>
                    <a:lumOff val="25000"/>
                  </a:schemeClr>
                </a:solidFill>
                <a:latin typeface="Calibri" panose="020F0502020204030204" charset="0"/>
                <a:cs typeface="Calibri" panose="020F0502020204030204" charset="0"/>
              </a:rPr>
              <a:t>relatives</a:t>
            </a:r>
            <a:r>
              <a:rPr lang="en-US" sz="2500" b="0" dirty="0" smtClean="0">
                <a:solidFill>
                  <a:schemeClr val="tx2">
                    <a:lumMod val="75000"/>
                    <a:lumOff val="25000"/>
                  </a:schemeClr>
                </a:solidFill>
                <a:latin typeface="Calibri" panose="020F0502020204030204" charset="0"/>
                <a:cs typeface="Calibri" panose="020F0502020204030204" charset="0"/>
              </a:rPr>
              <a:t> </a:t>
            </a:r>
            <a:r>
              <a:rPr lang="en-US" sz="2500" b="0" dirty="0" smtClean="0">
                <a:solidFill>
                  <a:schemeClr val="tx1"/>
                </a:solidFill>
                <a:latin typeface="Calibri" panose="020F0502020204030204" charset="0"/>
                <a:cs typeface="Calibri" panose="020F0502020204030204" charset="0"/>
              </a:rPr>
              <a:t>of these patients.</a:t>
            </a:r>
            <a:endParaRPr lang="en-US" sz="2500" b="0" dirty="0" smtClean="0">
              <a:solidFill>
                <a:schemeClr val="tx2">
                  <a:lumMod val="75000"/>
                  <a:lumOff val="25000"/>
                </a:schemeClr>
              </a:solidFill>
              <a:latin typeface="Calibri" panose="020F0502020204030204" charset="0"/>
              <a:cs typeface="Calibri" panose="020F0502020204030204" charset="0"/>
            </a:endParaRPr>
          </a:p>
          <a:p>
            <a:pPr>
              <a:lnSpc>
                <a:spcPct val="85000"/>
              </a:lnSpc>
              <a:spcBef>
                <a:spcPts val="500"/>
              </a:spcBef>
              <a:spcAft>
                <a:spcPts val="0"/>
              </a:spcAft>
            </a:pPr>
            <a:r>
              <a:rPr lang="en-US" sz="2500" b="0" u="sng" dirty="0" smtClean="0">
                <a:solidFill>
                  <a:schemeClr val="tx2">
                    <a:lumMod val="75000"/>
                    <a:lumOff val="25000"/>
                  </a:schemeClr>
                </a:solidFill>
                <a:latin typeface="Calibri" panose="020F0502020204030204" charset="0"/>
                <a:cs typeface="Calibri" panose="020F0502020204030204" charset="0"/>
              </a:rPr>
              <a:t>Doctors</a:t>
            </a:r>
            <a:r>
              <a:rPr lang="en-US" sz="2500" b="0" dirty="0" smtClean="0">
                <a:solidFill>
                  <a:schemeClr val="tx2">
                    <a:lumMod val="75000"/>
                    <a:lumOff val="25000"/>
                  </a:schemeClr>
                </a:solidFill>
                <a:latin typeface="Calibri" panose="020F0502020204030204" charset="0"/>
                <a:cs typeface="Calibri" panose="020F0502020204030204" charset="0"/>
              </a:rPr>
              <a:t> </a:t>
            </a:r>
            <a:r>
              <a:rPr lang="en-US" sz="2500" b="0" dirty="0" smtClean="0">
                <a:solidFill>
                  <a:schemeClr val="tx1"/>
                </a:solidFill>
                <a:latin typeface="Calibri" panose="020F0502020204030204" charset="0"/>
                <a:cs typeface="Calibri" panose="020F0502020204030204" charset="0"/>
              </a:rPr>
              <a:t>who are responsible for assessing and treating patients.</a:t>
            </a:r>
            <a:endParaRPr lang="en-US" sz="2500" b="0" dirty="0" smtClean="0">
              <a:solidFill>
                <a:schemeClr val="tx2">
                  <a:lumMod val="75000"/>
                  <a:lumOff val="25000"/>
                </a:schemeClr>
              </a:solidFill>
              <a:latin typeface="Calibri" panose="020F0502020204030204" charset="0"/>
              <a:cs typeface="Calibri" panose="020F0502020204030204" charset="0"/>
            </a:endParaRPr>
          </a:p>
          <a:p>
            <a:pPr>
              <a:lnSpc>
                <a:spcPct val="85000"/>
              </a:lnSpc>
              <a:spcBef>
                <a:spcPts val="500"/>
              </a:spcBef>
              <a:spcAft>
                <a:spcPts val="0"/>
              </a:spcAft>
            </a:pPr>
            <a:r>
              <a:rPr lang="en-US" sz="2500" b="0" u="sng" dirty="0" smtClean="0">
                <a:solidFill>
                  <a:schemeClr val="tx2">
                    <a:lumMod val="75000"/>
                    <a:lumOff val="25000"/>
                  </a:schemeClr>
                </a:solidFill>
                <a:latin typeface="Calibri" panose="020F0502020204030204" charset="0"/>
                <a:cs typeface="Calibri" panose="020F0502020204030204" charset="0"/>
              </a:rPr>
              <a:t>Nurses</a:t>
            </a:r>
            <a:r>
              <a:rPr lang="en-US" sz="2500" b="0" dirty="0" smtClean="0">
                <a:solidFill>
                  <a:schemeClr val="tx2">
                    <a:lumMod val="75000"/>
                    <a:lumOff val="25000"/>
                  </a:schemeClr>
                </a:solidFill>
                <a:latin typeface="Calibri" panose="020F0502020204030204" charset="0"/>
                <a:cs typeface="Calibri" panose="020F0502020204030204" charset="0"/>
              </a:rPr>
              <a:t> </a:t>
            </a:r>
            <a:r>
              <a:rPr lang="en-US" sz="2500" b="0" dirty="0" smtClean="0">
                <a:solidFill>
                  <a:schemeClr val="tx1"/>
                </a:solidFill>
                <a:latin typeface="Calibri" panose="020F0502020204030204" charset="0"/>
                <a:cs typeface="Calibri" panose="020F0502020204030204" charset="0"/>
              </a:rPr>
              <a:t>who coordinate the consultations with doctors and administer some treatments.</a:t>
            </a:r>
            <a:endParaRPr lang="en-US" sz="2500" b="0" dirty="0" smtClean="0">
              <a:solidFill>
                <a:schemeClr val="tx2">
                  <a:lumMod val="75000"/>
                  <a:lumOff val="25000"/>
                </a:schemeClr>
              </a:solidFill>
              <a:latin typeface="Calibri" panose="020F0502020204030204" charset="0"/>
              <a:cs typeface="Calibri" panose="020F0502020204030204" charset="0"/>
            </a:endParaRPr>
          </a:p>
          <a:p>
            <a:pPr>
              <a:lnSpc>
                <a:spcPct val="85000"/>
              </a:lnSpc>
              <a:spcBef>
                <a:spcPts val="500"/>
              </a:spcBef>
              <a:spcAft>
                <a:spcPts val="0"/>
              </a:spcAft>
            </a:pPr>
            <a:r>
              <a:rPr lang="en-US" sz="2500" b="0" u="sng" dirty="0" smtClean="0">
                <a:solidFill>
                  <a:schemeClr val="tx2">
                    <a:lumMod val="75000"/>
                    <a:lumOff val="25000"/>
                  </a:schemeClr>
                </a:solidFill>
                <a:latin typeface="Calibri" panose="020F0502020204030204" charset="0"/>
                <a:cs typeface="Calibri" panose="020F0502020204030204" charset="0"/>
              </a:rPr>
              <a:t>Medical receptionists</a:t>
            </a:r>
            <a:r>
              <a:rPr lang="en-US" sz="2500" b="0" dirty="0" smtClean="0">
                <a:solidFill>
                  <a:schemeClr val="tx2">
                    <a:lumMod val="75000"/>
                    <a:lumOff val="25000"/>
                  </a:schemeClr>
                </a:solidFill>
                <a:latin typeface="Calibri" panose="020F0502020204030204" charset="0"/>
                <a:cs typeface="Calibri" panose="020F0502020204030204" charset="0"/>
              </a:rPr>
              <a:t> </a:t>
            </a:r>
            <a:r>
              <a:rPr lang="en-US" sz="2500" b="0" dirty="0" smtClean="0">
                <a:solidFill>
                  <a:schemeClr val="tx1"/>
                </a:solidFill>
                <a:latin typeface="Calibri" panose="020F0502020204030204" charset="0"/>
                <a:cs typeface="Calibri" panose="020F0502020204030204" charset="0"/>
              </a:rPr>
              <a:t>who manage patients’ appointments.</a:t>
            </a:r>
            <a:endParaRPr lang="en-US" sz="2500" b="0" dirty="0" smtClean="0">
              <a:solidFill>
                <a:schemeClr val="tx1"/>
              </a:solidFill>
              <a:latin typeface="Calibri" panose="020F0502020204030204" charset="0"/>
              <a:cs typeface="Calibri" panose="020F0502020204030204" charset="0"/>
            </a:endParaRPr>
          </a:p>
          <a:p>
            <a:pPr>
              <a:lnSpc>
                <a:spcPct val="85000"/>
              </a:lnSpc>
              <a:spcBef>
                <a:spcPts val="500"/>
              </a:spcBef>
              <a:spcAft>
                <a:spcPts val="0"/>
              </a:spcAft>
            </a:pPr>
            <a:r>
              <a:rPr lang="en-US" sz="2500" b="0" u="sng" dirty="0" smtClean="0">
                <a:solidFill>
                  <a:schemeClr val="tx2">
                    <a:lumMod val="75000"/>
                    <a:lumOff val="25000"/>
                  </a:schemeClr>
                </a:solidFill>
                <a:latin typeface="Calibri" panose="020F0502020204030204" charset="0"/>
                <a:cs typeface="Calibri" panose="020F0502020204030204" charset="0"/>
              </a:rPr>
              <a:t>IT staff</a:t>
            </a:r>
            <a:r>
              <a:rPr lang="en-US" sz="2500" b="0" dirty="0" smtClean="0">
                <a:solidFill>
                  <a:schemeClr val="tx1"/>
                </a:solidFill>
                <a:latin typeface="Calibri" panose="020F0502020204030204" charset="0"/>
                <a:cs typeface="Calibri" panose="020F0502020204030204" charset="0"/>
              </a:rPr>
              <a:t> who are responsible for installing and maintaining the system.</a:t>
            </a:r>
            <a:endParaRPr lang="en-US" sz="2500" b="0" dirty="0" smtClean="0">
              <a:solidFill>
                <a:schemeClr val="tx2">
                  <a:lumMod val="75000"/>
                  <a:lumOff val="25000"/>
                </a:schemeClr>
              </a:solidFill>
              <a:latin typeface="Calibri" panose="020F0502020204030204" charset="0"/>
              <a:cs typeface="Calibri" panose="020F0502020204030204" charset="0"/>
            </a:endParaRPr>
          </a:p>
          <a:p>
            <a:pPr>
              <a:lnSpc>
                <a:spcPct val="85000"/>
              </a:lnSpc>
              <a:spcBef>
                <a:spcPts val="500"/>
              </a:spcBef>
              <a:spcAft>
                <a:spcPts val="0"/>
              </a:spcAft>
            </a:pPr>
            <a:r>
              <a:rPr lang="en-US" sz="2500" b="0" u="sng" dirty="0" smtClean="0">
                <a:solidFill>
                  <a:schemeClr val="tx2">
                    <a:lumMod val="75000"/>
                    <a:lumOff val="25000"/>
                  </a:schemeClr>
                </a:solidFill>
                <a:latin typeface="Calibri" panose="020F0502020204030204" charset="0"/>
                <a:cs typeface="Calibri" panose="020F0502020204030204" charset="0"/>
              </a:rPr>
              <a:t>A medical ethics manager</a:t>
            </a:r>
            <a:r>
              <a:rPr lang="en-US" sz="2500" b="0" dirty="0" smtClean="0">
                <a:solidFill>
                  <a:schemeClr val="tx2">
                    <a:lumMod val="75000"/>
                    <a:lumOff val="25000"/>
                  </a:schemeClr>
                </a:solidFill>
                <a:latin typeface="Calibri" panose="020F0502020204030204" charset="0"/>
                <a:cs typeface="Calibri" panose="020F0502020204030204" charset="0"/>
              </a:rPr>
              <a:t> </a:t>
            </a:r>
            <a:r>
              <a:rPr lang="en-US" sz="2500" b="0" dirty="0" smtClean="0">
                <a:solidFill>
                  <a:schemeClr val="tx1"/>
                </a:solidFill>
                <a:latin typeface="Calibri" panose="020F0502020204030204" charset="0"/>
                <a:cs typeface="Calibri" panose="020F0502020204030204" charset="0"/>
              </a:rPr>
              <a:t>who must ensure that the system meets current ethical guidelines for patient care.</a:t>
            </a:r>
            <a:endParaRPr lang="en-US" sz="2500" b="0" dirty="0" smtClean="0">
              <a:solidFill>
                <a:schemeClr val="tx2">
                  <a:lumMod val="75000"/>
                  <a:lumOff val="25000"/>
                </a:schemeClr>
              </a:solidFill>
              <a:latin typeface="Calibri" panose="020F0502020204030204" charset="0"/>
              <a:cs typeface="Calibri" panose="020F0502020204030204" charset="0"/>
            </a:endParaRPr>
          </a:p>
          <a:p>
            <a:pPr>
              <a:lnSpc>
                <a:spcPct val="85000"/>
              </a:lnSpc>
              <a:spcBef>
                <a:spcPts val="500"/>
              </a:spcBef>
              <a:spcAft>
                <a:spcPts val="0"/>
              </a:spcAft>
            </a:pPr>
            <a:r>
              <a:rPr lang="en-US" sz="2500" b="0" u="sng" dirty="0" smtClean="0">
                <a:solidFill>
                  <a:schemeClr val="tx2">
                    <a:lumMod val="75000"/>
                    <a:lumOff val="25000"/>
                  </a:schemeClr>
                </a:solidFill>
                <a:latin typeface="Calibri" panose="020F0502020204030204" charset="0"/>
                <a:cs typeface="Calibri" panose="020F0502020204030204" charset="0"/>
              </a:rPr>
              <a:t>Health care managers</a:t>
            </a:r>
            <a:r>
              <a:rPr lang="en-US" sz="2500" b="0" dirty="0" smtClean="0">
                <a:solidFill>
                  <a:schemeClr val="tx2">
                    <a:lumMod val="75000"/>
                    <a:lumOff val="25000"/>
                  </a:schemeClr>
                </a:solidFill>
                <a:latin typeface="Calibri" panose="020F0502020204030204" charset="0"/>
                <a:cs typeface="Calibri" panose="020F0502020204030204" charset="0"/>
              </a:rPr>
              <a:t> </a:t>
            </a:r>
            <a:r>
              <a:rPr lang="en-US" sz="2500" b="0" dirty="0" smtClean="0">
                <a:solidFill>
                  <a:schemeClr val="tx1"/>
                </a:solidFill>
                <a:latin typeface="Calibri" panose="020F0502020204030204" charset="0"/>
                <a:cs typeface="Calibri" panose="020F0502020204030204" charset="0"/>
              </a:rPr>
              <a:t>who obtain management information from the system.</a:t>
            </a:r>
            <a:endParaRPr lang="en-US" sz="2500" b="0" dirty="0" smtClean="0">
              <a:solidFill>
                <a:schemeClr val="tx2">
                  <a:lumMod val="75000"/>
                  <a:lumOff val="25000"/>
                </a:schemeClr>
              </a:solidFill>
              <a:latin typeface="Calibri" panose="020F0502020204030204" charset="0"/>
              <a:cs typeface="Calibri" panose="020F0502020204030204" charset="0"/>
            </a:endParaRPr>
          </a:p>
          <a:p>
            <a:pPr>
              <a:lnSpc>
                <a:spcPct val="85000"/>
              </a:lnSpc>
              <a:spcBef>
                <a:spcPts val="500"/>
              </a:spcBef>
              <a:spcAft>
                <a:spcPts val="0"/>
              </a:spcAft>
            </a:pPr>
            <a:r>
              <a:rPr lang="en-US" sz="2500" b="0" u="sng" dirty="0" smtClean="0">
                <a:solidFill>
                  <a:schemeClr val="tx2">
                    <a:lumMod val="75000"/>
                    <a:lumOff val="25000"/>
                  </a:schemeClr>
                </a:solidFill>
                <a:latin typeface="Calibri" panose="020F0502020204030204" charset="0"/>
                <a:cs typeface="Calibri" panose="020F0502020204030204" charset="0"/>
              </a:rPr>
              <a:t>Medical records staff</a:t>
            </a:r>
            <a:r>
              <a:rPr lang="en-US" sz="2500" b="0" dirty="0" smtClean="0">
                <a:solidFill>
                  <a:schemeClr val="tx2">
                    <a:lumMod val="75000"/>
                    <a:lumOff val="25000"/>
                  </a:schemeClr>
                </a:solidFill>
                <a:latin typeface="Calibri" panose="020F0502020204030204" charset="0"/>
                <a:cs typeface="Calibri" panose="020F0502020204030204" charset="0"/>
              </a:rPr>
              <a:t> </a:t>
            </a:r>
            <a:r>
              <a:rPr lang="en-US" sz="2500" b="0" dirty="0" smtClean="0">
                <a:solidFill>
                  <a:schemeClr val="tx1"/>
                </a:solidFill>
                <a:latin typeface="Calibri" panose="020F0502020204030204" charset="0"/>
                <a:cs typeface="Calibri" panose="020F0502020204030204" charset="0"/>
              </a:rPr>
              <a:t>who are responsible for ensuring that system information can be maintained and preserved, and that record keeping procedures have been properly implemented.</a:t>
            </a:r>
            <a:endParaRPr lang="en-US" sz="25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7555"/>
            <a:ext cx="8977630" cy="4953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900" dirty="0">
                <a:solidFill>
                  <a:schemeClr val="accent1">
                    <a:lumMod val="75000"/>
                  </a:schemeClr>
                </a:solidFill>
                <a:ea typeface="宋体" panose="02010600030101010101" pitchFamily="2" charset="-122"/>
                <a:sym typeface="+mn-ea"/>
              </a:rPr>
              <a:t> 4.1 </a:t>
            </a:r>
            <a:r>
              <a:rPr lang="zh-CN" altLang="en-US" sz="2900" dirty="0">
                <a:solidFill>
                  <a:schemeClr val="accent1">
                    <a:lumMod val="75000"/>
                  </a:schemeClr>
                </a:solidFill>
                <a:ea typeface="宋体" panose="02010600030101010101" pitchFamily="2" charset="-122"/>
                <a:sym typeface="+mn-ea"/>
              </a:rPr>
              <a:t>Functional and non-functional requirements</a:t>
            </a:r>
            <a:endParaRPr lang="zh-CN" altLang="en-US" sz="29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4819" name="Rectangle 3"/>
          <p:cNvSpPr>
            <a:spLocks noGrp="1" noChangeArrowheads="1"/>
          </p:cNvSpPr>
          <p:nvPr/>
        </p:nvSpPr>
        <p:spPr>
          <a:xfrm>
            <a:off x="112395" y="1296035"/>
            <a:ext cx="8930005" cy="53028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100" dirty="0">
                <a:solidFill>
                  <a:schemeClr val="accent2">
                    <a:lumMod val="75000"/>
                  </a:schemeClr>
                </a:solidFill>
                <a:latin typeface="Calibri" panose="020F0502020204030204" charset="0"/>
                <a:cs typeface="Calibri" panose="020F0502020204030204" charset="0"/>
              </a:rPr>
              <a:t> </a:t>
            </a:r>
            <a:r>
              <a:rPr lang="en-GB" sz="3100" dirty="0">
                <a:solidFill>
                  <a:schemeClr val="accent2">
                    <a:lumMod val="75000"/>
                  </a:schemeClr>
                </a:solidFill>
                <a:latin typeface="Calibri" panose="020F0502020204030204" charset="0"/>
                <a:cs typeface="Calibri" panose="020F0502020204030204" charset="0"/>
              </a:rPr>
              <a:t>Functional requirements</a:t>
            </a:r>
            <a:r>
              <a:rPr lang="en-US" altLang="en-GB" sz="31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功能需求</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1">
              <a:lnSpc>
                <a:spcPct val="85000"/>
              </a:lnSpc>
              <a:spcBef>
                <a:spcPts val="600"/>
              </a:spcBef>
              <a:spcAft>
                <a:spcPts val="0"/>
              </a:spcAft>
            </a:pPr>
            <a:r>
              <a:rPr lang="en-US" altLang="en-GB" sz="2700" b="0" dirty="0" smtClean="0">
                <a:latin typeface="Calibri" panose="020F0502020204030204" charset="0"/>
                <a:cs typeface="Calibri" panose="020F0502020204030204" charset="0"/>
              </a:rPr>
              <a:t>S</a:t>
            </a:r>
            <a:r>
              <a:rPr lang="en-GB" sz="2700" b="0" dirty="0" smtClean="0">
                <a:latin typeface="Calibri" panose="020F0502020204030204" charset="0"/>
                <a:cs typeface="Calibri" panose="020F0502020204030204" charset="0"/>
              </a:rPr>
              <a:t>tatements of services the system should</a:t>
            </a:r>
            <a:r>
              <a:rPr lang="en-US" altLang="en-GB" sz="2700" b="0" dirty="0" smtClean="0">
                <a:latin typeface="Calibri" panose="020F0502020204030204" charset="0"/>
                <a:cs typeface="Calibri" panose="020F0502020204030204" charset="0"/>
              </a:rPr>
              <a:t> </a:t>
            </a:r>
            <a:r>
              <a:rPr lang="en-GB" sz="2700" b="0" dirty="0" smtClean="0">
                <a:latin typeface="Calibri" panose="020F0502020204030204" charset="0"/>
                <a:cs typeface="Calibri" panose="020F0502020204030204" charset="0"/>
              </a:rPr>
              <a:t>provide, how the system should react to particular inputs, and how the system</a:t>
            </a:r>
            <a:r>
              <a:rPr lang="en-US" altLang="en-GB" sz="2700" b="0" dirty="0" smtClean="0">
                <a:latin typeface="Calibri" panose="020F0502020204030204" charset="0"/>
                <a:cs typeface="Calibri" panose="020F0502020204030204" charset="0"/>
              </a:rPr>
              <a:t> </a:t>
            </a:r>
            <a:r>
              <a:rPr lang="en-GB" sz="2700" b="0" dirty="0" smtClean="0">
                <a:latin typeface="Calibri" panose="020F0502020204030204" charset="0"/>
                <a:cs typeface="Calibri" panose="020F0502020204030204" charset="0"/>
              </a:rPr>
              <a:t>should behave in particular situations. </a:t>
            </a:r>
            <a:endParaRPr lang="en-GB" sz="2700" b="0" dirty="0" smtClean="0">
              <a:latin typeface="Calibri" panose="020F0502020204030204" charset="0"/>
              <a:cs typeface="Calibri" panose="020F0502020204030204" charset="0"/>
            </a:endParaRPr>
          </a:p>
          <a:p>
            <a:pPr lvl="1">
              <a:lnSpc>
                <a:spcPct val="85000"/>
              </a:lnSpc>
              <a:spcBef>
                <a:spcPts val="600"/>
              </a:spcBef>
              <a:spcAft>
                <a:spcPts val="0"/>
              </a:spcAft>
            </a:pPr>
            <a:r>
              <a:rPr lang="en-US" altLang="en-GB" sz="2700" b="0" dirty="0" smtClean="0">
                <a:latin typeface="Calibri" panose="020F0502020204030204" charset="0"/>
                <a:cs typeface="Calibri" panose="020F0502020204030204" charset="0"/>
              </a:rPr>
              <a:t>M</a:t>
            </a:r>
            <a:r>
              <a:rPr lang="en-GB" sz="2700" b="0" dirty="0" smtClean="0">
                <a:latin typeface="Calibri" panose="020F0502020204030204" charset="0"/>
                <a:cs typeface="Calibri" panose="020F0502020204030204" charset="0"/>
              </a:rPr>
              <a:t>ay also explicitly state what the system should not do.</a:t>
            </a:r>
            <a:endParaRPr lang="en-GB" sz="2700" b="0" dirty="0" smtClean="0">
              <a:latin typeface="Calibri" panose="020F0502020204030204" charset="0"/>
              <a:cs typeface="Calibri" panose="020F0502020204030204" charset="0"/>
            </a:endParaRPr>
          </a:p>
          <a:p>
            <a:pPr>
              <a:lnSpc>
                <a:spcPct val="85000"/>
              </a:lnSpc>
              <a:spcBef>
                <a:spcPts val="600"/>
              </a:spcBef>
              <a:spcAft>
                <a:spcPts val="0"/>
              </a:spcAft>
            </a:pPr>
            <a:r>
              <a:rPr lang="en-US" altLang="en-GB" sz="3100" dirty="0">
                <a:solidFill>
                  <a:schemeClr val="accent2">
                    <a:lumMod val="75000"/>
                  </a:schemeClr>
                </a:solidFill>
                <a:latin typeface="Calibri" panose="020F0502020204030204" charset="0"/>
                <a:cs typeface="Calibri" panose="020F0502020204030204" charset="0"/>
              </a:rPr>
              <a:t> </a:t>
            </a:r>
            <a:r>
              <a:rPr lang="en-GB" sz="3100" dirty="0">
                <a:solidFill>
                  <a:schemeClr val="accent2">
                    <a:lumMod val="75000"/>
                  </a:schemeClr>
                </a:solidFill>
                <a:latin typeface="Calibri" panose="020F0502020204030204" charset="0"/>
                <a:cs typeface="Calibri" panose="020F0502020204030204" charset="0"/>
              </a:rPr>
              <a:t>Non-functional requirements</a:t>
            </a:r>
            <a:r>
              <a:rPr lang="en-US" altLang="en-GB" sz="31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非功能需求</a:t>
            </a:r>
            <a:endParaRPr lang="en-GB" sz="3100" dirty="0" smtClean="0">
              <a:solidFill>
                <a:schemeClr val="accent2">
                  <a:lumMod val="7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US" altLang="en-GB" sz="2700" b="0" dirty="0" smtClean="0">
                <a:latin typeface="Calibri" panose="020F0502020204030204" charset="0"/>
                <a:cs typeface="Calibri" panose="020F0502020204030204" charset="0"/>
              </a:rPr>
              <a:t>C</a:t>
            </a:r>
            <a:r>
              <a:rPr lang="en-GB" sz="2700" b="0" dirty="0" smtClean="0">
                <a:latin typeface="Calibri" panose="020F0502020204030204" charset="0"/>
                <a:cs typeface="Calibri" panose="020F0502020204030204" charset="0"/>
              </a:rPr>
              <a:t>onstraints on the services or functions</a:t>
            </a:r>
            <a:r>
              <a:rPr lang="en-US" altLang="en-GB" sz="2700" b="0" dirty="0" smtClean="0">
                <a:latin typeface="Calibri" panose="020F0502020204030204" charset="0"/>
                <a:cs typeface="Calibri" panose="020F0502020204030204" charset="0"/>
              </a:rPr>
              <a:t> </a:t>
            </a:r>
            <a:r>
              <a:rPr lang="en-GB" sz="2700" b="0" dirty="0" smtClean="0">
                <a:latin typeface="Calibri" panose="020F0502020204030204" charset="0"/>
                <a:cs typeface="Calibri" panose="020F0502020204030204" charset="0"/>
              </a:rPr>
              <a:t>offered by the system</a:t>
            </a:r>
            <a:r>
              <a:rPr lang="en-US" altLang="en-GB" sz="2700" b="0" dirty="0" smtClean="0">
                <a:latin typeface="Calibri" panose="020F0502020204030204" charset="0"/>
                <a:cs typeface="Calibri" panose="020F0502020204030204" charset="0"/>
              </a:rPr>
              <a:t> such as </a:t>
            </a:r>
            <a:r>
              <a:rPr lang="en-GB" sz="2700" b="0" dirty="0" smtClean="0">
                <a:latin typeface="Calibri" panose="020F0502020204030204" charset="0"/>
                <a:cs typeface="Calibri" panose="020F0502020204030204" charset="0"/>
              </a:rPr>
              <a:t>timing constraints, constraints on the development process, standards</a:t>
            </a:r>
            <a:r>
              <a:rPr lang="en-US" altLang="en-GB" sz="2700" b="0" dirty="0" smtClean="0">
                <a:latin typeface="Calibri" panose="020F0502020204030204" charset="0"/>
                <a:cs typeface="Calibri" panose="020F0502020204030204" charset="0"/>
              </a:rPr>
              <a:t>, etc</a:t>
            </a:r>
            <a:r>
              <a:rPr lang="en-GB" sz="2700" b="0" dirty="0" smtClean="0">
                <a:latin typeface="Calibri" panose="020F0502020204030204" charset="0"/>
                <a:cs typeface="Calibri" panose="020F0502020204030204" charset="0"/>
              </a:rPr>
              <a:t>. </a:t>
            </a:r>
            <a:endParaRPr lang="en-GB" sz="2700" b="0" dirty="0" smtClean="0">
              <a:latin typeface="Calibri" panose="020F0502020204030204" charset="0"/>
              <a:cs typeface="Calibri" panose="020F0502020204030204" charset="0"/>
            </a:endParaRPr>
          </a:p>
          <a:p>
            <a:pPr lvl="1">
              <a:lnSpc>
                <a:spcPct val="85000"/>
              </a:lnSpc>
              <a:spcBef>
                <a:spcPts val="600"/>
              </a:spcBef>
              <a:spcAft>
                <a:spcPts val="0"/>
              </a:spcAft>
            </a:pPr>
            <a:r>
              <a:rPr lang="en-US" altLang="en-GB" sz="2700" b="0" dirty="0" smtClean="0">
                <a:latin typeface="Calibri" panose="020F0502020204030204" charset="0"/>
                <a:cs typeface="Calibri" panose="020F0502020204030204" charset="0"/>
              </a:rPr>
              <a:t>O</a:t>
            </a:r>
            <a:r>
              <a:rPr lang="en-GB" sz="2700" b="0" dirty="0" smtClean="0">
                <a:latin typeface="Calibri" panose="020F0502020204030204" charset="0"/>
                <a:cs typeface="Calibri" panose="020F0502020204030204" charset="0"/>
              </a:rPr>
              <a:t>ften apply to the system as a whole rather than</a:t>
            </a:r>
            <a:r>
              <a:rPr lang="en-US" altLang="en-GB" sz="2700" b="0" dirty="0" smtClean="0">
                <a:latin typeface="Calibri" panose="020F0502020204030204" charset="0"/>
                <a:cs typeface="Calibri" panose="020F0502020204030204" charset="0"/>
              </a:rPr>
              <a:t> </a:t>
            </a:r>
            <a:r>
              <a:rPr lang="en-GB" sz="2700" b="0" dirty="0" smtClean="0">
                <a:latin typeface="Calibri" panose="020F0502020204030204" charset="0"/>
                <a:cs typeface="Calibri" panose="020F0502020204030204" charset="0"/>
              </a:rPr>
              <a:t>individual system features</a:t>
            </a:r>
            <a:r>
              <a:rPr lang="en-US" altLang="en-GB" sz="2700" b="0" dirty="0" smtClean="0">
                <a:latin typeface="Calibri" panose="020F0502020204030204" charset="0"/>
                <a:cs typeface="Calibri" panose="020F0502020204030204" charset="0"/>
              </a:rPr>
              <a:t> </a:t>
            </a:r>
            <a:r>
              <a:rPr lang="en-GB" sz="2700" b="0" dirty="0" smtClean="0">
                <a:latin typeface="Calibri" panose="020F0502020204030204" charset="0"/>
                <a:cs typeface="Calibri" panose="020F0502020204030204" charset="0"/>
              </a:rPr>
              <a:t>or services.</a:t>
            </a:r>
            <a:endParaRPr lang="en-GB" sz="2700" b="0" dirty="0" smtClean="0">
              <a:latin typeface="Calibri" panose="020F0502020204030204" charset="0"/>
              <a:cs typeface="Calibri" panose="020F0502020204030204" charset="0"/>
            </a:endParaRPr>
          </a:p>
          <a:p>
            <a:pPr>
              <a:lnSpc>
                <a:spcPct val="85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In reality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现实情况</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1">
              <a:lnSpc>
                <a:spcPct val="85000"/>
              </a:lnSpc>
              <a:spcBef>
                <a:spcPts val="600"/>
              </a:spcBef>
              <a:spcAft>
                <a:spcPts val="0"/>
              </a:spcAft>
            </a:pPr>
            <a:r>
              <a:rPr lang="en-US" altLang="en-GB" sz="2700" b="0" dirty="0" smtClean="0">
                <a:latin typeface="Calibri" panose="020F0502020204030204" charset="0"/>
                <a:cs typeface="Calibri" panose="020F0502020204030204" charset="0"/>
              </a:rPr>
              <a:t>T</a:t>
            </a:r>
            <a:r>
              <a:rPr lang="en-GB" sz="2700" b="0" dirty="0" smtClean="0">
                <a:latin typeface="Calibri" panose="020F0502020204030204" charset="0"/>
                <a:cs typeface="Calibri" panose="020F0502020204030204" charset="0"/>
              </a:rPr>
              <a:t>he distinction between </a:t>
            </a:r>
            <a:r>
              <a:rPr lang="en-US" altLang="en-GB" sz="2700" b="0" dirty="0" smtClean="0">
                <a:latin typeface="Calibri" panose="020F0502020204030204" charset="0"/>
                <a:cs typeface="Calibri" panose="020F0502020204030204" charset="0"/>
              </a:rPr>
              <a:t>them </a:t>
            </a:r>
            <a:r>
              <a:rPr lang="en-GB" sz="2700" b="0" dirty="0" smtClean="0">
                <a:latin typeface="Calibri" panose="020F0502020204030204" charset="0"/>
                <a:cs typeface="Calibri" panose="020F0502020204030204" charset="0"/>
              </a:rPr>
              <a:t>is not clear</a:t>
            </a:r>
            <a:r>
              <a:rPr lang="en-US" altLang="en-GB" sz="2700" b="0" dirty="0" smtClean="0">
                <a:latin typeface="Calibri" panose="020F0502020204030204" charset="0"/>
                <a:cs typeface="Calibri" panose="020F0502020204030204" charset="0"/>
              </a:rPr>
              <a:t>.</a:t>
            </a:r>
            <a:endParaRPr lang="en-US" altLang="en-GB" sz="2700" b="0" dirty="0" smtClean="0">
              <a:latin typeface="Calibri" panose="020F0502020204030204" charset="0"/>
              <a:cs typeface="Calibri" panose="020F0502020204030204"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9310"/>
            <a:ext cx="8977630" cy="4953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Functional requirements</a:t>
            </a:r>
            <a:endParaRPr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4819" name="Rectangle 3"/>
          <p:cNvSpPr>
            <a:spLocks noGrp="1" noChangeArrowheads="1"/>
          </p:cNvSpPr>
          <p:nvPr/>
        </p:nvSpPr>
        <p:spPr>
          <a:xfrm>
            <a:off x="112395" y="1439545"/>
            <a:ext cx="8930005" cy="523303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a:solidFill>
                  <a:schemeClr val="accent2">
                    <a:lumMod val="75000"/>
                  </a:schemeClr>
                </a:solidFill>
                <a:latin typeface="Calibri" panose="020F0502020204030204" charset="0"/>
                <a:cs typeface="Calibri" panose="020F0502020204030204" charset="0"/>
              </a:rPr>
              <a:t> Describe what the system should do.  </a:t>
            </a:r>
            <a:r>
              <a:rPr lang="zh-CN" altLang="en-US"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描述</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做什么</a:t>
            </a:r>
            <a:endParaRPr lang="en-US" sz="3200" dirty="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a:solidFill>
                  <a:schemeClr val="accent2">
                    <a:lumMod val="75000"/>
                  </a:schemeClr>
                </a:solidFill>
                <a:latin typeface="Calibri" panose="020F0502020204030204" charset="0"/>
                <a:cs typeface="Calibri" panose="020F0502020204030204" charset="0"/>
              </a:rPr>
              <a:t> Depend on the type of software, the expected users, and the general approach taken when writing requirements.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依赖软件类型、用户、编写方法</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sz="3200" dirty="0">
                <a:solidFill>
                  <a:schemeClr val="accent2">
                    <a:lumMod val="75000"/>
                  </a:schemeClr>
                </a:solidFill>
                <a:latin typeface="Calibri" panose="020F0502020204030204" charset="0"/>
                <a:cs typeface="Calibri" panose="020F0502020204030204" charset="0"/>
              </a:rPr>
              <a:t> When expressed as </a:t>
            </a:r>
            <a:r>
              <a:rPr lang="en-US" sz="3200" u="sng" dirty="0">
                <a:solidFill>
                  <a:schemeClr val="accent2">
                    <a:lumMod val="75000"/>
                  </a:schemeClr>
                </a:solidFill>
                <a:latin typeface="Calibri" panose="020F0502020204030204" charset="0"/>
                <a:cs typeface="Calibri" panose="020F0502020204030204" charset="0"/>
              </a:rPr>
              <a:t>user requirements</a:t>
            </a:r>
            <a:r>
              <a:rPr lang="en-US"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用户需求</a:t>
            </a:r>
            <a:endParaRPr lang="en-US" sz="3200" dirty="0">
              <a:solidFill>
                <a:schemeClr val="accent2">
                  <a:lumMod val="75000"/>
                </a:schemeClr>
              </a:solidFill>
              <a:latin typeface="Calibri" panose="020F0502020204030204" charset="0"/>
              <a:cs typeface="Calibri" panose="020F0502020204030204" charset="0"/>
            </a:endParaRPr>
          </a:p>
          <a:p>
            <a:pPr lvl="1" algn="l">
              <a:lnSpc>
                <a:spcPct val="85000"/>
              </a:lnSpc>
              <a:spcBef>
                <a:spcPts val="600"/>
              </a:spcBef>
              <a:spcAft>
                <a:spcPts val="0"/>
              </a:spcAft>
            </a:pPr>
            <a:r>
              <a:rPr lang="en-US" altLang="en-GB" sz="2700" b="0" dirty="0" smtClean="0">
                <a:latin typeface="Calibri" panose="020F0502020204030204" charset="0"/>
                <a:cs typeface="Calibri" panose="020F0502020204030204" charset="0"/>
                <a:sym typeface="+mn-ea"/>
              </a:rPr>
              <a:t>Functional requirements should be written in natural language so that users and managers understand them.</a:t>
            </a:r>
            <a:endParaRPr lang="en-US" altLang="en-GB" sz="2700" b="0" dirty="0" smtClean="0">
              <a:latin typeface="Calibri" panose="020F0502020204030204" charset="0"/>
              <a:cs typeface="Calibri" panose="020F0502020204030204" charset="0"/>
              <a:sym typeface="+mn-ea"/>
            </a:endParaRPr>
          </a:p>
          <a:p>
            <a:pPr lvl="0" algn="l">
              <a:lnSpc>
                <a:spcPct val="90000"/>
              </a:lnSpc>
              <a:spcBef>
                <a:spcPts val="800"/>
              </a:spcBef>
              <a:spcAft>
                <a:spcPts val="0"/>
              </a:spcAft>
              <a:buClrTx/>
              <a:buSzTx/>
            </a:pPr>
            <a:r>
              <a:rPr lang="en-US" sz="3200" dirty="0">
                <a:solidFill>
                  <a:schemeClr val="accent2">
                    <a:lumMod val="75000"/>
                  </a:schemeClr>
                </a:solidFill>
                <a:latin typeface="Calibri" panose="020F0502020204030204" charset="0"/>
                <a:cs typeface="Calibri" panose="020F0502020204030204" charset="0"/>
                <a:sym typeface="+mn-ea"/>
              </a:rPr>
              <a:t> Functional </a:t>
            </a:r>
            <a:r>
              <a:rPr lang="en-US" sz="3200" u="sng" dirty="0">
                <a:solidFill>
                  <a:schemeClr val="accent2">
                    <a:lumMod val="75000"/>
                  </a:schemeClr>
                </a:solidFill>
                <a:latin typeface="Calibri" panose="020F0502020204030204" charset="0"/>
                <a:cs typeface="Calibri" panose="020F0502020204030204" charset="0"/>
                <a:sym typeface="+mn-ea"/>
              </a:rPr>
              <a:t>system requirements</a:t>
            </a:r>
            <a:r>
              <a:rPr lang="en-US" sz="3200" dirty="0">
                <a:solidFill>
                  <a:schemeClr val="accent2">
                    <a:lumMod val="75000"/>
                  </a:schemeClr>
                </a:solidFill>
                <a:latin typeface="Calibri" panose="020F0502020204030204" charset="0"/>
                <a:cs typeface="Calibri" panose="020F0502020204030204" charset="0"/>
                <a:sym typeface="+mn-ea"/>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系统需求</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a:p>
            <a:pPr lvl="1" algn="l">
              <a:lnSpc>
                <a:spcPct val="85000"/>
              </a:lnSpc>
              <a:spcBef>
                <a:spcPts val="600"/>
              </a:spcBef>
              <a:spcAft>
                <a:spcPts val="0"/>
              </a:spcAft>
            </a:pPr>
            <a:r>
              <a:rPr lang="en-US" altLang="en-GB" sz="2700" b="0" dirty="0" smtClean="0">
                <a:latin typeface="Calibri" panose="020F0502020204030204" charset="0"/>
                <a:cs typeface="Calibri" panose="020F0502020204030204" charset="0"/>
              </a:rPr>
              <a:t>Expand the user requirements and are written for system developers. They should describe the system functions, their inputs and outputs, and exceptions in detail.  </a:t>
            </a:r>
            <a:endParaRPr lang="en-US" altLang="en-GB" sz="2700" b="0" dirty="0" smtClean="0">
              <a:latin typeface="Calibri" panose="020F0502020204030204" charset="0"/>
              <a:cs typeface="Calibri" panose="020F050202020403020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6130"/>
            <a:ext cx="8977630" cy="10642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Mentcare system: functional requirements</a:t>
            </a:r>
            <a:r>
              <a:rPr lang="en-US" sz="3200" dirty="0">
                <a:solidFill>
                  <a:schemeClr val="accent1">
                    <a:lumMod val="75000"/>
                  </a:schemeClr>
                </a:solidFill>
                <a:ea typeface="宋体" panose="02010600030101010101" pitchFamily="2" charset="-122"/>
                <a:sym typeface="+mn-ea"/>
              </a:rPr>
              <a:t>  </a:t>
            </a:r>
            <a:r>
              <a:rPr 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Mentcare</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系统的功能需求</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4819" name="Rectangle 3"/>
          <p:cNvSpPr>
            <a:spLocks noGrp="1" noChangeArrowheads="1"/>
          </p:cNvSpPr>
          <p:nvPr/>
        </p:nvSpPr>
        <p:spPr>
          <a:xfrm>
            <a:off x="50165" y="1726565"/>
            <a:ext cx="9016365" cy="481203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a:solidFill>
                  <a:schemeClr val="accent2">
                    <a:lumMod val="75000"/>
                  </a:schemeClr>
                </a:solidFill>
                <a:latin typeface="Calibri" panose="020F0502020204030204" charset="0"/>
                <a:cs typeface="Calibri" panose="020F0502020204030204" charset="0"/>
              </a:rPr>
              <a:t> 1. </a:t>
            </a:r>
            <a:r>
              <a:rPr sz="2800" b="0" dirty="0">
                <a:solidFill>
                  <a:schemeClr val="tx1"/>
                </a:solidFill>
                <a:latin typeface="Calibri" panose="020F0502020204030204" charset="0"/>
                <a:cs typeface="Calibri" panose="020F0502020204030204" charset="0"/>
              </a:rPr>
              <a:t>A user shall be able to search the appointments lists for all clinics.</a:t>
            </a:r>
            <a:r>
              <a:rPr lang="en-US" sz="2800" b="0" dirty="0">
                <a:solidFill>
                  <a:schemeClr val="tx1"/>
                </a:solidFill>
                <a:latin typeface="Calibri" panose="020F0502020204030204" charset="0"/>
                <a:cs typeface="Calibri" panose="020F0502020204030204" charset="0"/>
              </a:rPr>
              <a:t>   </a:t>
            </a:r>
            <a:endParaRPr sz="2800" b="0" dirty="0">
              <a:solidFill>
                <a:schemeClr val="tx1"/>
              </a:solidFill>
              <a:latin typeface="Calibri" panose="020F0502020204030204" charset="0"/>
              <a:cs typeface="Calibri" panose="020F0502020204030204" charset="0"/>
            </a:endParaRPr>
          </a:p>
          <a:p>
            <a:pPr>
              <a:lnSpc>
                <a:spcPct val="90000"/>
              </a:lnSpc>
              <a:spcBef>
                <a:spcPts val="800"/>
              </a:spcBef>
              <a:spcAft>
                <a:spcPts val="0"/>
              </a:spcAft>
            </a:pPr>
            <a:r>
              <a:rPr lang="en-US" sz="3200" dirty="0">
                <a:solidFill>
                  <a:schemeClr val="accent2">
                    <a:lumMod val="75000"/>
                  </a:schemeClr>
                </a:solidFill>
                <a:latin typeface="Calibri" panose="020F0502020204030204" charset="0"/>
                <a:cs typeface="Calibri" panose="020F0502020204030204" charset="0"/>
              </a:rPr>
              <a:t> 2. </a:t>
            </a:r>
            <a:r>
              <a:rPr sz="2800" b="0" dirty="0">
                <a:solidFill>
                  <a:schemeClr val="tx1"/>
                </a:solidFill>
                <a:latin typeface="Calibri" panose="020F0502020204030204" charset="0"/>
                <a:cs typeface="Calibri" panose="020F0502020204030204" charset="0"/>
              </a:rPr>
              <a:t>The system shall generate each day, for each clinic, a list of patients who are</a:t>
            </a:r>
            <a:r>
              <a:rPr lang="en-US" sz="2800" b="0" dirty="0">
                <a:solidFill>
                  <a:schemeClr val="tx1"/>
                </a:solidFill>
                <a:latin typeface="Calibri" panose="020F0502020204030204" charset="0"/>
                <a:cs typeface="Calibri" panose="020F0502020204030204" charset="0"/>
              </a:rPr>
              <a:t> </a:t>
            </a:r>
            <a:r>
              <a:rPr sz="2800" b="0" dirty="0">
                <a:solidFill>
                  <a:schemeClr val="tx1"/>
                </a:solidFill>
                <a:latin typeface="Calibri" panose="020F0502020204030204" charset="0"/>
                <a:cs typeface="Calibri" panose="020F0502020204030204" charset="0"/>
              </a:rPr>
              <a:t>expected to attend appointments that day.</a:t>
            </a:r>
            <a:endParaRPr sz="2800" b="0" dirty="0">
              <a:solidFill>
                <a:schemeClr val="tx1"/>
              </a:solidFill>
              <a:latin typeface="Calibri" panose="020F0502020204030204" charset="0"/>
              <a:cs typeface="Calibri" panose="020F0502020204030204" charset="0"/>
            </a:endParaRPr>
          </a:p>
          <a:p>
            <a:pPr>
              <a:lnSpc>
                <a:spcPct val="90000"/>
              </a:lnSpc>
              <a:spcBef>
                <a:spcPts val="800"/>
              </a:spcBef>
              <a:spcAft>
                <a:spcPts val="0"/>
              </a:spcAft>
            </a:pPr>
            <a:r>
              <a:rPr lang="en-US" sz="3200" dirty="0">
                <a:solidFill>
                  <a:schemeClr val="accent2">
                    <a:lumMod val="75000"/>
                  </a:schemeClr>
                </a:solidFill>
                <a:latin typeface="Calibri" panose="020F0502020204030204" charset="0"/>
                <a:cs typeface="Calibri" panose="020F0502020204030204" charset="0"/>
              </a:rPr>
              <a:t> 3. </a:t>
            </a:r>
            <a:r>
              <a:rPr sz="2800" b="0" dirty="0">
                <a:solidFill>
                  <a:schemeClr val="tx1"/>
                </a:solidFill>
                <a:latin typeface="Calibri" panose="020F0502020204030204" charset="0"/>
                <a:cs typeface="Calibri" panose="020F0502020204030204" charset="0"/>
              </a:rPr>
              <a:t>Each staff member using the system shall be uniquely identified by his or her</a:t>
            </a:r>
            <a:r>
              <a:rPr lang="en-US" sz="2800" b="0" dirty="0">
                <a:solidFill>
                  <a:schemeClr val="tx1"/>
                </a:solidFill>
                <a:latin typeface="Calibri" panose="020F0502020204030204" charset="0"/>
                <a:cs typeface="Calibri" panose="020F0502020204030204" charset="0"/>
              </a:rPr>
              <a:t> 8</a:t>
            </a:r>
            <a:r>
              <a:rPr sz="2800" b="0" dirty="0">
                <a:solidFill>
                  <a:schemeClr val="tx1"/>
                </a:solidFill>
                <a:latin typeface="Calibri" panose="020F0502020204030204" charset="0"/>
                <a:cs typeface="Calibri" panose="020F0502020204030204" charset="0"/>
              </a:rPr>
              <a:t>-digit employee number.</a:t>
            </a:r>
            <a:endParaRPr sz="2800" b="0" dirty="0">
              <a:solidFill>
                <a:schemeClr val="tx1"/>
              </a:solidFill>
              <a:latin typeface="Calibri" panose="020F0502020204030204" charset="0"/>
              <a:cs typeface="Calibri" panose="020F0502020204030204" charset="0"/>
            </a:endParaRPr>
          </a:p>
          <a:p>
            <a:pPr>
              <a:lnSpc>
                <a:spcPct val="90000"/>
              </a:lnSpc>
              <a:spcBef>
                <a:spcPts val="800"/>
              </a:spcBef>
              <a:spcAft>
                <a:spcPts val="0"/>
              </a:spcAft>
            </a:pPr>
            <a:r>
              <a:rPr lang="en-US" sz="3200" dirty="0">
                <a:solidFill>
                  <a:schemeClr val="accent2">
                    <a:lumMod val="75000"/>
                  </a:schemeClr>
                </a:solidFill>
                <a:latin typeface="Calibri" panose="020F0502020204030204" charset="0"/>
                <a:cs typeface="Calibri" panose="020F0502020204030204" charset="0"/>
              </a:rPr>
              <a:t> </a:t>
            </a:r>
            <a:r>
              <a:rPr sz="3200" dirty="0">
                <a:solidFill>
                  <a:schemeClr val="accent2">
                    <a:lumMod val="75000"/>
                  </a:schemeClr>
                </a:solidFill>
                <a:latin typeface="Calibri" panose="020F0502020204030204" charset="0"/>
                <a:cs typeface="Calibri" panose="020F0502020204030204" charset="0"/>
              </a:rPr>
              <a:t>The requirements show that functional requirements may be written at different levels of detail (contrast requirements 1 and 3).</a:t>
            </a:r>
            <a:r>
              <a:rPr lang="en-US" sz="3200" dirty="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功能需求可用不同细节级别来编写</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7555"/>
            <a:ext cx="8823325" cy="4953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Requirements imprecision</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需求不精确性</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41987" name="Rectangle 3"/>
          <p:cNvSpPr>
            <a:spLocks noGrp="1" noChangeArrowheads="1"/>
          </p:cNvSpPr>
          <p:nvPr/>
        </p:nvSpPr>
        <p:spPr>
          <a:xfrm>
            <a:off x="109220" y="1313180"/>
            <a:ext cx="8909050" cy="52419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Imprecision in the requirements specification can lead to disputes. </a:t>
            </a:r>
            <a:r>
              <a:rPr lang="en-US" altLang="en-GB"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需求规格说明的不精确导致争议</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altLang="en-GB" sz="3200" dirty="0">
                <a:solidFill>
                  <a:schemeClr val="accent2">
                    <a:lumMod val="75000"/>
                  </a:schemeClr>
                </a:solidFill>
                <a:latin typeface="Calibri" panose="020F0502020204030204" charset="0"/>
                <a:cs typeface="Calibri" panose="020F0502020204030204" charset="0"/>
                <a:sym typeface="+mn-ea"/>
              </a:rPr>
              <a:t> </a:t>
            </a:r>
            <a:r>
              <a:rPr lang="en-GB" sz="3200" dirty="0">
                <a:solidFill>
                  <a:schemeClr val="accent2">
                    <a:lumMod val="75000"/>
                  </a:schemeClr>
                </a:solidFill>
                <a:latin typeface="Calibri" panose="020F0502020204030204" charset="0"/>
                <a:cs typeface="Calibri" panose="020F0502020204030204" charset="0"/>
                <a:sym typeface="+mn-ea"/>
              </a:rPr>
              <a:t>Ambiguous requirements may be interpreted in different ways by developers and users.</a:t>
            </a:r>
            <a:r>
              <a:rPr lang="en-US" altLang="en-GB" sz="3200" dirty="0">
                <a:solidFill>
                  <a:schemeClr val="accent2">
                    <a:lumMod val="75000"/>
                  </a:schemeClr>
                </a:solidFill>
                <a:latin typeface="Calibri" panose="020F0502020204030204" charset="0"/>
                <a:cs typeface="Calibri" panose="020F0502020204030204" charset="0"/>
                <a:sym typeface="+mn-ea"/>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不同解读</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a:p>
            <a:pPr>
              <a:lnSpc>
                <a:spcPct val="90000"/>
              </a:lnSpc>
              <a:spcBef>
                <a:spcPts val="800"/>
              </a:spcBef>
              <a:spcAft>
                <a:spcPts val="0"/>
              </a:spcAft>
            </a:pPr>
            <a:r>
              <a:rPr lang="en-US" altLang="en-GB" sz="3200" dirty="0">
                <a:solidFill>
                  <a:schemeClr val="accent2">
                    <a:lumMod val="75000"/>
                  </a:schemeClr>
                </a:solidFill>
                <a:latin typeface="Calibri" panose="020F0502020204030204" charset="0"/>
                <a:cs typeface="Calibri" panose="020F0502020204030204" charset="0"/>
                <a:sym typeface="+mn-ea"/>
              </a:rPr>
              <a:t> </a:t>
            </a:r>
            <a:r>
              <a:rPr lang="en-GB" sz="3200" dirty="0">
                <a:solidFill>
                  <a:schemeClr val="accent2">
                    <a:lumMod val="75000"/>
                  </a:schemeClr>
                </a:solidFill>
                <a:latin typeface="Calibri" panose="020F0502020204030204" charset="0"/>
                <a:cs typeface="Calibri" panose="020F0502020204030204" charset="0"/>
              </a:rPr>
              <a:t>New</a:t>
            </a: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requirements have to be established and changes</a:t>
            </a: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made to the system.</a:t>
            </a:r>
            <a:r>
              <a:rPr lang="en-US" altLang="en-GB"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导致确立新需求</a:t>
            </a:r>
            <a:endParaRPr lang="en-GB" sz="3200" dirty="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Consider the term </a:t>
            </a:r>
            <a:r>
              <a:rPr lang="en-US" altLang="en-GB" sz="3200" dirty="0">
                <a:solidFill>
                  <a:schemeClr val="accent2">
                    <a:lumMod val="75000"/>
                  </a:schemeClr>
                </a:solidFill>
                <a:latin typeface="Calibri" panose="020F0502020204030204" charset="0"/>
                <a:cs typeface="Calibri" panose="020F0502020204030204" charset="0"/>
              </a:rPr>
              <a:t>“</a:t>
            </a:r>
            <a:r>
              <a:rPr lang="en-GB" sz="3200" dirty="0" smtClean="0">
                <a:solidFill>
                  <a:schemeClr val="accent2">
                    <a:lumMod val="75000"/>
                  </a:schemeClr>
                </a:solidFill>
                <a:latin typeface="Calibri" panose="020F0502020204030204" charset="0"/>
                <a:cs typeface="Calibri" panose="020F0502020204030204" charset="0"/>
              </a:rPr>
              <a:t>search</a:t>
            </a:r>
            <a:r>
              <a:rPr lang="en-US" altLang="en-GB" sz="3200" dirty="0" smtClean="0">
                <a:solidFill>
                  <a:schemeClr val="accent2">
                    <a:lumMod val="75000"/>
                  </a:schemeClr>
                </a:solidFill>
                <a:latin typeface="Calibri" panose="020F0502020204030204" charset="0"/>
                <a:cs typeface="Calibri" panose="020F0502020204030204" charset="0"/>
              </a:rPr>
              <a:t>”</a:t>
            </a:r>
            <a:r>
              <a:rPr lang="en-GB" sz="3200" dirty="0" smtClean="0">
                <a:solidFill>
                  <a:schemeClr val="accent2">
                    <a:lumMod val="75000"/>
                  </a:schemeClr>
                </a:solidFill>
                <a:latin typeface="Calibri" panose="020F0502020204030204" charset="0"/>
                <a:cs typeface="Calibri" panose="020F0502020204030204" charset="0"/>
              </a:rPr>
              <a:t> in requirement 1</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示例</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1">
              <a:lnSpc>
                <a:spcPct val="90000"/>
              </a:lnSpc>
              <a:spcBef>
                <a:spcPts val="800"/>
              </a:spcBef>
              <a:spcAft>
                <a:spcPts val="0"/>
              </a:spcAft>
            </a:pPr>
            <a:r>
              <a:rPr lang="en-GB" sz="2800" b="0" dirty="0">
                <a:latin typeface="Calibri" panose="020F0502020204030204" charset="0"/>
                <a:cs typeface="Calibri" panose="020F0502020204030204" charset="0"/>
              </a:rPr>
              <a:t>User intention</a:t>
            </a:r>
            <a:r>
              <a:rPr lang="en-GB" sz="2800" b="0" dirty="0" smtClean="0">
                <a:latin typeface="Calibri" panose="020F0502020204030204" charset="0"/>
                <a:cs typeface="Calibri" panose="020F0502020204030204" charset="0"/>
              </a:rPr>
              <a:t> – search for a patient name across all appointments in all clinics;</a:t>
            </a:r>
            <a:r>
              <a:rPr lang="en-US" altLang="en-GB" sz="2800" b="0" dirty="0" smtClean="0">
                <a:latin typeface="Calibri" panose="020F0502020204030204" charset="0"/>
                <a:cs typeface="Calibri" panose="020F0502020204030204" charset="0"/>
              </a:rPr>
              <a:t> </a:t>
            </a:r>
            <a:endParaRPr lang="en-GB" sz="2800" b="0" dirty="0">
              <a:latin typeface="Calibri" panose="020F0502020204030204" charset="0"/>
              <a:cs typeface="Calibri" panose="020F0502020204030204" charset="0"/>
            </a:endParaRPr>
          </a:p>
          <a:p>
            <a:pPr lvl="1">
              <a:lnSpc>
                <a:spcPct val="90000"/>
              </a:lnSpc>
              <a:spcBef>
                <a:spcPts val="800"/>
              </a:spcBef>
              <a:spcAft>
                <a:spcPts val="0"/>
              </a:spcAft>
            </a:pPr>
            <a:r>
              <a:rPr lang="en-GB" sz="2800" b="0" dirty="0">
                <a:latin typeface="Calibri" panose="020F0502020204030204" charset="0"/>
                <a:cs typeface="Calibri" panose="020F0502020204030204" charset="0"/>
              </a:rPr>
              <a:t>Developer interpretation</a:t>
            </a:r>
            <a:r>
              <a:rPr lang="en-GB" sz="2800" b="0" dirty="0" smtClean="0">
                <a:latin typeface="Calibri" panose="020F0502020204030204" charset="0"/>
                <a:cs typeface="Calibri" panose="020F0502020204030204" charset="0"/>
              </a:rPr>
              <a:t> – search for a patient name in an individual clinic. User chooses clinic then search.</a:t>
            </a:r>
            <a:endParaRPr lang="en-GB" sz="2800" b="0" dirty="0">
              <a:latin typeface="Calibri" panose="020F0502020204030204" charset="0"/>
              <a:cs typeface="Calibri" panose="020F0502020204030204"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7555"/>
            <a:ext cx="8823325" cy="4953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000" dirty="0">
                <a:solidFill>
                  <a:schemeClr val="accent1">
                    <a:lumMod val="75000"/>
                  </a:schemeClr>
                </a:solidFill>
                <a:ea typeface="宋体" panose="02010600030101010101" pitchFamily="2" charset="-122"/>
                <a:sym typeface="+mn-ea"/>
              </a:rPr>
              <a:t> </a:t>
            </a:r>
            <a:r>
              <a:rPr sz="3000" dirty="0">
                <a:solidFill>
                  <a:schemeClr val="accent1">
                    <a:lumMod val="75000"/>
                  </a:schemeClr>
                </a:solidFill>
                <a:ea typeface="宋体" panose="02010600030101010101" pitchFamily="2" charset="-122"/>
                <a:sym typeface="+mn-ea"/>
              </a:rPr>
              <a:t>Requirements completeness and consistency</a:t>
            </a:r>
            <a:endParaRPr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43011" name="Rectangle 3"/>
          <p:cNvSpPr>
            <a:spLocks noGrp="1" noChangeArrowheads="1"/>
          </p:cNvSpPr>
          <p:nvPr/>
        </p:nvSpPr>
        <p:spPr>
          <a:xfrm>
            <a:off x="78740" y="1313180"/>
            <a:ext cx="9028430" cy="520509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800"/>
              </a:spcBef>
              <a:spcAft>
                <a:spcPts val="0"/>
              </a:spcAft>
            </a:pPr>
            <a:r>
              <a:rPr lang="en-US" altLang="en-GB" sz="3000" dirty="0">
                <a:solidFill>
                  <a:schemeClr val="accent2">
                    <a:lumMod val="75000"/>
                  </a:schemeClr>
                </a:solidFill>
                <a:latin typeface="Calibri" panose="020F0502020204030204" charset="0"/>
                <a:cs typeface="Calibri" panose="020F0502020204030204" charset="0"/>
              </a:rPr>
              <a:t> Ideally, functional requirements specification should be both </a:t>
            </a:r>
            <a:r>
              <a:rPr lang="en-GB" sz="3000" dirty="0">
                <a:solidFill>
                  <a:schemeClr val="accent2">
                    <a:lumMod val="75000"/>
                  </a:schemeClr>
                </a:solidFill>
                <a:latin typeface="Calibri" panose="020F0502020204030204" charset="0"/>
                <a:cs typeface="Calibri" panose="020F0502020204030204" charset="0"/>
              </a:rPr>
              <a:t>complete and consistent. </a:t>
            </a:r>
            <a:r>
              <a:rPr lang="en-US" altLang="en-GB" sz="30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理想：完备和一致</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800"/>
              </a:spcBef>
              <a:spcAft>
                <a:spcPts val="0"/>
              </a:spcAft>
            </a:pPr>
            <a:r>
              <a:rPr lang="en-US" altLang="en-GB" sz="3100" dirty="0">
                <a:solidFill>
                  <a:schemeClr val="accent2">
                    <a:lumMod val="75000"/>
                  </a:schemeClr>
                </a:solidFill>
                <a:latin typeface="Calibri" panose="020F0502020204030204" charset="0"/>
                <a:cs typeface="Calibri" panose="020F0502020204030204" charset="0"/>
              </a:rPr>
              <a:t> </a:t>
            </a:r>
            <a:r>
              <a:rPr lang="en-GB" sz="3100" dirty="0">
                <a:solidFill>
                  <a:schemeClr val="accent2">
                    <a:lumMod val="75000"/>
                  </a:schemeClr>
                </a:solidFill>
                <a:latin typeface="Calibri" panose="020F0502020204030204" charset="0"/>
                <a:cs typeface="Calibri" panose="020F0502020204030204" charset="0"/>
              </a:rPr>
              <a:t>Complete</a:t>
            </a:r>
            <a:r>
              <a:rPr lang="en-US" altLang="en-GB" sz="3100" dirty="0">
                <a:solidFill>
                  <a:schemeClr val="accent2">
                    <a:lumMod val="75000"/>
                  </a:schemeClr>
                </a:solidFill>
                <a:latin typeface="Calibri" panose="020F0502020204030204" charset="0"/>
                <a:cs typeface="Calibri" panose="020F0502020204030204" charset="0"/>
              </a:rPr>
              <a:t>: </a:t>
            </a:r>
            <a:r>
              <a:rPr lang="en-US" altLang="en-GB" sz="2800" b="0" dirty="0">
                <a:latin typeface="Calibri" panose="020F0502020204030204" charset="0"/>
                <a:cs typeface="Calibri" panose="020F0502020204030204" charset="0"/>
              </a:rPr>
              <a:t>A</a:t>
            </a:r>
            <a:r>
              <a:rPr lang="en-GB" sz="2800" b="0" dirty="0">
                <a:latin typeface="Calibri" panose="020F0502020204030204" charset="0"/>
                <a:cs typeface="Calibri" panose="020F0502020204030204" charset="0"/>
              </a:rPr>
              <a:t>ll services and information</a:t>
            </a:r>
            <a:r>
              <a:rPr lang="en-US" altLang="en-GB" sz="2800" b="0" dirty="0">
                <a:latin typeface="Calibri" panose="020F0502020204030204" charset="0"/>
                <a:cs typeface="Calibri" panose="020F0502020204030204" charset="0"/>
              </a:rPr>
              <a:t> </a:t>
            </a:r>
            <a:r>
              <a:rPr lang="en-GB" sz="2800" b="0" dirty="0">
                <a:latin typeface="Calibri" panose="020F0502020204030204" charset="0"/>
                <a:cs typeface="Calibri" panose="020F0502020204030204" charset="0"/>
              </a:rPr>
              <a:t>required by the user should be defined.</a:t>
            </a:r>
            <a:r>
              <a:rPr lang="en-GB" sz="2800" dirty="0">
                <a:latin typeface="Calibri" panose="020F0502020204030204" charset="0"/>
                <a:cs typeface="Calibri" panose="020F0502020204030204" charset="0"/>
              </a:rPr>
              <a:t> </a:t>
            </a:r>
            <a:r>
              <a:rPr lang="en-US" altLang="en-GB" sz="2800" dirty="0">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完备性</a:t>
            </a:r>
            <a:endParaRPr lang="en-GB" sz="2800" dirty="0">
              <a:latin typeface="Calibri" panose="020F0502020204030204" charset="0"/>
              <a:cs typeface="Calibri" panose="020F0502020204030204" charset="0"/>
            </a:endParaRPr>
          </a:p>
          <a:p>
            <a:pPr>
              <a:lnSpc>
                <a:spcPct val="85000"/>
              </a:lnSpc>
              <a:spcBef>
                <a:spcPts val="800"/>
              </a:spcBef>
              <a:spcAft>
                <a:spcPts val="0"/>
              </a:spcAft>
            </a:pPr>
            <a:r>
              <a:rPr lang="en-US" altLang="en-GB" sz="3100" dirty="0">
                <a:solidFill>
                  <a:schemeClr val="accent2">
                    <a:lumMod val="75000"/>
                  </a:schemeClr>
                </a:solidFill>
                <a:latin typeface="Calibri" panose="020F0502020204030204" charset="0"/>
                <a:cs typeface="Calibri" panose="020F0502020204030204" charset="0"/>
              </a:rPr>
              <a:t> </a:t>
            </a:r>
            <a:r>
              <a:rPr lang="en-GB" sz="3100" dirty="0">
                <a:solidFill>
                  <a:schemeClr val="accent2">
                    <a:lumMod val="75000"/>
                  </a:schemeClr>
                </a:solidFill>
                <a:latin typeface="Calibri" panose="020F0502020204030204" charset="0"/>
                <a:cs typeface="Calibri" panose="020F0502020204030204" charset="0"/>
              </a:rPr>
              <a:t>Consisten</a:t>
            </a:r>
            <a:r>
              <a:rPr lang="en-US" altLang="en-GB" sz="3100" dirty="0">
                <a:solidFill>
                  <a:schemeClr val="accent2">
                    <a:lumMod val="75000"/>
                  </a:schemeClr>
                </a:solidFill>
                <a:latin typeface="Calibri" panose="020F0502020204030204" charset="0"/>
                <a:cs typeface="Calibri" panose="020F0502020204030204" charset="0"/>
              </a:rPr>
              <a:t>t:</a:t>
            </a:r>
            <a:r>
              <a:rPr lang="en-US" altLang="en-GB" sz="3100" b="0" dirty="0">
                <a:solidFill>
                  <a:schemeClr val="accent2">
                    <a:lumMod val="75000"/>
                  </a:schemeClr>
                </a:solidFill>
                <a:latin typeface="Calibri" panose="020F0502020204030204" charset="0"/>
                <a:cs typeface="Calibri" panose="020F0502020204030204" charset="0"/>
              </a:rPr>
              <a:t> </a:t>
            </a:r>
            <a:r>
              <a:rPr lang="en-US" altLang="en-GB" sz="2800" b="0" dirty="0">
                <a:latin typeface="Calibri" panose="020F0502020204030204" charset="0"/>
                <a:cs typeface="Calibri" panose="020F0502020204030204" charset="0"/>
              </a:rPr>
              <a:t>R</a:t>
            </a:r>
            <a:r>
              <a:rPr lang="en-GB" sz="2800" b="0" dirty="0">
                <a:latin typeface="Calibri" panose="020F0502020204030204" charset="0"/>
                <a:cs typeface="Calibri" panose="020F0502020204030204" charset="0"/>
              </a:rPr>
              <a:t>equirements should not be contradictory.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一致性</a:t>
            </a:r>
            <a:endParaRPr lang="en-GB" sz="3100" dirty="0">
              <a:latin typeface="Calibri" panose="020F0502020204030204" charset="0"/>
              <a:cs typeface="Calibri" panose="020F0502020204030204" charset="0"/>
            </a:endParaRPr>
          </a:p>
          <a:p>
            <a:pPr>
              <a:lnSpc>
                <a:spcPct val="85000"/>
              </a:lnSpc>
              <a:spcBef>
                <a:spcPts val="800"/>
              </a:spcBef>
              <a:spcAft>
                <a:spcPts val="0"/>
              </a:spcAft>
            </a:pPr>
            <a:r>
              <a:rPr lang="en-US" altLang="en-GB" sz="3100" dirty="0">
                <a:solidFill>
                  <a:schemeClr val="accent2">
                    <a:lumMod val="75000"/>
                  </a:schemeClr>
                </a:solidFill>
                <a:latin typeface="Calibri" panose="020F0502020204030204" charset="0"/>
                <a:cs typeface="Calibri" panose="020F0502020204030204" charset="0"/>
              </a:rPr>
              <a:t> </a:t>
            </a:r>
            <a:r>
              <a:rPr lang="en-GB" sz="3100" dirty="0">
                <a:solidFill>
                  <a:schemeClr val="accent2">
                    <a:lumMod val="75000"/>
                  </a:schemeClr>
                </a:solidFill>
                <a:latin typeface="Calibri" panose="020F0502020204030204" charset="0"/>
                <a:cs typeface="Calibri" panose="020F0502020204030204" charset="0"/>
              </a:rPr>
              <a:t>In practice</a:t>
            </a:r>
            <a:r>
              <a:rPr lang="en-US" altLang="en-GB" sz="3100" dirty="0">
                <a:solidFill>
                  <a:schemeClr val="accent2">
                    <a:lumMod val="75000"/>
                  </a:schemeClr>
                </a:solidFill>
                <a:latin typeface="Calibri" panose="020F0502020204030204" charset="0"/>
                <a:cs typeface="Calibri" panose="020F0502020204030204" charset="0"/>
              </a:rPr>
              <a:t>: </a:t>
            </a:r>
            <a:r>
              <a:rPr lang="en-GB" sz="2800" b="0" dirty="0">
                <a:latin typeface="Calibri" panose="020F0502020204030204" charset="0"/>
                <a:cs typeface="Calibri" panose="020F0502020204030204" charset="0"/>
              </a:rPr>
              <a:t>it is only possible to achieve requirements consistency and completeness for very small software systems. One reason is that it is easy to make mistakes</a:t>
            </a:r>
            <a:r>
              <a:rPr lang="en-US" altLang="en-GB" sz="2800" b="0" dirty="0">
                <a:latin typeface="Calibri" panose="020F0502020204030204" charset="0"/>
                <a:cs typeface="Calibri" panose="020F0502020204030204" charset="0"/>
              </a:rPr>
              <a:t> </a:t>
            </a:r>
            <a:r>
              <a:rPr lang="en-GB" sz="2800" b="0" dirty="0">
                <a:latin typeface="Calibri" panose="020F0502020204030204" charset="0"/>
                <a:cs typeface="Calibri" panose="020F0502020204030204" charset="0"/>
              </a:rPr>
              <a:t>and omissions when writing specifications for large, complex systems. Another reason is that large systems have many stakeholders, with different backgrounds and</a:t>
            </a:r>
            <a:r>
              <a:rPr lang="en-US" altLang="en-GB" sz="2800" b="0" dirty="0">
                <a:latin typeface="Calibri" panose="020F0502020204030204" charset="0"/>
                <a:cs typeface="Calibri" panose="020F0502020204030204" charset="0"/>
              </a:rPr>
              <a:t> </a:t>
            </a:r>
            <a:r>
              <a:rPr lang="en-GB" sz="2800" b="0" dirty="0">
                <a:latin typeface="Calibri" panose="020F0502020204030204" charset="0"/>
                <a:cs typeface="Calibri" panose="020F0502020204030204" charset="0"/>
              </a:rPr>
              <a:t>expectations.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实际情况</a:t>
            </a:r>
            <a:r>
              <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只能对很小软件系统达到需求一致性和完备性</a:t>
            </a:r>
            <a:endParaRPr lang="zh-CN" altLang="en-US" sz="2400" b="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7555"/>
            <a:ext cx="8996680" cy="4953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Non-functional requirements</a:t>
            </a:r>
            <a:r>
              <a:rPr lang="en-US" sz="3200" dirty="0">
                <a:solidFill>
                  <a:schemeClr val="accent1">
                    <a:lumMod val="75000"/>
                  </a:schemeClr>
                </a:solidFill>
                <a:ea typeface="宋体" panose="02010600030101010101" pitchFamily="2" charset="-122"/>
                <a:sym typeface="+mn-ea"/>
              </a:rPr>
              <a:t>(NFR)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非功能需求</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43011" name="Rectangle 3"/>
          <p:cNvSpPr>
            <a:spLocks noGrp="1" noChangeArrowheads="1"/>
          </p:cNvSpPr>
          <p:nvPr/>
        </p:nvSpPr>
        <p:spPr>
          <a:xfrm>
            <a:off x="88900" y="1313180"/>
            <a:ext cx="8996680" cy="54451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a:solidFill>
                  <a:schemeClr val="accent2">
                    <a:lumMod val="75000"/>
                  </a:schemeClr>
                </a:solidFill>
                <a:latin typeface="Calibri" panose="020F0502020204030204" charset="0"/>
                <a:cs typeface="Calibri" panose="020F0502020204030204" charset="0"/>
              </a:rPr>
              <a:t> </a:t>
            </a:r>
            <a:r>
              <a:rPr sz="3200" dirty="0">
                <a:solidFill>
                  <a:schemeClr val="accent2">
                    <a:lumMod val="75000"/>
                  </a:schemeClr>
                </a:solidFill>
                <a:latin typeface="Calibri" panose="020F0502020204030204" charset="0"/>
                <a:cs typeface="Calibri" panose="020F0502020204030204" charset="0"/>
              </a:rPr>
              <a:t>These define system properties and constraints e.g. reliability, response time and storage </a:t>
            </a:r>
            <a:r>
              <a:rPr lang="en-US" sz="3200" dirty="0">
                <a:solidFill>
                  <a:schemeClr val="accent2">
                    <a:lumMod val="75000"/>
                  </a:schemeClr>
                </a:solidFill>
                <a:latin typeface="Calibri" panose="020F0502020204030204" charset="0"/>
                <a:cs typeface="Calibri" panose="020F0502020204030204" charset="0"/>
              </a:rPr>
              <a:t>use</a:t>
            </a:r>
            <a:r>
              <a:rPr sz="3200" dirty="0">
                <a:solidFill>
                  <a:schemeClr val="accent2">
                    <a:lumMod val="75000"/>
                  </a:schemeClr>
                </a:solidFill>
                <a:latin typeface="Calibri" panose="020F0502020204030204" charset="0"/>
                <a:cs typeface="Calibri" panose="020F0502020204030204" charset="0"/>
              </a:rPr>
              <a:t>. Constraints are I/O device capability, system representations, etc.</a:t>
            </a:r>
            <a:r>
              <a:rPr lang="en-US"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定义系统的性质和约束</a:t>
            </a:r>
            <a:endParaRPr sz="3200" dirty="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a:solidFill>
                  <a:schemeClr val="accent2">
                    <a:lumMod val="75000"/>
                  </a:schemeClr>
                </a:solidFill>
                <a:latin typeface="Calibri" panose="020F0502020204030204" charset="0"/>
                <a:cs typeface="Calibri" panose="020F0502020204030204" charset="0"/>
              </a:rPr>
              <a:t> </a:t>
            </a:r>
            <a:r>
              <a:rPr sz="3200" dirty="0">
                <a:solidFill>
                  <a:schemeClr val="accent2">
                    <a:lumMod val="75000"/>
                  </a:schemeClr>
                </a:solidFill>
                <a:latin typeface="Calibri" panose="020F0502020204030204" charset="0"/>
                <a:cs typeface="Calibri" panose="020F0502020204030204" charset="0"/>
              </a:rPr>
              <a:t>Non-functional requirements are often more critical than individual functional</a:t>
            </a:r>
            <a:r>
              <a:rPr lang="en-US" sz="3200" dirty="0">
                <a:solidFill>
                  <a:schemeClr val="accent2">
                    <a:lumMod val="75000"/>
                  </a:schemeClr>
                </a:solidFill>
                <a:latin typeface="Calibri" panose="020F0502020204030204" charset="0"/>
                <a:cs typeface="Calibri" panose="020F0502020204030204" charset="0"/>
              </a:rPr>
              <a:t> </a:t>
            </a:r>
            <a:r>
              <a:rPr sz="3200" dirty="0">
                <a:solidFill>
                  <a:schemeClr val="accent2">
                    <a:lumMod val="75000"/>
                  </a:schemeClr>
                </a:solidFill>
                <a:latin typeface="Calibri" panose="020F0502020204030204" charset="0"/>
                <a:cs typeface="Calibri" panose="020F0502020204030204" charset="0"/>
              </a:rPr>
              <a:t>requirements. </a:t>
            </a:r>
            <a:r>
              <a:rPr lang="en-US" sz="3200" dirty="0">
                <a:solidFill>
                  <a:schemeClr val="accent2">
                    <a:lumMod val="75000"/>
                  </a:schemeClr>
                </a:solidFill>
                <a:latin typeface="Calibri" panose="020F0502020204030204" charset="0"/>
                <a:cs typeface="Calibri" panose="020F0502020204030204" charset="0"/>
              </a:rPr>
              <a:t>F</a:t>
            </a:r>
            <a:r>
              <a:rPr sz="3200" dirty="0">
                <a:solidFill>
                  <a:schemeClr val="accent2">
                    <a:lumMod val="75000"/>
                  </a:schemeClr>
                </a:solidFill>
                <a:latin typeface="Calibri" panose="020F0502020204030204" charset="0"/>
                <a:cs typeface="Calibri" panose="020F0502020204030204" charset="0"/>
              </a:rPr>
              <a:t>ailing to meet </a:t>
            </a:r>
            <a:r>
              <a:rPr lang="en-US" sz="3200" dirty="0">
                <a:solidFill>
                  <a:schemeClr val="accent2">
                    <a:lumMod val="75000"/>
                  </a:schemeClr>
                </a:solidFill>
                <a:latin typeface="Calibri" panose="020F0502020204030204" charset="0"/>
                <a:cs typeface="Calibri" panose="020F0502020204030204" charset="0"/>
              </a:rPr>
              <a:t>them </a:t>
            </a:r>
            <a:r>
              <a:rPr sz="3200" dirty="0">
                <a:solidFill>
                  <a:schemeClr val="accent2">
                    <a:lumMod val="75000"/>
                  </a:schemeClr>
                </a:solidFill>
                <a:latin typeface="Calibri" panose="020F0502020204030204" charset="0"/>
                <a:cs typeface="Calibri" panose="020F0502020204030204" charset="0"/>
              </a:rPr>
              <a:t>can mean that the whole system is unusable. </a:t>
            </a:r>
            <a:r>
              <a:rPr lang="en-US"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往往比功能性需求更关键</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1" algn="l">
              <a:lnSpc>
                <a:spcPct val="90000"/>
              </a:lnSpc>
              <a:spcBef>
                <a:spcPts val="800"/>
              </a:spcBef>
              <a:spcAft>
                <a:spcPts val="0"/>
              </a:spcAft>
            </a:pPr>
            <a:r>
              <a:rPr lang="en-US" altLang="en-GB" sz="2700" b="0" dirty="0">
                <a:latin typeface="Calibri" panose="020F0502020204030204" charset="0"/>
                <a:cs typeface="Calibri" panose="020F0502020204030204" charset="0"/>
                <a:sym typeface="+mn-ea"/>
              </a:rPr>
              <a:t>I</a:t>
            </a:r>
            <a:r>
              <a:rPr lang="en-GB" sz="2700" b="0" dirty="0">
                <a:latin typeface="Calibri" panose="020F0502020204030204" charset="0"/>
                <a:cs typeface="Calibri" panose="020F0502020204030204" charset="0"/>
                <a:sym typeface="+mn-ea"/>
              </a:rPr>
              <a:t>f an aircraft</a:t>
            </a:r>
            <a:r>
              <a:rPr lang="en-US" altLang="en-GB" sz="2700" b="0" dirty="0">
                <a:latin typeface="Calibri" panose="020F0502020204030204" charset="0"/>
                <a:cs typeface="Calibri" panose="020F0502020204030204" charset="0"/>
                <a:sym typeface="+mn-ea"/>
              </a:rPr>
              <a:t> </a:t>
            </a:r>
            <a:r>
              <a:rPr lang="en-GB" sz="2700" b="0" dirty="0">
                <a:latin typeface="Calibri" panose="020F0502020204030204" charset="0"/>
                <a:cs typeface="Calibri" panose="020F0502020204030204" charset="0"/>
                <a:sym typeface="+mn-ea"/>
              </a:rPr>
              <a:t>system doesn</a:t>
            </a:r>
            <a:r>
              <a:rPr lang="en-US" altLang="en-GB" sz="2700" b="0" dirty="0">
                <a:latin typeface="Calibri" panose="020F0502020204030204" charset="0"/>
                <a:cs typeface="Calibri" panose="020F0502020204030204" charset="0"/>
                <a:sym typeface="+mn-ea"/>
              </a:rPr>
              <a:t>’t</a:t>
            </a:r>
            <a:r>
              <a:rPr lang="en-GB" sz="2700" b="0" dirty="0">
                <a:latin typeface="Calibri" panose="020F0502020204030204" charset="0"/>
                <a:cs typeface="Calibri" panose="020F0502020204030204" charset="0"/>
                <a:sym typeface="+mn-ea"/>
              </a:rPr>
              <a:t> meet reliability</a:t>
            </a:r>
            <a:r>
              <a:rPr lang="en-US" altLang="en-GB" sz="2700" b="0" dirty="0">
                <a:latin typeface="Calibri" panose="020F0502020204030204" charset="0"/>
                <a:cs typeface="Calibri" panose="020F0502020204030204" charset="0"/>
                <a:sym typeface="+mn-ea"/>
              </a:rPr>
              <a:t> </a:t>
            </a:r>
            <a:r>
              <a:rPr lang="en-GB" sz="2700" b="0" dirty="0">
                <a:latin typeface="Calibri" panose="020F0502020204030204" charset="0"/>
                <a:cs typeface="Calibri" panose="020F0502020204030204" charset="0"/>
                <a:sym typeface="+mn-ea"/>
              </a:rPr>
              <a:t>requirements, it will not be certified as safe for</a:t>
            </a:r>
            <a:r>
              <a:rPr lang="en-US" altLang="en-GB" sz="2700" b="0" dirty="0">
                <a:latin typeface="Calibri" panose="020F0502020204030204" charset="0"/>
                <a:cs typeface="Calibri" panose="020F0502020204030204" charset="0"/>
                <a:sym typeface="+mn-ea"/>
              </a:rPr>
              <a:t> </a:t>
            </a:r>
            <a:r>
              <a:rPr lang="en-GB" sz="2700" b="0" dirty="0">
                <a:latin typeface="Calibri" panose="020F0502020204030204" charset="0"/>
                <a:cs typeface="Calibri" panose="020F0502020204030204" charset="0"/>
                <a:sym typeface="+mn-ea"/>
              </a:rPr>
              <a:t>operation; </a:t>
            </a:r>
            <a:endParaRPr lang="en-GB" sz="2700" b="0" dirty="0">
              <a:latin typeface="Calibri" panose="020F0502020204030204" charset="0"/>
              <a:cs typeface="Calibri" panose="020F0502020204030204" charset="0"/>
              <a:sym typeface="+mn-ea"/>
            </a:endParaRPr>
          </a:p>
          <a:p>
            <a:pPr lvl="1" algn="l">
              <a:lnSpc>
                <a:spcPct val="90000"/>
              </a:lnSpc>
              <a:spcBef>
                <a:spcPts val="800"/>
              </a:spcBef>
              <a:spcAft>
                <a:spcPts val="0"/>
              </a:spcAft>
            </a:pPr>
            <a:r>
              <a:rPr lang="en-GB" sz="2700" b="0" dirty="0">
                <a:latin typeface="Calibri" panose="020F0502020204030204" charset="0"/>
                <a:cs typeface="Calibri" panose="020F0502020204030204" charset="0"/>
                <a:sym typeface="+mn-ea"/>
              </a:rPr>
              <a:t>if an embedded control system fails to meet performance requirements,</a:t>
            </a:r>
            <a:r>
              <a:rPr lang="en-US" altLang="en-GB" sz="2700" b="0" dirty="0">
                <a:latin typeface="Calibri" panose="020F0502020204030204" charset="0"/>
                <a:cs typeface="Calibri" panose="020F0502020204030204" charset="0"/>
                <a:sym typeface="+mn-ea"/>
              </a:rPr>
              <a:t> it </a:t>
            </a:r>
            <a:r>
              <a:rPr lang="en-GB" sz="2700" b="0" dirty="0">
                <a:latin typeface="Calibri" panose="020F0502020204030204" charset="0"/>
                <a:cs typeface="Calibri" panose="020F0502020204030204" charset="0"/>
                <a:sym typeface="+mn-ea"/>
              </a:rPr>
              <a:t>will not operate correctly.</a:t>
            </a:r>
            <a:endParaRPr lang="zh-CN" altLang="en-US" sz="2700" dirty="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0250"/>
            <a:ext cx="8823325" cy="5226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N</a:t>
            </a:r>
            <a:r>
              <a:rPr lang="en-US" sz="3200" dirty="0">
                <a:solidFill>
                  <a:schemeClr val="accent1">
                    <a:lumMod val="75000"/>
                  </a:schemeClr>
                </a:solidFill>
                <a:ea typeface="宋体" panose="02010600030101010101" pitchFamily="2" charset="-122"/>
                <a:sym typeface="+mn-ea"/>
              </a:rPr>
              <a:t>FR </a:t>
            </a:r>
            <a:r>
              <a:rPr sz="3200" dirty="0">
                <a:solidFill>
                  <a:schemeClr val="accent1">
                    <a:lumMod val="75000"/>
                  </a:schemeClr>
                </a:solidFill>
                <a:ea typeface="宋体" panose="02010600030101010101" pitchFamily="2" charset="-122"/>
                <a:sym typeface="+mn-ea"/>
              </a:rPr>
              <a:t>implementation</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非功能需求的实现</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90170" y="1241425"/>
            <a:ext cx="8958580" cy="537464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NFR may affect the overall architecture of a system rather than the individual components.</a:t>
            </a:r>
            <a:r>
              <a:rPr lang="en-US" sz="3100" dirty="0" smtClean="0">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非功能性需求会影响整个系统而非单个组件的体系结构</a:t>
            </a:r>
            <a:endParaRPr lang="en-US" sz="3100" dirty="0" smtClean="0">
              <a:latin typeface="Calibri" panose="020F0502020204030204" charset="0"/>
              <a:cs typeface="Calibri" panose="020F0502020204030204" charset="0"/>
            </a:endParaRPr>
          </a:p>
          <a:p>
            <a:pPr lvl="1">
              <a:lnSpc>
                <a:spcPct val="90000"/>
              </a:lnSpc>
              <a:spcBef>
                <a:spcPts val="800"/>
              </a:spcBef>
              <a:spcAft>
                <a:spcPts val="0"/>
              </a:spcAft>
            </a:pPr>
            <a:r>
              <a:rPr lang="en-US" sz="2700" b="0" dirty="0" smtClean="0">
                <a:latin typeface="Calibri" panose="020F0502020204030204" charset="0"/>
                <a:cs typeface="Calibri" panose="020F0502020204030204" charset="0"/>
              </a:rPr>
              <a:t>For example, to ensure that performance requirements are met, you may have to organize the system to minimize communications between components.</a:t>
            </a:r>
            <a:endParaRPr lang="en-GB" sz="2700" b="0" dirty="0" smtClean="0">
              <a:latin typeface="Calibri" panose="020F0502020204030204" charset="0"/>
              <a:cs typeface="Calibri" panose="020F0502020204030204" charset="0"/>
            </a:endParaRPr>
          </a:p>
          <a:p>
            <a:pPr>
              <a:lnSpc>
                <a:spcPct val="90000"/>
              </a:lnSpc>
              <a:spcBef>
                <a:spcPts val="8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 single NFR, such as a security requirement, may generate a number of related functional requirements that define new system services.</a:t>
            </a:r>
            <a:r>
              <a:rPr lang="en-US" sz="3100" dirty="0" smtClean="0">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一个非功能需求会产生一些相关的功能性需求</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1">
              <a:lnSpc>
                <a:spcPct val="90000"/>
              </a:lnSpc>
              <a:spcBef>
                <a:spcPts val="800"/>
              </a:spcBef>
              <a:spcAft>
                <a:spcPts val="0"/>
              </a:spcAft>
            </a:pPr>
            <a:r>
              <a:rPr lang="en-US" sz="2700" b="0" dirty="0" smtClean="0">
                <a:latin typeface="Calibri" panose="020F0502020204030204" charset="0"/>
                <a:cs typeface="Calibri" panose="020F0502020204030204" charset="0"/>
              </a:rPr>
              <a:t>It may also generate requirements that restrict existing requirements. For example, it may limit access to information in the system.</a:t>
            </a:r>
            <a:endParaRPr lang="en-US" sz="2700" b="0" dirty="0" smtClean="0">
              <a:latin typeface="Calibri" panose="020F0502020204030204" charset="0"/>
              <a:cs typeface="Calibri" panose="020F0502020204030204"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7555"/>
            <a:ext cx="8823325" cy="5480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Types of </a:t>
            </a:r>
            <a:r>
              <a:rPr lang="en-US" sz="3200" dirty="0">
                <a:solidFill>
                  <a:schemeClr val="accent1">
                    <a:lumMod val="75000"/>
                  </a:schemeClr>
                </a:solidFill>
                <a:ea typeface="宋体" panose="02010600030101010101" pitchFamily="2" charset="-122"/>
                <a:sym typeface="+mn-ea"/>
              </a:rPr>
              <a:t>NFR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非功能性需求的类型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71120" y="1374775"/>
            <a:ext cx="8996680" cy="5048250"/>
          </a:xfrm>
          <a:prstGeom prst="rect">
            <a:avLst/>
          </a:prstGeom>
        </p:spPr>
      </p:pic>
      <p:pic>
        <p:nvPicPr>
          <p:cNvPr id="2" name="图片 1"/>
          <p:cNvPicPr>
            <a:picLocks noChangeAspect="1"/>
          </p:cNvPicPr>
          <p:nvPr/>
        </p:nvPicPr>
        <p:blipFill>
          <a:blip r:embed="rId4"/>
          <a:stretch>
            <a:fillRect/>
          </a:stretch>
        </p:blipFill>
        <p:spPr>
          <a:xfrm>
            <a:off x="499745" y="1961515"/>
            <a:ext cx="1543050" cy="638175"/>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7555"/>
            <a:ext cx="8939530" cy="4953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000" dirty="0">
                <a:solidFill>
                  <a:schemeClr val="accent1">
                    <a:lumMod val="75000"/>
                  </a:schemeClr>
                </a:solidFill>
                <a:ea typeface="宋体" panose="02010600030101010101" pitchFamily="2" charset="-122"/>
                <a:sym typeface="+mn-ea"/>
              </a:rPr>
              <a:t> NFR </a:t>
            </a:r>
            <a:r>
              <a:rPr sz="3000" dirty="0">
                <a:solidFill>
                  <a:schemeClr val="accent1">
                    <a:lumMod val="75000"/>
                  </a:schemeClr>
                </a:solidFill>
                <a:ea typeface="宋体" panose="02010600030101010101" pitchFamily="2" charset="-122"/>
                <a:sym typeface="+mn-ea"/>
              </a:rPr>
              <a:t>classifications</a:t>
            </a:r>
            <a:r>
              <a:rPr lang="en-US" sz="30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非功能性需求分类  </a:t>
            </a:r>
            <a:endPar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8900" y="1241425"/>
            <a:ext cx="9008745" cy="53035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Product requirements: </a:t>
            </a:r>
            <a:r>
              <a:rPr lang="en-US" sz="2700" b="0" dirty="0" smtClean="0">
                <a:latin typeface="Calibri" panose="020F0502020204030204" charset="0"/>
                <a:cs typeface="Calibri" panose="020F0502020204030204" charset="0"/>
              </a:rPr>
              <a:t>S</a:t>
            </a:r>
            <a:r>
              <a:rPr lang="en-US" sz="2700" b="0" dirty="0" smtClean="0">
                <a:latin typeface="Calibri" panose="020F0502020204030204" charset="0"/>
                <a:cs typeface="Calibri" panose="020F0502020204030204" charset="0"/>
              </a:rPr>
              <a:t>pecify or constrain the runtime behavior of the software. Examples include performance requirements for how fast the system run and how much memory it requires; reliability requirements that set out the acceptable failure rate; security requirements; etc.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产品需求</a:t>
            </a:r>
            <a:endParaRPr lang="en-GB" sz="2700" b="0" dirty="0" smtClean="0">
              <a:latin typeface="Calibri" panose="020F0502020204030204" charset="0"/>
              <a:cs typeface="Calibri" panose="020F0502020204030204" charset="0"/>
            </a:endParaRPr>
          </a:p>
          <a:p>
            <a:pPr algn="l">
              <a:lnSpc>
                <a:spcPct val="85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sym typeface="+mn-ea"/>
              </a:rPr>
              <a:t> Organizational requirements: </a:t>
            </a:r>
            <a:r>
              <a:rPr lang="en-US" sz="2700" b="0" dirty="0" smtClean="0">
                <a:latin typeface="Calibri" panose="020F0502020204030204" charset="0"/>
                <a:cs typeface="Calibri" panose="020F0502020204030204" charset="0"/>
                <a:sym typeface="+mn-ea"/>
              </a:rPr>
              <a:t>Broad requirements derived from policies and procedures in the customer’s and developer’s organizations. Examples include define how system is used; specify programming language; etc.</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组织需求</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External requirements: </a:t>
            </a:r>
            <a:r>
              <a:rPr lang="en-US" sz="2700" b="0" dirty="0" smtClean="0">
                <a:latin typeface="Calibri" panose="020F0502020204030204" charset="0"/>
                <a:cs typeface="Calibri" panose="020F0502020204030204" charset="0"/>
              </a:rPr>
              <a:t>covers all requirements derived from factors external to the system and its development process. may include regulatory requirements such as a nuclear safety authority; legislative requirements that must be followed; ethical requirements; etc.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外部需求</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18820"/>
            <a:ext cx="8823325" cy="5384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000" dirty="0">
                <a:solidFill>
                  <a:schemeClr val="accent1">
                    <a:lumMod val="75000"/>
                  </a:schemeClr>
                </a:solidFill>
                <a:ea typeface="宋体" panose="02010600030101010101" pitchFamily="2" charset="-122"/>
                <a:sym typeface="+mn-ea"/>
              </a:rPr>
              <a:t> </a:t>
            </a:r>
            <a:r>
              <a:rPr sz="3000" dirty="0">
                <a:solidFill>
                  <a:schemeClr val="accent1">
                    <a:lumMod val="75000"/>
                  </a:schemeClr>
                </a:solidFill>
                <a:ea typeface="宋体" panose="02010600030101010101" pitchFamily="2" charset="-122"/>
                <a:sym typeface="+mn-ea"/>
              </a:rPr>
              <a:t>Examples of </a:t>
            </a:r>
            <a:r>
              <a:rPr lang="en-US" sz="3000" dirty="0">
                <a:solidFill>
                  <a:schemeClr val="accent1">
                    <a:lumMod val="75000"/>
                  </a:schemeClr>
                </a:solidFill>
                <a:ea typeface="宋体" panose="02010600030101010101" pitchFamily="2" charset="-122"/>
                <a:sym typeface="+mn-ea"/>
              </a:rPr>
              <a:t>NFR</a:t>
            </a:r>
            <a:r>
              <a:rPr sz="3000" dirty="0">
                <a:solidFill>
                  <a:schemeClr val="accent1">
                    <a:lumMod val="75000"/>
                  </a:schemeClr>
                </a:solidFill>
                <a:ea typeface="宋体" panose="02010600030101010101" pitchFamily="2" charset="-122"/>
                <a:sym typeface="+mn-ea"/>
              </a:rPr>
              <a:t> in the Mentcare system</a:t>
            </a:r>
            <a:r>
              <a:rPr lang="en-US"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例子</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graphicFrame>
        <p:nvGraphicFramePr>
          <p:cNvPr id="5" name="Table 3"/>
          <p:cNvGraphicFramePr>
            <a:graphicFrameLocks noGrp="1"/>
          </p:cNvGraphicFramePr>
          <p:nvPr>
            <p:custDataLst>
              <p:tags r:id="rId3"/>
            </p:custDataLst>
          </p:nvPr>
        </p:nvGraphicFramePr>
        <p:xfrm>
          <a:off x="103505" y="1320165"/>
          <a:ext cx="8966835" cy="4642485"/>
        </p:xfrm>
        <a:graphic>
          <a:graphicData uri="http://schemas.openxmlformats.org/drawingml/2006/table">
            <a:tbl>
              <a:tblPr firstRow="1" bandRow="1">
                <a:effectLst/>
                <a:tableStyleId>{5940675A-B579-460E-94D1-54222C63F5DA}</a:tableStyleId>
              </a:tblPr>
              <a:tblGrid>
                <a:gridCol w="8966835"/>
              </a:tblGrid>
              <a:tr h="4642485">
                <a:tc>
                  <a:txBody>
                    <a:bodyPr/>
                    <a:lstStyle/>
                    <a:p>
                      <a:pPr indent="0" fontAlgn="auto">
                        <a:lnSpc>
                          <a:spcPct val="90000"/>
                        </a:lnSpc>
                        <a:spcBef>
                          <a:spcPts val="600"/>
                        </a:spcBef>
                      </a:pPr>
                      <a:r>
                        <a:rPr lang="en-GB" sz="3200" b="1" kern="1200" dirty="0" smtClean="0">
                          <a:solidFill>
                            <a:sysClr val="windowText" lastClr="000000"/>
                          </a:solidFill>
                          <a:latin typeface="Calibri" panose="020F0502020204030204" charset="0"/>
                        </a:rPr>
                        <a:t>Product requirement</a:t>
                      </a:r>
                      <a:endParaRPr lang="en-GB" sz="3200" b="1" kern="1200" dirty="0" smtClean="0"/>
                    </a:p>
                    <a:p>
                      <a:pPr indent="0" fontAlgn="auto">
                        <a:lnSpc>
                          <a:spcPct val="90000"/>
                        </a:lnSpc>
                        <a:spcBef>
                          <a:spcPts val="600"/>
                        </a:spcBef>
                      </a:pPr>
                      <a:r>
                        <a:rPr lang="en-GB" sz="2700" b="0" kern="1200" dirty="0" smtClean="0">
                          <a:solidFill>
                            <a:sysClr val="windowText" lastClr="000000"/>
                          </a:solidFill>
                          <a:latin typeface="Calibri" panose="020F0502020204030204" charset="0"/>
                        </a:rPr>
                        <a:t>The Mentcare system shall be available to all clinics during normal working hours (Mon–Fri, 0830–17.30). Downtime within normal working hours shall not exceed five seconds in any one day.</a:t>
                      </a:r>
                      <a:endParaRPr lang="en-GB" sz="2700" b="0" kern="1200" dirty="0" smtClean="0"/>
                    </a:p>
                    <a:p>
                      <a:pPr indent="0" fontAlgn="auto">
                        <a:lnSpc>
                          <a:spcPct val="90000"/>
                        </a:lnSpc>
                        <a:spcBef>
                          <a:spcPts val="600"/>
                        </a:spcBef>
                      </a:pPr>
                      <a:r>
                        <a:rPr lang="en-GB" sz="3200" b="1" kern="1200" dirty="0" smtClean="0">
                          <a:solidFill>
                            <a:sysClr val="windowText" lastClr="000000"/>
                          </a:solidFill>
                          <a:latin typeface="Calibri" panose="020F0502020204030204" charset="0"/>
                        </a:rPr>
                        <a:t>Organizational requirement</a:t>
                      </a:r>
                      <a:br>
                        <a:rPr lang="en-GB" sz="3200" b="0" kern="1200" dirty="0" smtClean="0">
                          <a:solidFill>
                            <a:sysClr val="windowText" lastClr="000000"/>
                          </a:solidFill>
                          <a:latin typeface="Calibri" panose="020F0502020204030204" charset="0"/>
                        </a:rPr>
                      </a:br>
                      <a:r>
                        <a:rPr lang="en-GB" sz="2700" b="0" kern="1200" dirty="0" smtClean="0">
                          <a:solidFill>
                            <a:sysClr val="windowText" lastClr="000000"/>
                          </a:solidFill>
                          <a:latin typeface="Calibri" panose="020F0502020204030204" charset="0"/>
                        </a:rPr>
                        <a:t>Users of the Mentcare system shall authenticate themselves using their health authority identity card.</a:t>
                      </a:r>
                      <a:endParaRPr lang="en-GB" sz="2700" b="0" kern="1200" dirty="0" smtClean="0"/>
                    </a:p>
                    <a:p>
                      <a:pPr indent="0" fontAlgn="auto">
                        <a:lnSpc>
                          <a:spcPct val="90000"/>
                        </a:lnSpc>
                        <a:spcBef>
                          <a:spcPts val="600"/>
                        </a:spcBef>
                      </a:pPr>
                      <a:r>
                        <a:rPr lang="en-GB" sz="3200" b="1" kern="1200" dirty="0" smtClean="0">
                          <a:solidFill>
                            <a:sysClr val="windowText" lastClr="000000"/>
                          </a:solidFill>
                          <a:latin typeface="Calibri" panose="020F0502020204030204" charset="0"/>
                        </a:rPr>
                        <a:t>External requirement</a:t>
                      </a:r>
                      <a:br>
                        <a:rPr lang="en-GB" sz="3200" b="0" kern="1200" dirty="0" smtClean="0">
                          <a:solidFill>
                            <a:sysClr val="windowText" lastClr="000000"/>
                          </a:solidFill>
                          <a:latin typeface="Calibri" panose="020F0502020204030204" charset="0"/>
                        </a:rPr>
                      </a:br>
                      <a:r>
                        <a:rPr lang="en-GB" sz="2700" b="0" kern="1200" dirty="0" smtClean="0">
                          <a:solidFill>
                            <a:sysClr val="windowText" lastClr="000000"/>
                          </a:solidFill>
                          <a:latin typeface="Calibri" panose="020F0502020204030204" charset="0"/>
                        </a:rPr>
                        <a:t>The system shall implement patient privacy provisions as set out in HStan-03-2006-priv.</a:t>
                      </a:r>
                      <a:r>
                        <a:rPr lang="en-GB" sz="2700" b="0" kern="1200" dirty="0" smtClean="0">
                          <a:solidFill>
                            <a:sysClr val="windowText" lastClr="000000"/>
                          </a:solidFill>
                          <a:latin typeface="Calibri" panose="020F0502020204030204" charset="0"/>
                        </a:rPr>
                        <a:t> </a:t>
                      </a:r>
                      <a:endParaRPr lang="en-GB" sz="2700" b="0" kern="1200" dirty="0" smtClean="0">
                        <a:solidFill>
                          <a:sysClr val="windowText" lastClr="000000"/>
                        </a:solidFill>
                        <a:latin typeface="Calibri" panose="020F0502020204030204" charset="0"/>
                      </a:endParaRPr>
                    </a:p>
                  </a:txBody>
                  <a:tcPr>
                    <a:lnL w="12700" cmpd="sng">
                      <a:solidFill>
                        <a:srgbClr val="4F81BD"/>
                      </a:solidFill>
                    </a:lnL>
                    <a:lnR w="12700" cmpd="sng">
                      <a:solidFill>
                        <a:srgbClr val="4F81BD"/>
                      </a:solidFill>
                    </a:lnR>
                    <a:lnT w="12700" cmpd="sng">
                      <a:solidFill>
                        <a:srgbClr val="4F81BD"/>
                      </a:solidFill>
                    </a:lnT>
                    <a:lnB w="12700" cmpd="sng">
                      <a:solidFill>
                        <a:srgbClr val="4F81BD"/>
                      </a:solidFill>
                    </a:lnB>
                    <a:solidFill>
                      <a:srgbClr val="4F81BD">
                        <a:tint val="20000"/>
                      </a:srgbClr>
                    </a:solidFill>
                  </a:tcPr>
                </a:tc>
              </a:tr>
            </a:tbl>
          </a:graphicData>
        </a:graphic>
      </p:graphicFrame>
      <p:sp>
        <p:nvSpPr>
          <p:cNvPr id="3" name="Rectangle 3"/>
          <p:cNvSpPr>
            <a:spLocks noGrp="1" noRot="1"/>
          </p:cNvSpPr>
          <p:nvPr>
            <p:custDataLst>
              <p:tags r:id="rId4"/>
            </p:custDataLst>
          </p:nvPr>
        </p:nvSpPr>
        <p:spPr>
          <a:xfrm>
            <a:off x="130810" y="6026150"/>
            <a:ext cx="8935720" cy="781050"/>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500"/>
              </a:spcBef>
              <a:buSzTx/>
              <a:buFont typeface="Wingdings" panose="05000000000000000000" pitchFamily="2" charset="2"/>
              <a:buNone/>
            </a:pPr>
            <a:r>
              <a:rPr lang="en-US" altLang="zh-CN" sz="2300" b="0" dirty="0">
                <a:solidFill>
                  <a:schemeClr val="tx1"/>
                </a:solidFill>
                <a:ea typeface="宋体" panose="02010600030101010101" pitchFamily="2" charset="-122"/>
                <a:sym typeface="Symbol" panose="05050102010706020507" charset="0"/>
              </a:rPr>
              <a:t> </a:t>
            </a:r>
            <a:r>
              <a:rPr lang="en-US" altLang="zh-CN" sz="2300" b="0" dirty="0">
                <a:solidFill>
                  <a:schemeClr val="tx1"/>
                </a:solidFill>
                <a:ea typeface="宋体" panose="02010600030101010101" pitchFamily="2" charset="-122"/>
                <a:sym typeface="+mn-ea"/>
              </a:rPr>
              <a:t>It says nothing about the functionality of the Mentcare system and clearly identifies a constraint that has to be considered.</a:t>
            </a:r>
            <a:endParaRPr lang="en-US" altLang="zh-CN" sz="2300" b="0" dirty="0">
              <a:solidFill>
                <a:schemeClr val="tx1"/>
              </a:solidFill>
              <a:ea typeface="宋体" panose="02010600030101010101" pitchFamily="2" charset="-122"/>
              <a:sym typeface="+mn-ea"/>
            </a:endParaRPr>
          </a:p>
        </p:txBody>
      </p:sp>
      <p:pic>
        <p:nvPicPr>
          <p:cNvPr id="2" name="图片 1"/>
          <p:cNvPicPr>
            <a:picLocks noChangeAspect="1"/>
          </p:cNvPicPr>
          <p:nvPr/>
        </p:nvPicPr>
        <p:blipFill>
          <a:blip r:embed="rId5"/>
          <a:stretch>
            <a:fillRect/>
          </a:stretch>
        </p:blipFill>
        <p:spPr>
          <a:xfrm>
            <a:off x="55880" y="1990725"/>
            <a:ext cx="9029065" cy="2589530"/>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2310"/>
            <a:ext cx="8823325" cy="5518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000" dirty="0">
                <a:solidFill>
                  <a:schemeClr val="accent1">
                    <a:lumMod val="75000"/>
                  </a:schemeClr>
                </a:solidFill>
                <a:ea typeface="宋体" panose="02010600030101010101" pitchFamily="2" charset="-122"/>
                <a:sym typeface="+mn-ea"/>
              </a:rPr>
              <a:t> Problem</a:t>
            </a:r>
            <a:r>
              <a:rPr lang="zh-CN" altLang="en-US" sz="3000" dirty="0">
                <a:solidFill>
                  <a:schemeClr val="accent1">
                    <a:lumMod val="75000"/>
                  </a:schemeClr>
                </a:solidFill>
                <a:ea typeface="宋体" panose="02010600030101010101" pitchFamily="2" charset="-122"/>
                <a:sym typeface="+mn-ea"/>
              </a:rPr>
              <a:t>：</a:t>
            </a:r>
            <a:r>
              <a:rPr lang="en-US" dirty="0">
                <a:solidFill>
                  <a:schemeClr val="tx1"/>
                </a:solidFill>
                <a:ea typeface="宋体" panose="02010600030101010101" pitchFamily="2" charset="-122"/>
                <a:sym typeface="+mn-ea"/>
              </a:rPr>
              <a:t>Propose r</a:t>
            </a:r>
            <a:r>
              <a:rPr dirty="0">
                <a:solidFill>
                  <a:schemeClr val="tx1"/>
                </a:solidFill>
                <a:ea typeface="宋体" panose="02010600030101010101" pitchFamily="2" charset="-122"/>
                <a:sym typeface="+mn-ea"/>
              </a:rPr>
              <a:t>equirements</a:t>
            </a:r>
            <a:r>
              <a:rPr lang="en-US" dirty="0">
                <a:solidFill>
                  <a:schemeClr val="tx1"/>
                </a:solidFill>
                <a:ea typeface="宋体" panose="02010600030101010101" pitchFamily="2" charset="-122"/>
                <a:sym typeface="+mn-ea"/>
              </a:rPr>
              <a:t> as general g</a:t>
            </a:r>
            <a:r>
              <a:rPr dirty="0">
                <a:solidFill>
                  <a:schemeClr val="tx1"/>
                </a:solidFill>
                <a:ea typeface="宋体" panose="02010600030101010101" pitchFamily="2" charset="-122"/>
                <a:sym typeface="+mn-ea"/>
              </a:rPr>
              <a:t>oals</a:t>
            </a:r>
            <a:r>
              <a:rPr lang="en-US" sz="3000" dirty="0">
                <a:solidFill>
                  <a:schemeClr val="accent1">
                    <a:lumMod val="75000"/>
                  </a:schemeClr>
                </a:solidFill>
                <a:ea typeface="宋体" panose="02010600030101010101" pitchFamily="2" charset="-122"/>
                <a:sym typeface="+mn-ea"/>
              </a:rPr>
              <a:t>  </a:t>
            </a:r>
            <a:endParaRPr lang="en-US"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0165" y="1241425"/>
            <a:ext cx="9058910" cy="54991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A common problem with NFR is that stakeholders propose requirements as general goals </a:t>
            </a:r>
            <a:r>
              <a:rPr lang="en-US" altLang="zh-CN"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问题:NFR表示为目标</a:t>
            </a:r>
            <a:endParaRPr lang="en-US" altLang="zh-CN"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Goals set out good intentions but cause problems as they leave scope for interpretation and subsequent dispute. You’d write NFR quantitatively so as to be objectively tested.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表达了好的意图，但留下了解释和争议的空间</a:t>
            </a:r>
            <a:endPar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gn="l">
              <a:lnSpc>
                <a:spcPct val="85000"/>
              </a:lnSpc>
              <a:spcAft>
                <a:spcPts val="0"/>
              </a:spcAft>
            </a:pPr>
            <a:r>
              <a:rPr lang="en-US" sz="3000" dirty="0" smtClean="0">
                <a:solidFill>
                  <a:schemeClr val="accent2">
                    <a:lumMod val="75000"/>
                  </a:schemeClr>
                </a:solidFill>
                <a:latin typeface="Calibri" panose="020F0502020204030204" charset="0"/>
                <a:cs typeface="Calibri" panose="020F0502020204030204" charset="0"/>
                <a:sym typeface="+mn-ea"/>
              </a:rPr>
              <a:t> e.g. Goal</a:t>
            </a:r>
            <a:r>
              <a:rPr lang="en-US" sz="3100" dirty="0" smtClean="0">
                <a:latin typeface="Calibri" panose="020F0502020204030204" charset="0"/>
                <a:cs typeface="Calibri" panose="020F0502020204030204" charset="0"/>
                <a:sym typeface="+mn-ea"/>
              </a:rPr>
              <a:t>:</a:t>
            </a:r>
            <a:r>
              <a:rPr lang="en-US" sz="2600" dirty="0" smtClean="0">
                <a:latin typeface="Calibri" panose="020F0502020204030204" charset="0"/>
                <a:cs typeface="Calibri" panose="020F0502020204030204" charset="0"/>
                <a:sym typeface="+mn-ea"/>
              </a:rPr>
              <a:t> </a:t>
            </a:r>
            <a:r>
              <a:rPr lang="en-US" sz="2600" b="0" dirty="0" smtClean="0">
                <a:latin typeface="Calibri" panose="020F0502020204030204" charset="0"/>
                <a:cs typeface="Calibri" panose="020F0502020204030204" charset="0"/>
                <a:sym typeface="+mn-ea"/>
              </a:rPr>
              <a:t>The system should be easy to use by medical staff and should be organized in such a way that user errors are minimized.</a:t>
            </a:r>
            <a:r>
              <a:rPr lang="en-US" sz="2600" dirty="0" smtClean="0">
                <a:latin typeface="Calibri" panose="020F0502020204030204" charset="0"/>
                <a:cs typeface="Calibri" panose="020F0502020204030204" charset="0"/>
                <a:sym typeface="+mn-ea"/>
              </a:rPr>
              <a:t>  </a:t>
            </a:r>
            <a:r>
              <a:rPr lang="en-US" sz="2600" b="0" i="1" dirty="0" smtClean="0">
                <a:solidFill>
                  <a:schemeClr val="accent1">
                    <a:lumMod val="75000"/>
                  </a:schemeClr>
                </a:solidFill>
                <a:latin typeface="Calibri" panose="020F0502020204030204" charset="0"/>
                <a:cs typeface="Calibri" panose="020F0502020204030204" charset="0"/>
                <a:sym typeface="+mn-ea"/>
              </a:rPr>
              <a:t>(impossible to verify) </a:t>
            </a:r>
            <a:r>
              <a:rPr lang="en-US" sz="2600" dirty="0" smtClean="0">
                <a:latin typeface="Calibri" panose="020F0502020204030204" charset="0"/>
                <a:cs typeface="Calibri" panose="020F0502020204030204" charset="0"/>
                <a:sym typeface="+mn-ea"/>
              </a:rPr>
              <a:t>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目标</a:t>
            </a:r>
            <a:r>
              <a:rPr lang="en-US" altLang="zh-CN"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无法验证</a:t>
            </a:r>
            <a:endPar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a:p>
            <a:pPr lvl="0" algn="l">
              <a:lnSpc>
                <a:spcPct val="85000"/>
              </a:lnSpc>
              <a:spcAft>
                <a:spcPts val="0"/>
              </a:spcAft>
            </a:pPr>
            <a:r>
              <a:rPr lang="en-US" sz="3000" dirty="0" smtClean="0">
                <a:solidFill>
                  <a:schemeClr val="accent2">
                    <a:lumMod val="75000"/>
                  </a:schemeClr>
                </a:solidFill>
                <a:latin typeface="Calibri" panose="020F0502020204030204" charset="0"/>
                <a:cs typeface="Calibri" panose="020F0502020204030204" charset="0"/>
                <a:sym typeface="+mn-ea"/>
              </a:rPr>
              <a:t> Verifiable NFR:</a:t>
            </a:r>
            <a:r>
              <a:rPr lang="en-US" sz="2600" dirty="0" smtClean="0">
                <a:solidFill>
                  <a:schemeClr val="accent2">
                    <a:lumMod val="75000"/>
                  </a:schemeClr>
                </a:solidFill>
                <a:latin typeface="Calibri" panose="020F0502020204030204" charset="0"/>
                <a:cs typeface="Calibri" panose="020F0502020204030204" charset="0"/>
                <a:sym typeface="+mn-ea"/>
              </a:rPr>
              <a:t> </a:t>
            </a:r>
            <a:r>
              <a:rPr lang="en-US" sz="2600" b="0" dirty="0" smtClean="0">
                <a:latin typeface="Calibri" panose="020F0502020204030204" charset="0"/>
                <a:cs typeface="Calibri" panose="020F0502020204030204" charset="0"/>
                <a:sym typeface="+mn-ea"/>
              </a:rPr>
              <a:t>Medical staff shall be able to use all the system functions after two hours of training. After training, the average number of errors made shall not exceed two per hour. </a:t>
            </a:r>
            <a:r>
              <a:rPr lang="en-US" sz="2600" b="0" i="1" dirty="0" smtClean="0">
                <a:solidFill>
                  <a:schemeClr val="accent1">
                    <a:lumMod val="75000"/>
                  </a:schemeClr>
                </a:solidFill>
                <a:latin typeface="Calibri" panose="020F0502020204030204" charset="0"/>
                <a:cs typeface="Calibri" panose="020F0502020204030204" charset="0"/>
                <a:sym typeface="+mn-ea"/>
              </a:rPr>
              <a:t>(include software instrumentation to count the errors made by users when testing the system)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可验证NFR</a:t>
            </a:r>
            <a:endParaRPr lang="en-US" sz="2800" b="0" i="1" dirty="0" smtClean="0">
              <a:solidFill>
                <a:schemeClr val="accent1">
                  <a:lumMod val="75000"/>
                </a:schemeClr>
              </a:solidFill>
              <a:latin typeface="Calibri" panose="020F0502020204030204" charset="0"/>
              <a:cs typeface="Calibri" panose="020F0502020204030204" charset="0"/>
              <a:sym typeface="+mn-ea"/>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9310"/>
            <a:ext cx="2647950" cy="41897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2600" dirty="0">
                <a:solidFill>
                  <a:schemeClr val="accent1">
                    <a:lumMod val="75000"/>
                  </a:schemeClr>
                </a:solidFill>
                <a:ea typeface="宋体" panose="02010600030101010101" pitchFamily="2" charset="-122"/>
                <a:sym typeface="+mn-ea"/>
              </a:rPr>
              <a:t> </a:t>
            </a:r>
            <a:r>
              <a:rPr sz="2600" dirty="0">
                <a:solidFill>
                  <a:schemeClr val="accent1">
                    <a:lumMod val="75000"/>
                  </a:schemeClr>
                </a:solidFill>
                <a:ea typeface="宋体" panose="02010600030101010101" pitchFamily="2" charset="-122"/>
                <a:sym typeface="+mn-ea"/>
              </a:rPr>
              <a:t>Metrics for specifying nonfunctional requirements</a:t>
            </a:r>
            <a:endParaRPr sz="2600" dirty="0">
              <a:solidFill>
                <a:schemeClr val="accent1">
                  <a:lumMod val="75000"/>
                </a:schemeClr>
              </a:solidFill>
              <a:ea typeface="宋体" panose="02010600030101010101" pitchFamily="2" charset="-122"/>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刻画非功能需求的度量</a:t>
            </a:r>
            <a:endParaRPr lang="zh-CN" altLang="en-US"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graphicFrame>
        <p:nvGraphicFramePr>
          <p:cNvPr id="2" name="Table 3"/>
          <p:cNvGraphicFramePr>
            <a:graphicFrameLocks noGrp="1"/>
          </p:cNvGraphicFramePr>
          <p:nvPr>
            <p:custDataLst>
              <p:tags r:id="rId3"/>
            </p:custDataLst>
          </p:nvPr>
        </p:nvGraphicFramePr>
        <p:xfrm>
          <a:off x="2651125" y="810895"/>
          <a:ext cx="6365875" cy="5895340"/>
        </p:xfrm>
        <a:graphic>
          <a:graphicData uri="http://schemas.openxmlformats.org/drawingml/2006/table">
            <a:tbl>
              <a:tblPr>
                <a:effectLst/>
                <a:tableStyleId>{5940675A-B579-460E-94D1-54222C63F5DA}</a:tableStyleId>
              </a:tblPr>
              <a:tblGrid>
                <a:gridCol w="1514475"/>
                <a:gridCol w="4851400"/>
              </a:tblGrid>
              <a:tr h="47244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1" i="0" u="none" strike="noStrike" cap="none" normalizeH="0" baseline="0" dirty="0" smtClean="0">
                          <a:ln>
                            <a:noFill/>
                          </a:ln>
                          <a:solidFill>
                            <a:schemeClr val="bg1"/>
                          </a:solidFill>
                          <a:effectLst/>
                          <a:latin typeface="Arial" panose="020B0604020202020204"/>
                          <a:ea typeface="Times New Roman" panose="02020603050405020304" pitchFamily="18" charset="0"/>
                          <a:cs typeface="Arial" panose="020B0604020202020204"/>
                        </a:rPr>
                        <a:t>Property</a:t>
                      </a:r>
                      <a:endParaRPr kumimoji="0" lang="en-GB" sz="1900" b="1" i="0" u="none" strike="noStrike" cap="none" normalizeH="0" baseline="0" dirty="0" smtClean="0">
                        <a:ln>
                          <a:noFill/>
                        </a:ln>
                        <a:solidFill>
                          <a:schemeClr val="bg1"/>
                        </a:solidFill>
                        <a:effectLst/>
                        <a:latin typeface="Arial" panose="020B0604020202020204"/>
                        <a:ea typeface="Times New Roman" panose="02020603050405020304" pitchFamily="18" charset="0"/>
                        <a:cs typeface="Arial" panose="020B0604020202020204"/>
                      </a:endParaRPr>
                    </a:p>
                  </a:txBody>
                  <a:tcPr marL="73025" marR="73025" marT="9144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1" i="0" u="none" strike="noStrike" cap="none" normalizeH="0" baseline="0" dirty="0" smtClean="0">
                          <a:ln>
                            <a:noFill/>
                          </a:ln>
                          <a:solidFill>
                            <a:schemeClr val="bg1"/>
                          </a:solidFill>
                          <a:effectLst/>
                          <a:latin typeface="Arial" panose="020B0604020202020204"/>
                          <a:ea typeface="Times New Roman" panose="02020603050405020304" pitchFamily="18" charset="0"/>
                          <a:cs typeface="Arial" panose="020B0604020202020204"/>
                        </a:rPr>
                        <a:t>Measure</a:t>
                      </a:r>
                      <a:endParaRPr kumimoji="0" lang="en-GB" sz="1900" b="1" i="0" u="none" strike="noStrike" cap="none" normalizeH="0" baseline="0" dirty="0" smtClean="0">
                        <a:ln>
                          <a:noFill/>
                        </a:ln>
                        <a:solidFill>
                          <a:schemeClr val="bg1"/>
                        </a:solidFill>
                        <a:effectLst/>
                        <a:latin typeface="Arial" panose="020B0604020202020204"/>
                        <a:ea typeface="Times New Roman" panose="02020603050405020304" pitchFamily="18" charset="0"/>
                        <a:cs typeface="Arial" panose="020B0604020202020204"/>
                      </a:endParaRPr>
                    </a:p>
                  </a:txBody>
                  <a:tcPr marL="73025" marR="73025" marT="9144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r>
              <a:tr h="96012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rPr>
                        <a:t>Speed</a:t>
                      </a:r>
                      <a:endParaRPr kumimoji="0" lang="en-GB" sz="19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速度</a:t>
                      </a:r>
                      <a:endParaRPr kumimoji="0" lang="zh-CN" altLang="en-GB" sz="2000" b="0" i="0" u="none" strike="noStrike" cap="none" normalizeH="0" baseline="0" dirty="0" smtClean="0">
                        <a:ln>
                          <a:noFill/>
                        </a:ln>
                        <a:solidFill>
                          <a:srgbClr val="000000"/>
                        </a:solidFill>
                        <a:effectLst/>
                        <a:latin typeface="Arial" panose="020B0604020202020204"/>
                        <a:ea typeface="宋体" panose="02010600030101010101" pitchFamily="2" charset="-122"/>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Processed transactions/second</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User/event response time</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Screen refresh time</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68580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Size</a:t>
                      </a:r>
                      <a:endPar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规模</a:t>
                      </a:r>
                      <a:endParaRPr kumimoji="0" lang="zh-CN" altLang="en-US" sz="2000" b="1" i="0" u="none" strike="noStrike" cap="none" normalizeH="0" baseline="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Mbytes</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Number of ROM chips</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68580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Ease of use</a:t>
                      </a:r>
                      <a:endPar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易用</a:t>
                      </a:r>
                      <a:endParaRPr kumimoji="0" lang="zh-CN" altLang="en-GB" sz="1900" b="0" i="0" u="none" strike="noStrike" cap="none" normalizeH="0" baseline="0">
                        <a:ln>
                          <a:noFill/>
                        </a:ln>
                        <a:solidFill>
                          <a:srgbClr val="000000"/>
                        </a:solidFill>
                        <a:effectLst/>
                        <a:latin typeface="Arial" panose="020B0604020202020204"/>
                        <a:ea typeface="宋体" panose="02010600030101010101" pitchFamily="2" charset="-122"/>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Training time</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Number of help frames</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124968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Reliability</a:t>
                      </a:r>
                      <a:endPar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可靠性</a:t>
                      </a:r>
                      <a:endParaRPr kumimoji="0" lang="zh-CN" altLang="en-GB" sz="1900" b="0" i="0" u="none" strike="noStrike" cap="none" normalizeH="0" baseline="0">
                        <a:ln>
                          <a:noFill/>
                        </a:ln>
                        <a:solidFill>
                          <a:srgbClr val="000000"/>
                        </a:solidFill>
                        <a:effectLst/>
                        <a:latin typeface="Arial" panose="020B0604020202020204"/>
                        <a:ea typeface="宋体" panose="02010600030101010101" pitchFamily="2" charset="-122"/>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Mean time to failure</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Probability of unavailability</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Rate of failure occurrence</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Availability</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96012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Robustness</a:t>
                      </a:r>
                      <a:endPar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鲁棒性</a:t>
                      </a:r>
                      <a:endParaRPr kumimoji="0" lang="zh-CN" altLang="en-US" sz="2000" b="1" i="0" u="none" strike="noStrike" cap="none" normalizeH="0" baseline="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Time to restart after failure</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Percentage of events causing failure</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Probability of data corruption on failure</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881380">
                <a:tc>
                  <a:txBody>
                    <a:bodyPr/>
                    <a:p>
                      <a:pPr marL="0" marR="0" lvl="0" algn="l" defTabSz="457200" rtl="0" eaLnBrk="1" fontAlgn="base" latinLnBrk="0" hangingPunct="1">
                        <a:lnSpc>
                          <a:spcPct val="100000"/>
                        </a:lnSpc>
                        <a:buClrTx/>
                        <a:buSzTx/>
                        <a:buFontTx/>
                        <a:buNone/>
                      </a:pPr>
                      <a:r>
                        <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Portability</a:t>
                      </a:r>
                      <a:endPar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p>
                      <a:pPr marR="0" lvl="0" algn="l" defTabSz="457200" rtl="0" fontAlgn="base">
                        <a:lnSpc>
                          <a:spcPct val="100000"/>
                        </a:lnSpc>
                        <a:buClrTx/>
                        <a:buSzTx/>
                        <a:buFontTx/>
                        <a:buNone/>
                      </a:pPr>
                      <a:r>
                        <a:rPr kumimoji="0" lang="zh-CN" altLang="en-US" sz="2000" b="1" i="0" u="none" strike="noStrike" cap="none" normalizeH="0" baseline="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可移植性</a:t>
                      </a:r>
                      <a:endParaRPr kumimoji="0" lang="zh-CN" altLang="en-US" sz="2000" b="1" i="0" u="none" strike="noStrike" cap="none" normalizeH="0" baseline="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txBody>
                  <a:tcPr marL="73025" marR="73025" marT="0" marB="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algn="l" defTabSz="457200" rtl="0" eaLnBrk="1" fontAlgn="base" latinLnBrk="0" hangingPunct="1">
                        <a:lnSpc>
                          <a:spcPct val="100000"/>
                        </a:lnSpc>
                        <a:buClrTx/>
                        <a:buSzTx/>
                        <a:buFontTx/>
                        <a:buNone/>
                      </a:pPr>
                      <a:r>
                        <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Percentage of target dependent statements</a:t>
                      </a:r>
                      <a:endPar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p>
                      <a:pPr marR="0" lvl="0" indent="0" algn="l" defTabSz="457200" rtl="0" fontAlgn="base">
                        <a:lnSpc>
                          <a:spcPct val="100000"/>
                        </a:lnSpc>
                        <a:buClrTx/>
                        <a:buSzTx/>
                        <a:buFontTx/>
                        <a:buNone/>
                      </a:pPr>
                      <a:r>
                        <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Number of target systems</a:t>
                      </a:r>
                      <a:endPar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bl>
          </a:graphicData>
        </a:graphic>
      </p:graphicFrame>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7400"/>
            <a:ext cx="8905240" cy="9702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4.2 </a:t>
            </a:r>
            <a:r>
              <a:rPr sz="3200" dirty="0">
                <a:solidFill>
                  <a:schemeClr val="accent1">
                    <a:lumMod val="75000"/>
                  </a:schemeClr>
                </a:solidFill>
                <a:ea typeface="宋体" panose="02010600030101010101" pitchFamily="2" charset="-122"/>
                <a:sym typeface="+mn-ea"/>
              </a:rPr>
              <a:t>Requirements engineering processes</a:t>
            </a:r>
            <a:r>
              <a:rPr lang="en-US" sz="3200" dirty="0">
                <a:solidFill>
                  <a:schemeClr val="accent1">
                    <a:lumMod val="75000"/>
                  </a:schemeClr>
                </a:solidFill>
                <a:ea typeface="宋体" panose="02010600030101010101" pitchFamily="2" charset="-122"/>
                <a:sym typeface="+mn-ea"/>
              </a:rPr>
              <a:t>            </a:t>
            </a:r>
            <a:r>
              <a:rPr lang="zh-CN" altLang="en-US"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需求工程过程</a:t>
            </a:r>
            <a:endParaRPr lang="zh-CN" altLang="en-US"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1435" y="1743710"/>
            <a:ext cx="9028430" cy="454723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Requirements engineering involves three key activities. </a:t>
            </a:r>
            <a:r>
              <a:rPr lang="en-US" sz="3200" b="0" dirty="0" smtClean="0">
                <a:solidFill>
                  <a:schemeClr val="tx1"/>
                </a:solidFill>
                <a:latin typeface="Calibri" panose="020F0502020204030204" charset="0"/>
                <a:cs typeface="Calibri" panose="020F0502020204030204" charset="0"/>
              </a:rPr>
              <a:t>These are discovering requirements by interacting with stakeholders (</a:t>
            </a:r>
            <a:r>
              <a:rPr lang="en-US" sz="3200" b="0" u="sng" dirty="0" smtClean="0">
                <a:solidFill>
                  <a:schemeClr val="tx1"/>
                </a:solidFill>
                <a:latin typeface="Calibri" panose="020F0502020204030204" charset="0"/>
                <a:cs typeface="Calibri" panose="020F0502020204030204" charset="0"/>
              </a:rPr>
              <a:t>elicitation and analysis</a:t>
            </a:r>
            <a:r>
              <a:rPr lang="en-US" sz="3200" b="0" dirty="0" smtClean="0">
                <a:solidFill>
                  <a:schemeClr val="tx1"/>
                </a:solidFill>
                <a:latin typeface="Calibri" panose="020F0502020204030204" charset="0"/>
                <a:cs typeface="Calibri" panose="020F0502020204030204" charset="0"/>
              </a:rPr>
              <a:t>); converting these requirements into a standard form (</a:t>
            </a:r>
            <a:r>
              <a:rPr lang="en-US" sz="3200" b="0" u="sng" dirty="0" smtClean="0">
                <a:solidFill>
                  <a:schemeClr val="tx1"/>
                </a:solidFill>
                <a:latin typeface="Calibri" panose="020F0502020204030204" charset="0"/>
                <a:cs typeface="Calibri" panose="020F0502020204030204" charset="0"/>
              </a:rPr>
              <a:t>specification</a:t>
            </a:r>
            <a:r>
              <a:rPr lang="en-US" sz="3200" b="0" dirty="0" smtClean="0">
                <a:solidFill>
                  <a:schemeClr val="tx1"/>
                </a:solidFill>
                <a:latin typeface="Calibri" panose="020F0502020204030204" charset="0"/>
                <a:cs typeface="Calibri" panose="020F0502020204030204" charset="0"/>
              </a:rPr>
              <a:t>); and checking that the requirements actually define the system that the customer wants (</a:t>
            </a:r>
            <a:r>
              <a:rPr lang="en-US" sz="3200" b="0" u="sng" dirty="0" smtClean="0">
                <a:solidFill>
                  <a:schemeClr val="tx1"/>
                </a:solidFill>
                <a:latin typeface="Calibri" panose="020F0502020204030204" charset="0"/>
                <a:cs typeface="Calibri" panose="020F0502020204030204" charset="0"/>
              </a:rPr>
              <a:t>validation</a:t>
            </a:r>
            <a:r>
              <a:rPr lang="en-US" sz="3200" b="0" dirty="0" smtClean="0">
                <a:solidFill>
                  <a:schemeClr val="tx1"/>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涉及三个关键活动：抽取</a:t>
            </a:r>
            <a:r>
              <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分析、规格说明、确认</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0" algn="l">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sym typeface="+mn-ea"/>
              </a:rPr>
              <a:t> In practice, RE is an iterative activity in which these processes are interleaved.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实际</a:t>
            </a:r>
            <a:r>
              <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迭代、交织</a:t>
            </a:r>
            <a:endParaRPr lang="zh-CN" altLang="en-US" sz="3200" dirty="0" smtClean="0">
              <a:solidFill>
                <a:schemeClr val="accent2">
                  <a:lumMod val="75000"/>
                </a:schemeClr>
              </a:solidFill>
              <a:latin typeface="Calibri" panose="020F0502020204030204" charset="0"/>
              <a:ea typeface="宋体" panose="02010600030101010101" pitchFamily="2" charset="-122"/>
              <a:cs typeface="Calibri" panose="020F0502020204030204" charset="0"/>
              <a:sym typeface="+mn-ea"/>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206500" y="46990"/>
            <a:ext cx="7886065" cy="6746240"/>
          </a:xfrm>
          <a:prstGeom prst="rect">
            <a:avLst/>
          </a:prstGeom>
        </p:spPr>
      </p:pic>
      <p:sp>
        <p:nvSpPr>
          <p:cNvPr id="7" name="Rectangle 3"/>
          <p:cNvSpPr>
            <a:spLocks noGrp="1" noRot="1"/>
          </p:cNvSpPr>
          <p:nvPr>
            <p:custDataLst>
              <p:tags r:id="rId2"/>
            </p:custDataLst>
          </p:nvPr>
        </p:nvSpPr>
        <p:spPr>
          <a:xfrm>
            <a:off x="107315" y="213995"/>
            <a:ext cx="2265045" cy="3442970"/>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500"/>
              </a:spcBef>
              <a:buSzTx/>
              <a:buFont typeface="Wingdings" panose="05000000000000000000" pitchFamily="2" charset="2"/>
              <a:buNone/>
            </a:pPr>
            <a:r>
              <a:rPr lang="en-US" altLang="zh-CN" sz="1700" b="0" dirty="0">
                <a:solidFill>
                  <a:schemeClr val="tx1"/>
                </a:solidFill>
                <a:ea typeface="宋体" panose="02010600030101010101" pitchFamily="2" charset="-122"/>
                <a:sym typeface="Symbol" panose="05050102010706020507" charset="0"/>
              </a:rPr>
              <a:t> </a:t>
            </a:r>
            <a:r>
              <a:rPr lang="en-US" altLang="zh-CN" sz="1700" b="0" dirty="0">
                <a:solidFill>
                  <a:schemeClr val="tx1"/>
                </a:solidFill>
                <a:ea typeface="宋体" panose="02010600030101010101" pitchFamily="2" charset="-122"/>
                <a:sym typeface="+mn-ea"/>
              </a:rPr>
              <a:t>The output of the RE process is a system requirements document. </a:t>
            </a:r>
            <a:endParaRPr lang="en-US" altLang="zh-CN" sz="1700" b="0" dirty="0">
              <a:solidFill>
                <a:schemeClr val="tx1"/>
              </a:solidFill>
              <a:ea typeface="宋体" panose="02010600030101010101" pitchFamily="2" charset="-122"/>
              <a:sym typeface="+mn-ea"/>
            </a:endParaRPr>
          </a:p>
          <a:p>
            <a:pPr marL="0" indent="0" algn="l" eaLnBrk="1" hangingPunct="1">
              <a:lnSpc>
                <a:spcPct val="90000"/>
              </a:lnSpc>
              <a:spcBef>
                <a:spcPts val="500"/>
              </a:spcBef>
              <a:buSzTx/>
              <a:buFont typeface="Wingdings" panose="05000000000000000000" pitchFamily="2" charset="2"/>
              <a:buNone/>
            </a:pPr>
            <a:r>
              <a:rPr lang="en-US" altLang="zh-CN" sz="1700" b="0" dirty="0">
                <a:ea typeface="宋体" panose="02010600030101010101" pitchFamily="2" charset="-122"/>
                <a:sym typeface="Symbol" panose="05050102010706020507" charset="0"/>
              </a:rPr>
              <a:t> </a:t>
            </a:r>
            <a:r>
              <a:rPr lang="en-US" altLang="zh-CN" sz="1700" b="0" dirty="0">
                <a:solidFill>
                  <a:schemeClr val="tx1"/>
                </a:solidFill>
                <a:ea typeface="宋体" panose="02010600030101010101" pitchFamily="2" charset="-122"/>
                <a:sym typeface="+mn-ea"/>
              </a:rPr>
              <a:t>The amount of time and effort devoted to each activity in an iteration depends on the stage of the overall process, the type of system being developed, and the budget that is available.</a:t>
            </a:r>
            <a:endParaRPr lang="en-US" altLang="zh-CN" sz="1700" b="0" dirty="0">
              <a:solidFill>
                <a:schemeClr val="tx1"/>
              </a:solidFill>
              <a:ea typeface="宋体" panose="02010600030101010101" pitchFamily="2" charset="-122"/>
              <a:sym typeface="+mn-ea"/>
            </a:endParaRPr>
          </a:p>
        </p:txBody>
      </p:sp>
      <p:sp>
        <p:nvSpPr>
          <p:cNvPr id="8" name="Rectangle 3"/>
          <p:cNvSpPr>
            <a:spLocks noGrp="1" noRot="1"/>
          </p:cNvSpPr>
          <p:nvPr>
            <p:custDataLst>
              <p:tags r:id="rId3"/>
            </p:custDataLst>
          </p:nvPr>
        </p:nvSpPr>
        <p:spPr>
          <a:xfrm>
            <a:off x="6907530" y="340995"/>
            <a:ext cx="2045335" cy="719455"/>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500"/>
              </a:spcBef>
              <a:buSzTx/>
              <a:buFont typeface="Wingdings" panose="05000000000000000000" pitchFamily="2" charset="2"/>
              <a:buNone/>
            </a:pP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Symbol" panose="05050102010706020507" charset="0"/>
              </a:rPr>
              <a:t>需求工程过程螺旋视图</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9145"/>
            <a:ext cx="8823325" cy="5753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000" dirty="0">
                <a:solidFill>
                  <a:schemeClr val="accent1">
                    <a:lumMod val="75000"/>
                  </a:schemeClr>
                </a:solidFill>
                <a:ea typeface="宋体" panose="02010600030101010101" pitchFamily="2" charset="-122"/>
                <a:sym typeface="+mn-ea"/>
              </a:rPr>
              <a:t> 4.3 </a:t>
            </a:r>
            <a:r>
              <a:rPr sz="3000" dirty="0">
                <a:solidFill>
                  <a:schemeClr val="accent1">
                    <a:lumMod val="75000"/>
                  </a:schemeClr>
                </a:solidFill>
                <a:ea typeface="宋体" panose="02010600030101010101" pitchFamily="2" charset="-122"/>
                <a:sym typeface="+mn-ea"/>
              </a:rPr>
              <a:t>Requirements elicitation</a:t>
            </a:r>
            <a:endParaRPr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8265" y="1313180"/>
            <a:ext cx="8942070" cy="49987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The aims of the requirements elicitation process are to understand the work that stakeholders do and how they might use a new system to help support that work.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目标</a:t>
            </a:r>
            <a:r>
              <a:rPr lang="en-US" altLang="zh-CN"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理解干系人工作</a:t>
            </a:r>
            <a:r>
              <a:rPr lang="en-US" altLang="zh-CN"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如何运用新系统</a:t>
            </a:r>
            <a:endParaRPr lang="en-US" sz="20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During requirements elicitation, software engineers work with stakeholders to find out about the application domain, work activities, the services and system features that stakeholders want, the required performance of the system, hardware constraints, and so on.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弄清楚：应用领域、工作活动、干系人想要的服务和系统特性、要求的系统性能、硬件约束等</a:t>
            </a:r>
            <a:endPar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4855"/>
            <a:ext cx="8947150" cy="6096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2800" dirty="0">
                <a:solidFill>
                  <a:schemeClr val="accent1">
                    <a:lumMod val="75000"/>
                  </a:schemeClr>
                </a:solidFill>
                <a:ea typeface="宋体" panose="02010600030101010101" pitchFamily="2" charset="-122"/>
                <a:sym typeface="+mn-ea"/>
              </a:rPr>
              <a:t> </a:t>
            </a:r>
            <a:r>
              <a:rPr sz="2800" dirty="0">
                <a:solidFill>
                  <a:schemeClr val="accent1">
                    <a:lumMod val="75000"/>
                  </a:schemeClr>
                </a:solidFill>
                <a:ea typeface="宋体" panose="02010600030101010101" pitchFamily="2" charset="-122"/>
                <a:sym typeface="+mn-ea"/>
              </a:rPr>
              <a:t>Problems of requirements elicitation</a:t>
            </a:r>
            <a:r>
              <a:rPr lang="en-US" sz="2800" dirty="0">
                <a:solidFill>
                  <a:schemeClr val="accent1">
                    <a:lumMod val="75000"/>
                  </a:schemeClr>
                </a:solidFill>
                <a:ea typeface="宋体" panose="02010600030101010101" pitchFamily="2" charset="-122"/>
                <a:sym typeface="+mn-ea"/>
              </a:rPr>
              <a:t> </a:t>
            </a:r>
            <a:r>
              <a:rPr lang="zh-CN" altLang="en-US" sz="2000" dirty="0">
                <a:solidFill>
                  <a:schemeClr val="accent1">
                    <a:lumMod val="75000"/>
                  </a:schemeClr>
                </a:solidFill>
                <a:latin typeface="黑体" panose="02010609060101010101" pitchFamily="49" charset="-122"/>
                <a:ea typeface="黑体" panose="02010609060101010101" pitchFamily="49" charset="-122"/>
                <a:sym typeface="+mn-ea"/>
              </a:rPr>
              <a:t>需求抽取中的</a:t>
            </a:r>
            <a:r>
              <a:rPr lang="zh-CN" altLang="en-US" sz="20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问题</a:t>
            </a:r>
            <a:endParaRPr lang="zh-CN" altLang="en-US" sz="20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8900" y="1313180"/>
            <a:ext cx="8959215" cy="53397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Stakeholders </a:t>
            </a:r>
            <a:r>
              <a:rPr lang="en-US" sz="3200" u="sng" dirty="0" smtClean="0">
                <a:solidFill>
                  <a:schemeClr val="accent2">
                    <a:lumMod val="75000"/>
                  </a:schemeClr>
                </a:solidFill>
                <a:latin typeface="Calibri" panose="020F0502020204030204" charset="0"/>
                <a:cs typeface="Calibri" panose="020F0502020204030204" charset="0"/>
              </a:rPr>
              <a:t>don’t know</a:t>
            </a:r>
            <a:r>
              <a:rPr lang="en-US" sz="3200" dirty="0" smtClean="0">
                <a:solidFill>
                  <a:schemeClr val="accent2">
                    <a:lumMod val="75000"/>
                  </a:schemeClr>
                </a:solidFill>
                <a:latin typeface="Calibri" panose="020F0502020204030204" charset="0"/>
                <a:cs typeface="Calibri" panose="020F0502020204030204" charset="0"/>
              </a:rPr>
              <a:t> what they really want. </a:t>
            </a:r>
            <a:endParaRPr lang="en-US"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Stakeholders express requirements </a:t>
            </a:r>
            <a:r>
              <a:rPr lang="en-US" sz="3200" u="sng" dirty="0" smtClean="0">
                <a:solidFill>
                  <a:schemeClr val="accent2">
                    <a:lumMod val="75000"/>
                  </a:schemeClr>
                </a:solidFill>
                <a:latin typeface="Calibri" panose="020F0502020204030204" charset="0"/>
                <a:cs typeface="Calibri" panose="020F0502020204030204" charset="0"/>
              </a:rPr>
              <a:t>in their own terms</a:t>
            </a:r>
            <a:r>
              <a:rPr lang="en-US" sz="3200" dirty="0" smtClean="0">
                <a:solidFill>
                  <a:schemeClr val="accent2">
                    <a:lumMod val="75000"/>
                  </a:schemeClr>
                </a:solidFill>
                <a:latin typeface="Calibri" panose="020F0502020204030204" charset="0"/>
                <a:cs typeface="Calibri" panose="020F0502020204030204" charset="0"/>
              </a:rPr>
              <a:t> that the engineers may not understand.    </a:t>
            </a:r>
            <a:endParaRPr lang="en-US"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Different stakeholders may express requirements </a:t>
            </a:r>
            <a:r>
              <a:rPr lang="en-US" sz="3200" u="sng" dirty="0" smtClean="0">
                <a:solidFill>
                  <a:schemeClr val="accent2">
                    <a:lumMod val="75000"/>
                  </a:schemeClr>
                </a:solidFill>
                <a:latin typeface="Calibri" panose="020F0502020204030204" charset="0"/>
                <a:cs typeface="Calibri" panose="020F0502020204030204" charset="0"/>
              </a:rPr>
              <a:t>in different ways</a:t>
            </a:r>
            <a:r>
              <a:rPr lang="en-US" sz="3200" dirty="0" smtClean="0">
                <a:solidFill>
                  <a:schemeClr val="accent2">
                    <a:lumMod val="75000"/>
                  </a:schemeClr>
                </a:solidFill>
                <a:latin typeface="Calibri" panose="020F0502020204030204" charset="0"/>
                <a:cs typeface="Calibri" panose="020F0502020204030204" charset="0"/>
              </a:rPr>
              <a:t>, and the engineers have to discover commonalities and conflicts. </a:t>
            </a:r>
            <a:endParaRPr lang="en-US"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lang="en-US" sz="3200" u="sng" dirty="0" smtClean="0">
                <a:solidFill>
                  <a:schemeClr val="accent2">
                    <a:lumMod val="75000"/>
                  </a:schemeClr>
                </a:solidFill>
                <a:latin typeface="Calibri" panose="020F0502020204030204" charset="0"/>
                <a:cs typeface="Calibri" panose="020F0502020204030204" charset="0"/>
              </a:rPr>
              <a:t>Organizational and political factors</a:t>
            </a:r>
            <a:r>
              <a:rPr lang="en-US" sz="3200" dirty="0" smtClean="0">
                <a:solidFill>
                  <a:schemeClr val="accent2">
                    <a:lumMod val="75000"/>
                  </a:schemeClr>
                </a:solidFill>
                <a:latin typeface="Calibri" panose="020F0502020204030204" charset="0"/>
                <a:cs typeface="Calibri" panose="020F0502020204030204" charset="0"/>
              </a:rPr>
              <a:t> may influence the system requirements.</a:t>
            </a:r>
            <a:endParaRPr lang="en-US"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The requirements </a:t>
            </a:r>
            <a:r>
              <a:rPr lang="en-US" sz="3200" u="sng" dirty="0" smtClean="0">
                <a:solidFill>
                  <a:schemeClr val="accent2">
                    <a:lumMod val="75000"/>
                  </a:schemeClr>
                </a:solidFill>
                <a:latin typeface="Calibri" panose="020F0502020204030204" charset="0"/>
                <a:cs typeface="Calibri" panose="020F0502020204030204" charset="0"/>
              </a:rPr>
              <a:t>change</a:t>
            </a:r>
            <a:r>
              <a:rPr lang="en-US" sz="3200" dirty="0" smtClean="0">
                <a:solidFill>
                  <a:schemeClr val="accent2">
                    <a:lumMod val="75000"/>
                  </a:schemeClr>
                </a:solidFill>
                <a:latin typeface="Calibri" panose="020F0502020204030204" charset="0"/>
                <a:cs typeface="Calibri" panose="020F0502020204030204" charset="0"/>
              </a:rPr>
              <a:t> during the analysis process. New stakeholders may emerge and the business environment may change.</a:t>
            </a:r>
            <a:endParaRPr lang="en-US" sz="3200" dirty="0" smtClean="0">
              <a:solidFill>
                <a:schemeClr val="accent2">
                  <a:lumMod val="75000"/>
                </a:schemeClr>
              </a:solidFill>
              <a:latin typeface="Calibri" panose="020F0502020204030204" charset="0"/>
              <a:cs typeface="Calibri" panose="020F0502020204030204" charset="0"/>
              <a:sym typeface="+mn-ea"/>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655955" y="1528445"/>
            <a:ext cx="7765415" cy="5131435"/>
          </a:xfrm>
          <a:prstGeom prst="rect">
            <a:avLst/>
          </a:prstGeom>
        </p:spPr>
      </p:pic>
      <p:sp>
        <p:nvSpPr>
          <p:cNvPr id="15363" name="Rectangle 3"/>
          <p:cNvSpPr>
            <a:spLocks noGrp="1" noRot="1"/>
          </p:cNvSpPr>
          <p:nvPr>
            <p:ph type="subTitle" idx="1"/>
            <p:custDataLst>
              <p:tags r:id="rId2"/>
            </p:custDataLst>
          </p:nvPr>
        </p:nvSpPr>
        <p:spPr>
          <a:xfrm>
            <a:off x="88900" y="673100"/>
            <a:ext cx="8823325" cy="1080135"/>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The requirements elicitation and analysis process</a:t>
            </a:r>
            <a:r>
              <a:rPr lang="en-US"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需求抽取和分析过程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3"/>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2630"/>
            <a:ext cx="8823325" cy="5232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Process activities</a:t>
            </a:r>
            <a:r>
              <a:rPr lang="en-US"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过程活动</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10243" name="Rectangle 3"/>
          <p:cNvSpPr>
            <a:spLocks noGrp="1" noChangeArrowheads="1"/>
          </p:cNvSpPr>
          <p:nvPr/>
        </p:nvSpPr>
        <p:spPr>
          <a:xfrm>
            <a:off x="106680" y="1241425"/>
            <a:ext cx="8926830" cy="5436870"/>
          </a:xfrm>
          <a:prstGeom prst="rect">
            <a:avLst/>
          </a:prstGeom>
          <a:noFill/>
        </p:spPr>
        <p:txBody>
          <a:bodyPr lIns="90487" tIns="44450" rIns="90487" bIns="44450"/>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5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Requirements discovery</a:t>
            </a:r>
            <a:r>
              <a:rPr lang="en-US" altLang="en-GB" sz="3200" dirty="0">
                <a:solidFill>
                  <a:schemeClr val="accent2">
                    <a:lumMod val="75000"/>
                  </a:schemeClr>
                </a:solidFill>
                <a:latin typeface="Calibri" panose="020F0502020204030204" charset="0"/>
                <a:cs typeface="Calibri" panose="020F0502020204030204" charset="0"/>
              </a:rPr>
              <a:t> and Understanding </a:t>
            </a:r>
            <a:endParaRPr lang="en-GB" sz="3200" dirty="0">
              <a:solidFill>
                <a:schemeClr val="accent2">
                  <a:lumMod val="75000"/>
                </a:schemeClr>
              </a:solidFill>
              <a:latin typeface="Calibri" panose="020F0502020204030204" charset="0"/>
              <a:cs typeface="Calibri" panose="020F0502020204030204" charset="0"/>
            </a:endParaRPr>
          </a:p>
          <a:p>
            <a:pPr lvl="1">
              <a:lnSpc>
                <a:spcPct val="85000"/>
              </a:lnSpc>
              <a:spcBef>
                <a:spcPts val="500"/>
              </a:spcBef>
              <a:spcAft>
                <a:spcPts val="0"/>
              </a:spcAft>
            </a:pPr>
            <a:r>
              <a:rPr lang="en-GB" sz="2800" b="0" dirty="0">
                <a:latin typeface="Calibri" panose="020F0502020204030204" charset="0"/>
                <a:cs typeface="Calibri" panose="020F0502020204030204" charset="0"/>
              </a:rPr>
              <a:t>Interacting with stakeholders to discover their requirements. Domain requirements are also discovered at this stage.</a:t>
            </a:r>
            <a:r>
              <a:rPr lang="en-US" altLang="en-GB" sz="2800" b="0" dirty="0">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需求发现和理解</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5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Requirements classification and organisation</a:t>
            </a:r>
            <a:endParaRPr lang="en-GB" sz="3200" dirty="0">
              <a:solidFill>
                <a:schemeClr val="accent2">
                  <a:lumMod val="75000"/>
                </a:schemeClr>
              </a:solidFill>
              <a:latin typeface="Calibri" panose="020F0502020204030204" charset="0"/>
              <a:cs typeface="Calibri" panose="020F0502020204030204" charset="0"/>
            </a:endParaRPr>
          </a:p>
          <a:p>
            <a:pPr lvl="1">
              <a:lnSpc>
                <a:spcPct val="85000"/>
              </a:lnSpc>
              <a:spcBef>
                <a:spcPts val="500"/>
              </a:spcBef>
              <a:spcAft>
                <a:spcPts val="0"/>
              </a:spcAft>
            </a:pPr>
            <a:r>
              <a:rPr lang="en-GB" sz="2800" b="0" dirty="0">
                <a:latin typeface="Calibri" panose="020F0502020204030204" charset="0"/>
                <a:cs typeface="Calibri" panose="020F0502020204030204" charset="0"/>
              </a:rPr>
              <a:t>Groups related requirements and organi</a:t>
            </a:r>
            <a:r>
              <a:rPr lang="en-US" altLang="en-GB" sz="2800" b="0" dirty="0">
                <a:latin typeface="Calibri" panose="020F0502020204030204" charset="0"/>
                <a:cs typeface="Calibri" panose="020F0502020204030204" charset="0"/>
              </a:rPr>
              <a:t>z</a:t>
            </a:r>
            <a:r>
              <a:rPr lang="en-GB" sz="2800" b="0" dirty="0">
                <a:latin typeface="Calibri" panose="020F0502020204030204" charset="0"/>
                <a:cs typeface="Calibri" panose="020F0502020204030204" charset="0"/>
              </a:rPr>
              <a:t>es them into coherent clusters.</a:t>
            </a:r>
            <a:r>
              <a:rPr lang="en-US" altLang="en-GB" sz="2800" b="0" dirty="0">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需求分类和组织</a:t>
            </a:r>
            <a:endParaRPr lang="en-GB" sz="2800" b="0" dirty="0">
              <a:latin typeface="Calibri" panose="020F0502020204030204" charset="0"/>
              <a:cs typeface="Calibri" panose="020F0502020204030204" charset="0"/>
            </a:endParaRPr>
          </a:p>
          <a:p>
            <a:pPr>
              <a:lnSpc>
                <a:spcPct val="85000"/>
              </a:lnSpc>
              <a:spcBef>
                <a:spcPts val="5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sym typeface="+mn-ea"/>
              </a:rPr>
              <a:t>Requirements</a:t>
            </a:r>
            <a:r>
              <a:rPr lang="en-US" altLang="en-GB" sz="3200" dirty="0">
                <a:solidFill>
                  <a:schemeClr val="accent2">
                    <a:lumMod val="75000"/>
                  </a:schemeClr>
                </a:solidFill>
                <a:latin typeface="Calibri" panose="020F0502020204030204" charset="0"/>
                <a:cs typeface="Calibri" panose="020F0502020204030204" charset="0"/>
                <a:sym typeface="+mn-ea"/>
              </a:rPr>
              <a:t> p</a:t>
            </a:r>
            <a:r>
              <a:rPr lang="en-GB" sz="3200" dirty="0">
                <a:solidFill>
                  <a:schemeClr val="accent2">
                    <a:lumMod val="75000"/>
                  </a:schemeClr>
                </a:solidFill>
                <a:latin typeface="Calibri" panose="020F0502020204030204" charset="0"/>
                <a:cs typeface="Calibri" panose="020F0502020204030204" charset="0"/>
              </a:rPr>
              <a:t>rioriti</a:t>
            </a:r>
            <a:r>
              <a:rPr lang="en-US" altLang="en-GB" sz="3200" dirty="0">
                <a:solidFill>
                  <a:schemeClr val="accent2">
                    <a:lumMod val="75000"/>
                  </a:schemeClr>
                </a:solidFill>
                <a:latin typeface="Calibri" panose="020F0502020204030204" charset="0"/>
                <a:cs typeface="Calibri" panose="020F0502020204030204" charset="0"/>
              </a:rPr>
              <a:t>z</a:t>
            </a:r>
            <a:r>
              <a:rPr lang="en-GB" sz="3200" dirty="0">
                <a:solidFill>
                  <a:schemeClr val="accent2">
                    <a:lumMod val="75000"/>
                  </a:schemeClr>
                </a:solidFill>
                <a:latin typeface="Calibri" panose="020F0502020204030204" charset="0"/>
                <a:cs typeface="Calibri" panose="020F0502020204030204" charset="0"/>
              </a:rPr>
              <a:t>ation and negotiation</a:t>
            </a:r>
            <a:endParaRPr lang="en-GB" sz="3200" dirty="0">
              <a:solidFill>
                <a:schemeClr val="accent2">
                  <a:lumMod val="75000"/>
                </a:schemeClr>
              </a:solidFill>
              <a:latin typeface="Calibri" panose="020F0502020204030204" charset="0"/>
              <a:cs typeface="Calibri" panose="020F0502020204030204" charset="0"/>
            </a:endParaRPr>
          </a:p>
          <a:p>
            <a:pPr lvl="1">
              <a:lnSpc>
                <a:spcPct val="85000"/>
              </a:lnSpc>
              <a:spcBef>
                <a:spcPts val="500"/>
              </a:spcBef>
              <a:spcAft>
                <a:spcPts val="0"/>
              </a:spcAft>
            </a:pPr>
            <a:r>
              <a:rPr lang="en-GB" sz="2800" b="0" dirty="0">
                <a:latin typeface="Calibri" panose="020F0502020204030204" charset="0"/>
                <a:cs typeface="Calibri" panose="020F0502020204030204" charset="0"/>
              </a:rPr>
              <a:t>Prioriti</a:t>
            </a:r>
            <a:r>
              <a:rPr lang="en-US" altLang="en-GB" sz="2800" b="0" dirty="0">
                <a:latin typeface="Calibri" panose="020F0502020204030204" charset="0"/>
                <a:cs typeface="Calibri" panose="020F0502020204030204" charset="0"/>
              </a:rPr>
              <a:t>z</a:t>
            </a:r>
            <a:r>
              <a:rPr lang="en-GB" sz="2800" b="0" dirty="0">
                <a:latin typeface="Calibri" panose="020F0502020204030204" charset="0"/>
                <a:cs typeface="Calibri" panose="020F0502020204030204" charset="0"/>
              </a:rPr>
              <a:t>ing requirements and resolving requirements conflicts.</a:t>
            </a:r>
            <a:r>
              <a:rPr lang="en-US" altLang="en-GB" sz="2800" b="0" dirty="0">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 需求优先级化和协商 </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5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Requirements</a:t>
            </a:r>
            <a:r>
              <a:rPr lang="en-GB" sz="3200" dirty="0" smtClean="0">
                <a:solidFill>
                  <a:schemeClr val="accent2">
                    <a:lumMod val="75000"/>
                  </a:schemeClr>
                </a:solidFill>
                <a:latin typeface="Calibri" panose="020F0502020204030204" charset="0"/>
                <a:cs typeface="Calibri" panose="020F0502020204030204" charset="0"/>
              </a:rPr>
              <a:t> </a:t>
            </a:r>
            <a:r>
              <a:rPr lang="en-US" altLang="en-GB" sz="3200" dirty="0" smtClean="0">
                <a:solidFill>
                  <a:schemeClr val="accent2">
                    <a:lumMod val="75000"/>
                  </a:schemeClr>
                </a:solidFill>
                <a:latin typeface="Calibri" panose="020F0502020204030204" charset="0"/>
                <a:cs typeface="Calibri" panose="020F0502020204030204" charset="0"/>
              </a:rPr>
              <a:t>documentation  </a:t>
            </a:r>
            <a:endParaRPr lang="en-GB" sz="3200" dirty="0" smtClean="0">
              <a:solidFill>
                <a:schemeClr val="accent2">
                  <a:lumMod val="75000"/>
                </a:schemeClr>
              </a:solidFill>
              <a:latin typeface="Calibri" panose="020F0502020204030204" charset="0"/>
              <a:cs typeface="Calibri" panose="020F0502020204030204" charset="0"/>
            </a:endParaRPr>
          </a:p>
          <a:p>
            <a:pPr lvl="1">
              <a:lnSpc>
                <a:spcPct val="85000"/>
              </a:lnSpc>
              <a:spcBef>
                <a:spcPts val="500"/>
              </a:spcBef>
              <a:spcAft>
                <a:spcPts val="0"/>
              </a:spcAft>
            </a:pPr>
            <a:r>
              <a:rPr lang="en-GB" sz="2800" b="0" dirty="0">
                <a:latin typeface="Calibri" panose="020F0502020204030204" charset="0"/>
                <a:cs typeface="Calibri" panose="020F0502020204030204" charset="0"/>
              </a:rPr>
              <a:t>Requirements are documented and input into the next round of the spiral.</a:t>
            </a:r>
            <a:r>
              <a:rPr lang="en-US" altLang="en-GB" sz="2800" b="0" dirty="0">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需求文档化</a:t>
            </a:r>
            <a:endParaRPr lang="zh-CN" altLang="en-US" sz="2800" b="0" dirty="0">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7555"/>
            <a:ext cx="8977630" cy="4953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Requirements elicitation techniques</a:t>
            </a:r>
            <a:endParaRPr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4819" name="Rectangle 3"/>
          <p:cNvSpPr>
            <a:spLocks noGrp="1" noChangeArrowheads="1"/>
          </p:cNvSpPr>
          <p:nvPr/>
        </p:nvSpPr>
        <p:spPr>
          <a:xfrm>
            <a:off x="112395" y="1296035"/>
            <a:ext cx="8930005" cy="53003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a:solidFill>
                  <a:schemeClr val="accent2">
                    <a:lumMod val="75000"/>
                  </a:schemeClr>
                </a:solidFill>
                <a:latin typeface="Calibri" panose="020F0502020204030204" charset="0"/>
                <a:cs typeface="Calibri" panose="020F0502020204030204" charset="0"/>
              </a:rPr>
              <a:t> I</a:t>
            </a:r>
            <a:r>
              <a:rPr sz="3200" dirty="0">
                <a:solidFill>
                  <a:schemeClr val="accent2">
                    <a:lumMod val="75000"/>
                  </a:schemeClr>
                </a:solidFill>
                <a:latin typeface="Calibri" panose="020F0502020204030204" charset="0"/>
                <a:cs typeface="Calibri" panose="020F0502020204030204" charset="0"/>
              </a:rPr>
              <a:t>nvolves meeting with stakeholders of different kinds to</a:t>
            </a:r>
            <a:r>
              <a:rPr lang="en-US" sz="3200" dirty="0">
                <a:solidFill>
                  <a:schemeClr val="accent2">
                    <a:lumMod val="75000"/>
                  </a:schemeClr>
                </a:solidFill>
                <a:latin typeface="Calibri" panose="020F0502020204030204" charset="0"/>
                <a:cs typeface="Calibri" panose="020F0502020204030204" charset="0"/>
              </a:rPr>
              <a:t> </a:t>
            </a:r>
            <a:r>
              <a:rPr sz="3200" dirty="0">
                <a:solidFill>
                  <a:schemeClr val="accent2">
                    <a:lumMod val="75000"/>
                  </a:schemeClr>
                </a:solidFill>
                <a:latin typeface="Calibri" panose="020F0502020204030204" charset="0"/>
                <a:cs typeface="Calibri" panose="020F0502020204030204" charset="0"/>
              </a:rPr>
              <a:t>discover information about the proposed system. </a:t>
            </a:r>
            <a:r>
              <a:rPr lang="en-US"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与各种干系人会面,发现系统的信息</a:t>
            </a:r>
            <a:endParaRPr sz="3200" dirty="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a:solidFill>
                  <a:schemeClr val="accent2">
                    <a:lumMod val="75000"/>
                  </a:schemeClr>
                </a:solidFill>
                <a:latin typeface="Calibri" panose="020F0502020204030204" charset="0"/>
                <a:cs typeface="Calibri" panose="020F0502020204030204" charset="0"/>
              </a:rPr>
              <a:t> There are two fundamental approaches: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两种途径</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1" algn="l">
              <a:lnSpc>
                <a:spcPct val="85000"/>
              </a:lnSpc>
              <a:spcBef>
                <a:spcPts val="500"/>
              </a:spcBef>
              <a:spcAft>
                <a:spcPts val="0"/>
              </a:spcAft>
            </a:pPr>
            <a:r>
              <a:rPr lang="en-US" sz="2800" b="0" dirty="0" smtClean="0">
                <a:latin typeface="Calibri" panose="020F0502020204030204" charset="0"/>
                <a:cs typeface="Calibri" panose="020F0502020204030204" charset="0"/>
                <a:sym typeface="+mn-ea"/>
              </a:rPr>
              <a:t>Interviewing, where you talk to people about what they do.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访谈</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a:p>
            <a:pPr lvl="1" algn="l">
              <a:lnSpc>
                <a:spcPct val="85000"/>
              </a:lnSpc>
              <a:spcBef>
                <a:spcPts val="500"/>
              </a:spcBef>
              <a:spcAft>
                <a:spcPts val="0"/>
              </a:spcAft>
            </a:pPr>
            <a:r>
              <a:rPr lang="en-US" sz="2800" b="0" dirty="0" smtClean="0">
                <a:latin typeface="Calibri" panose="020F0502020204030204" charset="0"/>
                <a:cs typeface="Calibri" panose="020F0502020204030204" charset="0"/>
                <a:sym typeface="+mn-ea"/>
              </a:rPr>
              <a:t>Observation or ethnography, where you watch people doing their job to see what artifacts they use, how they use them, and so on.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观察或人种志</a:t>
            </a:r>
            <a:endParaRPr lang="en-US" sz="3200" dirty="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a:solidFill>
                  <a:schemeClr val="accent2">
                    <a:lumMod val="75000"/>
                  </a:schemeClr>
                </a:solidFill>
                <a:latin typeface="Calibri" panose="020F0502020204030204" charset="0"/>
                <a:cs typeface="Calibri" panose="020F0502020204030204" charset="0"/>
              </a:rPr>
              <a:t> You </a:t>
            </a:r>
            <a:r>
              <a:rPr sz="3200" dirty="0">
                <a:solidFill>
                  <a:schemeClr val="accent2">
                    <a:lumMod val="75000"/>
                  </a:schemeClr>
                </a:solidFill>
                <a:latin typeface="Calibri" panose="020F0502020204030204" charset="0"/>
                <a:cs typeface="Calibri" panose="020F0502020204030204" charset="0"/>
              </a:rPr>
              <a:t>hould use </a:t>
            </a:r>
            <a:r>
              <a:rPr lang="en-US" sz="3200" dirty="0">
                <a:solidFill>
                  <a:schemeClr val="accent2">
                    <a:lumMod val="75000"/>
                  </a:schemeClr>
                </a:solidFill>
                <a:latin typeface="Calibri" panose="020F0502020204030204" charset="0"/>
                <a:cs typeface="Calibri" panose="020F0502020204030204" charset="0"/>
              </a:rPr>
              <a:t>a </a:t>
            </a:r>
            <a:r>
              <a:rPr sz="3200" dirty="0">
                <a:solidFill>
                  <a:schemeClr val="accent2">
                    <a:lumMod val="75000"/>
                  </a:schemeClr>
                </a:solidFill>
                <a:latin typeface="Calibri" panose="020F0502020204030204" charset="0"/>
                <a:cs typeface="Calibri" panose="020F0502020204030204" charset="0"/>
              </a:rPr>
              <a:t>mix of interviewing and observation to collect information and,</a:t>
            </a:r>
            <a:r>
              <a:rPr lang="en-US" sz="3200" dirty="0">
                <a:solidFill>
                  <a:schemeClr val="accent2">
                    <a:lumMod val="75000"/>
                  </a:schemeClr>
                </a:solidFill>
                <a:latin typeface="Calibri" panose="020F0502020204030204" charset="0"/>
                <a:cs typeface="Calibri" panose="020F0502020204030204" charset="0"/>
              </a:rPr>
              <a:t> </a:t>
            </a:r>
            <a:r>
              <a:rPr sz="3200" dirty="0">
                <a:solidFill>
                  <a:schemeClr val="accent2">
                    <a:lumMod val="75000"/>
                  </a:schemeClr>
                </a:solidFill>
                <a:latin typeface="Calibri" panose="020F0502020204030204" charset="0"/>
                <a:cs typeface="Calibri" panose="020F0502020204030204" charset="0"/>
              </a:rPr>
              <a:t>from that, derive the requirements.</a:t>
            </a:r>
            <a:r>
              <a:rPr lang="en-US"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应混合使用两种途径</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16280"/>
            <a:ext cx="8977630" cy="5365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Interviewing</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访谈</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71120" y="1241425"/>
            <a:ext cx="8994775" cy="53809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5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Formal or informal interviews with stakeholders </a:t>
            </a:r>
            <a:endParaRPr lang="en-US" sz="3200" dirty="0" smtClean="0">
              <a:solidFill>
                <a:schemeClr val="accent2">
                  <a:lumMod val="75000"/>
                </a:schemeClr>
              </a:solidFill>
              <a:latin typeface="Calibri" panose="020F0502020204030204" charset="0"/>
              <a:cs typeface="Calibri" panose="020F0502020204030204" charset="0"/>
            </a:endParaRPr>
          </a:p>
          <a:p>
            <a:pPr lvl="1" algn="l">
              <a:lnSpc>
                <a:spcPct val="85000"/>
              </a:lnSpc>
              <a:spcBef>
                <a:spcPts val="500"/>
              </a:spcBef>
              <a:spcAft>
                <a:spcPts val="0"/>
              </a:spcAft>
            </a:pPr>
            <a:r>
              <a:rPr lang="en-US" sz="2800" b="0" dirty="0" smtClean="0">
                <a:latin typeface="Calibri" panose="020F0502020204030204" charset="0"/>
                <a:cs typeface="Calibri" panose="020F0502020204030204" charset="0"/>
              </a:rPr>
              <a:t>Puts questions, </a:t>
            </a:r>
            <a:r>
              <a:rPr lang="en-US" sz="2800" b="0" dirty="0" smtClean="0">
                <a:latin typeface="Calibri" panose="020F0502020204030204" charset="0"/>
                <a:cs typeface="Calibri" panose="020F0502020204030204" charset="0"/>
                <a:sym typeface="+mn-ea"/>
              </a:rPr>
              <a:t>derive r</a:t>
            </a:r>
            <a:r>
              <a:rPr lang="en-US" sz="2800" b="0" dirty="0" smtClean="0">
                <a:latin typeface="Calibri" panose="020F0502020204030204" charset="0"/>
                <a:cs typeface="Calibri" panose="020F0502020204030204" charset="0"/>
              </a:rPr>
              <a:t>equirements from the answers.</a:t>
            </a:r>
            <a:endParaRPr lang="en-US" sz="2800" b="0" dirty="0" smtClean="0">
              <a:latin typeface="Calibri" panose="020F0502020204030204" charset="0"/>
              <a:cs typeface="Calibri" panose="020F0502020204030204" charset="0"/>
            </a:endParaRPr>
          </a:p>
          <a:p>
            <a:pPr>
              <a:lnSpc>
                <a:spcPct val="85000"/>
              </a:lnSpc>
              <a:spcBef>
                <a:spcPts val="5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Types of interview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访谈类型</a:t>
            </a:r>
            <a:endParaRPr lang="en-US" sz="3200" dirty="0" smtClean="0">
              <a:solidFill>
                <a:schemeClr val="accent2">
                  <a:lumMod val="75000"/>
                </a:schemeClr>
              </a:solidFill>
              <a:latin typeface="Calibri" panose="020F0502020204030204" charset="0"/>
              <a:cs typeface="Calibri" panose="020F0502020204030204" charset="0"/>
            </a:endParaRPr>
          </a:p>
          <a:p>
            <a:pPr lvl="1">
              <a:lnSpc>
                <a:spcPct val="85000"/>
              </a:lnSpc>
              <a:spcBef>
                <a:spcPts val="500"/>
              </a:spcBef>
              <a:spcAft>
                <a:spcPts val="0"/>
              </a:spcAft>
            </a:pPr>
            <a:r>
              <a:rPr lang="en-US" sz="2800" b="0" dirty="0" smtClean="0">
                <a:latin typeface="Calibri" panose="020F0502020204030204" charset="0"/>
                <a:cs typeface="Calibri" panose="020F0502020204030204" charset="0"/>
              </a:rPr>
              <a:t>Closed interviews, where the stakeholder answers a predefined set of questions.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封闭式访谈</a:t>
            </a:r>
            <a:endParaRPr lang="en-US" sz="2800" b="0" dirty="0" smtClean="0">
              <a:latin typeface="Calibri" panose="020F0502020204030204" charset="0"/>
              <a:cs typeface="Calibri" panose="020F0502020204030204" charset="0"/>
            </a:endParaRPr>
          </a:p>
          <a:p>
            <a:pPr lvl="1">
              <a:lnSpc>
                <a:spcPct val="85000"/>
              </a:lnSpc>
              <a:spcBef>
                <a:spcPts val="500"/>
              </a:spcBef>
              <a:spcAft>
                <a:spcPts val="0"/>
              </a:spcAft>
            </a:pPr>
            <a:r>
              <a:rPr lang="en-US" sz="2800" b="0" dirty="0" smtClean="0">
                <a:latin typeface="Calibri" panose="020F0502020204030204" charset="0"/>
                <a:cs typeface="Calibri" panose="020F0502020204030204" charset="0"/>
              </a:rPr>
              <a:t>Open interviews, where there is no predefined agenda. The requirements engineering team explores a range of issues with stakeholders.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开放式访谈</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5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In practice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实践中</a:t>
            </a:r>
            <a:endParaRPr lang="en-US" sz="3200" dirty="0" smtClean="0">
              <a:solidFill>
                <a:schemeClr val="accent2">
                  <a:lumMod val="75000"/>
                </a:schemeClr>
              </a:solidFill>
              <a:latin typeface="Calibri" panose="020F0502020204030204" charset="0"/>
              <a:cs typeface="Calibri" panose="020F0502020204030204" charset="0"/>
            </a:endParaRPr>
          </a:p>
          <a:p>
            <a:pPr lvl="1">
              <a:lnSpc>
                <a:spcPct val="85000"/>
              </a:lnSpc>
              <a:spcBef>
                <a:spcPts val="500"/>
              </a:spcBef>
              <a:spcAft>
                <a:spcPts val="0"/>
              </a:spcAft>
            </a:pPr>
            <a:r>
              <a:rPr lang="en-US" sz="2800" b="0" dirty="0" smtClean="0">
                <a:latin typeface="Calibri" panose="020F0502020204030204" charset="0"/>
                <a:cs typeface="Calibri" panose="020F0502020204030204" charset="0"/>
              </a:rPr>
              <a:t>Interviews are normally a mixture of both of these; </a:t>
            </a:r>
            <a:endParaRPr lang="en-US" sz="2800" b="0" dirty="0" smtClean="0">
              <a:latin typeface="Calibri" panose="020F0502020204030204" charset="0"/>
              <a:cs typeface="Calibri" panose="020F0502020204030204" charset="0"/>
            </a:endParaRPr>
          </a:p>
          <a:p>
            <a:pPr lvl="1">
              <a:lnSpc>
                <a:spcPct val="85000"/>
              </a:lnSpc>
              <a:spcBef>
                <a:spcPts val="500"/>
              </a:spcBef>
              <a:spcAft>
                <a:spcPts val="0"/>
              </a:spcAft>
            </a:pPr>
            <a:r>
              <a:rPr lang="en-US" sz="2800" b="0" dirty="0" smtClean="0">
                <a:latin typeface="Calibri" panose="020F0502020204030204" charset="0"/>
                <a:cs typeface="Calibri" panose="020F0502020204030204" charset="0"/>
              </a:rPr>
              <a:t>You may obtain the answer to certain questions, but these usually lead to other issues. Completely open-ended discussions rarely work well. </a:t>
            </a:r>
            <a:endParaRPr lang="en-US" sz="2800" b="0" dirty="0" smtClean="0">
              <a:latin typeface="Calibri" panose="020F0502020204030204" charset="0"/>
              <a:cs typeface="Calibri" panose="020F0502020204030204"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9310"/>
            <a:ext cx="8977630" cy="4953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Problems with interviews</a:t>
            </a:r>
            <a:endParaRPr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9530" y="1456690"/>
            <a:ext cx="9017635" cy="44424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All application specialists use jargon to discuss domain requirements. They normally use words in a precise and subtle way that requirements engineers may misunderstand.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应用专家</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使用行话，以精确和微妙的方式，需求工程师可能误解</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Some domain knowledge is so familiar to stakeholders that they either find it difficult to explain or they think it is so fundamental that it isn’t worth mentioning.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领域知识</a:t>
            </a:r>
            <a:r>
              <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或难解释</a:t>
            </a:r>
            <a:r>
              <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或过于基本而不值一提</a:t>
            </a:r>
            <a:endParaRPr lang="en-US" sz="2800" dirty="0">
              <a:latin typeface="Calibri" panose="020F0502020204030204" charset="0"/>
              <a:cs typeface="Calibri" panose="020F0502020204030204" charset="0"/>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7555"/>
            <a:ext cx="8977630" cy="5556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000" dirty="0">
                <a:solidFill>
                  <a:schemeClr val="accent1">
                    <a:lumMod val="75000"/>
                  </a:schemeClr>
                </a:solidFill>
                <a:ea typeface="宋体" panose="02010600030101010101" pitchFamily="2" charset="-122"/>
                <a:sym typeface="+mn-ea"/>
              </a:rPr>
              <a:t> </a:t>
            </a:r>
            <a:r>
              <a:rPr lang="en-US" sz="3200" dirty="0">
                <a:solidFill>
                  <a:schemeClr val="accent1">
                    <a:lumMod val="75000"/>
                  </a:schemeClr>
                </a:solidFill>
                <a:ea typeface="宋体" panose="02010600030101010101" pitchFamily="2" charset="-122"/>
                <a:sym typeface="+mn-ea"/>
              </a:rPr>
              <a:t>A</a:t>
            </a:r>
            <a:r>
              <a:rPr sz="3200" dirty="0">
                <a:solidFill>
                  <a:schemeClr val="accent1">
                    <a:lumMod val="75000"/>
                  </a:schemeClr>
                </a:solidFill>
                <a:ea typeface="宋体" panose="02010600030101010101" pitchFamily="2" charset="-122"/>
                <a:sym typeface="+mn-ea"/>
              </a:rPr>
              <a:t>n effective interviewer</a:t>
            </a: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should:</a:t>
            </a:r>
            <a:r>
              <a:rPr lang="en-US" sz="3200" dirty="0">
                <a:solidFill>
                  <a:schemeClr val="accent1">
                    <a:lumMod val="75000"/>
                  </a:schemeClr>
                </a:solidFill>
                <a:ea typeface="宋体" panose="02010600030101010101" pitchFamily="2" charset="-122"/>
                <a:sym typeface="+mn-ea"/>
              </a:rPr>
              <a:t> </a:t>
            </a:r>
            <a:r>
              <a:rPr lang="zh-CN" altLang="en-US"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应怎么做</a:t>
            </a:r>
            <a:endParaRPr lang="zh-CN" altLang="en-US"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9530" y="1313180"/>
            <a:ext cx="9017635" cy="51974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Be open-minded, avoid preconceived ideas, and willing to listen to stakeholders.</a:t>
            </a:r>
            <a:r>
              <a:rPr lang="en-US" sz="2800" b="0" dirty="0" smtClean="0">
                <a:solidFill>
                  <a:schemeClr val="tx1"/>
                </a:solidFill>
                <a:latin typeface="Calibri" panose="020F0502020204030204" charset="0"/>
                <a:cs typeface="Calibri" panose="020F0502020204030204" charset="0"/>
              </a:rPr>
              <a:t> If the stakeholder comes up with surprising requirements, then you should be willing to change your mind about the system.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思想开明，避免预设想法，愿意倾听</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Prompt the interviewee to get discussions going by using a springboard question or a requirements proposal, or by working together on a prototype system. </a:t>
            </a:r>
            <a:r>
              <a:rPr lang="en-US" sz="2800" b="0" dirty="0" smtClean="0">
                <a:solidFill>
                  <a:schemeClr val="tx1"/>
                </a:solidFill>
                <a:latin typeface="Calibri" panose="020F0502020204030204" charset="0"/>
                <a:cs typeface="Calibri" panose="020F0502020204030204" charset="0"/>
              </a:rPr>
              <a:t>Saying to people “tell me what you want” is unlikely to result in useful information. They find it much easier to talk in a defined context rather than in general terms.</a:t>
            </a:r>
            <a:r>
              <a:rPr lang="en-US" sz="3200" dirty="0" smtClean="0">
                <a:solidFill>
                  <a:schemeClr val="accent2">
                    <a:lumMod val="75000"/>
                  </a:schemeClr>
                </a:solidFill>
                <a:latin typeface="Calibri" panose="020F0502020204030204" charset="0"/>
                <a:cs typeface="Calibri" panose="020F0502020204030204" charset="0"/>
              </a:rPr>
              <a:t>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给受访人提示：使用跳板性问题，或需求建议，或一起讨论原型</a:t>
            </a:r>
            <a:endPar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2155"/>
            <a:ext cx="8977630" cy="5810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Ethnography</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人种学调查</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8900" y="1296035"/>
            <a:ext cx="8973185" cy="530796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It is very important that, during the requirements engineering process, you try to understand the social and organizational issues that affect the use of the system.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需求分析过程中，要考虑社会和组织问题</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Ethnography is an </a:t>
            </a:r>
            <a:r>
              <a:rPr lang="en-US" sz="3100" u="sng" dirty="0" smtClean="0">
                <a:solidFill>
                  <a:schemeClr val="accent2">
                    <a:lumMod val="75000"/>
                  </a:schemeClr>
                </a:solidFill>
                <a:latin typeface="Calibri" panose="020F0502020204030204" charset="0"/>
                <a:cs typeface="Calibri" panose="020F0502020204030204" charset="0"/>
              </a:rPr>
              <a:t>observational technique</a:t>
            </a:r>
            <a:r>
              <a:rPr lang="en-US" sz="3100" dirty="0" smtClean="0">
                <a:solidFill>
                  <a:schemeClr val="accent2">
                    <a:lumMod val="75000"/>
                  </a:schemeClr>
                </a:solidFill>
                <a:latin typeface="Calibri" panose="020F0502020204030204" charset="0"/>
                <a:cs typeface="Calibri" panose="020F0502020204030204" charset="0"/>
              </a:rPr>
              <a:t> that can be used to understand operational processes and help derive requirements. </a:t>
            </a:r>
            <a:r>
              <a:rPr lang="en-US" sz="2800" b="0" dirty="0" smtClean="0">
                <a:solidFill>
                  <a:schemeClr val="tx1"/>
                </a:solidFill>
                <a:latin typeface="Calibri" panose="020F0502020204030204" charset="0"/>
                <a:cs typeface="Calibri" panose="020F0502020204030204" charset="0"/>
              </a:rPr>
              <a:t>An analyst immerses himself or herself in the working environment. The day-to-day work is observed, and notes are made of the actual tasks in which participants are involved.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是一种观察技术</a:t>
            </a:r>
            <a:endParaRPr lang="en-US" sz="2800" b="0" dirty="0" smtClean="0">
              <a:solidFill>
                <a:schemeClr val="tx1"/>
              </a:solidFill>
              <a:latin typeface="Calibri" panose="020F0502020204030204" charset="0"/>
              <a:cs typeface="Calibri" panose="020F0502020204030204" charset="0"/>
            </a:endParaRPr>
          </a:p>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The value of ethnography is that it helps discover implicit system requirements that reflect the actual ways that people work.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价值：发现隐含需求 </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9310"/>
            <a:ext cx="8977630" cy="1250315"/>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Ethnography is particularly effective for</a:t>
            </a: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discovering two types of requirements:</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人种学调查尤其适合于发现两种需求</a:t>
            </a:r>
            <a:endPar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76803" name="Rectangle 3"/>
          <p:cNvSpPr>
            <a:spLocks noGrp="1" noChangeArrowheads="1"/>
          </p:cNvSpPr>
          <p:nvPr/>
        </p:nvSpPr>
        <p:spPr>
          <a:xfrm>
            <a:off x="48895" y="2030730"/>
            <a:ext cx="9017635" cy="361823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Requirements derived from the way in which people actually work, rather than</a:t>
            </a: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the way in which business process definitions say. In practice, people never follow formal processes. </a:t>
            </a:r>
            <a:r>
              <a:rPr lang="en-US" altLang="en-GB"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从实际工作方式，而不是业务过程定义中得出的需求</a:t>
            </a:r>
            <a:endParaRPr lang="en-US" altLang="en-GB" sz="30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Requirements derived from cooperation and awareness of other people’s activities. </a:t>
            </a:r>
            <a:r>
              <a:rPr lang="en-US" altLang="en-GB"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从与他人合作和对他人活动的了解中得出的需求</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9310"/>
            <a:ext cx="8977630" cy="1215390"/>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sz="3100" dirty="0">
                <a:solidFill>
                  <a:schemeClr val="accent1">
                    <a:lumMod val="75000"/>
                  </a:schemeClr>
                </a:solidFill>
                <a:ea typeface="宋体" panose="02010600030101010101" pitchFamily="2" charset="-122"/>
                <a:sym typeface="+mn-ea"/>
              </a:rPr>
              <a:t> </a:t>
            </a:r>
            <a:r>
              <a:rPr sz="3100" dirty="0">
                <a:solidFill>
                  <a:schemeClr val="accent1">
                    <a:lumMod val="75000"/>
                  </a:schemeClr>
                </a:solidFill>
                <a:ea typeface="宋体" panose="02010600030101010101" pitchFamily="2" charset="-122"/>
                <a:sym typeface="+mn-ea"/>
              </a:rPr>
              <a:t>Ethnography can be combined with the development of a system prototype.</a:t>
            </a:r>
            <a:r>
              <a:rPr lang="en-US" sz="31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人种学调查可与系统原型开发相结合</a:t>
            </a:r>
            <a:endPar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76803" name="Rectangle 3"/>
          <p:cNvSpPr>
            <a:spLocks noGrp="1" noChangeArrowheads="1"/>
          </p:cNvSpPr>
          <p:nvPr/>
        </p:nvSpPr>
        <p:spPr>
          <a:xfrm>
            <a:off x="38100" y="2096770"/>
            <a:ext cx="9027795" cy="381063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5000"/>
              </a:lnSpc>
              <a:spcBef>
                <a:spcPts val="8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The ethnography informs the development of the prototype so that</a:t>
            </a: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fewer prototype refinement cycles are required. </a:t>
            </a:r>
            <a:r>
              <a:rPr lang="en-US" altLang="en-GB"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人种学调查为原型开发提供信息</a:t>
            </a:r>
            <a:endParaRPr lang="en-GB" sz="3200" dirty="0">
              <a:solidFill>
                <a:schemeClr val="accent2">
                  <a:lumMod val="75000"/>
                </a:schemeClr>
              </a:solidFill>
              <a:latin typeface="Calibri" panose="020F0502020204030204" charset="0"/>
              <a:cs typeface="Calibri" panose="020F0502020204030204" charset="0"/>
            </a:endParaRPr>
          </a:p>
          <a:p>
            <a:pPr>
              <a:lnSpc>
                <a:spcPct val="95000"/>
              </a:lnSpc>
              <a:spcBef>
                <a:spcPts val="8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Furthermore, the prototyping</a:t>
            </a: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focuses the ethnography by identifying problems and questions that can then be discussed with the ethnographer. </a:t>
            </a:r>
            <a:r>
              <a:rPr lang="en-US" altLang="en-GB"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原型识别问题和疑问，与调查人员讨论，使人种学调查更聚焦</a:t>
            </a:r>
            <a:endParaRPr lang="en-GB" sz="3200" dirty="0" smtClean="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9310"/>
            <a:ext cx="8977630" cy="10807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2900" dirty="0">
                <a:solidFill>
                  <a:schemeClr val="accent1">
                    <a:lumMod val="75000"/>
                  </a:schemeClr>
                </a:solidFill>
                <a:ea typeface="宋体" panose="02010600030101010101" pitchFamily="2" charset="-122"/>
                <a:sym typeface="+mn-ea"/>
              </a:rPr>
              <a:t> </a:t>
            </a:r>
            <a:r>
              <a:rPr sz="2900" dirty="0">
                <a:solidFill>
                  <a:schemeClr val="accent1">
                    <a:lumMod val="75000"/>
                  </a:schemeClr>
                </a:solidFill>
                <a:ea typeface="宋体" panose="02010600030101010101" pitchFamily="2" charset="-122"/>
                <a:sym typeface="+mn-ea"/>
              </a:rPr>
              <a:t>Ethnography and prototyping for requirements analysis</a:t>
            </a:r>
            <a:r>
              <a:rPr lang="en-US" sz="2900" dirty="0">
                <a:solidFill>
                  <a:schemeClr val="accent1">
                    <a:lumMod val="75000"/>
                  </a:schemeClr>
                </a:solidFill>
                <a:ea typeface="宋体" panose="02010600030101010101" pitchFamily="2" charset="-122"/>
                <a:sym typeface="+mn-ea"/>
              </a:rPr>
              <a:t> </a:t>
            </a:r>
            <a:r>
              <a:rPr lang="zh-CN" altLang="en-US" sz="29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 </a:t>
            </a:r>
            <a:r>
              <a:rPr lang="en-US" altLang="zh-CN" sz="29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用于需求分析的人种学调查和原型化</a:t>
            </a:r>
            <a:endPar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212090" y="1980565"/>
            <a:ext cx="8790940" cy="2369820"/>
          </a:xfrm>
          <a:prstGeom prst="rect">
            <a:avLst/>
          </a:prstGeom>
        </p:spPr>
      </p:pic>
      <p:sp>
        <p:nvSpPr>
          <p:cNvPr id="7" name="Rectangle 3"/>
          <p:cNvSpPr>
            <a:spLocks noGrp="1" noRot="1"/>
          </p:cNvSpPr>
          <p:nvPr>
            <p:custDataLst>
              <p:tags r:id="rId4"/>
            </p:custDataLst>
          </p:nvPr>
        </p:nvSpPr>
        <p:spPr>
          <a:xfrm>
            <a:off x="88265" y="4447540"/>
            <a:ext cx="8978900" cy="2070735"/>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500"/>
              </a:spcBef>
              <a:buSzTx/>
              <a:buFont typeface="Wingdings" panose="05000000000000000000" pitchFamily="2" charset="2"/>
              <a:buNone/>
            </a:pPr>
            <a:r>
              <a:rPr lang="en-US" altLang="zh-CN" sz="2000" b="0" dirty="0">
                <a:solidFill>
                  <a:schemeClr val="tx1"/>
                </a:solidFill>
                <a:ea typeface="宋体" panose="02010600030101010101" pitchFamily="2" charset="-122"/>
                <a:sym typeface="Symbol" panose="05050102010706020507" charset="0"/>
              </a:rPr>
              <a:t> </a:t>
            </a:r>
            <a:r>
              <a:rPr lang="en-US" altLang="zh-CN" sz="2000" b="0" dirty="0">
                <a:solidFill>
                  <a:schemeClr val="tx1"/>
                </a:solidFill>
                <a:ea typeface="宋体" panose="02010600030101010101" pitchFamily="2" charset="-122"/>
                <a:sym typeface="+mn-ea"/>
              </a:rPr>
              <a:t>Ethnography is helpful to understand existing systems, but this understanding does not always help with innovation. Innovation is particularly relevant for new product development. </a:t>
            </a:r>
            <a:endParaRPr lang="en-US" altLang="zh-CN" sz="2000" b="0" dirty="0">
              <a:solidFill>
                <a:schemeClr val="tx1"/>
              </a:solidFill>
              <a:ea typeface="宋体" panose="02010600030101010101" pitchFamily="2" charset="-122"/>
              <a:sym typeface="+mn-ea"/>
            </a:endParaRPr>
          </a:p>
          <a:p>
            <a:pPr marL="0" indent="0" algn="l" eaLnBrk="1" hangingPunct="1">
              <a:lnSpc>
                <a:spcPct val="90000"/>
              </a:lnSpc>
              <a:spcBef>
                <a:spcPts val="500"/>
              </a:spcBef>
              <a:buSzTx/>
              <a:buFont typeface="Wingdings" panose="05000000000000000000" pitchFamily="2" charset="2"/>
              <a:buNone/>
            </a:pPr>
            <a:r>
              <a:rPr lang="en-US" altLang="zh-CN" sz="2000" b="0" dirty="0">
                <a:ea typeface="宋体" panose="02010600030101010101" pitchFamily="2" charset="-122"/>
                <a:sym typeface="Symbol" panose="05050102010706020507" charset="0"/>
              </a:rPr>
              <a:t> Ethnographic studies can reveal critical process details that are often missed by </a:t>
            </a:r>
            <a:r>
              <a:rPr lang="en-US" altLang="zh-CN" sz="2000" b="0" dirty="0">
                <a:solidFill>
                  <a:schemeClr val="tx1"/>
                </a:solidFill>
                <a:ea typeface="宋体" panose="02010600030101010101" pitchFamily="2" charset="-122"/>
                <a:sym typeface="+mn-ea"/>
              </a:rPr>
              <a:t>other requirements elicitation techniques. However, because of its focus on the enduser, this approach is not effective for discovering broader organizational or domain requirements or for suggestion innovations.</a:t>
            </a:r>
            <a:endParaRPr lang="en-US" altLang="zh-CN" sz="2000" b="0" dirty="0">
              <a:solidFill>
                <a:schemeClr val="tx1"/>
              </a:solidFill>
              <a:ea typeface="宋体" panose="02010600030101010101" pitchFamily="2" charset="-122"/>
              <a:sym typeface="+mn-ea"/>
            </a:endParaRPr>
          </a:p>
        </p:txBody>
      </p:sp>
      <p:pic>
        <p:nvPicPr>
          <p:cNvPr id="2" name="图片 1"/>
          <p:cNvPicPr>
            <a:picLocks noChangeAspect="1"/>
          </p:cNvPicPr>
          <p:nvPr/>
        </p:nvPicPr>
        <p:blipFill>
          <a:blip r:embed="rId5"/>
          <a:stretch>
            <a:fillRect/>
          </a:stretch>
        </p:blipFill>
        <p:spPr>
          <a:xfrm>
            <a:off x="7092315" y="1844675"/>
            <a:ext cx="1866900" cy="647700"/>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6445"/>
            <a:ext cx="8977630" cy="6019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Stories and scenarios</a:t>
            </a:r>
            <a:r>
              <a:rPr lang="en-US"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故事和场景</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76803" name="Rectangle 3"/>
          <p:cNvSpPr>
            <a:spLocks noGrp="1" noChangeArrowheads="1"/>
          </p:cNvSpPr>
          <p:nvPr/>
        </p:nvSpPr>
        <p:spPr>
          <a:xfrm>
            <a:off x="86360" y="1313180"/>
            <a:ext cx="8980170" cy="52832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3000"/>
              </a:lnSpc>
              <a:spcAft>
                <a:spcPts val="0"/>
              </a:spcAft>
            </a:pPr>
            <a:r>
              <a:rPr lang="en-US" altLang="en-GB" sz="3200" dirty="0">
                <a:solidFill>
                  <a:schemeClr val="accent2">
                    <a:lumMod val="75000"/>
                  </a:schemeClr>
                </a:solidFill>
                <a:latin typeface="Calibri" panose="020F0502020204030204" charset="0"/>
                <a:cs typeface="Calibri" panose="020F0502020204030204" charset="0"/>
              </a:rPr>
              <a:t> Stories and scenarios are a description of how the system can be used for some particular task. </a:t>
            </a:r>
            <a:r>
              <a:rPr lang="en-US" altLang="en-GB" sz="2800" b="0" dirty="0">
                <a:solidFill>
                  <a:schemeClr val="tx1"/>
                </a:solidFill>
                <a:latin typeface="Calibri" panose="020F0502020204030204" charset="0"/>
                <a:cs typeface="Calibri" panose="020F0502020204030204" charset="0"/>
              </a:rPr>
              <a:t>They describe what people do, what information they use and produce, and what systems they may use in this process</a:t>
            </a:r>
            <a:r>
              <a:rPr lang="en-US" altLang="en-GB"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含义：系统如何使用的描述</a:t>
            </a:r>
            <a:endParaRPr lang="en-US" altLang="en-GB" sz="3200" dirty="0">
              <a:solidFill>
                <a:schemeClr val="accent2">
                  <a:lumMod val="75000"/>
                </a:schemeClr>
              </a:solidFill>
              <a:latin typeface="Calibri" panose="020F0502020204030204" charset="0"/>
              <a:cs typeface="Calibri" panose="020F0502020204030204" charset="0"/>
            </a:endParaRPr>
          </a:p>
          <a:p>
            <a:pPr>
              <a:lnSpc>
                <a:spcPct val="83000"/>
              </a:lnSpc>
              <a:spcAft>
                <a:spcPts val="0"/>
              </a:spcAft>
            </a:pPr>
            <a:r>
              <a:rPr lang="en-US" altLang="en-GB" sz="3200" dirty="0">
                <a:solidFill>
                  <a:schemeClr val="accent2">
                    <a:lumMod val="75000"/>
                  </a:schemeClr>
                </a:solidFill>
                <a:latin typeface="Calibri" panose="020F0502020204030204" charset="0"/>
                <a:cs typeface="Calibri" panose="020F0502020204030204" charset="0"/>
              </a:rPr>
              <a:t> The difference is in the ways that descriptions are structured and in the level of detail presented. </a:t>
            </a:r>
            <a:r>
              <a:rPr lang="en-US" altLang="en-GB" sz="2800" b="0" dirty="0">
                <a:solidFill>
                  <a:schemeClr val="tx1"/>
                </a:solidFill>
                <a:latin typeface="Calibri" panose="020F0502020204030204" charset="0"/>
                <a:cs typeface="Calibri" panose="020F0502020204030204" charset="0"/>
              </a:rPr>
              <a:t>Stories are written as narrative text and present a high-level description of system use; scenarios are usually structured with specific information collected such as inputs and outputs.  Stories are effective in setting out the “big picture.” Parts of stories can then be developed in more detail and represented as scenarios.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两者区别</a:t>
            </a:r>
            <a:r>
              <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描述的组织方式，呈现的详细程度</a:t>
            </a:r>
            <a:endParaRPr lang="zh-CN" altLang="en-US" sz="2400" b="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7555"/>
            <a:ext cx="8977630" cy="883920"/>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 user story </a:t>
            </a:r>
            <a:r>
              <a:rPr sz="3200" dirty="0">
                <a:solidFill>
                  <a:schemeClr val="accent1">
                    <a:lumMod val="75000"/>
                  </a:schemeClr>
                </a:solidFill>
                <a:ea typeface="宋体" panose="02010600030101010101" pitchFamily="2" charset="-122"/>
                <a:sym typeface="+mn-ea"/>
              </a:rPr>
              <a:t>for the iLearn system</a:t>
            </a:r>
            <a:r>
              <a:rPr lang="zh-CN" sz="3200" dirty="0">
                <a:solidFill>
                  <a:schemeClr val="accent1">
                    <a:lumMod val="75000"/>
                  </a:schemeClr>
                </a:solidFill>
                <a:ea typeface="宋体" panose="02010600030101010101" pitchFamily="2" charset="-122"/>
                <a:sym typeface="+mn-ea"/>
              </a:rPr>
              <a:t>：</a:t>
            </a:r>
            <a:r>
              <a:rPr sz="3200" dirty="0">
                <a:solidFill>
                  <a:schemeClr val="accent1">
                    <a:lumMod val="75000"/>
                  </a:schemeClr>
                </a:solidFill>
                <a:ea typeface="宋体" panose="02010600030101010101" pitchFamily="2" charset="-122"/>
                <a:sym typeface="+mn-ea"/>
              </a:rPr>
              <a:t>Photo sharing in classroom (iLearn)</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用户故事实例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09855" y="1600200"/>
            <a:ext cx="8933815" cy="51022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endParaRPr lang="en-GB" sz="1700" b="0" dirty="0"/>
          </a:p>
          <a:p>
            <a:r>
              <a:rPr lang="en-GB" sz="1700" b="0" dirty="0"/>
              <a:t>Jack is a primary school teacher in Ullapool (a village in northern Scotland). He has decided that a class project should be focused around the fishing industry in the area, looking at the history, development and economic impact of fishing. As part of this, pupils are asked to gather and share reminiscences from relatives, use newspaper archives and collect old photographs related to fishing and fishing communities in the area. Pupils use an </a:t>
            </a:r>
            <a:r>
              <a:rPr lang="en-GB" sz="1700" b="0" dirty="0" err="1"/>
              <a:t>iLearn</a:t>
            </a:r>
            <a:r>
              <a:rPr lang="en-GB" sz="1700" b="0" dirty="0"/>
              <a:t> wiki to gather together fishing stories and SCRAN (a history resources site) to access newspaper archives and photographs. However, Jack also needs a photo sharing site as he wants pupils to take and comment on each others’ photos and to upload scans of old photographs that they may have in their </a:t>
            </a:r>
            <a:r>
              <a:rPr lang="en-GB" sz="1700" b="0" dirty="0" smtClean="0"/>
              <a:t>families.</a:t>
            </a:r>
            <a:br>
              <a:rPr lang="en-GB" sz="1700" b="0" dirty="0" smtClean="0"/>
            </a:br>
            <a:r>
              <a:rPr lang="en-GB" sz="1700" b="0" dirty="0" smtClean="0"/>
              <a:t>Jack </a:t>
            </a:r>
            <a:r>
              <a:rPr lang="en-GB" sz="1700" b="0" dirty="0"/>
              <a:t>sends an email to a primary school teachers group, which he is a member of to see if anyone can recommend an appropriate system. Two teachers reply and both suggest that he uses </a:t>
            </a:r>
            <a:r>
              <a:rPr lang="en-GB" sz="1700" b="0" dirty="0" err="1"/>
              <a:t>KidsTakePics</a:t>
            </a:r>
            <a:r>
              <a:rPr lang="en-GB" sz="1700" b="0" dirty="0"/>
              <a:t>, a photo sharing site that allows teachers to check and moderate content. As </a:t>
            </a:r>
            <a:r>
              <a:rPr lang="en-GB" sz="1700" b="0" dirty="0" err="1"/>
              <a:t>KidsTakePics</a:t>
            </a:r>
            <a:r>
              <a:rPr lang="en-GB" sz="1700" b="0" dirty="0"/>
              <a:t> is not integrated with the </a:t>
            </a:r>
            <a:r>
              <a:rPr lang="en-GB" sz="1700" b="0" dirty="0" err="1"/>
              <a:t>iLearn</a:t>
            </a:r>
            <a:r>
              <a:rPr lang="en-GB" sz="1700" b="0" dirty="0"/>
              <a:t> authentication service, he sets up a teacher and a class account. He uses the </a:t>
            </a:r>
            <a:r>
              <a:rPr lang="en-GB" sz="1700" b="0" dirty="0" err="1"/>
              <a:t>iLearn</a:t>
            </a:r>
            <a:r>
              <a:rPr lang="en-GB" sz="1700" b="0" dirty="0"/>
              <a:t> setup service to add </a:t>
            </a:r>
            <a:r>
              <a:rPr lang="en-GB" sz="1700" b="0" dirty="0" err="1"/>
              <a:t>KidsTakePics</a:t>
            </a:r>
            <a:r>
              <a:rPr lang="en-GB" sz="1700" b="0" dirty="0"/>
              <a:t> to the services seen by the pupils in his class so that when they log in, they can immediately use the system to upload photos from their mobile devices and class computers.</a:t>
            </a:r>
            <a:endParaRPr lang="en-US" sz="1700" b="0" dirty="0"/>
          </a:p>
        </p:txBody>
      </p:sp>
      <p:pic>
        <p:nvPicPr>
          <p:cNvPr id="2" name="图片 1"/>
          <p:cNvPicPr>
            <a:picLocks noChangeAspect="1"/>
          </p:cNvPicPr>
          <p:nvPr/>
        </p:nvPicPr>
        <p:blipFill>
          <a:blip r:embed="rId3"/>
          <a:stretch>
            <a:fillRect/>
          </a:stretch>
        </p:blipFill>
        <p:spPr>
          <a:xfrm>
            <a:off x="109220" y="2063750"/>
            <a:ext cx="8963025" cy="3695700"/>
          </a:xfrm>
          <a:prstGeom prst="rect">
            <a:avLst/>
          </a:prstGeom>
        </p:spPr>
      </p:pic>
      <p:pic>
        <p:nvPicPr>
          <p:cNvPr id="6" name="图片 5"/>
          <p:cNvPicPr>
            <a:picLocks noChangeAspect="1"/>
          </p:cNvPicPr>
          <p:nvPr/>
        </p:nvPicPr>
        <p:blipFill>
          <a:blip r:embed="rId4"/>
          <a:stretch>
            <a:fillRect/>
          </a:stretch>
        </p:blipFill>
        <p:spPr>
          <a:xfrm>
            <a:off x="497205" y="1726565"/>
            <a:ext cx="2695575" cy="247650"/>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89610"/>
            <a:ext cx="8977630" cy="5715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Scenarios</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场景</a:t>
            </a:r>
            <a:r>
              <a:rPr lang="en-US" sz="3200" dirty="0">
                <a:solidFill>
                  <a:schemeClr val="accent1">
                    <a:lumMod val="75000"/>
                  </a:schemeClr>
                </a:solidFill>
                <a:ea typeface="宋体" panose="02010600030101010101" pitchFamily="2" charset="-122"/>
                <a:sym typeface="+mn-ea"/>
              </a:rPr>
              <a:t>   </a:t>
            </a:r>
            <a:endParaRPr 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76200" y="1241425"/>
            <a:ext cx="8990330" cy="538734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Scenarios are descriptions of example user interaction sessions. It is best to present scenarios in a structured way. </a:t>
            </a:r>
            <a:r>
              <a:rPr lang="en-US" sz="2800" b="0" dirty="0" smtClean="0">
                <a:solidFill>
                  <a:schemeClr val="tx1"/>
                </a:solidFill>
                <a:latin typeface="Calibri" panose="020F0502020204030204" charset="0"/>
                <a:cs typeface="Calibri" panose="020F0502020204030204" charset="0"/>
              </a:rPr>
              <a:t>A scenario starts with an outline of the interaction. During the elicitation process, details are added to create a complete description of that interaction.</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含义: 用户交互会话的描述，以结构化方式呈现</a:t>
            </a:r>
            <a:r>
              <a:rPr lang="en-US" sz="3200" dirty="0" smtClean="0">
                <a:solidFill>
                  <a:schemeClr val="accent2">
                    <a:lumMod val="75000"/>
                  </a:schemeClr>
                </a:solidFill>
                <a:latin typeface="Calibri" panose="020F0502020204030204" charset="0"/>
                <a:cs typeface="Calibri" panose="020F0502020204030204" charset="0"/>
              </a:rPr>
              <a:t> </a:t>
            </a:r>
            <a:endParaRPr lang="en-US" sz="3200" dirty="0" smtClean="0">
              <a:solidFill>
                <a:schemeClr val="accent2">
                  <a:lumMod val="75000"/>
                </a:schemeClr>
              </a:solidFill>
              <a:latin typeface="Calibri" panose="020F0502020204030204" charset="0"/>
              <a:cs typeface="Calibri" panose="020F0502020204030204" charset="0"/>
            </a:endParaRPr>
          </a:p>
          <a:p>
            <a:pPr>
              <a:lnSpc>
                <a:spcPct val="82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Scenarios should </a:t>
            </a:r>
            <a:r>
              <a:rPr lang="en-US" sz="3200" dirty="0">
                <a:solidFill>
                  <a:schemeClr val="accent2">
                    <a:lumMod val="75000"/>
                  </a:schemeClr>
                </a:solidFill>
                <a:latin typeface="Calibri" panose="020F0502020204030204" charset="0"/>
                <a:cs typeface="Calibri" panose="020F0502020204030204" charset="0"/>
              </a:rPr>
              <a:t>include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包括</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1">
              <a:lnSpc>
                <a:spcPct val="82000"/>
              </a:lnSpc>
              <a:spcBef>
                <a:spcPts val="600"/>
              </a:spcBef>
              <a:spcAft>
                <a:spcPts val="0"/>
              </a:spcAft>
            </a:pPr>
            <a:r>
              <a:rPr lang="en-US" sz="2800" b="0" dirty="0">
                <a:latin typeface="Calibri" panose="020F0502020204030204" charset="0"/>
                <a:cs typeface="Calibri" panose="020F0502020204030204" charset="0"/>
              </a:rPr>
              <a:t>A description of the starting situation;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开始</a:t>
            </a:r>
            <a:endParaRPr lang="en-US" sz="2800" b="0" dirty="0">
              <a:latin typeface="Calibri" panose="020F0502020204030204" charset="0"/>
              <a:cs typeface="Calibri" panose="020F0502020204030204" charset="0"/>
            </a:endParaRPr>
          </a:p>
          <a:p>
            <a:pPr lvl="1">
              <a:lnSpc>
                <a:spcPct val="82000"/>
              </a:lnSpc>
              <a:spcBef>
                <a:spcPts val="600"/>
              </a:spcBef>
              <a:spcAft>
                <a:spcPts val="0"/>
              </a:spcAft>
            </a:pPr>
            <a:r>
              <a:rPr lang="en-US" sz="2800" b="0" dirty="0">
                <a:latin typeface="Calibri" panose="020F0502020204030204" charset="0"/>
                <a:cs typeface="Calibri" panose="020F0502020204030204" charset="0"/>
              </a:rPr>
              <a:t>A description of the normal flow of events;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事件流</a:t>
            </a:r>
            <a:endParaRPr lang="en-US" sz="2800" b="0" dirty="0">
              <a:latin typeface="Calibri" panose="020F0502020204030204" charset="0"/>
              <a:cs typeface="Calibri" panose="020F0502020204030204" charset="0"/>
            </a:endParaRPr>
          </a:p>
          <a:p>
            <a:pPr lvl="1">
              <a:lnSpc>
                <a:spcPct val="82000"/>
              </a:lnSpc>
              <a:spcBef>
                <a:spcPts val="600"/>
              </a:spcBef>
              <a:spcAft>
                <a:spcPts val="0"/>
              </a:spcAft>
            </a:pPr>
            <a:r>
              <a:rPr lang="en-US" sz="2800" b="0" dirty="0">
                <a:latin typeface="Calibri" panose="020F0502020204030204" charset="0"/>
                <a:cs typeface="Calibri" panose="020F0502020204030204" charset="0"/>
              </a:rPr>
              <a:t>A description of what can go wrong and how resulting problems can be handled;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出什么错，如何解决</a:t>
            </a:r>
            <a:endParaRPr lang="en-US" sz="2800" b="0" dirty="0">
              <a:latin typeface="Calibri" panose="020F0502020204030204" charset="0"/>
              <a:cs typeface="Calibri" panose="020F0502020204030204" charset="0"/>
            </a:endParaRPr>
          </a:p>
          <a:p>
            <a:pPr lvl="1">
              <a:lnSpc>
                <a:spcPct val="82000"/>
              </a:lnSpc>
              <a:spcBef>
                <a:spcPts val="600"/>
              </a:spcBef>
              <a:spcAft>
                <a:spcPts val="0"/>
              </a:spcAft>
            </a:pPr>
            <a:r>
              <a:rPr lang="en-US" sz="2800" b="0" dirty="0">
                <a:latin typeface="Calibri" panose="020F0502020204030204" charset="0"/>
                <a:cs typeface="Calibri" panose="020F0502020204030204" charset="0"/>
              </a:rPr>
              <a:t>Information about other activities meanwhile; </a:t>
            </a:r>
            <a:r>
              <a:rPr lang="zh-CN" altLang="en-US" sz="18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同时的活动 </a:t>
            </a:r>
            <a:r>
              <a:rPr lang="en-US" sz="1800" b="0" dirty="0">
                <a:latin typeface="Calibri" panose="020F0502020204030204" charset="0"/>
                <a:cs typeface="Calibri" panose="020F0502020204030204" charset="0"/>
              </a:rPr>
              <a:t> </a:t>
            </a:r>
            <a:endParaRPr lang="en-US" sz="1800" b="0" dirty="0">
              <a:latin typeface="Calibri" panose="020F0502020204030204" charset="0"/>
              <a:cs typeface="Calibri" panose="020F0502020204030204" charset="0"/>
            </a:endParaRPr>
          </a:p>
          <a:p>
            <a:pPr lvl="1">
              <a:lnSpc>
                <a:spcPct val="82000"/>
              </a:lnSpc>
              <a:spcBef>
                <a:spcPts val="600"/>
              </a:spcBef>
              <a:spcAft>
                <a:spcPts val="0"/>
              </a:spcAft>
            </a:pPr>
            <a:r>
              <a:rPr lang="en-US" sz="2800" b="0" dirty="0">
                <a:latin typeface="Calibri" panose="020F0502020204030204" charset="0"/>
                <a:cs typeface="Calibri" panose="020F0502020204030204" charset="0"/>
              </a:rPr>
              <a:t>A description of the state when the scenario ends.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结束</a:t>
            </a:r>
            <a:endParaRPr lang="zh-CN" altLang="en-US" sz="2800" b="0" dirty="0">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4690"/>
            <a:ext cx="8977630" cy="6019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2900" dirty="0">
                <a:solidFill>
                  <a:schemeClr val="accent1">
                    <a:lumMod val="75000"/>
                  </a:schemeClr>
                </a:solidFill>
                <a:ea typeface="宋体" panose="02010600030101010101" pitchFamily="2" charset="-122"/>
                <a:sym typeface="+mn-ea"/>
              </a:rPr>
              <a:t> Example of scenario: </a:t>
            </a:r>
            <a:r>
              <a:rPr sz="2900" dirty="0">
                <a:solidFill>
                  <a:schemeClr val="accent1">
                    <a:lumMod val="75000"/>
                  </a:schemeClr>
                </a:solidFill>
                <a:ea typeface="宋体" panose="02010600030101010101" pitchFamily="2" charset="-122"/>
                <a:sym typeface="+mn-ea"/>
              </a:rPr>
              <a:t>Uploading photos</a:t>
            </a:r>
            <a:r>
              <a:rPr lang="en-US" sz="2900" dirty="0">
                <a:solidFill>
                  <a:schemeClr val="accent1">
                    <a:lumMod val="75000"/>
                  </a:schemeClr>
                </a:solidFill>
                <a:ea typeface="宋体" panose="02010600030101010101" pitchFamily="2" charset="-122"/>
                <a:sym typeface="+mn-ea"/>
              </a:rPr>
              <a:t> </a:t>
            </a:r>
            <a:r>
              <a:rPr lang="zh-CN" altLang="en-US"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场景例子</a:t>
            </a:r>
            <a:endParaRPr lang="zh-CN" altLang="en-US"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pic>
        <p:nvPicPr>
          <p:cNvPr id="5" name="图片 4"/>
          <p:cNvPicPr>
            <a:picLocks noChangeAspect="1"/>
          </p:cNvPicPr>
          <p:nvPr/>
        </p:nvPicPr>
        <p:blipFill>
          <a:blip r:embed="rId3"/>
          <a:stretch>
            <a:fillRect/>
          </a:stretch>
        </p:blipFill>
        <p:spPr>
          <a:xfrm>
            <a:off x="38100" y="1269365"/>
            <a:ext cx="9067800" cy="5467350"/>
          </a:xfrm>
          <a:prstGeom prst="rect">
            <a:avLst/>
          </a:prstGeom>
        </p:spPr>
      </p:pic>
      <p:pic>
        <p:nvPicPr>
          <p:cNvPr id="6" name="图片 5"/>
          <p:cNvPicPr>
            <a:picLocks noChangeAspect="1"/>
          </p:cNvPicPr>
          <p:nvPr/>
        </p:nvPicPr>
        <p:blipFill>
          <a:blip r:embed="rId4"/>
          <a:stretch>
            <a:fillRect/>
          </a:stretch>
        </p:blipFill>
        <p:spPr>
          <a:xfrm>
            <a:off x="95250" y="1297940"/>
            <a:ext cx="8953500" cy="5410200"/>
          </a:xfrm>
          <a:prstGeom prst="rect">
            <a:avLst/>
          </a:prstGeom>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4540"/>
            <a:ext cx="8977630" cy="6070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4.4 </a:t>
            </a:r>
            <a:r>
              <a:rPr sz="3200" dirty="0">
                <a:solidFill>
                  <a:schemeClr val="accent1">
                    <a:lumMod val="75000"/>
                  </a:schemeClr>
                </a:solidFill>
                <a:ea typeface="宋体" panose="02010600030101010101" pitchFamily="2" charset="-122"/>
                <a:sym typeface="+mn-ea"/>
              </a:rPr>
              <a:t>Requirements specification</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需求规格说明</a:t>
            </a:r>
            <a:endPar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60325" y="1384935"/>
            <a:ext cx="9006205" cy="50603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The process of writing down the user and system requirements in a requirements document.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含义</a:t>
            </a:r>
            <a:endParaRPr lang="en-US" sz="31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The user and system requirements should be clear, unambiguous, easy to understand, complete, and consistent.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要求：清晰、无歧义、易理解、完备、一致</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t>
            </a:r>
            <a:r>
              <a:rPr lang="en-US" sz="3100" u="sng" dirty="0" smtClean="0">
                <a:solidFill>
                  <a:schemeClr val="accent2">
                    <a:lumMod val="75000"/>
                  </a:schemeClr>
                </a:solidFill>
                <a:latin typeface="Calibri" panose="020F0502020204030204" charset="0"/>
                <a:cs typeface="Calibri" panose="020F0502020204030204" charset="0"/>
              </a:rPr>
              <a:t>User requirements</a:t>
            </a:r>
            <a:r>
              <a:rPr lang="en-US" sz="3100" dirty="0" smtClean="0">
                <a:solidFill>
                  <a:schemeClr val="accent2">
                    <a:lumMod val="75000"/>
                  </a:schemeClr>
                </a:solidFill>
                <a:latin typeface="Calibri" panose="020F0502020204030204" charset="0"/>
                <a:cs typeface="Calibri" panose="020F0502020204030204" charset="0"/>
              </a:rPr>
              <a:t> are written in natural language supplemented by appropriate diagrams and tables. </a:t>
            </a:r>
            <a:r>
              <a:rPr lang="en-US" sz="3100" u="sng" dirty="0" smtClean="0">
                <a:solidFill>
                  <a:schemeClr val="accent2">
                    <a:lumMod val="75000"/>
                  </a:schemeClr>
                </a:solidFill>
                <a:latin typeface="Calibri" panose="020F0502020204030204" charset="0"/>
                <a:cs typeface="Calibri" panose="020F0502020204030204" charset="0"/>
              </a:rPr>
              <a:t>System requirements</a:t>
            </a:r>
            <a:r>
              <a:rPr lang="en-US" sz="3100" dirty="0" smtClean="0">
                <a:solidFill>
                  <a:schemeClr val="accent2">
                    <a:lumMod val="75000"/>
                  </a:schemeClr>
                </a:solidFill>
                <a:latin typeface="Calibri" panose="020F0502020204030204" charset="0"/>
                <a:cs typeface="Calibri" panose="020F0502020204030204" charset="0"/>
              </a:rPr>
              <a:t> may also be written in natural language, but other notations based on forms, graphical, or mathematical system models can also be used.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用户需求和系统需求的写法</a:t>
            </a:r>
            <a:endParaRPr lang="zh-CN" altLang="en-US" sz="310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4225"/>
            <a:ext cx="8977630" cy="5607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2600" dirty="0">
                <a:solidFill>
                  <a:schemeClr val="accent1">
                    <a:lumMod val="75000"/>
                  </a:schemeClr>
                </a:solidFill>
                <a:ea typeface="宋体" panose="02010600030101010101" pitchFamily="2" charset="-122"/>
                <a:sym typeface="+mn-ea"/>
              </a:rPr>
              <a:t> P</a:t>
            </a:r>
            <a:r>
              <a:rPr sz="2600" dirty="0">
                <a:solidFill>
                  <a:schemeClr val="accent1">
                    <a:lumMod val="75000"/>
                  </a:schemeClr>
                </a:solidFill>
                <a:ea typeface="宋体" panose="02010600030101010101" pitchFamily="2" charset="-122"/>
                <a:sym typeface="+mn-ea"/>
              </a:rPr>
              <a:t>ossible notations for writing system requirements.</a:t>
            </a:r>
            <a:endParaRPr sz="26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graphicFrame>
        <p:nvGraphicFramePr>
          <p:cNvPr id="5" name="Table 4"/>
          <p:cNvGraphicFramePr>
            <a:graphicFrameLocks noGrp="1"/>
          </p:cNvGraphicFramePr>
          <p:nvPr>
            <p:custDataLst>
              <p:tags r:id="rId3"/>
            </p:custDataLst>
          </p:nvPr>
        </p:nvGraphicFramePr>
        <p:xfrm>
          <a:off x="89535" y="1334770"/>
          <a:ext cx="8985250" cy="5191760"/>
        </p:xfrm>
        <a:graphic>
          <a:graphicData uri="http://schemas.openxmlformats.org/drawingml/2006/table">
            <a:tbl>
              <a:tblPr>
                <a:effectLst/>
                <a:tableStyleId>{5940675A-B579-460E-94D1-54222C63F5DA}</a:tableStyleId>
              </a:tblPr>
              <a:tblGrid>
                <a:gridCol w="1689735"/>
                <a:gridCol w="7295515"/>
              </a:tblGrid>
              <a:tr h="434975">
                <a:tc>
                  <a:txBody>
                    <a:bodyPr/>
                    <a:p>
                      <a:pPr marL="0" marR="0" lvl="0" indent="0" algn="ctr" defTabSz="457200" rtl="0" eaLnBrk="1" fontAlgn="base" latinLnBrk="0" hangingPunct="1">
                        <a:lnSpc>
                          <a:spcPct val="100000"/>
                        </a:lnSpc>
                        <a:spcBef>
                          <a:spcPct val="0"/>
                        </a:spcBef>
                        <a:spcAft>
                          <a:spcPct val="0"/>
                        </a:spcAft>
                        <a:buClrTx/>
                        <a:buSzTx/>
                        <a:buFontTx/>
                        <a:buNone/>
                      </a:pPr>
                      <a:r>
                        <a:rPr kumimoji="0" lang="en-GB" sz="1900" b="1" i="0" u="none" strike="noStrike" cap="none" normalizeH="0" baseline="0" dirty="0" smtClean="0">
                          <a:ln>
                            <a:noFill/>
                          </a:ln>
                          <a:solidFill>
                            <a:schemeClr val="bg1"/>
                          </a:solidFill>
                          <a:effectLst/>
                          <a:latin typeface="Arial" panose="020B0604020202020204"/>
                          <a:ea typeface="Times New Roman" panose="02020603050405020304" pitchFamily="18" charset="0"/>
                          <a:cs typeface="Arial" panose="020B0604020202020204"/>
                        </a:rPr>
                        <a:t>Notation</a:t>
                      </a:r>
                      <a:endParaRPr kumimoji="0" lang="en-GB" sz="1900" b="1" i="0" u="none" strike="noStrike" cap="none" normalizeH="0" baseline="0" dirty="0" smtClean="0">
                        <a:ln>
                          <a:noFill/>
                        </a:ln>
                        <a:solidFill>
                          <a:schemeClr val="bg1"/>
                        </a:solidFill>
                        <a:effectLst/>
                        <a:latin typeface="Arial" panose="020B0604020202020204"/>
                        <a:ea typeface="Times New Roman" panose="02020603050405020304" pitchFamily="18" charset="0"/>
                        <a:cs typeface="Arial" panose="020B0604020202020204"/>
                      </a:endParaRPr>
                    </a:p>
                  </a:txBody>
                  <a:tcPr marL="73025" marR="73025" marT="9144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c>
                  <a:txBody>
                    <a:bodyPr/>
                    <a:p>
                      <a:pPr marL="0" marR="0" lvl="0" indent="0" algn="ctr" defTabSz="457200" rtl="0" eaLnBrk="1" fontAlgn="base" latinLnBrk="0" hangingPunct="1">
                        <a:lnSpc>
                          <a:spcPct val="100000"/>
                        </a:lnSpc>
                        <a:spcBef>
                          <a:spcPct val="0"/>
                        </a:spcBef>
                        <a:spcAft>
                          <a:spcPct val="0"/>
                        </a:spcAft>
                        <a:buClrTx/>
                        <a:buSzTx/>
                        <a:buFontTx/>
                        <a:buNone/>
                      </a:pPr>
                      <a:r>
                        <a:rPr kumimoji="0" lang="en-GB" sz="1900" b="1" i="0" u="none" strike="noStrike" cap="none" normalizeH="0" baseline="0">
                          <a:ln>
                            <a:noFill/>
                          </a:ln>
                          <a:solidFill>
                            <a:schemeClr val="bg1"/>
                          </a:solidFill>
                          <a:effectLst/>
                          <a:latin typeface="Arial" panose="020B0604020202020204"/>
                          <a:ea typeface="Times New Roman" panose="02020603050405020304" pitchFamily="18" charset="0"/>
                          <a:cs typeface="Arial" panose="020B0604020202020204"/>
                        </a:rPr>
                        <a:t>Description</a:t>
                      </a:r>
                      <a:endParaRPr kumimoji="0" lang="en-GB" sz="1900" b="1" i="0" u="none" strike="noStrike" cap="none" normalizeH="0" baseline="0">
                        <a:ln>
                          <a:noFill/>
                        </a:ln>
                        <a:solidFill>
                          <a:schemeClr val="bg1"/>
                        </a:solidFill>
                        <a:effectLst/>
                        <a:latin typeface="Arial" panose="020B0604020202020204"/>
                        <a:ea typeface="Times New Roman" panose="02020603050405020304" pitchFamily="18" charset="0"/>
                        <a:cs typeface="Arial" panose="020B0604020202020204"/>
                      </a:endParaRPr>
                    </a:p>
                  </a:txBody>
                  <a:tcPr marL="73025" marR="73025" marT="9144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r>
              <a:tr h="57912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rPr>
                        <a:t>Natural language</a:t>
                      </a:r>
                      <a:endParaRPr kumimoji="0" lang="en-GB" sz="190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The requirements are written using numbered sentences in natural language. Each sentence should express one requirement.</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82296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rPr>
                        <a:t>Structured natural language </a:t>
                      </a:r>
                      <a:endParaRPr kumimoji="0" lang="en-GB" sz="19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The requirements are written in natural language on a standard form or template. Each field provides information about an aspect of the requirement.</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1166495">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Graphical notations</a:t>
                      </a:r>
                      <a:endPar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Graphical models, supplemented by text annotations, are used to define the functional requirements for the system; UML </a:t>
                      </a:r>
                      <a:r>
                        <a:rPr kumimoji="0" lang="en-US" alt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(unified modeling Language) </a:t>
                      </a: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use case and sequence diagrams are commonly used.</a:t>
                      </a:r>
                      <a:endPar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1464945">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Mathematical specifications</a:t>
                      </a:r>
                      <a:endParaRPr kumimoji="0" lang="en-GB" sz="19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r>
                        <a:rPr kumimoji="0" lang="en-US" alt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a:t>
                      </a:r>
                      <a:endParaRPr kumimoji="0" lang="en-US" altLang="en-GB" sz="19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bl>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2790"/>
            <a:ext cx="8977630" cy="6496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Requirements and design</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需求与设计</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63491" name="Rectangle 3"/>
          <p:cNvSpPr>
            <a:spLocks noGrp="1" noChangeArrowheads="1"/>
          </p:cNvSpPr>
          <p:nvPr/>
        </p:nvSpPr>
        <p:spPr>
          <a:xfrm>
            <a:off x="50165" y="1313180"/>
            <a:ext cx="9015730" cy="51250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000" dirty="0">
                <a:solidFill>
                  <a:schemeClr val="accent2">
                    <a:lumMod val="75000"/>
                  </a:schemeClr>
                </a:solidFill>
                <a:latin typeface="Calibri" panose="020F0502020204030204" charset="0"/>
                <a:cs typeface="Calibri" panose="020F0502020204030204" charset="0"/>
              </a:rPr>
              <a:t> </a:t>
            </a:r>
            <a:r>
              <a:rPr lang="en-GB" sz="3000" dirty="0">
                <a:solidFill>
                  <a:schemeClr val="accent2">
                    <a:lumMod val="75000"/>
                  </a:schemeClr>
                </a:solidFill>
                <a:latin typeface="Calibri" panose="020F0502020204030204" charset="0"/>
                <a:cs typeface="Calibri" panose="020F0502020204030204" charset="0"/>
              </a:rPr>
              <a:t>Ideally, the requirements should only describe the external behavior of the</a:t>
            </a:r>
            <a:r>
              <a:rPr lang="en-US" altLang="en-GB" sz="3000" dirty="0">
                <a:solidFill>
                  <a:schemeClr val="accent2">
                    <a:lumMod val="75000"/>
                  </a:schemeClr>
                </a:solidFill>
                <a:latin typeface="Calibri" panose="020F0502020204030204" charset="0"/>
                <a:cs typeface="Calibri" panose="020F0502020204030204" charset="0"/>
              </a:rPr>
              <a:t> </a:t>
            </a:r>
            <a:r>
              <a:rPr lang="en-GB" sz="3000" dirty="0">
                <a:solidFill>
                  <a:schemeClr val="accent2">
                    <a:lumMod val="75000"/>
                  </a:schemeClr>
                </a:solidFill>
                <a:latin typeface="Calibri" panose="020F0502020204030204" charset="0"/>
                <a:cs typeface="Calibri" panose="020F0502020204030204" charset="0"/>
              </a:rPr>
              <a:t>system and its operational constraints</a:t>
            </a:r>
            <a:r>
              <a:rPr lang="en-US" altLang="en-GB" sz="3000" dirty="0">
                <a:solidFill>
                  <a:schemeClr val="accent2">
                    <a:lumMod val="75000"/>
                  </a:schemeClr>
                </a:solidFill>
                <a:latin typeface="Calibri" panose="020F0502020204030204" charset="0"/>
                <a:cs typeface="Calibri" panose="020F0502020204030204" charset="0"/>
              </a:rPr>
              <a:t>, and</a:t>
            </a:r>
            <a:r>
              <a:rPr lang="en-GB" sz="3000" dirty="0">
                <a:solidFill>
                  <a:schemeClr val="accent2">
                    <a:lumMod val="75000"/>
                  </a:schemeClr>
                </a:solidFill>
                <a:latin typeface="Calibri" panose="020F0502020204030204" charset="0"/>
                <a:cs typeface="Calibri" panose="020F0502020204030204" charset="0"/>
              </a:rPr>
              <a:t> should not be concerned with how the</a:t>
            </a:r>
            <a:r>
              <a:rPr lang="en-US" altLang="en-GB" sz="3000" dirty="0">
                <a:solidFill>
                  <a:schemeClr val="accent2">
                    <a:lumMod val="75000"/>
                  </a:schemeClr>
                </a:solidFill>
                <a:latin typeface="Calibri" panose="020F0502020204030204" charset="0"/>
                <a:cs typeface="Calibri" panose="020F0502020204030204" charset="0"/>
              </a:rPr>
              <a:t> </a:t>
            </a:r>
            <a:r>
              <a:rPr lang="en-GB" sz="3000" dirty="0">
                <a:solidFill>
                  <a:schemeClr val="accent2">
                    <a:lumMod val="75000"/>
                  </a:schemeClr>
                </a:solidFill>
                <a:latin typeface="Calibri" panose="020F0502020204030204" charset="0"/>
                <a:cs typeface="Calibri" panose="020F0502020204030204" charset="0"/>
              </a:rPr>
              <a:t>system be designed. </a:t>
            </a:r>
            <a:r>
              <a:rPr lang="en-US" altLang="en-GB" sz="30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理想情况：需求不考虑设计</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600"/>
              </a:spcBef>
              <a:spcAft>
                <a:spcPts val="0"/>
              </a:spcAft>
            </a:pPr>
            <a:r>
              <a:rPr lang="en-US" altLang="en-GB" sz="3000" dirty="0">
                <a:solidFill>
                  <a:schemeClr val="accent2">
                    <a:lumMod val="75000"/>
                  </a:schemeClr>
                </a:solidFill>
                <a:latin typeface="Calibri" panose="020F0502020204030204" charset="0"/>
                <a:cs typeface="Calibri" panose="020F0502020204030204" charset="0"/>
              </a:rPr>
              <a:t> But</a:t>
            </a:r>
            <a:r>
              <a:rPr lang="en-GB" sz="3000" dirty="0">
                <a:solidFill>
                  <a:schemeClr val="accent2">
                    <a:lumMod val="75000"/>
                  </a:schemeClr>
                </a:solidFill>
                <a:latin typeface="Calibri" panose="020F0502020204030204" charset="0"/>
                <a:cs typeface="Calibri" panose="020F0502020204030204" charset="0"/>
              </a:rPr>
              <a:t>, it is neither possible nor desirable</a:t>
            </a:r>
            <a:r>
              <a:rPr lang="en-US" altLang="en-GB" sz="3000" dirty="0">
                <a:solidFill>
                  <a:schemeClr val="accent2">
                    <a:lumMod val="75000"/>
                  </a:schemeClr>
                </a:solidFill>
                <a:latin typeface="Calibri" panose="020F0502020204030204" charset="0"/>
                <a:cs typeface="Calibri" panose="020F0502020204030204" charset="0"/>
              </a:rPr>
              <a:t> </a:t>
            </a:r>
            <a:r>
              <a:rPr lang="en-GB" sz="3000" dirty="0">
                <a:solidFill>
                  <a:schemeClr val="accent2">
                    <a:lumMod val="75000"/>
                  </a:schemeClr>
                </a:solidFill>
                <a:latin typeface="Calibri" panose="020F0502020204030204" charset="0"/>
                <a:cs typeface="Calibri" panose="020F0502020204030204" charset="0"/>
              </a:rPr>
              <a:t>to exclude all design information</a:t>
            </a:r>
            <a:r>
              <a:rPr lang="en-US" altLang="en-GB" sz="3000" dirty="0">
                <a:solidFill>
                  <a:schemeClr val="accent2">
                    <a:lumMod val="75000"/>
                  </a:schemeClr>
                </a:solidFill>
                <a:latin typeface="Calibri" panose="020F0502020204030204" charset="0"/>
                <a:cs typeface="Calibri" panose="020F0502020204030204" charset="0"/>
              </a:rPr>
              <a:t>, reasons are: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实际不能排除设计信息</a:t>
            </a:r>
            <a:endParaRPr lang="en-GB" sz="3000" dirty="0">
              <a:solidFill>
                <a:schemeClr val="accent2">
                  <a:lumMod val="7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GB" sz="2600" b="0" dirty="0">
                <a:latin typeface="Calibri" panose="020F0502020204030204" charset="0"/>
                <a:cs typeface="Calibri" panose="020F0502020204030204" charset="0"/>
              </a:rPr>
              <a:t>You may have to design an initial architecture of the system to help structure the</a:t>
            </a:r>
            <a:r>
              <a:rPr lang="en-US" altLang="en-GB" sz="2600" b="0" dirty="0">
                <a:latin typeface="Calibri" panose="020F0502020204030204" charset="0"/>
                <a:cs typeface="Calibri" panose="020F0502020204030204" charset="0"/>
              </a:rPr>
              <a:t> </a:t>
            </a:r>
            <a:r>
              <a:rPr lang="en-GB" sz="2600" b="0" dirty="0">
                <a:latin typeface="Calibri" panose="020F0502020204030204" charset="0"/>
                <a:cs typeface="Calibri" panose="020F0502020204030204" charset="0"/>
              </a:rPr>
              <a:t>requirements</a:t>
            </a:r>
            <a:r>
              <a:rPr lang="en-US" altLang="en-GB" sz="2600" b="0" dirty="0">
                <a:latin typeface="Calibri" panose="020F0502020204030204" charset="0"/>
                <a:cs typeface="Calibri" panose="020F0502020204030204" charset="0"/>
              </a:rPr>
              <a:t> </a:t>
            </a:r>
            <a:r>
              <a:rPr lang="en-GB" sz="2600" b="0" dirty="0">
                <a:latin typeface="Calibri" panose="020F0502020204030204" charset="0"/>
                <a:cs typeface="Calibri" panose="020F0502020204030204" charset="0"/>
              </a:rPr>
              <a:t>specification</a:t>
            </a:r>
            <a:r>
              <a:rPr lang="en-US" altLang="en-GB" sz="2600" b="0" dirty="0">
                <a:latin typeface="Calibri" panose="020F0502020204030204" charset="0"/>
                <a:cs typeface="Calibri" panose="020F0502020204030204" charset="0"/>
              </a:rPr>
              <a:t>;  </a:t>
            </a:r>
            <a:r>
              <a:rPr lang="zh-CN" altLang="en-US"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要初始架构 </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1">
              <a:lnSpc>
                <a:spcPct val="85000"/>
              </a:lnSpc>
              <a:spcBef>
                <a:spcPts val="600"/>
              </a:spcBef>
              <a:spcAft>
                <a:spcPts val="0"/>
              </a:spcAft>
            </a:pPr>
            <a:r>
              <a:rPr lang="en-US" altLang="en-GB" sz="2600" b="0" dirty="0">
                <a:latin typeface="Calibri" panose="020F0502020204030204" charset="0"/>
                <a:cs typeface="Calibri" panose="020F0502020204030204" charset="0"/>
              </a:rPr>
              <a:t>S</a:t>
            </a:r>
            <a:r>
              <a:rPr lang="en-GB" sz="2600" b="0" dirty="0">
                <a:latin typeface="Calibri" panose="020F0502020204030204" charset="0"/>
                <a:cs typeface="Calibri" panose="020F0502020204030204" charset="0"/>
              </a:rPr>
              <a:t>ystems must interoperate with existing systems, which constrain</a:t>
            </a:r>
            <a:r>
              <a:rPr lang="en-US" altLang="en-GB" sz="2600" b="0" dirty="0">
                <a:latin typeface="Calibri" panose="020F0502020204030204" charset="0"/>
                <a:cs typeface="Calibri" panose="020F0502020204030204" charset="0"/>
              </a:rPr>
              <a:t> </a:t>
            </a:r>
            <a:r>
              <a:rPr lang="en-GB" sz="2600" b="0" dirty="0">
                <a:latin typeface="Calibri" panose="020F0502020204030204" charset="0"/>
                <a:cs typeface="Calibri" panose="020F0502020204030204" charset="0"/>
              </a:rPr>
              <a:t>the design and impose requirements on the new system;</a:t>
            </a:r>
            <a:r>
              <a:rPr lang="en-US" altLang="en-GB" sz="2600" b="0" dirty="0">
                <a:latin typeface="Calibri" panose="020F0502020204030204" charset="0"/>
                <a:cs typeface="Calibri" panose="020F0502020204030204" charset="0"/>
              </a:rPr>
              <a:t>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要与现有系统交互,限制了设计,对新系统施加了需求</a:t>
            </a:r>
            <a:endParaRPr lang="en-GB" sz="2600" b="0" dirty="0">
              <a:latin typeface="Calibri" panose="020F0502020204030204" charset="0"/>
              <a:cs typeface="Calibri" panose="020F0502020204030204" charset="0"/>
            </a:endParaRPr>
          </a:p>
          <a:p>
            <a:pPr lvl="1">
              <a:lnSpc>
                <a:spcPct val="85000"/>
              </a:lnSpc>
              <a:spcBef>
                <a:spcPts val="600"/>
              </a:spcBef>
              <a:spcAft>
                <a:spcPts val="0"/>
              </a:spcAft>
            </a:pPr>
            <a:r>
              <a:rPr lang="en-GB" sz="2600" b="0" dirty="0">
                <a:latin typeface="Calibri" panose="020F0502020204030204" charset="0"/>
                <a:cs typeface="Calibri" panose="020F0502020204030204" charset="0"/>
              </a:rPr>
              <a:t>The use of a specific architecture to satisfy non-functional requirements</a:t>
            </a:r>
            <a:r>
              <a:rPr lang="en-US" altLang="en-GB" sz="2600" b="0" dirty="0">
                <a:latin typeface="Calibri" panose="020F0502020204030204" charset="0"/>
                <a:cs typeface="Calibri" panose="020F0502020204030204" charset="0"/>
              </a:rPr>
              <a:t> </a:t>
            </a:r>
            <a:r>
              <a:rPr lang="en-GB" sz="2600" b="0" dirty="0">
                <a:latin typeface="Calibri" panose="020F0502020204030204" charset="0"/>
                <a:cs typeface="Calibri" panose="020F0502020204030204" charset="0"/>
              </a:rPr>
              <a:t>may be</a:t>
            </a:r>
            <a:r>
              <a:rPr lang="en-US" altLang="en-GB" sz="2600" b="0" dirty="0">
                <a:latin typeface="Calibri" panose="020F0502020204030204" charset="0"/>
                <a:cs typeface="Calibri" panose="020F0502020204030204" charset="0"/>
              </a:rPr>
              <a:t> </a:t>
            </a:r>
            <a:r>
              <a:rPr lang="en-GB" sz="2600" b="0" dirty="0">
                <a:latin typeface="Calibri" panose="020F0502020204030204" charset="0"/>
                <a:cs typeface="Calibri" panose="020F0502020204030204" charset="0"/>
              </a:rPr>
              <a:t>necessary. </a:t>
            </a:r>
            <a:r>
              <a:rPr lang="en-US" altLang="en-GB" sz="2600" b="0" dirty="0">
                <a:latin typeface="Calibri" panose="020F0502020204030204" charset="0"/>
                <a:cs typeface="Calibri" panose="020F0502020204030204" charset="0"/>
              </a:rPr>
              <a:t>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使用特定架构来满足非功能需求</a:t>
            </a:r>
            <a:endPar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2965"/>
            <a:ext cx="8977630" cy="5930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100" dirty="0">
                <a:solidFill>
                  <a:schemeClr val="accent1">
                    <a:lumMod val="75000"/>
                  </a:schemeClr>
                </a:solidFill>
                <a:ea typeface="宋体" panose="02010600030101010101" pitchFamily="2" charset="-122"/>
                <a:sym typeface="+mn-ea"/>
              </a:rPr>
              <a:t> </a:t>
            </a:r>
            <a:r>
              <a:rPr sz="3100" dirty="0">
                <a:solidFill>
                  <a:schemeClr val="accent1">
                    <a:lumMod val="75000"/>
                  </a:schemeClr>
                </a:solidFill>
                <a:ea typeface="宋体" panose="02010600030101010101" pitchFamily="2" charset="-122"/>
                <a:sym typeface="+mn-ea"/>
              </a:rPr>
              <a:t>Natural language specification</a:t>
            </a:r>
            <a:r>
              <a:rPr lang="en-US" sz="31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自然语言规格说明</a:t>
            </a:r>
            <a:endPar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63491" name="Rectangle 3"/>
          <p:cNvSpPr>
            <a:spLocks noGrp="1" noChangeArrowheads="1"/>
          </p:cNvSpPr>
          <p:nvPr/>
        </p:nvSpPr>
        <p:spPr>
          <a:xfrm>
            <a:off x="60960" y="1456690"/>
            <a:ext cx="9014460" cy="41986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a:solidFill>
                  <a:schemeClr val="accent2">
                    <a:lumMod val="75000"/>
                  </a:schemeClr>
                </a:solidFill>
                <a:latin typeface="Calibri" panose="020F0502020204030204" charset="0"/>
                <a:cs typeface="Calibri" panose="020F0502020204030204" charset="0"/>
              </a:rPr>
              <a:t> Natural language is expressive, intuitive, and universal;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自然语言：表达能力强、直观、通用</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sz="3200" dirty="0">
                <a:solidFill>
                  <a:schemeClr val="accent2">
                    <a:lumMod val="75000"/>
                  </a:schemeClr>
                </a:solidFill>
                <a:latin typeface="Calibri" panose="020F0502020204030204" charset="0"/>
                <a:cs typeface="Calibri" panose="020F0502020204030204" charset="0"/>
              </a:rPr>
              <a:t> It is also potentially vague and ambiguous, and its interpretation depends on the background of the reader.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也具有潜在的模糊性和二义性</a:t>
            </a:r>
            <a:endParaRPr lang="en-US" sz="3200" dirty="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a:solidFill>
                  <a:schemeClr val="accent2">
                    <a:lumMod val="75000"/>
                  </a:schemeClr>
                </a:solidFill>
                <a:latin typeface="Calibri" panose="020F0502020204030204" charset="0"/>
                <a:cs typeface="Calibri" panose="020F0502020204030204" charset="0"/>
              </a:rPr>
              <a:t> Natural language will continue to be the most widely used way of specifying system and software requirements.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将继续作为刻画系统和软件需求的最广泛使用的方式</a:t>
            </a:r>
            <a:endParaRPr lang="zh-CN" altLang="en-US" sz="3200" dirty="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6125"/>
            <a:ext cx="8977630" cy="5867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000" dirty="0">
                <a:solidFill>
                  <a:schemeClr val="accent1">
                    <a:lumMod val="75000"/>
                  </a:schemeClr>
                </a:solidFill>
                <a:ea typeface="宋体" panose="02010600030101010101" pitchFamily="2" charset="-122"/>
                <a:sym typeface="+mn-ea"/>
              </a:rPr>
              <a:t> </a:t>
            </a:r>
            <a:r>
              <a:rPr sz="3000" dirty="0">
                <a:solidFill>
                  <a:schemeClr val="accent1">
                    <a:lumMod val="75000"/>
                  </a:schemeClr>
                </a:solidFill>
                <a:ea typeface="宋体" panose="02010600030101010101" pitchFamily="2" charset="-122"/>
                <a:sym typeface="+mn-ea"/>
              </a:rPr>
              <a:t>Guidelines for writing requirements</a:t>
            </a:r>
            <a:r>
              <a:rPr lang="en-US" sz="30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需求写作指南</a:t>
            </a:r>
            <a:endPar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63491" name="Rectangle 3"/>
          <p:cNvSpPr>
            <a:spLocks noGrp="1" noChangeArrowheads="1"/>
          </p:cNvSpPr>
          <p:nvPr/>
        </p:nvSpPr>
        <p:spPr>
          <a:xfrm>
            <a:off x="71755" y="1241425"/>
            <a:ext cx="8994140" cy="533590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Aft>
                <a:spcPts val="0"/>
              </a:spcAft>
            </a:pPr>
            <a:r>
              <a:rPr lang="en-US" sz="3200" dirty="0">
                <a:solidFill>
                  <a:schemeClr val="accent2">
                    <a:lumMod val="75000"/>
                  </a:schemeClr>
                </a:solidFill>
                <a:latin typeface="Calibri" panose="020F0502020204030204" charset="0"/>
                <a:cs typeface="Calibri" panose="020F0502020204030204" charset="0"/>
              </a:rPr>
              <a:t> </a:t>
            </a:r>
            <a:r>
              <a:rPr sz="3200" dirty="0">
                <a:solidFill>
                  <a:schemeClr val="accent2">
                    <a:lumMod val="75000"/>
                  </a:schemeClr>
                </a:solidFill>
                <a:latin typeface="Calibri" panose="020F0502020204030204" charset="0"/>
                <a:cs typeface="Calibri" panose="020F0502020204030204" charset="0"/>
              </a:rPr>
              <a:t>Invent a standard format and use it for all requirements.</a:t>
            </a:r>
            <a:r>
              <a:rPr lang="en-US"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发明一种标准的格式</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2000"/>
              </a:lnSpc>
              <a:spcAft>
                <a:spcPts val="0"/>
              </a:spcAft>
            </a:pPr>
            <a:r>
              <a:rPr lang="en-US" sz="3200" dirty="0">
                <a:solidFill>
                  <a:schemeClr val="accent2">
                    <a:lumMod val="75000"/>
                  </a:schemeClr>
                </a:solidFill>
                <a:latin typeface="Calibri" panose="020F0502020204030204" charset="0"/>
                <a:cs typeface="Calibri" panose="020F0502020204030204" charset="0"/>
              </a:rPr>
              <a:t> Use language consistently to distinguish between mandatory and desirable requirements. </a:t>
            </a:r>
            <a:r>
              <a:rPr lang="en-US" sz="2800" b="0" dirty="0">
                <a:solidFill>
                  <a:schemeClr val="tx1"/>
                </a:solidFill>
                <a:latin typeface="Calibri" panose="020F0502020204030204" charset="0"/>
                <a:cs typeface="Calibri" panose="020F0502020204030204" charset="0"/>
              </a:rPr>
              <a:t>Mandatory requirements are usually written using “shall.” Desirable requirements are written using “should.”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 用语言一致性地区分：强制需求</a:t>
            </a:r>
            <a:r>
              <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 vs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期望需求</a:t>
            </a:r>
            <a:endParaRPr lang="en-US" sz="2800" b="0" dirty="0">
              <a:solidFill>
                <a:schemeClr val="tx1"/>
              </a:solidFill>
              <a:latin typeface="Calibri" panose="020F0502020204030204" charset="0"/>
              <a:cs typeface="Calibri" panose="020F0502020204030204" charset="0"/>
            </a:endParaRPr>
          </a:p>
          <a:p>
            <a:pPr>
              <a:lnSpc>
                <a:spcPct val="82000"/>
              </a:lnSpc>
              <a:spcAft>
                <a:spcPts val="0"/>
              </a:spcAft>
            </a:pPr>
            <a:r>
              <a:rPr lang="en-US" sz="3200" dirty="0">
                <a:solidFill>
                  <a:schemeClr val="accent2">
                    <a:lumMod val="75000"/>
                  </a:schemeClr>
                </a:solidFill>
                <a:latin typeface="Calibri" panose="020F0502020204030204" charset="0"/>
                <a:cs typeface="Calibri" panose="020F0502020204030204" charset="0"/>
              </a:rPr>
              <a:t> Use text highlighting (bold, italic, or color) to pick out key parts of the requirement.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突出关键部分</a:t>
            </a:r>
            <a:endParaRPr lang="en-US" sz="3200" dirty="0">
              <a:solidFill>
                <a:schemeClr val="accent2">
                  <a:lumMod val="75000"/>
                </a:schemeClr>
              </a:solidFill>
              <a:latin typeface="Calibri" panose="020F0502020204030204" charset="0"/>
              <a:cs typeface="Calibri" panose="020F0502020204030204" charset="0"/>
            </a:endParaRPr>
          </a:p>
          <a:p>
            <a:pPr>
              <a:lnSpc>
                <a:spcPct val="82000"/>
              </a:lnSpc>
              <a:spcAft>
                <a:spcPts val="0"/>
              </a:spcAft>
            </a:pPr>
            <a:r>
              <a:rPr lang="en-US" sz="3200" dirty="0">
                <a:solidFill>
                  <a:schemeClr val="accent2">
                    <a:lumMod val="75000"/>
                  </a:schemeClr>
                </a:solidFill>
                <a:latin typeface="Calibri" panose="020F0502020204030204" charset="0"/>
                <a:cs typeface="Calibri" panose="020F0502020204030204" charset="0"/>
              </a:rPr>
              <a:t> Avoid the use of jargon, abbreviations, and acronyms.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避免使用行话、缩写、首字母缩略词</a:t>
            </a:r>
            <a:endParaRPr lang="en-US" sz="3200" dirty="0">
              <a:solidFill>
                <a:schemeClr val="accent2">
                  <a:lumMod val="75000"/>
                </a:schemeClr>
              </a:solidFill>
              <a:latin typeface="Calibri" panose="020F0502020204030204" charset="0"/>
              <a:cs typeface="Calibri" panose="020F0502020204030204" charset="0"/>
            </a:endParaRPr>
          </a:p>
          <a:p>
            <a:pPr>
              <a:lnSpc>
                <a:spcPct val="82000"/>
              </a:lnSpc>
              <a:spcAft>
                <a:spcPts val="0"/>
              </a:spcAft>
            </a:pPr>
            <a:r>
              <a:rPr lang="en-US" sz="3200" dirty="0">
                <a:solidFill>
                  <a:schemeClr val="accent2">
                    <a:lumMod val="75000"/>
                  </a:schemeClr>
                </a:solidFill>
                <a:latin typeface="Calibri" panose="020F0502020204030204" charset="0"/>
                <a:cs typeface="Calibri" panose="020F0502020204030204" charset="0"/>
              </a:rPr>
              <a:t> </a:t>
            </a:r>
            <a:r>
              <a:rPr sz="3200" dirty="0">
                <a:solidFill>
                  <a:schemeClr val="accent2">
                    <a:lumMod val="75000"/>
                  </a:schemeClr>
                </a:solidFill>
                <a:latin typeface="Calibri" panose="020F0502020204030204" charset="0"/>
                <a:cs typeface="Calibri" panose="020F0502020204030204" charset="0"/>
              </a:rPr>
              <a:t>Whenever possible, should associate a rationale with each user</a:t>
            </a:r>
            <a:r>
              <a:rPr lang="en-US" sz="3200" dirty="0">
                <a:solidFill>
                  <a:schemeClr val="accent2">
                    <a:lumMod val="75000"/>
                  </a:schemeClr>
                </a:solidFill>
                <a:latin typeface="Calibri" panose="020F0502020204030204" charset="0"/>
                <a:cs typeface="Calibri" panose="020F0502020204030204" charset="0"/>
              </a:rPr>
              <a:t> </a:t>
            </a:r>
            <a:r>
              <a:rPr sz="3200" dirty="0">
                <a:solidFill>
                  <a:schemeClr val="accent2">
                    <a:lumMod val="75000"/>
                  </a:schemeClr>
                </a:solidFill>
                <a:latin typeface="Calibri" panose="020F0502020204030204" charset="0"/>
                <a:cs typeface="Calibri" panose="020F0502020204030204" charset="0"/>
              </a:rPr>
              <a:t>requirement. </a:t>
            </a:r>
            <a:r>
              <a:rPr lang="en-US"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为用户需求附加原理</a:t>
            </a:r>
            <a:endParaRPr lang="zh-CN" altLang="en-US" sz="3200" dirty="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1680"/>
            <a:ext cx="8977630" cy="10706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Example requirements for the insulin pump software system</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例子</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graphicFrame>
        <p:nvGraphicFramePr>
          <p:cNvPr id="3" name="Table 3"/>
          <p:cNvGraphicFramePr>
            <a:graphicFrameLocks noGrp="1"/>
          </p:cNvGraphicFramePr>
          <p:nvPr>
            <p:custDataLst>
              <p:tags r:id="rId3"/>
            </p:custDataLst>
          </p:nvPr>
        </p:nvGraphicFramePr>
        <p:xfrm>
          <a:off x="146685" y="1859280"/>
          <a:ext cx="8872855" cy="4623435"/>
        </p:xfrm>
        <a:graphic>
          <a:graphicData uri="http://schemas.openxmlformats.org/drawingml/2006/table">
            <a:tbl>
              <a:tblPr firstRow="1" bandRow="1">
                <a:effectLst/>
                <a:tableStyleId>{5940675A-B579-460E-94D1-54222C63F5DA}</a:tableStyleId>
              </a:tblPr>
              <a:tblGrid>
                <a:gridCol w="8872855"/>
              </a:tblGrid>
              <a:tr h="4623435">
                <a:tc>
                  <a:txBody>
                    <a:bodyPr/>
                    <a:lstStyle/>
                    <a:p>
                      <a:r>
                        <a:rPr lang="en-GB" sz="2800" b="0" kern="1200" dirty="0" smtClean="0">
                          <a:solidFill>
                            <a:sysClr val="windowText" lastClr="000000"/>
                          </a:solidFill>
                          <a:latin typeface="Calibri" panose="020F0502020204030204" charset="0"/>
                        </a:rPr>
                        <a:t>3.2 The system shall measure the blood sugar and deliver insulin, if required, every 10 minutes.</a:t>
                      </a:r>
                      <a:r>
                        <a:rPr lang="en-GB" sz="2800" b="0" i="1" kern="1200" dirty="0" smtClean="0">
                          <a:solidFill>
                            <a:sysClr val="windowText" lastClr="000000"/>
                          </a:solidFill>
                          <a:latin typeface="Calibri" panose="020F0502020204030204" charset="0"/>
                        </a:rPr>
                        <a:t> (Changes in blood sugar are relatively slow</a:t>
                      </a:r>
                      <a:r>
                        <a:rPr lang="en-US" altLang="en-GB" sz="2800" b="0" i="1" kern="1200" dirty="0" smtClean="0">
                          <a:solidFill>
                            <a:sysClr val="windowText" lastClr="000000"/>
                          </a:solidFill>
                          <a:latin typeface="Calibri" panose="020F0502020204030204" charset="0"/>
                        </a:rPr>
                        <a:t>,</a:t>
                      </a:r>
                      <a:r>
                        <a:rPr lang="en-GB" sz="2800" b="0" i="1" kern="1200" dirty="0" smtClean="0">
                          <a:solidFill>
                            <a:sysClr val="windowText" lastClr="000000"/>
                          </a:solidFill>
                          <a:latin typeface="Calibri" panose="020F0502020204030204" charset="0"/>
                        </a:rPr>
                        <a:t> so more frequent measurement is unnecessary; less frequent measurement could lead to unnecessarily high sugar levels.)</a:t>
                      </a:r>
                      <a:endParaRPr lang="en-GB" sz="2800" b="0" kern="1200" dirty="0" smtClean="0"/>
                    </a:p>
                    <a:p>
                      <a:pPr indent="0" fontAlgn="auto">
                        <a:spcBef>
                          <a:spcPts val="1200"/>
                        </a:spcBef>
                      </a:pPr>
                      <a:r>
                        <a:rPr lang="en-GB" sz="2800" b="0" kern="1200" dirty="0" smtClean="0">
                          <a:solidFill>
                            <a:sysClr val="windowText" lastClr="000000"/>
                          </a:solidFill>
                          <a:latin typeface="Calibri" panose="020F0502020204030204" charset="0"/>
                        </a:rPr>
                        <a:t>3.6 The system shall run a self-test routine every minute with the conditions to be tested and the associated actions defined in Table 1.</a:t>
                      </a:r>
                      <a:r>
                        <a:rPr lang="en-GB" sz="2800" b="0" i="1" kern="1200" dirty="0" smtClean="0">
                          <a:solidFill>
                            <a:sysClr val="windowText" lastClr="000000"/>
                          </a:solidFill>
                          <a:latin typeface="Calibri" panose="020F0502020204030204" charset="0"/>
                        </a:rPr>
                        <a:t> (A self-test routine can discover hardware and software problems and alert the user to the fact the normal operation may be impossible.)</a:t>
                      </a:r>
                      <a:endParaRPr lang="en-GB" sz="2800" b="0" kern="1200" dirty="0" smtClean="0">
                        <a:solidFill>
                          <a:sysClr val="windowText" lastClr="000000"/>
                        </a:solidFill>
                        <a:latin typeface="Calibri" panose="020F0502020204030204" charset="0"/>
                      </a:endParaRPr>
                    </a:p>
                  </a:txBody>
                  <a:tcPr>
                    <a:lnL w="12700" cmpd="sng">
                      <a:solidFill>
                        <a:srgbClr val="4F81BD"/>
                      </a:solidFill>
                    </a:lnL>
                    <a:lnR w="12700" cmpd="sng">
                      <a:solidFill>
                        <a:srgbClr val="4F81BD"/>
                      </a:solidFill>
                    </a:lnR>
                    <a:lnT w="12700" cmpd="sng">
                      <a:solidFill>
                        <a:srgbClr val="4F81BD"/>
                      </a:solidFill>
                    </a:lnT>
                    <a:lnB w="12700" cmpd="sng">
                      <a:solidFill>
                        <a:srgbClr val="4F81BD"/>
                      </a:solidFill>
                    </a:lnB>
                    <a:solidFill>
                      <a:srgbClr val="4F81BD">
                        <a:tint val="20000"/>
                      </a:srgbClr>
                    </a:solidFill>
                  </a:tcPr>
                </a:tc>
              </a:tr>
            </a:tbl>
          </a:graphicData>
        </a:graphic>
      </p:graphicFrame>
      <p:pic>
        <p:nvPicPr>
          <p:cNvPr id="6" name="图片 5"/>
          <p:cNvPicPr>
            <a:picLocks noChangeAspect="1"/>
          </p:cNvPicPr>
          <p:nvPr/>
        </p:nvPicPr>
        <p:blipFill>
          <a:blip r:embed="rId4"/>
          <a:stretch>
            <a:fillRect/>
          </a:stretch>
        </p:blipFill>
        <p:spPr>
          <a:xfrm>
            <a:off x="107315" y="2851785"/>
            <a:ext cx="8933180" cy="1223645"/>
          </a:xfrm>
          <a:prstGeom prst="rect">
            <a:avLst/>
          </a:prstGeo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1210"/>
            <a:ext cx="8977630" cy="5930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Structured specifications</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结构化规格说明</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63491" name="Rectangle 3"/>
          <p:cNvSpPr>
            <a:spLocks noGrp="1" noChangeArrowheads="1"/>
          </p:cNvSpPr>
          <p:nvPr/>
        </p:nvSpPr>
        <p:spPr>
          <a:xfrm>
            <a:off x="57785" y="1384935"/>
            <a:ext cx="9008110" cy="50742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a:solidFill>
                  <a:schemeClr val="accent2">
                    <a:lumMod val="75000"/>
                  </a:schemeClr>
                </a:solidFill>
                <a:latin typeface="Calibri" panose="020F0502020204030204" charset="0"/>
                <a:cs typeface="Calibri" panose="020F0502020204030204" charset="0"/>
              </a:rPr>
              <a:t> A way of writing </a:t>
            </a:r>
            <a:r>
              <a:rPr lang="en-US" sz="3200" u="sng" dirty="0">
                <a:solidFill>
                  <a:schemeClr val="accent2">
                    <a:lumMod val="75000"/>
                  </a:schemeClr>
                </a:solidFill>
                <a:latin typeface="Calibri" panose="020F0502020204030204" charset="0"/>
                <a:cs typeface="Calibri" panose="020F0502020204030204" charset="0"/>
              </a:rPr>
              <a:t>system requirements</a:t>
            </a:r>
            <a:r>
              <a:rPr lang="en-US" sz="3200" dirty="0">
                <a:solidFill>
                  <a:schemeClr val="accent2">
                    <a:lumMod val="75000"/>
                  </a:schemeClr>
                </a:solidFill>
                <a:latin typeface="Calibri" panose="020F0502020204030204" charset="0"/>
                <a:cs typeface="Calibri" panose="020F0502020204030204" charset="0"/>
              </a:rPr>
              <a:t> where requirements are written in a standard way rather than free-form text.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需求写成标准方式而不是自由文本</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sz="3200" dirty="0">
                <a:solidFill>
                  <a:schemeClr val="accent2">
                    <a:lumMod val="75000"/>
                  </a:schemeClr>
                </a:solidFill>
                <a:latin typeface="Calibri" panose="020F0502020204030204" charset="0"/>
                <a:cs typeface="Calibri" panose="020F0502020204030204" charset="0"/>
              </a:rPr>
              <a:t> It maintains most of the expressiveness and understandability of natural language but ensures that some uniformity is imposed on the specification.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保持了表达能力和可理解性</a:t>
            </a:r>
            <a:r>
              <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但确保了统一性</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sz="3200" dirty="0">
                <a:solidFill>
                  <a:schemeClr val="accent2">
                    <a:lumMod val="75000"/>
                  </a:schemeClr>
                </a:solidFill>
                <a:latin typeface="Calibri" panose="020F0502020204030204" charset="0"/>
                <a:cs typeface="Calibri" panose="020F0502020204030204" charset="0"/>
              </a:rPr>
              <a:t> Structured language notations use templates to specify system requirements. </a:t>
            </a:r>
            <a:r>
              <a:rPr lang="en-US" sz="2800" b="0" dirty="0">
                <a:solidFill>
                  <a:schemeClr val="tx1"/>
                </a:solidFill>
                <a:latin typeface="Calibri" panose="020F0502020204030204" charset="0"/>
                <a:cs typeface="Calibri" panose="020F0502020204030204" charset="0"/>
              </a:rPr>
              <a:t>The specification may use programming language constructs to show alternatives and iteration, and may highlight key elements using shading or different fonts.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使用模版刻画系统需求</a:t>
            </a:r>
            <a:endPar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19455"/>
            <a:ext cx="8977630" cy="5588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Form-based specifications</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基于表单的规格说明</a:t>
            </a:r>
            <a:endPar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63491" name="Rectangle 3"/>
          <p:cNvSpPr>
            <a:spLocks noGrp="1" noChangeArrowheads="1"/>
          </p:cNvSpPr>
          <p:nvPr/>
        </p:nvSpPr>
        <p:spPr>
          <a:xfrm>
            <a:off x="48895" y="1241425"/>
            <a:ext cx="9026525" cy="54356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100" dirty="0">
                <a:solidFill>
                  <a:schemeClr val="accent2">
                    <a:lumMod val="75000"/>
                  </a:schemeClr>
                </a:solidFill>
                <a:latin typeface="Calibri" panose="020F0502020204030204" charset="0"/>
                <a:cs typeface="Calibri" panose="020F0502020204030204" charset="0"/>
              </a:rPr>
              <a:t> When a standard format is used for specifying requirements, information included: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包含的信息</a:t>
            </a:r>
            <a:endParaRPr lang="en-US" sz="3000" dirty="0">
              <a:solidFill>
                <a:schemeClr val="accent2">
                  <a:lumMod val="75000"/>
                </a:schemeClr>
              </a:solidFill>
              <a:latin typeface="Calibri" panose="020F0502020204030204" charset="0"/>
              <a:cs typeface="Calibri" panose="020F0502020204030204" charset="0"/>
            </a:endParaRPr>
          </a:p>
          <a:p>
            <a:pPr lvl="1" algn="l">
              <a:lnSpc>
                <a:spcPct val="85000"/>
              </a:lnSpc>
              <a:spcBef>
                <a:spcPts val="600"/>
              </a:spcBef>
              <a:spcAft>
                <a:spcPts val="0"/>
              </a:spcAft>
            </a:pPr>
            <a:r>
              <a:rPr sz="2700" b="0" dirty="0">
                <a:latin typeface="Calibri" panose="020F0502020204030204" charset="0"/>
                <a:cs typeface="Calibri" panose="020F0502020204030204" charset="0"/>
                <a:sym typeface="+mn-ea"/>
              </a:rPr>
              <a:t>A description of the </a:t>
            </a:r>
            <a:r>
              <a:rPr sz="2700" b="0" u="sng" dirty="0">
                <a:latin typeface="Calibri" panose="020F0502020204030204" charset="0"/>
                <a:cs typeface="Calibri" panose="020F0502020204030204" charset="0"/>
                <a:sym typeface="+mn-ea"/>
              </a:rPr>
              <a:t>function</a:t>
            </a:r>
            <a:r>
              <a:rPr sz="2700" b="0" dirty="0">
                <a:latin typeface="Calibri" panose="020F0502020204030204" charset="0"/>
                <a:cs typeface="Calibri" panose="020F0502020204030204" charset="0"/>
                <a:sym typeface="+mn-ea"/>
              </a:rPr>
              <a:t> or </a:t>
            </a:r>
            <a:r>
              <a:rPr sz="2700" b="0" u="sng" dirty="0">
                <a:latin typeface="Calibri" panose="020F0502020204030204" charset="0"/>
                <a:cs typeface="Calibri" panose="020F0502020204030204" charset="0"/>
                <a:sym typeface="+mn-ea"/>
              </a:rPr>
              <a:t>entity</a:t>
            </a:r>
            <a:r>
              <a:rPr sz="2700" b="0" dirty="0">
                <a:latin typeface="Calibri" panose="020F0502020204030204" charset="0"/>
                <a:cs typeface="Calibri" panose="020F0502020204030204" charset="0"/>
                <a:sym typeface="+mn-ea"/>
              </a:rPr>
              <a:t> being specified</a:t>
            </a:r>
            <a:r>
              <a:rPr lang="en-US" altLang="en-GB" sz="2700" b="0" dirty="0">
                <a:latin typeface="Calibri" panose="020F0502020204030204" charset="0"/>
                <a:cs typeface="Calibri" panose="020F0502020204030204" charset="0"/>
                <a:sym typeface="+mn-ea"/>
              </a:rPr>
              <a:t>; </a:t>
            </a:r>
            <a:endParaRPr lang="en-US" altLang="en-GB" sz="2700" b="0" dirty="0">
              <a:latin typeface="Calibri" panose="020F0502020204030204" charset="0"/>
              <a:cs typeface="Calibri" panose="020F0502020204030204" charset="0"/>
              <a:sym typeface="+mn-ea"/>
            </a:endParaRPr>
          </a:p>
          <a:p>
            <a:pPr lvl="1" algn="l">
              <a:lnSpc>
                <a:spcPct val="85000"/>
              </a:lnSpc>
              <a:spcBef>
                <a:spcPts val="600"/>
              </a:spcBef>
              <a:spcAft>
                <a:spcPts val="0"/>
              </a:spcAft>
            </a:pPr>
            <a:r>
              <a:rPr lang="en-US" altLang="en-GB" sz="2700" b="0" dirty="0">
                <a:latin typeface="Calibri" panose="020F0502020204030204" charset="0"/>
                <a:cs typeface="Calibri" panose="020F0502020204030204" charset="0"/>
                <a:sym typeface="+mn-ea"/>
              </a:rPr>
              <a:t>A description of its </a:t>
            </a:r>
            <a:r>
              <a:rPr lang="en-US" altLang="en-GB" sz="2700" b="0" u="sng" dirty="0">
                <a:latin typeface="Calibri" panose="020F0502020204030204" charset="0"/>
                <a:cs typeface="Calibri" panose="020F0502020204030204" charset="0"/>
                <a:sym typeface="+mn-ea"/>
              </a:rPr>
              <a:t>inputs</a:t>
            </a:r>
            <a:r>
              <a:rPr lang="en-US" altLang="en-GB" sz="2700" b="0" dirty="0">
                <a:latin typeface="Calibri" panose="020F0502020204030204" charset="0"/>
                <a:cs typeface="Calibri" panose="020F0502020204030204" charset="0"/>
                <a:sym typeface="+mn-ea"/>
              </a:rPr>
              <a:t> and the origin of these inputs.</a:t>
            </a:r>
            <a:endParaRPr lang="en-US" altLang="en-GB" sz="2700" b="0" dirty="0">
              <a:latin typeface="Calibri" panose="020F0502020204030204" charset="0"/>
              <a:cs typeface="Calibri" panose="020F0502020204030204" charset="0"/>
              <a:sym typeface="+mn-ea"/>
            </a:endParaRPr>
          </a:p>
          <a:p>
            <a:pPr lvl="1" algn="l">
              <a:lnSpc>
                <a:spcPct val="85000"/>
              </a:lnSpc>
              <a:spcBef>
                <a:spcPts val="600"/>
              </a:spcBef>
              <a:spcAft>
                <a:spcPts val="0"/>
              </a:spcAft>
            </a:pPr>
            <a:r>
              <a:rPr lang="en-US" altLang="en-GB" sz="2700" b="0" dirty="0">
                <a:latin typeface="Calibri" panose="020F0502020204030204" charset="0"/>
                <a:cs typeface="Calibri" panose="020F0502020204030204" charset="0"/>
                <a:sym typeface="+mn-ea"/>
              </a:rPr>
              <a:t>A description of its </a:t>
            </a:r>
            <a:r>
              <a:rPr lang="en-US" altLang="en-GB" sz="2700" b="0" u="sng" dirty="0">
                <a:latin typeface="Calibri" panose="020F0502020204030204" charset="0"/>
                <a:cs typeface="Calibri" panose="020F0502020204030204" charset="0"/>
                <a:sym typeface="+mn-ea"/>
              </a:rPr>
              <a:t>outputs</a:t>
            </a:r>
            <a:r>
              <a:rPr lang="en-US" altLang="en-GB" sz="2700" b="0" dirty="0">
                <a:latin typeface="Calibri" panose="020F0502020204030204" charset="0"/>
                <a:cs typeface="Calibri" panose="020F0502020204030204" charset="0"/>
                <a:sym typeface="+mn-ea"/>
              </a:rPr>
              <a:t> and where they go to.</a:t>
            </a:r>
            <a:endParaRPr lang="en-US" altLang="en-GB" sz="2700" b="0" dirty="0">
              <a:latin typeface="Calibri" panose="020F0502020204030204" charset="0"/>
              <a:cs typeface="Calibri" panose="020F0502020204030204" charset="0"/>
              <a:sym typeface="+mn-ea"/>
            </a:endParaRPr>
          </a:p>
          <a:p>
            <a:pPr lvl="1" algn="l">
              <a:lnSpc>
                <a:spcPct val="85000"/>
              </a:lnSpc>
              <a:spcBef>
                <a:spcPts val="600"/>
              </a:spcBef>
              <a:spcAft>
                <a:spcPts val="0"/>
              </a:spcAft>
            </a:pPr>
            <a:r>
              <a:rPr lang="en-US" altLang="en-GB" sz="2700" b="0" dirty="0">
                <a:latin typeface="Calibri" panose="020F0502020204030204" charset="0"/>
                <a:cs typeface="Calibri" panose="020F0502020204030204" charset="0"/>
                <a:sym typeface="+mn-ea"/>
              </a:rPr>
              <a:t>Information about the </a:t>
            </a:r>
            <a:r>
              <a:rPr lang="en-US" altLang="en-GB" sz="2700" b="0" u="sng" dirty="0">
                <a:latin typeface="Calibri" panose="020F0502020204030204" charset="0"/>
                <a:cs typeface="Calibri" panose="020F0502020204030204" charset="0"/>
                <a:sym typeface="+mn-ea"/>
              </a:rPr>
              <a:t>information needed</a:t>
            </a:r>
            <a:r>
              <a:rPr lang="en-US" altLang="en-GB" sz="2700" b="0" dirty="0">
                <a:latin typeface="Calibri" panose="020F0502020204030204" charset="0"/>
                <a:cs typeface="Calibri" panose="020F0502020204030204" charset="0"/>
                <a:sym typeface="+mn-ea"/>
              </a:rPr>
              <a:t> for the computation or other </a:t>
            </a:r>
            <a:r>
              <a:rPr lang="en-US" altLang="en-GB" sz="2700" b="0" u="sng" dirty="0">
                <a:latin typeface="Calibri" panose="020F0502020204030204" charset="0"/>
                <a:cs typeface="Calibri" panose="020F0502020204030204" charset="0"/>
                <a:sym typeface="+mn-ea"/>
              </a:rPr>
              <a:t>entities</a:t>
            </a:r>
            <a:r>
              <a:rPr lang="en-US" altLang="en-GB" sz="2700" b="0" dirty="0">
                <a:latin typeface="Calibri" panose="020F0502020204030204" charset="0"/>
                <a:cs typeface="Calibri" panose="020F0502020204030204" charset="0"/>
                <a:sym typeface="+mn-ea"/>
              </a:rPr>
              <a:t> in the system that are </a:t>
            </a:r>
            <a:r>
              <a:rPr lang="en-US" altLang="en-GB" sz="2700" b="0" u="sng" dirty="0">
                <a:latin typeface="Calibri" panose="020F0502020204030204" charset="0"/>
                <a:cs typeface="Calibri" panose="020F0502020204030204" charset="0"/>
                <a:sym typeface="+mn-ea"/>
              </a:rPr>
              <a:t>required</a:t>
            </a:r>
            <a:r>
              <a:rPr lang="en-US" altLang="en-GB" sz="2700" b="0" dirty="0">
                <a:latin typeface="Calibri" panose="020F0502020204030204" charset="0"/>
                <a:cs typeface="Calibri" panose="020F0502020204030204" charset="0"/>
                <a:sym typeface="+mn-ea"/>
              </a:rPr>
              <a:t> (the “requires” part).  </a:t>
            </a:r>
            <a:endParaRPr lang="en-US" altLang="en-GB" sz="2700" b="0" dirty="0">
              <a:latin typeface="Calibri" panose="020F0502020204030204" charset="0"/>
              <a:cs typeface="Calibri" panose="020F0502020204030204" charset="0"/>
              <a:sym typeface="+mn-ea"/>
            </a:endParaRPr>
          </a:p>
          <a:p>
            <a:pPr lvl="1" algn="l">
              <a:lnSpc>
                <a:spcPct val="85000"/>
              </a:lnSpc>
              <a:spcBef>
                <a:spcPts val="600"/>
              </a:spcBef>
              <a:spcAft>
                <a:spcPts val="0"/>
              </a:spcAft>
            </a:pPr>
            <a:r>
              <a:rPr lang="en-US" altLang="en-GB" sz="2700" b="0" dirty="0">
                <a:latin typeface="Calibri" panose="020F0502020204030204" charset="0"/>
                <a:cs typeface="Calibri" panose="020F0502020204030204" charset="0"/>
                <a:sym typeface="+mn-ea"/>
              </a:rPr>
              <a:t>A description of the </a:t>
            </a:r>
            <a:r>
              <a:rPr lang="en-US" altLang="en-GB" sz="2700" b="0" u="sng" dirty="0">
                <a:latin typeface="Calibri" panose="020F0502020204030204" charset="0"/>
                <a:cs typeface="Calibri" panose="020F0502020204030204" charset="0"/>
                <a:sym typeface="+mn-ea"/>
              </a:rPr>
              <a:t>action</a:t>
            </a:r>
            <a:r>
              <a:rPr lang="en-US" altLang="en-GB" sz="2700" b="0" dirty="0">
                <a:latin typeface="Calibri" panose="020F0502020204030204" charset="0"/>
                <a:cs typeface="Calibri" panose="020F0502020204030204" charset="0"/>
                <a:sym typeface="+mn-ea"/>
              </a:rPr>
              <a:t> to be taken.</a:t>
            </a:r>
            <a:endParaRPr lang="en-US" altLang="en-GB" sz="2700" b="0" dirty="0">
              <a:latin typeface="Calibri" panose="020F0502020204030204" charset="0"/>
              <a:cs typeface="Calibri" panose="020F0502020204030204" charset="0"/>
              <a:sym typeface="+mn-ea"/>
            </a:endParaRPr>
          </a:p>
          <a:p>
            <a:pPr lvl="1" algn="l">
              <a:lnSpc>
                <a:spcPct val="85000"/>
              </a:lnSpc>
              <a:spcBef>
                <a:spcPts val="600"/>
              </a:spcBef>
              <a:spcAft>
                <a:spcPts val="0"/>
              </a:spcAft>
            </a:pPr>
            <a:r>
              <a:rPr lang="en-US" altLang="en-GB" sz="2700" b="0" dirty="0">
                <a:latin typeface="Calibri" panose="020F0502020204030204" charset="0"/>
                <a:cs typeface="Calibri" panose="020F0502020204030204" charset="0"/>
                <a:sym typeface="+mn-ea"/>
              </a:rPr>
              <a:t>If a function is used, a </a:t>
            </a:r>
            <a:r>
              <a:rPr lang="en-US" altLang="en-GB" sz="2700" b="0" u="sng" dirty="0">
                <a:latin typeface="Calibri" panose="020F0502020204030204" charset="0"/>
                <a:cs typeface="Calibri" panose="020F0502020204030204" charset="0"/>
                <a:sym typeface="+mn-ea"/>
              </a:rPr>
              <a:t>precondition</a:t>
            </a:r>
            <a:r>
              <a:rPr lang="en-US" altLang="en-GB" sz="2700" b="0" dirty="0">
                <a:latin typeface="Calibri" panose="020F0502020204030204" charset="0"/>
                <a:cs typeface="Calibri" panose="020F0502020204030204" charset="0"/>
                <a:sym typeface="+mn-ea"/>
              </a:rPr>
              <a:t> (</a:t>
            </a:r>
            <a:r>
              <a:rPr lang="en-US" altLang="en-GB" sz="2400" b="0" dirty="0">
                <a:solidFill>
                  <a:srgbClr val="00B050"/>
                </a:solidFill>
                <a:latin typeface="Calibri" panose="020F0502020204030204" charset="0"/>
                <a:cs typeface="Calibri" panose="020F0502020204030204" charset="0"/>
                <a:sym typeface="+mn-ea"/>
              </a:rPr>
              <a:t>setting out what must be true before the function</a:t>
            </a:r>
            <a:r>
              <a:rPr lang="en-US" altLang="en-GB" sz="2700" b="0" dirty="0">
                <a:latin typeface="Calibri" panose="020F0502020204030204" charset="0"/>
                <a:cs typeface="Calibri" panose="020F0502020204030204" charset="0"/>
                <a:sym typeface="+mn-ea"/>
              </a:rPr>
              <a:t>) is called, and a </a:t>
            </a:r>
            <a:r>
              <a:rPr lang="en-US" altLang="en-GB" sz="2700" b="0" u="sng" dirty="0">
                <a:latin typeface="Calibri" panose="020F0502020204030204" charset="0"/>
                <a:cs typeface="Calibri" panose="020F0502020204030204" charset="0"/>
                <a:sym typeface="+mn-ea"/>
              </a:rPr>
              <a:t>postcondition</a:t>
            </a:r>
            <a:r>
              <a:rPr lang="en-US" altLang="en-GB" sz="2700" b="0" dirty="0">
                <a:latin typeface="Calibri" panose="020F0502020204030204" charset="0"/>
                <a:cs typeface="Calibri" panose="020F0502020204030204" charset="0"/>
                <a:sym typeface="+mn-ea"/>
              </a:rPr>
              <a:t> (</a:t>
            </a:r>
            <a:r>
              <a:rPr lang="en-US" altLang="en-GB" sz="2400" b="0" dirty="0">
                <a:solidFill>
                  <a:srgbClr val="00B050"/>
                </a:solidFill>
                <a:latin typeface="Calibri" panose="020F0502020204030204" charset="0"/>
                <a:cs typeface="Calibri" panose="020F0502020204030204" charset="0"/>
                <a:sym typeface="+mn-ea"/>
              </a:rPr>
              <a:t>specifying what is true after the function</a:t>
            </a:r>
            <a:r>
              <a:rPr lang="en-US" altLang="en-GB" sz="2700" b="0" dirty="0">
                <a:latin typeface="Calibri" panose="020F0502020204030204" charset="0"/>
                <a:cs typeface="Calibri" panose="020F0502020204030204" charset="0"/>
                <a:sym typeface="+mn-ea"/>
              </a:rPr>
              <a:t>) is called. </a:t>
            </a:r>
            <a:endParaRPr lang="en-US" altLang="en-GB" sz="2700" b="0" dirty="0">
              <a:latin typeface="Calibri" panose="020F0502020204030204" charset="0"/>
              <a:cs typeface="Calibri" panose="020F0502020204030204" charset="0"/>
              <a:sym typeface="+mn-ea"/>
            </a:endParaRPr>
          </a:p>
          <a:p>
            <a:pPr lvl="1" algn="l">
              <a:lnSpc>
                <a:spcPct val="85000"/>
              </a:lnSpc>
              <a:spcBef>
                <a:spcPts val="600"/>
              </a:spcBef>
              <a:spcAft>
                <a:spcPts val="0"/>
              </a:spcAft>
            </a:pPr>
            <a:r>
              <a:rPr lang="en-US" altLang="en-GB" sz="2700" b="0" dirty="0">
                <a:latin typeface="Calibri" panose="020F0502020204030204" charset="0"/>
                <a:cs typeface="Calibri" panose="020F0502020204030204" charset="0"/>
                <a:sym typeface="+mn-ea"/>
              </a:rPr>
              <a:t>A description of the </a:t>
            </a:r>
            <a:r>
              <a:rPr lang="en-US" altLang="en-GB" sz="2700" b="0" u="sng" dirty="0">
                <a:latin typeface="Calibri" panose="020F0502020204030204" charset="0"/>
                <a:cs typeface="Calibri" panose="020F0502020204030204" charset="0"/>
                <a:sym typeface="+mn-ea"/>
              </a:rPr>
              <a:t>side effects</a:t>
            </a:r>
            <a:r>
              <a:rPr lang="en-US" altLang="en-GB" sz="2700" b="0" dirty="0">
                <a:latin typeface="Calibri" panose="020F0502020204030204" charset="0"/>
                <a:cs typeface="Calibri" panose="020F0502020204030204" charset="0"/>
                <a:sym typeface="+mn-ea"/>
              </a:rPr>
              <a:t> (if any) of the operation.</a:t>
            </a:r>
            <a:endParaRPr sz="2700" dirty="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19455"/>
            <a:ext cx="8977630" cy="1059180"/>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sz="3000" dirty="0">
                <a:solidFill>
                  <a:schemeClr val="accent1">
                    <a:lumMod val="75000"/>
                  </a:schemeClr>
                </a:solidFill>
                <a:ea typeface="宋体" panose="02010600030101010101" pitchFamily="2" charset="-122"/>
                <a:sym typeface="+mn-ea"/>
              </a:rPr>
              <a:t> </a:t>
            </a:r>
            <a:r>
              <a:rPr sz="3000" dirty="0">
                <a:solidFill>
                  <a:schemeClr val="accent1">
                    <a:lumMod val="75000"/>
                  </a:schemeClr>
                </a:solidFill>
                <a:ea typeface="宋体" panose="02010600030101010101" pitchFamily="2" charset="-122"/>
                <a:sym typeface="+mn-ea"/>
              </a:rPr>
              <a:t>A structured specification of a requirement for an insulin pump</a:t>
            </a:r>
            <a:r>
              <a:rPr lang="en-US" sz="3000" dirty="0">
                <a:solidFill>
                  <a:schemeClr val="accent1">
                    <a:lumMod val="75000"/>
                  </a:schemeClr>
                </a:solidFill>
                <a:ea typeface="宋体" panose="02010600030101010101" pitchFamily="2" charset="-122"/>
                <a:sym typeface="+mn-ea"/>
              </a:rPr>
              <a:t> - A form-based specification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结构化规格说明实例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82550" y="1875155"/>
            <a:ext cx="8989695" cy="4607560"/>
          </a:xfrm>
          <a:prstGeom prst="rect">
            <a:avLst/>
          </a:prstGeom>
        </p:spPr>
      </p:pic>
      <p:pic>
        <p:nvPicPr>
          <p:cNvPr id="3" name="图片 2"/>
          <p:cNvPicPr>
            <a:picLocks noChangeAspect="1"/>
          </p:cNvPicPr>
          <p:nvPr/>
        </p:nvPicPr>
        <p:blipFill>
          <a:blip r:embed="rId4"/>
          <a:stretch>
            <a:fillRect/>
          </a:stretch>
        </p:blipFill>
        <p:spPr>
          <a:xfrm>
            <a:off x="155575" y="1670685"/>
            <a:ext cx="8876665" cy="4618990"/>
          </a:xfrm>
          <a:prstGeom prst="rect">
            <a:avLst/>
          </a:prstGeom>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36295"/>
            <a:ext cx="8977630" cy="6197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Tabular specification</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表格化规格说明</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63491" name="Rectangle 3"/>
          <p:cNvSpPr>
            <a:spLocks noGrp="1" noChangeArrowheads="1"/>
          </p:cNvSpPr>
          <p:nvPr/>
        </p:nvSpPr>
        <p:spPr>
          <a:xfrm>
            <a:off x="48895" y="1456690"/>
            <a:ext cx="9017635" cy="476377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sz="3100" dirty="0">
                <a:solidFill>
                  <a:schemeClr val="accent2">
                    <a:lumMod val="75000"/>
                  </a:schemeClr>
                </a:solidFill>
                <a:latin typeface="Calibri" panose="020F0502020204030204" charset="0"/>
                <a:cs typeface="Calibri" panose="020F0502020204030204" charset="0"/>
              </a:rPr>
              <a:t> Tables are particularly useful when there are a number of possible alternative situations and you need to describe the actions to be taken for each of these.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适用于有多种可能的情况，要描述每种情况下的动作</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1" algn="l">
              <a:lnSpc>
                <a:spcPct val="90000"/>
              </a:lnSpc>
              <a:spcBef>
                <a:spcPts val="600"/>
              </a:spcBef>
              <a:spcAft>
                <a:spcPts val="0"/>
              </a:spcAft>
            </a:pPr>
            <a:r>
              <a:rPr sz="2800" b="0" dirty="0">
                <a:latin typeface="Calibri" panose="020F0502020204030204" charset="0"/>
                <a:cs typeface="Calibri" panose="020F0502020204030204" charset="0"/>
                <a:sym typeface="+mn-ea"/>
              </a:rPr>
              <a:t>The insulin pump bases its computations of the insulin requirement on the rate of change of blood sugar levels. </a:t>
            </a:r>
            <a:endParaRPr sz="2800" b="0" dirty="0">
              <a:latin typeface="Calibri" panose="020F0502020204030204" charset="0"/>
              <a:cs typeface="Calibri" panose="020F0502020204030204" charset="0"/>
              <a:sym typeface="+mn-ea"/>
            </a:endParaRPr>
          </a:p>
          <a:p>
            <a:pPr lvl="1" algn="l">
              <a:lnSpc>
                <a:spcPct val="90000"/>
              </a:lnSpc>
              <a:spcBef>
                <a:spcPts val="600"/>
              </a:spcBef>
              <a:spcAft>
                <a:spcPts val="0"/>
              </a:spcAft>
            </a:pPr>
            <a:r>
              <a:rPr sz="2800" b="0" dirty="0">
                <a:latin typeface="Calibri" panose="020F0502020204030204" charset="0"/>
                <a:cs typeface="Calibri" panose="020F0502020204030204" charset="0"/>
                <a:sym typeface="+mn-ea"/>
              </a:rPr>
              <a:t>The rates of change are computed using the current and previous readings. </a:t>
            </a:r>
            <a:endParaRPr sz="2800" b="0" dirty="0">
              <a:latin typeface="Calibri" panose="020F0502020204030204" charset="0"/>
              <a:cs typeface="Calibri" panose="020F0502020204030204" charset="0"/>
              <a:sym typeface="+mn-ea"/>
            </a:endParaRPr>
          </a:p>
          <a:p>
            <a:pPr lvl="1" algn="l">
              <a:lnSpc>
                <a:spcPct val="90000"/>
              </a:lnSpc>
              <a:spcBef>
                <a:spcPts val="600"/>
              </a:spcBef>
              <a:spcAft>
                <a:spcPts val="0"/>
              </a:spcAft>
            </a:pPr>
            <a:r>
              <a:rPr sz="2800" b="0" dirty="0">
                <a:latin typeface="Calibri" panose="020F0502020204030204" charset="0"/>
                <a:cs typeface="Calibri" panose="020F0502020204030204" charset="0"/>
                <a:sym typeface="+mn-ea"/>
              </a:rPr>
              <a:t>Figure 4.14 is a tabular description of how the rate of change of blood sugar is used to calculate the amount of insulin to be delivered</a:t>
            </a:r>
            <a:r>
              <a:rPr lang="en-US" sz="2800" b="0" dirty="0">
                <a:latin typeface="Calibri" panose="020F0502020204030204" charset="0"/>
                <a:cs typeface="Calibri" panose="020F0502020204030204" charset="0"/>
                <a:sym typeface="+mn-ea"/>
              </a:rPr>
              <a:t>.</a:t>
            </a:r>
            <a:endParaRPr lang="en-US" sz="2800" b="0" dirty="0">
              <a:solidFill>
                <a:schemeClr val="accent2">
                  <a:lumMod val="75000"/>
                </a:schemeClr>
              </a:solidFill>
              <a:latin typeface="Calibri" panose="020F0502020204030204" charset="0"/>
              <a:ea typeface="宋体" panose="02010600030101010101" pitchFamily="2" charset="-122"/>
              <a:cs typeface="Calibri" panose="020F0502020204030204" charset="0"/>
              <a:sym typeface="+mn-ea"/>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4545"/>
            <a:ext cx="8977630" cy="978535"/>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Tabular specification of computation for an insulin pump</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例子</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graphicFrame>
        <p:nvGraphicFramePr>
          <p:cNvPr id="2" name="Table 3"/>
          <p:cNvGraphicFramePr>
            <a:graphicFrameLocks noGrp="1"/>
          </p:cNvGraphicFramePr>
          <p:nvPr>
            <p:custDataLst>
              <p:tags r:id="rId3"/>
            </p:custDataLst>
          </p:nvPr>
        </p:nvGraphicFramePr>
        <p:xfrm>
          <a:off x="180975" y="1828165"/>
          <a:ext cx="8774430" cy="4678045"/>
        </p:xfrm>
        <a:graphic>
          <a:graphicData uri="http://schemas.openxmlformats.org/drawingml/2006/table">
            <a:tbl>
              <a:tblPr>
                <a:effectLst/>
                <a:tableStyleId>{5940675A-B579-460E-94D1-54222C63F5DA}</a:tableStyleId>
              </a:tblPr>
              <a:tblGrid>
                <a:gridCol w="4519930"/>
                <a:gridCol w="4254500"/>
              </a:tblGrid>
              <a:tr h="582295">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400" b="1" i="0" u="none" strike="noStrike" cap="none" normalizeH="0" baseline="0" dirty="0" smtClean="0">
                          <a:ln>
                            <a:noFill/>
                          </a:ln>
                          <a:solidFill>
                            <a:schemeClr val="bg1"/>
                          </a:solidFill>
                          <a:effectLst/>
                          <a:latin typeface="Arial" panose="020B0604020202020204"/>
                          <a:ea typeface="Times New Roman" panose="02020603050405020304" pitchFamily="18" charset="0"/>
                          <a:cs typeface="Arial" panose="020B0604020202020204"/>
                        </a:rPr>
                        <a:t>Condition</a:t>
                      </a:r>
                      <a:endParaRPr kumimoji="0" lang="en-GB" sz="2400" b="1" i="0" u="none" strike="noStrike" cap="none" normalizeH="0" baseline="0" dirty="0" smtClean="0">
                        <a:ln>
                          <a:noFill/>
                        </a:ln>
                        <a:solidFill>
                          <a:schemeClr val="bg1"/>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400" b="1" i="0" u="none" strike="noStrike" cap="none" normalizeH="0" baseline="0" dirty="0" smtClean="0">
                          <a:ln>
                            <a:noFill/>
                          </a:ln>
                          <a:solidFill>
                            <a:schemeClr val="bg1"/>
                          </a:solidFill>
                          <a:effectLst/>
                          <a:latin typeface="Arial" panose="020B0604020202020204"/>
                          <a:ea typeface="Times New Roman" panose="02020603050405020304" pitchFamily="18" charset="0"/>
                          <a:cs typeface="Arial" panose="020B0604020202020204"/>
                        </a:rPr>
                        <a:t>Action</a:t>
                      </a:r>
                      <a:endParaRPr kumimoji="0" lang="en-GB" sz="2400" b="1" i="0" u="none" strike="noStrike" cap="none" normalizeH="0" baseline="0" dirty="0" smtClean="0">
                        <a:ln>
                          <a:noFill/>
                        </a:ln>
                        <a:solidFill>
                          <a:schemeClr val="bg1"/>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r>
              <a:tr h="582295">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rPr>
                        <a:t>Sugar level falling (r2 &lt; r1)</a:t>
                      </a:r>
                      <a:endParaRPr kumimoji="0" lang="en-GB" sz="24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dirty="0" err="1">
                          <a:ln>
                            <a:noFill/>
                          </a:ln>
                          <a:solidFill>
                            <a:srgbClr val="000000"/>
                          </a:solidFill>
                          <a:effectLst/>
                          <a:latin typeface="Arial" panose="020B0604020202020204"/>
                          <a:ea typeface="Times New Roman" panose="02020603050405020304" pitchFamily="18" charset="0"/>
                          <a:cs typeface="Arial" panose="020B0604020202020204"/>
                        </a:rPr>
                        <a:t>CompDose</a:t>
                      </a:r>
                      <a:r>
                        <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 = 0</a:t>
                      </a:r>
                      <a:endPar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58166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Sugar level stable (r2 = r1)</a:t>
                      </a:r>
                      <a:endPar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dirty="0" err="1">
                          <a:ln>
                            <a:noFill/>
                          </a:ln>
                          <a:solidFill>
                            <a:srgbClr val="000000"/>
                          </a:solidFill>
                          <a:effectLst/>
                          <a:latin typeface="Arial" panose="020B0604020202020204"/>
                          <a:ea typeface="Times New Roman" panose="02020603050405020304" pitchFamily="18" charset="0"/>
                          <a:cs typeface="Arial" panose="020B0604020202020204"/>
                        </a:rPr>
                        <a:t>CompDose</a:t>
                      </a:r>
                      <a:r>
                        <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 = 0</a:t>
                      </a:r>
                      <a:endPar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1233805">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Sugar level increasing and rate of increase decreasing</a:t>
                      </a:r>
                      <a:r>
                        <a:rPr kumimoji="0" lang="en-GB" sz="24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rPr>
                        <a:t> </a:t>
                      </a:r>
                      <a:br>
                        <a:rPr kumimoji="0" lang="en-GB" sz="24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rPr>
                      </a:br>
                      <a:r>
                        <a:rPr kumimoji="0" lang="en-GB" sz="24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rPr>
                        <a:t>(</a:t>
                      </a:r>
                      <a:r>
                        <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(r2 – r1) &lt; (r1 – r0))</a:t>
                      </a:r>
                      <a:endPar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dirty="0" err="1">
                          <a:ln>
                            <a:noFill/>
                          </a:ln>
                          <a:solidFill>
                            <a:srgbClr val="000000"/>
                          </a:solidFill>
                          <a:effectLst/>
                          <a:latin typeface="Arial" panose="020B0604020202020204"/>
                          <a:ea typeface="Times New Roman" panose="02020603050405020304" pitchFamily="18" charset="0"/>
                          <a:cs typeface="Arial" panose="020B0604020202020204"/>
                        </a:rPr>
                        <a:t>CompDose</a:t>
                      </a:r>
                      <a:r>
                        <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 = 0</a:t>
                      </a:r>
                      <a:endPar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169799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Sugar level increasing and rate of increase stable or increasing</a:t>
                      </a:r>
                      <a:r>
                        <a:rPr kumimoji="0" lang="en-GB" sz="24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rPr>
                        <a:t> </a:t>
                      </a:r>
                      <a:br>
                        <a:rPr kumimoji="0" lang="en-GB" sz="24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rPr>
                      </a:br>
                      <a:r>
                        <a:rPr kumimoji="0" lang="en-GB" sz="24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rPr>
                        <a:t>(</a:t>
                      </a:r>
                      <a:r>
                        <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(r2 – r1) ≥ (r1 – r0))</a:t>
                      </a:r>
                      <a:endPar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dirty="0" err="1">
                          <a:ln>
                            <a:noFill/>
                          </a:ln>
                          <a:solidFill>
                            <a:srgbClr val="000000"/>
                          </a:solidFill>
                          <a:effectLst/>
                          <a:latin typeface="Arial" panose="020B0604020202020204"/>
                          <a:ea typeface="Times New Roman" panose="02020603050405020304" pitchFamily="18" charset="0"/>
                          <a:cs typeface="Arial" panose="020B0604020202020204"/>
                        </a:rPr>
                        <a:t>CompDose</a:t>
                      </a:r>
                      <a:r>
                        <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 =</a:t>
                      </a:r>
                      <a:r>
                        <a:rPr kumimoji="0" lang="en-GB" sz="24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rPr>
                        <a:t> </a:t>
                      </a:r>
                      <a:br>
                        <a:rPr kumimoji="0" lang="en-GB" sz="24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rPr>
                      </a:br>
                      <a:r>
                        <a:rPr kumimoji="0" lang="en-GB" sz="2400" b="0" i="0" u="none" strike="noStrike" cap="none" normalizeH="0" baseline="0" dirty="0" smtClean="0">
                          <a:ln>
                            <a:noFill/>
                          </a:ln>
                          <a:solidFill>
                            <a:srgbClr val="000000"/>
                          </a:solidFill>
                          <a:effectLst/>
                          <a:latin typeface="Arial" panose="020B0604020202020204"/>
                          <a:ea typeface="Times New Roman" panose="02020603050405020304" pitchFamily="18" charset="0"/>
                          <a:cs typeface="Arial" panose="020B0604020202020204"/>
                        </a:rPr>
                        <a:t>      round </a:t>
                      </a:r>
                      <a:r>
                        <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((r2 – r1)/4)</a:t>
                      </a:r>
                      <a:endPar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If rounded result = 0 then </a:t>
                      </a:r>
                      <a:endPar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p>
                      <a:pPr marL="0" marR="0" lvl="0" indent="0" algn="l"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dirty="0" err="1">
                          <a:ln>
                            <a:noFill/>
                          </a:ln>
                          <a:solidFill>
                            <a:srgbClr val="000000"/>
                          </a:solidFill>
                          <a:effectLst/>
                          <a:latin typeface="Arial" panose="020B0604020202020204"/>
                          <a:ea typeface="Times New Roman" panose="02020603050405020304" pitchFamily="18" charset="0"/>
                          <a:cs typeface="Arial" panose="020B0604020202020204"/>
                        </a:rPr>
                        <a:t>CompDose</a:t>
                      </a:r>
                      <a:r>
                        <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 = </a:t>
                      </a:r>
                      <a:r>
                        <a:rPr kumimoji="0" lang="en-GB" sz="2400" b="0" i="0" u="none" strike="noStrike" cap="none" normalizeH="0" baseline="0" dirty="0" err="1">
                          <a:ln>
                            <a:noFill/>
                          </a:ln>
                          <a:solidFill>
                            <a:srgbClr val="000000"/>
                          </a:solidFill>
                          <a:effectLst/>
                          <a:latin typeface="Arial" panose="020B0604020202020204"/>
                          <a:ea typeface="Times New Roman" panose="02020603050405020304" pitchFamily="18" charset="0"/>
                          <a:cs typeface="Arial" panose="020B0604020202020204"/>
                        </a:rPr>
                        <a:t>MinimumDose</a:t>
                      </a:r>
                      <a:endParaRPr kumimoji="0" lang="en-GB" sz="24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73025" marR="73025"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bl>
          </a:graphicData>
        </a:graphic>
      </p:graphicFrame>
      <p:pic>
        <p:nvPicPr>
          <p:cNvPr id="3" name="图片 2"/>
          <p:cNvPicPr>
            <a:picLocks noChangeAspect="1"/>
          </p:cNvPicPr>
          <p:nvPr/>
        </p:nvPicPr>
        <p:blipFill>
          <a:blip r:embed="rId4"/>
          <a:stretch>
            <a:fillRect/>
          </a:stretch>
        </p:blipFill>
        <p:spPr>
          <a:xfrm>
            <a:off x="85725" y="3065780"/>
            <a:ext cx="8972550" cy="2447925"/>
          </a:xfrm>
          <a:prstGeom prst="rect">
            <a:avLst/>
          </a:prstGeom>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19455"/>
            <a:ext cx="8977630" cy="5930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Use cases</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用例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63491" name="Rectangle 3"/>
          <p:cNvSpPr>
            <a:spLocks noGrp="1" noChangeArrowheads="1"/>
          </p:cNvSpPr>
          <p:nvPr/>
        </p:nvSpPr>
        <p:spPr>
          <a:xfrm>
            <a:off x="60960" y="1241425"/>
            <a:ext cx="9005570" cy="53060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a:solidFill>
                  <a:schemeClr val="accent2">
                    <a:lumMod val="75000"/>
                  </a:schemeClr>
                </a:solidFill>
                <a:latin typeface="Calibri" panose="020F0502020204030204" charset="0"/>
                <a:cs typeface="Calibri" panose="020F0502020204030204" charset="0"/>
              </a:rPr>
              <a:t> Use cases are a way of describing interactions between users and a system using a graphical model and structured text.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描述用户与系统交互的方式</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sz="3200" dirty="0">
                <a:solidFill>
                  <a:schemeClr val="accent2">
                    <a:lumMod val="75000"/>
                  </a:schemeClr>
                </a:solidFill>
                <a:latin typeface="Calibri" panose="020F0502020204030204" charset="0"/>
                <a:cs typeface="Calibri" panose="020F0502020204030204" charset="0"/>
              </a:rPr>
              <a:t> They have become a fundamental feature of the Unified Modeling Language (UML).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已成为UML的特征</a:t>
            </a:r>
            <a:endParaRPr lang="en-US" sz="3000" dirty="0">
              <a:solidFill>
                <a:schemeClr val="accent2">
                  <a:lumMod val="75000"/>
                </a:schemeClr>
              </a:solidFill>
              <a:latin typeface="Calibri" panose="020F0502020204030204" charset="0"/>
              <a:cs typeface="Calibri" panose="020F0502020204030204" charset="0"/>
            </a:endParaRPr>
          </a:p>
          <a:p>
            <a:pPr lvl="1" algn="l">
              <a:lnSpc>
                <a:spcPct val="85000"/>
              </a:lnSpc>
              <a:spcBef>
                <a:spcPts val="600"/>
              </a:spcBef>
              <a:spcAft>
                <a:spcPts val="0"/>
              </a:spcAft>
            </a:pPr>
            <a:r>
              <a:rPr sz="2800" b="0" dirty="0">
                <a:latin typeface="Calibri" panose="020F0502020204030204" charset="0"/>
                <a:cs typeface="Calibri" panose="020F0502020204030204" charset="0"/>
                <a:sym typeface="+mn-ea"/>
              </a:rPr>
              <a:t>The set of use</a:t>
            </a:r>
            <a:r>
              <a:rPr lang="en-US" sz="2800" b="0" dirty="0">
                <a:latin typeface="Calibri" panose="020F0502020204030204" charset="0"/>
                <a:cs typeface="Calibri" panose="020F0502020204030204" charset="0"/>
                <a:sym typeface="+mn-ea"/>
              </a:rPr>
              <a:t> </a:t>
            </a:r>
            <a:r>
              <a:rPr sz="2800" b="0" dirty="0">
                <a:latin typeface="Calibri" panose="020F0502020204030204" charset="0"/>
                <a:cs typeface="Calibri" panose="020F0502020204030204" charset="0"/>
                <a:sym typeface="+mn-ea"/>
              </a:rPr>
              <a:t>cases represents all of the possible interactions in the system</a:t>
            </a:r>
            <a:r>
              <a:rPr lang="en-US" sz="2800" b="0" dirty="0">
                <a:latin typeface="Calibri" panose="020F0502020204030204" charset="0"/>
                <a:cs typeface="Calibri" panose="020F0502020204030204" charset="0"/>
                <a:sym typeface="+mn-ea"/>
              </a:rPr>
              <a:t> </a:t>
            </a:r>
            <a:r>
              <a:rPr sz="2800" b="0" dirty="0">
                <a:latin typeface="Calibri" panose="020F0502020204030204" charset="0"/>
                <a:cs typeface="Calibri" panose="020F0502020204030204" charset="0"/>
                <a:sym typeface="+mn-ea"/>
              </a:rPr>
              <a:t>requirements. </a:t>
            </a:r>
            <a:r>
              <a:rPr lang="en-US" sz="2800" b="0" dirty="0">
                <a:latin typeface="Calibri" panose="020F0502020204030204" charset="0"/>
                <a:cs typeface="Calibri" panose="020F0502020204030204" charset="0"/>
                <a:sym typeface="+mn-ea"/>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表示所有交互</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a:p>
            <a:pPr lvl="1" algn="l">
              <a:lnSpc>
                <a:spcPct val="85000"/>
              </a:lnSpc>
              <a:spcBef>
                <a:spcPts val="600"/>
              </a:spcBef>
              <a:spcAft>
                <a:spcPts val="0"/>
              </a:spcAft>
            </a:pPr>
            <a:r>
              <a:rPr sz="2800" b="0" dirty="0">
                <a:latin typeface="Calibri" panose="020F0502020204030204" charset="0"/>
                <a:cs typeface="Calibri" panose="020F0502020204030204" charset="0"/>
                <a:sym typeface="+mn-ea"/>
              </a:rPr>
              <a:t>Actors in the process, who may be human or other systems, are represented as </a:t>
            </a:r>
            <a:r>
              <a:rPr sz="2800" b="0" u="sng" dirty="0">
                <a:latin typeface="Calibri" panose="020F0502020204030204" charset="0"/>
                <a:cs typeface="Calibri" panose="020F0502020204030204" charset="0"/>
                <a:sym typeface="+mn-ea"/>
              </a:rPr>
              <a:t>stick figures</a:t>
            </a:r>
            <a:r>
              <a:rPr sz="2800" b="0" dirty="0">
                <a:latin typeface="Calibri" panose="020F0502020204030204" charset="0"/>
                <a:cs typeface="Calibri" panose="020F0502020204030204" charset="0"/>
                <a:sym typeface="+mn-ea"/>
              </a:rPr>
              <a:t>. </a:t>
            </a:r>
            <a:r>
              <a:rPr lang="en-US" sz="2800" b="0" dirty="0">
                <a:latin typeface="Calibri" panose="020F0502020204030204" charset="0"/>
                <a:cs typeface="Calibri" panose="020F0502020204030204" charset="0"/>
                <a:sym typeface="+mn-ea"/>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参与者</a:t>
            </a:r>
            <a:endParaRPr sz="2800" b="0" dirty="0">
              <a:latin typeface="Calibri" panose="020F0502020204030204" charset="0"/>
              <a:cs typeface="Calibri" panose="020F0502020204030204" charset="0"/>
              <a:sym typeface="+mn-ea"/>
            </a:endParaRPr>
          </a:p>
          <a:p>
            <a:pPr lvl="1" algn="l">
              <a:lnSpc>
                <a:spcPct val="85000"/>
              </a:lnSpc>
              <a:spcBef>
                <a:spcPts val="600"/>
              </a:spcBef>
              <a:spcAft>
                <a:spcPts val="0"/>
              </a:spcAft>
            </a:pPr>
            <a:r>
              <a:rPr sz="2800" b="0" dirty="0">
                <a:latin typeface="Calibri" panose="020F0502020204030204" charset="0"/>
                <a:cs typeface="Calibri" panose="020F0502020204030204" charset="0"/>
                <a:sym typeface="+mn-ea"/>
              </a:rPr>
              <a:t>Each class of interaction is represented as a named </a:t>
            </a:r>
            <a:r>
              <a:rPr sz="2800" b="0" u="sng" dirty="0">
                <a:latin typeface="Calibri" panose="020F0502020204030204" charset="0"/>
                <a:cs typeface="Calibri" panose="020F0502020204030204" charset="0"/>
                <a:sym typeface="+mn-ea"/>
              </a:rPr>
              <a:t>ellipse</a:t>
            </a:r>
            <a:r>
              <a:rPr sz="2800" b="0" dirty="0">
                <a:latin typeface="Calibri" panose="020F0502020204030204" charset="0"/>
                <a:cs typeface="Calibri" panose="020F0502020204030204" charset="0"/>
                <a:sym typeface="+mn-ea"/>
              </a:rPr>
              <a:t>.</a:t>
            </a:r>
            <a:r>
              <a:rPr lang="en-US" sz="2800" b="0" dirty="0">
                <a:latin typeface="Calibri" panose="020F0502020204030204" charset="0"/>
                <a:cs typeface="Calibri" panose="020F0502020204030204" charset="0"/>
                <a:sym typeface="+mn-ea"/>
              </a:rPr>
              <a:t> </a:t>
            </a:r>
            <a:r>
              <a:rPr sz="2800" b="0" u="sng" dirty="0">
                <a:latin typeface="Calibri" panose="020F0502020204030204" charset="0"/>
                <a:cs typeface="Calibri" panose="020F0502020204030204" charset="0"/>
                <a:sym typeface="+mn-ea"/>
              </a:rPr>
              <a:t>Lines</a:t>
            </a:r>
            <a:r>
              <a:rPr sz="2800" b="0" dirty="0">
                <a:latin typeface="Calibri" panose="020F0502020204030204" charset="0"/>
                <a:cs typeface="Calibri" panose="020F0502020204030204" charset="0"/>
                <a:sym typeface="+mn-ea"/>
              </a:rPr>
              <a:t> link the actors with the interaction. Optionally, </a:t>
            </a:r>
            <a:r>
              <a:rPr sz="2800" b="0" u="sng" dirty="0">
                <a:latin typeface="Calibri" panose="020F0502020204030204" charset="0"/>
                <a:cs typeface="Calibri" panose="020F0502020204030204" charset="0"/>
                <a:sym typeface="+mn-ea"/>
              </a:rPr>
              <a:t>arrowheads</a:t>
            </a:r>
            <a:r>
              <a:rPr sz="2800" b="0" dirty="0">
                <a:latin typeface="Calibri" panose="020F0502020204030204" charset="0"/>
                <a:cs typeface="Calibri" panose="020F0502020204030204" charset="0"/>
                <a:sym typeface="+mn-ea"/>
              </a:rPr>
              <a:t> may be added to</a:t>
            </a:r>
            <a:r>
              <a:rPr lang="en-US" sz="2800" b="0" dirty="0">
                <a:latin typeface="Calibri" panose="020F0502020204030204" charset="0"/>
                <a:cs typeface="Calibri" panose="020F0502020204030204" charset="0"/>
                <a:sym typeface="+mn-ea"/>
              </a:rPr>
              <a:t> </a:t>
            </a:r>
            <a:r>
              <a:rPr sz="2800" b="0" dirty="0">
                <a:latin typeface="Calibri" panose="020F0502020204030204" charset="0"/>
                <a:cs typeface="Calibri" panose="020F0502020204030204" charset="0"/>
                <a:sym typeface="+mn-ea"/>
              </a:rPr>
              <a:t>lines to show how the interaction is initiated. </a:t>
            </a:r>
            <a:r>
              <a:rPr lang="en-US" sz="2800" b="0" dirty="0">
                <a:latin typeface="Calibri" panose="020F0502020204030204" charset="0"/>
                <a:cs typeface="Calibri" panose="020F0502020204030204" charset="0"/>
                <a:sym typeface="+mn-ea"/>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符号表示</a:t>
            </a:r>
            <a:endParaRPr lang="en-US" sz="2800" dirty="0">
              <a:solidFill>
                <a:schemeClr val="accent2">
                  <a:lumMod val="75000"/>
                </a:schemeClr>
              </a:solidFill>
              <a:latin typeface="Calibri" panose="020F0502020204030204" charset="0"/>
              <a:cs typeface="Calibri" panose="020F0502020204030204" charset="0"/>
              <a:sym typeface="+mn-ea"/>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19455"/>
            <a:ext cx="8977630" cy="5930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Use cases for the Mentcare system</a:t>
            </a:r>
            <a:r>
              <a:rPr lang="en-US"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用例的例子</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100330" y="1307465"/>
            <a:ext cx="8930640" cy="5262880"/>
          </a:xfrm>
          <a:prstGeom prst="rect">
            <a:avLst/>
          </a:prstGeom>
        </p:spPr>
      </p:pic>
      <p:sp>
        <p:nvSpPr>
          <p:cNvPr id="5" name="Content Placeholder 2"/>
          <p:cNvSpPr>
            <a:spLocks noGrp="1"/>
          </p:cNvSpPr>
          <p:nvPr/>
        </p:nvSpPr>
        <p:spPr>
          <a:xfrm>
            <a:off x="109855" y="5116195"/>
            <a:ext cx="2907030" cy="101727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buNone/>
            </a:pPr>
            <a:r>
              <a:rPr lang="en-US" altLang="en-GB" sz="2000" b="0" dirty="0"/>
              <a:t>* </a:t>
            </a:r>
            <a:r>
              <a:rPr lang="en-GB" sz="2000" b="0" dirty="0"/>
              <a:t>Each use case should be documented with a textual description.  </a:t>
            </a:r>
            <a:endParaRPr lang="en-US" sz="2000" b="0" dirty="0"/>
          </a:p>
        </p:txBody>
      </p:sp>
      <p:sp>
        <p:nvSpPr>
          <p:cNvPr id="6" name="Content Placeholder 2"/>
          <p:cNvSpPr>
            <a:spLocks noGrp="1"/>
          </p:cNvSpPr>
          <p:nvPr/>
        </p:nvSpPr>
        <p:spPr>
          <a:xfrm>
            <a:off x="5217795" y="5099685"/>
            <a:ext cx="3870960" cy="16808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altLang="en-GB" sz="2000" b="0" dirty="0"/>
              <a:t>* A</a:t>
            </a:r>
            <a:r>
              <a:rPr lang="en-GB" sz="2000" b="0" dirty="0"/>
              <a:t> brief description of the Setup Consultation</a:t>
            </a:r>
            <a:r>
              <a:rPr lang="en-US" altLang="en-GB" sz="2000" b="0" dirty="0"/>
              <a:t>:</a:t>
            </a:r>
            <a:endParaRPr lang="en-US" altLang="en-GB" sz="2000" b="0" dirty="0"/>
          </a:p>
          <a:p>
            <a:pPr marL="0" indent="0">
              <a:lnSpc>
                <a:spcPct val="85000"/>
              </a:lnSpc>
              <a:spcBef>
                <a:spcPts val="300"/>
              </a:spcBef>
              <a:spcAft>
                <a:spcPts val="0"/>
              </a:spcAft>
              <a:buNone/>
            </a:pPr>
            <a:r>
              <a:rPr lang="en-GB" sz="1000" b="0" dirty="0"/>
              <a:t>Setup consultation allows two or more doctors, working in different offices, to</a:t>
            </a:r>
            <a:r>
              <a:rPr lang="en-US" altLang="en-GB" sz="1000" b="0" dirty="0"/>
              <a:t> </a:t>
            </a:r>
            <a:r>
              <a:rPr lang="en-US" sz="1000" b="0" dirty="0"/>
              <a:t>view the same patient record at the same time. One doctor initiates the consultation by choosing the people involved from a dropdown menu of doctors who are online. The patient record is then displayed on their screens, but only the initiating doctor can edit the record. In addition, a text chat window is created to help coordinate actions. It is assumed that a phone call for voice communication can be separately arranged.</a:t>
            </a:r>
            <a:endParaRPr lang="en-US" sz="1000" b="0"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1520"/>
            <a:ext cx="8977630" cy="5734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000" dirty="0">
                <a:solidFill>
                  <a:schemeClr val="accent1">
                    <a:lumMod val="75000"/>
                  </a:schemeClr>
                </a:solidFill>
                <a:ea typeface="宋体" panose="02010600030101010101" pitchFamily="2" charset="-122"/>
                <a:sym typeface="+mn-ea"/>
              </a:rPr>
              <a:t> S</a:t>
            </a:r>
            <a:r>
              <a:rPr sz="3000" dirty="0">
                <a:solidFill>
                  <a:schemeClr val="accent1">
                    <a:lumMod val="75000"/>
                  </a:schemeClr>
                </a:solidFill>
                <a:ea typeface="宋体" panose="02010600030101010101" pitchFamily="2" charset="-122"/>
                <a:sym typeface="+mn-ea"/>
              </a:rPr>
              <a:t>oftware requirements document</a:t>
            </a:r>
            <a:r>
              <a:rPr lang="en-US"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软件需求文档</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63491" name="Rectangle 3"/>
          <p:cNvSpPr>
            <a:spLocks noGrp="1" noChangeArrowheads="1"/>
          </p:cNvSpPr>
          <p:nvPr/>
        </p:nvSpPr>
        <p:spPr>
          <a:xfrm>
            <a:off x="38735" y="1241425"/>
            <a:ext cx="9063355" cy="54070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sz="3100" dirty="0">
                <a:solidFill>
                  <a:schemeClr val="accent2">
                    <a:lumMod val="75000"/>
                  </a:schemeClr>
                </a:solidFill>
                <a:latin typeface="Calibri" panose="020F0502020204030204" charset="0"/>
                <a:cs typeface="Calibri" panose="020F0502020204030204" charset="0"/>
              </a:rPr>
              <a:t> The software </a:t>
            </a:r>
            <a:r>
              <a:rPr lang="en-US" sz="3100" u="sng" dirty="0">
                <a:solidFill>
                  <a:schemeClr val="accent2">
                    <a:lumMod val="75000"/>
                  </a:schemeClr>
                </a:solidFill>
                <a:latin typeface="Calibri" panose="020F0502020204030204" charset="0"/>
                <a:cs typeface="Calibri" panose="020F0502020204030204" charset="0"/>
              </a:rPr>
              <a:t>requirements document</a:t>
            </a:r>
            <a:r>
              <a:rPr lang="en-US" sz="3100" dirty="0">
                <a:solidFill>
                  <a:schemeClr val="accent2">
                    <a:lumMod val="75000"/>
                  </a:schemeClr>
                </a:solidFill>
                <a:latin typeface="Calibri" panose="020F0502020204030204" charset="0"/>
                <a:cs typeface="Calibri" panose="020F0502020204030204" charset="0"/>
              </a:rPr>
              <a:t> (also called the </a:t>
            </a:r>
            <a:r>
              <a:rPr lang="en-US" sz="3100" u="sng" dirty="0">
                <a:solidFill>
                  <a:schemeClr val="accent2">
                    <a:lumMod val="75000"/>
                  </a:schemeClr>
                </a:solidFill>
                <a:latin typeface="Calibri" panose="020F0502020204030204" charset="0"/>
                <a:cs typeface="Calibri" panose="020F0502020204030204" charset="0"/>
              </a:rPr>
              <a:t>software requirements specification</a:t>
            </a:r>
            <a:r>
              <a:rPr lang="en-US" sz="3100" dirty="0">
                <a:solidFill>
                  <a:schemeClr val="accent2">
                    <a:lumMod val="75000"/>
                  </a:schemeClr>
                </a:solidFill>
                <a:latin typeface="Calibri" panose="020F0502020204030204" charset="0"/>
                <a:cs typeface="Calibri" panose="020F0502020204030204" charset="0"/>
              </a:rPr>
              <a:t>) is an official statement of what the system developers should implement.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系统开发者要实现什么的官方陈述</a:t>
            </a:r>
            <a:endParaRPr lang="en-US" sz="3100" dirty="0">
              <a:solidFill>
                <a:schemeClr val="accent2">
                  <a:lumMod val="75000"/>
                </a:schemeClr>
              </a:solidFill>
              <a:latin typeface="Calibri" panose="020F0502020204030204" charset="0"/>
              <a:cs typeface="Calibri" panose="020F0502020204030204" charset="0"/>
            </a:endParaRPr>
          </a:p>
          <a:p>
            <a:pPr>
              <a:lnSpc>
                <a:spcPct val="82000"/>
              </a:lnSpc>
              <a:spcBef>
                <a:spcPts val="600"/>
              </a:spcBef>
              <a:spcAft>
                <a:spcPts val="0"/>
              </a:spcAft>
            </a:pPr>
            <a:r>
              <a:rPr lang="en-US" sz="3100" dirty="0">
                <a:solidFill>
                  <a:schemeClr val="accent2">
                    <a:lumMod val="75000"/>
                  </a:schemeClr>
                </a:solidFill>
                <a:latin typeface="Calibri" panose="020F0502020204030204" charset="0"/>
                <a:cs typeface="Calibri" panose="020F0502020204030204" charset="0"/>
              </a:rPr>
              <a:t> It may include both the </a:t>
            </a:r>
            <a:r>
              <a:rPr lang="en-US" sz="3100" u="sng" dirty="0">
                <a:solidFill>
                  <a:schemeClr val="accent2">
                    <a:lumMod val="75000"/>
                  </a:schemeClr>
                </a:solidFill>
                <a:latin typeface="Calibri" panose="020F0502020204030204" charset="0"/>
                <a:cs typeface="Calibri" panose="020F0502020204030204" charset="0"/>
              </a:rPr>
              <a:t>user requirements</a:t>
            </a:r>
            <a:r>
              <a:rPr lang="en-US" sz="3100" dirty="0">
                <a:solidFill>
                  <a:schemeClr val="accent2">
                    <a:lumMod val="75000"/>
                  </a:schemeClr>
                </a:solidFill>
                <a:latin typeface="Calibri" panose="020F0502020204030204" charset="0"/>
                <a:cs typeface="Calibri" panose="020F0502020204030204" charset="0"/>
              </a:rPr>
              <a:t> for a system and a detailed specification of the </a:t>
            </a:r>
            <a:r>
              <a:rPr lang="en-US" sz="3100" u="sng" dirty="0">
                <a:solidFill>
                  <a:schemeClr val="accent2">
                    <a:lumMod val="75000"/>
                  </a:schemeClr>
                </a:solidFill>
                <a:latin typeface="Calibri" panose="020F0502020204030204" charset="0"/>
                <a:cs typeface="Calibri" panose="020F0502020204030204" charset="0"/>
              </a:rPr>
              <a:t>system requirements</a:t>
            </a:r>
            <a:r>
              <a:rPr lang="en-US" sz="31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包括用户需求和系统</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需求详细</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规格说明</a:t>
            </a:r>
            <a:endParaRPr lang="en-US" sz="3100" dirty="0">
              <a:solidFill>
                <a:schemeClr val="accent2">
                  <a:lumMod val="75000"/>
                </a:schemeClr>
              </a:solidFill>
              <a:latin typeface="Calibri" panose="020F0502020204030204" charset="0"/>
              <a:cs typeface="Calibri" panose="020F0502020204030204" charset="0"/>
            </a:endParaRPr>
          </a:p>
          <a:p>
            <a:pPr lvl="1" algn="l">
              <a:lnSpc>
                <a:spcPct val="82000"/>
              </a:lnSpc>
              <a:spcBef>
                <a:spcPts val="600"/>
              </a:spcBef>
              <a:spcAft>
                <a:spcPts val="0"/>
              </a:spcAft>
            </a:pPr>
            <a:r>
              <a:rPr lang="en-US" sz="2700" b="0" dirty="0">
                <a:latin typeface="Calibri" panose="020F0502020204030204" charset="0"/>
                <a:cs typeface="Calibri" panose="020F0502020204030204" charset="0"/>
                <a:sym typeface="+mn-ea"/>
              </a:rPr>
              <a:t>Requirements documents</a:t>
            </a:r>
            <a:r>
              <a:rPr sz="2700" b="0" dirty="0">
                <a:latin typeface="Calibri" panose="020F0502020204030204" charset="0"/>
                <a:cs typeface="Calibri" panose="020F0502020204030204" charset="0"/>
                <a:sym typeface="+mn-ea"/>
              </a:rPr>
              <a:t> are essential when systems are outsourced,</a:t>
            </a:r>
            <a:r>
              <a:rPr lang="en-US" sz="2700" b="0" dirty="0">
                <a:latin typeface="Calibri" panose="020F0502020204030204" charset="0"/>
                <a:cs typeface="Calibri" panose="020F0502020204030204" charset="0"/>
                <a:sym typeface="+mn-ea"/>
              </a:rPr>
              <a:t> </a:t>
            </a:r>
            <a:r>
              <a:rPr sz="2700" b="0" dirty="0">
                <a:latin typeface="Calibri" panose="020F0502020204030204" charset="0"/>
                <a:cs typeface="Calibri" panose="020F0502020204030204" charset="0"/>
                <a:sym typeface="+mn-ea"/>
              </a:rPr>
              <a:t>when different teams develop different parts of the system, and when a detailed analysis</a:t>
            </a:r>
            <a:r>
              <a:rPr lang="en-US" sz="2700" b="0" dirty="0">
                <a:latin typeface="Calibri" panose="020F0502020204030204" charset="0"/>
                <a:cs typeface="Calibri" panose="020F0502020204030204" charset="0"/>
                <a:sym typeface="+mn-ea"/>
              </a:rPr>
              <a:t> </a:t>
            </a:r>
            <a:r>
              <a:rPr sz="2700" b="0" dirty="0">
                <a:latin typeface="Calibri" panose="020F0502020204030204" charset="0"/>
                <a:cs typeface="Calibri" panose="020F0502020204030204" charset="0"/>
                <a:sym typeface="+mn-ea"/>
              </a:rPr>
              <a:t>of the requirements is mandatory. </a:t>
            </a:r>
            <a:r>
              <a:rPr lang="en-US" sz="2700" b="0" dirty="0">
                <a:latin typeface="Calibri" panose="020F0502020204030204" charset="0"/>
                <a:cs typeface="Calibri" panose="020F0502020204030204" charset="0"/>
                <a:sym typeface="+mn-ea"/>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有时是必需的</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a:p>
            <a:pPr lvl="1" algn="l">
              <a:lnSpc>
                <a:spcPct val="82000"/>
              </a:lnSpc>
              <a:spcBef>
                <a:spcPts val="600"/>
              </a:spcBef>
              <a:spcAft>
                <a:spcPts val="0"/>
              </a:spcAft>
            </a:pPr>
            <a:r>
              <a:rPr sz="2700" b="0" dirty="0">
                <a:latin typeface="Calibri" panose="020F0502020204030204" charset="0"/>
                <a:cs typeface="Calibri" panose="020F0502020204030204" charset="0"/>
                <a:sym typeface="+mn-ea"/>
              </a:rPr>
              <a:t>In other circumstances, such as software product or</a:t>
            </a:r>
            <a:r>
              <a:rPr lang="en-US" sz="2700" b="0" dirty="0">
                <a:latin typeface="Calibri" panose="020F0502020204030204" charset="0"/>
                <a:cs typeface="Calibri" panose="020F0502020204030204" charset="0"/>
                <a:sym typeface="+mn-ea"/>
              </a:rPr>
              <a:t> </a:t>
            </a:r>
            <a:r>
              <a:rPr sz="2700" b="0" dirty="0">
                <a:latin typeface="Calibri" panose="020F0502020204030204" charset="0"/>
                <a:cs typeface="Calibri" panose="020F0502020204030204" charset="0"/>
                <a:sym typeface="+mn-ea"/>
              </a:rPr>
              <a:t>business system development, a detailed requirements document may not be needed.</a:t>
            </a:r>
            <a:r>
              <a:rPr lang="en-US" sz="2700" b="0" dirty="0">
                <a:latin typeface="Calibri" panose="020F0502020204030204" charset="0"/>
                <a:cs typeface="Calibri" panose="020F0502020204030204" charset="0"/>
                <a:sym typeface="+mn-ea"/>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有时可以不需要</a:t>
            </a:r>
            <a:endParaRPr lang="zh-CN" altLang="en-US" sz="2800" b="0" dirty="0">
              <a:solidFill>
                <a:schemeClr val="accent2">
                  <a:lumMod val="75000"/>
                </a:schemeClr>
              </a:solidFill>
              <a:latin typeface="Calibri" panose="020F0502020204030204" charset="0"/>
              <a:ea typeface="宋体" panose="02010600030101010101" pitchFamily="2" charset="-122"/>
              <a:cs typeface="Calibri" panose="020F0502020204030204" charset="0"/>
              <a:sym typeface="+mn-ea"/>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160655" y="145415"/>
            <a:ext cx="3923665" cy="849630"/>
          </a:xfrm>
          <a:solidFill>
            <a:schemeClr val="bg1"/>
          </a:solidFill>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dirty="0">
                <a:solidFill>
                  <a:schemeClr val="accent1">
                    <a:lumMod val="75000"/>
                  </a:schemeClr>
                </a:solidFill>
                <a:ea typeface="宋体" panose="02010600030101010101" pitchFamily="2" charset="-122"/>
                <a:sym typeface="+mn-ea"/>
              </a:rPr>
              <a:t> </a:t>
            </a:r>
            <a:r>
              <a:rPr dirty="0">
                <a:solidFill>
                  <a:schemeClr val="accent1">
                    <a:lumMod val="75000"/>
                  </a:schemeClr>
                </a:solidFill>
                <a:ea typeface="宋体" panose="02010600030101010101" pitchFamily="2" charset="-122"/>
                <a:sym typeface="+mn-ea"/>
              </a:rPr>
              <a:t>Users of</a:t>
            </a:r>
            <a:r>
              <a:rPr lang="en-US" dirty="0">
                <a:solidFill>
                  <a:schemeClr val="accent1">
                    <a:lumMod val="75000"/>
                  </a:schemeClr>
                </a:solidFill>
                <a:ea typeface="宋体" panose="02010600030101010101" pitchFamily="2" charset="-122"/>
                <a:sym typeface="+mn-ea"/>
              </a:rPr>
              <a:t> </a:t>
            </a:r>
            <a:r>
              <a:rPr dirty="0">
                <a:solidFill>
                  <a:schemeClr val="accent1">
                    <a:lumMod val="75000"/>
                  </a:schemeClr>
                </a:solidFill>
                <a:ea typeface="宋体" panose="02010600030101010101" pitchFamily="2" charset="-122"/>
                <a:sym typeface="+mn-ea"/>
              </a:rPr>
              <a:t>requirements document</a:t>
            </a:r>
            <a:r>
              <a:rPr lang="en-US" dirty="0">
                <a:solidFill>
                  <a:schemeClr val="accent1">
                    <a:lumMod val="75000"/>
                  </a:schemeClr>
                </a:solidFill>
                <a:ea typeface="宋体" panose="02010600030101010101" pitchFamily="2" charset="-122"/>
                <a:sym typeface="+mn-ea"/>
              </a:rPr>
              <a:t> </a:t>
            </a:r>
            <a:r>
              <a:rPr lang="zh-CN" altLang="en-US" sz="20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需求文档的用户</a:t>
            </a:r>
            <a:endParaRPr lang="zh-CN" altLang="en-US" sz="20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pic>
        <p:nvPicPr>
          <p:cNvPr id="2" name="图片 1"/>
          <p:cNvPicPr>
            <a:picLocks noChangeAspect="1"/>
          </p:cNvPicPr>
          <p:nvPr/>
        </p:nvPicPr>
        <p:blipFill>
          <a:blip r:embed="rId2"/>
          <a:stretch>
            <a:fillRect/>
          </a:stretch>
        </p:blipFill>
        <p:spPr>
          <a:xfrm>
            <a:off x="3942080" y="90170"/>
            <a:ext cx="5133975" cy="6534150"/>
          </a:xfrm>
          <a:prstGeom prst="rect">
            <a:avLst/>
          </a:prstGeom>
        </p:spPr>
      </p:pic>
      <p:sp>
        <p:nvSpPr>
          <p:cNvPr id="6" name="Content Placeholder 2"/>
          <p:cNvSpPr>
            <a:spLocks noGrp="1"/>
          </p:cNvSpPr>
          <p:nvPr/>
        </p:nvSpPr>
        <p:spPr>
          <a:xfrm>
            <a:off x="102235" y="954405"/>
            <a:ext cx="3805555" cy="559879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buNone/>
            </a:pPr>
            <a:r>
              <a:rPr lang="en-US" altLang="en-GB" sz="2000" b="0" dirty="0"/>
              <a:t>* </a:t>
            </a:r>
            <a:r>
              <a:rPr lang="en-GB" sz="2000" b="0" dirty="0"/>
              <a:t>The diversity of users means that the requirements document has to be a</a:t>
            </a:r>
            <a:r>
              <a:rPr lang="en-US" altLang="en-GB" sz="2000" b="0" dirty="0"/>
              <a:t> </a:t>
            </a:r>
            <a:r>
              <a:rPr lang="en-GB" sz="2000" b="0" dirty="0"/>
              <a:t>compromise. </a:t>
            </a:r>
            <a:endParaRPr lang="en-GB" sz="2000" b="0" dirty="0"/>
          </a:p>
          <a:p>
            <a:pPr marL="0" indent="0">
              <a:buNone/>
            </a:pPr>
            <a:r>
              <a:rPr lang="en-US" altLang="en-GB" sz="2000" b="0" dirty="0"/>
              <a:t>* </a:t>
            </a:r>
            <a:r>
              <a:rPr lang="en-GB" sz="2000" b="0" dirty="0"/>
              <a:t>It has to describe the requirements for customers, define the requirements in precise detail for developers and testers, as well as include information</a:t>
            </a:r>
            <a:r>
              <a:rPr lang="en-US" altLang="en-GB" sz="2000" b="0" dirty="0"/>
              <a:t> </a:t>
            </a:r>
            <a:r>
              <a:rPr lang="en-GB" sz="2000" b="0" dirty="0"/>
              <a:t>about future system evolution. </a:t>
            </a:r>
            <a:endParaRPr lang="en-GB" sz="2000" b="0" dirty="0"/>
          </a:p>
          <a:p>
            <a:pPr marL="0" indent="0">
              <a:buNone/>
            </a:pPr>
            <a:r>
              <a:rPr lang="en-US" altLang="en-GB" sz="2000" b="0" dirty="0"/>
              <a:t>* </a:t>
            </a:r>
            <a:r>
              <a:rPr lang="en-GB" sz="2000" b="0" dirty="0"/>
              <a:t>Information on anticipated changes helps system</a:t>
            </a:r>
            <a:r>
              <a:rPr lang="en-US" altLang="en-GB" sz="2000" b="0" dirty="0"/>
              <a:t> </a:t>
            </a:r>
            <a:r>
              <a:rPr lang="en-GB" sz="2000" b="0" dirty="0"/>
              <a:t>designers to avoid restrictive design decisions and</a:t>
            </a:r>
            <a:r>
              <a:rPr lang="en-US" altLang="en-GB" sz="2000" b="0" dirty="0"/>
              <a:t> </a:t>
            </a:r>
            <a:r>
              <a:rPr lang="en-GB" sz="2000" b="0" dirty="0"/>
              <a:t>maintenance engineers to adapt</a:t>
            </a:r>
            <a:r>
              <a:rPr lang="en-US" altLang="en-GB" sz="2000" b="0" dirty="0"/>
              <a:t> </a:t>
            </a:r>
            <a:r>
              <a:rPr lang="en-GB" sz="2000" b="0" dirty="0"/>
              <a:t>the system to new requirements.  </a:t>
            </a:r>
            <a:endParaRPr lang="en-US" sz="2000" b="0"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8985"/>
            <a:ext cx="8977630" cy="5797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2900" dirty="0">
                <a:solidFill>
                  <a:schemeClr val="accent1">
                    <a:lumMod val="75000"/>
                  </a:schemeClr>
                </a:solidFill>
                <a:ea typeface="宋体" panose="02010600030101010101" pitchFamily="2" charset="-122"/>
                <a:sym typeface="+mn-ea"/>
              </a:rPr>
              <a:t> </a:t>
            </a:r>
            <a:r>
              <a:rPr sz="2900" dirty="0">
                <a:solidFill>
                  <a:schemeClr val="accent1">
                    <a:lumMod val="75000"/>
                  </a:schemeClr>
                </a:solidFill>
                <a:ea typeface="宋体" panose="02010600030101010101" pitchFamily="2" charset="-122"/>
                <a:sym typeface="+mn-ea"/>
              </a:rPr>
              <a:t>Requirements document variability</a:t>
            </a:r>
            <a:r>
              <a:rPr lang="en-US" sz="29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需求文档</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变化性</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63491" name="Rectangle 3"/>
          <p:cNvSpPr>
            <a:spLocks noGrp="1" noChangeArrowheads="1"/>
          </p:cNvSpPr>
          <p:nvPr/>
        </p:nvSpPr>
        <p:spPr>
          <a:xfrm>
            <a:off x="48260" y="1313180"/>
            <a:ext cx="9017635" cy="52114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sz="3200" dirty="0">
                <a:solidFill>
                  <a:schemeClr val="accent2">
                    <a:lumMod val="75000"/>
                  </a:schemeClr>
                </a:solidFill>
                <a:latin typeface="Calibri" panose="020F0502020204030204" charset="0"/>
                <a:cs typeface="Calibri" panose="020F0502020204030204" charset="0"/>
              </a:rPr>
              <a:t> The level of detail in a requirements document depends on system type and the development process.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需求文档的详细程度取决于系统类型和开发过程</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1" algn="l">
              <a:lnSpc>
                <a:spcPct val="82000"/>
              </a:lnSpc>
              <a:spcBef>
                <a:spcPts val="600"/>
              </a:spcBef>
              <a:spcAft>
                <a:spcPts val="0"/>
              </a:spcAft>
            </a:pPr>
            <a:r>
              <a:rPr sz="2700" b="0" dirty="0">
                <a:latin typeface="Calibri" panose="020F0502020204030204" charset="0"/>
                <a:cs typeface="Calibri" panose="020F0502020204030204" charset="0"/>
                <a:sym typeface="+mn-ea"/>
              </a:rPr>
              <a:t>Critical systems need detailed requirements because safety and security have to be</a:t>
            </a:r>
            <a:r>
              <a:rPr lang="en-US" sz="2700" b="0" dirty="0">
                <a:latin typeface="Calibri" panose="020F0502020204030204" charset="0"/>
                <a:cs typeface="Calibri" panose="020F0502020204030204" charset="0"/>
                <a:sym typeface="+mn-ea"/>
              </a:rPr>
              <a:t> </a:t>
            </a:r>
            <a:r>
              <a:rPr sz="2700" b="0" dirty="0">
                <a:latin typeface="Calibri" panose="020F0502020204030204" charset="0"/>
                <a:cs typeface="Calibri" panose="020F0502020204030204" charset="0"/>
                <a:sym typeface="+mn-ea"/>
              </a:rPr>
              <a:t>analyzed in detail to find possible requirements errors. </a:t>
            </a:r>
            <a:r>
              <a:rPr lang="en-US" sz="2700" b="0" dirty="0">
                <a:latin typeface="Calibri" panose="020F0502020204030204" charset="0"/>
                <a:cs typeface="Calibri" panose="020F0502020204030204" charset="0"/>
                <a:sym typeface="+mn-ea"/>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关键系统</a:t>
            </a:r>
            <a:r>
              <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需要详细需求</a:t>
            </a:r>
            <a:endParaRPr sz="2700" b="0" dirty="0">
              <a:latin typeface="Calibri" panose="020F0502020204030204" charset="0"/>
              <a:cs typeface="Calibri" panose="020F0502020204030204" charset="0"/>
              <a:sym typeface="+mn-ea"/>
            </a:endParaRPr>
          </a:p>
          <a:p>
            <a:pPr lvl="1" algn="l">
              <a:lnSpc>
                <a:spcPct val="82000"/>
              </a:lnSpc>
              <a:spcBef>
                <a:spcPts val="600"/>
              </a:spcBef>
              <a:spcAft>
                <a:spcPts val="0"/>
              </a:spcAft>
            </a:pPr>
            <a:r>
              <a:rPr sz="2700" b="0" dirty="0">
                <a:latin typeface="Calibri" panose="020F0502020204030204" charset="0"/>
                <a:cs typeface="Calibri" panose="020F0502020204030204" charset="0"/>
                <a:sym typeface="+mn-ea"/>
              </a:rPr>
              <a:t>When the system is to be</a:t>
            </a:r>
            <a:r>
              <a:rPr lang="en-US" sz="2700" b="0" dirty="0">
                <a:latin typeface="Calibri" panose="020F0502020204030204" charset="0"/>
                <a:cs typeface="Calibri" panose="020F0502020204030204" charset="0"/>
                <a:sym typeface="+mn-ea"/>
              </a:rPr>
              <a:t> </a:t>
            </a:r>
            <a:r>
              <a:rPr sz="2700" b="0" dirty="0">
                <a:latin typeface="Calibri" panose="020F0502020204030204" charset="0"/>
                <a:cs typeface="Calibri" panose="020F0502020204030204" charset="0"/>
                <a:sym typeface="+mn-ea"/>
              </a:rPr>
              <a:t>developed by a separate company, the system specifications need to be detailed and precise.</a:t>
            </a:r>
            <a:r>
              <a:rPr lang="en-US" sz="2700" b="0" dirty="0">
                <a:latin typeface="Calibri" panose="020F0502020204030204" charset="0"/>
                <a:cs typeface="Calibri" panose="020F0502020204030204" charset="0"/>
                <a:sym typeface="+mn-ea"/>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系统由不同公司开发</a:t>
            </a:r>
            <a:r>
              <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系统规格要详细和精确</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a:p>
            <a:pPr lvl="1" algn="l">
              <a:lnSpc>
                <a:spcPct val="82000"/>
              </a:lnSpc>
              <a:spcBef>
                <a:spcPts val="600"/>
              </a:spcBef>
              <a:spcAft>
                <a:spcPts val="0"/>
              </a:spcAft>
            </a:pPr>
            <a:r>
              <a:rPr sz="2700" b="0" dirty="0">
                <a:latin typeface="Calibri" panose="020F0502020204030204" charset="0"/>
                <a:cs typeface="Calibri" panose="020F0502020204030204" charset="0"/>
                <a:sym typeface="+mn-ea"/>
              </a:rPr>
              <a:t>If an in-house, iterative development process is</a:t>
            </a:r>
            <a:r>
              <a:rPr lang="en-US" sz="2700" b="0" dirty="0">
                <a:latin typeface="Calibri" panose="020F0502020204030204" charset="0"/>
                <a:cs typeface="Calibri" panose="020F0502020204030204" charset="0"/>
                <a:sym typeface="+mn-ea"/>
              </a:rPr>
              <a:t> </a:t>
            </a:r>
            <a:r>
              <a:rPr sz="2700" b="0" dirty="0">
                <a:latin typeface="Calibri" panose="020F0502020204030204" charset="0"/>
                <a:cs typeface="Calibri" panose="020F0502020204030204" charset="0"/>
                <a:sym typeface="+mn-ea"/>
              </a:rPr>
              <a:t>used, the requirements document can be less detailed. Details can be added to the</a:t>
            </a:r>
            <a:r>
              <a:rPr lang="en-US" sz="2700" b="0" dirty="0">
                <a:latin typeface="Calibri" panose="020F0502020204030204" charset="0"/>
                <a:cs typeface="Calibri" panose="020F0502020204030204" charset="0"/>
                <a:sym typeface="+mn-ea"/>
              </a:rPr>
              <a:t> </a:t>
            </a:r>
            <a:r>
              <a:rPr sz="2700" b="0" dirty="0">
                <a:latin typeface="Calibri" panose="020F0502020204030204" charset="0"/>
                <a:cs typeface="Calibri" panose="020F0502020204030204" charset="0"/>
                <a:sym typeface="+mn-ea"/>
              </a:rPr>
              <a:t>requirements and ambiguities resolved during development of the system.</a:t>
            </a:r>
            <a:r>
              <a:rPr lang="en-US" sz="2700" b="0" dirty="0">
                <a:latin typeface="Calibri" panose="020F0502020204030204" charset="0"/>
                <a:cs typeface="Calibri" panose="020F0502020204030204" charset="0"/>
                <a:sym typeface="+mn-ea"/>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内部迭代开发过程：需求文档可不太详细，在开发过程中加入细节和消除模糊性</a:t>
            </a:r>
            <a:endPar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1040"/>
            <a:ext cx="8977630" cy="5829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2500" dirty="0">
                <a:solidFill>
                  <a:schemeClr val="accent1">
                    <a:lumMod val="75000"/>
                  </a:schemeClr>
                </a:solidFill>
                <a:ea typeface="宋体" panose="02010600030101010101" pitchFamily="2" charset="-122"/>
                <a:sym typeface="+mn-ea"/>
              </a:rPr>
              <a:t> </a:t>
            </a:r>
            <a:r>
              <a:rPr sz="2500" dirty="0">
                <a:solidFill>
                  <a:schemeClr val="accent1">
                    <a:lumMod val="75000"/>
                  </a:schemeClr>
                </a:solidFill>
                <a:ea typeface="宋体" panose="02010600030101010101" pitchFamily="2" charset="-122"/>
                <a:sym typeface="+mn-ea"/>
              </a:rPr>
              <a:t>The structure of a requirements document</a:t>
            </a:r>
            <a:r>
              <a:rPr lang="en-US" sz="2500" dirty="0">
                <a:solidFill>
                  <a:schemeClr val="accent1">
                    <a:lumMod val="75000"/>
                  </a:schemeClr>
                </a:solidFill>
                <a:ea typeface="宋体" panose="02010600030101010101" pitchFamily="2" charset="-122"/>
                <a:sym typeface="+mn-ea"/>
              </a:rPr>
              <a:t> (IEEE 1998 )</a:t>
            </a:r>
            <a:endParaRPr lang="en-US" sz="25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graphicFrame>
        <p:nvGraphicFramePr>
          <p:cNvPr id="2" name="Table 3"/>
          <p:cNvGraphicFramePr>
            <a:graphicFrameLocks noGrp="1"/>
          </p:cNvGraphicFramePr>
          <p:nvPr>
            <p:custDataLst>
              <p:tags r:id="rId3"/>
            </p:custDataLst>
          </p:nvPr>
        </p:nvGraphicFramePr>
        <p:xfrm>
          <a:off x="93980" y="1129665"/>
          <a:ext cx="8935085" cy="5852160"/>
        </p:xfrm>
        <a:graphic>
          <a:graphicData uri="http://schemas.openxmlformats.org/drawingml/2006/table">
            <a:tbl>
              <a:tblPr>
                <a:effectLst/>
                <a:tableStyleId>{5940675A-B579-460E-94D1-54222C63F5DA}</a:tableStyleId>
              </a:tblPr>
              <a:tblGrid>
                <a:gridCol w="1490345"/>
                <a:gridCol w="7444740"/>
              </a:tblGrid>
              <a:tr h="457200">
                <a:tc>
                  <a:txBody>
                    <a:bodyPr/>
                    <a:p>
                      <a:pPr marL="0" marR="0" lvl="0" indent="0" algn="ctr" defTabSz="457200" rtl="0" eaLnBrk="1" fontAlgn="base" latinLnBrk="0" hangingPunct="1">
                        <a:lnSpc>
                          <a:spcPct val="100000"/>
                        </a:lnSpc>
                        <a:spcBef>
                          <a:spcPct val="0"/>
                        </a:spcBef>
                        <a:spcAft>
                          <a:spcPct val="0"/>
                        </a:spcAft>
                        <a:buClrTx/>
                        <a:buSzTx/>
                        <a:buFontTx/>
                        <a:buNone/>
                      </a:pPr>
                      <a:r>
                        <a:rPr kumimoji="0" lang="en-US" sz="1800" b="1" i="0" u="none" strike="noStrike" cap="none" normalizeH="0" baseline="0" smtClean="0">
                          <a:ln>
                            <a:noFill/>
                          </a:ln>
                          <a:solidFill>
                            <a:schemeClr val="bg1"/>
                          </a:solidFill>
                          <a:effectLst/>
                          <a:latin typeface="Arial" panose="020B0604020202020204" pitchFamily="34" charset="0"/>
                          <a:ea typeface="Times New Roman" panose="02020603050405020304" pitchFamily="18" charset="0"/>
                          <a:cs typeface="Times New Roman" panose="02020603050405020304" pitchFamily="18" charset="0"/>
                        </a:rPr>
                        <a:t>Chapter</a:t>
                      </a:r>
                      <a:endParaRPr kumimoji="0" lang="en-US" sz="1800" b="1" i="0" u="none" strike="noStrike" cap="none" normalizeH="0" baseline="0" smtClean="0">
                        <a:ln>
                          <a:noFill/>
                        </a:ln>
                        <a:solidFill>
                          <a:schemeClr val="bg1"/>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54610" marR="54610" marT="9144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c>
                  <a:txBody>
                    <a:bodyPr/>
                    <a:p>
                      <a:pPr marL="0" marR="0" lvl="0" indent="0" algn="ctr" defTabSz="457200" rtl="0" eaLnBrk="1" fontAlgn="base" latinLnBrk="0" hangingPunct="1">
                        <a:lnSpc>
                          <a:spcPct val="100000"/>
                        </a:lnSpc>
                        <a:spcBef>
                          <a:spcPct val="0"/>
                        </a:spcBef>
                        <a:spcAft>
                          <a:spcPct val="0"/>
                        </a:spcAft>
                        <a:buClrTx/>
                        <a:buSzTx/>
                        <a:buFontTx/>
                        <a:buNone/>
                      </a:pPr>
                      <a:r>
                        <a:rPr kumimoji="0" lang="en-US" sz="1800" b="1" i="0" u="none" strike="noStrike" cap="none" normalizeH="0" baseline="0" dirty="0" smtClean="0">
                          <a:ln>
                            <a:noFill/>
                          </a:ln>
                          <a:solidFill>
                            <a:schemeClr val="bg1"/>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kumimoji="0" lang="en-US" sz="1800" b="1" i="0" u="none" strike="noStrike" cap="none" normalizeH="0" baseline="0" dirty="0" smtClean="0">
                        <a:ln>
                          <a:noFill/>
                        </a:ln>
                        <a:solidFill>
                          <a:schemeClr val="bg1"/>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54610" marR="54610" marT="9144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r>
              <a:tr h="86868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smtClean="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Preface</a:t>
                      </a:r>
                      <a:r>
                        <a:rPr kumimoji="0" lang="zh-CN" altLang="en-US" sz="1800" b="1" i="0" u="none" strike="noStrike" cap="none" normalizeH="0" baseline="0" smtClean="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前言</a:t>
                      </a:r>
                      <a:endParaRPr kumimoji="0" lang="zh-CN" altLang="en-US" sz="1800" b="1" i="0" u="none" strike="noStrike" cap="none" normalizeH="0" baseline="0" smtClean="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This defines the expected readership of the document and describe its version history, including a rationale for the creation of a new version and a summary of the changes made in each version. </a:t>
                      </a:r>
                      <a:endParaRPr kumimoji="0" lang="en-US"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1119505">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Introduction</a:t>
                      </a:r>
                      <a:r>
                        <a:rPr kumimoji="0" lang="zh-CN" altLang="en-US" sz="1800" b="1" i="0" u="none" strike="noStrike" cap="none" normalizeH="0" baseline="0" smtClean="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引言</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This describes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kumimoji="0" lang="en-US"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60960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Glossary    </a:t>
                      </a:r>
                      <a:r>
                        <a:rPr kumimoji="0" lang="zh-CN" altLang="en-US" sz="1800" b="1" i="0" u="none" strike="noStrike" cap="none" normalizeH="0" baseline="0" smtClean="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词汇表</a:t>
                      </a:r>
                      <a:endParaRPr kumimoji="0" lang="zh-CN" altLang="en-US" sz="1800" b="1" i="0" u="none" strike="noStrike" cap="none" normalizeH="0" baseline="0" smtClean="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This defines the technical terms used in the document. You should not make assumptions about the experience or expertise of the reader.</a:t>
                      </a:r>
                      <a:endParaRPr kumimoji="0" lang="en-US"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1283335">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User requirements definition    </a:t>
                      </a:r>
                      <a:r>
                        <a:rPr kumimoji="0" lang="zh-CN" altLang="en-US" sz="1800" b="1" i="0" u="none" strike="noStrike" cap="none" normalizeH="0" baseline="0" smtClean="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用户需求定义</a:t>
                      </a:r>
                      <a:endParaRPr kumimoji="0" lang="zh-CN" altLang="en-US" sz="1800" b="1" i="0" u="none" strike="noStrike" cap="none" normalizeH="0" baseline="0" smtClean="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kumimoji="0" lang="en-US"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90551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System architecture</a:t>
                      </a:r>
                      <a:r>
                        <a:rPr kumimoji="0" lang="zh-CN" altLang="en-US" sz="1800" b="1" i="0" u="none" strike="noStrike" cap="none" normalizeH="0" baseline="0" smtClean="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系统架构</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This chapter should present a high-level overview of the anticipated system architecture, showing the distribution of functions across system modules. R</a:t>
                      </a:r>
                      <a:r>
                        <a:rPr lang="en-US" sz="1800" dirty="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sym typeface="+mn-ea"/>
                        </a:rPr>
                        <a:t>eused a</a:t>
                      </a:r>
                      <a:r>
                        <a:rPr kumimoji="0" 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rchitectural components should be highlighted.</a:t>
                      </a:r>
                      <a:endParaRPr kumimoji="0" 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bl>
          </a:graphicData>
        </a:graphic>
      </p:graphicFrame>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graphicFrame>
        <p:nvGraphicFramePr>
          <p:cNvPr id="3" name="Content Placeholder 3"/>
          <p:cNvGraphicFramePr>
            <a:graphicFrameLocks noGrp="1"/>
          </p:cNvGraphicFramePr>
          <p:nvPr>
            <p:custDataLst>
              <p:tags r:id="rId2"/>
            </p:custDataLst>
          </p:nvPr>
        </p:nvGraphicFramePr>
        <p:xfrm>
          <a:off x="88265" y="1243965"/>
          <a:ext cx="8977630" cy="5212080"/>
        </p:xfrm>
        <a:graphic>
          <a:graphicData uri="http://schemas.openxmlformats.org/drawingml/2006/table">
            <a:tbl>
              <a:tblPr firstRow="1" bandRow="1">
                <a:effectLst/>
                <a:tableStyleId>{5940675A-B579-460E-94D1-54222C63F5DA}</a:tableStyleId>
              </a:tblPr>
              <a:tblGrid>
                <a:gridCol w="1492250"/>
                <a:gridCol w="7485380"/>
              </a:tblGrid>
              <a:tr h="365760">
                <a:tc>
                  <a:txBody>
                    <a:bodyPr/>
                    <a:p>
                      <a:pPr algn="ctr"/>
                      <a:r>
                        <a:rPr lang="en-US" sz="1800" b="1" dirty="0" smtClean="0">
                          <a:solidFill>
                            <a:schemeClr val="bg1"/>
                          </a:solidFill>
                          <a:latin typeface="Arial" panose="020B0604020202020204"/>
                          <a:cs typeface="Arial" panose="020B0604020202020204"/>
                        </a:rPr>
                        <a:t>Chapter</a:t>
                      </a:r>
                      <a:endParaRPr lang="en-US" sz="1800" b="1" dirty="0" smtClean="0">
                        <a:solidFill>
                          <a:schemeClr val="bg1"/>
                        </a:solidFill>
                        <a:latin typeface="Arial" panose="020B0604020202020204"/>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r>
                        <a:rPr lang="en-US" sz="1800" b="1" dirty="0" smtClean="0">
                          <a:solidFill>
                            <a:schemeClr val="bg1"/>
                          </a:solidFill>
                          <a:latin typeface="Arial" panose="020B0604020202020204"/>
                          <a:cs typeface="Arial" panose="020B0604020202020204"/>
                        </a:rPr>
                        <a:t>Description</a:t>
                      </a:r>
                      <a:endParaRPr lang="en-US" sz="1800" b="1" dirty="0" smtClean="0">
                        <a:solidFill>
                          <a:schemeClr val="bg1"/>
                        </a:solidFill>
                        <a:latin typeface="Arial" panose="020B0604020202020204"/>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91440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System requirements specification</a:t>
                      </a:r>
                      <a:r>
                        <a:rPr kumimoji="0" lang="zh-CN" altLang="en-US" sz="12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Arial" panose="020B0604020202020204"/>
                        </a:rPr>
                        <a:t>系统需求规格说明</a:t>
                      </a:r>
                      <a:endParaRPr kumimoji="0" lang="en-US" altLang="zh-CN" sz="12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Arial" panose="020B0604020202020204"/>
                      </a:endParaRPr>
                    </a:p>
                  </a:txBody>
                  <a:tcPr marL="54610" marR="54610" marT="0" marB="91440"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This describes the functional and nonfunctional requirements in more detail. If necessary, further detail may also be added to the nonfunctional requirements. Interfaces to other systems may be defined.</a:t>
                      </a:r>
                      <a:endParaRPr kumimoji="0" lang="en-US" sz="18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txBody>
                  <a:tcPr marL="54610" marR="54610" marT="0" marB="91440"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60579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System models</a:t>
                      </a:r>
                      <a:r>
                        <a:rPr kumimoji="0" lang="zh-CN" altLang="en-US" sz="12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Arial" panose="020B0604020202020204"/>
                        </a:rPr>
                        <a:t>系统模型</a:t>
                      </a:r>
                      <a:endParaRPr kumimoji="0" lang="zh-CN" altLang="en-US" sz="12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Arial" panose="020B0604020202020204"/>
                      </a:endParaRPr>
                    </a:p>
                  </a:txBody>
                  <a:tcPr marL="54610" marR="54610" marT="0" marB="91440"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This chapter includes graphical system models showing the relationships between the system components and the system and its environment. </a:t>
                      </a:r>
                      <a:endParaRPr kumimoji="0" lang="en-US" sz="18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txBody>
                  <a:tcPr marL="54610" marR="54610" marT="0" marB="91440"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146304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System evolution    </a:t>
                      </a:r>
                      <a:r>
                        <a:rPr kumimoji="0" lang="zh-CN" altLang="en-US" sz="1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Arial" panose="020B0604020202020204"/>
                        </a:rPr>
                        <a:t>系统演化</a:t>
                      </a:r>
                      <a:endParaRPr kumimoji="0" lang="zh-CN" altLang="en-US" sz="1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Arial" panose="020B0604020202020204"/>
                      </a:endParaRPr>
                    </a:p>
                  </a:txBody>
                  <a:tcPr marL="54610" marR="54610" marT="0" marB="91440"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This describes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kumimoji="0" lang="en-US" sz="18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txBody>
                  <a:tcPr marL="54610" marR="54610" marT="0" marB="91440"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845185">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Appendices</a:t>
                      </a:r>
                      <a:r>
                        <a:rPr kumimoji="0" lang="zh-CN" altLang="en-US" sz="1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Arial" panose="020B0604020202020204"/>
                        </a:rPr>
                        <a:t>附录</a:t>
                      </a:r>
                      <a:endParaRPr kumimoji="0" lang="zh-CN" altLang="en-US" sz="1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Arial" panose="020B0604020202020204"/>
                      </a:endParaRPr>
                    </a:p>
                  </a:txBody>
                  <a:tcPr marL="54610" marR="54610" marT="0" marB="91440"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These provide detailed, specific information that is related to the application being developed; for example, hardware and database descriptions.  </a:t>
                      </a:r>
                      <a:endParaRPr kumimoji="0" lang="en-US" sz="18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endParaRPr>
                    </a:p>
                  </a:txBody>
                  <a:tcPr marL="54610" marR="54610" marT="0" marB="91440"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91440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rgbClr val="000000"/>
                          </a:solidFill>
                          <a:effectLst/>
                          <a:latin typeface="Arial" panose="020B0604020202020204"/>
                          <a:ea typeface="Times New Roman" panose="02020603050405020304" pitchFamily="18" charset="0"/>
                          <a:cs typeface="Arial" panose="020B0604020202020204"/>
                        </a:rPr>
                        <a:t>Index </a:t>
                      </a:r>
                      <a:r>
                        <a:rPr kumimoji="0" lang="zh-CN" altLang="en-US" sz="1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Arial" panose="020B0604020202020204"/>
                        </a:rPr>
                        <a:t>索引</a:t>
                      </a:r>
                      <a:endParaRPr kumimoji="0" lang="zh-CN" altLang="en-US" sz="1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Arial" panose="020B0604020202020204"/>
                      </a:endParaRPr>
                    </a:p>
                  </a:txBody>
                  <a:tcPr marL="54610" marR="54610" marT="0" marB="91440"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US" sz="18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rPr>
                        <a:t>Several indexes to the document may be included. As well as a normal alphabetic index, there may be an index of diagrams, an index of functions, and so on.</a:t>
                      </a:r>
                      <a:endParaRPr kumimoji="0" lang="en-US" sz="1800" b="0" i="0" u="none" strike="noStrike" cap="none" normalizeH="0" baseline="0" dirty="0">
                        <a:ln>
                          <a:noFill/>
                        </a:ln>
                        <a:solidFill>
                          <a:srgbClr val="000000"/>
                        </a:solidFill>
                        <a:effectLst/>
                        <a:latin typeface="Arial" panose="020B0604020202020204"/>
                        <a:ea typeface="Times New Roman" panose="02020603050405020304" pitchFamily="18" charset="0"/>
                        <a:cs typeface="Arial" panose="020B0604020202020204"/>
                      </a:endParaRPr>
                    </a:p>
                  </a:txBody>
                  <a:tcPr marL="54610" marR="54610" marT="0" marB="91440"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bl>
          </a:graphicData>
        </a:graphic>
      </p:graphicFrame>
      <p:sp>
        <p:nvSpPr>
          <p:cNvPr id="5" name="Rectangle 3"/>
          <p:cNvSpPr>
            <a:spLocks noGrp="1" noRot="1"/>
          </p:cNvSpPr>
          <p:nvPr>
            <p:ph type="subTitle" idx="1"/>
            <p:custDataLst>
              <p:tags r:id="rId3"/>
            </p:custDataLst>
          </p:nvPr>
        </p:nvSpPr>
        <p:spPr>
          <a:xfrm>
            <a:off x="88900" y="772795"/>
            <a:ext cx="8977630" cy="4019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2500" dirty="0">
                <a:solidFill>
                  <a:schemeClr val="accent1">
                    <a:lumMod val="75000"/>
                  </a:schemeClr>
                </a:solidFill>
                <a:ea typeface="宋体" panose="02010600030101010101" pitchFamily="2" charset="-122"/>
                <a:sym typeface="+mn-ea"/>
              </a:rPr>
              <a:t> </a:t>
            </a:r>
            <a:r>
              <a:rPr sz="2500" dirty="0">
                <a:solidFill>
                  <a:schemeClr val="accent1">
                    <a:lumMod val="75000"/>
                  </a:schemeClr>
                </a:solidFill>
                <a:ea typeface="宋体" panose="02010600030101010101" pitchFamily="2" charset="-122"/>
                <a:sym typeface="+mn-ea"/>
              </a:rPr>
              <a:t>The structure of a requirements document</a:t>
            </a:r>
            <a:r>
              <a:rPr lang="en-US" sz="2500" dirty="0">
                <a:solidFill>
                  <a:schemeClr val="accent1">
                    <a:lumMod val="75000"/>
                  </a:schemeClr>
                </a:solidFill>
                <a:ea typeface="宋体" panose="02010600030101010101" pitchFamily="2" charset="-122"/>
                <a:sym typeface="+mn-ea"/>
              </a:rPr>
              <a:t> (IEEE 1998 )</a:t>
            </a:r>
            <a:endParaRPr lang="en-US" sz="2500" dirty="0">
              <a:solidFill>
                <a:schemeClr val="accent1">
                  <a:lumMod val="75000"/>
                </a:schemeClr>
              </a:solidFill>
              <a:ea typeface="宋体" panose="02010600030101010101" pitchFamily="2" charset="-122"/>
              <a:sym typeface="+mn-ea"/>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5810"/>
            <a:ext cx="8977630" cy="5181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4.5 </a:t>
            </a:r>
            <a:r>
              <a:rPr sz="3200" dirty="0">
                <a:solidFill>
                  <a:schemeClr val="accent1">
                    <a:lumMod val="75000"/>
                  </a:schemeClr>
                </a:solidFill>
                <a:ea typeface="宋体" panose="02010600030101010101" pitchFamily="2" charset="-122"/>
                <a:sym typeface="+mn-ea"/>
              </a:rPr>
              <a:t>Requirements validation</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需求确认</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57347" name="Rectangle 3"/>
          <p:cNvSpPr>
            <a:spLocks noGrp="1" noChangeArrowheads="1"/>
          </p:cNvSpPr>
          <p:nvPr/>
        </p:nvSpPr>
        <p:spPr>
          <a:xfrm>
            <a:off x="49530" y="1313180"/>
            <a:ext cx="9024620" cy="5332730"/>
          </a:xfrm>
          <a:prstGeom prst="rect">
            <a:avLst/>
          </a:prstGeom>
          <a:noFill/>
        </p:spPr>
        <p:txBody>
          <a:bodyPr lIns="90487" tIns="44450" rIns="90487" bIns="44450"/>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altLang="en-GB" sz="3200">
                <a:solidFill>
                  <a:schemeClr val="accent2">
                    <a:lumMod val="75000"/>
                  </a:schemeClr>
                </a:solidFill>
                <a:latin typeface="Calibri" panose="020F0502020204030204" charset="0"/>
                <a:cs typeface="Calibri" panose="020F0502020204030204" charset="0"/>
              </a:rPr>
              <a:t> Requirements validation is the process of checking that requirements define the system that the customer really wants.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含义</a:t>
            </a:r>
            <a:r>
              <a:rPr lang="en-US" altLang="zh-CN"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检查需求是否定义客户所需</a:t>
            </a:r>
            <a:endParaRPr lang="en-US" altLang="en-GB" sz="200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altLang="en-GB" sz="3200">
                <a:solidFill>
                  <a:schemeClr val="accent2">
                    <a:lumMod val="75000"/>
                  </a:schemeClr>
                </a:solidFill>
                <a:latin typeface="Calibri" panose="020F0502020204030204" charset="0"/>
                <a:cs typeface="Calibri" panose="020F0502020204030204" charset="0"/>
              </a:rPr>
              <a:t> It is critically important because errors in a requirements document can lead to extensive rework costs when these problems are discovered during development or after the system is in service. </a:t>
            </a:r>
            <a:r>
              <a:rPr lang="en-US" altLang="en-GB" sz="2800" b="0">
                <a:solidFill>
                  <a:schemeClr val="tx1"/>
                </a:solidFill>
                <a:latin typeface="Calibri" panose="020F0502020204030204" charset="0"/>
                <a:cs typeface="Calibri" panose="020F0502020204030204" charset="0"/>
              </a:rPr>
              <a:t>The cost of fixing a requirements problem by making a system change is usually much greater than repairing design or coding errors. A change to the requirements usually means that the system design and implementation must also be changed. Furthermore, the system must then be retested.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至关重要,需求错误导致返工</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8660"/>
            <a:ext cx="8977630" cy="6045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Types of r</a:t>
            </a:r>
            <a:r>
              <a:rPr sz="3200" dirty="0">
                <a:solidFill>
                  <a:schemeClr val="accent1">
                    <a:lumMod val="75000"/>
                  </a:schemeClr>
                </a:solidFill>
                <a:ea typeface="宋体" panose="02010600030101010101" pitchFamily="2" charset="-122"/>
                <a:sym typeface="+mn-ea"/>
              </a:rPr>
              <a:t>equirements checking</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需求检查类型</a:t>
            </a:r>
            <a:endPar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57347" name="Rectangle 3"/>
          <p:cNvSpPr>
            <a:spLocks noGrp="1" noChangeArrowheads="1"/>
          </p:cNvSpPr>
          <p:nvPr/>
        </p:nvSpPr>
        <p:spPr>
          <a:xfrm>
            <a:off x="89535" y="1313180"/>
            <a:ext cx="8976995" cy="5385435"/>
          </a:xfrm>
          <a:prstGeom prst="rect">
            <a:avLst/>
          </a:prstGeom>
          <a:noFill/>
        </p:spPr>
        <p:txBody>
          <a:bodyPr lIns="90487" tIns="44450" rIns="90487" bIns="44450"/>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500"/>
              </a:spcBef>
              <a:spcAft>
                <a:spcPts val="0"/>
              </a:spcAft>
            </a:pPr>
            <a:r>
              <a:rPr lang="en-US" altLang="en-GB" sz="3200">
                <a:solidFill>
                  <a:schemeClr val="accent2">
                    <a:lumMod val="75000"/>
                  </a:schemeClr>
                </a:solidFill>
                <a:latin typeface="Calibri" panose="020F0502020204030204" charset="0"/>
                <a:cs typeface="Calibri" panose="020F0502020204030204" charset="0"/>
              </a:rPr>
              <a:t> Validity: </a:t>
            </a:r>
            <a:r>
              <a:rPr lang="en-US" altLang="en-GB" sz="2800" b="0">
                <a:solidFill>
                  <a:schemeClr val="tx1"/>
                </a:solidFill>
                <a:latin typeface="Calibri" panose="020F0502020204030204" charset="0"/>
                <a:cs typeface="Calibri" panose="020F0502020204030204" charset="0"/>
              </a:rPr>
              <a:t>The requirements reflect the real needs of system users. </a:t>
            </a:r>
            <a:r>
              <a:rPr lang="en-US" altLang="en-GB" sz="320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正确性</a:t>
            </a:r>
            <a:endParaRPr lang="en-US" altLang="en-GB" sz="3200">
              <a:solidFill>
                <a:schemeClr val="accent2">
                  <a:lumMod val="75000"/>
                </a:schemeClr>
              </a:solidFill>
              <a:latin typeface="Calibri" panose="020F0502020204030204" charset="0"/>
              <a:cs typeface="Calibri" panose="020F0502020204030204" charset="0"/>
            </a:endParaRPr>
          </a:p>
          <a:p>
            <a:pPr>
              <a:lnSpc>
                <a:spcPct val="82000"/>
              </a:lnSpc>
              <a:spcBef>
                <a:spcPts val="5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Consistency</a:t>
            </a:r>
            <a:r>
              <a:rPr lang="en-US" altLang="en-GB" sz="3200">
                <a:solidFill>
                  <a:schemeClr val="accent2">
                    <a:lumMod val="75000"/>
                  </a:schemeClr>
                </a:solidFill>
                <a:latin typeface="Calibri" panose="020F0502020204030204" charset="0"/>
                <a:cs typeface="Calibri" panose="020F0502020204030204" charset="0"/>
              </a:rPr>
              <a:t>:</a:t>
            </a:r>
            <a:r>
              <a:rPr lang="en-GB" sz="3200">
                <a:solidFill>
                  <a:schemeClr val="accent2">
                    <a:lumMod val="75000"/>
                  </a:schemeClr>
                </a:solidFill>
                <a:latin typeface="Calibri" panose="020F0502020204030204" charset="0"/>
                <a:cs typeface="Calibri" panose="020F0502020204030204" charset="0"/>
              </a:rPr>
              <a:t> </a:t>
            </a:r>
            <a:r>
              <a:rPr lang="en-US" sz="2800" b="0">
                <a:solidFill>
                  <a:schemeClr val="tx1"/>
                </a:solidFill>
                <a:latin typeface="Calibri" panose="020F0502020204030204" charset="0"/>
                <a:cs typeface="Calibri" panose="020F0502020204030204" charset="0"/>
              </a:rPr>
              <a:t>R</a:t>
            </a:r>
            <a:r>
              <a:rPr lang="en-GB" sz="2800" b="0">
                <a:solidFill>
                  <a:schemeClr val="tx1"/>
                </a:solidFill>
                <a:latin typeface="Calibri" panose="020F0502020204030204" charset="0"/>
                <a:cs typeface="Calibri" panose="020F0502020204030204" charset="0"/>
              </a:rPr>
              <a:t>equirements in the document should not conflict. </a:t>
            </a:r>
            <a:r>
              <a:rPr lang="en-US" altLang="en-GB" sz="320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一致性</a:t>
            </a:r>
            <a:endParaRPr lang="en-GB" sz="3200">
              <a:solidFill>
                <a:schemeClr val="accent2">
                  <a:lumMod val="75000"/>
                </a:schemeClr>
              </a:solidFill>
              <a:latin typeface="Calibri" panose="020F0502020204030204" charset="0"/>
              <a:cs typeface="Calibri" panose="020F0502020204030204" charset="0"/>
            </a:endParaRPr>
          </a:p>
          <a:p>
            <a:pPr>
              <a:lnSpc>
                <a:spcPct val="82000"/>
              </a:lnSpc>
              <a:spcBef>
                <a:spcPts val="5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Completeness</a:t>
            </a:r>
            <a:r>
              <a:rPr lang="en-US" altLang="en-GB" sz="3200">
                <a:solidFill>
                  <a:schemeClr val="accent2">
                    <a:lumMod val="75000"/>
                  </a:schemeClr>
                </a:solidFill>
                <a:latin typeface="Calibri" panose="020F0502020204030204" charset="0"/>
                <a:cs typeface="Calibri" panose="020F0502020204030204" charset="0"/>
              </a:rPr>
              <a:t>:</a:t>
            </a:r>
            <a:r>
              <a:rPr lang="en-GB" sz="3200">
                <a:solidFill>
                  <a:schemeClr val="accent2">
                    <a:lumMod val="75000"/>
                  </a:schemeClr>
                </a:solidFill>
                <a:latin typeface="Calibri" panose="020F0502020204030204" charset="0"/>
                <a:cs typeface="Calibri" panose="020F0502020204030204" charset="0"/>
              </a:rPr>
              <a:t> </a:t>
            </a:r>
            <a:r>
              <a:rPr lang="en-GB" sz="2800" b="0">
                <a:solidFill>
                  <a:schemeClr val="tx1"/>
                </a:solidFill>
                <a:latin typeface="Calibri" panose="020F0502020204030204" charset="0"/>
                <a:cs typeface="Calibri" panose="020F0502020204030204" charset="0"/>
              </a:rPr>
              <a:t>The requirements document should include requirements</a:t>
            </a:r>
            <a:r>
              <a:rPr lang="en-US" altLang="en-GB" sz="2800" b="0">
                <a:solidFill>
                  <a:schemeClr val="tx1"/>
                </a:solidFill>
                <a:latin typeface="Calibri" panose="020F0502020204030204" charset="0"/>
                <a:cs typeface="Calibri" panose="020F0502020204030204" charset="0"/>
              </a:rPr>
              <a:t> </a:t>
            </a:r>
            <a:r>
              <a:rPr lang="en-GB" sz="2800" b="0">
                <a:solidFill>
                  <a:schemeClr val="tx1"/>
                </a:solidFill>
                <a:latin typeface="Calibri" panose="020F0502020204030204" charset="0"/>
                <a:cs typeface="Calibri" panose="020F0502020204030204" charset="0"/>
              </a:rPr>
              <a:t>that define all functions and the constraints intended by the system user.</a:t>
            </a:r>
            <a:r>
              <a:rPr lang="en-US" altLang="en-GB" sz="2800" b="0">
                <a:solidFill>
                  <a:schemeClr val="tx1"/>
                </a:solidFill>
                <a:latin typeface="Calibri" panose="020F0502020204030204" charset="0"/>
                <a:cs typeface="Calibri" panose="020F0502020204030204" charset="0"/>
              </a:rPr>
              <a:t> </a:t>
            </a:r>
            <a:r>
              <a:rPr lang="en-US" altLang="en-GB" sz="320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完整性</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2000"/>
              </a:lnSpc>
              <a:spcBef>
                <a:spcPts val="5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Realism</a:t>
            </a:r>
            <a:r>
              <a:rPr lang="en-US" altLang="en-GB" sz="3200">
                <a:solidFill>
                  <a:schemeClr val="accent2">
                    <a:lumMod val="75000"/>
                  </a:schemeClr>
                </a:solidFill>
                <a:latin typeface="Calibri" panose="020F0502020204030204" charset="0"/>
                <a:cs typeface="Calibri" panose="020F0502020204030204" charset="0"/>
              </a:rPr>
              <a:t>:</a:t>
            </a:r>
            <a:r>
              <a:rPr lang="en-GB" sz="3200">
                <a:solidFill>
                  <a:schemeClr val="accent2">
                    <a:lumMod val="75000"/>
                  </a:schemeClr>
                </a:solidFill>
                <a:latin typeface="Calibri" panose="020F0502020204030204" charset="0"/>
                <a:cs typeface="Calibri" panose="020F0502020204030204" charset="0"/>
              </a:rPr>
              <a:t> </a:t>
            </a:r>
            <a:r>
              <a:rPr lang="en-US" altLang="en-GB" sz="2800" b="0">
                <a:solidFill>
                  <a:schemeClr val="tx1"/>
                </a:solidFill>
                <a:latin typeface="Calibri" panose="020F0502020204030204" charset="0"/>
                <a:cs typeface="Calibri" panose="020F0502020204030204" charset="0"/>
              </a:rPr>
              <a:t>T</a:t>
            </a:r>
            <a:r>
              <a:rPr lang="en-GB" sz="2800" b="0">
                <a:solidFill>
                  <a:schemeClr val="tx1"/>
                </a:solidFill>
                <a:latin typeface="Calibri" panose="020F0502020204030204" charset="0"/>
                <a:cs typeface="Calibri" panose="020F0502020204030204" charset="0"/>
              </a:rPr>
              <a:t>he requirements</a:t>
            </a:r>
            <a:r>
              <a:rPr lang="en-US" altLang="en-GB" sz="2800" b="0">
                <a:solidFill>
                  <a:schemeClr val="tx1"/>
                </a:solidFill>
                <a:latin typeface="Calibri" panose="020F0502020204030204" charset="0"/>
                <a:cs typeface="Calibri" panose="020F0502020204030204" charset="0"/>
              </a:rPr>
              <a:t> </a:t>
            </a:r>
            <a:r>
              <a:rPr lang="en-GB" sz="2800" b="0">
                <a:solidFill>
                  <a:schemeClr val="tx1"/>
                </a:solidFill>
                <a:latin typeface="Calibri" panose="020F0502020204030204" charset="0"/>
                <a:cs typeface="Calibri" panose="020F0502020204030204" charset="0"/>
              </a:rPr>
              <a:t>should be checked to ensure that they can be implemented within the proposed</a:t>
            </a:r>
            <a:r>
              <a:rPr lang="en-US" altLang="en-GB" sz="2800" b="0">
                <a:solidFill>
                  <a:schemeClr val="tx1"/>
                </a:solidFill>
                <a:latin typeface="Calibri" panose="020F0502020204030204" charset="0"/>
                <a:cs typeface="Calibri" panose="020F0502020204030204" charset="0"/>
              </a:rPr>
              <a:t> </a:t>
            </a:r>
            <a:r>
              <a:rPr lang="en-GB" sz="2800" b="0">
                <a:solidFill>
                  <a:schemeClr val="tx1"/>
                </a:solidFill>
                <a:latin typeface="Calibri" panose="020F0502020204030204" charset="0"/>
                <a:cs typeface="Calibri" panose="020F0502020204030204" charset="0"/>
              </a:rPr>
              <a:t>budget and</a:t>
            </a:r>
            <a:r>
              <a:rPr lang="en-US" altLang="en-GB" sz="2800" b="0">
                <a:solidFill>
                  <a:schemeClr val="tx1"/>
                </a:solidFill>
                <a:latin typeface="Calibri" panose="020F0502020204030204" charset="0"/>
                <a:cs typeface="Calibri" panose="020F0502020204030204" charset="0"/>
              </a:rPr>
              <a:t> </a:t>
            </a:r>
            <a:r>
              <a:rPr lang="en-GB" sz="2800" b="0">
                <a:solidFill>
                  <a:schemeClr val="tx1"/>
                </a:solidFill>
                <a:latin typeface="Calibri" panose="020F0502020204030204" charset="0"/>
                <a:cs typeface="Calibri" panose="020F0502020204030204" charset="0"/>
              </a:rPr>
              <a:t>schedule.</a:t>
            </a:r>
            <a:r>
              <a:rPr lang="en-US" altLang="en-GB" sz="2800" b="0">
                <a:solidFill>
                  <a:schemeClr val="tx1"/>
                </a:solidFill>
                <a:latin typeface="Calibri" panose="020F0502020204030204" charset="0"/>
                <a:cs typeface="Calibri" panose="020F0502020204030204" charset="0"/>
              </a:rPr>
              <a:t> </a:t>
            </a:r>
            <a:r>
              <a:rPr lang="en-US" altLang="en-GB" sz="320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现实性</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2000"/>
              </a:lnSpc>
              <a:spcBef>
                <a:spcPts val="5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Verifiability</a:t>
            </a:r>
            <a:r>
              <a:rPr lang="en-US" altLang="en-GB" sz="3200">
                <a:solidFill>
                  <a:schemeClr val="accent2">
                    <a:lumMod val="75000"/>
                  </a:schemeClr>
                </a:solidFill>
                <a:latin typeface="Calibri" panose="020F0502020204030204" charset="0"/>
                <a:cs typeface="Calibri" panose="020F0502020204030204" charset="0"/>
              </a:rPr>
              <a:t>: </a:t>
            </a:r>
            <a:r>
              <a:rPr lang="en-GB" sz="2800" b="0">
                <a:solidFill>
                  <a:schemeClr val="tx1"/>
                </a:solidFill>
                <a:latin typeface="Calibri" panose="020F0502020204030204" charset="0"/>
                <a:cs typeface="Calibri" panose="020F0502020204030204" charset="0"/>
              </a:rPr>
              <a:t>To reduce the potential dispute between customer and contractor, system requirements should always be written so that they are verifiable.</a:t>
            </a:r>
            <a:r>
              <a:rPr lang="en-US" altLang="en-GB" sz="2800" b="0">
                <a:solidFill>
                  <a:schemeClr val="tx1"/>
                </a:solidFill>
                <a:latin typeface="Calibri" panose="020F0502020204030204" charset="0"/>
                <a:cs typeface="Calibri" panose="020F0502020204030204" charset="0"/>
              </a:rPr>
              <a:t> </a:t>
            </a:r>
            <a:r>
              <a:rPr lang="en-US" altLang="en-GB" sz="320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可验证性</a:t>
            </a:r>
            <a:endParaRPr lang="zh-CN" altLang="en-US" sz="320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8195"/>
            <a:ext cx="8977630" cy="5143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2900" dirty="0">
                <a:solidFill>
                  <a:schemeClr val="accent1">
                    <a:lumMod val="75000"/>
                  </a:schemeClr>
                </a:solidFill>
                <a:ea typeface="宋体" panose="02010600030101010101" pitchFamily="2" charset="-122"/>
                <a:sym typeface="+mn-ea"/>
              </a:rPr>
              <a:t> </a:t>
            </a:r>
            <a:r>
              <a:rPr sz="2900" dirty="0">
                <a:solidFill>
                  <a:schemeClr val="accent1">
                    <a:lumMod val="75000"/>
                  </a:schemeClr>
                </a:solidFill>
                <a:ea typeface="宋体" panose="02010600030101010101" pitchFamily="2" charset="-122"/>
                <a:sym typeface="+mn-ea"/>
              </a:rPr>
              <a:t>Requirements validation techniques</a:t>
            </a:r>
            <a:r>
              <a:rPr lang="en-US" sz="29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需求确认技术</a:t>
            </a:r>
            <a:endPar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2" name="Rectangle 3"/>
          <p:cNvSpPr>
            <a:spLocks noGrp="1" noChangeArrowheads="1"/>
          </p:cNvSpPr>
          <p:nvPr/>
        </p:nvSpPr>
        <p:spPr>
          <a:xfrm>
            <a:off x="88265" y="1313180"/>
            <a:ext cx="8952865" cy="503555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Requirements reviews</a:t>
            </a:r>
            <a:r>
              <a:rPr lang="en-US" altLang="en-GB"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 需求评审</a:t>
            </a:r>
            <a:endParaRPr lang="en-GB" sz="3200" dirty="0">
              <a:solidFill>
                <a:schemeClr val="accent2">
                  <a:lumMod val="7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GB" sz="2800" b="0" dirty="0">
                <a:latin typeface="Calibri" panose="020F0502020204030204" charset="0"/>
                <a:cs typeface="Calibri" panose="020F0502020204030204" charset="0"/>
              </a:rPr>
              <a:t>The requirements are analyzed systematically by a team</a:t>
            </a:r>
            <a:r>
              <a:rPr lang="en-US" altLang="en-GB" sz="2800" b="0" dirty="0">
                <a:latin typeface="Calibri" panose="020F0502020204030204" charset="0"/>
                <a:cs typeface="Calibri" panose="020F0502020204030204" charset="0"/>
              </a:rPr>
              <a:t> </a:t>
            </a:r>
            <a:r>
              <a:rPr lang="en-GB" sz="2800" b="0" dirty="0">
                <a:latin typeface="Calibri" panose="020F0502020204030204" charset="0"/>
                <a:cs typeface="Calibri" panose="020F0502020204030204" charset="0"/>
              </a:rPr>
              <a:t>of reviewers who check for errors and inconsistencies.</a:t>
            </a:r>
            <a:r>
              <a:rPr lang="en-US" altLang="en-GB" sz="2800" b="0" dirty="0">
                <a:latin typeface="Calibri" panose="020F0502020204030204" charset="0"/>
                <a:cs typeface="Calibri" panose="020F0502020204030204" charset="0"/>
              </a:rPr>
              <a:t>    </a:t>
            </a:r>
            <a:endParaRPr lang="en-GB" sz="2800" b="0" dirty="0">
              <a:latin typeface="Calibri" panose="020F0502020204030204" charset="0"/>
              <a:cs typeface="Calibri" panose="020F0502020204030204" charset="0"/>
            </a:endParaRPr>
          </a:p>
          <a:p>
            <a:pPr>
              <a:lnSpc>
                <a:spcPct val="85000"/>
              </a:lnSpc>
              <a:spcBef>
                <a:spcPts val="6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Prototyping</a:t>
            </a:r>
            <a:r>
              <a:rPr lang="en-US" altLang="en-GB"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原型</a:t>
            </a:r>
            <a:endParaRPr lang="en-GB" sz="3200" dirty="0">
              <a:solidFill>
                <a:schemeClr val="accent2">
                  <a:lumMod val="7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US" altLang="en-GB" sz="2800" b="0" dirty="0">
                <a:latin typeface="Calibri" panose="020F0502020204030204" charset="0"/>
                <a:cs typeface="Calibri" panose="020F0502020204030204" charset="0"/>
              </a:rPr>
              <a:t>D</a:t>
            </a:r>
            <a:r>
              <a:rPr lang="en-GB" sz="2800" b="0" dirty="0">
                <a:latin typeface="Calibri" panose="020F0502020204030204" charset="0"/>
                <a:cs typeface="Calibri" panose="020F0502020204030204" charset="0"/>
              </a:rPr>
              <a:t>eveloping an executable model of a system and</a:t>
            </a:r>
            <a:r>
              <a:rPr lang="en-US" altLang="en-GB" sz="2800" b="0" dirty="0">
                <a:latin typeface="Calibri" panose="020F0502020204030204" charset="0"/>
                <a:cs typeface="Calibri" panose="020F0502020204030204" charset="0"/>
              </a:rPr>
              <a:t> </a:t>
            </a:r>
            <a:r>
              <a:rPr lang="en-GB" sz="2800" b="0" dirty="0">
                <a:latin typeface="Calibri" panose="020F0502020204030204" charset="0"/>
                <a:cs typeface="Calibri" panose="020F0502020204030204" charset="0"/>
              </a:rPr>
              <a:t>using this with end-users and customers to see if it meets their needs and expectations. </a:t>
            </a:r>
            <a:endParaRPr lang="en-GB" sz="2800" b="0" dirty="0">
              <a:latin typeface="Calibri" panose="020F0502020204030204" charset="0"/>
              <a:cs typeface="Calibri" panose="020F0502020204030204" charset="0"/>
            </a:endParaRPr>
          </a:p>
          <a:p>
            <a:pPr>
              <a:lnSpc>
                <a:spcPct val="85000"/>
              </a:lnSpc>
              <a:spcBef>
                <a:spcPts val="6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Test-case generation</a:t>
            </a:r>
            <a:r>
              <a:rPr lang="en-US" altLang="en-GB" sz="3200" dirty="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测试用例生成</a:t>
            </a:r>
            <a:endParaRPr lang="en-GB" sz="3200" dirty="0">
              <a:solidFill>
                <a:schemeClr val="accent2">
                  <a:lumMod val="7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GB" sz="2800" b="0" dirty="0">
                <a:latin typeface="Calibri" panose="020F0502020204030204" charset="0"/>
                <a:cs typeface="Calibri" panose="020F0502020204030204" charset="0"/>
              </a:rPr>
              <a:t>Developing tests from the user requirements before any code is written</a:t>
            </a:r>
            <a:r>
              <a:rPr lang="en-US" altLang="en-GB" sz="2800" b="0" dirty="0">
                <a:latin typeface="Calibri" panose="020F0502020204030204" charset="0"/>
                <a:cs typeface="Calibri" panose="020F0502020204030204" charset="0"/>
              </a:rPr>
              <a:t> </a:t>
            </a:r>
            <a:r>
              <a:rPr lang="en-GB" sz="2800" b="0" dirty="0">
                <a:latin typeface="Calibri" panose="020F0502020204030204" charset="0"/>
                <a:cs typeface="Calibri" panose="020F0502020204030204" charset="0"/>
              </a:rPr>
              <a:t>is an integral part of test-driven development.</a:t>
            </a:r>
            <a:endParaRPr lang="en-GB" sz="2800" b="0" dirty="0">
              <a:latin typeface="Calibri" panose="020F0502020204030204" charset="0"/>
              <a:cs typeface="Calibri" panose="020F0502020204030204" charset="0"/>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8985"/>
            <a:ext cx="8977630" cy="6032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4.6 </a:t>
            </a:r>
            <a:r>
              <a:rPr sz="3200" dirty="0">
                <a:solidFill>
                  <a:schemeClr val="accent1">
                    <a:lumMod val="75000"/>
                  </a:schemeClr>
                </a:solidFill>
                <a:ea typeface="宋体" panose="02010600030101010101" pitchFamily="2" charset="-122"/>
                <a:sym typeface="+mn-ea"/>
              </a:rPr>
              <a:t>Requirements change</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需求变更</a:t>
            </a:r>
            <a:endPar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9535" y="1313180"/>
            <a:ext cx="8963660" cy="15652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500"/>
              </a:spcBef>
              <a:spcAft>
                <a:spcPts val="0"/>
              </a:spcAft>
            </a:pPr>
            <a:r>
              <a:rPr lang="en-US" sz="2600" dirty="0" smtClean="0">
                <a:solidFill>
                  <a:schemeClr val="accent2">
                    <a:lumMod val="75000"/>
                  </a:schemeClr>
                </a:solidFill>
                <a:latin typeface="Calibri" panose="020F0502020204030204" charset="0"/>
                <a:cs typeface="Calibri" panose="020F0502020204030204" charset="0"/>
              </a:rPr>
              <a:t>During the software development process, the stakeholders’ understanding of the problem is constantly changing.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理解在变</a:t>
            </a:r>
            <a:endPar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500"/>
              </a:spcBef>
              <a:spcAft>
                <a:spcPts val="0"/>
              </a:spcAft>
            </a:pPr>
            <a:r>
              <a:rPr lang="en-US" sz="2600" dirty="0" smtClean="0">
                <a:solidFill>
                  <a:schemeClr val="accent2">
                    <a:lumMod val="75000"/>
                  </a:schemeClr>
                </a:solidFill>
                <a:latin typeface="Calibri" panose="020F0502020204030204" charset="0"/>
                <a:cs typeface="Calibri" panose="020F0502020204030204" charset="0"/>
              </a:rPr>
              <a:t>The system requirements must then evolve to reflect this changed problem understanding.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需求必须演化来反映理解的变化</a:t>
            </a:r>
            <a:endPar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500"/>
              </a:spcBef>
              <a:spcAft>
                <a:spcPts val="0"/>
              </a:spcAft>
            </a:pPr>
            <a:endParaRPr lang="en-US" sz="3100" dirty="0" smtClean="0">
              <a:solidFill>
                <a:schemeClr val="accent2">
                  <a:lumMod val="75000"/>
                </a:schemeClr>
              </a:solidFill>
              <a:latin typeface="Calibri" panose="020F0502020204030204" charset="0"/>
              <a:cs typeface="Calibri" panose="020F0502020204030204" charset="0"/>
            </a:endParaRPr>
          </a:p>
          <a:p>
            <a:pPr>
              <a:lnSpc>
                <a:spcPct val="85000"/>
              </a:lnSpc>
              <a:spcBef>
                <a:spcPts val="500"/>
              </a:spcBef>
              <a:spcAft>
                <a:spcPts val="0"/>
              </a:spcAft>
            </a:pPr>
            <a:endParaRPr lang="en-US" sz="2600" dirty="0"/>
          </a:p>
        </p:txBody>
      </p:sp>
      <p:pic>
        <p:nvPicPr>
          <p:cNvPr id="2" name="图片 1"/>
          <p:cNvPicPr>
            <a:picLocks noChangeAspect="1"/>
          </p:cNvPicPr>
          <p:nvPr/>
        </p:nvPicPr>
        <p:blipFill>
          <a:blip r:embed="rId3"/>
          <a:stretch>
            <a:fillRect/>
          </a:stretch>
        </p:blipFill>
        <p:spPr>
          <a:xfrm>
            <a:off x="1146175" y="2918460"/>
            <a:ext cx="7251700" cy="3618865"/>
          </a:xfrm>
          <a:prstGeom prst="rect">
            <a:avLst/>
          </a:prstGeom>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920"/>
            <a:ext cx="8977630" cy="803910"/>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sz="2800" dirty="0">
                <a:solidFill>
                  <a:schemeClr val="accent1">
                    <a:lumMod val="75000"/>
                  </a:schemeClr>
                </a:solidFill>
                <a:ea typeface="宋体" panose="02010600030101010101" pitchFamily="2" charset="-122"/>
                <a:sym typeface="+mn-ea"/>
              </a:rPr>
              <a:t> </a:t>
            </a:r>
            <a:r>
              <a:rPr sz="2800" dirty="0">
                <a:solidFill>
                  <a:schemeClr val="accent1">
                    <a:lumMod val="75000"/>
                  </a:schemeClr>
                </a:solidFill>
                <a:ea typeface="宋体" panose="02010600030101010101" pitchFamily="2" charset="-122"/>
                <a:sym typeface="+mn-ea"/>
              </a:rPr>
              <a:t>Requirements change</a:t>
            </a:r>
            <a:r>
              <a:rPr lang="en-US" sz="2800" dirty="0">
                <a:solidFill>
                  <a:schemeClr val="accent1">
                    <a:lumMod val="75000"/>
                  </a:schemeClr>
                </a:solidFill>
                <a:ea typeface="宋体" panose="02010600030101010101" pitchFamily="2" charset="-122"/>
                <a:sym typeface="+mn-ea"/>
              </a:rPr>
              <a:t>s due to  </a:t>
            </a:r>
            <a:r>
              <a:rPr sz="2800" dirty="0">
                <a:solidFill>
                  <a:schemeClr val="accent1">
                    <a:lumMod val="75000"/>
                  </a:schemeClr>
                </a:solidFill>
                <a:ea typeface="宋体" panose="02010600030101010101" pitchFamily="2" charset="-122"/>
                <a:sym typeface="+mn-ea"/>
              </a:rPr>
              <a:t>business environment</a:t>
            </a:r>
            <a:r>
              <a:rPr lang="en-US" sz="2800" dirty="0">
                <a:solidFill>
                  <a:schemeClr val="accent1">
                    <a:lumMod val="75000"/>
                  </a:schemeClr>
                </a:solidFill>
                <a:ea typeface="宋体" panose="02010600030101010101" pitchFamily="2" charset="-122"/>
                <a:sym typeface="+mn-ea"/>
              </a:rPr>
              <a:t> </a:t>
            </a:r>
            <a:r>
              <a:rPr lang="en-US" sz="2800" dirty="0">
                <a:solidFill>
                  <a:schemeClr val="accent1">
                    <a:lumMod val="75000"/>
                  </a:schemeClr>
                </a:solidFill>
                <a:ea typeface="宋体" panose="02010600030101010101" pitchFamily="2" charset="-122"/>
                <a:sym typeface="+mn-ea"/>
              </a:rPr>
              <a:t>changes</a:t>
            </a:r>
            <a:r>
              <a:rPr sz="2800" dirty="0">
                <a:solidFill>
                  <a:schemeClr val="accent1">
                    <a:lumMod val="75000"/>
                  </a:schemeClr>
                </a:solidFill>
                <a:ea typeface="宋体" panose="02010600030101010101" pitchFamily="2" charset="-122"/>
                <a:sym typeface="+mn-ea"/>
              </a:rPr>
              <a:t>:</a:t>
            </a:r>
            <a:r>
              <a:rPr lang="en-US" sz="28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因业务环境变化引起的需求变更</a:t>
            </a:r>
            <a:endPar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5880" y="1578610"/>
            <a:ext cx="9010015" cy="487489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2800" dirty="0" smtClean="0">
                <a:solidFill>
                  <a:schemeClr val="accent2">
                    <a:lumMod val="75000"/>
                  </a:schemeClr>
                </a:solidFill>
                <a:latin typeface="Calibri" panose="020F0502020204030204" charset="0"/>
                <a:cs typeface="Calibri" panose="020F0502020204030204" charset="0"/>
              </a:rPr>
              <a:t> The business and technical environment always changes after installation.</a:t>
            </a:r>
            <a:r>
              <a:rPr lang="en-US" dirty="0" smtClean="0">
                <a:solidFill>
                  <a:schemeClr val="accent2">
                    <a:lumMod val="75000"/>
                  </a:schemeClr>
                </a:solidFill>
                <a:latin typeface="Calibri" panose="020F0502020204030204" charset="0"/>
                <a:cs typeface="Calibri" panose="020F0502020204030204" charset="0"/>
              </a:rPr>
              <a:t> </a:t>
            </a:r>
            <a:r>
              <a:rPr lang="en-GB" sz="2000" b="0" dirty="0" smtClean="0">
                <a:latin typeface="Calibri" panose="020F0502020204030204" charset="0"/>
                <a:cs typeface="Calibri" panose="020F0502020204030204" charset="0"/>
              </a:rPr>
              <a:t>New hardware may be introduced and existing hardware updated. It may be necessary to interface with other systems. Business priorities may change, new regulations may be introduced.</a:t>
            </a:r>
            <a:r>
              <a:rPr lang="en-US" altLang="en-GB" sz="2000" b="0" dirty="0" smtClean="0">
                <a:latin typeface="Calibri" panose="020F0502020204030204" charset="0"/>
                <a:cs typeface="Calibri" panose="020F0502020204030204" charset="0"/>
              </a:rPr>
              <a:t>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业务和技术环境总在变</a:t>
            </a:r>
            <a:endParaRPr lang="en-GB" sz="2000" b="0" dirty="0" smtClean="0">
              <a:latin typeface="Calibri" panose="020F0502020204030204" charset="0"/>
              <a:cs typeface="Calibri" panose="020F0502020204030204" charset="0"/>
            </a:endParaRPr>
          </a:p>
          <a:p>
            <a:pPr>
              <a:lnSpc>
                <a:spcPct val="85000"/>
              </a:lnSpc>
              <a:spcAft>
                <a:spcPts val="0"/>
              </a:spcAft>
            </a:pPr>
            <a:r>
              <a:rPr lang="en-US" sz="2800" dirty="0" smtClean="0">
                <a:solidFill>
                  <a:schemeClr val="accent2">
                    <a:lumMod val="75000"/>
                  </a:schemeClr>
                </a:solidFill>
                <a:latin typeface="Calibri" panose="020F0502020204030204" charset="0"/>
                <a:cs typeface="Calibri" panose="020F0502020204030204" charset="0"/>
              </a:rPr>
              <a:t> The people who pay and the users of that system are rarely the same people.</a:t>
            </a:r>
            <a:r>
              <a:rPr lang="en-US" sz="2000" dirty="0" smtClean="0">
                <a:solidFill>
                  <a:schemeClr val="accent2">
                    <a:lumMod val="75000"/>
                  </a:schemeClr>
                </a:solidFill>
                <a:latin typeface="Calibri" panose="020F0502020204030204" charset="0"/>
                <a:cs typeface="Calibri" panose="020F0502020204030204" charset="0"/>
              </a:rPr>
              <a:t> </a:t>
            </a:r>
            <a:r>
              <a:rPr lang="en-US" sz="2000" b="0" dirty="0" smtClean="0">
                <a:latin typeface="Calibri" panose="020F0502020204030204" charset="0"/>
                <a:cs typeface="Calibri" panose="020F0502020204030204" charset="0"/>
              </a:rPr>
              <a:t>System customers impose requirements because of organizational and budgetary constraints. These may conflict with end-user requirements, and, after delivery, new features may have to be added for user support if the system is to meet its goals.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付钱者和使用者是不同的人</a:t>
            </a:r>
            <a:endParaRPr lang="en-US" sz="2000" b="0" dirty="0" smtClean="0">
              <a:latin typeface="Calibri" panose="020F0502020204030204" charset="0"/>
              <a:cs typeface="Calibri" panose="020F0502020204030204" charset="0"/>
            </a:endParaRPr>
          </a:p>
          <a:p>
            <a:pPr lvl="0" algn="l">
              <a:lnSpc>
                <a:spcPct val="85000"/>
              </a:lnSpc>
              <a:spcAft>
                <a:spcPts val="0"/>
              </a:spcAft>
            </a:pPr>
            <a:r>
              <a:rPr lang="en-US" sz="2800" dirty="0" smtClean="0">
                <a:solidFill>
                  <a:schemeClr val="accent2">
                    <a:lumMod val="75000"/>
                  </a:schemeClr>
                </a:solidFill>
                <a:latin typeface="Calibri" panose="020F0502020204030204" charset="0"/>
                <a:cs typeface="Calibri" panose="020F0502020204030204" charset="0"/>
              </a:rPr>
              <a:t> Large systems have a diverse stakeholder community, with stakeholders having different requirements. Their priorities may be conflicting or contradictory.</a:t>
            </a:r>
            <a:r>
              <a:rPr lang="en-US" sz="2000" dirty="0" smtClean="0">
                <a:solidFill>
                  <a:schemeClr val="accent2">
                    <a:lumMod val="75000"/>
                  </a:schemeClr>
                </a:solidFill>
                <a:latin typeface="Calibri" panose="020F0502020204030204" charset="0"/>
                <a:cs typeface="Calibri" panose="020F0502020204030204" charset="0"/>
              </a:rPr>
              <a:t> </a:t>
            </a:r>
            <a:r>
              <a:rPr lang="en-US" sz="2000" b="0" dirty="0" smtClean="0">
                <a:latin typeface="Calibri" panose="020F0502020204030204" charset="0"/>
                <a:cs typeface="Calibri" panose="020F0502020204030204" charset="0"/>
              </a:rPr>
              <a:t>The final system requirements are inevitably a compromise. With experience, the balance of support given to different stakeholders has to be changed and the requirements re-prioritized.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各色干系人的需求优先级可能冲突和矛盾</a:t>
            </a:r>
            <a:endParaRPr lang="en-US" sz="2000" b="0" dirty="0" smtClean="0">
              <a:latin typeface="Calibri" panose="020F0502020204030204" charset="0"/>
              <a:cs typeface="Calibri" panose="020F0502020204030204" charset="0"/>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6125"/>
            <a:ext cx="8977630" cy="5969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Requirements management</a:t>
            </a:r>
            <a:r>
              <a:rPr lang="en-US" sz="32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需求管理</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2" name="Rectangle 3"/>
          <p:cNvSpPr>
            <a:spLocks noGrp="1" noChangeArrowheads="1"/>
          </p:cNvSpPr>
          <p:nvPr/>
        </p:nvSpPr>
        <p:spPr>
          <a:xfrm>
            <a:off x="62865" y="1313180"/>
            <a:ext cx="9003030" cy="536575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altLang="en-GB" sz="2900" dirty="0">
                <a:solidFill>
                  <a:schemeClr val="accent2">
                    <a:lumMod val="75000"/>
                  </a:schemeClr>
                </a:solidFill>
                <a:latin typeface="Calibri" panose="020F0502020204030204" charset="0"/>
                <a:cs typeface="Calibri" panose="020F0502020204030204" charset="0"/>
              </a:rPr>
              <a:t> You need to keep track of individual requirements and maintain links between dependent requirements so that you can assess the impact of requirements changes.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需要跟踪各需求,保持需求之间依赖关系链接</a:t>
            </a:r>
            <a:endPar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altLang="en-GB" sz="2900" dirty="0">
                <a:solidFill>
                  <a:schemeClr val="accent2">
                    <a:lumMod val="75000"/>
                  </a:schemeClr>
                </a:solidFill>
                <a:latin typeface="Calibri" panose="020F0502020204030204" charset="0"/>
                <a:cs typeface="Calibri" panose="020F0502020204030204" charset="0"/>
              </a:rPr>
              <a:t> Therefore need a formal process for making change proposals and linking these to system requirements.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因此需要一个正式过程来提出变更建议并与系统需求关联</a:t>
            </a:r>
            <a:endParaRPr lang="en-US" altLang="en-GB" sz="2000" dirty="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altLang="en-GB" sz="2900" dirty="0">
                <a:solidFill>
                  <a:schemeClr val="accent2">
                    <a:lumMod val="75000"/>
                  </a:schemeClr>
                </a:solidFill>
                <a:latin typeface="Calibri" panose="020F0502020204030204" charset="0"/>
                <a:cs typeface="Calibri" panose="020F0502020204030204" charset="0"/>
              </a:rPr>
              <a:t> This process of “requirements management” should start as soon as a draft version of the requirements document is available. </a:t>
            </a:r>
            <a:r>
              <a:rPr lang="zh-CN" altLang="en-US" sz="2000" u="sng"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需求管理</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在有了需求文档草稿后就应开始</a:t>
            </a:r>
            <a:endParaRPr lang="en-US" altLang="en-GB" sz="2000" dirty="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altLang="en-GB" sz="2900" dirty="0">
                <a:solidFill>
                  <a:schemeClr val="accent2">
                    <a:lumMod val="75000"/>
                  </a:schemeClr>
                </a:solidFill>
                <a:latin typeface="Calibri" panose="020F0502020204030204" charset="0"/>
                <a:cs typeface="Calibri" panose="020F0502020204030204" charset="0"/>
              </a:rPr>
              <a:t> Agile development processes have been designed to cope with requirements change. So a change doesn’t go through a formal change management process.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敏捷开发的变更不经过正式变更管理过程</a:t>
            </a:r>
            <a:endParaRPr lang="zh-CN" altLang="en-US" sz="20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4065"/>
            <a:ext cx="8977630" cy="5467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2900" dirty="0">
                <a:solidFill>
                  <a:schemeClr val="accent1">
                    <a:lumMod val="75000"/>
                  </a:schemeClr>
                </a:solidFill>
                <a:ea typeface="宋体" panose="02010600030101010101" pitchFamily="2" charset="-122"/>
                <a:sym typeface="+mn-ea"/>
              </a:rPr>
              <a:t> </a:t>
            </a:r>
            <a:r>
              <a:rPr sz="2900" dirty="0">
                <a:solidFill>
                  <a:schemeClr val="accent1">
                    <a:lumMod val="75000"/>
                  </a:schemeClr>
                </a:solidFill>
                <a:ea typeface="宋体" panose="02010600030101010101" pitchFamily="2" charset="-122"/>
                <a:sym typeface="+mn-ea"/>
              </a:rPr>
              <a:t>Requirements management planning</a:t>
            </a:r>
            <a:r>
              <a:rPr lang="en-US" sz="2900" dirty="0">
                <a:solidFill>
                  <a:schemeClr val="accent1">
                    <a:lumMod val="75000"/>
                  </a:schemeClr>
                </a:solidFill>
                <a:ea typeface="宋体" panose="02010600030101010101" pitchFamily="2" charset="-122"/>
                <a:sym typeface="+mn-ea"/>
              </a:rPr>
              <a:t> </a:t>
            </a:r>
            <a:r>
              <a:rPr lang="zh-CN" altLang="en-US"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需求管理计划</a:t>
            </a:r>
            <a:endParaRPr lang="zh-CN" altLang="en-US"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6360" y="1380490"/>
            <a:ext cx="8980805" cy="50234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2800" dirty="0" smtClean="0">
                <a:solidFill>
                  <a:schemeClr val="accent2">
                    <a:lumMod val="75000"/>
                  </a:schemeClr>
                </a:solidFill>
              </a:rPr>
              <a:t> Establishing how a set of evolving requirements will be managed.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确立:如何管理一组演化的需求</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600"/>
              </a:spcBef>
              <a:spcAft>
                <a:spcPts val="0"/>
              </a:spcAft>
            </a:pPr>
            <a:r>
              <a:rPr lang="en-US" sz="2800" dirty="0" smtClean="0">
                <a:solidFill>
                  <a:schemeClr val="accent2">
                    <a:lumMod val="75000"/>
                  </a:schemeClr>
                </a:solidFill>
              </a:rPr>
              <a:t> Issues during the planning stage: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计划阶段中的问题</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1">
              <a:lnSpc>
                <a:spcPct val="85000"/>
              </a:lnSpc>
              <a:spcBef>
                <a:spcPts val="600"/>
              </a:spcBef>
              <a:spcAft>
                <a:spcPts val="0"/>
              </a:spcAft>
            </a:pPr>
            <a:r>
              <a:rPr lang="en-US" sz="2400" i="1" dirty="0" smtClean="0">
                <a:solidFill>
                  <a:sysClr val="windowText" lastClr="000000"/>
                </a:solidFill>
              </a:rPr>
              <a:t>Requirements identification</a:t>
            </a:r>
            <a:r>
              <a:rPr lang="en-US" sz="2400" dirty="0" smtClean="0">
                <a:solidFill>
                  <a:sysClr val="windowText" lastClr="000000"/>
                </a:solidFill>
              </a:rPr>
              <a:t>:</a:t>
            </a:r>
            <a:r>
              <a:rPr lang="en-US" sz="2400" dirty="0" smtClean="0"/>
              <a:t> </a:t>
            </a:r>
            <a:r>
              <a:rPr lang="en-US" sz="2400" b="0" dirty="0" smtClean="0"/>
              <a:t>Each requirement must be uniquely identified so that it can be cross-referenced with other requirements.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需求标识</a:t>
            </a:r>
            <a:endParaRPr lang="en-GB" sz="2300" dirty="0" smtClean="0"/>
          </a:p>
          <a:p>
            <a:pPr lvl="1">
              <a:lnSpc>
                <a:spcPct val="85000"/>
              </a:lnSpc>
              <a:spcBef>
                <a:spcPts val="600"/>
              </a:spcBef>
              <a:spcAft>
                <a:spcPts val="0"/>
              </a:spcAft>
            </a:pPr>
            <a:r>
              <a:rPr lang="en-US" sz="2400" i="1" dirty="0" smtClean="0">
                <a:solidFill>
                  <a:srgbClr val="000000"/>
                </a:solidFill>
              </a:rPr>
              <a:t>A change management process</a:t>
            </a:r>
            <a:r>
              <a:rPr lang="en-US" sz="2400" dirty="0" smtClean="0">
                <a:solidFill>
                  <a:srgbClr val="000000"/>
                </a:solidFill>
              </a:rPr>
              <a:t>: </a:t>
            </a:r>
            <a:r>
              <a:rPr lang="en-US" sz="2400" b="0" dirty="0" smtClean="0"/>
              <a:t>The set of activities that assess the impact and cost of changes.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变更管理过程</a:t>
            </a:r>
            <a:endParaRPr lang="en-US" sz="2300" i="1" dirty="0" smtClean="0">
              <a:solidFill>
                <a:srgbClr val="000000"/>
              </a:solidFill>
            </a:endParaRPr>
          </a:p>
          <a:p>
            <a:pPr lvl="1">
              <a:lnSpc>
                <a:spcPct val="85000"/>
              </a:lnSpc>
              <a:spcBef>
                <a:spcPts val="600"/>
              </a:spcBef>
              <a:spcAft>
                <a:spcPts val="0"/>
              </a:spcAft>
            </a:pPr>
            <a:r>
              <a:rPr lang="en-US" sz="2400" i="1" dirty="0" smtClean="0">
                <a:solidFill>
                  <a:srgbClr val="000000"/>
                </a:solidFill>
              </a:rPr>
              <a:t>Traceability policies</a:t>
            </a:r>
            <a:r>
              <a:rPr lang="en-US" sz="2400" dirty="0" smtClean="0">
                <a:solidFill>
                  <a:srgbClr val="000000"/>
                </a:solidFill>
              </a:rPr>
              <a:t>: </a:t>
            </a:r>
            <a:r>
              <a:rPr lang="en-US" sz="2400" b="0" dirty="0" smtClean="0"/>
              <a:t>The policies define the relationships between each requirement and between the requirements and the system design that should be recorded.</a:t>
            </a:r>
            <a:r>
              <a:rPr lang="en-US" sz="2400" dirty="0" smtClean="0"/>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跟踪原则</a:t>
            </a:r>
            <a:endParaRPr lang="en-GB" sz="2300" dirty="0" smtClean="0"/>
          </a:p>
          <a:p>
            <a:pPr lvl="1">
              <a:lnSpc>
                <a:spcPct val="85000"/>
              </a:lnSpc>
              <a:spcBef>
                <a:spcPts val="600"/>
              </a:spcBef>
              <a:spcAft>
                <a:spcPts val="0"/>
              </a:spcAft>
            </a:pPr>
            <a:r>
              <a:rPr lang="en-US" sz="2400" i="1" dirty="0" smtClean="0">
                <a:solidFill>
                  <a:srgbClr val="000000"/>
                </a:solidFill>
              </a:rPr>
              <a:t>Tool support</a:t>
            </a:r>
            <a:r>
              <a:rPr lang="en-US" sz="2400" dirty="0" smtClean="0">
                <a:solidFill>
                  <a:srgbClr val="000000"/>
                </a:solidFill>
              </a:rPr>
              <a:t>: </a:t>
            </a:r>
            <a:r>
              <a:rPr lang="en-US" sz="2400" b="0" dirty="0" smtClean="0"/>
              <a:t>Tools that may be used range from specialist requirements management systems to spreadsheets and simple database systems.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工具支持</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5" name="Rectangle 3"/>
          <p:cNvSpPr>
            <a:spLocks noGrp="1" noRot="1"/>
          </p:cNvSpPr>
          <p:nvPr>
            <p:ph type="subTitle" idx="1"/>
            <p:custDataLst>
              <p:tags r:id="rId2"/>
            </p:custDataLst>
          </p:nvPr>
        </p:nvSpPr>
        <p:spPr>
          <a:xfrm>
            <a:off x="88900" y="741680"/>
            <a:ext cx="8977630" cy="6248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000" dirty="0">
                <a:solidFill>
                  <a:schemeClr val="accent1">
                    <a:lumMod val="75000"/>
                  </a:schemeClr>
                </a:solidFill>
                <a:ea typeface="宋体" panose="02010600030101010101" pitchFamily="2" charset="-122"/>
                <a:sym typeface="+mn-ea"/>
              </a:rPr>
              <a:t>Requirements change management</a:t>
            </a:r>
            <a:r>
              <a:rPr lang="en-US" sz="30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需求变更管理</a:t>
            </a:r>
            <a:endPar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6" name="Content Placeholder 2"/>
          <p:cNvSpPr>
            <a:spLocks noGrp="1"/>
          </p:cNvSpPr>
          <p:nvPr/>
        </p:nvSpPr>
        <p:spPr>
          <a:xfrm>
            <a:off x="86360" y="1308735"/>
            <a:ext cx="8980805" cy="34893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2800" dirty="0" smtClean="0">
                <a:solidFill>
                  <a:schemeClr val="accent2">
                    <a:lumMod val="75000"/>
                  </a:schemeClr>
                </a:solidFill>
              </a:rPr>
              <a:t> Change management is essential because you need to decide if the benefits of implementing new requirements are justified by the costs of implementation.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重要</a:t>
            </a:r>
            <a:r>
              <a:rPr lang="en-US" altLang="zh-CN"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决定了实现新需求是否成本合算</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600"/>
              </a:spcBef>
              <a:spcAft>
                <a:spcPts val="0"/>
              </a:spcAft>
            </a:pPr>
            <a:r>
              <a:rPr lang="en-US" sz="2800" dirty="0" smtClean="0">
                <a:solidFill>
                  <a:schemeClr val="accent2">
                    <a:lumMod val="75000"/>
                  </a:schemeClr>
                </a:solidFill>
              </a:rPr>
              <a:t> The advantage of using a formal process for change management is that all change proposals are treated consistently and changes to the requirements document are made in a controlled way.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优势：变更建议一致处理，需求文档变更受控</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600"/>
              </a:spcBef>
              <a:spcAft>
                <a:spcPts val="0"/>
              </a:spcAft>
            </a:pP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pic>
        <p:nvPicPr>
          <p:cNvPr id="7" name="图片 6"/>
          <p:cNvPicPr>
            <a:picLocks noChangeAspect="1"/>
          </p:cNvPicPr>
          <p:nvPr/>
        </p:nvPicPr>
        <p:blipFill>
          <a:blip r:embed="rId3"/>
          <a:stretch>
            <a:fillRect/>
          </a:stretch>
        </p:blipFill>
        <p:spPr>
          <a:xfrm>
            <a:off x="100330" y="4852035"/>
            <a:ext cx="8920480" cy="1129030"/>
          </a:xfrm>
          <a:prstGeom prst="rect">
            <a:avLst/>
          </a:prstGeom>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28015"/>
            <a:ext cx="8977630" cy="5422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000" dirty="0">
                <a:solidFill>
                  <a:schemeClr val="accent1">
                    <a:lumMod val="75000"/>
                  </a:schemeClr>
                </a:solidFill>
                <a:ea typeface="宋体" panose="02010600030101010101" pitchFamily="2" charset="-122"/>
                <a:sym typeface="+mn-ea"/>
              </a:rPr>
              <a:t>Requirements change management</a:t>
            </a:r>
            <a:r>
              <a:rPr lang="en-US" sz="3000" dirty="0">
                <a:solidFill>
                  <a:schemeClr val="accent1">
                    <a:lumMod val="75000"/>
                  </a:schemeClr>
                </a:solidFill>
                <a:ea typeface="宋体" panose="02010600030101010101" pitchFamily="2" charset="-122"/>
                <a:sym typeface="+mn-ea"/>
              </a:rPr>
              <a:t> </a:t>
            </a:r>
            <a:r>
              <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需求变更管理</a:t>
            </a:r>
            <a:endParaRPr lang="zh-CN" altLang="en-US" sz="2400" kern="12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48895" y="1169670"/>
            <a:ext cx="9017635" cy="55118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2900" dirty="0" smtClean="0">
                <a:solidFill>
                  <a:schemeClr val="accent2">
                    <a:lumMod val="75000"/>
                  </a:schemeClr>
                </a:solidFill>
                <a:latin typeface="Calibri" panose="020F0502020204030204" charset="0"/>
                <a:cs typeface="Calibri" panose="020F0502020204030204" charset="0"/>
              </a:rPr>
              <a:t> Change management process, </a:t>
            </a:r>
            <a:r>
              <a:rPr lang="en-US" sz="2900" dirty="0" smtClean="0">
                <a:solidFill>
                  <a:schemeClr val="accent2">
                    <a:lumMod val="75000"/>
                  </a:schemeClr>
                </a:solidFill>
                <a:latin typeface="Calibri" panose="020F0502020204030204" charset="0"/>
                <a:cs typeface="Calibri" panose="020F0502020204030204" charset="0"/>
                <a:sym typeface="+mn-ea"/>
              </a:rPr>
              <a:t>3 principal stages</a:t>
            </a:r>
            <a:r>
              <a:rPr lang="en-US" sz="2900" dirty="0" smtClean="0">
                <a:solidFill>
                  <a:schemeClr val="accent2">
                    <a:lumMod val="75000"/>
                  </a:schemeClr>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三阶段</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1">
              <a:lnSpc>
                <a:spcPct val="85000"/>
              </a:lnSpc>
              <a:spcBef>
                <a:spcPts val="600"/>
              </a:spcBef>
              <a:spcAft>
                <a:spcPts val="0"/>
              </a:spcAft>
            </a:pPr>
            <a:r>
              <a:rPr lang="en-US" sz="2800" i="1" dirty="0" smtClean="0">
                <a:solidFill>
                  <a:srgbClr val="000000"/>
                </a:solidFill>
                <a:latin typeface="Calibri" panose="020F0502020204030204" charset="0"/>
                <a:cs typeface="Calibri" panose="020F0502020204030204" charset="0"/>
              </a:rPr>
              <a:t>Problem analysis and change specification</a:t>
            </a:r>
            <a:r>
              <a:rPr lang="en-US" sz="2800" dirty="0" smtClean="0">
                <a:solidFill>
                  <a:srgbClr val="000000"/>
                </a:solidFill>
                <a:latin typeface="Calibri" panose="020F0502020204030204" charset="0"/>
                <a:cs typeface="Calibri" panose="020F0502020204030204" charset="0"/>
              </a:rPr>
              <a:t>:</a:t>
            </a:r>
            <a:r>
              <a:rPr lang="en-US" sz="2700" dirty="0" smtClean="0">
                <a:solidFill>
                  <a:srgbClr val="000000"/>
                </a:solidFill>
                <a:latin typeface="Calibri" panose="020F0502020204030204" charset="0"/>
                <a:cs typeface="Calibri" panose="020F0502020204030204" charset="0"/>
              </a:rPr>
              <a:t> </a:t>
            </a:r>
            <a:r>
              <a:rPr lang="en-US" sz="2400" b="0" dirty="0" smtClean="0">
                <a:solidFill>
                  <a:srgbClr val="000000"/>
                </a:solidFill>
                <a:latin typeface="Calibri" panose="020F0502020204030204" charset="0"/>
                <a:cs typeface="Calibri" panose="020F0502020204030204" charset="0"/>
              </a:rPr>
              <a:t>T</a:t>
            </a:r>
            <a:r>
              <a:rPr lang="en-US" sz="2400" b="0" dirty="0" smtClean="0">
                <a:solidFill>
                  <a:srgbClr val="000000"/>
                </a:solidFill>
                <a:latin typeface="Calibri" panose="020F0502020204030204" charset="0"/>
                <a:cs typeface="Calibri" panose="020F0502020204030204" charset="0"/>
              </a:rPr>
              <a:t>he problem or the change proposal is analyzed to check that it is valid. This analysis is fed back to the change requestor who may respond with a more specific requirements change proposal, or decide to withdraw the request.</a:t>
            </a:r>
            <a:r>
              <a:rPr lang="en-US" sz="2300" b="0" dirty="0" smtClean="0">
                <a:solidFill>
                  <a:srgbClr val="000000"/>
                </a:solidFill>
                <a:latin typeface="Calibri" panose="020F0502020204030204" charset="0"/>
                <a:cs typeface="Calibri" panose="020F0502020204030204" charset="0"/>
              </a:rPr>
              <a:t>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问题分析和变更规格说明</a:t>
            </a:r>
            <a:endParaRPr lang="en-GB" sz="2300" b="0" dirty="0" smtClean="0">
              <a:solidFill>
                <a:srgbClr val="000000"/>
              </a:solidFill>
              <a:latin typeface="Calibri" panose="020F0502020204030204" charset="0"/>
              <a:cs typeface="Calibri" panose="020F0502020204030204" charset="0"/>
            </a:endParaRPr>
          </a:p>
          <a:p>
            <a:pPr lvl="1">
              <a:lnSpc>
                <a:spcPct val="85000"/>
              </a:lnSpc>
              <a:spcBef>
                <a:spcPts val="600"/>
              </a:spcBef>
              <a:spcAft>
                <a:spcPts val="0"/>
              </a:spcAft>
            </a:pPr>
            <a:r>
              <a:rPr lang="en-US" sz="2800" i="1" dirty="0" smtClean="0">
                <a:solidFill>
                  <a:srgbClr val="000000"/>
                </a:solidFill>
                <a:latin typeface="Calibri" panose="020F0502020204030204" charset="0"/>
                <a:cs typeface="Calibri" panose="020F0502020204030204" charset="0"/>
              </a:rPr>
              <a:t>Change analysis and costing</a:t>
            </a:r>
            <a:r>
              <a:rPr lang="en-US" sz="2800" dirty="0" smtClean="0">
                <a:solidFill>
                  <a:srgbClr val="000000"/>
                </a:solidFill>
                <a:latin typeface="Calibri" panose="020F0502020204030204" charset="0"/>
                <a:cs typeface="Calibri" panose="020F0502020204030204" charset="0"/>
              </a:rPr>
              <a:t>:</a:t>
            </a:r>
            <a:r>
              <a:rPr lang="en-US" sz="2700" dirty="0" smtClean="0">
                <a:solidFill>
                  <a:srgbClr val="000000"/>
                </a:solidFill>
                <a:latin typeface="Calibri" panose="020F0502020204030204" charset="0"/>
                <a:cs typeface="Calibri" panose="020F0502020204030204" charset="0"/>
              </a:rPr>
              <a:t> </a:t>
            </a:r>
            <a:r>
              <a:rPr lang="en-US" sz="2400" b="0" dirty="0" smtClean="0">
                <a:solidFill>
                  <a:srgbClr val="000000"/>
                </a:solidFill>
                <a:latin typeface="Calibri" panose="020F0502020204030204" charset="0"/>
                <a:cs typeface="Calibri" panose="020F0502020204030204" charset="0"/>
              </a:rPr>
              <a:t>The effect of the proposed change is assessed using traceability information and general knowledge of the system requirements. The cost of making the change is estimated. Once this analysis is completed, a decision is made as to whether or not to proceed with the requirements change.    </a:t>
            </a:r>
            <a:r>
              <a:rPr lang="zh-CN" altLang="en-US" sz="23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变更分析和成本考量</a:t>
            </a:r>
            <a:endParaRPr lang="en-US" sz="2700" dirty="0" smtClean="0">
              <a:solidFill>
                <a:srgbClr val="000000"/>
              </a:solidFill>
              <a:latin typeface="Calibri" panose="020F0502020204030204" charset="0"/>
              <a:cs typeface="Calibri" panose="020F0502020204030204" charset="0"/>
            </a:endParaRPr>
          </a:p>
          <a:p>
            <a:pPr lvl="1">
              <a:lnSpc>
                <a:spcPct val="85000"/>
              </a:lnSpc>
              <a:spcBef>
                <a:spcPts val="600"/>
              </a:spcBef>
              <a:spcAft>
                <a:spcPts val="0"/>
              </a:spcAft>
            </a:pPr>
            <a:r>
              <a:rPr lang="en-US" sz="2800" i="1" dirty="0" smtClean="0">
                <a:solidFill>
                  <a:srgbClr val="000000"/>
                </a:solidFill>
                <a:latin typeface="Calibri" panose="020F0502020204030204" charset="0"/>
                <a:cs typeface="Calibri" panose="020F0502020204030204" charset="0"/>
              </a:rPr>
              <a:t>Change implementation</a:t>
            </a:r>
            <a:r>
              <a:rPr lang="en-US" sz="2800" dirty="0" smtClean="0">
                <a:solidFill>
                  <a:srgbClr val="000000"/>
                </a:solidFill>
                <a:latin typeface="Calibri" panose="020F0502020204030204" charset="0"/>
                <a:cs typeface="Calibri" panose="020F0502020204030204" charset="0"/>
              </a:rPr>
              <a:t>:</a:t>
            </a:r>
            <a:r>
              <a:rPr lang="en-US" sz="2700" dirty="0" smtClean="0">
                <a:solidFill>
                  <a:srgbClr val="000000"/>
                </a:solidFill>
                <a:latin typeface="Calibri" panose="020F0502020204030204" charset="0"/>
                <a:cs typeface="Calibri" panose="020F0502020204030204" charset="0"/>
              </a:rPr>
              <a:t> </a:t>
            </a:r>
            <a:r>
              <a:rPr lang="en-US" sz="2400" b="0" dirty="0" smtClean="0">
                <a:solidFill>
                  <a:srgbClr val="000000"/>
                </a:solidFill>
                <a:latin typeface="Calibri" panose="020F0502020204030204" charset="0"/>
                <a:cs typeface="Calibri" panose="020F0502020204030204" charset="0"/>
              </a:rPr>
              <a:t>The requirements document and, where necessary, the system design and implementation, are modified. You should organize the requirements document to avoid extensive rewriting or reorganization. </a:t>
            </a:r>
            <a:r>
              <a:rPr lang="en-US" sz="2300" b="0" dirty="0" smtClean="0">
                <a:solidFill>
                  <a:srgbClr val="000000"/>
                </a:solidFill>
                <a:latin typeface="Calibri" panose="020F0502020204030204" charset="0"/>
                <a:cs typeface="Calibri" panose="020F0502020204030204" charset="0"/>
              </a:rPr>
              <a:t> </a:t>
            </a:r>
            <a:r>
              <a:rPr lang="zh-CN" altLang="en-US" sz="23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变更实现</a:t>
            </a:r>
            <a:endParaRPr lang="en-US" sz="2300" b="0" dirty="0" smtClean="0">
              <a:solidFill>
                <a:srgbClr val="000000"/>
              </a:solidFill>
              <a:latin typeface="Calibri" panose="020F0502020204030204" charset="0"/>
              <a:cs typeface="Calibri" panose="020F0502020204030204" charset="0"/>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285"/>
            <a:ext cx="8977630" cy="5638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Key points</a:t>
            </a:r>
            <a:endParaRPr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2" name="Rectangle 3"/>
          <p:cNvSpPr>
            <a:spLocks noGrp="1" noChangeArrowheads="1"/>
          </p:cNvSpPr>
          <p:nvPr/>
        </p:nvSpPr>
        <p:spPr>
          <a:xfrm>
            <a:off x="160020" y="1313180"/>
            <a:ext cx="8811895" cy="508190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Requirements for a software system set out what the system should do and define constraints on its operation and implementation.</a:t>
            </a:r>
            <a:endParaRPr lang="en-GB" sz="3000" b="0" dirty="0">
              <a:solidFill>
                <a:schemeClr val="accent2">
                  <a:lumMod val="75000"/>
                </a:schemeClr>
              </a:solidFill>
              <a:latin typeface="Calibri" panose="020F0502020204030204" charset="0"/>
              <a:cs typeface="Calibri" panose="020F0502020204030204" charset="0"/>
            </a:endParaRPr>
          </a:p>
          <a:p>
            <a:pPr>
              <a:lnSpc>
                <a:spcPct val="85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Functional requirements are statements of the services that the system must provide or are descriptions of how some computations must be carried out. </a:t>
            </a:r>
            <a:endParaRPr lang="en-GB" sz="3000" b="0" dirty="0">
              <a:solidFill>
                <a:schemeClr val="accent2">
                  <a:lumMod val="75000"/>
                </a:schemeClr>
              </a:solidFill>
              <a:latin typeface="Calibri" panose="020F0502020204030204" charset="0"/>
              <a:cs typeface="Calibri" panose="020F0502020204030204" charset="0"/>
            </a:endParaRPr>
          </a:p>
          <a:p>
            <a:pPr>
              <a:lnSpc>
                <a:spcPct val="85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Non-functional requirements often constrain the system being developed and the development process being used. </a:t>
            </a:r>
            <a:endParaRPr lang="en-GB" sz="3000" b="0" dirty="0">
              <a:solidFill>
                <a:schemeClr val="accent2">
                  <a:lumMod val="75000"/>
                </a:schemeClr>
              </a:solidFill>
              <a:latin typeface="Calibri" panose="020F0502020204030204" charset="0"/>
              <a:cs typeface="Calibri" panose="020F0502020204030204" charset="0"/>
            </a:endParaRPr>
          </a:p>
          <a:p>
            <a:pPr>
              <a:lnSpc>
                <a:spcPct val="85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They often relate to the emergent properties of the system and therefore apply to the system as a whole.</a:t>
            </a:r>
            <a:endParaRPr lang="en-GB" sz="3000" b="0" dirty="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285"/>
            <a:ext cx="8977630" cy="5638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Key points</a:t>
            </a:r>
            <a:endParaRPr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2" name="Rectangle 3"/>
          <p:cNvSpPr>
            <a:spLocks noGrp="1" noChangeArrowheads="1"/>
          </p:cNvSpPr>
          <p:nvPr/>
        </p:nvSpPr>
        <p:spPr>
          <a:xfrm>
            <a:off x="160020" y="1384935"/>
            <a:ext cx="8811895" cy="49447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The requirements engineering process is an iterative process that includes requirements elicitation, specification and validation.</a:t>
            </a:r>
            <a:endParaRPr lang="en-GB" sz="3000" b="0" dirty="0">
              <a:solidFill>
                <a:schemeClr val="accent2">
                  <a:lumMod val="75000"/>
                </a:schemeClr>
              </a:solidFill>
              <a:latin typeface="Calibri" panose="020F0502020204030204" charset="0"/>
              <a:cs typeface="Calibri" panose="020F0502020204030204" charset="0"/>
            </a:endParaRPr>
          </a:p>
          <a:p>
            <a:pPr>
              <a:lnSpc>
                <a:spcPct val="85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Requirements elicitation is an iterative process that can be represented as a spiral of activities – requirements discovery, requirements classification and organization, requirements negotiation and requirements documentation. </a:t>
            </a:r>
            <a:endParaRPr lang="en-GB" sz="3000" b="0" dirty="0">
              <a:solidFill>
                <a:schemeClr val="accent2">
                  <a:lumMod val="75000"/>
                </a:schemeClr>
              </a:solidFill>
              <a:latin typeface="Calibri" panose="020F0502020204030204" charset="0"/>
              <a:cs typeface="Calibri" panose="020F0502020204030204" charset="0"/>
            </a:endParaRPr>
          </a:p>
          <a:p>
            <a:pPr>
              <a:lnSpc>
                <a:spcPct val="85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You can use a range of techniques for requirements elicitation including interviews and ethnography. User stories and scenarios may be used to facilitate discussions.</a:t>
            </a:r>
            <a:endParaRPr lang="en-GB" sz="3000" b="0" dirty="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285"/>
            <a:ext cx="8977630" cy="5638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Key points</a:t>
            </a:r>
            <a:endParaRPr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2" name="Rectangle 3"/>
          <p:cNvSpPr>
            <a:spLocks noGrp="1" noChangeArrowheads="1"/>
          </p:cNvSpPr>
          <p:nvPr/>
        </p:nvSpPr>
        <p:spPr>
          <a:xfrm>
            <a:off x="160020" y="1384935"/>
            <a:ext cx="8811895" cy="49447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Requirements specification is the process of formally documenting the user and system requirements and creating a software requirements document.</a:t>
            </a:r>
            <a:endParaRPr lang="en-GB" sz="3000" b="0" dirty="0">
              <a:solidFill>
                <a:schemeClr val="accent2">
                  <a:lumMod val="75000"/>
                </a:schemeClr>
              </a:solidFill>
              <a:latin typeface="Calibri" panose="020F0502020204030204" charset="0"/>
              <a:cs typeface="Calibri" panose="020F0502020204030204" charset="0"/>
            </a:endParaRPr>
          </a:p>
          <a:p>
            <a:pPr>
              <a:lnSpc>
                <a:spcPct val="85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The software requirements document is an agreed statement of the system requirements. It should be organized so that both system customers and software developers can use it.</a:t>
            </a:r>
            <a:endParaRPr lang="en-GB" sz="3000" b="0" dirty="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285"/>
            <a:ext cx="8977630" cy="5638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sz="3200" dirty="0">
                <a:solidFill>
                  <a:schemeClr val="accent1">
                    <a:lumMod val="75000"/>
                  </a:schemeClr>
                </a:solidFill>
                <a:ea typeface="宋体" panose="02010600030101010101" pitchFamily="2" charset="-122"/>
                <a:sym typeface="+mn-ea"/>
              </a:rPr>
              <a:t> </a:t>
            </a:r>
            <a:r>
              <a:rPr sz="3200" dirty="0">
                <a:solidFill>
                  <a:schemeClr val="accent1">
                    <a:lumMod val="75000"/>
                  </a:schemeClr>
                </a:solidFill>
                <a:ea typeface="宋体" panose="02010600030101010101" pitchFamily="2" charset="-122"/>
                <a:sym typeface="+mn-ea"/>
              </a:rPr>
              <a:t>Key points</a:t>
            </a:r>
            <a:endParaRPr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0928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4  Requirements engineering</a:t>
            </a:r>
            <a:endParaRPr lang="en-US" altLang="zh-CN" sz="2800" dirty="0">
              <a:solidFill>
                <a:srgbClr val="660066"/>
              </a:solidFill>
              <a:ea typeface="黑体" panose="02010609060101010101" pitchFamily="49" charset="-122"/>
              <a:cs typeface="+mj-lt"/>
            </a:endParaRPr>
          </a:p>
        </p:txBody>
      </p:sp>
      <p:sp>
        <p:nvSpPr>
          <p:cNvPr id="2" name="Rectangle 3"/>
          <p:cNvSpPr>
            <a:spLocks noGrp="1" noChangeArrowheads="1"/>
          </p:cNvSpPr>
          <p:nvPr/>
        </p:nvSpPr>
        <p:spPr>
          <a:xfrm>
            <a:off x="160020" y="1384935"/>
            <a:ext cx="8811895" cy="49447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Requirements validation is the process of checking the requirements for validity, consistency, completeness, realism and verifiability. </a:t>
            </a:r>
            <a:endParaRPr lang="en-GB" sz="3000" b="0" dirty="0">
              <a:solidFill>
                <a:schemeClr val="accent2">
                  <a:lumMod val="75000"/>
                </a:schemeClr>
              </a:solidFill>
              <a:latin typeface="Calibri" panose="020F0502020204030204" charset="0"/>
              <a:cs typeface="Calibri" panose="020F0502020204030204" charset="0"/>
            </a:endParaRPr>
          </a:p>
          <a:p>
            <a:pPr>
              <a:lnSpc>
                <a:spcPct val="85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Business, organizational and technical changes inevitably lead to changes to the requirements for a software system. Requirements management is the process of managing and controlling these changes.</a:t>
            </a:r>
            <a:endParaRPr lang="en-GB" sz="3000" b="0" dirty="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TABLE_ENDDRAG_ORIGIN_RECT" val="706*365"/>
  <p:tag name="TABLE_ENDDRAG_RECT" val="8*98*706*365"/>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TABLE_ENDDRAG_ORIGIN_RECT" val="501*448"/>
  <p:tag name="TABLE_ENDDRAG_RECT" val="208*58*501*448"/>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TABLE_ENDDRAG_ORIGIN_RECT" val="707*398"/>
  <p:tag name="TABLE_ENDDRAG_RECT" val="7*99*707*398"/>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TABLE_ENDDRAG_ORIGIN_RECT" val="698*364"/>
  <p:tag name="TABLE_ENDDRAG_RECT" val="11*146*698*364"/>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TABLE_ENDDRAG_ORIGIN_RECT" val="690*368"/>
  <p:tag name="TABLE_ENDDRAG_RECT" val="14*149*690*368"/>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TABLE_ENDDRAG_ORIGIN_RECT" val="702*418"/>
  <p:tag name="TABLE_ENDDRAG_RECT" val="8*100*702*418"/>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TABLE_ENDDRAG_ORIGIN_RECT" val="706*516"/>
  <p:tag name="TABLE_ENDDRAG_RECT" val="6*86*706*516"/>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PP_MARK_KEY" val="49d2eca4-30e1-4ef7-9bc7-486bee5195f9"/>
  <p:tag name="COMMONDATA" val="eyJoZGlkIjoiYWU0ZmM3NzM2M2MzNjY4OGU3MWVlODFhMGQ0MTAxM2IifQ=="/>
  <p:tag name="commondata" val="eyJoZGlkIjoiZmI4NTZjMzhhMTQ0YmQ3Nzc5ZGViNjA4MWFmMWE3NTA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40522</Words>
  <Application>WPS 演示</Application>
  <PresentationFormat>信纸(8.5x11 英寸)</PresentationFormat>
  <Paragraphs>701</Paragraphs>
  <Slides>69</Slides>
  <Notes>6</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69</vt:i4>
      </vt:variant>
    </vt:vector>
  </HeadingPairs>
  <TitlesOfParts>
    <vt:vector size="82" baseType="lpstr">
      <vt:lpstr>Arial</vt:lpstr>
      <vt:lpstr>宋体</vt:lpstr>
      <vt:lpstr>Wingdings</vt:lpstr>
      <vt:lpstr>Times New Roman</vt:lpstr>
      <vt:lpstr>黑体</vt:lpstr>
      <vt:lpstr>仿宋</vt:lpstr>
      <vt:lpstr>Arial</vt:lpstr>
      <vt:lpstr>MS PGothic</vt:lpstr>
      <vt:lpstr>Calibri</vt:lpstr>
      <vt:lpstr>Symbol</vt:lpstr>
      <vt:lpstr>微软雅黑</vt:lpstr>
      <vt:lpstr>Arial Unicode MS</vt:lpstr>
      <vt:lpstr>CS152-SP98</vt:lpstr>
      <vt:lpstr> Software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PowerPoint 演示文稿</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PowerPoint 演示文稿</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lpstr>Chap. 4  Requirements engineering</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2196</cp:revision>
  <cp:lastPrinted>1999-08-22T22:40:00Z</cp:lastPrinted>
  <dcterms:created xsi:type="dcterms:W3CDTF">1997-08-19T16:58:00Z</dcterms:created>
  <dcterms:modified xsi:type="dcterms:W3CDTF">2025-10-14T21:04:50Z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32AD3E1542A145B092DD5207B9C2DC06_13</vt:lpwstr>
  </property>
</Properties>
</file>