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6"/>
  </p:handoutMasterIdLst>
  <p:sldIdLst>
    <p:sldId id="256" r:id="rId3"/>
    <p:sldId id="1597" r:id="rId5"/>
    <p:sldId id="1842" r:id="rId6"/>
    <p:sldId id="1843" r:id="rId7"/>
    <p:sldId id="1844" r:id="rId8"/>
    <p:sldId id="1845" r:id="rId9"/>
    <p:sldId id="1846" r:id="rId10"/>
    <p:sldId id="1847" r:id="rId11"/>
    <p:sldId id="1848" r:id="rId12"/>
    <p:sldId id="1864" r:id="rId13"/>
    <p:sldId id="1875" r:id="rId14"/>
    <p:sldId id="1876" r:id="rId15"/>
  </p:sldIdLst>
  <p:sldSz cx="9144000" cy="6858000" type="letter"/>
  <p:notesSz cx="9163050" cy="6877050"/>
  <p:custDataLst>
    <p:tags r:id="rId20"/>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074"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074"/>
        <p:guide pos="288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23.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r>
              <a:rPr lang="en-US" altLang="zh-CN" sz="3200" dirty="0">
                <a:solidFill>
                  <a:schemeClr val="accent1">
                    <a:lumMod val="75000"/>
                  </a:schemeClr>
                </a:solidFill>
                <a:ea typeface="宋体" panose="02010600030101010101" pitchFamily="2" charset="-122"/>
                <a:sym typeface="+mn-ea"/>
              </a:rPr>
              <a:t> (brief)</a:t>
            </a:r>
            <a:endParaRPr lang="en-US" altLang="zh-CN" sz="3200" b="1" dirty="0" smtClean="0">
              <a:solidFill>
                <a:schemeClr val="accent1">
                  <a:lumMod val="75000"/>
                </a:schemeClr>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21043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Risk management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风险管理</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Managing people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人员</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管理</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Teamwork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团队协作</a:t>
            </a:r>
            <a:endPar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0570"/>
            <a:ext cx="8977630" cy="6362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project management</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软件项目管理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3975" y="1313180"/>
            <a:ext cx="9011920" cy="52558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Projects need to be managed because professional software engineering is always subject to organizational budget and schedule constraints.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项目需要管理</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因软件工程面临预算和进度制约</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project manager’s job is to ensure that the software project meets and overcomes these constraints as well as delivering high-quality software. </a:t>
            </a:r>
            <a:r>
              <a:rPr lang="en-US" sz="2800" b="0" dirty="0" smtClean="0">
                <a:solidFill>
                  <a:schemeClr val="tx1"/>
                </a:solidFill>
                <a:latin typeface="Calibri" panose="020F0502020204030204" charset="0"/>
                <a:cs typeface="Calibri" panose="020F0502020204030204" charset="0"/>
              </a:rPr>
              <a:t>Good management cannot guarantee project success. However, bad management usually results in project failure: The software may be delivered late, cost more than originally estimated, or fail to meet the expectations of customers.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项目经理的任务:确保软件项目满足和克服制约，并交付高质量软件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9093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The success criteria for project</a:t>
            </a:r>
            <a:r>
              <a:rPr lang="en-US" altLang="zh-CN" sz="3100" dirty="0">
                <a:solidFill>
                  <a:schemeClr val="accent1">
                    <a:lumMod val="75000"/>
                  </a:schemeClr>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management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项目管理成功的标准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0165" y="1743710"/>
            <a:ext cx="9015730" cy="35394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Deliver the software to the customer at the agreed time;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按时交付</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Keep overall costs within budget;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成本在预算内</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Deliver software that meets the customer’s expectations;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软件满足客户期望</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Maintain a coherent and well-functioning development team.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开发团队有凝聚力并运作良好</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785"/>
            <a:ext cx="8977630" cy="4991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Software management distinctions</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软件管理的独特性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12290" name="Rectangle 2"/>
          <p:cNvSpPr>
            <a:spLocks noGrp="1" noChangeArrowheads="1"/>
          </p:cNvSpPr>
          <p:nvPr/>
        </p:nvSpPr>
        <p:spPr>
          <a:xfrm>
            <a:off x="85725" y="1169670"/>
            <a:ext cx="8980805" cy="548894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a:t>
            </a:r>
            <a:r>
              <a:rPr lang="en-GB" sz="3000" dirty="0">
                <a:solidFill>
                  <a:schemeClr val="accent2">
                    <a:lumMod val="75000"/>
                  </a:schemeClr>
                </a:solidFill>
                <a:latin typeface="Calibri" panose="020F0502020204030204" charset="0"/>
                <a:cs typeface="Calibri" panose="020F0502020204030204" charset="0"/>
              </a:rPr>
              <a:t>The product is intangible</a:t>
            </a:r>
            <a:r>
              <a:rPr lang="en-GB" sz="3000" dirty="0" smtClean="0">
                <a:solidFill>
                  <a:schemeClr val="accent2">
                    <a:lumMod val="75000"/>
                  </a:schemeClr>
                </a:solidFill>
                <a:latin typeface="Calibri" panose="020F0502020204030204" charset="0"/>
                <a:cs typeface="Calibri" panose="020F0502020204030204" charset="0"/>
              </a:rPr>
              <a:t>.</a:t>
            </a:r>
            <a:r>
              <a:rPr lang="en-US" altLang="en-GB" sz="3000" dirty="0" smtClean="0">
                <a:solidFill>
                  <a:schemeClr val="accent2">
                    <a:lumMod val="75000"/>
                  </a:schemeClr>
                </a:solidFill>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Software cannot be seen or touched. Software project managers cannot see</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progress by looking at the artifact that is being constructed.</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产品是无形的</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Large software projects are often “one-off” projects.</a:t>
            </a:r>
            <a:r>
              <a:rPr lang="en-US" altLang="en-GB" sz="3000" dirty="0" smtClean="0">
                <a:solidFill>
                  <a:schemeClr val="accent2">
                    <a:lumMod val="75000"/>
                  </a:schemeClr>
                </a:solidFill>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Every large software</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development project is unique because every environment where software is</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developed is, in some ways, different from all others. </a:t>
            </a:r>
            <a:r>
              <a:rPr lang="en-US" altLang="en-GB" sz="2600" b="0" dirty="0" smtClean="0">
                <a:latin typeface="Calibri" panose="020F0502020204030204" charset="0"/>
                <a:cs typeface="Calibri" panose="020F0502020204030204" charset="0"/>
              </a:rPr>
              <a:t>R</a:t>
            </a:r>
            <a:r>
              <a:rPr lang="en-GB" sz="2600" b="0" dirty="0" smtClean="0">
                <a:latin typeface="Calibri" panose="020F0502020204030204" charset="0"/>
                <a:cs typeface="Calibri" panose="020F0502020204030204" charset="0"/>
              </a:rPr>
              <a:t>apid technological changes in computers and communications</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can make experience obsolete. Lessons learned from previous projects may not</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be readily transferable to new projects.</a:t>
            </a:r>
            <a:r>
              <a:rPr lang="en-US" altLang="en-GB" sz="26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大型软件系统常常是一次性项目</a:t>
            </a:r>
            <a:endParaRPr lang="en-GB" sz="26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Software processes are variable and organization-specific</a:t>
            </a:r>
            <a:r>
              <a:rPr lang="en-US" altLang="en-GB" sz="3000" dirty="0" smtClean="0">
                <a:solidFill>
                  <a:schemeClr val="accent2">
                    <a:lumMod val="75000"/>
                  </a:schemeClr>
                </a:solidFill>
                <a:latin typeface="Calibri" panose="020F0502020204030204" charset="0"/>
                <a:cs typeface="Calibri" panose="020F0502020204030204" charset="0"/>
              </a:rPr>
              <a:t>.</a:t>
            </a:r>
            <a:r>
              <a:rPr lang="en-GB" sz="2600" b="0" dirty="0" smtClean="0">
                <a:latin typeface="Calibri" panose="020F0502020204030204" charset="0"/>
                <a:cs typeface="Calibri" panose="020F0502020204030204" charset="0"/>
              </a:rPr>
              <a:t> </a:t>
            </a:r>
            <a:r>
              <a:rPr lang="en-US" sz="2600" b="0" dirty="0" smtClean="0">
                <a:latin typeface="Calibri" panose="020F0502020204030204" charset="0"/>
                <a:cs typeface="Calibri" panose="020F0502020204030204" charset="0"/>
              </a:rPr>
              <a:t>D</a:t>
            </a:r>
            <a:r>
              <a:rPr lang="en-GB" sz="2600" b="0" dirty="0" smtClean="0">
                <a:latin typeface="Calibri" panose="020F0502020204030204" charset="0"/>
                <a:cs typeface="Calibri" panose="020F0502020204030204" charset="0"/>
              </a:rPr>
              <a:t>ifferent companies use quite different software development processes. We cannot</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reliably predict when a particular software process is likely to lead to development</a:t>
            </a:r>
            <a:r>
              <a:rPr lang="en-US" altLang="en-GB" sz="2600" b="0" dirty="0" smtClean="0">
                <a:latin typeface="Calibri" panose="020F0502020204030204" charset="0"/>
                <a:cs typeface="Calibri" panose="020F0502020204030204" charset="0"/>
              </a:rPr>
              <a:t> </a:t>
            </a:r>
            <a:r>
              <a:rPr lang="en-GB" sz="2600" b="0" dirty="0" smtClean="0">
                <a:latin typeface="Calibri" panose="020F0502020204030204" charset="0"/>
                <a:cs typeface="Calibri" panose="020F0502020204030204" charset="0"/>
              </a:rPr>
              <a:t>problems.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软件过程是可变且与特定组织相关</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4380"/>
            <a:ext cx="8977630" cy="9537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F</a:t>
            </a:r>
            <a:r>
              <a:rPr lang="zh-CN" altLang="en-US" sz="3200" dirty="0">
                <a:solidFill>
                  <a:schemeClr val="accent1">
                    <a:lumMod val="75000"/>
                  </a:schemeClr>
                </a:solidFill>
                <a:ea typeface="宋体" panose="02010600030101010101" pitchFamily="2" charset="-122"/>
                <a:sym typeface="+mn-ea"/>
              </a:rPr>
              <a:t>actors influencing project management</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影响项目管理的因素</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8895" y="1743710"/>
            <a:ext cx="9012555" cy="29832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Company size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公司规模</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Software customers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软件客户</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Software size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软件规模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Software type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软件类型</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Organizational culture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组织文化</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Software development processes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软件开发过程</a:t>
            </a:r>
            <a:r>
              <a:rPr lang="en-US" sz="3200" dirty="0" smtClean="0">
                <a:solidFill>
                  <a:schemeClr val="tx2">
                    <a:lumMod val="75000"/>
                    <a:lumOff val="25000"/>
                  </a:schemeClr>
                </a:solidFill>
                <a:latin typeface="Calibri" panose="020F0502020204030204" charset="0"/>
                <a:cs typeface="Calibri" panose="020F0502020204030204" charset="0"/>
              </a:rPr>
              <a:t>  </a:t>
            </a:r>
            <a:endParaRPr lang="en-US" sz="3200" dirty="0" smtClean="0">
              <a:solidFill>
                <a:schemeClr val="tx2">
                  <a:lumMod val="75000"/>
                  <a:lumOff val="25000"/>
                </a:schemeClr>
              </a:solidFill>
              <a:latin typeface="Calibri" panose="020F0502020204030204" charset="0"/>
              <a:cs typeface="Calibri" panose="020F0502020204030204" charset="0"/>
            </a:endParaRPr>
          </a:p>
        </p:txBody>
      </p:sp>
      <p:sp>
        <p:nvSpPr>
          <p:cNvPr id="5" name="Content Placeholder 2"/>
          <p:cNvSpPr>
            <a:spLocks noGrp="1"/>
          </p:cNvSpPr>
          <p:nvPr/>
        </p:nvSpPr>
        <p:spPr>
          <a:xfrm>
            <a:off x="137160" y="4757420"/>
            <a:ext cx="8822055" cy="10172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buNone/>
            </a:pPr>
            <a:r>
              <a:rPr lang="en-US" altLang="en-GB" sz="2800" b="0" dirty="0"/>
              <a:t>* </a:t>
            </a:r>
            <a:r>
              <a:rPr lang="en-GB" sz="2800" b="0" dirty="0"/>
              <a:t>These factors mean that project managers in different organizations may work in</a:t>
            </a:r>
            <a:r>
              <a:rPr lang="en-US" altLang="en-GB" sz="2800" b="0" dirty="0"/>
              <a:t> </a:t>
            </a:r>
            <a:r>
              <a:rPr lang="en-GB" sz="2800" b="0" dirty="0"/>
              <a:t>quite different ways. </a:t>
            </a:r>
            <a:endParaRPr lang="en-US" sz="2800" b="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2795"/>
            <a:ext cx="8977630"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Common</a:t>
            </a:r>
            <a:r>
              <a:rPr lang="zh-CN" altLang="en-US" sz="3200" dirty="0">
                <a:solidFill>
                  <a:schemeClr val="accent1">
                    <a:lumMod val="75000"/>
                  </a:schemeClr>
                </a:solidFill>
                <a:ea typeface="宋体" panose="02010600030101010101" pitchFamily="2" charset="-122"/>
                <a:sym typeface="+mn-ea"/>
              </a:rPr>
              <a:t> management activities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常见项目活动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14338" name="Rectangle 2"/>
          <p:cNvSpPr>
            <a:spLocks noGrp="1" noChangeArrowheads="1"/>
          </p:cNvSpPr>
          <p:nvPr/>
        </p:nvSpPr>
        <p:spPr>
          <a:xfrm>
            <a:off x="69215" y="1384935"/>
            <a:ext cx="9003665" cy="406273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i="1" dirty="0" smtClean="0">
                <a:solidFill>
                  <a:schemeClr val="accent2">
                    <a:lumMod val="75000"/>
                  </a:schemeClr>
                </a:solidFill>
                <a:latin typeface="Calibri" panose="020F0502020204030204" charset="0"/>
                <a:cs typeface="Calibri" panose="020F0502020204030204" charset="0"/>
              </a:rPr>
              <a:t> </a:t>
            </a:r>
            <a:r>
              <a:rPr lang="en-GB" sz="3200" i="1" dirty="0" smtClean="0">
                <a:solidFill>
                  <a:schemeClr val="accent2">
                    <a:lumMod val="75000"/>
                  </a:schemeClr>
                </a:solidFill>
                <a:latin typeface="Calibri" panose="020F0502020204030204" charset="0"/>
                <a:cs typeface="Calibri" panose="020F0502020204030204" charset="0"/>
              </a:rPr>
              <a:t>Project planning</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Project managers are responsible for planning, estimating, and scheduling project development and assigning people to tasks.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项目计划</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i="1" dirty="0" smtClean="0">
                <a:solidFill>
                  <a:schemeClr val="accent2">
                    <a:lumMod val="75000"/>
                  </a:schemeClr>
                </a:solidFill>
                <a:latin typeface="Calibri" panose="020F0502020204030204" charset="0"/>
                <a:cs typeface="Calibri" panose="020F0502020204030204" charset="0"/>
              </a:rPr>
              <a:t> </a:t>
            </a:r>
            <a:r>
              <a:rPr lang="en-GB" sz="3200" i="1" dirty="0" smtClean="0">
                <a:solidFill>
                  <a:schemeClr val="accent2">
                    <a:lumMod val="75000"/>
                  </a:schemeClr>
                </a:solidFill>
                <a:latin typeface="Calibri" panose="020F0502020204030204" charset="0"/>
                <a:cs typeface="Calibri" panose="020F0502020204030204" charset="0"/>
              </a:rPr>
              <a:t>Risk management</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Project managers have to assess the risks that may affect a</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project, monitor these risks, and take action when problems arise.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风险管理</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i="1" dirty="0">
                <a:solidFill>
                  <a:schemeClr val="accent2">
                    <a:lumMod val="75000"/>
                  </a:schemeClr>
                </a:solidFill>
                <a:latin typeface="Calibri" panose="020F0502020204030204" charset="0"/>
                <a:cs typeface="Calibri" panose="020F0502020204030204" charset="0"/>
              </a:rPr>
              <a:t> </a:t>
            </a:r>
            <a:r>
              <a:rPr lang="en-GB" sz="3200" i="1" dirty="0">
                <a:solidFill>
                  <a:schemeClr val="accent2">
                    <a:lumMod val="75000"/>
                  </a:schemeClr>
                </a:solidFill>
                <a:latin typeface="Calibri" panose="020F0502020204030204" charset="0"/>
                <a:cs typeface="Calibri" panose="020F0502020204030204" charset="0"/>
              </a:rPr>
              <a:t>People management</a:t>
            </a:r>
            <a:r>
              <a:rPr lang="en-US" altLang="en-GB" sz="3200" dirty="0">
                <a:solidFill>
                  <a:schemeClr val="accent2">
                    <a:lumMod val="75000"/>
                  </a:schemeClr>
                </a:solidFill>
                <a:latin typeface="Calibri" panose="020F0502020204030204" charset="0"/>
                <a:cs typeface="Calibri" panose="020F0502020204030204" charset="0"/>
              </a:rPr>
              <a:t>:</a:t>
            </a:r>
            <a:r>
              <a:rPr lang="en-GB" sz="3200" b="0" dirty="0">
                <a:solidFill>
                  <a:schemeClr val="accent2">
                    <a:lumMod val="75000"/>
                  </a:schemeClr>
                </a:solidFill>
                <a:latin typeface="Calibri" panose="020F0502020204030204" charset="0"/>
                <a:cs typeface="Calibri" panose="020F0502020204030204" charset="0"/>
              </a:rPr>
              <a:t> </a:t>
            </a:r>
            <a:r>
              <a:rPr lang="en-US" altLang="en-GB" sz="2800" b="0" dirty="0" smtClean="0">
                <a:latin typeface="Calibri" panose="020F0502020204030204" charset="0"/>
                <a:cs typeface="Calibri" panose="020F0502020204030204" charset="0"/>
              </a:rPr>
              <a:t>Project managers are responsible for managing a team of people. They choose people for their team and establish ways of working that lead to effective team performance.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人员管理</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marL="0" indent="0">
              <a:lnSpc>
                <a:spcPct val="85000"/>
              </a:lnSpc>
              <a:spcBef>
                <a:spcPts val="600"/>
              </a:spcBef>
              <a:spcAft>
                <a:spcPts val="0"/>
              </a:spcAft>
              <a:buNone/>
            </a:pP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14338" name="Rectangle 2"/>
          <p:cNvSpPr>
            <a:spLocks noGrp="1" noChangeArrowheads="1"/>
          </p:cNvSpPr>
          <p:nvPr/>
        </p:nvSpPr>
        <p:spPr>
          <a:xfrm>
            <a:off x="75565" y="1313180"/>
            <a:ext cx="8991600" cy="328422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5000"/>
              </a:lnSpc>
              <a:spcBef>
                <a:spcPts val="1000"/>
              </a:spcBef>
              <a:spcAft>
                <a:spcPts val="0"/>
              </a:spcAft>
            </a:pPr>
            <a:r>
              <a:rPr lang="en-US" altLang="en-GB" sz="3200" i="1" dirty="0" smtClean="0">
                <a:solidFill>
                  <a:schemeClr val="accent2">
                    <a:lumMod val="75000"/>
                  </a:schemeClr>
                </a:solidFill>
                <a:latin typeface="Calibri" panose="020F0502020204030204" charset="0"/>
                <a:cs typeface="Calibri" panose="020F0502020204030204" charset="0"/>
              </a:rPr>
              <a:t> </a:t>
            </a:r>
            <a:r>
              <a:rPr lang="en-GB" sz="3200" i="1" dirty="0" smtClean="0">
                <a:solidFill>
                  <a:schemeClr val="accent2">
                    <a:lumMod val="75000"/>
                  </a:schemeClr>
                </a:solidFill>
                <a:latin typeface="Calibri" panose="020F0502020204030204" charset="0"/>
                <a:cs typeface="Calibri" panose="020F0502020204030204" charset="0"/>
              </a:rPr>
              <a:t>Reporting</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Project managers are usually responsible for reporting on the progress</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of a project to customers and to the managers of the company. </a:t>
            </a:r>
            <a:r>
              <a:rPr lang="en-US" altLang="en-GB" sz="28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报告</a:t>
            </a:r>
            <a:endParaRPr lang="en-GB" sz="2800" dirty="0" smtClean="0">
              <a:latin typeface="Calibri" panose="020F0502020204030204" charset="0"/>
              <a:cs typeface="Calibri" panose="020F0502020204030204" charset="0"/>
            </a:endParaRPr>
          </a:p>
          <a:p>
            <a:pPr>
              <a:lnSpc>
                <a:spcPct val="95000"/>
              </a:lnSpc>
              <a:spcBef>
                <a:spcPts val="1000"/>
              </a:spcBef>
              <a:spcAft>
                <a:spcPts val="0"/>
              </a:spcAft>
            </a:pPr>
            <a:r>
              <a:rPr lang="en-US" altLang="en-GB" sz="3200" i="1" dirty="0" smtClean="0">
                <a:solidFill>
                  <a:schemeClr val="accent2">
                    <a:lumMod val="75000"/>
                  </a:schemeClr>
                </a:solidFill>
                <a:latin typeface="Calibri" panose="020F0502020204030204" charset="0"/>
                <a:cs typeface="Calibri" panose="020F0502020204030204" charset="0"/>
              </a:rPr>
              <a:t> </a:t>
            </a:r>
            <a:r>
              <a:rPr lang="en-GB" sz="3200" i="1" dirty="0" smtClean="0">
                <a:solidFill>
                  <a:schemeClr val="accent2">
                    <a:lumMod val="75000"/>
                  </a:schemeClr>
                </a:solidFill>
                <a:latin typeface="Calibri" panose="020F0502020204030204" charset="0"/>
                <a:cs typeface="Calibri" panose="020F0502020204030204" charset="0"/>
              </a:rPr>
              <a:t>Proposal writing</a:t>
            </a:r>
            <a:r>
              <a:rPr lang="en-US" altLang="en-GB" sz="3200" dirty="0" smtClean="0">
                <a:solidFill>
                  <a:schemeClr val="accent2">
                    <a:lumMod val="75000"/>
                  </a:schemeClr>
                </a:solidFill>
                <a:latin typeface="Calibri" panose="020F0502020204030204" charset="0"/>
                <a:cs typeface="Calibri" panose="020F0502020204030204" charset="0"/>
              </a:rPr>
              <a:t>:</a:t>
            </a:r>
            <a:r>
              <a:rPr lang="en-US" altLang="en-GB" sz="3200" b="0" dirty="0" smtClean="0">
                <a:solidFill>
                  <a:schemeClr val="accent2">
                    <a:lumMod val="75000"/>
                  </a:schemeClr>
                </a:solidFill>
                <a:latin typeface="Calibri" panose="020F0502020204030204" charset="0"/>
                <a:cs typeface="Calibri" panose="020F0502020204030204" charset="0"/>
              </a:rPr>
              <a:t> </a:t>
            </a:r>
            <a:r>
              <a:rPr lang="en-US" altLang="en-GB" sz="2800" b="0" dirty="0" smtClean="0">
                <a:latin typeface="Calibri" panose="020F0502020204030204" charset="0"/>
                <a:ea typeface="宋体" panose="02010600030101010101" pitchFamily="2" charset="-122"/>
                <a:cs typeface="Calibri" panose="020F0502020204030204" charset="0"/>
              </a:rPr>
              <a:t>The first stage in a software project may involve writing a proposal to win a contract to carry out an item of work. The proposal describes the objectives of the project and how it will be carried out.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编写建议</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
        <p:nvSpPr>
          <p:cNvPr id="3" name="Rectangle 3"/>
          <p:cNvSpPr>
            <a:spLocks noGrp="1" noRot="1"/>
          </p:cNvSpPr>
          <p:nvPr>
            <p:ph type="subTitle" idx="1"/>
            <p:custDataLst>
              <p:tags r:id="rId2"/>
            </p:custDataLst>
          </p:nvPr>
        </p:nvSpPr>
        <p:spPr>
          <a:xfrm>
            <a:off x="88900" y="772795"/>
            <a:ext cx="8977630"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en-US" altLang="zh-CN" sz="3100" dirty="0">
                <a:solidFill>
                  <a:schemeClr val="accent1">
                    <a:lumMod val="75000"/>
                  </a:schemeClr>
                </a:solidFill>
                <a:ea typeface="宋体" panose="02010600030101010101" pitchFamily="2" charset="-122"/>
                <a:sym typeface="+mn-ea"/>
              </a:rPr>
              <a:t>Common</a:t>
            </a:r>
            <a:r>
              <a:rPr lang="zh-CN" altLang="en-US" sz="3100" dirty="0">
                <a:solidFill>
                  <a:schemeClr val="accent1">
                    <a:lumMod val="75000"/>
                  </a:schemeClr>
                </a:solidFill>
                <a:ea typeface="宋体" panose="02010600030101010101" pitchFamily="2" charset="-122"/>
                <a:sym typeface="+mn-ea"/>
              </a:rPr>
              <a:t> management activities</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常见项目活动</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续</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810"/>
            <a:ext cx="8977630" cy="6210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22.1 Risk management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风险管理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14338" name="Rectangle 2"/>
          <p:cNvSpPr>
            <a:spLocks noGrp="1" noChangeArrowheads="1"/>
          </p:cNvSpPr>
          <p:nvPr/>
        </p:nvSpPr>
        <p:spPr>
          <a:xfrm>
            <a:off x="88900" y="1384935"/>
            <a:ext cx="8977630" cy="473646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203200" indent="-203200" algn="l">
              <a:lnSpc>
                <a:spcPct val="85000"/>
              </a:lnSpc>
              <a:buClrTx/>
              <a:buSzTx/>
              <a:buChar char="§"/>
            </a:pPr>
            <a:r>
              <a:rPr lang="en-US" altLang="en-GB" sz="3200" dirty="0" smtClean="0">
                <a:solidFill>
                  <a:schemeClr val="accent2">
                    <a:lumMod val="75000"/>
                  </a:schemeClr>
                </a:solidFill>
                <a:latin typeface="Calibri" panose="020F0502020204030204" charset="0"/>
                <a:cs typeface="Calibri" panose="020F0502020204030204" charset="0"/>
              </a:rPr>
              <a:t> Risk management is one of the most important jobs for a project manager.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重要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Risks may threaten the project, the software that is being developed, or the organization.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风险威胁项目、待开发软件、或者组织</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Risk management involves </a:t>
            </a:r>
            <a:r>
              <a:rPr lang="en-US" altLang="en-GB" sz="2800" b="0" dirty="0" smtClean="0">
                <a:solidFill>
                  <a:schemeClr val="tx1"/>
                </a:solidFill>
                <a:latin typeface="Calibri" panose="020F0502020204030204" charset="0"/>
                <a:cs typeface="Calibri" panose="020F0502020204030204" charset="0"/>
              </a:rPr>
              <a:t>anticipating risks that might affect the project schedule or the quality of the software being developed, and then taking action to avoid these risks.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风险管理涉及：预见可能影响项目进度或软件质量的风险，并采取行动来避免这些风险。</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22.2 Managing people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人员管理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53251" name="Rectangle 3"/>
          <p:cNvSpPr>
            <a:spLocks noGrp="1" noChangeArrowheads="1"/>
          </p:cNvSpPr>
          <p:nvPr/>
        </p:nvSpPr>
        <p:spPr>
          <a:xfrm>
            <a:off x="88900" y="1313180"/>
            <a:ext cx="8976995" cy="514350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The people working in a software organization are its greatest assets.</a:t>
            </a:r>
            <a:r>
              <a:rPr lang="en-US" altLang="en-GB" sz="2800" b="0">
                <a:solidFill>
                  <a:schemeClr val="tx1"/>
                </a:solidFill>
                <a:latin typeface="Calibri" panose="020F0502020204030204" charset="0"/>
                <a:cs typeface="Calibri" panose="020F0502020204030204" charset="0"/>
              </a:rPr>
              <a:t> It is expensive to recruit and retain good people, and it is up to software managers to ensure that the engineers working on a project are as productive as possible.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人员是最大的资产</a:t>
            </a:r>
            <a:endParaRPr lang="en-US" altLang="en-GB" sz="2800" b="0">
              <a:solidFill>
                <a:schemeClr val="tx1"/>
              </a:solidFill>
              <a:latin typeface="Calibri" panose="020F0502020204030204" charset="0"/>
              <a:cs typeface="Calibri" panose="020F0502020204030204" charset="0"/>
            </a:endParaRPr>
          </a:p>
          <a:p>
            <a:pPr>
              <a:lnSpc>
                <a:spcPct val="85000"/>
              </a:lnSpc>
              <a:spcAft>
                <a:spcPts val="0"/>
              </a:spcAft>
            </a:pPr>
            <a:r>
              <a:rPr lang="en-US" altLang="en-GB" sz="3200">
                <a:solidFill>
                  <a:schemeClr val="accent2">
                    <a:lumMod val="75000"/>
                  </a:schemeClr>
                </a:solidFill>
                <a:latin typeface="Calibri" panose="020F0502020204030204" charset="0"/>
                <a:cs typeface="Calibri" panose="020F0502020204030204" charset="0"/>
              </a:rPr>
              <a:t> As a project manager, you should be aware of the potential problems of people management and should try to develop people management skills. </a:t>
            </a:r>
            <a:r>
              <a:rPr lang="en-US" altLang="en-GB" sz="2800" b="0">
                <a:solidFill>
                  <a:schemeClr val="tx1"/>
                </a:solidFill>
                <a:latin typeface="Calibri" panose="020F0502020204030204" charset="0"/>
                <a:cs typeface="Calibri" panose="020F0502020204030204" charset="0"/>
              </a:rPr>
              <a:t>It is important that software project managers understand the technical issues that influence the work of software development. Unfortunately, however, good software engineers are not always good people managers.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项目经理应意识到人员管理的潜在问题,并应努力培养人员管理技巧</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67385"/>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22.</a:t>
            </a:r>
            <a:r>
              <a:rPr lang="en-US" altLang="zh-CN" sz="3200" dirty="0">
                <a:solidFill>
                  <a:schemeClr val="accent1">
                    <a:lumMod val="75000"/>
                  </a:schemeClr>
                </a:solidFill>
                <a:ea typeface="宋体" panose="02010600030101010101" pitchFamily="2" charset="-122"/>
                <a:sym typeface="+mn-ea"/>
              </a:rPr>
              <a:t>3</a:t>
            </a:r>
            <a:r>
              <a:rPr lang="zh-CN" altLang="en-US" sz="3200" dirty="0">
                <a:solidFill>
                  <a:schemeClr val="accent1">
                    <a:lumMod val="75000"/>
                  </a:schemeClr>
                </a:solidFill>
                <a:ea typeface="宋体" panose="02010600030101010101" pitchFamily="2" charset="-122"/>
                <a:sym typeface="+mn-ea"/>
              </a:rPr>
              <a:t> Teamwork</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团队协作</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89091" name="Rectangle 3"/>
          <p:cNvSpPr>
            <a:spLocks noGrp="1" noChangeArrowheads="1"/>
          </p:cNvSpPr>
          <p:nvPr/>
        </p:nvSpPr>
        <p:spPr>
          <a:xfrm>
            <a:off x="85725" y="1169670"/>
            <a:ext cx="8978265" cy="56083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Most professional software is developed by project teams that range in size from two to several hundred people.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项目团队的规模：2-几百</a:t>
            </a:r>
            <a:endParaRPr lang="en-US" altLang="en-GB" dirty="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rPr>
              <a:t> However, as it is impossible for everyone in a large group to work together on a single problem, large teams are usually split into a number of smaller groups. </a:t>
            </a:r>
            <a:r>
              <a:rPr lang="en-US" altLang="en-GB" sz="2700" b="0" dirty="0">
                <a:solidFill>
                  <a:schemeClr val="tx1"/>
                </a:solidFill>
                <a:latin typeface="Calibri" panose="020F0502020204030204" charset="0"/>
                <a:cs typeface="Calibri" panose="020F0502020204030204" charset="0"/>
              </a:rPr>
              <a:t>Each group is responsible for developing part of the system. When groups are small, communication problems are reduced. The whole group can get around a table for a meeting to discuss the project and the software that they are developing.</a:t>
            </a:r>
            <a:r>
              <a:rPr lang="en-US" altLang="en-GB" sz="2700" dirty="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大团队通常划分成一些小组</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altLang="en-GB" sz="3000" dirty="0">
                <a:solidFill>
                  <a:schemeClr val="accent2">
                    <a:lumMod val="75000"/>
                  </a:schemeClr>
                </a:solidFill>
                <a:latin typeface="Calibri" panose="020F0502020204030204" charset="0"/>
                <a:cs typeface="Calibri" panose="020F0502020204030204" charset="0"/>
                <a:sym typeface="+mn-ea"/>
              </a:rPr>
              <a:t> Putting together a group that has the right balance of technical skills, experience, and personalities is a critical management task.  </a:t>
            </a:r>
            <a:r>
              <a:rPr lang="zh-CN" altLang="en-US" kern="0" dirty="0">
                <a:solidFill>
                  <a:schemeClr val="accent5">
                    <a:lumMod val="50000"/>
                  </a:schemeClr>
                </a:solidFill>
                <a:latin typeface="黑体" panose="02010609060101010101" pitchFamily="49" charset="-122"/>
                <a:ea typeface="黑体" panose="02010609060101010101" pitchFamily="49" charset="-122"/>
                <a:cs typeface="+mn-cs"/>
                <a:sym typeface="+mn-ea"/>
              </a:rPr>
              <a:t>关键管理任务:组成技术、经验个性均衡的小组</a:t>
            </a:r>
            <a:endParaRPr lang="en-US" sz="2700" b="0" dirty="0">
              <a:latin typeface="Calibri" panose="020F0502020204030204" charset="0"/>
              <a:cs typeface="Calibri" panose="020F05020202040302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9295"/>
            <a:ext cx="8977630" cy="5473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Group cohesiveness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5">
                    <a:lumMod val="50000"/>
                  </a:schemeClr>
                </a:solidFill>
                <a:latin typeface="黑体" panose="02010609060101010101" pitchFamily="49" charset="-122"/>
                <a:ea typeface="黑体" panose="02010609060101010101" pitchFamily="49" charset="-122"/>
                <a:sym typeface="+mn-ea"/>
              </a:rPr>
              <a:t>团队凝聚力</a:t>
            </a:r>
            <a:endParaRPr lang="zh-CN" altLang="en-US" dirty="0">
              <a:solidFill>
                <a:schemeClr val="accent5">
                  <a:lumMod val="50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0288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22  Project management</a:t>
            </a:r>
            <a:endParaRPr lang="en-US" altLang="zh-CN" sz="2800" dirty="0">
              <a:solidFill>
                <a:srgbClr val="660066"/>
              </a:solidFill>
              <a:ea typeface="黑体" panose="02010609060101010101" pitchFamily="49" charset="-122"/>
              <a:cs typeface="+mj-lt"/>
            </a:endParaRPr>
          </a:p>
        </p:txBody>
      </p:sp>
      <p:sp>
        <p:nvSpPr>
          <p:cNvPr id="57347" name="Rectangle 3"/>
          <p:cNvSpPr>
            <a:spLocks noGrp="1" noChangeArrowheads="1"/>
          </p:cNvSpPr>
          <p:nvPr/>
        </p:nvSpPr>
        <p:spPr>
          <a:xfrm>
            <a:off x="40005" y="1241425"/>
            <a:ext cx="9053195" cy="534543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000" dirty="0">
                <a:solidFill>
                  <a:schemeClr val="accent2">
                    <a:lumMod val="75000"/>
                  </a:schemeClr>
                </a:solidFill>
                <a:latin typeface="Calibri" panose="020F0502020204030204" charset="0"/>
                <a:cs typeface="Calibri" panose="020F0502020204030204" charset="0"/>
                <a:sym typeface="+mn-ea"/>
              </a:rPr>
              <a:t> Successful groups are more than simply a collection of individuals with the right balance of skills. A good group is cohesive and thinks of itself as a strong, single unit. </a:t>
            </a:r>
            <a:r>
              <a:rPr lang="en-US" altLang="en-GB" sz="2800" b="0" dirty="0">
                <a:solidFill>
                  <a:schemeClr val="tx1"/>
                </a:solidFill>
                <a:latin typeface="Calibri" panose="020F0502020204030204" charset="0"/>
                <a:cs typeface="Calibri" panose="020F0502020204030204" charset="0"/>
                <a:sym typeface="+mn-ea"/>
              </a:rPr>
              <a:t>The people involved are motivated by the success of the group as well as by their own personal goals. </a:t>
            </a:r>
            <a:r>
              <a:rPr lang="en-US" altLang="en-GB" sz="3000" dirty="0">
                <a:solidFill>
                  <a:schemeClr val="accent2">
                    <a:lumMod val="75000"/>
                  </a:schemeClr>
                </a:solidFill>
                <a:latin typeface="Calibri" panose="020F0502020204030204" charset="0"/>
                <a:cs typeface="Calibri" panose="020F0502020204030204" charset="0"/>
                <a:sym typeface="+mn-ea"/>
              </a:rPr>
              <a:t> </a:t>
            </a:r>
            <a:r>
              <a:rPr lang="zh-CN" altLang="en-US" sz="2400" kern="0" dirty="0">
                <a:solidFill>
                  <a:schemeClr val="accent5">
                    <a:lumMod val="50000"/>
                  </a:schemeClr>
                </a:solidFill>
                <a:latin typeface="黑体" panose="02010609060101010101" pitchFamily="49" charset="-122"/>
                <a:ea typeface="黑体" panose="02010609060101010101" pitchFamily="49" charset="-122"/>
                <a:cs typeface="+mn-cs"/>
                <a:sym typeface="+mn-ea"/>
              </a:rPr>
              <a:t>好的小组具有凝聚力,视自身为一个坚强的整体</a:t>
            </a:r>
            <a:endParaRPr lang="en-US" altLang="en-GB" sz="3000" dirty="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altLang="en-GB" sz="3000" dirty="0">
                <a:solidFill>
                  <a:schemeClr val="accent2">
                    <a:lumMod val="75000"/>
                  </a:schemeClr>
                </a:solidFill>
                <a:latin typeface="Calibri" panose="020F0502020204030204" charset="0"/>
                <a:cs typeface="Calibri" panose="020F0502020204030204" charset="0"/>
              </a:rPr>
              <a:t> In a cohesive group, </a:t>
            </a:r>
            <a:r>
              <a:rPr lang="en-US" altLang="en-GB" sz="2800" b="0" dirty="0">
                <a:solidFill>
                  <a:schemeClr val="tx1"/>
                </a:solidFill>
                <a:latin typeface="Calibri" panose="020F0502020204030204" charset="0"/>
                <a:cs typeface="Calibri" panose="020F0502020204030204" charset="0"/>
              </a:rPr>
              <a:t>members think of the group as more important than the individuals who are group members. Members of a well-led, cohesive group are loyal to the group. They identify with group goals and other group members. They attempt to protect the group, as an entity, from outside interference. This makes the group robust and able to cope with problems and unexpected situations.   </a:t>
            </a:r>
            <a:r>
              <a:rPr lang="zh-CN" altLang="en-US" sz="2400" kern="0" dirty="0">
                <a:solidFill>
                  <a:schemeClr val="accent5">
                    <a:lumMod val="50000"/>
                  </a:schemeClr>
                </a:solidFill>
                <a:latin typeface="黑体" panose="02010609060101010101" pitchFamily="49" charset="-122"/>
                <a:ea typeface="黑体" panose="02010609060101010101" pitchFamily="49" charset="-122"/>
                <a:cs typeface="+mn-cs"/>
              </a:rPr>
              <a:t>有凝聚力小组的特征</a:t>
            </a:r>
            <a:endParaRPr lang="en-US" altLang="en-GB" sz="2800" b="0" dirty="0">
              <a:solidFill>
                <a:schemeClr val="tx1"/>
              </a:solidFill>
              <a:latin typeface="Calibri" panose="020F0502020204030204" charset="0"/>
              <a:cs typeface="Calibri" panose="020F05020202040302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6138</Words>
  <Application>WPS 演示</Application>
  <PresentationFormat>信纸(8.5x11 英寸)</PresentationFormat>
  <Paragraphs>99</Paragraphs>
  <Slides>12</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CS152-SP98</vt:lpstr>
      <vt:lpstr> Software Engineering</vt:lpstr>
      <vt:lpstr>Chap. 22  Project management</vt:lpstr>
      <vt:lpstr>Chap. 22  Project management</vt:lpstr>
      <vt:lpstr>Chap. 22  Project management</vt:lpstr>
      <vt:lpstr>Chap. 22  Project management</vt:lpstr>
      <vt:lpstr>Chap. 22  Project management</vt:lpstr>
      <vt:lpstr>Chap. 22  Project management</vt:lpstr>
      <vt:lpstr>Chap. 22  Project management</vt:lpstr>
      <vt:lpstr>Chap. 22  Project management</vt:lpstr>
      <vt:lpstr>Chap. 22  Project management</vt:lpstr>
      <vt:lpstr>Chap. 22  Project management</vt:lpstr>
      <vt:lpstr>Chap. 22  Project management</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1980</cp:revision>
  <cp:lastPrinted>1999-08-22T22:40:00Z</cp:lastPrinted>
  <dcterms:created xsi:type="dcterms:W3CDTF">1997-08-19T16:58:00Z</dcterms:created>
  <dcterms:modified xsi:type="dcterms:W3CDTF">2025-11-17T14:17:43Z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3E2B1C6E25C54BFF8474069605F54195_13</vt:lpwstr>
  </property>
</Properties>
</file>