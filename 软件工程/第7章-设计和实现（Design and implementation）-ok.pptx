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2"/>
  </p:handoutMasterIdLst>
  <p:sldIdLst>
    <p:sldId id="256" r:id="rId3"/>
    <p:sldId id="1597" r:id="rId5"/>
    <p:sldId id="1818" r:id="rId6"/>
    <p:sldId id="1819" r:id="rId7"/>
    <p:sldId id="1820" r:id="rId8"/>
    <p:sldId id="1821" r:id="rId9"/>
    <p:sldId id="1822" r:id="rId10"/>
    <p:sldId id="1823" r:id="rId11"/>
    <p:sldId id="1824" r:id="rId12"/>
    <p:sldId id="1825" r:id="rId13"/>
    <p:sldId id="1826" r:id="rId14"/>
    <p:sldId id="1827" r:id="rId15"/>
    <p:sldId id="1828" r:id="rId16"/>
    <p:sldId id="1829" r:id="rId17"/>
    <p:sldId id="1830" r:id="rId18"/>
    <p:sldId id="1831" r:id="rId19"/>
    <p:sldId id="1832" r:id="rId20"/>
    <p:sldId id="1833" r:id="rId21"/>
    <p:sldId id="1834" r:id="rId22"/>
    <p:sldId id="1835" r:id="rId23"/>
    <p:sldId id="1836" r:id="rId24"/>
    <p:sldId id="1837" r:id="rId25"/>
    <p:sldId id="1838" r:id="rId26"/>
    <p:sldId id="1839" r:id="rId27"/>
    <p:sldId id="1840" r:id="rId28"/>
    <p:sldId id="1841" r:id="rId29"/>
    <p:sldId id="1842" r:id="rId30"/>
    <p:sldId id="1843" r:id="rId31"/>
    <p:sldId id="1844" r:id="rId32"/>
    <p:sldId id="1846" r:id="rId33"/>
    <p:sldId id="1849" r:id="rId34"/>
    <p:sldId id="1847" r:id="rId35"/>
    <p:sldId id="1848" r:id="rId36"/>
    <p:sldId id="1850" r:id="rId37"/>
    <p:sldId id="1851" r:id="rId38"/>
    <p:sldId id="1852" r:id="rId39"/>
    <p:sldId id="1853" r:id="rId40"/>
    <p:sldId id="1865" r:id="rId41"/>
  </p:sldIdLst>
  <p:sldSz cx="9144000" cy="6858000" type="letter"/>
  <p:notesSz cx="9163050" cy="6877050"/>
  <p:custDataLst>
    <p:tags r:id="rId46"/>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FF0000"/>
    <a:srgbClr val="CC0000"/>
    <a:srgbClr val="134AD5"/>
    <a:srgbClr val="B3380D"/>
    <a:srgbClr val="E6E6E6"/>
    <a:srgbClr val="660066"/>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60"/>
        <p:guide pos="287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7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25.xml"/><Relationship Id="rId1" Type="http://schemas.openxmlformats.org/officeDocument/2006/relationships/tags" Target="../tags/tag24.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27.xml"/><Relationship Id="rId1" Type="http://schemas.openxmlformats.org/officeDocument/2006/relationships/tags" Target="../tags/tag2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5.png"/><Relationship Id="rId6" Type="http://schemas.openxmlformats.org/officeDocument/2006/relationships/tags" Target="../tags/tag34.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6.xml"/><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48.xml"/><Relationship Id="rId1" Type="http://schemas.openxmlformats.org/officeDocument/2006/relationships/tags" Target="../tags/tag4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2.xml"/><Relationship Id="rId1" Type="http://schemas.openxmlformats.org/officeDocument/2006/relationships/tags" Target="../tags/tag51.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4.xml"/><Relationship Id="rId1" Type="http://schemas.openxmlformats.org/officeDocument/2006/relationships/tags" Target="../tags/tag53.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4.png"/><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tags" Target="../tags/tag64.xml"/><Relationship Id="rId1" Type="http://schemas.openxmlformats.org/officeDocument/2006/relationships/tags" Target="../tags/tag63.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tags" Target="../tags/tag66.xml"/><Relationship Id="rId1" Type="http://schemas.openxmlformats.org/officeDocument/2006/relationships/tags" Target="../tags/tag6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tags" Target="../tags/tag69.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tags" Target="../tags/tag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覆盖主题</a:t>
            </a:r>
            <a:endParaRPr lang="zh-CN" altLang="en-US" b="1" dirty="0" smtClean="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31464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Object-oriented design using the UML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使用UML的面向对象设计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Design patterns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设计模式</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Implementation issues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实现问题</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Open source development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开源开发（留作自学）</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7630" cy="5575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Design and implementation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设计和实现</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71755" y="1456690"/>
            <a:ext cx="8995410" cy="50012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Software design and implementation is the stage in the software engineering process at which an </a:t>
            </a:r>
            <a:r>
              <a:rPr lang="en-US" sz="3100" u="sng" dirty="0" smtClean="0">
                <a:solidFill>
                  <a:schemeClr val="tx2">
                    <a:lumMod val="75000"/>
                    <a:lumOff val="25000"/>
                  </a:schemeClr>
                </a:solidFill>
                <a:latin typeface="Calibri" panose="020F0502020204030204" charset="0"/>
                <a:cs typeface="Calibri" panose="020F0502020204030204" charset="0"/>
              </a:rPr>
              <a:t>executable</a:t>
            </a:r>
            <a:r>
              <a:rPr lang="en-US" sz="3100" dirty="0" smtClean="0">
                <a:solidFill>
                  <a:schemeClr val="tx2">
                    <a:lumMod val="75000"/>
                    <a:lumOff val="25000"/>
                  </a:schemeClr>
                </a:solidFill>
                <a:latin typeface="Calibri" panose="020F0502020204030204" charset="0"/>
                <a:cs typeface="Calibri" panose="020F0502020204030204" charset="0"/>
              </a:rPr>
              <a:t> software system is developed.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Software design and implementation activities are invariably interleaved. </a:t>
            </a:r>
            <a:r>
              <a:rPr lang="en-US" sz="2800" b="0" dirty="0" smtClean="0">
                <a:solidFill>
                  <a:schemeClr val="tx1"/>
                </a:solidFill>
                <a:latin typeface="Calibri" panose="020F0502020204030204" charset="0"/>
                <a:cs typeface="Calibri" panose="020F0502020204030204" charset="0"/>
              </a:rPr>
              <a:t>Software design is a creative activity in which you identify software components and their relationships, based on a customer’s requirements; Implementation is the process of realizing the design as a program.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两个过程相互交织</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Design and implementation are closely linked, and you should normally take implementation issues into account when developing a design.</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两者紧密关联</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5165"/>
            <a:ext cx="8977630" cy="518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Build or buy</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构建</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或购买</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2390" y="1241425"/>
            <a:ext cx="8993505" cy="54311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One of the most important decisions made at an early stage of a software project is whether to build or to buy the application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早期最重要的决策</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400" b="0" dirty="0" smtClean="0">
                <a:solidFill>
                  <a:schemeClr val="tx1"/>
                </a:solidFill>
                <a:latin typeface="Calibri" panose="020F0502020204030204" charset="0"/>
                <a:cs typeface="Calibri" panose="020F0502020204030204" charset="0"/>
              </a:rPr>
              <a:t>For many types of application, it is now possible to buy off-the-shelf application systems that can be adapted and tailored to the users’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购买成品应用，可改编、剪裁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US" sz="2400" b="0" dirty="0" smtClean="0">
                <a:solidFill>
                  <a:schemeClr val="tx1"/>
                </a:solidFill>
                <a:latin typeface="Calibri" panose="020F0502020204030204" charset="0"/>
                <a:cs typeface="Calibri" panose="020F0502020204030204" charset="0"/>
              </a:rPr>
              <a:t>e.g., if you want to implement a medical records system, you can buy a package that is already used in hospitals. It is usually cheaper and faster to use this approach rather than developing a new system in a conventional programming language.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便宜、快</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When you develop an application system by reusing an off-the-shelf product, the design process focuses on how to </a:t>
            </a:r>
            <a:r>
              <a:rPr lang="en-US" sz="3100" u="sng" dirty="0" smtClean="0">
                <a:solidFill>
                  <a:schemeClr val="tx2">
                    <a:lumMod val="75000"/>
                    <a:lumOff val="25000"/>
                  </a:schemeClr>
                </a:solidFill>
                <a:latin typeface="Calibri" panose="020F0502020204030204" charset="0"/>
                <a:cs typeface="Calibri" panose="020F0502020204030204" charset="0"/>
              </a:rPr>
              <a:t>configure</a:t>
            </a:r>
            <a:r>
              <a:rPr lang="en-US" sz="3100" dirty="0" smtClean="0">
                <a:solidFill>
                  <a:schemeClr val="tx2">
                    <a:lumMod val="75000"/>
                    <a:lumOff val="25000"/>
                  </a:schemeClr>
                </a:solidFill>
                <a:latin typeface="Calibri" panose="020F0502020204030204" charset="0"/>
                <a:cs typeface="Calibri" panose="020F0502020204030204" charset="0"/>
              </a:rPr>
              <a:t> the system product to meet the application requirements. </a:t>
            </a:r>
            <a:r>
              <a:rPr lang="en-US" sz="2700" b="0" dirty="0" smtClean="0">
                <a:solidFill>
                  <a:schemeClr val="tx1"/>
                </a:solidFill>
                <a:latin typeface="Calibri" panose="020F0502020204030204" charset="0"/>
                <a:cs typeface="Calibri" panose="020F0502020204030204" charset="0"/>
              </a:rPr>
              <a:t>You don’t develop design models of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若复用软件成品,就关注配置</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6125"/>
            <a:ext cx="8977630" cy="88582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ea typeface="宋体" panose="02010600030101010101" pitchFamily="2" charset="-122"/>
                <a:sym typeface="+mn-ea"/>
              </a:rPr>
              <a:t> 7.1 Object-oriented design using the UML</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使用</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UML</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的面向对象设计</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 y="1644015"/>
            <a:ext cx="9051290" cy="49364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gn="l">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sym typeface="+mn-ea"/>
              </a:rPr>
              <a:t> Object-oriented design processes involve designing object classes and the relationships between these classes.</a:t>
            </a:r>
            <a:r>
              <a:rPr lang="en-US" sz="3100" b="0" dirty="0" smtClean="0">
                <a:solidFill>
                  <a:schemeClr val="tx1"/>
                </a:solidFill>
                <a:latin typeface="Calibri" panose="020F0502020204030204" charset="0"/>
                <a:cs typeface="Calibri" panose="020F0502020204030204" charset="0"/>
                <a:sym typeface="+mn-ea"/>
              </a:rPr>
              <a:t> </a:t>
            </a:r>
            <a:r>
              <a:rPr lang="en-US" sz="2800" b="0" dirty="0" smtClean="0">
                <a:solidFill>
                  <a:schemeClr val="tx1"/>
                </a:solidFill>
                <a:latin typeface="Calibri" panose="020F0502020204030204" charset="0"/>
                <a:cs typeface="Calibri" panose="020F0502020204030204" charset="0"/>
                <a:sym typeface="+mn-ea"/>
              </a:rPr>
              <a:t>These classes define the objects in the system and their interactions. When the design is realized as an executing program, the objects are created dynamically from these class definitions.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OOD含义:设计对象类及其相互关系</a:t>
            </a:r>
            <a:endParaRPr lang="en-US" sz="2000" dirty="0" smtClean="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gn="l">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sym typeface="+mn-ea"/>
              </a:rPr>
              <a:t> Objects include both data and operations to manipulate that data. </a:t>
            </a:r>
            <a:r>
              <a:rPr lang="en-US" sz="2800" b="0" dirty="0" smtClean="0">
                <a:solidFill>
                  <a:schemeClr val="tx1"/>
                </a:solidFill>
                <a:latin typeface="Calibri" panose="020F0502020204030204" charset="0"/>
                <a:cs typeface="Calibri" panose="020F0502020204030204" charset="0"/>
                <a:sym typeface="+mn-ea"/>
              </a:rPr>
              <a:t>They may be understood and modified as stand-alone entities. T</a:t>
            </a:r>
            <a:r>
              <a:rPr lang="en-US" sz="2800" b="0" dirty="0" smtClean="0">
                <a:solidFill>
                  <a:schemeClr val="tx1"/>
                </a:solidFill>
                <a:latin typeface="Calibri" panose="020F0502020204030204" charset="0"/>
                <a:cs typeface="Calibri" panose="020F0502020204030204" charset="0"/>
              </a:rPr>
              <a:t>here is often a clear mapping between real-world entities and their controlling objects in the system. This improves the understandability, and hence the maintainability, of the design.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对象包括数据和操作。现实世界实体与系统控制对象之间有清晰的映射</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1840"/>
            <a:ext cx="8977630" cy="5746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Process stages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过程阶段</a:t>
            </a:r>
            <a:endParaRPr lang="zh-CN" altLang="en-US" b="0" kern="1200" dirty="0" smtClean="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0800" y="1313180"/>
            <a:ext cx="9022080" cy="53632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2900" dirty="0" smtClean="0">
                <a:solidFill>
                  <a:schemeClr val="tx2">
                    <a:lumMod val="75000"/>
                    <a:lumOff val="25000"/>
                  </a:schemeClr>
                </a:solidFill>
                <a:latin typeface="Calibri" panose="020F0502020204030204" charset="0"/>
                <a:cs typeface="Calibri" panose="020F0502020204030204" charset="0"/>
              </a:rPr>
              <a:t> To develop a system design from concept to detailed, object-oriented design, you need to:</a:t>
            </a:r>
            <a:r>
              <a:rPr lang="en-US" altLang="en-GB"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从概念到详细ODD</a:t>
            </a:r>
            <a:endParaRPr lang="zh-CN" altLang="en-US" sz="2400" b="0" dirty="0" smtClean="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rPr>
              <a:t>Understand and define the context and the external interactions with system</a:t>
            </a:r>
            <a:r>
              <a:rPr lang="en-US" altLang="en-GB" sz="2700"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理解和定义上下文和外界与系统的交互</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rPr>
              <a:t>Design the system architecture</a:t>
            </a:r>
            <a:r>
              <a:rPr lang="en-US" altLang="en-GB" sz="27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设计系统体系结构</a:t>
            </a:r>
            <a:endParaRPr lang="en-GB" sz="2700" b="0" dirty="0" smtClean="0">
              <a:solidFill>
                <a:schemeClr val="tx1"/>
              </a:solidFill>
              <a:latin typeface="Calibri" panose="020F0502020204030204" charset="0"/>
              <a:cs typeface="Calibri" panose="020F0502020204030204" charset="0"/>
            </a:endParaRPr>
          </a:p>
          <a:p>
            <a:pPr lvl="1">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rPr>
              <a:t>Identify the principal objects in the system</a:t>
            </a:r>
            <a:r>
              <a:rPr lang="en-US" altLang="en-GB" sz="27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识别主要对象</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rPr>
              <a:t>Develop design models</a:t>
            </a:r>
            <a:r>
              <a:rPr lang="en-US" altLang="en-GB" sz="27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开发设计模型</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GB" sz="2700" b="0" dirty="0" smtClean="0">
                <a:solidFill>
                  <a:schemeClr val="tx1"/>
                </a:solidFill>
                <a:latin typeface="Calibri" panose="020F0502020204030204" charset="0"/>
                <a:cs typeface="Calibri" panose="020F0502020204030204" charset="0"/>
              </a:rPr>
              <a:t>Specify interfaces.</a:t>
            </a:r>
            <a:r>
              <a:rPr lang="en-US" altLang="en-GB" sz="27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刻画接口</a:t>
            </a:r>
            <a:endParaRPr lang="en-GB" sz="2700" dirty="0" smtClean="0">
              <a:solidFill>
                <a:schemeClr val="tx1"/>
              </a:solidFill>
              <a:latin typeface="Calibri" panose="020F0502020204030204" charset="0"/>
              <a:cs typeface="Calibri" panose="020F0502020204030204" charset="0"/>
            </a:endParaRPr>
          </a:p>
          <a:p>
            <a:pPr>
              <a:lnSpc>
                <a:spcPct val="82000"/>
              </a:lnSpc>
              <a:spcBef>
                <a:spcPts val="600"/>
              </a:spcBef>
              <a:spcAft>
                <a:spcPts val="0"/>
              </a:spcAft>
            </a:pPr>
            <a:r>
              <a:rPr lang="en-US" altLang="en-GB" sz="2900" dirty="0" smtClean="0">
                <a:solidFill>
                  <a:schemeClr val="tx2">
                    <a:lumMod val="75000"/>
                    <a:lumOff val="25000"/>
                  </a:schemeClr>
                </a:solidFill>
                <a:latin typeface="Calibri" panose="020F0502020204030204" charset="0"/>
                <a:cs typeface="Calibri" panose="020F0502020204030204" charset="0"/>
              </a:rPr>
              <a:t> Here explain object-oriented software design by developing a design for part of the </a:t>
            </a:r>
            <a:r>
              <a:rPr lang="en-GB" sz="2900" dirty="0" smtClean="0">
                <a:solidFill>
                  <a:schemeClr val="tx2">
                    <a:lumMod val="75000"/>
                    <a:lumOff val="25000"/>
                  </a:schemeClr>
                </a:solidFill>
                <a:latin typeface="Calibri" panose="020F0502020204030204" charset="0"/>
                <a:cs typeface="Calibri" panose="020F0502020204030204" charset="0"/>
              </a:rPr>
              <a:t>embedded software for the wilderness weather station that </a:t>
            </a:r>
            <a:r>
              <a:rPr lang="en-US" altLang="en-GB" sz="2900" dirty="0" smtClean="0">
                <a:solidFill>
                  <a:schemeClr val="tx2">
                    <a:lumMod val="75000"/>
                    <a:lumOff val="25000"/>
                  </a:schemeClr>
                </a:solidFill>
                <a:latin typeface="Calibri" panose="020F0502020204030204" charset="0"/>
                <a:cs typeface="Calibri" panose="020F0502020204030204" charset="0"/>
              </a:rPr>
              <a:t>was</a:t>
            </a:r>
            <a:r>
              <a:rPr lang="en-GB" sz="2900" dirty="0" smtClean="0">
                <a:solidFill>
                  <a:schemeClr val="tx2">
                    <a:lumMod val="75000"/>
                    <a:lumOff val="25000"/>
                  </a:schemeClr>
                </a:solidFill>
                <a:latin typeface="Calibri" panose="020F0502020204030204" charset="0"/>
                <a:cs typeface="Calibri" panose="020F0502020204030204" charset="0"/>
              </a:rPr>
              <a:t> introduced in Chapter 1.</a:t>
            </a:r>
            <a:r>
              <a:rPr lang="en-US" altLang="en-GB" sz="2900" dirty="0" smtClean="0">
                <a:solidFill>
                  <a:schemeClr val="tx2">
                    <a:lumMod val="75000"/>
                    <a:lumOff val="25000"/>
                  </a:schemeClr>
                </a:solidFill>
                <a:latin typeface="Calibri" panose="020F0502020204030204" charset="0"/>
                <a:cs typeface="Calibri" panose="020F0502020204030204" charset="0"/>
              </a:rPr>
              <a:t> </a:t>
            </a:r>
            <a:r>
              <a:rPr lang="en-US" altLang="en-GB" sz="2300" b="0" dirty="0" smtClean="0">
                <a:solidFill>
                  <a:schemeClr val="tx1"/>
                </a:solidFill>
                <a:latin typeface="Calibri" panose="020F0502020204030204" charset="0"/>
                <a:cs typeface="Calibri" panose="020F0502020204030204" charset="0"/>
              </a:rPr>
              <a:t>deployed in remote areas, records local weather information and periodically transfers this to a weather information system, using a satellite link.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以野外气象站为例解释</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OOD</a:t>
            </a:r>
            <a:endParaRPr lang="en-US" altLang="zh-CN" sz="2400" b="0" kern="0" dirty="0" smtClean="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2795"/>
            <a:ext cx="8977630" cy="6102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System context and interactions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系统上下</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文和交互</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0800" y="1313180"/>
            <a:ext cx="9016365" cy="52666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The first stage: understanding the relationships between the software that is being designed and its external environment.</a:t>
            </a:r>
            <a:r>
              <a:rPr lang="en-US" sz="2800" b="0" dirty="0" smtClean="0">
                <a:solidFill>
                  <a:schemeClr val="tx1"/>
                </a:solidFill>
                <a:latin typeface="Calibri" panose="020F0502020204030204" charset="0"/>
                <a:cs typeface="Calibri" panose="020F0502020204030204" charset="0"/>
              </a:rPr>
              <a:t> This is essential for deciding how to provide required functionality and how to structure the system to communicate with environment.</a:t>
            </a:r>
            <a:r>
              <a:rPr lang="en-US" sz="3100" dirty="0" smtClean="0">
                <a:solidFill>
                  <a:schemeClr val="tx2">
                    <a:lumMod val="75000"/>
                    <a:lumOff val="25000"/>
                  </a:schemeClr>
                </a:solidFill>
                <a:latin typeface="Calibri" panose="020F0502020204030204" charset="0"/>
                <a:cs typeface="Calibri" panose="020F0502020204030204" charset="0"/>
              </a:rPr>
              <a:t> </a:t>
            </a:r>
            <a:r>
              <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rPr>
              <a:t>第一步:理解软件与外部环境的关系</a:t>
            </a:r>
            <a:endPar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Understanding the context also lets you establish the boundaries of the system, which helps you decide what features are implemented in the system and what features are in other associated systems.</a:t>
            </a:r>
            <a:r>
              <a:rPr lang="en-US" sz="2700" dirty="0" smtClean="0">
                <a:solidFill>
                  <a:schemeClr val="tx2">
                    <a:lumMod val="75000"/>
                    <a:lumOff val="25000"/>
                  </a:schemeClr>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In this case, you need to decide how functionality is distributed between the control system for all of the weather stations and the embedded software in the weather station itself. </a:t>
            </a:r>
            <a:r>
              <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rPr>
              <a:t>确立边界,有助于决定：实现哪些特征</a:t>
            </a:r>
            <a:r>
              <a:rPr lang="en-US" altLang="zh-CN" sz="22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rPr>
              <a:t>哪些特征是其他系统的</a:t>
            </a:r>
            <a:endPar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93916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Context </a:t>
            </a:r>
            <a:r>
              <a:rPr lang="en-US" altLang="zh-CN" sz="3100" dirty="0">
                <a:solidFill>
                  <a:schemeClr val="accent1">
                    <a:lumMod val="75000"/>
                  </a:schemeClr>
                </a:solidFill>
                <a:ea typeface="宋体" panose="02010600030101010101" pitchFamily="2" charset="-122"/>
                <a:sym typeface="+mn-ea"/>
              </a:rPr>
              <a:t>models </a:t>
            </a:r>
            <a:r>
              <a:rPr lang="zh-CN" altLang="en-US" sz="3100" dirty="0">
                <a:solidFill>
                  <a:schemeClr val="accent1">
                    <a:lumMod val="75000"/>
                  </a:schemeClr>
                </a:solidFill>
                <a:ea typeface="宋体" panose="02010600030101010101" pitchFamily="2" charset="-122"/>
                <a:sym typeface="+mn-ea"/>
              </a:rPr>
              <a:t>and interaction models</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上下文模型和交互模型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9690" y="1671955"/>
            <a:ext cx="9004300" cy="43211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System context models and interaction models present complementary views of the relationships between a system and its environment: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上下文模型和交互模型对系统与环境的关系，呈现互补的视图</a:t>
            </a:r>
            <a:endPar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gn="l">
              <a:lnSpc>
                <a:spcPct val="90000"/>
              </a:lnSpc>
              <a:spcBef>
                <a:spcPts val="600"/>
              </a:spcBef>
              <a:spcAft>
                <a:spcPts val="0"/>
              </a:spcAft>
            </a:pPr>
            <a:r>
              <a:rPr lang="en-GB" sz="2800" b="0" dirty="0" smtClean="0">
                <a:solidFill>
                  <a:schemeClr val="tx1"/>
                </a:solidFill>
                <a:latin typeface="Calibri" panose="020F0502020204030204" charset="0"/>
                <a:cs typeface="Calibri" panose="020F0502020204030204" charset="0"/>
                <a:sym typeface="+mn-ea"/>
              </a:rPr>
              <a:t>A system context model is a structural model that demonstrates the other systems in the environment of the system being developed</a:t>
            </a:r>
            <a:r>
              <a:rPr lang="en-US" altLang="en-GB" sz="2800" b="0" dirty="0" smtClean="0">
                <a:solidFill>
                  <a:schemeClr val="tx1"/>
                </a:solidFill>
                <a:latin typeface="Calibri" panose="020F0502020204030204" charset="0"/>
                <a:cs typeface="Calibri" panose="020F0502020204030204" charset="0"/>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上下文模型：结构化模型</a:t>
            </a:r>
            <a:endParaRPr lang="en-US" altLang="en-GB" sz="2800" b="0" dirty="0" smtClean="0">
              <a:solidFill>
                <a:schemeClr val="tx1"/>
              </a:solidFill>
              <a:latin typeface="Calibri" panose="020F0502020204030204" charset="0"/>
              <a:cs typeface="Calibri" panose="020F0502020204030204" charset="0"/>
              <a:sym typeface="+mn-ea"/>
            </a:endParaRPr>
          </a:p>
          <a:p>
            <a:pPr lvl="1" algn="l">
              <a:lnSpc>
                <a:spcPct val="90000"/>
              </a:lnSpc>
              <a:spcBef>
                <a:spcPts val="600"/>
              </a:spcBef>
              <a:spcAft>
                <a:spcPts val="0"/>
              </a:spcAft>
            </a:pPr>
            <a:r>
              <a:rPr sz="2800" b="0" dirty="0" smtClean="0">
                <a:solidFill>
                  <a:schemeClr val="tx1"/>
                </a:solidFill>
                <a:latin typeface="Calibri" panose="020F0502020204030204" charset="0"/>
                <a:cs typeface="Calibri" panose="020F0502020204030204" charset="0"/>
              </a:rPr>
              <a:t>An interaction model is a dynamic model that shows how the system interacts</a:t>
            </a:r>
            <a:r>
              <a:rPr lang="en-US" sz="2800" b="0" dirty="0" smtClean="0">
                <a:solidFill>
                  <a:schemeClr val="tx1"/>
                </a:solidFill>
                <a:latin typeface="Calibri" panose="020F0502020204030204" charset="0"/>
                <a:cs typeface="Calibri" panose="020F0502020204030204" charset="0"/>
              </a:rPr>
              <a:t> </a:t>
            </a:r>
            <a:r>
              <a:rPr sz="2800" b="0" dirty="0" smtClean="0">
                <a:solidFill>
                  <a:schemeClr val="tx1"/>
                </a:solidFill>
                <a:latin typeface="Calibri" panose="020F0502020204030204" charset="0"/>
                <a:cs typeface="Calibri" panose="020F0502020204030204" charset="0"/>
              </a:rPr>
              <a:t>with its environment as it is used</a:t>
            </a:r>
            <a:r>
              <a:rPr lang="en-US" altLang="en-GB" sz="2800" b="0" dirty="0" smtClean="0">
                <a:solidFill>
                  <a:schemeClr val="tx1"/>
                </a:solidFill>
                <a:latin typeface="Calibri" panose="020F0502020204030204" charset="0"/>
                <a:cs typeface="Calibri" panose="020F0502020204030204" charset="0"/>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交互模型：动态模型</a:t>
            </a:r>
            <a:endParaRPr sz="31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93980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System context for the weather station</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气象站的系统上下文</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2461895" y="1415415"/>
            <a:ext cx="6607175" cy="3967480"/>
          </a:xfrm>
          <a:prstGeom prst="rect">
            <a:avLst/>
          </a:prstGeom>
        </p:spPr>
      </p:pic>
      <p:sp>
        <p:nvSpPr>
          <p:cNvPr id="10" name="Content Placeholder 2"/>
          <p:cNvSpPr>
            <a:spLocks noGrp="1"/>
          </p:cNvSpPr>
          <p:nvPr/>
        </p:nvSpPr>
        <p:spPr>
          <a:xfrm>
            <a:off x="88900" y="1677670"/>
            <a:ext cx="3035300" cy="8597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context model of a system may be represented using </a:t>
            </a:r>
            <a:r>
              <a:rPr lang="en-US" sz="2000" b="0" u="sng" dirty="0" smtClean="0">
                <a:solidFill>
                  <a:schemeClr val="tx1"/>
                </a:solidFill>
                <a:latin typeface="Calibri" panose="020F0502020204030204" charset="0"/>
                <a:cs typeface="Calibri" panose="020F0502020204030204" charset="0"/>
              </a:rPr>
              <a:t>associations</a:t>
            </a:r>
            <a:r>
              <a:rPr lang="en-US" sz="2000" b="0" dirty="0" smtClean="0">
                <a:solidFill>
                  <a:schemeClr val="tx1"/>
                </a:solidFill>
                <a:latin typeface="Calibri" panose="020F0502020204030204" charset="0"/>
                <a:cs typeface="Calibri" panose="020F0502020204030204" charset="0"/>
              </a:rPr>
              <a:t>.</a:t>
            </a:r>
            <a:endParaRPr lang="en-US" sz="2000" b="0" dirty="0" smtClean="0">
              <a:solidFill>
                <a:schemeClr val="tx1"/>
              </a:solidFill>
              <a:latin typeface="Calibri" panose="020F0502020204030204" charset="0"/>
              <a:cs typeface="Calibri" panose="020F0502020204030204" charset="0"/>
            </a:endParaRPr>
          </a:p>
        </p:txBody>
      </p:sp>
      <p:sp>
        <p:nvSpPr>
          <p:cNvPr id="5" name="Content Placeholder 2"/>
          <p:cNvSpPr>
            <a:spLocks noGrp="1"/>
          </p:cNvSpPr>
          <p:nvPr/>
        </p:nvSpPr>
        <p:spPr>
          <a:xfrm>
            <a:off x="80645" y="4076700"/>
            <a:ext cx="3622675" cy="137160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You can document the environment of the system using a simple </a:t>
            </a:r>
            <a:r>
              <a:rPr lang="en-US" sz="2000" b="0" u="sng" dirty="0" smtClean="0">
                <a:solidFill>
                  <a:schemeClr val="tx1"/>
                </a:solidFill>
                <a:latin typeface="Calibri" panose="020F0502020204030204" charset="0"/>
                <a:cs typeface="Calibri" panose="020F0502020204030204" charset="0"/>
              </a:rPr>
              <a:t>block diagram</a:t>
            </a:r>
            <a:r>
              <a:rPr lang="en-US" sz="2000" b="0" dirty="0" smtClean="0">
                <a:solidFill>
                  <a:schemeClr val="tx1"/>
                </a:solidFill>
                <a:latin typeface="Calibri" panose="020F0502020204030204" charset="0"/>
                <a:cs typeface="Calibri" panose="020F0502020204030204" charset="0"/>
              </a:rPr>
              <a:t>, showing the entities in the system and their associations.</a:t>
            </a:r>
            <a:endParaRPr lang="en-US" sz="2000" b="0" dirty="0" smtClean="0">
              <a:solidFill>
                <a:schemeClr val="tx1"/>
              </a:solidFill>
              <a:latin typeface="Calibri" panose="020F0502020204030204" charset="0"/>
              <a:cs typeface="Calibri" panose="020F0502020204030204" charset="0"/>
            </a:endParaRPr>
          </a:p>
        </p:txBody>
      </p:sp>
      <p:sp>
        <p:nvSpPr>
          <p:cNvPr id="6" name="Content Placeholder 2"/>
          <p:cNvSpPr>
            <a:spLocks noGrp="1"/>
          </p:cNvSpPr>
          <p:nvPr/>
        </p:nvSpPr>
        <p:spPr>
          <a:xfrm>
            <a:off x="109220" y="2522220"/>
            <a:ext cx="2464435" cy="155765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Associations simply show that there are some relationships between the entities involved in the association.</a:t>
            </a:r>
            <a:endParaRPr lang="en-US" sz="2000" b="0" dirty="0" smtClean="0">
              <a:solidFill>
                <a:schemeClr val="tx1"/>
              </a:solidFill>
              <a:latin typeface="Calibri" panose="020F0502020204030204" charset="0"/>
              <a:cs typeface="Calibri" panose="020F0502020204030204" charset="0"/>
            </a:endParaRPr>
          </a:p>
        </p:txBody>
      </p:sp>
      <p:sp>
        <p:nvSpPr>
          <p:cNvPr id="7" name="Content Placeholder 2"/>
          <p:cNvSpPr>
            <a:spLocks noGrp="1"/>
          </p:cNvSpPr>
          <p:nvPr/>
        </p:nvSpPr>
        <p:spPr>
          <a:xfrm>
            <a:off x="109220" y="5423535"/>
            <a:ext cx="8898890" cy="113347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Fig. 7.1 shows that the systems in the environment of each weather station are a weather information system, an onboard satellite system, and a control system. The cardinality information on the link shows that there is a single control system but several weather stations, one satellite, and one general weather information system.</a:t>
            </a:r>
            <a:endParaRPr lang="en-US" sz="2000" b="0" dirty="0" smtClean="0">
              <a:solidFill>
                <a:schemeClr val="tx1"/>
              </a:solidFill>
              <a:latin typeface="Calibri" panose="020F0502020204030204" charset="0"/>
              <a:cs typeface="Calibri" panose="020F0502020204030204" charset="0"/>
            </a:endParaRPr>
          </a:p>
        </p:txBody>
      </p:sp>
      <p:pic>
        <p:nvPicPr>
          <p:cNvPr id="8" name="图片 7"/>
          <p:cNvPicPr>
            <a:picLocks noChangeAspect="1"/>
          </p:cNvPicPr>
          <p:nvPr/>
        </p:nvPicPr>
        <p:blipFill>
          <a:blip r:embed="rId4"/>
          <a:stretch>
            <a:fillRect/>
          </a:stretch>
        </p:blipFill>
        <p:spPr>
          <a:xfrm>
            <a:off x="7339965" y="1454785"/>
            <a:ext cx="1495425" cy="64770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5053965" y="678815"/>
            <a:ext cx="4012565" cy="5995670"/>
          </a:xfrm>
          <a:prstGeom prst="rect">
            <a:avLst/>
          </a:prstGeom>
        </p:spPr>
      </p:pic>
      <p:sp>
        <p:nvSpPr>
          <p:cNvPr id="15363" name="Rectangle 3"/>
          <p:cNvSpPr>
            <a:spLocks noGrp="1" noRot="1"/>
          </p:cNvSpPr>
          <p:nvPr>
            <p:ph type="subTitle" idx="1"/>
            <p:custDataLst>
              <p:tags r:id="rId2"/>
            </p:custDataLst>
          </p:nvPr>
        </p:nvSpPr>
        <p:spPr>
          <a:xfrm>
            <a:off x="88900" y="685165"/>
            <a:ext cx="5260340" cy="56007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Weather station use case</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气象站用例</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7" name="Content Placeholder 2"/>
          <p:cNvSpPr>
            <a:spLocks noGrp="1"/>
          </p:cNvSpPr>
          <p:nvPr/>
        </p:nvSpPr>
        <p:spPr>
          <a:xfrm>
            <a:off x="88900" y="1604010"/>
            <a:ext cx="5260340" cy="401828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When model the </a:t>
            </a:r>
            <a:r>
              <a:rPr lang="en-US" sz="2000" b="0" u="sng" dirty="0" smtClean="0">
                <a:solidFill>
                  <a:schemeClr val="tx1"/>
                </a:solidFill>
                <a:latin typeface="Calibri" panose="020F0502020204030204" charset="0"/>
                <a:cs typeface="Calibri" panose="020F0502020204030204" charset="0"/>
              </a:rPr>
              <a:t>interactions</a:t>
            </a:r>
            <a:r>
              <a:rPr lang="en-US" sz="2000" b="0" dirty="0" smtClean="0">
                <a:solidFill>
                  <a:schemeClr val="tx1"/>
                </a:solidFill>
                <a:latin typeface="Calibri" panose="020F0502020204030204" charset="0"/>
                <a:cs typeface="Calibri" panose="020F0502020204030204" charset="0"/>
              </a:rPr>
              <a:t> of a system with its environment, one way is to use a use case model. Each use case represents an interaction with the system. Each possible interaction is named in an ellipse, and the external entity is represented by a stick figure.</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use case model for the weather station is shown in Figure 7.2. This shows that the weather station interacts with the weather information system to report weather data and the status of the weather station hardware. Other interactions are with a control system that can issue specific weather station control commands. The stick figure is used in the UML to represent other systems as well as human users.</a:t>
            </a:r>
            <a:endParaRPr lang="en-US" sz="2000" b="0" dirty="0" smtClean="0">
              <a:solidFill>
                <a:schemeClr val="tx1"/>
              </a:solidFill>
              <a:latin typeface="Calibri" panose="020F0502020204030204" charset="0"/>
              <a:cs typeface="Calibri" panose="020F0502020204030204" charset="0"/>
            </a:endParaRPr>
          </a:p>
        </p:txBody>
      </p:sp>
      <p:sp>
        <p:nvSpPr>
          <p:cNvPr id="3" name="Content Placeholder 2"/>
          <p:cNvSpPr>
            <a:spLocks noGrp="1"/>
          </p:cNvSpPr>
          <p:nvPr/>
        </p:nvSpPr>
        <p:spPr>
          <a:xfrm>
            <a:off x="72390" y="5605780"/>
            <a:ext cx="6906895" cy="109601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Each of these use cases should be described in</a:t>
            </a:r>
            <a:r>
              <a:rPr lang="en-US" sz="2000" b="0" u="sng" dirty="0" smtClean="0">
                <a:solidFill>
                  <a:schemeClr val="tx1"/>
                </a:solidFill>
                <a:latin typeface="Calibri" panose="020F0502020204030204" charset="0"/>
                <a:cs typeface="Calibri" panose="020F0502020204030204" charset="0"/>
              </a:rPr>
              <a:t> structured natural language.</a:t>
            </a:r>
            <a:r>
              <a:rPr lang="en-US" sz="2000" b="0" dirty="0" smtClean="0">
                <a:solidFill>
                  <a:schemeClr val="tx1"/>
                </a:solidFill>
                <a:latin typeface="Calibri" panose="020F0502020204030204" charset="0"/>
                <a:cs typeface="Calibri" panose="020F0502020204030204" charset="0"/>
              </a:rPr>
              <a:t> This helps designers identify objects in the system and gives them an understanding of what the system is intended to do. Figure 7.3 shows the Report weather use case.</a:t>
            </a:r>
            <a:endParaRPr lang="en-US" sz="2000" b="0" dirty="0" smtClean="0">
              <a:solidFill>
                <a:schemeClr val="tx1"/>
              </a:solidFill>
              <a:latin typeface="Calibri" panose="020F0502020204030204" charset="0"/>
              <a:cs typeface="Calibri" panose="020F0502020204030204" charset="0"/>
            </a:endParaRPr>
          </a:p>
        </p:txBody>
      </p:sp>
      <p:pic>
        <p:nvPicPr>
          <p:cNvPr id="5" name="图片 4"/>
          <p:cNvPicPr>
            <a:picLocks noChangeAspect="1"/>
          </p:cNvPicPr>
          <p:nvPr/>
        </p:nvPicPr>
        <p:blipFill>
          <a:blip r:embed="rId4"/>
          <a:stretch>
            <a:fillRect/>
          </a:stretch>
        </p:blipFill>
        <p:spPr>
          <a:xfrm>
            <a:off x="5216525" y="2922905"/>
            <a:ext cx="1724025" cy="43815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52197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Use case description</a:t>
            </a:r>
            <a:r>
              <a:rPr lang="en-US" altLang="zh-CN" sz="2700" dirty="0">
                <a:solidFill>
                  <a:schemeClr val="accent1">
                    <a:lumMod val="75000"/>
                  </a:schemeClr>
                </a:solidFill>
                <a:ea typeface="宋体" panose="02010600030101010101" pitchFamily="2" charset="-122"/>
                <a:sym typeface="+mn-ea"/>
              </a:rPr>
              <a:t>-</a:t>
            </a:r>
            <a:r>
              <a:rPr lang="zh-CN" altLang="en-US" sz="2700" dirty="0">
                <a:solidFill>
                  <a:schemeClr val="accent1">
                    <a:lumMod val="75000"/>
                  </a:schemeClr>
                </a:solidFill>
                <a:ea typeface="宋体" panose="02010600030101010101" pitchFamily="2" charset="-122"/>
                <a:sym typeface="+mn-ea"/>
              </a:rPr>
              <a:t>Report weather</a:t>
            </a:r>
            <a:r>
              <a:rPr lang="zh-CN" altLang="en-US"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用例描述</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报告天气</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graphicFrame>
        <p:nvGraphicFramePr>
          <p:cNvPr id="5" name="Content Placeholder 4"/>
          <p:cNvGraphicFramePr>
            <a:graphicFrameLocks noGrp="1"/>
          </p:cNvGraphicFramePr>
          <p:nvPr>
            <p:custDataLst>
              <p:tags r:id="rId3"/>
            </p:custDataLst>
          </p:nvPr>
        </p:nvGraphicFramePr>
        <p:xfrm>
          <a:off x="95250" y="1183640"/>
          <a:ext cx="8976995" cy="5533390"/>
        </p:xfrm>
        <a:graphic>
          <a:graphicData uri="http://schemas.openxmlformats.org/drawingml/2006/table">
            <a:tbl>
              <a:tblPr firstRow="1" bandRow="1">
                <a:effectLst/>
                <a:tableStyleId>{5940675A-B579-460E-94D1-54222C63F5DA}</a:tableStyleId>
              </a:tblPr>
              <a:tblGrid>
                <a:gridCol w="1375410"/>
                <a:gridCol w="7601585"/>
              </a:tblGrid>
              <a:tr h="412750">
                <a:tc>
                  <a:txBody>
                    <a:bodyPr/>
                    <a:p>
                      <a:pPr algn="ctr"/>
                      <a:r>
                        <a:rPr lang="en-US" sz="2000" b="1" dirty="0" smtClean="0">
                          <a:solidFill>
                            <a:sysClr val="window" lastClr="FFFFFF"/>
                          </a:solidFill>
                          <a:latin typeface="Calibri" panose="020F0502020204030204" charset="0"/>
                        </a:rPr>
                        <a:t>System</a:t>
                      </a:r>
                      <a:endParaRPr lang="en-US" sz="20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r>
                        <a:rPr lang="en-US" sz="2000" b="1" dirty="0" smtClean="0">
                          <a:solidFill>
                            <a:sysClr val="window" lastClr="FFFFFF"/>
                          </a:solidFill>
                          <a:latin typeface="Calibri" panose="020F0502020204030204" charset="0"/>
                        </a:rPr>
                        <a:t>Weather station</a:t>
                      </a:r>
                      <a:endParaRPr lang="en-US" sz="2000" b="1" dirty="0" smtClean="0">
                        <a:solidFill>
                          <a:sysClr val="window" lastClr="FFFFFF"/>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396240">
                <a:tc>
                  <a:txBody>
                    <a:bodyPr/>
                    <a:p>
                      <a:pPr algn="l"/>
                      <a:r>
                        <a:rPr lang="en-US" sz="2000" dirty="0" smtClean="0">
                          <a:solidFill>
                            <a:sysClr val="windowText" lastClr="000000"/>
                          </a:solidFill>
                          <a:latin typeface="Calibri" panose="020F0502020204030204" charset="0"/>
                        </a:rPr>
                        <a:t>Use case</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r>
                        <a:rPr lang="en-US" sz="2000" dirty="0" smtClean="0">
                          <a:solidFill>
                            <a:sysClr val="windowText" lastClr="000000"/>
                          </a:solidFill>
                          <a:latin typeface="Calibri" panose="020F0502020204030204" charset="0"/>
                        </a:rPr>
                        <a:t>Report weather</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396240">
                <a:tc>
                  <a:txBody>
                    <a:bodyPr/>
                    <a:p>
                      <a:pPr algn="l"/>
                      <a:r>
                        <a:rPr lang="en-US" sz="2000" dirty="0" smtClean="0">
                          <a:solidFill>
                            <a:sysClr val="windowText" lastClr="000000"/>
                          </a:solidFill>
                          <a:latin typeface="Calibri" panose="020F0502020204030204" charset="0"/>
                        </a:rPr>
                        <a:t>Actors</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r>
                        <a:rPr lang="en-US" sz="2000" kern="1200" dirty="0" smtClean="0">
                          <a:solidFill>
                            <a:sysClr val="windowText" lastClr="000000"/>
                          </a:solidFill>
                          <a:latin typeface="Calibri" panose="020F0502020204030204" charset="0"/>
                          <a:ea typeface="+mn-ea"/>
                          <a:cs typeface="+mn-ea"/>
                        </a:rPr>
                        <a:t>Weather information system, Weather station</a:t>
                      </a:r>
                      <a:r>
                        <a:rPr lang="en-GB" sz="2000" dirty="0" smtClean="0">
                          <a:solidFill>
                            <a:sysClr val="windowText" lastClr="000000"/>
                          </a:solidFill>
                          <a:latin typeface="Calibri" panose="020F0502020204030204" charset="0"/>
                        </a:rPr>
                        <a:t> </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2225040">
                <a:tc>
                  <a:txBody>
                    <a:bodyPr/>
                    <a:p>
                      <a:pPr algn="l"/>
                      <a:r>
                        <a:rPr lang="en-US" sz="2000" dirty="0" smtClean="0">
                          <a:solidFill>
                            <a:sysClr val="windowText" lastClr="000000"/>
                          </a:solidFill>
                          <a:latin typeface="Calibri" panose="020F0502020204030204" charset="0"/>
                        </a:rPr>
                        <a:t>Description</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r>
                        <a:rPr lang="en-US" sz="2000" kern="1200" dirty="0" smtClean="0">
                          <a:solidFill>
                            <a:sysClr val="windowText" lastClr="000000"/>
                          </a:solidFill>
                          <a:latin typeface="Calibri" panose="020F0502020204030204" charset="0"/>
                          <a:ea typeface="+mn-ea"/>
                          <a:cs typeface="+mn-ea"/>
                        </a:rPr>
                        <a:t>The weather station sends a summary of the weather data that has been collected from the instruments in the collection period to the weather information system. The data sent are the maximum, minimum, and average ground and air temperatures; the maximum, minimum, and average air pressures; the maximum, minimum, and average wind speeds; the total rainfall; and the wind direction as sampled at 5-minute intervals.</a:t>
                      </a:r>
                      <a:r>
                        <a:rPr lang="en-GB" sz="2000" dirty="0" smtClean="0">
                          <a:solidFill>
                            <a:sysClr val="windowText" lastClr="000000"/>
                          </a:solidFill>
                          <a:latin typeface="Calibri" panose="020F0502020204030204" charset="0"/>
                        </a:rPr>
                        <a:t> </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701040">
                <a:tc>
                  <a:txBody>
                    <a:bodyPr/>
                    <a:p>
                      <a:pPr algn="l"/>
                      <a:r>
                        <a:rPr lang="en-US" sz="2000" dirty="0" smtClean="0">
                          <a:solidFill>
                            <a:sysClr val="windowText" lastClr="000000"/>
                          </a:solidFill>
                          <a:latin typeface="Calibri" panose="020F0502020204030204" charset="0"/>
                        </a:rPr>
                        <a:t>Stimulus</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r>
                        <a:rPr lang="en-US" sz="2000" kern="1200" dirty="0" smtClean="0">
                          <a:solidFill>
                            <a:sysClr val="windowText" lastClr="000000"/>
                          </a:solidFill>
                          <a:latin typeface="Calibri" panose="020F0502020204030204" charset="0"/>
                          <a:ea typeface="+mn-ea"/>
                          <a:cs typeface="+mn-ea"/>
                        </a:rPr>
                        <a:t>The weather information system establishes a satellite communication link with the weather station and requests transmission of the data.</a:t>
                      </a:r>
                      <a:r>
                        <a:rPr lang="en-GB" sz="2000" dirty="0" smtClean="0">
                          <a:solidFill>
                            <a:sysClr val="windowText" lastClr="000000"/>
                          </a:solidFill>
                          <a:latin typeface="Calibri" panose="020F0502020204030204" charset="0"/>
                        </a:rPr>
                        <a:t> </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320040">
                <a:tc>
                  <a:txBody>
                    <a:bodyPr/>
                    <a:p>
                      <a:pPr algn="l"/>
                      <a:r>
                        <a:rPr lang="en-US" sz="2000" dirty="0" smtClean="0">
                          <a:solidFill>
                            <a:sysClr val="windowText" lastClr="000000"/>
                          </a:solidFill>
                          <a:latin typeface="Calibri" panose="020F0502020204030204" charset="0"/>
                        </a:rPr>
                        <a:t>Response</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r>
                        <a:rPr lang="en-US" sz="2000" kern="1200" dirty="0" smtClean="0">
                          <a:solidFill>
                            <a:sysClr val="windowText" lastClr="000000"/>
                          </a:solidFill>
                          <a:latin typeface="Calibri" panose="020F0502020204030204" charset="0"/>
                          <a:ea typeface="+mn-ea"/>
                          <a:cs typeface="+mn-ea"/>
                        </a:rPr>
                        <a:t>The summarized data is sent to the weather information system.</a:t>
                      </a:r>
                      <a:r>
                        <a:rPr lang="en-GB" sz="2000" dirty="0" smtClean="0">
                          <a:solidFill>
                            <a:sysClr val="windowText" lastClr="000000"/>
                          </a:solidFill>
                          <a:latin typeface="Calibri" panose="020F0502020204030204" charset="0"/>
                        </a:rPr>
                        <a:t> </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005840">
                <a:tc>
                  <a:txBody>
                    <a:bodyPr/>
                    <a:p>
                      <a:pPr algn="l"/>
                      <a:r>
                        <a:rPr lang="en-US" sz="2000" dirty="0" smtClean="0">
                          <a:solidFill>
                            <a:sysClr val="windowText" lastClr="000000"/>
                          </a:solidFill>
                          <a:latin typeface="Calibri" panose="020F0502020204030204" charset="0"/>
                        </a:rPr>
                        <a:t>Comments</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r>
                        <a:rPr lang="en-US" sz="2000" kern="1200" dirty="0" smtClean="0">
                          <a:solidFill>
                            <a:sysClr val="windowText" lastClr="000000"/>
                          </a:solidFill>
                          <a:latin typeface="Calibri" panose="020F0502020204030204" charset="0"/>
                          <a:ea typeface="+mn-ea"/>
                          <a:cs typeface="+mn-ea"/>
                        </a:rPr>
                        <a:t>Weather stations are usually asked to report once per hour but this frequency may differ from one station to another and may be modified in future.</a:t>
                      </a:r>
                      <a:r>
                        <a:rPr lang="en-GB" sz="2000" dirty="0" smtClean="0">
                          <a:solidFill>
                            <a:sysClr val="windowText" lastClr="000000"/>
                          </a:solidFill>
                          <a:latin typeface="Calibri" panose="020F0502020204030204" charset="0"/>
                        </a:rPr>
                        <a:t> </a:t>
                      </a:r>
                      <a:endParaRPr lang="en-US" sz="2000" dirty="0" smtClean="0">
                        <a:solidFill>
                          <a:sysClr val="windowText" lastClr="000000"/>
                        </a:solidFill>
                        <a:latin typeface="Calibri" panose="020F050202020403020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pic>
        <p:nvPicPr>
          <p:cNvPr id="2" name="图片 1"/>
          <p:cNvPicPr>
            <a:picLocks noChangeAspect="1"/>
          </p:cNvPicPr>
          <p:nvPr/>
        </p:nvPicPr>
        <p:blipFill>
          <a:blip r:embed="rId4"/>
          <a:stretch>
            <a:fillRect/>
          </a:stretch>
        </p:blipFill>
        <p:spPr>
          <a:xfrm>
            <a:off x="7058660" y="1215390"/>
            <a:ext cx="1771650" cy="69532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2795"/>
            <a:ext cx="8977630" cy="5581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Architectural design</a:t>
            </a:r>
            <a:r>
              <a:rPr lang="en-US" altLang="zh-CN" sz="3200" dirty="0">
                <a:solidFill>
                  <a:schemeClr val="accent1">
                    <a:lumMod val="75000"/>
                  </a:schemeClr>
                </a:solidFill>
                <a:ea typeface="宋体" panose="02010600030101010101" pitchFamily="2" charset="-122"/>
                <a:sym typeface="+mn-ea"/>
              </a:rPr>
              <a:t>  </a:t>
            </a:r>
            <a:r>
              <a:rPr lang="zh-CN" altLang="en-US" sz="2400" kern="1200" dirty="0">
                <a:solidFill>
                  <a:schemeClr val="accent1">
                    <a:lumMod val="75000"/>
                  </a:schemeClr>
                </a:solidFill>
                <a:latin typeface="黑体" panose="02010609060101010101" pitchFamily="49" charset="-122"/>
                <a:ea typeface="黑体" panose="02010609060101010101" pitchFamily="49" charset="-122"/>
                <a:cs typeface="Arial" panose="020B0604020202020204"/>
                <a:sym typeface="+mn-ea"/>
              </a:rPr>
              <a:t>结构设计</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2705" y="1313180"/>
            <a:ext cx="9014460" cy="51238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Once the interactions between the software system and the system’s environment have been defined, you use this information as a basis for designing the system architecture.  </a:t>
            </a:r>
            <a:r>
              <a:rPr lang="zh-CN" altLang="en-US" sz="2400" dirty="0">
                <a:solidFill>
                  <a:schemeClr val="accent1">
                    <a:lumMod val="75000"/>
                  </a:schemeClr>
                </a:solidFill>
                <a:latin typeface="黑体" panose="02010609060101010101" pitchFamily="49" charset="-122"/>
                <a:ea typeface="黑体" panose="02010609060101010101" pitchFamily="49" charset="-122"/>
              </a:rPr>
              <a:t>定义好软件与环境的交互后，该信息作为设计体系结构的基础</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a:p>
            <a:pPr>
              <a:lnSpc>
                <a:spcPct val="90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You identify the major components that make up the system and their interactions. You may then design the system organization using an architectural pattern such as a layered or client–server model.  </a:t>
            </a:r>
            <a:r>
              <a:rPr lang="zh-CN" altLang="en-US" sz="2400" dirty="0">
                <a:solidFill>
                  <a:schemeClr val="accent1">
                    <a:lumMod val="75000"/>
                  </a:schemeClr>
                </a:solidFill>
                <a:latin typeface="黑体" panose="02010609060101010101" pitchFamily="49" charset="-122"/>
                <a:ea typeface="黑体" panose="02010609060101010101" pitchFamily="49" charset="-122"/>
              </a:rPr>
              <a:t>识别出组成系统的主要构件及交互后</a:t>
            </a:r>
            <a:r>
              <a:rPr lang="en-US" altLang="zh-CN" sz="2400" dirty="0">
                <a:solidFill>
                  <a:schemeClr val="accent1">
                    <a:lumMod val="75000"/>
                  </a:schemeClr>
                </a:solidFill>
                <a:latin typeface="黑体" panose="02010609060101010101" pitchFamily="49" charset="-122"/>
                <a:ea typeface="黑体" panose="02010609060101010101" pitchFamily="49" charset="-122"/>
              </a:rPr>
              <a:t>,</a:t>
            </a:r>
            <a:r>
              <a:rPr lang="zh-CN" altLang="en-US" sz="2400" dirty="0">
                <a:solidFill>
                  <a:schemeClr val="accent1">
                    <a:lumMod val="75000"/>
                  </a:schemeClr>
                </a:solidFill>
                <a:latin typeface="黑体" panose="02010609060101010101" pitchFamily="49" charset="-122"/>
                <a:ea typeface="黑体" panose="02010609060101010101" pitchFamily="49" charset="-122"/>
              </a:rPr>
              <a:t>再利用一种体系结构模式（如</a:t>
            </a:r>
            <a:r>
              <a:rPr lang="en-US" altLang="zh-CN" sz="2400" dirty="0">
                <a:solidFill>
                  <a:schemeClr val="accent1">
                    <a:lumMod val="75000"/>
                  </a:schemeClr>
                </a:solidFill>
                <a:latin typeface="黑体" panose="02010609060101010101" pitchFamily="49" charset="-122"/>
                <a:ea typeface="黑体" panose="02010609060101010101" pitchFamily="49" charset="-122"/>
              </a:rPr>
              <a:t>layered,C/S</a:t>
            </a:r>
            <a:r>
              <a:rPr lang="zh-CN" altLang="en-US" sz="2400" dirty="0">
                <a:solidFill>
                  <a:schemeClr val="accent1">
                    <a:lumMod val="75000"/>
                  </a:schemeClr>
                </a:solidFill>
                <a:latin typeface="黑体" panose="02010609060101010101" pitchFamily="49" charset="-122"/>
                <a:ea typeface="黑体" panose="02010609060101010101" pitchFamily="49" charset="-122"/>
              </a:rPr>
              <a:t>）来设计系统的组织</a:t>
            </a:r>
            <a:endParaRPr lang="zh-CN" altLang="en-US" sz="2400" dirty="0">
              <a:solidFill>
                <a:schemeClr val="accent1">
                  <a:lumMod val="75000"/>
                </a:schemeClr>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8675"/>
            <a:ext cx="1220470" cy="1221740"/>
          </a:xfrm>
        </p:spPr>
        <p:txBody>
          <a:bodyPr vert="horz" wrap="square" lIns="91440" tIns="45720" rIns="91440" bIns="45720" anchor="t" anchorCtr="0">
            <a:noAutofit/>
          </a:bodyPr>
          <a:p>
            <a:pPr marL="0" indent="0" algn="l" eaLnBrk="1" latinLnBrk="0" hangingPunct="1">
              <a:lnSpc>
                <a:spcPct val="100000"/>
              </a:lnSpc>
              <a:spcBef>
                <a:spcPts val="1200"/>
              </a:spcBef>
              <a:buSzTx/>
              <a:buFont typeface="Wingdings" panose="05000000000000000000" pitchFamily="2" charset="2"/>
              <a:buNone/>
            </a:pPr>
            <a:r>
              <a:rPr lang="zh-CN" altLang="en-US" sz="1400" dirty="0">
                <a:solidFill>
                  <a:schemeClr val="accent1">
                    <a:lumMod val="75000"/>
                  </a:schemeClr>
                </a:solidFill>
                <a:ea typeface="宋体" panose="02010600030101010101" pitchFamily="2" charset="-122"/>
                <a:sym typeface="+mn-ea"/>
              </a:rPr>
              <a:t>High-level architecture of the weather station</a:t>
            </a:r>
            <a:endParaRPr lang="zh-CN" altLang="en-US" sz="14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237615" y="694055"/>
            <a:ext cx="7787640" cy="3241675"/>
          </a:xfrm>
          <a:prstGeom prst="rect">
            <a:avLst/>
          </a:prstGeom>
        </p:spPr>
      </p:pic>
      <p:sp>
        <p:nvSpPr>
          <p:cNvPr id="5" name="Content Placeholder 2"/>
          <p:cNvSpPr>
            <a:spLocks noGrp="1"/>
          </p:cNvSpPr>
          <p:nvPr/>
        </p:nvSpPr>
        <p:spPr>
          <a:xfrm>
            <a:off x="72390" y="3955415"/>
            <a:ext cx="8992235" cy="136906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high-level architectural design for the weather station software is shown in Figure 7.4. The weather station is composed of independent subsystems that communicate by</a:t>
            </a:r>
            <a:r>
              <a:rPr lang="en-US" sz="2000" b="0" u="sng" dirty="0" smtClean="0">
                <a:solidFill>
                  <a:schemeClr val="tx1"/>
                </a:solidFill>
                <a:latin typeface="Calibri" panose="020F0502020204030204" charset="0"/>
                <a:cs typeface="Calibri" panose="020F0502020204030204" charset="0"/>
              </a:rPr>
              <a:t> broadcasting</a:t>
            </a:r>
            <a:r>
              <a:rPr lang="en-US" sz="2000" b="0" dirty="0" smtClean="0">
                <a:solidFill>
                  <a:schemeClr val="tx1"/>
                </a:solidFill>
                <a:latin typeface="Calibri" panose="020F0502020204030204" charset="0"/>
                <a:cs typeface="Calibri" panose="020F0502020204030204" charset="0"/>
              </a:rPr>
              <a:t> messages on a common infrastructure, shown as Communication link in Figure 7.4. Each subsystem listens for messages on that infrastructure and picks up the messages that are intended for them. </a:t>
            </a:r>
            <a:endParaRPr lang="en-US" sz="2000" b="0" dirty="0" smtClean="0">
              <a:solidFill>
                <a:schemeClr val="tx1"/>
              </a:solidFill>
              <a:latin typeface="Calibri" panose="020F0502020204030204" charset="0"/>
              <a:cs typeface="Calibri" panose="020F0502020204030204" charset="0"/>
            </a:endParaRPr>
          </a:p>
        </p:txBody>
      </p:sp>
      <p:sp>
        <p:nvSpPr>
          <p:cNvPr id="7" name="Content Placeholder 2"/>
          <p:cNvSpPr>
            <a:spLocks noGrp="1"/>
          </p:cNvSpPr>
          <p:nvPr/>
        </p:nvSpPr>
        <p:spPr>
          <a:xfrm>
            <a:off x="55880" y="5302250"/>
            <a:ext cx="8992235" cy="137731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When the </a:t>
            </a:r>
            <a:r>
              <a:rPr lang="en-US" sz="2000" b="0" u="sng" dirty="0" smtClean="0">
                <a:solidFill>
                  <a:schemeClr val="tx1"/>
                </a:solidFill>
                <a:latin typeface="Calibri" panose="020F0502020204030204" charset="0"/>
                <a:cs typeface="Calibri" panose="020F0502020204030204" charset="0"/>
              </a:rPr>
              <a:t>communications</a:t>
            </a:r>
            <a:r>
              <a:rPr lang="en-US" sz="2000" b="0" dirty="0" smtClean="0">
                <a:solidFill>
                  <a:schemeClr val="tx1"/>
                </a:solidFill>
                <a:latin typeface="Calibri" panose="020F0502020204030204" charset="0"/>
                <a:cs typeface="Calibri" panose="020F0502020204030204" charset="0"/>
              </a:rPr>
              <a:t> subsystem receives a control command, such as shutdown, the command is picked up by each of the other subsystems, which then shut themselves down in the correct way. The key benefit of this architecture is that it is easy to support different configurations of subsystems because the sender of a message does not need to address the message to a particular subsystem.</a:t>
            </a:r>
            <a:endParaRPr lang="en-US" sz="2000" b="0" dirty="0" smtClean="0">
              <a:solidFill>
                <a:schemeClr val="tx1"/>
              </a:solidFill>
              <a:latin typeface="Calibri" panose="020F0502020204030204" charset="0"/>
              <a:cs typeface="Calibri" panose="020F0502020204030204" charset="0"/>
            </a:endParaRPr>
          </a:p>
        </p:txBody>
      </p:sp>
      <p:pic>
        <p:nvPicPr>
          <p:cNvPr id="2" name="图片 1"/>
          <p:cNvPicPr>
            <a:picLocks noChangeAspect="1"/>
          </p:cNvPicPr>
          <p:nvPr/>
        </p:nvPicPr>
        <p:blipFill>
          <a:blip r:embed="rId4"/>
          <a:stretch>
            <a:fillRect/>
          </a:stretch>
        </p:blipFill>
        <p:spPr>
          <a:xfrm>
            <a:off x="7663180" y="278130"/>
            <a:ext cx="1435735" cy="53911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28675"/>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rgbClr val="0070C0"/>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Architecture of data collection system</a:t>
            </a:r>
            <a:endParaRPr lang="zh-CN" altLang="en-US" sz="31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2548890" y="1751330"/>
            <a:ext cx="6431915" cy="4220845"/>
          </a:xfrm>
          <a:prstGeom prst="rect">
            <a:avLst/>
          </a:prstGeom>
        </p:spPr>
      </p:pic>
      <p:sp>
        <p:nvSpPr>
          <p:cNvPr id="5" name="Content Placeholder 2"/>
          <p:cNvSpPr>
            <a:spLocks noGrp="1"/>
          </p:cNvSpPr>
          <p:nvPr/>
        </p:nvSpPr>
        <p:spPr>
          <a:xfrm>
            <a:off x="144145" y="1443990"/>
            <a:ext cx="2453005" cy="48393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Figure 7.5 shows the architecture of the data collection subsystem, which is included in Fig. 7.4.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Transmitter and Receiver objects are concerned with managing communications, and the WeatherData object encapsulates the information that is collected from the instruments and transmitted to the weather information system. </a:t>
            </a:r>
            <a:endParaRPr lang="en-US" sz="2000" b="0" dirty="0" smtClean="0">
              <a:solidFill>
                <a:schemeClr val="tx1"/>
              </a:solidFill>
              <a:latin typeface="Calibri" panose="020F0502020204030204" charset="0"/>
              <a:cs typeface="Calibri" panose="020F0502020204030204" charset="0"/>
            </a:endParaRPr>
          </a:p>
        </p:txBody>
      </p:sp>
      <p:pic>
        <p:nvPicPr>
          <p:cNvPr id="6" name="图片 5"/>
          <p:cNvPicPr>
            <a:picLocks noChangeAspect="1"/>
          </p:cNvPicPr>
          <p:nvPr/>
        </p:nvPicPr>
        <p:blipFill>
          <a:blip r:embed="rId4"/>
          <a:stretch>
            <a:fillRect/>
          </a:stretch>
        </p:blipFill>
        <p:spPr>
          <a:xfrm>
            <a:off x="5772150" y="1507490"/>
            <a:ext cx="1905000" cy="68580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Object class identification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对象类识别</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3340" y="1384935"/>
            <a:ext cx="9013190" cy="52247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Various ways of identifying object classes in object-oriented systems were suggested: </a:t>
            </a:r>
            <a:r>
              <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rPr>
              <a:t>有各种对象类识别方法</a:t>
            </a:r>
            <a:endParaRPr lang="zh-CN" altLang="en-US" sz="22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gn="l">
              <a:lnSpc>
                <a:spcPct val="90000"/>
              </a:lnSpc>
              <a:spcBef>
                <a:spcPts val="600"/>
              </a:spcBef>
              <a:spcAft>
                <a:spcPts val="0"/>
              </a:spcAft>
            </a:pPr>
            <a:r>
              <a:rPr lang="en-GB" sz="2700" b="0" dirty="0" smtClean="0">
                <a:solidFill>
                  <a:schemeClr val="tx1"/>
                </a:solidFill>
                <a:latin typeface="Calibri" panose="020F0502020204030204" charset="0"/>
                <a:cs typeface="Calibri" panose="020F0502020204030204" charset="0"/>
                <a:sym typeface="+mn-ea"/>
              </a:rPr>
              <a:t>Use a </a:t>
            </a:r>
            <a:r>
              <a:rPr lang="en-GB" sz="2700" b="0" u="sng" dirty="0" smtClean="0">
                <a:solidFill>
                  <a:schemeClr val="tx1"/>
                </a:solidFill>
                <a:latin typeface="Calibri" panose="020F0502020204030204" charset="0"/>
                <a:cs typeface="Calibri" panose="020F0502020204030204" charset="0"/>
                <a:sym typeface="+mn-ea"/>
              </a:rPr>
              <a:t>grammatical analysis</a:t>
            </a:r>
            <a:r>
              <a:rPr lang="en-GB" sz="2700" b="0" dirty="0" smtClean="0">
                <a:solidFill>
                  <a:schemeClr val="tx1"/>
                </a:solidFill>
                <a:latin typeface="Calibri" panose="020F0502020204030204" charset="0"/>
                <a:cs typeface="Calibri" panose="020F0502020204030204" charset="0"/>
                <a:sym typeface="+mn-ea"/>
              </a:rPr>
              <a:t> of a natural language description of the system. Objects and attributes are nouns; operations or services are verbs</a:t>
            </a:r>
            <a:r>
              <a:rPr lang="en-US" altLang="en-GB" sz="2700" b="0" dirty="0" smtClean="0">
                <a:solidFill>
                  <a:schemeClr val="tx1"/>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自然语言的语法分析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lvl="1" algn="l">
              <a:lnSpc>
                <a:spcPct val="90000"/>
              </a:lnSpc>
              <a:spcBef>
                <a:spcPts val="600"/>
              </a:spcBef>
              <a:spcAft>
                <a:spcPts val="0"/>
              </a:spcAft>
            </a:pPr>
            <a:r>
              <a:rPr lang="en-US" altLang="en-GB" sz="2700" b="0" dirty="0" smtClean="0">
                <a:solidFill>
                  <a:schemeClr val="tx1"/>
                </a:solidFill>
                <a:latin typeface="Calibri" panose="020F0502020204030204" charset="0"/>
                <a:cs typeface="Calibri" panose="020F0502020204030204" charset="0"/>
                <a:sym typeface="+mn-ea"/>
              </a:rPr>
              <a:t>Use </a:t>
            </a:r>
            <a:r>
              <a:rPr lang="en-US" altLang="en-GB" sz="2700" b="0" u="sng" dirty="0" smtClean="0">
                <a:solidFill>
                  <a:schemeClr val="tx1"/>
                </a:solidFill>
                <a:latin typeface="Calibri" panose="020F0502020204030204" charset="0"/>
                <a:cs typeface="Calibri" panose="020F0502020204030204" charset="0"/>
                <a:sym typeface="+mn-ea"/>
              </a:rPr>
              <a:t>tangible entities</a:t>
            </a:r>
            <a:r>
              <a:rPr lang="en-US" altLang="en-GB" sz="2700" b="0" dirty="0" smtClean="0">
                <a:solidFill>
                  <a:schemeClr val="tx1"/>
                </a:solidFill>
                <a:latin typeface="Calibri" panose="020F0502020204030204" charset="0"/>
                <a:cs typeface="Calibri" panose="020F0502020204030204" charset="0"/>
                <a:sym typeface="+mn-ea"/>
              </a:rPr>
              <a:t> in the application domain such as aircraft, </a:t>
            </a:r>
            <a:r>
              <a:rPr lang="en-US" altLang="en-GB" sz="2700" b="0" u="sng" dirty="0" smtClean="0">
                <a:solidFill>
                  <a:schemeClr val="tx1"/>
                </a:solidFill>
                <a:latin typeface="Calibri" panose="020F0502020204030204" charset="0"/>
                <a:cs typeface="Calibri" panose="020F0502020204030204" charset="0"/>
                <a:sym typeface="+mn-ea"/>
              </a:rPr>
              <a:t>roles</a:t>
            </a:r>
            <a:r>
              <a:rPr lang="en-US" altLang="en-GB" sz="2700" b="0" dirty="0" smtClean="0">
                <a:solidFill>
                  <a:schemeClr val="tx1"/>
                </a:solidFill>
                <a:latin typeface="Calibri" panose="020F0502020204030204" charset="0"/>
                <a:cs typeface="Calibri" panose="020F0502020204030204" charset="0"/>
                <a:sym typeface="+mn-ea"/>
              </a:rPr>
              <a:t> such as manager, </a:t>
            </a:r>
            <a:r>
              <a:rPr lang="en-US" altLang="en-GB" sz="2700" b="0" u="sng" dirty="0" smtClean="0">
                <a:solidFill>
                  <a:schemeClr val="tx1"/>
                </a:solidFill>
                <a:latin typeface="Calibri" panose="020F0502020204030204" charset="0"/>
                <a:cs typeface="Calibri" panose="020F0502020204030204" charset="0"/>
                <a:sym typeface="+mn-ea"/>
              </a:rPr>
              <a:t>events</a:t>
            </a:r>
            <a:r>
              <a:rPr lang="en-US" altLang="en-GB" sz="2700" b="0" dirty="0" smtClean="0">
                <a:solidFill>
                  <a:schemeClr val="tx1"/>
                </a:solidFill>
                <a:latin typeface="Calibri" panose="020F0502020204030204" charset="0"/>
                <a:cs typeface="Calibri" panose="020F0502020204030204" charset="0"/>
                <a:sym typeface="+mn-ea"/>
              </a:rPr>
              <a:t> such as request, </a:t>
            </a:r>
            <a:r>
              <a:rPr lang="en-US" altLang="en-GB" sz="2700" b="0" u="sng" dirty="0" smtClean="0">
                <a:solidFill>
                  <a:schemeClr val="tx1"/>
                </a:solidFill>
                <a:latin typeface="Calibri" panose="020F0502020204030204" charset="0"/>
                <a:cs typeface="Calibri" panose="020F0502020204030204" charset="0"/>
                <a:sym typeface="+mn-ea"/>
              </a:rPr>
              <a:t>interactions</a:t>
            </a:r>
            <a:r>
              <a:rPr lang="en-US" altLang="en-GB" sz="2700" b="0" dirty="0" smtClean="0">
                <a:solidFill>
                  <a:schemeClr val="tx1"/>
                </a:solidFill>
                <a:latin typeface="Calibri" panose="020F0502020204030204" charset="0"/>
                <a:cs typeface="Calibri" panose="020F0502020204030204" charset="0"/>
                <a:sym typeface="+mn-ea"/>
              </a:rPr>
              <a:t> such as meetings, </a:t>
            </a:r>
            <a:r>
              <a:rPr lang="en-US" altLang="en-GB" sz="2700" b="0" u="sng" dirty="0" smtClean="0">
                <a:solidFill>
                  <a:schemeClr val="tx1"/>
                </a:solidFill>
                <a:latin typeface="Calibri" panose="020F0502020204030204" charset="0"/>
                <a:cs typeface="Calibri" panose="020F0502020204030204" charset="0"/>
                <a:sym typeface="+mn-ea"/>
              </a:rPr>
              <a:t>locations</a:t>
            </a:r>
            <a:r>
              <a:rPr lang="en-US" altLang="en-GB" sz="2700" b="0" dirty="0" smtClean="0">
                <a:solidFill>
                  <a:schemeClr val="tx1"/>
                </a:solidFill>
                <a:latin typeface="Calibri" panose="020F0502020204030204" charset="0"/>
                <a:cs typeface="Calibri" panose="020F0502020204030204" charset="0"/>
                <a:sym typeface="+mn-ea"/>
              </a:rPr>
              <a:t> such as offices, </a:t>
            </a:r>
            <a:r>
              <a:rPr lang="en-US" altLang="en-GB" sz="2700" b="0" u="sng" dirty="0" smtClean="0">
                <a:solidFill>
                  <a:schemeClr val="tx1"/>
                </a:solidFill>
                <a:latin typeface="Calibri" panose="020F0502020204030204" charset="0"/>
                <a:cs typeface="Calibri" panose="020F0502020204030204" charset="0"/>
                <a:sym typeface="+mn-ea"/>
              </a:rPr>
              <a:t>organizational units</a:t>
            </a:r>
            <a:r>
              <a:rPr lang="en-US" altLang="en-GB" sz="2700" b="0" dirty="0" smtClean="0">
                <a:solidFill>
                  <a:schemeClr val="tx1"/>
                </a:solidFill>
                <a:latin typeface="Calibri" panose="020F0502020204030204" charset="0"/>
                <a:cs typeface="Calibri" panose="020F0502020204030204" charset="0"/>
                <a:sym typeface="+mn-ea"/>
              </a:rPr>
              <a:t> such as companies, and so on;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其他</a:t>
            </a:r>
            <a:endParaRPr lang="en-US" altLang="en-GB" sz="2700" b="0" dirty="0" smtClean="0">
              <a:solidFill>
                <a:schemeClr val="tx1"/>
              </a:solidFill>
              <a:latin typeface="Calibri" panose="020F0502020204030204" charset="0"/>
              <a:cs typeface="Calibri" panose="020F0502020204030204" charset="0"/>
              <a:sym typeface="+mn-ea"/>
            </a:endParaRPr>
          </a:p>
          <a:p>
            <a:pPr lvl="1" algn="l">
              <a:lnSpc>
                <a:spcPct val="90000"/>
              </a:lnSpc>
              <a:spcBef>
                <a:spcPts val="600"/>
              </a:spcBef>
              <a:spcAft>
                <a:spcPts val="0"/>
              </a:spcAft>
            </a:pPr>
            <a:r>
              <a:rPr lang="en-US" altLang="en-GB" sz="2700" b="0" dirty="0" smtClean="0">
                <a:solidFill>
                  <a:schemeClr val="tx1"/>
                </a:solidFill>
                <a:latin typeface="Calibri" panose="020F0502020204030204" charset="0"/>
                <a:cs typeface="Calibri" panose="020F0502020204030204" charset="0"/>
                <a:sym typeface="+mn-ea"/>
              </a:rPr>
              <a:t>Use a </a:t>
            </a:r>
            <a:r>
              <a:rPr lang="en-US" altLang="en-GB" sz="2700" b="0" u="sng" dirty="0" smtClean="0">
                <a:solidFill>
                  <a:schemeClr val="tx1"/>
                </a:solidFill>
                <a:latin typeface="Calibri" panose="020F0502020204030204" charset="0"/>
                <a:cs typeface="Calibri" panose="020F0502020204030204" charset="0"/>
                <a:sym typeface="+mn-ea"/>
              </a:rPr>
              <a:t>scenario-based analysis</a:t>
            </a:r>
            <a:r>
              <a:rPr lang="en-US" altLang="en-GB" sz="2700" b="0" dirty="0" smtClean="0">
                <a:solidFill>
                  <a:schemeClr val="tx1"/>
                </a:solidFill>
                <a:latin typeface="Calibri" panose="020F0502020204030204" charset="0"/>
                <a:cs typeface="Calibri" panose="020F0502020204030204" charset="0"/>
                <a:sym typeface="+mn-ea"/>
              </a:rPr>
              <a:t> where various scenarios of system use are identified and analyzed in turn. As each scenario is analyzed, the team must identify the required objects, attributes, and operations.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基于场景的分析</a:t>
            </a:r>
            <a:endParaRPr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2790"/>
            <a:ext cx="8977630" cy="5384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In practice</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7785" y="1313180"/>
            <a:ext cx="9003665" cy="54038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Y</a:t>
            </a:r>
            <a:r>
              <a:rPr sz="3200" dirty="0" smtClean="0">
                <a:solidFill>
                  <a:schemeClr val="tx2">
                    <a:lumMod val="75000"/>
                    <a:lumOff val="25000"/>
                  </a:schemeClr>
                </a:solidFill>
                <a:latin typeface="Calibri" panose="020F0502020204030204" charset="0"/>
                <a:cs typeface="Calibri" panose="020F0502020204030204" charset="0"/>
              </a:rPr>
              <a:t>ou have to use several knowledge sources to discover object classes.</a:t>
            </a:r>
            <a:r>
              <a:rPr lang="en-US" sz="3200" dirty="0" smtClean="0">
                <a:solidFill>
                  <a:schemeClr val="tx2">
                    <a:lumMod val="75000"/>
                    <a:lumOff val="2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需要采用多种知识来源</a:t>
            </a:r>
            <a:endParaRPr sz="32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smtClean="0">
                <a:solidFill>
                  <a:schemeClr val="tx1"/>
                </a:solidFill>
                <a:latin typeface="Calibri" panose="020F0502020204030204" charset="0"/>
                <a:cs typeface="Calibri" panose="020F0502020204030204" charset="0"/>
              </a:rPr>
              <a:t>Object classes, attributes, and operations that are initially identified from the informal system description can be a starting point for the design.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以初始从非正式系统描述的识别结果</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对象类、属性、操作</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为起点</a:t>
            </a:r>
            <a:endParaRPr lang="en-US" altLang="en-GB"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smtClean="0">
                <a:solidFill>
                  <a:schemeClr val="tx1"/>
                </a:solidFill>
                <a:latin typeface="Calibri" panose="020F0502020204030204" charset="0"/>
                <a:cs typeface="Calibri" panose="020F0502020204030204" charset="0"/>
              </a:rPr>
              <a:t>Information from application domain knowledge or scenario analysis may then be used to refine and extend the initial objects.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然后采用来自应用领域知识或场景分析的信息，细化和扩展初始对象</a:t>
            </a:r>
            <a:endParaRPr lang="zh-CN" altLang="en-US" sz="28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altLang="en-GB" sz="2800" b="0" dirty="0" smtClean="0">
                <a:solidFill>
                  <a:schemeClr val="tx1"/>
                </a:solidFill>
                <a:latin typeface="Calibri" panose="020F0502020204030204" charset="0"/>
                <a:cs typeface="Calibri" panose="020F0502020204030204" charset="0"/>
              </a:rPr>
              <a:t> This information can be collected from requirements documents, discussions with users, or analyses of existing systems. </a:t>
            </a:r>
            <a:r>
              <a:rPr lang="en-US" altLang="en-GB" sz="24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信息收集来源：需求文档、与用户讨论、分析现有系统 </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194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Weather station object classes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气象站对象类</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21859" name="Rectangle 3"/>
          <p:cNvSpPr>
            <a:spLocks noGrp="1" noChangeArrowheads="1"/>
          </p:cNvSpPr>
          <p:nvPr/>
        </p:nvSpPr>
        <p:spPr>
          <a:xfrm>
            <a:off x="59055" y="1313180"/>
            <a:ext cx="9007475" cy="52755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In the wilderness weather station, object identification is based on the tangible hardware in the system. See Figure 7.6: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基于有形的硬件来识别对象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GB" sz="2600" dirty="0">
                <a:latin typeface="Calibri" panose="020F0502020204030204" charset="0"/>
                <a:cs typeface="Calibri" panose="020F0502020204030204" charset="0"/>
              </a:rPr>
              <a:t>WeatherStation</a:t>
            </a:r>
            <a:r>
              <a:rPr lang="en-US" altLang="en-GB" sz="2600" dirty="0">
                <a:latin typeface="Calibri" panose="020F0502020204030204" charset="0"/>
                <a:cs typeface="Calibri" panose="020F0502020204030204" charset="0"/>
              </a:rPr>
              <a:t>:</a:t>
            </a:r>
            <a:r>
              <a:rPr lang="en-GB" sz="2600" b="0" dirty="0">
                <a:latin typeface="Calibri" panose="020F0502020204030204" charset="0"/>
                <a:cs typeface="Calibri" panose="020F0502020204030204" charset="0"/>
              </a:rPr>
              <a:t> </a:t>
            </a:r>
            <a:r>
              <a:rPr lang="en-US" altLang="en-GB" sz="2600" b="0" dirty="0">
                <a:latin typeface="Calibri" panose="020F0502020204030204" charset="0"/>
                <a:cs typeface="Calibri" panose="020F0502020204030204" charset="0"/>
              </a:rPr>
              <a:t>This </a:t>
            </a:r>
            <a:r>
              <a:rPr lang="en-GB" sz="2600" b="0" dirty="0">
                <a:latin typeface="Calibri" panose="020F0502020204030204" charset="0"/>
                <a:cs typeface="Calibri" panose="020F0502020204030204" charset="0"/>
              </a:rPr>
              <a:t>object class</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provides basic interface of the weather station with its environment. </a:t>
            </a:r>
            <a:r>
              <a:rPr lang="en-GB" sz="2600" b="0" dirty="0">
                <a:latin typeface="Calibri" panose="020F0502020204030204" charset="0"/>
                <a:cs typeface="Calibri" panose="020F0502020204030204" charset="0"/>
                <a:sym typeface="+mn-ea"/>
              </a:rPr>
              <a:t>It reflects interactions identified in the use-case model</a:t>
            </a:r>
            <a:r>
              <a:rPr lang="en-US" altLang="en-GB" sz="2600" b="0" dirty="0">
                <a:latin typeface="Calibri" panose="020F0502020204030204" charset="0"/>
                <a:cs typeface="Calibri" panose="020F0502020204030204" charset="0"/>
                <a:sym typeface="+mn-ea"/>
              </a:rPr>
              <a:t> in </a:t>
            </a:r>
            <a:r>
              <a:rPr lang="en-GB" sz="2600" b="0" dirty="0">
                <a:latin typeface="Calibri" panose="020F0502020204030204" charset="0"/>
                <a:cs typeface="Calibri" panose="020F0502020204030204" charset="0"/>
              </a:rPr>
              <a:t>Figure 7.3. </a:t>
            </a:r>
            <a:endParaRPr lang="en-GB" sz="2600" b="0" dirty="0">
              <a:latin typeface="Calibri" panose="020F0502020204030204" charset="0"/>
              <a:cs typeface="Calibri" panose="020F0502020204030204" charset="0"/>
            </a:endParaRPr>
          </a:p>
          <a:p>
            <a:pPr lvl="1">
              <a:lnSpc>
                <a:spcPct val="85000"/>
              </a:lnSpc>
              <a:spcBef>
                <a:spcPts val="600"/>
              </a:spcBef>
              <a:spcAft>
                <a:spcPts val="0"/>
              </a:spcAft>
            </a:pPr>
            <a:r>
              <a:rPr lang="en-GB" sz="2600" dirty="0">
                <a:latin typeface="Calibri" panose="020F0502020204030204" charset="0"/>
                <a:cs typeface="Calibri" panose="020F0502020204030204" charset="0"/>
              </a:rPr>
              <a:t>WeatherData</a:t>
            </a:r>
            <a:r>
              <a:rPr lang="en-US" altLang="en-GB" sz="2600" dirty="0">
                <a:latin typeface="Calibri" panose="020F0502020204030204" charset="0"/>
                <a:cs typeface="Calibri" panose="020F0502020204030204" charset="0"/>
              </a:rPr>
              <a:t>:</a:t>
            </a:r>
            <a:r>
              <a:rPr lang="en-GB" sz="2600" b="0" dirty="0">
                <a:latin typeface="Calibri" panose="020F0502020204030204" charset="0"/>
                <a:cs typeface="Calibri" panose="020F0502020204030204" charset="0"/>
              </a:rPr>
              <a:t> </a:t>
            </a:r>
            <a:r>
              <a:rPr lang="en-US" altLang="en-GB" sz="2600" b="0" dirty="0">
                <a:latin typeface="Calibri" panose="020F0502020204030204" charset="0"/>
                <a:cs typeface="Calibri" panose="020F0502020204030204" charset="0"/>
              </a:rPr>
              <a:t>This </a:t>
            </a:r>
            <a:r>
              <a:rPr lang="en-GB" sz="2600" b="0" dirty="0">
                <a:latin typeface="Calibri" panose="020F0502020204030204" charset="0"/>
                <a:cs typeface="Calibri" panose="020F0502020204030204" charset="0"/>
              </a:rPr>
              <a:t>object class is </a:t>
            </a:r>
            <a:r>
              <a:rPr lang="en-US" altLang="en-GB" sz="2600" b="0" dirty="0">
                <a:latin typeface="Calibri" panose="020F0502020204030204" charset="0"/>
                <a:cs typeface="Calibri" panose="020F0502020204030204" charset="0"/>
              </a:rPr>
              <a:t>used</a:t>
            </a:r>
            <a:r>
              <a:rPr lang="en-GB" sz="2600" b="0" dirty="0">
                <a:latin typeface="Calibri" panose="020F0502020204030204" charset="0"/>
                <a:cs typeface="Calibri" panose="020F0502020204030204" charset="0"/>
              </a:rPr>
              <a:t> for processing the report weather</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command. It sends the summarized data from the weather station instruments to</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the weather information system.</a:t>
            </a:r>
            <a:endParaRPr lang="en-GB" sz="2600" b="0" dirty="0">
              <a:latin typeface="Calibri" panose="020F0502020204030204" charset="0"/>
              <a:cs typeface="Calibri" panose="020F0502020204030204" charset="0"/>
            </a:endParaRPr>
          </a:p>
          <a:p>
            <a:pPr lvl="1" algn="l">
              <a:lnSpc>
                <a:spcPct val="85000"/>
              </a:lnSpc>
              <a:spcBef>
                <a:spcPts val="600"/>
              </a:spcBef>
              <a:spcAft>
                <a:spcPts val="0"/>
              </a:spcAft>
            </a:pPr>
            <a:r>
              <a:rPr lang="en-GB" sz="2600" dirty="0">
                <a:latin typeface="Calibri" panose="020F0502020204030204" charset="0"/>
                <a:cs typeface="Calibri" panose="020F0502020204030204" charset="0"/>
                <a:sym typeface="+mn-ea"/>
              </a:rPr>
              <a:t>Ground thermometer, Anemometer, Barometer</a:t>
            </a:r>
            <a:r>
              <a:rPr lang="en-US" altLang="en-GB" sz="2600" dirty="0">
                <a:latin typeface="Calibri" panose="020F0502020204030204" charset="0"/>
                <a:cs typeface="Calibri" panose="020F0502020204030204" charset="0"/>
                <a:sym typeface="+mn-ea"/>
              </a:rPr>
              <a:t>:</a:t>
            </a:r>
            <a:r>
              <a:rPr lang="en-US" altLang="en-GB" sz="2600" b="0" dirty="0">
                <a:latin typeface="Calibri" panose="020F0502020204030204" charset="0"/>
                <a:cs typeface="Calibri" panose="020F0502020204030204" charset="0"/>
                <a:sym typeface="+mn-ea"/>
              </a:rPr>
              <a:t> These</a:t>
            </a:r>
            <a:r>
              <a:rPr lang="en-GB" sz="2600" b="0" dirty="0">
                <a:latin typeface="Calibri" panose="020F0502020204030204" charset="0"/>
                <a:cs typeface="Calibri" panose="020F0502020204030204" charset="0"/>
                <a:sym typeface="+mn-ea"/>
              </a:rPr>
              <a:t> object classes are directly</a:t>
            </a:r>
            <a:r>
              <a:rPr lang="en-US" altLang="en-GB" sz="2600" b="0" dirty="0">
                <a:latin typeface="Calibri" panose="020F0502020204030204" charset="0"/>
                <a:cs typeface="Calibri" panose="020F0502020204030204" charset="0"/>
                <a:sym typeface="+mn-ea"/>
              </a:rPr>
              <a:t> </a:t>
            </a:r>
            <a:r>
              <a:rPr lang="en-GB" sz="2600" b="0" dirty="0">
                <a:latin typeface="Calibri" panose="020F0502020204030204" charset="0"/>
                <a:cs typeface="Calibri" panose="020F0502020204030204" charset="0"/>
                <a:sym typeface="+mn-ea"/>
              </a:rPr>
              <a:t>related to instruments in the system. They reflect tangible hardware entities and the operations are concerned with controlling that hardware.</a:t>
            </a:r>
            <a:endParaRPr lang="en-GB" sz="2600" b="0" dirty="0">
              <a:latin typeface="Calibri" panose="020F0502020204030204" charset="0"/>
              <a:cs typeface="Calibri" panose="020F05020202040302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2394585" y="756285"/>
            <a:ext cx="3056255" cy="3225165"/>
          </a:xfrm>
          <a:prstGeom prst="rect">
            <a:avLst/>
          </a:prstGeom>
        </p:spPr>
      </p:pic>
      <p:pic>
        <p:nvPicPr>
          <p:cNvPr id="7" name="图片 6"/>
          <p:cNvPicPr>
            <a:picLocks noChangeAspect="1"/>
          </p:cNvPicPr>
          <p:nvPr/>
        </p:nvPicPr>
        <p:blipFill>
          <a:blip r:embed="rId2"/>
          <a:stretch>
            <a:fillRect/>
          </a:stretch>
        </p:blipFill>
        <p:spPr>
          <a:xfrm>
            <a:off x="5913120" y="746760"/>
            <a:ext cx="3173095" cy="3251835"/>
          </a:xfrm>
          <a:prstGeom prst="rect">
            <a:avLst/>
          </a:prstGeom>
        </p:spPr>
      </p:pic>
      <p:pic>
        <p:nvPicPr>
          <p:cNvPr id="8" name="图片 7"/>
          <p:cNvPicPr>
            <a:picLocks noChangeAspect="1"/>
          </p:cNvPicPr>
          <p:nvPr/>
        </p:nvPicPr>
        <p:blipFill>
          <a:blip r:embed="rId3"/>
          <a:stretch>
            <a:fillRect/>
          </a:stretch>
        </p:blipFill>
        <p:spPr>
          <a:xfrm>
            <a:off x="2414270" y="4117975"/>
            <a:ext cx="2225675" cy="2497455"/>
          </a:xfrm>
          <a:prstGeom prst="rect">
            <a:avLst/>
          </a:prstGeom>
        </p:spPr>
      </p:pic>
      <p:pic>
        <p:nvPicPr>
          <p:cNvPr id="9" name="图片 8"/>
          <p:cNvPicPr>
            <a:picLocks noChangeAspect="1"/>
          </p:cNvPicPr>
          <p:nvPr/>
        </p:nvPicPr>
        <p:blipFill>
          <a:blip r:embed="rId4"/>
          <a:stretch>
            <a:fillRect/>
          </a:stretch>
        </p:blipFill>
        <p:spPr>
          <a:xfrm>
            <a:off x="4634865" y="4110990"/>
            <a:ext cx="2233930" cy="2481580"/>
          </a:xfrm>
          <a:prstGeom prst="rect">
            <a:avLst/>
          </a:prstGeom>
        </p:spPr>
      </p:pic>
      <p:pic>
        <p:nvPicPr>
          <p:cNvPr id="10" name="图片 9"/>
          <p:cNvPicPr>
            <a:picLocks noChangeAspect="1"/>
          </p:cNvPicPr>
          <p:nvPr/>
        </p:nvPicPr>
        <p:blipFill>
          <a:blip r:embed="rId5"/>
          <a:stretch>
            <a:fillRect/>
          </a:stretch>
        </p:blipFill>
        <p:spPr>
          <a:xfrm>
            <a:off x="6868795" y="4115435"/>
            <a:ext cx="2217420" cy="2478405"/>
          </a:xfrm>
          <a:prstGeom prst="rect">
            <a:avLst/>
          </a:prstGeom>
        </p:spPr>
      </p:pic>
      <p:sp>
        <p:nvSpPr>
          <p:cNvPr id="11" name="Rectangle 3"/>
          <p:cNvSpPr>
            <a:spLocks noGrp="1" noRot="1"/>
          </p:cNvSpPr>
          <p:nvPr>
            <p:ph type="subTitle" idx="1"/>
            <p:custDataLst>
              <p:tags r:id="rId6"/>
            </p:custDataLst>
          </p:nvPr>
        </p:nvSpPr>
        <p:spPr>
          <a:xfrm>
            <a:off x="88900" y="39370"/>
            <a:ext cx="8977630" cy="5194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Weather station object classes</a:t>
            </a:r>
            <a:endParaRPr lang="zh-CN" altLang="en-US" sz="3200" dirty="0">
              <a:solidFill>
                <a:schemeClr val="accent1">
                  <a:lumMod val="75000"/>
                </a:schemeClr>
              </a:solidFill>
              <a:ea typeface="宋体" panose="02010600030101010101" pitchFamily="2" charset="-122"/>
              <a:sym typeface="+mn-ea"/>
            </a:endParaRPr>
          </a:p>
        </p:txBody>
      </p:sp>
      <p:sp>
        <p:nvSpPr>
          <p:cNvPr id="12" name="Content Placeholder 2"/>
          <p:cNvSpPr>
            <a:spLocks noGrp="1"/>
          </p:cNvSpPr>
          <p:nvPr/>
        </p:nvSpPr>
        <p:spPr>
          <a:xfrm>
            <a:off x="72390" y="798195"/>
            <a:ext cx="2453005" cy="556958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Once you have identified the objects, you then refine the object design. You look for common features and then design inheritance hierarchy.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For example, you may identify an Instrument superclass, which defines the common features of all instruments, such as an identifier, and get and test operations. You may also add new attributes and operations to the superclass.</a:t>
            </a:r>
            <a:endParaRPr lang="en-US" sz="2000" b="0" dirty="0" smtClean="0">
              <a:solidFill>
                <a:schemeClr val="tx1"/>
              </a:solidFill>
              <a:latin typeface="Calibri" panose="020F0502020204030204" charset="0"/>
              <a:cs typeface="Calibri" panose="020F0502020204030204" charset="0"/>
            </a:endParaRPr>
          </a:p>
        </p:txBody>
      </p:sp>
      <p:pic>
        <p:nvPicPr>
          <p:cNvPr id="2" name="图片 1"/>
          <p:cNvPicPr>
            <a:picLocks noChangeAspect="1"/>
          </p:cNvPicPr>
          <p:nvPr/>
        </p:nvPicPr>
        <p:blipFill>
          <a:blip r:embed="rId7"/>
          <a:stretch>
            <a:fillRect/>
          </a:stretch>
        </p:blipFill>
        <p:spPr>
          <a:xfrm>
            <a:off x="7010400" y="248920"/>
            <a:ext cx="1724025" cy="476250"/>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5010"/>
            <a:ext cx="8977630"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Design models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设计模型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21859" name="Rectangle 3"/>
          <p:cNvSpPr>
            <a:spLocks noGrp="1" noChangeArrowheads="1"/>
          </p:cNvSpPr>
          <p:nvPr/>
        </p:nvSpPr>
        <p:spPr>
          <a:xfrm>
            <a:off x="70485" y="1241425"/>
            <a:ext cx="8996680" cy="55175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Design models show the objects or object classes in a system, and associations and relationships between these entities.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对象/对象类及其相互关联和关系</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These models are the bridge between the system requirements and the implementation.</a:t>
            </a:r>
            <a:r>
              <a:rPr lang="en-US" altLang="en-GB" sz="2600" b="0" dirty="0" smtClean="0">
                <a:solidFill>
                  <a:schemeClr val="tx1"/>
                </a:solidFill>
                <a:latin typeface="Calibri" panose="020F0502020204030204" charset="0"/>
                <a:cs typeface="Calibri" panose="020F0502020204030204" charset="0"/>
              </a:rPr>
              <a:t> they should: be abstract so that unnecessary detail doesn’t hide relationships between them and requirements; include enough detail for programmers to make decisions.</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是系统需求与实现之间的桥梁</a:t>
            </a:r>
            <a:endParaRPr lang="en-US" altLang="en-GB" dirty="0" smtClean="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altLang="en-GB" sz="3000" dirty="0" smtClean="0">
                <a:solidFill>
                  <a:schemeClr val="accent2">
                    <a:lumMod val="75000"/>
                  </a:schemeClr>
                </a:solidFill>
                <a:latin typeface="Calibri" panose="020F0502020204030204" charset="0"/>
                <a:cs typeface="Calibri" panose="020F0502020204030204" charset="0"/>
              </a:rPr>
              <a:t> When using the UML, you may develop two kinds of </a:t>
            </a:r>
            <a:r>
              <a:rPr lang="en-GB" sz="3000" dirty="0" smtClean="0">
                <a:solidFill>
                  <a:schemeClr val="accent2">
                    <a:lumMod val="75000"/>
                  </a:schemeClr>
                </a:solidFill>
                <a:latin typeface="Calibri" panose="020F0502020204030204" charset="0"/>
                <a:cs typeface="Calibri" panose="020F0502020204030204" charset="0"/>
              </a:rPr>
              <a:t>design model:</a:t>
            </a:r>
            <a:r>
              <a:rPr lang="en-US" altLang="en-GB" sz="30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使用UML时，要开发两种设计模型</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82000"/>
              </a:lnSpc>
              <a:spcBef>
                <a:spcPts val="500"/>
              </a:spcBef>
              <a:spcAft>
                <a:spcPts val="0"/>
              </a:spcAft>
            </a:pPr>
            <a:r>
              <a:rPr lang="en-GB" sz="2600" dirty="0">
                <a:latin typeface="Calibri" panose="020F0502020204030204" charset="0"/>
                <a:cs typeface="Calibri" panose="020F0502020204030204" charset="0"/>
              </a:rPr>
              <a:t>Structural models</a:t>
            </a:r>
            <a:r>
              <a:rPr lang="en-US" altLang="en-GB" sz="2600" dirty="0">
                <a:latin typeface="Calibri" panose="020F0502020204030204" charset="0"/>
                <a:cs typeface="Calibri" panose="020F0502020204030204" charset="0"/>
              </a:rPr>
              <a:t>:</a:t>
            </a:r>
            <a:r>
              <a:rPr lang="en-GB" sz="2600" dirty="0">
                <a:latin typeface="Calibri" panose="020F0502020204030204" charset="0"/>
                <a:cs typeface="Calibri" panose="020F0502020204030204" charset="0"/>
              </a:rPr>
              <a:t> </a:t>
            </a:r>
            <a:r>
              <a:rPr lang="en-US" altLang="en-GB" sz="2600" b="0" dirty="0">
                <a:solidFill>
                  <a:schemeClr val="tx1"/>
                </a:solidFill>
                <a:latin typeface="Calibri" panose="020F0502020204030204" charset="0"/>
                <a:cs typeface="Calibri" panose="020F0502020204030204" charset="0"/>
              </a:rPr>
              <a:t>D</a:t>
            </a:r>
            <a:r>
              <a:rPr lang="en-GB" sz="2600" b="0" dirty="0">
                <a:solidFill>
                  <a:schemeClr val="tx1"/>
                </a:solidFill>
                <a:latin typeface="Calibri" panose="020F0502020204030204" charset="0"/>
                <a:cs typeface="Calibri" panose="020F0502020204030204" charset="0"/>
              </a:rPr>
              <a:t>escribe the static structure of the system using object</a:t>
            </a:r>
            <a:r>
              <a:rPr lang="en-US" altLang="en-GB" sz="2600" b="0" dirty="0">
                <a:solidFill>
                  <a:schemeClr val="tx1"/>
                </a:solidFill>
                <a:latin typeface="Calibri" panose="020F0502020204030204" charset="0"/>
                <a:cs typeface="Calibri" panose="020F0502020204030204" charset="0"/>
              </a:rPr>
              <a:t> </a:t>
            </a:r>
            <a:r>
              <a:rPr lang="en-GB" sz="2600" b="0" dirty="0">
                <a:solidFill>
                  <a:schemeClr val="tx1"/>
                </a:solidFill>
                <a:latin typeface="Calibri" panose="020F0502020204030204" charset="0"/>
                <a:cs typeface="Calibri" panose="020F0502020204030204" charset="0"/>
              </a:rPr>
              <a:t>classes and their relationships.</a:t>
            </a:r>
            <a:r>
              <a:rPr lang="en-US" altLang="en-GB" sz="2600" b="0" dirty="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结构模型</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GB" sz="2600" dirty="0">
                <a:solidFill>
                  <a:schemeClr val="tx1"/>
                </a:solidFill>
                <a:latin typeface="Calibri" panose="020F0502020204030204" charset="0"/>
                <a:cs typeface="Calibri" panose="020F0502020204030204" charset="0"/>
              </a:rPr>
              <a:t>Dynamic models</a:t>
            </a:r>
            <a:r>
              <a:rPr lang="en-US" altLang="en-GB" sz="2600" dirty="0">
                <a:solidFill>
                  <a:schemeClr val="tx1"/>
                </a:solidFill>
                <a:latin typeface="Calibri" panose="020F0502020204030204" charset="0"/>
                <a:cs typeface="Calibri" panose="020F0502020204030204" charset="0"/>
              </a:rPr>
              <a:t>: </a:t>
            </a:r>
            <a:r>
              <a:rPr lang="en-US" altLang="en-GB" sz="2600" b="0" dirty="0">
                <a:solidFill>
                  <a:schemeClr val="tx1"/>
                </a:solidFill>
                <a:latin typeface="Calibri" panose="020F0502020204030204" charset="0"/>
                <a:cs typeface="Calibri" panose="020F0502020204030204" charset="0"/>
              </a:rPr>
              <a:t>D</a:t>
            </a:r>
            <a:r>
              <a:rPr lang="en-GB" sz="2600" b="0" dirty="0">
                <a:solidFill>
                  <a:schemeClr val="tx1"/>
                </a:solidFill>
                <a:latin typeface="Calibri" panose="020F0502020204030204" charset="0"/>
                <a:cs typeface="Calibri" panose="020F0502020204030204" charset="0"/>
              </a:rPr>
              <a:t>escribe the dynamic structure of the system and show</a:t>
            </a:r>
            <a:r>
              <a:rPr lang="en-US" altLang="en-GB" sz="2600" b="0" dirty="0">
                <a:solidFill>
                  <a:schemeClr val="tx1"/>
                </a:solidFill>
                <a:latin typeface="Calibri" panose="020F0502020204030204" charset="0"/>
                <a:cs typeface="Calibri" panose="020F0502020204030204" charset="0"/>
              </a:rPr>
              <a:t> </a:t>
            </a:r>
            <a:r>
              <a:rPr lang="en-GB" sz="2600" b="0" dirty="0">
                <a:solidFill>
                  <a:schemeClr val="tx1"/>
                </a:solidFill>
                <a:latin typeface="Calibri" panose="020F0502020204030204" charset="0"/>
                <a:cs typeface="Calibri" panose="020F0502020204030204" charset="0"/>
              </a:rPr>
              <a:t>the expected runtime interactions between the system objects.</a:t>
            </a:r>
            <a:r>
              <a:rPr lang="en-US" altLang="en-GB" sz="2600" b="0" dirty="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动态模型</a:t>
            </a:r>
            <a:endParaRPr lang="zh-CN" altLang="en-US" sz="2600" b="0" dirty="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2785"/>
            <a:ext cx="8977630" cy="128016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en-US" altLang="zh-CN" sz="2800" dirty="0">
                <a:solidFill>
                  <a:schemeClr val="accent1">
                    <a:lumMod val="75000"/>
                  </a:schemeClr>
                </a:solidFill>
                <a:ea typeface="宋体" panose="02010600030101010101" pitchFamily="2" charset="-122"/>
                <a:sym typeface="+mn-ea"/>
              </a:rPr>
              <a:t>T</a:t>
            </a:r>
            <a:r>
              <a:rPr lang="zh-CN" altLang="en-US" sz="2800" dirty="0">
                <a:solidFill>
                  <a:schemeClr val="accent1">
                    <a:lumMod val="75000"/>
                  </a:schemeClr>
                </a:solidFill>
                <a:ea typeface="宋体" panose="02010600030101010101" pitchFamily="2" charset="-122"/>
                <a:sym typeface="+mn-ea"/>
              </a:rPr>
              <a:t>hree UML model types are particularly useful for adding detail to use</a:t>
            </a: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case and architectural models:</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三种</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UML</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模型，对向用例和结构模型加入细节尤其有用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74295" y="2030730"/>
            <a:ext cx="8989695" cy="46539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lvl="1">
              <a:lnSpc>
                <a:spcPct val="85000"/>
              </a:lnSpc>
              <a:spcAft>
                <a:spcPts val="0"/>
              </a:spcAft>
            </a:pPr>
            <a:r>
              <a:rPr lang="en-US" sz="2700" dirty="0" smtClean="0">
                <a:solidFill>
                  <a:schemeClr val="tx1"/>
                </a:solidFill>
                <a:latin typeface="Calibri" panose="020F0502020204030204" charset="0"/>
                <a:cs typeface="Calibri" panose="020F0502020204030204" charset="0"/>
              </a:rPr>
              <a:t>Subsystem models</a:t>
            </a:r>
            <a:r>
              <a:rPr lang="en-US" sz="2700" b="0" dirty="0" smtClean="0">
                <a:solidFill>
                  <a:schemeClr val="tx1"/>
                </a:solidFill>
                <a:latin typeface="Calibri" panose="020F0502020204030204" charset="0"/>
                <a:cs typeface="Calibri" panose="020F0502020204030204" charset="0"/>
              </a:rPr>
              <a:t>, which show logical groupings of objects into coherent subsystems. These are represented using a form of </a:t>
            </a:r>
            <a:r>
              <a:rPr lang="en-US" sz="2700" b="0" u="sng" dirty="0" smtClean="0">
                <a:solidFill>
                  <a:schemeClr val="tx1"/>
                </a:solidFill>
                <a:latin typeface="Calibri" panose="020F0502020204030204" charset="0"/>
                <a:cs typeface="Calibri" panose="020F0502020204030204" charset="0"/>
              </a:rPr>
              <a:t>class diagram</a:t>
            </a:r>
            <a:r>
              <a:rPr lang="en-US" sz="2700" b="0" dirty="0" smtClean="0">
                <a:solidFill>
                  <a:schemeClr val="tx1"/>
                </a:solidFill>
                <a:latin typeface="Calibri" panose="020F0502020204030204" charset="0"/>
                <a:cs typeface="Calibri" panose="020F0502020204030204" charset="0"/>
              </a:rPr>
              <a:t> with each subsystem shown as a </a:t>
            </a:r>
            <a:r>
              <a:rPr lang="en-US" sz="2700" b="0" u="sng" dirty="0" smtClean="0">
                <a:solidFill>
                  <a:schemeClr val="tx1"/>
                </a:solidFill>
                <a:latin typeface="Calibri" panose="020F0502020204030204" charset="0"/>
                <a:cs typeface="Calibri" panose="020F0502020204030204" charset="0"/>
              </a:rPr>
              <a:t>package</a:t>
            </a:r>
            <a:r>
              <a:rPr lang="en-US" sz="2700" b="0" dirty="0" smtClean="0">
                <a:solidFill>
                  <a:schemeClr val="tx1"/>
                </a:solidFill>
                <a:latin typeface="Calibri" panose="020F0502020204030204" charset="0"/>
                <a:cs typeface="Calibri" panose="020F0502020204030204" charset="0"/>
              </a:rPr>
              <a:t> with enclosed objects. Subsystem models are structural models.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子系统模型</a:t>
            </a:r>
            <a:endParaRPr lang="en-US" sz="2700" b="0" dirty="0" smtClean="0">
              <a:solidFill>
                <a:schemeClr val="tx1"/>
              </a:solidFill>
              <a:latin typeface="Calibri" panose="020F0502020204030204" charset="0"/>
              <a:cs typeface="Calibri" panose="020F0502020204030204" charset="0"/>
            </a:endParaRPr>
          </a:p>
          <a:p>
            <a:pPr lvl="1">
              <a:lnSpc>
                <a:spcPct val="85000"/>
              </a:lnSpc>
              <a:spcAft>
                <a:spcPts val="0"/>
              </a:spcAft>
            </a:pPr>
            <a:r>
              <a:rPr lang="en-US" sz="2700" dirty="0" smtClean="0">
                <a:solidFill>
                  <a:schemeClr val="tx1"/>
                </a:solidFill>
                <a:latin typeface="Calibri" panose="020F0502020204030204" charset="0"/>
                <a:cs typeface="Calibri" panose="020F0502020204030204" charset="0"/>
              </a:rPr>
              <a:t>Sequence models</a:t>
            </a:r>
            <a:r>
              <a:rPr lang="en-US" sz="2700" b="0" dirty="0" smtClean="0">
                <a:solidFill>
                  <a:schemeClr val="tx1"/>
                </a:solidFill>
                <a:latin typeface="Calibri" panose="020F0502020204030204" charset="0"/>
                <a:cs typeface="Calibri" panose="020F0502020204030204" charset="0"/>
              </a:rPr>
              <a:t>, which show the sequence of object interactions. These are represented using a UML </a:t>
            </a:r>
            <a:r>
              <a:rPr lang="en-US" sz="2700" b="0" u="sng" dirty="0" smtClean="0">
                <a:solidFill>
                  <a:schemeClr val="tx1"/>
                </a:solidFill>
                <a:latin typeface="Calibri" panose="020F0502020204030204" charset="0"/>
                <a:cs typeface="Calibri" panose="020F0502020204030204" charset="0"/>
              </a:rPr>
              <a:t>sequence or a collaboration diagram</a:t>
            </a:r>
            <a:r>
              <a:rPr lang="en-US" sz="2700" b="0" dirty="0" smtClean="0">
                <a:solidFill>
                  <a:schemeClr val="tx1"/>
                </a:solidFill>
                <a:latin typeface="Calibri" panose="020F0502020204030204" charset="0"/>
                <a:cs typeface="Calibri" panose="020F0502020204030204" charset="0"/>
              </a:rPr>
              <a:t>. Sequence models are dynamic models.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顺序模型</a:t>
            </a:r>
            <a:endParaRPr lang="en-US" sz="2700" b="0" dirty="0" smtClean="0">
              <a:solidFill>
                <a:schemeClr val="tx1"/>
              </a:solidFill>
              <a:latin typeface="Calibri" panose="020F0502020204030204" charset="0"/>
              <a:cs typeface="Calibri" panose="020F0502020204030204" charset="0"/>
            </a:endParaRPr>
          </a:p>
          <a:p>
            <a:pPr lvl="1">
              <a:lnSpc>
                <a:spcPct val="85000"/>
              </a:lnSpc>
              <a:spcAft>
                <a:spcPts val="0"/>
              </a:spcAft>
            </a:pPr>
            <a:r>
              <a:rPr sz="2700" dirty="0" smtClean="0">
                <a:solidFill>
                  <a:schemeClr val="tx1"/>
                </a:solidFill>
                <a:latin typeface="Calibri" panose="020F0502020204030204" charset="0"/>
                <a:cs typeface="Calibri" panose="020F0502020204030204" charset="0"/>
              </a:rPr>
              <a:t>State machine models</a:t>
            </a:r>
            <a:r>
              <a:rPr sz="2700" b="0" dirty="0" smtClean="0">
                <a:solidFill>
                  <a:schemeClr val="tx1"/>
                </a:solidFill>
                <a:latin typeface="Calibri" panose="020F0502020204030204" charset="0"/>
                <a:cs typeface="Calibri" panose="020F0502020204030204" charset="0"/>
              </a:rPr>
              <a:t>, which show how objects change their state in response to</a:t>
            </a:r>
            <a:r>
              <a:rPr lang="en-US" sz="2700" b="0" dirty="0" smtClean="0">
                <a:solidFill>
                  <a:schemeClr val="tx1"/>
                </a:solidFill>
                <a:latin typeface="Calibri" panose="020F0502020204030204" charset="0"/>
                <a:cs typeface="Calibri" panose="020F0502020204030204" charset="0"/>
              </a:rPr>
              <a:t> </a:t>
            </a:r>
            <a:r>
              <a:rPr sz="2700" b="0" dirty="0" smtClean="0">
                <a:solidFill>
                  <a:schemeClr val="tx1"/>
                </a:solidFill>
                <a:latin typeface="Calibri" panose="020F0502020204030204" charset="0"/>
                <a:cs typeface="Calibri" panose="020F0502020204030204" charset="0"/>
              </a:rPr>
              <a:t>events. These are represented in the UML using </a:t>
            </a:r>
            <a:r>
              <a:rPr sz="2700" b="0" u="sng" dirty="0" smtClean="0">
                <a:solidFill>
                  <a:schemeClr val="tx1"/>
                </a:solidFill>
                <a:latin typeface="Calibri" panose="020F0502020204030204" charset="0"/>
                <a:cs typeface="Calibri" panose="020F0502020204030204" charset="0"/>
              </a:rPr>
              <a:t>state diagrams</a:t>
            </a:r>
            <a:r>
              <a:rPr sz="2700" b="0" dirty="0" smtClean="0">
                <a:solidFill>
                  <a:schemeClr val="tx1"/>
                </a:solidFill>
                <a:latin typeface="Calibri" panose="020F0502020204030204" charset="0"/>
                <a:cs typeface="Calibri" panose="020F0502020204030204" charset="0"/>
              </a:rPr>
              <a:t>. State machine</a:t>
            </a:r>
            <a:r>
              <a:rPr lang="en-US" sz="2700" b="0" dirty="0" smtClean="0">
                <a:solidFill>
                  <a:schemeClr val="tx1"/>
                </a:solidFill>
                <a:latin typeface="Calibri" panose="020F0502020204030204" charset="0"/>
                <a:cs typeface="Calibri" panose="020F0502020204030204" charset="0"/>
              </a:rPr>
              <a:t> </a:t>
            </a:r>
            <a:r>
              <a:rPr sz="2700" b="0" dirty="0" smtClean="0">
                <a:solidFill>
                  <a:schemeClr val="tx1"/>
                </a:solidFill>
                <a:latin typeface="Calibri" panose="020F0502020204030204" charset="0"/>
                <a:cs typeface="Calibri" panose="020F0502020204030204" charset="0"/>
              </a:rPr>
              <a:t>models are dynamic models.</a:t>
            </a:r>
            <a:r>
              <a:rPr lang="en-US" sz="27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状态机模型</a:t>
            </a:r>
            <a:endParaRPr lang="zh-CN" altLang="en-US" sz="27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429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Subsystem models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子系统模型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0800" y="1313180"/>
            <a:ext cx="9031605" cy="51390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It is a static model that shows how a design is organized into logically related groups of objects.</a:t>
            </a:r>
            <a:r>
              <a:rPr lang="en-US" sz="2800" b="0" dirty="0" smtClean="0">
                <a:solidFill>
                  <a:schemeClr val="tx1"/>
                </a:solidFill>
                <a:latin typeface="Calibri" panose="020F0502020204030204" charset="0"/>
                <a:cs typeface="Calibri" panose="020F0502020204030204" charset="0"/>
              </a:rPr>
              <a:t> This type of model is </a:t>
            </a:r>
            <a:r>
              <a:rPr lang="en-US" sz="2800" b="0" dirty="0" smtClean="0">
                <a:solidFill>
                  <a:schemeClr val="tx1"/>
                </a:solidFill>
                <a:latin typeface="Calibri" panose="020F0502020204030204" charset="0"/>
                <a:cs typeface="Calibri" panose="020F0502020204030204" charset="0"/>
                <a:sym typeface="+mn-ea"/>
              </a:rPr>
              <a:t>shown </a:t>
            </a:r>
            <a:r>
              <a:rPr lang="en-US" sz="2800" b="0" dirty="0" smtClean="0">
                <a:solidFill>
                  <a:schemeClr val="tx1"/>
                </a:solidFill>
                <a:latin typeface="Calibri" panose="020F0502020204030204" charset="0"/>
                <a:cs typeface="Calibri" panose="020F0502020204030204" charset="0"/>
              </a:rPr>
              <a:t>in Figure 7.4 to present the subsystems in the weather mapping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是静态模型，展示系统如何被组织成逻辑上相关的对象组的</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You may also design detailed object models, showing the objects in the systems and their associations (inheritance, generalization, aggregation, etc.). </a:t>
            </a:r>
            <a:r>
              <a:rPr lang="en-US" sz="2800" b="0" dirty="0" smtClean="0">
                <a:solidFill>
                  <a:schemeClr val="tx1"/>
                </a:solidFill>
                <a:latin typeface="Calibri" panose="020F0502020204030204" charset="0"/>
                <a:cs typeface="Calibri" panose="020F0502020204030204" charset="0"/>
              </a:rPr>
              <a:t>However, there is a danger in doing too much modeling. You should not make detailed decisions about the implementation that are really best left until the system is implemented.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也可以设计详细的对象模型，展示系统中的对象及关联(继承、泛化、聚合，等等)</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Sequence models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顺序模型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23907" name="Rectangle 3"/>
          <p:cNvSpPr>
            <a:spLocks noGrp="1" noChangeArrowheads="1"/>
          </p:cNvSpPr>
          <p:nvPr/>
        </p:nvSpPr>
        <p:spPr>
          <a:xfrm>
            <a:off x="54610" y="1313180"/>
            <a:ext cx="9011285" cy="52120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a:solidFill>
                  <a:schemeClr val="accent2">
                    <a:lumMod val="75000"/>
                  </a:schemeClr>
                </a:solidFill>
                <a:latin typeface="Calibri" panose="020F0502020204030204" charset="0"/>
                <a:cs typeface="Calibri" panose="020F0502020204030204" charset="0"/>
              </a:rPr>
              <a:t> Sequence models are dynamic models that describe the sequence of object interactions that take place. </a:t>
            </a:r>
            <a:r>
              <a:rPr lang="en-US" altLang="en-GB" sz="2800" b="0">
                <a:solidFill>
                  <a:schemeClr val="tx1"/>
                </a:solidFill>
                <a:latin typeface="Calibri" panose="020F0502020204030204" charset="0"/>
                <a:cs typeface="Calibri" panose="020F0502020204030204" charset="0"/>
              </a:rPr>
              <a:t>When documenting a design, you should produce a sequence model for each significant interaction. If you have developed a use case model, then there should be a sequence model for each use case that you have identified.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是动态模型，描述对象发生交互的序列</a:t>
            </a:r>
            <a:endParaRPr lang="en-US" altLang="en-GB" sz="320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sz="3200">
                <a:solidFill>
                  <a:schemeClr val="accent2">
                    <a:lumMod val="75000"/>
                  </a:schemeClr>
                </a:solidFill>
                <a:latin typeface="Calibri" panose="020F0502020204030204" charset="0"/>
                <a:cs typeface="Calibri" panose="020F0502020204030204" charset="0"/>
              </a:rPr>
              <a:t>Figure 7.7 is an example of a sequence model, shown as a UML sequence</a:t>
            </a:r>
            <a:r>
              <a:rPr lang="en-US" sz="3200">
                <a:solidFill>
                  <a:schemeClr val="accent2">
                    <a:lumMod val="75000"/>
                  </a:schemeClr>
                </a:solidFill>
                <a:latin typeface="Calibri" panose="020F0502020204030204" charset="0"/>
                <a:cs typeface="Calibri" panose="020F0502020204030204" charset="0"/>
              </a:rPr>
              <a:t> </a:t>
            </a:r>
            <a:r>
              <a:rPr sz="3200">
                <a:solidFill>
                  <a:schemeClr val="accent2">
                    <a:lumMod val="75000"/>
                  </a:schemeClr>
                </a:solidFill>
                <a:latin typeface="Calibri" panose="020F0502020204030204" charset="0"/>
                <a:cs typeface="Calibri" panose="020F0502020204030204" charset="0"/>
              </a:rPr>
              <a:t>diagram.</a:t>
            </a:r>
            <a:r>
              <a:rPr lang="en-US" altLang="en-GB" sz="2800" b="0">
                <a:solidFill>
                  <a:schemeClr val="tx1"/>
                </a:solidFill>
                <a:latin typeface="Calibri" panose="020F0502020204030204" charset="0"/>
                <a:cs typeface="Calibri" panose="020F0502020204030204" charset="0"/>
              </a:rPr>
              <a:t> This diagram shows the sequence of interactions that take place when </a:t>
            </a:r>
            <a:r>
              <a:rPr lang="en-US" altLang="en-GB" sz="2800" b="0" i="1">
                <a:solidFill>
                  <a:schemeClr val="accent1">
                    <a:lumMod val="50000"/>
                  </a:schemeClr>
                </a:solidFill>
                <a:latin typeface="Calibri" panose="020F0502020204030204" charset="0"/>
                <a:cs typeface="Calibri" panose="020F0502020204030204" charset="0"/>
              </a:rPr>
              <a:t>an external system requests the summarized data from the weather station</a:t>
            </a:r>
            <a:r>
              <a:rPr lang="en-US" altLang="en-GB" sz="2800" b="0">
                <a:solidFill>
                  <a:schemeClr val="accent1">
                    <a:lumMod val="50000"/>
                  </a:schemeClr>
                </a:solidFill>
                <a:latin typeface="Calibri" panose="020F0502020204030204" charset="0"/>
                <a:cs typeface="Calibri" panose="020F0502020204030204" charset="0"/>
              </a:rPr>
              <a:t>.</a:t>
            </a:r>
            <a:r>
              <a:rPr lang="en-US" altLang="en-GB" sz="2800" b="0">
                <a:solidFill>
                  <a:schemeClr val="tx1"/>
                </a:solidFill>
                <a:latin typeface="Calibri" panose="020F0502020204030204" charset="0"/>
                <a:cs typeface="Calibri" panose="020F0502020204030204" charset="0"/>
              </a:rPr>
              <a:t> You read sequence diagrams from top to bottom: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例子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48260" y="635"/>
            <a:ext cx="9047480" cy="5295265"/>
          </a:xfrm>
          <a:prstGeom prst="rect">
            <a:avLst/>
          </a:prstGeom>
        </p:spPr>
      </p:pic>
      <p:pic>
        <p:nvPicPr>
          <p:cNvPr id="7" name="图片 6"/>
          <p:cNvPicPr>
            <a:picLocks noChangeAspect="1"/>
          </p:cNvPicPr>
          <p:nvPr/>
        </p:nvPicPr>
        <p:blipFill>
          <a:blip r:embed="rId2"/>
          <a:stretch>
            <a:fillRect/>
          </a:stretch>
        </p:blipFill>
        <p:spPr>
          <a:xfrm>
            <a:off x="7168515" y="4597400"/>
            <a:ext cx="1838325" cy="676275"/>
          </a:xfrm>
          <a:prstGeom prst="rect">
            <a:avLst/>
          </a:prstGeom>
        </p:spPr>
      </p:pic>
      <p:sp>
        <p:nvSpPr>
          <p:cNvPr id="12" name="Content Placeholder 2"/>
          <p:cNvSpPr>
            <a:spLocks noGrp="1"/>
          </p:cNvSpPr>
          <p:nvPr/>
        </p:nvSpPr>
        <p:spPr>
          <a:xfrm>
            <a:off x="72390" y="5318760"/>
            <a:ext cx="9023350" cy="140144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sym typeface="+mn-ea"/>
              </a:rPr>
              <a:t>2. SatComms sends a message to WeatherStation, via a satellite link, to create a summary of the collected weather data. Again, the stick arrowhead indicates that SatComms does not suspend itself waiting for a reply.</a:t>
            </a:r>
            <a:endParaRPr lang="en-US" sz="1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rPr>
              <a:t>3. WeatherStation sends a message to a Commslink object to summarize the weather data. In this case, the squared-off style of arrowhead indicates that the instance of the WeatherStation object class waits for a reply.</a:t>
            </a:r>
            <a:endParaRPr lang="en-US" sz="1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rPr>
              <a:t>4. Commslink calls the summarize method in the object WeatherData and waits for a reply.</a:t>
            </a:r>
            <a:endParaRPr lang="en-US" sz="1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rPr>
              <a:t>5. The weather data summary is computed and returned to WeatherStation via the Commslink object.</a:t>
            </a:r>
            <a:endParaRPr lang="en-US" sz="1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rPr>
              <a:t>6. WeatherStation then calls the SatComms object to transmit the summarized data to the weather information system, through the satellite communications system.</a:t>
            </a:r>
            <a:endParaRPr lang="en-US" sz="12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1778000" y="135890"/>
            <a:ext cx="7317105" cy="5422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200" b="0" dirty="0" smtClean="0">
                <a:solidFill>
                  <a:schemeClr val="tx1"/>
                </a:solidFill>
                <a:latin typeface="Calibri" panose="020F0502020204030204" charset="0"/>
                <a:cs typeface="Calibri" panose="020F0502020204030204" charset="0"/>
              </a:rPr>
              <a:t>1. The SatComms object receives a request from the weather information system to collect a weather report from a weather station. It acknowledges receipt of this request. The stick arrowhead on the sent message indicates that the external system does not wait for a reply but can carry on with other processing.</a:t>
            </a:r>
            <a:endParaRPr lang="en-US" sz="1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State </a:t>
            </a:r>
            <a:r>
              <a:rPr lang="en-US" altLang="zh-CN" sz="3200" dirty="0">
                <a:solidFill>
                  <a:schemeClr val="accent1">
                    <a:lumMod val="75000"/>
                  </a:schemeClr>
                </a:solidFill>
                <a:ea typeface="宋体" panose="02010600030101010101" pitchFamily="2" charset="-122"/>
                <a:sym typeface="+mn-ea"/>
              </a:rPr>
              <a:t>machine model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状态机模型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41910" y="1384935"/>
            <a:ext cx="9035415" cy="50622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 state machine model shows how the object changes state depending on the messages that it receives. </a:t>
            </a:r>
            <a:r>
              <a:rPr lang="en-US" sz="2800" b="0" dirty="0" smtClean="0">
                <a:solidFill>
                  <a:schemeClr val="tx1"/>
                </a:solidFill>
                <a:latin typeface="Calibri" panose="020F0502020204030204" charset="0"/>
                <a:cs typeface="Calibri" panose="020F0502020204030204" charset="0"/>
              </a:rPr>
              <a:t>UML includes state diagrams to describe state machine models.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含义:展示对象根据接收消息而改变状态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Figure 7.8 is a state diagram for the weather station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例子</a:t>
            </a:r>
            <a:r>
              <a:rPr lang="en-US" sz="3200" dirty="0" smtClean="0">
                <a:solidFill>
                  <a:schemeClr val="tx2">
                    <a:lumMod val="75000"/>
                    <a:lumOff val="25000"/>
                  </a:schemeClr>
                </a:solidFill>
                <a:latin typeface="Calibri" panose="020F0502020204030204" charset="0"/>
                <a:cs typeface="Calibri" panose="020F0502020204030204" charset="0"/>
              </a:rPr>
              <a:t> </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State diagrams are useful high-level models of a system or an object’s operation. However, you don’t need a state diagram for all of the objects in the system. </a:t>
            </a:r>
            <a:r>
              <a:rPr lang="en-US" sz="2800" b="0" dirty="0" smtClean="0">
                <a:solidFill>
                  <a:schemeClr val="tx1"/>
                </a:solidFill>
                <a:latin typeface="Calibri" panose="020F0502020204030204" charset="0"/>
                <a:cs typeface="Calibri" panose="020F0502020204030204" charset="0"/>
              </a:rPr>
              <a:t>Many system objects in a system are simple, and their operation can be easily described without a state model.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有用的高级别模型；无需为所有对象建立状态图</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endParaRPr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58420" y="255270"/>
            <a:ext cx="9043670" cy="5415280"/>
          </a:xfrm>
          <a:prstGeom prst="rect">
            <a:avLst/>
          </a:prstGeom>
        </p:spPr>
      </p:pic>
      <p:pic>
        <p:nvPicPr>
          <p:cNvPr id="7" name="图片 6"/>
          <p:cNvPicPr>
            <a:picLocks noChangeAspect="1"/>
          </p:cNvPicPr>
          <p:nvPr/>
        </p:nvPicPr>
        <p:blipFill>
          <a:blip r:embed="rId2"/>
          <a:stretch>
            <a:fillRect/>
          </a:stretch>
        </p:blipFill>
        <p:spPr>
          <a:xfrm>
            <a:off x="433070" y="449580"/>
            <a:ext cx="2116455" cy="587375"/>
          </a:xfrm>
          <a:prstGeom prst="rect">
            <a:avLst/>
          </a:prstGeom>
        </p:spPr>
      </p:pic>
      <p:sp>
        <p:nvSpPr>
          <p:cNvPr id="8" name="Content Placeholder 2"/>
          <p:cNvSpPr>
            <a:spLocks noGrp="1"/>
          </p:cNvSpPr>
          <p:nvPr/>
        </p:nvSpPr>
        <p:spPr>
          <a:xfrm>
            <a:off x="4988560" y="89535"/>
            <a:ext cx="4113530" cy="101727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100" b="0" dirty="0" smtClean="0">
                <a:solidFill>
                  <a:schemeClr val="tx1"/>
                </a:solidFill>
                <a:latin typeface="Calibri" panose="020F0502020204030204" charset="0"/>
                <a:cs typeface="Calibri" panose="020F0502020204030204" charset="0"/>
              </a:rPr>
              <a:t>1. If the system state is Shutdown, then it can respond to a restart(), a reconfigure() or a powerSave() message. The unlabeled arrow with the black blob indicates that the Shutdown state is the initial state. A restart() message causes a transition to normal operation. Both the powerSave() and reconfigure() messages cause a transition to a state in which the system reconfigures itself. The state diagram shows that reconfiguration is allowed only if the system has been shut down.</a:t>
            </a:r>
            <a:endParaRPr lang="en-US" sz="1100" b="0" dirty="0" smtClean="0">
              <a:solidFill>
                <a:schemeClr val="tx1"/>
              </a:solidFill>
              <a:latin typeface="Calibri" panose="020F0502020204030204" charset="0"/>
              <a:cs typeface="Calibri" panose="020F0502020204030204" charset="0"/>
            </a:endParaRPr>
          </a:p>
        </p:txBody>
      </p:sp>
      <p:sp>
        <p:nvSpPr>
          <p:cNvPr id="9" name="Content Placeholder 2"/>
          <p:cNvSpPr>
            <a:spLocks noGrp="1"/>
          </p:cNvSpPr>
          <p:nvPr/>
        </p:nvSpPr>
        <p:spPr>
          <a:xfrm>
            <a:off x="92710" y="4902835"/>
            <a:ext cx="2555240" cy="61722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100" b="0" dirty="0" smtClean="0">
                <a:solidFill>
                  <a:schemeClr val="tx1"/>
                </a:solidFill>
                <a:latin typeface="Calibri" panose="020F0502020204030204" charset="0"/>
                <a:cs typeface="Calibri" panose="020F0502020204030204" charset="0"/>
              </a:rPr>
              <a:t>2. In the Running state, the system expects further messages. If a shutdown() message is received, the object returns to the shutdown state.</a:t>
            </a:r>
            <a:endParaRPr lang="en-US" sz="11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endParaRPr lang="en-US" sz="1100" b="0" dirty="0" smtClean="0">
              <a:solidFill>
                <a:schemeClr val="tx1"/>
              </a:solidFill>
              <a:latin typeface="Calibri" panose="020F0502020204030204" charset="0"/>
              <a:cs typeface="Calibri" panose="020F0502020204030204" charset="0"/>
            </a:endParaRPr>
          </a:p>
        </p:txBody>
      </p:sp>
      <p:sp>
        <p:nvSpPr>
          <p:cNvPr id="10" name="Content Placeholder 2"/>
          <p:cNvSpPr>
            <a:spLocks noGrp="1"/>
          </p:cNvSpPr>
          <p:nvPr/>
        </p:nvSpPr>
        <p:spPr>
          <a:xfrm>
            <a:off x="76200" y="5716270"/>
            <a:ext cx="9001125" cy="98425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1100" b="0" dirty="0" smtClean="0">
                <a:solidFill>
                  <a:schemeClr val="tx1"/>
                </a:solidFill>
                <a:latin typeface="Calibri" panose="020F0502020204030204" charset="0"/>
                <a:cs typeface="Calibri" panose="020F0502020204030204" charset="0"/>
              </a:rPr>
              <a:t>3. If a reportWeather() message is received, the system moves to the Summarizing state. When the summary is complete, the system moves to a Transmitting state where the information is transmitted to the remote system. It then returns to the Running state.</a:t>
            </a:r>
            <a:endParaRPr lang="en-US" sz="11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100" b="0" dirty="0" smtClean="0">
                <a:solidFill>
                  <a:schemeClr val="tx1"/>
                </a:solidFill>
                <a:latin typeface="Calibri" panose="020F0502020204030204" charset="0"/>
                <a:cs typeface="Calibri" panose="020F0502020204030204" charset="0"/>
              </a:rPr>
              <a:t>4. If a signal from the clock is received, the system moves to the Collecting state, where it collects data from the instruments. Each instrument is instructed in turn to collect its data from the associated sensors.</a:t>
            </a:r>
            <a:endParaRPr lang="en-US" sz="11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1100" b="0" dirty="0" smtClean="0">
                <a:solidFill>
                  <a:schemeClr val="tx1"/>
                </a:solidFill>
                <a:latin typeface="Calibri" panose="020F0502020204030204" charset="0"/>
                <a:cs typeface="Calibri" panose="020F0502020204030204" charset="0"/>
              </a:rPr>
              <a:t>5. If a remoteControl() message is received, the system moves to a controlled state in which it responds to a different set of messages from the remote control room. These are not shown on this diagram.</a:t>
            </a:r>
            <a:endParaRPr lang="en-US" sz="11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5800"/>
            <a:ext cx="8977630" cy="52324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Interface specification</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接口规格说明</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49530" y="1197610"/>
            <a:ext cx="9016365" cy="55670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 I</a:t>
            </a:r>
            <a:r>
              <a:rPr sz="3000" dirty="0" smtClean="0">
                <a:solidFill>
                  <a:schemeClr val="tx2">
                    <a:lumMod val="75000"/>
                    <a:lumOff val="25000"/>
                  </a:schemeClr>
                </a:solidFill>
                <a:latin typeface="Calibri" panose="020F0502020204030204" charset="0"/>
                <a:cs typeface="Calibri" panose="020F0502020204030204" charset="0"/>
                <a:sym typeface="+mn-ea"/>
              </a:rPr>
              <a:t>nterfaces</a:t>
            </a:r>
            <a:r>
              <a:rPr lang="en-US" sz="3000" dirty="0" smtClean="0">
                <a:solidFill>
                  <a:schemeClr val="tx2">
                    <a:lumMod val="75000"/>
                    <a:lumOff val="25000"/>
                  </a:schemeClr>
                </a:solidFill>
                <a:latin typeface="Calibri" panose="020F0502020204030204" charset="0"/>
                <a:cs typeface="Calibri" panose="020F0502020204030204" charset="0"/>
                <a:sym typeface="+mn-ea"/>
              </a:rPr>
              <a:t> between components are </a:t>
            </a:r>
            <a:r>
              <a:rPr lang="en-US" sz="3000" dirty="0" smtClean="0">
                <a:solidFill>
                  <a:schemeClr val="tx2">
                    <a:lumMod val="75000"/>
                    <a:lumOff val="25000"/>
                  </a:schemeClr>
                </a:solidFill>
                <a:latin typeface="Calibri" panose="020F0502020204030204" charset="0"/>
                <a:cs typeface="Calibri" panose="020F0502020204030204" charset="0"/>
              </a:rPr>
              <a:t>specified so that objects and subsystems can be designed in parallel.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刻画接口后，对象和子系统可以并行设计</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Interface design is concerned with specifying the detail of the interface to an object or to a group of objects.</a:t>
            </a:r>
            <a:r>
              <a:rPr lang="en-US" sz="3000" b="0" dirty="0" smtClean="0">
                <a:solidFill>
                  <a:schemeClr val="tx1"/>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Interfaces can be specified in UML similar to class diagram, but with no attribute section, and UML stereotype «interface» should be included.</a:t>
            </a:r>
            <a:r>
              <a:rPr lang="en-US" sz="2600" dirty="0" smtClean="0">
                <a:solidFill>
                  <a:schemeClr val="tx2">
                    <a:lumMod val="75000"/>
                    <a:lumOff val="2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接口设计关注刻画接口细节</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I</a:t>
            </a:r>
            <a:r>
              <a:rPr lang="en-US" sz="3000" dirty="0" smtClean="0">
                <a:solidFill>
                  <a:schemeClr val="tx2">
                    <a:lumMod val="75000"/>
                    <a:lumOff val="25000"/>
                  </a:schemeClr>
                </a:solidFill>
                <a:latin typeface="Calibri" panose="020F0502020204030204" charset="0"/>
                <a:cs typeface="Calibri" panose="020F0502020204030204" charset="0"/>
                <a:sym typeface="+mn-ea"/>
              </a:rPr>
              <a:t>nterface design</a:t>
            </a:r>
            <a:r>
              <a:rPr lang="en-US" sz="3000" dirty="0" smtClean="0">
                <a:solidFill>
                  <a:schemeClr val="tx2">
                    <a:lumMod val="75000"/>
                    <a:lumOff val="25000"/>
                  </a:schemeClr>
                </a:solidFill>
                <a:latin typeface="Calibri" panose="020F0502020204030204" charset="0"/>
                <a:cs typeface="Calibri" panose="020F0502020204030204" charset="0"/>
              </a:rPr>
              <a:t> should not include details of the data representation, but should include operations to access and update data.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不应包括数据表示细节,但应包括操作</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There is not a simple 1:1 relationship between objects and interfaces.</a:t>
            </a:r>
            <a:r>
              <a:rPr lang="en-US" sz="2600" dirty="0" smtClean="0">
                <a:solidFill>
                  <a:schemeClr val="tx2">
                    <a:lumMod val="75000"/>
                    <a:lumOff val="25000"/>
                  </a:schemeClr>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The same object may have several interfaces. Equally, a group of objects may all be accessed through a single interface.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对象与接口并非1:1关系</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0250"/>
            <a:ext cx="8977630" cy="6007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Weather station interfaces</a:t>
            </a:r>
            <a:r>
              <a:rPr lang="en-US" altLang="zh-CN" sz="32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气象站接口</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24460" y="1859915"/>
            <a:ext cx="4434840" cy="2278380"/>
          </a:xfrm>
          <a:prstGeom prst="rect">
            <a:avLst/>
          </a:prstGeom>
        </p:spPr>
      </p:pic>
      <p:pic>
        <p:nvPicPr>
          <p:cNvPr id="5" name="图片 4"/>
          <p:cNvPicPr>
            <a:picLocks noChangeAspect="1"/>
          </p:cNvPicPr>
          <p:nvPr/>
        </p:nvPicPr>
        <p:blipFill>
          <a:blip r:embed="rId4"/>
          <a:stretch>
            <a:fillRect/>
          </a:stretch>
        </p:blipFill>
        <p:spPr>
          <a:xfrm>
            <a:off x="4553585" y="1505585"/>
            <a:ext cx="4439920" cy="2668905"/>
          </a:xfrm>
          <a:prstGeom prst="rect">
            <a:avLst/>
          </a:prstGeom>
        </p:spPr>
      </p:pic>
      <p:pic>
        <p:nvPicPr>
          <p:cNvPr id="6" name="图片 5"/>
          <p:cNvPicPr>
            <a:picLocks noChangeAspect="1"/>
          </p:cNvPicPr>
          <p:nvPr/>
        </p:nvPicPr>
        <p:blipFill>
          <a:blip r:embed="rId5"/>
          <a:stretch>
            <a:fillRect/>
          </a:stretch>
        </p:blipFill>
        <p:spPr>
          <a:xfrm>
            <a:off x="1543050" y="1329690"/>
            <a:ext cx="1752600" cy="466725"/>
          </a:xfrm>
          <a:prstGeom prst="rect">
            <a:avLst/>
          </a:prstGeom>
        </p:spPr>
      </p:pic>
      <p:sp>
        <p:nvSpPr>
          <p:cNvPr id="10" name="Content Placeholder 2"/>
          <p:cNvSpPr>
            <a:spLocks noGrp="1"/>
          </p:cNvSpPr>
          <p:nvPr/>
        </p:nvSpPr>
        <p:spPr>
          <a:xfrm>
            <a:off x="76200" y="4209415"/>
            <a:ext cx="9001125" cy="244030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Fig. 7.9 shows two interfaces that may be defined for the weather station.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The lefthand interface is a </a:t>
            </a:r>
            <a:r>
              <a:rPr lang="en-US" sz="2200" b="0" u="sng" dirty="0" smtClean="0">
                <a:solidFill>
                  <a:schemeClr val="tx1"/>
                </a:solidFill>
                <a:latin typeface="Calibri" panose="020F0502020204030204" charset="0"/>
                <a:cs typeface="Calibri" panose="020F0502020204030204" charset="0"/>
              </a:rPr>
              <a:t>reporting interface</a:t>
            </a:r>
            <a:r>
              <a:rPr lang="en-US" sz="2200" b="0" dirty="0" smtClean="0">
                <a:solidFill>
                  <a:schemeClr val="tx1"/>
                </a:solidFill>
                <a:latin typeface="Calibri" panose="020F0502020204030204" charset="0"/>
                <a:cs typeface="Calibri" panose="020F0502020204030204" charset="0"/>
              </a:rPr>
              <a:t> that defines the operation names that are used to generate weather and status reports. These map directly to operations in the WeatherStation object.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The </a:t>
            </a:r>
            <a:r>
              <a:rPr lang="en-US" sz="2200" b="0" u="sng" dirty="0" smtClean="0">
                <a:solidFill>
                  <a:schemeClr val="tx1"/>
                </a:solidFill>
                <a:latin typeface="Calibri" panose="020F0502020204030204" charset="0"/>
                <a:cs typeface="Calibri" panose="020F0502020204030204" charset="0"/>
              </a:rPr>
              <a:t>remote control interface</a:t>
            </a:r>
            <a:r>
              <a:rPr lang="en-US" sz="2200" b="0" dirty="0" smtClean="0">
                <a:solidFill>
                  <a:schemeClr val="tx1"/>
                </a:solidFill>
                <a:latin typeface="Calibri" panose="020F0502020204030204" charset="0"/>
                <a:cs typeface="Calibri" panose="020F0502020204030204" charset="0"/>
              </a:rPr>
              <a:t> provides four operations, which map onto a single method in the WeatherStation object. In this case, the individual operations are encoded in the command string associated with the remoteControl method, shown in Figure 7.6.</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7.2 Design patterns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设计模式</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48895" y="1341120"/>
            <a:ext cx="9017635" cy="48412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pattern is a description of the problem and the essence of its solution, so that the solution may be reused in different settings. </a:t>
            </a:r>
            <a:r>
              <a:rPr lang="en-US" sz="2800" b="0" dirty="0" smtClean="0">
                <a:solidFill>
                  <a:schemeClr val="tx1"/>
                </a:solidFill>
                <a:latin typeface="Calibri" panose="020F0502020204030204" charset="0"/>
                <a:cs typeface="Calibri" panose="020F0502020204030204" charset="0"/>
              </a:rPr>
              <a:t>Patterns are a way of reusing the knowledge and experience of other designers.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模式：问题描述+解决方案精髓，因而可复用</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Design patterns are usually associated with object-oriented design. </a:t>
            </a:r>
            <a:r>
              <a:rPr lang="en-US" sz="2800" b="0" dirty="0" smtClean="0">
                <a:solidFill>
                  <a:schemeClr val="tx1"/>
                </a:solidFill>
                <a:latin typeface="Calibri" panose="020F0502020204030204" charset="0"/>
                <a:cs typeface="Calibri" panose="020F0502020204030204" charset="0"/>
              </a:rPr>
              <a:t>Published patterns often rely on object characteristics such as inheritance and polymorphism to provide generality. However, the general principle of encapsulating experience in a pattern is one that is equally applicable to any kind of software design.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设计模式通常与面向对象设计相关联</a:t>
            </a:r>
            <a:r>
              <a:rPr lang="en-US" sz="3200" dirty="0" smtClean="0">
                <a:solidFill>
                  <a:schemeClr val="tx2">
                    <a:lumMod val="75000"/>
                    <a:lumOff val="25000"/>
                  </a:schemeClr>
                </a:solidFill>
                <a:latin typeface="Calibri" panose="020F0502020204030204" charset="0"/>
                <a:cs typeface="Calibri" panose="020F0502020204030204" charset="0"/>
              </a:rPr>
              <a:t> </a:t>
            </a:r>
            <a:endParaRPr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116522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The </a:t>
            </a:r>
            <a:r>
              <a:rPr lang="zh-CN" altLang="en-US" sz="2800" i="1" dirty="0">
                <a:solidFill>
                  <a:schemeClr val="accent1">
                    <a:lumMod val="75000"/>
                  </a:schemeClr>
                </a:solidFill>
                <a:ea typeface="宋体" panose="02010600030101010101" pitchFamily="2" charset="-122"/>
                <a:sym typeface="+mn-ea"/>
              </a:rPr>
              <a:t>Gang of Four</a:t>
            </a:r>
            <a:r>
              <a:rPr lang="zh-CN" altLang="en-US" sz="2800" dirty="0">
                <a:solidFill>
                  <a:schemeClr val="accent1">
                    <a:lumMod val="75000"/>
                  </a:schemeClr>
                </a:solidFill>
                <a:ea typeface="宋体" panose="02010600030101010101" pitchFamily="2" charset="-122"/>
                <a:sym typeface="+mn-ea"/>
              </a:rPr>
              <a:t> defined the four essential</a:t>
            </a: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elements of design patterns in their</a:t>
            </a: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book on</a:t>
            </a:r>
            <a:r>
              <a:rPr lang="en-US" altLang="zh-CN" sz="2800" dirty="0">
                <a:solidFill>
                  <a:schemeClr val="accent1">
                    <a:lumMod val="75000"/>
                  </a:schemeClr>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patterns:</a:t>
            </a:r>
            <a:r>
              <a:rPr lang="en-US" altLang="zh-CN" sz="2800" dirty="0">
                <a:solidFill>
                  <a:schemeClr val="accent1">
                    <a:lumMod val="75000"/>
                  </a:schemeClr>
                </a:solidFill>
                <a:ea typeface="宋体" panose="02010600030101010101" pitchFamily="2" charset="-122"/>
                <a:sym typeface="+mn-ea"/>
              </a:rPr>
              <a:t>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四人帮</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定义的设计模式的</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4</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个基本</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要素</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07523" name="Rectangle 3"/>
          <p:cNvSpPr>
            <a:spLocks noGrp="1" noChangeArrowheads="1"/>
          </p:cNvSpPr>
          <p:nvPr/>
        </p:nvSpPr>
        <p:spPr>
          <a:xfrm>
            <a:off x="54610" y="1915160"/>
            <a:ext cx="9012555" cy="48240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t>
            </a:r>
            <a:r>
              <a:rPr sz="3000" i="1" u="sng" dirty="0" smtClean="0">
                <a:solidFill>
                  <a:schemeClr val="tx2">
                    <a:lumMod val="75000"/>
                    <a:lumOff val="25000"/>
                  </a:schemeClr>
                </a:solidFill>
                <a:latin typeface="Calibri" panose="020F0502020204030204" charset="0"/>
                <a:cs typeface="Calibri" panose="020F0502020204030204" charset="0"/>
              </a:rPr>
              <a:t>A name</a:t>
            </a:r>
            <a:r>
              <a:rPr lang="en-US" sz="3000" dirty="0" smtClean="0">
                <a:solidFill>
                  <a:schemeClr val="tx2">
                    <a:lumMod val="75000"/>
                    <a:lumOff val="25000"/>
                  </a:schemeClr>
                </a:solidFill>
                <a:latin typeface="Calibri" panose="020F0502020204030204" charset="0"/>
                <a:cs typeface="Calibri" panose="020F0502020204030204" charset="0"/>
              </a:rPr>
              <a:t>,</a:t>
            </a:r>
            <a:r>
              <a:rPr sz="3000" dirty="0" smtClean="0">
                <a:solidFill>
                  <a:schemeClr val="tx2">
                    <a:lumMod val="75000"/>
                    <a:lumOff val="25000"/>
                  </a:schemeClr>
                </a:solidFill>
                <a:latin typeface="Calibri" panose="020F0502020204030204" charset="0"/>
                <a:cs typeface="Calibri" panose="020F0502020204030204" charset="0"/>
              </a:rPr>
              <a:t> a meaningful reference to the pattern.</a:t>
            </a:r>
            <a:r>
              <a:rPr lang="en-US" sz="3000" dirty="0" smtClean="0">
                <a:solidFill>
                  <a:schemeClr val="tx2">
                    <a:lumMod val="75000"/>
                    <a:lumOff val="25000"/>
                  </a:schemeClr>
                </a:solidFill>
                <a:latin typeface="Calibri" panose="020F0502020204030204" charset="0"/>
                <a:cs typeface="Calibri" panose="020F0502020204030204" charset="0"/>
              </a:rPr>
              <a:t>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名字</a:t>
            </a:r>
            <a:endParaRPr sz="3200" dirty="0" smtClean="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t>
            </a:r>
            <a:r>
              <a:rPr sz="3000" i="1" u="sng" dirty="0" smtClean="0">
                <a:solidFill>
                  <a:schemeClr val="tx2">
                    <a:lumMod val="75000"/>
                    <a:lumOff val="25000"/>
                  </a:schemeClr>
                </a:solidFill>
                <a:latin typeface="Calibri" panose="020F0502020204030204" charset="0"/>
                <a:cs typeface="Calibri" panose="020F0502020204030204" charset="0"/>
              </a:rPr>
              <a:t>A description of the problem area</a:t>
            </a:r>
            <a:r>
              <a:rPr sz="3000" dirty="0" smtClean="0">
                <a:solidFill>
                  <a:schemeClr val="tx2">
                    <a:lumMod val="75000"/>
                    <a:lumOff val="25000"/>
                  </a:schemeClr>
                </a:solidFill>
                <a:latin typeface="Calibri" panose="020F0502020204030204" charset="0"/>
                <a:cs typeface="Calibri" panose="020F0502020204030204" charset="0"/>
              </a:rPr>
              <a:t> that explains when the pattern may be applied.</a:t>
            </a:r>
            <a:r>
              <a:rPr lang="en-US" sz="3000" dirty="0" smtClean="0">
                <a:solidFill>
                  <a:schemeClr val="tx2">
                    <a:lumMod val="75000"/>
                    <a:lumOff val="25000"/>
                  </a:schemeClr>
                </a:solidFill>
                <a:latin typeface="Calibri" panose="020F0502020204030204" charset="0"/>
                <a:cs typeface="Calibri" panose="020F0502020204030204" charset="0"/>
              </a:rPr>
              <a:t>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可适用的问题域的描述</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a:t>
            </a:r>
            <a:r>
              <a:rPr sz="3000" i="1" u="sng" dirty="0" smtClean="0">
                <a:solidFill>
                  <a:schemeClr val="tx2">
                    <a:lumMod val="75000"/>
                    <a:lumOff val="25000"/>
                  </a:schemeClr>
                </a:solidFill>
                <a:latin typeface="Calibri" panose="020F0502020204030204" charset="0"/>
                <a:cs typeface="Calibri" panose="020F0502020204030204" charset="0"/>
              </a:rPr>
              <a:t>A solution description</a:t>
            </a:r>
            <a:r>
              <a:rPr sz="3000" dirty="0" smtClean="0">
                <a:solidFill>
                  <a:schemeClr val="tx2">
                    <a:lumMod val="75000"/>
                    <a:lumOff val="25000"/>
                  </a:schemeClr>
                </a:solidFill>
                <a:latin typeface="Calibri" panose="020F0502020204030204" charset="0"/>
                <a:cs typeface="Calibri" panose="020F0502020204030204" charset="0"/>
              </a:rPr>
              <a:t> of the parts of the design solution, their relationships and their</a:t>
            </a:r>
            <a:r>
              <a:rPr lang="en-US" sz="3000" dirty="0" smtClean="0">
                <a:solidFill>
                  <a:schemeClr val="tx2">
                    <a:lumMod val="75000"/>
                    <a:lumOff val="25000"/>
                  </a:schemeClr>
                </a:solidFill>
                <a:latin typeface="Calibri" panose="020F0502020204030204" charset="0"/>
                <a:cs typeface="Calibri" panose="020F0502020204030204" charset="0"/>
              </a:rPr>
              <a:t> </a:t>
            </a:r>
            <a:r>
              <a:rPr sz="3000" dirty="0" smtClean="0">
                <a:solidFill>
                  <a:schemeClr val="tx2">
                    <a:lumMod val="75000"/>
                    <a:lumOff val="25000"/>
                  </a:schemeClr>
                </a:solidFill>
                <a:latin typeface="Calibri" panose="020F0502020204030204" charset="0"/>
                <a:cs typeface="Calibri" panose="020F0502020204030204" charset="0"/>
              </a:rPr>
              <a:t>responsibilities. </a:t>
            </a:r>
            <a:r>
              <a:rPr sz="2800" b="0" dirty="0" smtClean="0">
                <a:solidFill>
                  <a:schemeClr val="tx1"/>
                </a:solidFill>
                <a:latin typeface="Calibri" panose="020F0502020204030204" charset="0"/>
                <a:cs typeface="Calibri" panose="020F0502020204030204" charset="0"/>
              </a:rPr>
              <a:t>This is not a concrete design description. It is a template for a design</a:t>
            </a:r>
            <a:r>
              <a:rPr lang="en-US" sz="2800" b="0" dirty="0" smtClean="0">
                <a:solidFill>
                  <a:schemeClr val="tx1"/>
                </a:solidFill>
                <a:latin typeface="Calibri" panose="020F0502020204030204" charset="0"/>
                <a:cs typeface="Calibri" panose="020F0502020204030204" charset="0"/>
              </a:rPr>
              <a:t> </a:t>
            </a:r>
            <a:r>
              <a:rPr sz="2800" b="0" dirty="0" smtClean="0">
                <a:solidFill>
                  <a:schemeClr val="tx1"/>
                </a:solidFill>
                <a:latin typeface="Calibri" panose="020F0502020204030204" charset="0"/>
                <a:cs typeface="Calibri" panose="020F0502020204030204" charset="0"/>
              </a:rPr>
              <a:t>solution that can be instantiated in different ways.</a:t>
            </a:r>
            <a:r>
              <a:rPr lang="en-US" sz="2800" b="0" dirty="0" smtClean="0">
                <a:solidFill>
                  <a:schemeClr val="tx1"/>
                </a:solidFill>
                <a:latin typeface="Calibri" panose="020F0502020204030204" charset="0"/>
                <a:cs typeface="Calibri" panose="020F0502020204030204" charset="0"/>
              </a:rPr>
              <a:t>  </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各部分</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解决方案的描述，及其相互关系和职责</a:t>
            </a:r>
            <a:endPar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Aft>
                <a:spcPts val="0"/>
              </a:spcAft>
            </a:pPr>
            <a:r>
              <a:rPr lang="en-US" sz="3000" i="1" u="sng" dirty="0" smtClean="0">
                <a:solidFill>
                  <a:schemeClr val="tx2">
                    <a:lumMod val="75000"/>
                    <a:lumOff val="25000"/>
                  </a:schemeClr>
                </a:solidFill>
                <a:latin typeface="Calibri" panose="020F0502020204030204" charset="0"/>
                <a:cs typeface="Calibri" panose="020F0502020204030204" charset="0"/>
              </a:rPr>
              <a:t> </a:t>
            </a:r>
            <a:r>
              <a:rPr sz="3000" i="1" u="sng" dirty="0" smtClean="0">
                <a:solidFill>
                  <a:schemeClr val="tx2">
                    <a:lumMod val="75000"/>
                    <a:lumOff val="25000"/>
                  </a:schemeClr>
                </a:solidFill>
                <a:latin typeface="Calibri" panose="020F0502020204030204" charset="0"/>
                <a:cs typeface="Calibri" panose="020F0502020204030204" charset="0"/>
              </a:rPr>
              <a:t>A statement of the consequences</a:t>
            </a:r>
            <a:r>
              <a:rPr sz="3000" dirty="0" smtClean="0">
                <a:solidFill>
                  <a:schemeClr val="tx2">
                    <a:lumMod val="75000"/>
                    <a:lumOff val="25000"/>
                  </a:schemeClr>
                </a:solidFill>
                <a:latin typeface="Calibri" panose="020F0502020204030204" charset="0"/>
                <a:cs typeface="Calibri" panose="020F0502020204030204" charset="0"/>
              </a:rPr>
              <a:t>—the results and trade-offs—of applying the</a:t>
            </a:r>
            <a:r>
              <a:rPr lang="en-US" sz="3000" dirty="0" smtClean="0">
                <a:solidFill>
                  <a:schemeClr val="tx2">
                    <a:lumMod val="75000"/>
                    <a:lumOff val="25000"/>
                  </a:schemeClr>
                </a:solidFill>
                <a:latin typeface="Calibri" panose="020F0502020204030204" charset="0"/>
                <a:cs typeface="Calibri" panose="020F0502020204030204" charset="0"/>
              </a:rPr>
              <a:t> </a:t>
            </a:r>
            <a:r>
              <a:rPr sz="3000" dirty="0" smtClean="0">
                <a:solidFill>
                  <a:schemeClr val="tx2">
                    <a:lumMod val="75000"/>
                    <a:lumOff val="25000"/>
                  </a:schemeClr>
                </a:solidFill>
                <a:latin typeface="Calibri" panose="020F0502020204030204" charset="0"/>
                <a:cs typeface="Calibri" panose="020F0502020204030204" charset="0"/>
              </a:rPr>
              <a:t>pattern. </a:t>
            </a:r>
            <a:r>
              <a:rPr sz="2800" b="0" dirty="0" smtClean="0">
                <a:solidFill>
                  <a:schemeClr val="tx1"/>
                </a:solidFill>
                <a:latin typeface="Calibri" panose="020F0502020204030204" charset="0"/>
                <a:cs typeface="Calibri" panose="020F0502020204030204" charset="0"/>
              </a:rPr>
              <a:t>This can help designers understand whether or not a pattern can be used</a:t>
            </a:r>
            <a:r>
              <a:rPr lang="en-US" sz="2800" b="0" dirty="0" smtClean="0">
                <a:solidFill>
                  <a:schemeClr val="tx1"/>
                </a:solidFill>
                <a:latin typeface="Calibri" panose="020F0502020204030204" charset="0"/>
                <a:cs typeface="Calibri" panose="020F0502020204030204" charset="0"/>
              </a:rPr>
              <a:t> </a:t>
            </a:r>
            <a:r>
              <a:rPr sz="2800" b="0" dirty="0" smtClean="0">
                <a:solidFill>
                  <a:schemeClr val="tx1"/>
                </a:solidFill>
                <a:latin typeface="Calibri" panose="020F0502020204030204" charset="0"/>
                <a:cs typeface="Calibri" panose="020F0502020204030204" charset="0"/>
              </a:rPr>
              <a:t>in a particular situation.</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后果陈述</a:t>
            </a:r>
            <a:r>
              <a:rPr lang="en-US" altLang="zh-CN"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3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采用模式的结果和权衡</a:t>
            </a:r>
            <a:endParaRPr lang="zh-CN" altLang="en-US" sz="2300" kern="0" dirty="0" smtClean="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8350"/>
            <a:ext cx="8977630" cy="6343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Observer pattern</a:t>
            </a:r>
            <a:r>
              <a:rPr lang="en-US" altLang="zh-CN" sz="3200" dirty="0">
                <a:solidFill>
                  <a:schemeClr val="accent1">
                    <a:lumMod val="75000"/>
                  </a:schemeClr>
                </a:solidFill>
                <a:ea typeface="宋体" panose="02010600030101010101" pitchFamily="2" charset="-122"/>
                <a:sym typeface="+mn-ea"/>
              </a:rPr>
              <a:t>   </a:t>
            </a:r>
            <a:r>
              <a:rPr lang="zh-CN" altLang="en-US"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观察者模式</a:t>
            </a:r>
            <a:endParaRPr lang="zh-CN" altLang="en-US" kern="1200" dirty="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148483" name="Rectangle 3"/>
          <p:cNvSpPr>
            <a:spLocks noGrp="1" noChangeArrowheads="1"/>
          </p:cNvSpPr>
          <p:nvPr/>
        </p:nvSpPr>
        <p:spPr>
          <a:xfrm>
            <a:off x="75565" y="1313180"/>
            <a:ext cx="8990330" cy="4630420"/>
          </a:xfrm>
          <a:prstGeom prst="rect">
            <a:avLst/>
          </a:prstGeom>
        </p:spPr>
        <p:txBody>
          <a:bodyPr lIns="91797" tIns="45898" rIns="91797" bIns="45898"/>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Shown in Fig. 7.10, here use the four essential description elements and also include a brief statement of what the pattern can do.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4个基本描述元素</a:t>
            </a:r>
            <a:endParaRPr lang="en-US" altLang="en-GB" sz="2000" dirty="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Bef>
                <a:spcPts val="600"/>
              </a:spcBef>
              <a:spcAft>
                <a:spcPts val="0"/>
              </a:spcAft>
            </a:pPr>
            <a:r>
              <a:rPr lang="en-US" altLang="en-GB" sz="3200" dirty="0">
                <a:solidFill>
                  <a:schemeClr val="accent2">
                    <a:lumMod val="75000"/>
                  </a:schemeClr>
                </a:solidFill>
                <a:latin typeface="Calibri" panose="020F0502020204030204" charset="0"/>
                <a:cs typeface="Calibri" panose="020F0502020204030204" charset="0"/>
              </a:rPr>
              <a:t> This pattern can be used in situations where different presentations of an object’s state are required.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用于对象状态的不同展示</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It separates the object that must be displayed from the different forms of presentation.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将对象与不同形式的展示分离</a:t>
            </a:r>
            <a:endPar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This is illustrated in Fig. 7.11, which shows two different graphical presentations of the same dataset.  </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同一个数据集的</a:t>
            </a:r>
            <a:r>
              <a:rPr lang="en-US" altLang="zh-CN" sz="2000" dirty="0">
                <a:solidFill>
                  <a:srgbClr val="C00000"/>
                </a:solidFill>
                <a:latin typeface="黑体" panose="02010609060101010101" pitchFamily="49" charset="-122"/>
                <a:ea typeface="黑体" panose="02010609060101010101" pitchFamily="49" charset="-122"/>
                <a:cs typeface="Calibri" panose="020F0502020204030204" charset="0"/>
              </a:rPr>
              <a:t>2</a:t>
            </a:r>
            <a:r>
              <a:rPr lang="zh-CN" altLang="en-US" sz="2000" dirty="0">
                <a:solidFill>
                  <a:srgbClr val="C00000"/>
                </a:solidFill>
                <a:latin typeface="黑体" panose="02010609060101010101" pitchFamily="49" charset="-122"/>
                <a:ea typeface="黑体" panose="02010609060101010101" pitchFamily="49" charset="-122"/>
                <a:cs typeface="Calibri" panose="020F0502020204030204" charset="0"/>
              </a:rPr>
              <a:t>个图形表示</a:t>
            </a:r>
            <a:endParaRPr lang="en-US" altLang="en-GB" sz="2800" b="0" dirty="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902335" y="1810385"/>
            <a:ext cx="7252335" cy="4622800"/>
          </a:xfrm>
          <a:prstGeom prst="rect">
            <a:avLst/>
          </a:prstGeom>
        </p:spPr>
      </p:pic>
      <p:sp>
        <p:nvSpPr>
          <p:cNvPr id="8" name="Rectangle 3"/>
          <p:cNvSpPr>
            <a:spLocks noGrp="1" noRot="1"/>
          </p:cNvSpPr>
          <p:nvPr>
            <p:ph type="subTitle" idx="1"/>
            <p:custDataLst>
              <p:tags r:id="rId2"/>
            </p:custDataLst>
          </p:nvPr>
        </p:nvSpPr>
        <p:spPr>
          <a:xfrm>
            <a:off x="88900" y="786765"/>
            <a:ext cx="8977630" cy="9594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chemeClr val="accent1">
                    <a:lumMod val="75000"/>
                  </a:schemeClr>
                </a:solidFill>
                <a:ea typeface="宋体" panose="02010600030101010101" pitchFamily="2" charset="-122"/>
                <a:sym typeface="+mn-ea"/>
              </a:rPr>
              <a:t> </a:t>
            </a:r>
            <a:r>
              <a:rPr lang="zh-CN" altLang="en-US" sz="3100" dirty="0">
                <a:solidFill>
                  <a:schemeClr val="accent1">
                    <a:lumMod val="75000"/>
                  </a:schemeClr>
                </a:solidFill>
                <a:ea typeface="宋体" panose="02010600030101010101" pitchFamily="2" charset="-122"/>
                <a:sym typeface="+mn-ea"/>
              </a:rPr>
              <a:t>Multiple displays using the Observer pattern</a:t>
            </a:r>
            <a:r>
              <a:rPr lang="en-US" altLang="zh-CN" sz="3100" dirty="0">
                <a:solidFill>
                  <a:schemeClr val="accent1">
                    <a:lumMod val="75000"/>
                  </a:schemeClr>
                </a:solidFill>
                <a:ea typeface="宋体" panose="02010600030101010101" pitchFamily="2" charset="-122"/>
                <a:sym typeface="+mn-ea"/>
              </a:rPr>
              <a:t> </a:t>
            </a:r>
            <a:r>
              <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rPr>
              <a:t>采用观察者模式的多种呈现方式</a:t>
            </a:r>
            <a:endParaRPr lang="zh-CN" altLang="en-US" sz="2400" kern="1200" dirty="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9" name="Rectangle 2"/>
          <p:cNvSpPr>
            <a:spLocks noGrp="1"/>
          </p:cNvSpPr>
          <p:nvPr>
            <p:ph type="title"/>
            <p:custDataLst>
              <p:tags r:id="rId3"/>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12" name="图片 11"/>
          <p:cNvPicPr>
            <a:picLocks noChangeAspect="1"/>
          </p:cNvPicPr>
          <p:nvPr/>
        </p:nvPicPr>
        <p:blipFill>
          <a:blip r:embed="rId4"/>
          <a:stretch>
            <a:fillRect/>
          </a:stretch>
        </p:blipFill>
        <p:spPr>
          <a:xfrm>
            <a:off x="3404235" y="2348230"/>
            <a:ext cx="2199005" cy="574675"/>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Observer pattern (1)</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graphicFrame>
        <p:nvGraphicFramePr>
          <p:cNvPr id="2" name="Content Placeholder 3"/>
          <p:cNvGraphicFramePr>
            <a:graphicFrameLocks noGrp="1"/>
          </p:cNvGraphicFramePr>
          <p:nvPr>
            <p:custDataLst>
              <p:tags r:id="rId3"/>
            </p:custDataLst>
          </p:nvPr>
        </p:nvGraphicFramePr>
        <p:xfrm>
          <a:off x="100965" y="1391920"/>
          <a:ext cx="8940800" cy="5167630"/>
        </p:xfrm>
        <a:graphic>
          <a:graphicData uri="http://schemas.openxmlformats.org/drawingml/2006/table">
            <a:tbl>
              <a:tblPr firstRow="1" bandRow="1">
                <a:effectLst/>
                <a:tableStyleId>{5940675A-B579-460E-94D1-54222C63F5DA}</a:tableStyleId>
              </a:tblPr>
              <a:tblGrid>
                <a:gridCol w="1791970"/>
                <a:gridCol w="7148830"/>
              </a:tblGrid>
              <a:tr h="703580">
                <a:tc>
                  <a:txBody>
                    <a:bodyPr/>
                    <a:p>
                      <a:pPr algn="ctr"/>
                      <a:r>
                        <a:rPr lang="en-US" sz="2000" b="1" dirty="0" smtClean="0">
                          <a:solidFill>
                            <a:sysClr val="window" lastClr="FFFFFF"/>
                          </a:solidFill>
                          <a:latin typeface="Arial" panose="020B0604020202020204"/>
                          <a:cs typeface="Arial" panose="020B0604020202020204"/>
                        </a:rPr>
                        <a:t>Pattern name </a:t>
                      </a:r>
                      <a:r>
                        <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rPr>
                        <a:t>模式名</a:t>
                      </a:r>
                      <a:endPar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r>
                        <a:rPr lang="en-US" sz="2000" b="1" dirty="0" smtClean="0">
                          <a:solidFill>
                            <a:sysClr val="window" lastClr="FFFFFF"/>
                          </a:solidFill>
                          <a:latin typeface="Arial" panose="020B0604020202020204"/>
                          <a:cs typeface="Arial" panose="020B0604020202020204"/>
                        </a:rPr>
                        <a:t>Observer</a:t>
                      </a:r>
                      <a:endParaRPr lang="en-US" sz="2000" b="1" dirty="0" smtClean="0">
                        <a:solidFill>
                          <a:sysClr val="window" lastClr="FFFFFF"/>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314450">
                <a:tc>
                  <a:txBody>
                    <a:bodyPr/>
                    <a:p>
                      <a:r>
                        <a:rPr lang="en-US" sz="2000" dirty="0" smtClean="0">
                          <a:solidFill>
                            <a:sysClr val="windowText" lastClr="000000"/>
                          </a:solidFill>
                          <a:latin typeface="Arial" panose="020B0604020202020204"/>
                          <a:cs typeface="Arial" panose="020B0604020202020204"/>
                        </a:rPr>
                        <a:t>Description  </a:t>
                      </a:r>
                      <a:r>
                        <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rPr>
                        <a:t>描述</a:t>
                      </a:r>
                      <a:endPar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r>
                        <a:rPr lang="en-US" sz="2000" kern="1200" dirty="0" smtClean="0">
                          <a:solidFill>
                            <a:sysClr val="windowText" lastClr="000000"/>
                          </a:solidFill>
                          <a:latin typeface="Arial" panose="020B0604020202020204"/>
                          <a:ea typeface="+mn-ea"/>
                          <a:cs typeface="Arial" panose="020B0604020202020204"/>
                        </a:rPr>
                        <a:t>Separates the display of the state of an object from the object itself and allows alternative displays to be provided. When the object state changes, all displays are automatically notified and updated to reflect the change.</a:t>
                      </a:r>
                      <a:r>
                        <a:rPr lang="en-GB" sz="2000" dirty="0" smtClean="0">
                          <a:solidFill>
                            <a:sysClr val="windowText" lastClr="000000"/>
                          </a:solidFill>
                          <a:latin typeface="Arial" panose="020B0604020202020204"/>
                          <a:cs typeface="Arial" panose="020B0604020202020204"/>
                        </a:rPr>
                        <a:t> </a:t>
                      </a:r>
                      <a:endParaRPr lang="en-US" sz="2000" dirty="0" smtClean="0">
                        <a:solidFill>
                          <a:sysClr val="windowText" lastClr="000000"/>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3149600">
                <a:tc>
                  <a:txBody>
                    <a:bodyPr/>
                    <a:p>
                      <a:r>
                        <a:rPr lang="en-US" sz="2000" dirty="0" smtClean="0">
                          <a:solidFill>
                            <a:sysClr val="windowText" lastClr="000000"/>
                          </a:solidFill>
                          <a:latin typeface="Arial" panose="020B0604020202020204"/>
                          <a:cs typeface="Arial" panose="020B0604020202020204"/>
                        </a:rPr>
                        <a:t>Problem description </a:t>
                      </a:r>
                      <a:r>
                        <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rPr>
                        <a:t>问题描述</a:t>
                      </a:r>
                      <a:endPar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r>
                        <a:rPr lang="en-US" sz="2000" kern="1200" dirty="0" smtClean="0">
                          <a:solidFill>
                            <a:sysClr val="windowText" lastClr="000000"/>
                          </a:solidFill>
                          <a:latin typeface="Arial" panose="020B0604020202020204"/>
                          <a:ea typeface="+mn-ea"/>
                          <a:cs typeface="Arial" panose="020B0604020202020204"/>
                        </a:rPr>
                        <a:t>In many situations, you have to provide multiple displays of state information, such as a graphical display and a tabular display. Not all of these may be known when the information is specified. All alternative presentations should support interaction and, when the state is changed, all displays must be updated.</a:t>
                      </a:r>
                      <a:endParaRPr lang="en-GB" sz="2000" kern="1200" dirty="0" smtClean="0">
                        <a:solidFill>
                          <a:sysClr val="windowText" lastClr="000000"/>
                        </a:solidFill>
                        <a:latin typeface="Arial" panose="020B0604020202020204"/>
                        <a:ea typeface="+mn-ea"/>
                        <a:cs typeface="Arial" panose="020B0604020202020204"/>
                      </a:endParaRPr>
                    </a:p>
                    <a:p>
                      <a:r>
                        <a:rPr lang="en-US" sz="2000" kern="1200" dirty="0" smtClean="0">
                          <a:solidFill>
                            <a:sysClr val="windowText" lastClr="000000"/>
                          </a:solidFill>
                          <a:latin typeface="Arial" panose="020B0604020202020204"/>
                          <a:ea typeface="+mn-ea"/>
                          <a:cs typeface="Arial" panose="020B0604020202020204"/>
                        </a:rPr>
                        <a:t>This pattern may be used in situations where more than one display format for state information is required and where it is not necessary for the object that maintains the state information to know about the specific display formats used.</a:t>
                      </a:r>
                      <a:endParaRPr lang="en-US" sz="2000" kern="1200" dirty="0" smtClean="0">
                        <a:solidFill>
                          <a:sysClr val="windowText" lastClr="000000"/>
                        </a:solidFill>
                        <a:latin typeface="Arial" panose="020B0604020202020204"/>
                        <a:ea typeface="+mn-ea"/>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pic>
        <p:nvPicPr>
          <p:cNvPr id="3" name="图片 2"/>
          <p:cNvPicPr>
            <a:picLocks noChangeAspect="1"/>
          </p:cNvPicPr>
          <p:nvPr/>
        </p:nvPicPr>
        <p:blipFill>
          <a:blip r:embed="rId4"/>
          <a:stretch>
            <a:fillRect/>
          </a:stretch>
        </p:blipFill>
        <p:spPr>
          <a:xfrm>
            <a:off x="6416675" y="817880"/>
            <a:ext cx="1476375" cy="48577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6920"/>
            <a:ext cx="8977630" cy="5740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The Observer pattern (2)</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graphicFrame>
        <p:nvGraphicFramePr>
          <p:cNvPr id="3" name="Content Placeholder 3"/>
          <p:cNvGraphicFramePr>
            <a:graphicFrameLocks noGrp="1"/>
          </p:cNvGraphicFramePr>
          <p:nvPr>
            <p:custDataLst>
              <p:tags r:id="rId3"/>
            </p:custDataLst>
          </p:nvPr>
        </p:nvGraphicFramePr>
        <p:xfrm>
          <a:off x="88900" y="1353185"/>
          <a:ext cx="8977630" cy="5271770"/>
        </p:xfrm>
        <a:graphic>
          <a:graphicData uri="http://schemas.openxmlformats.org/drawingml/2006/table">
            <a:tbl>
              <a:tblPr firstRow="1" bandRow="1">
                <a:effectLst/>
                <a:tableStyleId>{5940675A-B579-460E-94D1-54222C63F5DA}</a:tableStyleId>
              </a:tblPr>
              <a:tblGrid>
                <a:gridCol w="1637030"/>
                <a:gridCol w="7340600"/>
              </a:tblGrid>
              <a:tr h="350520">
                <a:tc>
                  <a:txBody>
                    <a:bodyPr/>
                    <a:p>
                      <a:pPr algn="ctr"/>
                      <a:r>
                        <a:rPr lang="en-US" sz="1700" b="1" dirty="0" smtClean="0">
                          <a:solidFill>
                            <a:sysClr val="window" lastClr="FFFFFF"/>
                          </a:solidFill>
                          <a:latin typeface="Arial" panose="020B0604020202020204"/>
                          <a:cs typeface="Arial" panose="020B0604020202020204"/>
                        </a:rPr>
                        <a:t>Pattern name</a:t>
                      </a:r>
                      <a:endParaRPr lang="en-US" sz="1700" b="1" dirty="0" smtClean="0">
                        <a:solidFill>
                          <a:sysClr val="window" lastClr="FFFFFF"/>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r>
                        <a:rPr lang="en-US" sz="1700" b="1" dirty="0" smtClean="0">
                          <a:solidFill>
                            <a:sysClr val="window" lastClr="FFFFFF"/>
                          </a:solidFill>
                          <a:latin typeface="Arial" panose="020B0604020202020204"/>
                          <a:cs typeface="Arial" panose="020B0604020202020204"/>
                        </a:rPr>
                        <a:t>Observer</a:t>
                      </a:r>
                      <a:endParaRPr lang="en-US" sz="1700" b="1" dirty="0" smtClean="0">
                        <a:solidFill>
                          <a:sysClr val="window" lastClr="FFFFFF"/>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3200400">
                <a:tc>
                  <a:txBody>
                    <a:bodyPr/>
                    <a:p>
                      <a:pPr algn="l"/>
                      <a:r>
                        <a:rPr lang="en-US" sz="1700" dirty="0" smtClean="0">
                          <a:solidFill>
                            <a:sysClr val="windowText" lastClr="000000"/>
                          </a:solidFill>
                          <a:latin typeface="Arial" panose="020B0604020202020204"/>
                          <a:cs typeface="Arial" panose="020B0604020202020204"/>
                        </a:rPr>
                        <a:t>Solution description </a:t>
                      </a:r>
                      <a:r>
                        <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rPr>
                        <a:t>解决方案描述</a:t>
                      </a:r>
                      <a:endPar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r>
                        <a:rPr lang="en-US" sz="1700" kern="1200" dirty="0" smtClean="0">
                          <a:solidFill>
                            <a:sysClr val="windowText" lastClr="000000"/>
                          </a:solidFill>
                          <a:latin typeface="Arial" panose="020B0604020202020204"/>
                          <a:ea typeface="+mn-ea"/>
                          <a:cs typeface="Arial" panose="020B0604020202020204"/>
                        </a:rPr>
                        <a:t>This involves two abstract objects, Subject and Observer, and two concrete objects, </a:t>
                      </a:r>
                      <a:r>
                        <a:rPr lang="en-US" sz="1700" kern="1200" dirty="0" err="1" smtClean="0">
                          <a:solidFill>
                            <a:sysClr val="windowText" lastClr="000000"/>
                          </a:solidFill>
                          <a:latin typeface="Arial" panose="020B0604020202020204"/>
                          <a:ea typeface="+mn-ea"/>
                          <a:cs typeface="Arial" panose="020B0604020202020204"/>
                        </a:rPr>
                        <a:t>ConcreteSubject</a:t>
                      </a:r>
                      <a:r>
                        <a:rPr lang="en-US" sz="1700" kern="1200" dirty="0" smtClean="0">
                          <a:solidFill>
                            <a:sysClr val="windowText" lastClr="000000"/>
                          </a:solidFill>
                          <a:latin typeface="Arial" panose="020B0604020202020204"/>
                          <a:ea typeface="+mn-ea"/>
                          <a:cs typeface="Arial" panose="020B0604020202020204"/>
                        </a:rPr>
                        <a:t> and </a:t>
                      </a:r>
                      <a:r>
                        <a:rPr lang="en-US" sz="1700" kern="1200" dirty="0" err="1" smtClean="0">
                          <a:solidFill>
                            <a:sysClr val="windowText" lastClr="000000"/>
                          </a:solidFill>
                          <a:latin typeface="Arial" panose="020B0604020202020204"/>
                          <a:ea typeface="+mn-ea"/>
                          <a:cs typeface="Arial" panose="020B0604020202020204"/>
                        </a:rPr>
                        <a:t>ConcreteObject</a:t>
                      </a:r>
                      <a:r>
                        <a:rPr lang="en-US" sz="1700" kern="1200" dirty="0" smtClean="0">
                          <a:solidFill>
                            <a:sysClr val="windowText" lastClr="000000"/>
                          </a:solidFill>
                          <a:latin typeface="Arial" panose="020B0604020202020204"/>
                          <a:ea typeface="+mn-ea"/>
                          <a:cs typeface="Arial" panose="020B0604020202020204"/>
                        </a:rPr>
                        <a:t>, which inherit the attributes of the related abstract objects. The abstract objects include general operations that are applicable in all situations. The state to be displayed is maintained in </a:t>
                      </a:r>
                      <a:r>
                        <a:rPr lang="en-US" sz="1700" kern="1200" dirty="0" err="1" smtClean="0">
                          <a:solidFill>
                            <a:sysClr val="windowText" lastClr="000000"/>
                          </a:solidFill>
                          <a:latin typeface="Arial" panose="020B0604020202020204"/>
                          <a:ea typeface="+mn-ea"/>
                          <a:cs typeface="Arial" panose="020B0604020202020204"/>
                        </a:rPr>
                        <a:t>ConcreteSubject</a:t>
                      </a:r>
                      <a:r>
                        <a:rPr lang="en-US" sz="1700" kern="1200" dirty="0" smtClean="0">
                          <a:solidFill>
                            <a:sysClr val="windowText" lastClr="000000"/>
                          </a:solidFill>
                          <a:latin typeface="Arial" panose="020B0604020202020204"/>
                          <a:ea typeface="+mn-ea"/>
                          <a:cs typeface="Arial" panose="020B0604020202020204"/>
                        </a:rPr>
                        <a:t>, which inherits operations from Subject allowing it to add and remove Observers (each observer corresponds to a display) and to issue a notification when the state has changed.</a:t>
                      </a:r>
                      <a:endParaRPr lang="en-GB" sz="1700" kern="1200" dirty="0" smtClean="0">
                        <a:solidFill>
                          <a:sysClr val="windowText" lastClr="000000"/>
                        </a:solidFill>
                        <a:latin typeface="Arial" panose="020B0604020202020204"/>
                        <a:ea typeface="+mn-ea"/>
                        <a:cs typeface="Arial" panose="020B0604020202020204"/>
                      </a:endParaRPr>
                    </a:p>
                    <a:p>
                      <a:pPr algn="l"/>
                      <a:r>
                        <a:rPr lang="en-US" sz="1700" kern="1200" dirty="0" smtClean="0">
                          <a:solidFill>
                            <a:sysClr val="windowText" lastClr="000000"/>
                          </a:solidFill>
                          <a:latin typeface="Arial" panose="020B0604020202020204"/>
                          <a:ea typeface="+mn-ea"/>
                          <a:cs typeface="Arial" panose="020B0604020202020204"/>
                        </a:rPr>
                        <a:t>The </a:t>
                      </a:r>
                      <a:r>
                        <a:rPr lang="en-US" sz="1700" kern="1200" dirty="0" err="1" smtClean="0">
                          <a:solidFill>
                            <a:sysClr val="windowText" lastClr="000000"/>
                          </a:solidFill>
                          <a:latin typeface="Arial" panose="020B0604020202020204"/>
                          <a:ea typeface="+mn-ea"/>
                          <a:cs typeface="Arial" panose="020B0604020202020204"/>
                        </a:rPr>
                        <a:t>ConcreteObserver</a:t>
                      </a:r>
                      <a:r>
                        <a:rPr lang="en-US" sz="1700" kern="1200" dirty="0" smtClean="0">
                          <a:solidFill>
                            <a:sysClr val="windowText" lastClr="000000"/>
                          </a:solidFill>
                          <a:latin typeface="Arial" panose="020B0604020202020204"/>
                          <a:ea typeface="+mn-ea"/>
                          <a:cs typeface="Arial" panose="020B0604020202020204"/>
                        </a:rPr>
                        <a:t> maintains a copy of the state of </a:t>
                      </a:r>
                      <a:r>
                        <a:rPr lang="en-US" sz="1700" kern="1200" dirty="0" err="1" smtClean="0">
                          <a:solidFill>
                            <a:sysClr val="windowText" lastClr="000000"/>
                          </a:solidFill>
                          <a:latin typeface="Arial" panose="020B0604020202020204"/>
                          <a:ea typeface="+mn-ea"/>
                          <a:cs typeface="Arial" panose="020B0604020202020204"/>
                        </a:rPr>
                        <a:t>ConcreteSubject</a:t>
                      </a:r>
                      <a:r>
                        <a:rPr lang="en-US" sz="1700" kern="1200" dirty="0" smtClean="0">
                          <a:solidFill>
                            <a:sysClr val="windowText" lastClr="000000"/>
                          </a:solidFill>
                          <a:latin typeface="Arial" panose="020B0604020202020204"/>
                          <a:ea typeface="+mn-ea"/>
                          <a:cs typeface="Arial" panose="020B0604020202020204"/>
                        </a:rPr>
                        <a:t> and implements the Update() interface of Observer that allows these copies to be kept in step. The </a:t>
                      </a:r>
                      <a:r>
                        <a:rPr lang="en-US" sz="1700" kern="1200" dirty="0" err="1" smtClean="0">
                          <a:solidFill>
                            <a:sysClr val="windowText" lastClr="000000"/>
                          </a:solidFill>
                          <a:latin typeface="Arial" panose="020B0604020202020204"/>
                          <a:ea typeface="+mn-ea"/>
                          <a:cs typeface="Arial" panose="020B0604020202020204"/>
                        </a:rPr>
                        <a:t>ConcreteObserver</a:t>
                      </a:r>
                      <a:r>
                        <a:rPr lang="en-US" sz="1700" kern="1200" dirty="0" smtClean="0">
                          <a:solidFill>
                            <a:sysClr val="windowText" lastClr="000000"/>
                          </a:solidFill>
                          <a:latin typeface="Arial" panose="020B0604020202020204"/>
                          <a:ea typeface="+mn-ea"/>
                          <a:cs typeface="Arial" panose="020B0604020202020204"/>
                        </a:rPr>
                        <a:t> automatically displays the state and reflects changes whenever the state is updated.</a:t>
                      </a:r>
                      <a:endParaRPr lang="en-US" sz="1700" kern="1200" dirty="0" smtClean="0">
                        <a:solidFill>
                          <a:sysClr val="windowText" lastClr="000000"/>
                        </a:solidFill>
                        <a:latin typeface="Arial" panose="020B0604020202020204"/>
                        <a:ea typeface="+mn-ea"/>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1720850">
                <a:tc>
                  <a:txBody>
                    <a:bodyPr/>
                    <a:p>
                      <a:pPr algn="l"/>
                      <a:r>
                        <a:rPr lang="en-US" sz="1700" dirty="0" smtClean="0">
                          <a:solidFill>
                            <a:sysClr val="windowText" lastClr="000000"/>
                          </a:solidFill>
                          <a:latin typeface="Arial" panose="020B0604020202020204"/>
                          <a:cs typeface="Arial" panose="020B0604020202020204"/>
                        </a:rPr>
                        <a:t>Consequences</a:t>
                      </a:r>
                      <a:r>
                        <a:rPr lang="zh-CN" altLang="en-US" sz="2000" b="1" dirty="0" smtClean="0">
                          <a:solidFill>
                            <a:srgbClr val="C00000"/>
                          </a:solidFill>
                          <a:latin typeface="黑体" panose="02010609060101010101" pitchFamily="49" charset="-122"/>
                          <a:ea typeface="黑体" panose="02010609060101010101" pitchFamily="49" charset="-122"/>
                          <a:cs typeface="Arial" panose="020B0604020202020204"/>
                        </a:rPr>
                        <a:t>效果</a:t>
                      </a:r>
                      <a:endParaRPr lang="zh-CN" altLang="en-US" sz="1700" dirty="0" smtClean="0">
                        <a:solidFill>
                          <a:sysClr val="windowText" lastClr="000000"/>
                        </a:solidFill>
                        <a:latin typeface="Arial" panose="020B0604020202020204"/>
                        <a:ea typeface="宋体" panose="02010600030101010101" pitchFamily="2" charset="-122"/>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r>
                        <a:rPr lang="en-US" sz="1700" kern="1200" dirty="0" smtClean="0">
                          <a:solidFill>
                            <a:sysClr val="windowText" lastClr="000000"/>
                          </a:solidFill>
                          <a:latin typeface="Arial" panose="020B0604020202020204"/>
                          <a:ea typeface="+mn-ea"/>
                          <a:cs typeface="Arial" panose="020B0604020202020204"/>
                        </a:rPr>
                        <a:t>The subject only knows the abstract Observer and does not know details of the concrete class. Therefore there is minimal coupling between these objects. Because of this lack of knowledge, optimizations that enhance display performance are impractical. Changes to the</a:t>
                      </a:r>
                      <a:r>
                        <a:rPr lang="en-US" sz="1700" b="1" kern="1200" dirty="0" smtClean="0">
                          <a:solidFill>
                            <a:sysClr val="windowText" lastClr="000000"/>
                          </a:solidFill>
                          <a:latin typeface="Arial" panose="020B0604020202020204"/>
                          <a:ea typeface="+mn-ea"/>
                          <a:cs typeface="Arial" panose="020B0604020202020204"/>
                        </a:rPr>
                        <a:t> </a:t>
                      </a:r>
                      <a:r>
                        <a:rPr lang="en-US" sz="1700" kern="1200" dirty="0" smtClean="0">
                          <a:solidFill>
                            <a:sysClr val="windowText" lastClr="000000"/>
                          </a:solidFill>
                          <a:latin typeface="Arial" panose="020B0604020202020204"/>
                          <a:ea typeface="+mn-ea"/>
                          <a:cs typeface="Arial" panose="020B0604020202020204"/>
                        </a:rPr>
                        <a:t>subject may cause a set of</a:t>
                      </a:r>
                      <a:r>
                        <a:rPr lang="en-US" sz="1700" b="1" kern="1200" dirty="0" smtClean="0">
                          <a:solidFill>
                            <a:sysClr val="windowText" lastClr="000000"/>
                          </a:solidFill>
                          <a:latin typeface="Arial" panose="020B0604020202020204"/>
                          <a:ea typeface="+mn-ea"/>
                          <a:cs typeface="Arial" panose="020B0604020202020204"/>
                        </a:rPr>
                        <a:t> </a:t>
                      </a:r>
                      <a:r>
                        <a:rPr lang="en-US" sz="1700" kern="1200" dirty="0" smtClean="0">
                          <a:solidFill>
                            <a:sysClr val="windowText" lastClr="000000"/>
                          </a:solidFill>
                          <a:latin typeface="Arial" panose="020B0604020202020204"/>
                          <a:ea typeface="+mn-ea"/>
                          <a:cs typeface="Arial" panose="020B0604020202020204"/>
                        </a:rPr>
                        <a:t>linked</a:t>
                      </a:r>
                      <a:r>
                        <a:rPr lang="en-US" sz="1700" b="1" kern="1200" dirty="0" smtClean="0">
                          <a:solidFill>
                            <a:sysClr val="windowText" lastClr="000000"/>
                          </a:solidFill>
                          <a:latin typeface="Arial" panose="020B0604020202020204"/>
                          <a:ea typeface="+mn-ea"/>
                          <a:cs typeface="Arial" panose="020B0604020202020204"/>
                        </a:rPr>
                        <a:t> </a:t>
                      </a:r>
                      <a:r>
                        <a:rPr lang="en-US" sz="1700" kern="1200" dirty="0" smtClean="0">
                          <a:solidFill>
                            <a:sysClr val="windowText" lastClr="000000"/>
                          </a:solidFill>
                          <a:latin typeface="Arial" panose="020B0604020202020204"/>
                          <a:ea typeface="+mn-ea"/>
                          <a:cs typeface="Arial" panose="020B0604020202020204"/>
                        </a:rPr>
                        <a:t>updates to observers to be generated, some of which may not be necessary.</a:t>
                      </a:r>
                      <a:r>
                        <a:rPr lang="en-GB" sz="1700" dirty="0" smtClean="0">
                          <a:solidFill>
                            <a:sysClr val="windowText" lastClr="000000"/>
                          </a:solidFill>
                          <a:latin typeface="Arial" panose="020B0604020202020204"/>
                          <a:cs typeface="Arial" panose="020B0604020202020204"/>
                        </a:rPr>
                        <a:t> </a:t>
                      </a:r>
                      <a:endParaRPr lang="en-US" sz="1700" dirty="0" smtClean="0">
                        <a:solidFill>
                          <a:sysClr val="windowText" lastClr="000000"/>
                        </a:solidFill>
                        <a:latin typeface="Arial" panose="020B0604020202020204"/>
                        <a:cs typeface="Arial" panose="020B0604020202020204"/>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bl>
          </a:graphicData>
        </a:graphic>
      </p:graphicFrame>
      <p:pic>
        <p:nvPicPr>
          <p:cNvPr id="2" name="图片 1"/>
          <p:cNvPicPr>
            <a:picLocks noChangeAspect="1"/>
          </p:cNvPicPr>
          <p:nvPr/>
        </p:nvPicPr>
        <p:blipFill>
          <a:blip r:embed="rId4"/>
          <a:stretch>
            <a:fillRect/>
          </a:stretch>
        </p:blipFill>
        <p:spPr>
          <a:xfrm>
            <a:off x="6416675" y="817880"/>
            <a:ext cx="1476375" cy="48577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020"/>
            <a:ext cx="8977630" cy="6159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 UML model of the Observer pattern</a:t>
            </a:r>
            <a:r>
              <a:rPr lang="en-US" altLang="zh-CN" sz="3200" dirty="0">
                <a:solidFill>
                  <a:schemeClr val="accent1">
                    <a:lumMod val="75000"/>
                  </a:schemeClr>
                </a:solidFill>
                <a:ea typeface="宋体" panose="02010600030101010101" pitchFamily="2" charset="-122"/>
                <a:sym typeface="+mn-ea"/>
              </a:rPr>
              <a:t> </a:t>
            </a:r>
            <a:r>
              <a:rPr lang="en-US" altLang="zh-CN"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UML</a:t>
            </a:r>
            <a:r>
              <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模型</a:t>
            </a:r>
            <a:endParaRPr lang="zh-CN" altLang="en-US" sz="20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76835" y="1524000"/>
            <a:ext cx="8990330" cy="3585845"/>
          </a:xfrm>
          <a:prstGeom prst="rect">
            <a:avLst/>
          </a:prstGeom>
        </p:spPr>
      </p:pic>
      <p:sp>
        <p:nvSpPr>
          <p:cNvPr id="10" name="Content Placeholder 2"/>
          <p:cNvSpPr>
            <a:spLocks noGrp="1"/>
          </p:cNvSpPr>
          <p:nvPr/>
        </p:nvSpPr>
        <p:spPr>
          <a:xfrm>
            <a:off x="76200" y="5142230"/>
            <a:ext cx="9001125" cy="139827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b="0" dirty="0" smtClean="0">
                <a:solidFill>
                  <a:schemeClr val="tx1"/>
                </a:solidFill>
                <a:latin typeface="Calibri" panose="020F0502020204030204" charset="0"/>
                <a:cs typeface="Calibri" panose="020F0502020204030204" charset="0"/>
              </a:rPr>
              <a:t>* Graphical representations are normally used to illustrate the object classes in patterns and their relationships. These supplement the pattern description and add detail to the solution description. </a:t>
            </a:r>
            <a:endParaRPr lang="en-US"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b="0" dirty="0" smtClean="0">
                <a:solidFill>
                  <a:schemeClr val="tx1"/>
                </a:solidFill>
                <a:latin typeface="Calibri" panose="020F0502020204030204" charset="0"/>
                <a:cs typeface="Calibri" panose="020F0502020204030204" charset="0"/>
              </a:rPr>
              <a:t>* Figure 7.12 is the representation in UML of the Observer pattern.</a:t>
            </a:r>
            <a:endParaRPr lang="en-US" b="0" dirty="0" smtClean="0">
              <a:solidFill>
                <a:schemeClr val="tx1"/>
              </a:solidFill>
              <a:latin typeface="Calibri" panose="020F0502020204030204" charset="0"/>
              <a:cs typeface="Calibri" panose="020F0502020204030204" charset="0"/>
            </a:endParaRPr>
          </a:p>
        </p:txBody>
      </p:sp>
      <p:pic>
        <p:nvPicPr>
          <p:cNvPr id="3" name="图片 2"/>
          <p:cNvPicPr>
            <a:picLocks noChangeAspect="1"/>
          </p:cNvPicPr>
          <p:nvPr/>
        </p:nvPicPr>
        <p:blipFill>
          <a:blip r:embed="rId4"/>
          <a:stretch>
            <a:fillRect/>
          </a:stretch>
        </p:blipFill>
        <p:spPr>
          <a:xfrm>
            <a:off x="7015480" y="1904365"/>
            <a:ext cx="1714500" cy="75247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9295"/>
            <a:ext cx="8977630" cy="55499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Use patterns in design  </a:t>
            </a:r>
            <a:r>
              <a:rPr lang="en-US" altLang="zh-CN" sz="24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在设计中</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使用模式</a:t>
            </a:r>
            <a:endPar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6040" y="1241425"/>
            <a:ext cx="9000490" cy="55130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To use patterns in your design, you need to recognize that any design problem you are facing may have an associated pattern that can be applied.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需要意识到：</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你面临的任何设计问题，都有一个可应用的、关联的模式</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Examples include: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例子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US" sz="2600" b="0" dirty="0" smtClean="0">
                <a:latin typeface="Calibri" panose="020F0502020204030204" charset="0"/>
                <a:cs typeface="Calibri" panose="020F0502020204030204" charset="0"/>
              </a:rPr>
              <a:t>Tell several objects that the state of some other object has changed (Observer pattern).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观察者模式</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US" sz="2600" b="0" dirty="0" smtClean="0">
                <a:latin typeface="Calibri" panose="020F0502020204030204" charset="0"/>
                <a:cs typeface="Calibri" panose="020F0502020204030204" charset="0"/>
              </a:rPr>
              <a:t>Tidy up the interfaces to a number of related objects that have often been developed incrementally (Facade pattern).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门面模式</a:t>
            </a:r>
            <a:endParaRPr lang="en-GB" sz="2600" b="0" dirty="0" smtClean="0">
              <a:latin typeface="Calibri" panose="020F0502020204030204" charset="0"/>
              <a:cs typeface="Calibri" panose="020F0502020204030204" charset="0"/>
            </a:endParaRPr>
          </a:p>
          <a:p>
            <a:pPr lvl="1">
              <a:lnSpc>
                <a:spcPct val="82000"/>
              </a:lnSpc>
              <a:spcBef>
                <a:spcPts val="600"/>
              </a:spcBef>
              <a:spcAft>
                <a:spcPts val="0"/>
              </a:spcAft>
            </a:pPr>
            <a:r>
              <a:rPr lang="en-US" sz="2600" b="0" dirty="0" smtClean="0">
                <a:latin typeface="Calibri" panose="020F0502020204030204" charset="0"/>
                <a:cs typeface="Calibri" panose="020F0502020204030204" charset="0"/>
              </a:rPr>
              <a:t>Provide a standard way of accessing the elements in a collection, irrespective of how that collection is implemented (Iterator pattern).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迭代器模式</a:t>
            </a:r>
            <a:endParaRPr lang="en-US" sz="2600" b="0" dirty="0" smtClean="0">
              <a:latin typeface="Calibri" panose="020F0502020204030204" charset="0"/>
              <a:cs typeface="Calibri" panose="020F0502020204030204" charset="0"/>
            </a:endParaRPr>
          </a:p>
          <a:p>
            <a:pPr lvl="1">
              <a:lnSpc>
                <a:spcPct val="82000"/>
              </a:lnSpc>
              <a:spcBef>
                <a:spcPts val="600"/>
              </a:spcBef>
              <a:spcAft>
                <a:spcPts val="0"/>
              </a:spcAft>
            </a:pPr>
            <a:r>
              <a:rPr lang="en-US" sz="2600" b="0" dirty="0" smtClean="0">
                <a:latin typeface="Calibri" panose="020F0502020204030204" charset="0"/>
                <a:cs typeface="Calibri" panose="020F0502020204030204" charset="0"/>
              </a:rPr>
              <a:t>Allow for the possibility of extending the functionality of an existing class at runtime (Decorator pattern).  </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装饰者模式</a:t>
            </a:r>
            <a:endParaRPr lang="en-US" altLang="zh-CN"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6816725" y="4625340"/>
            <a:ext cx="533400" cy="19050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1840"/>
            <a:ext cx="8977630" cy="57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7.3 </a:t>
            </a:r>
            <a:r>
              <a:rPr lang="zh-CN" altLang="en-US" sz="3200" dirty="0">
                <a:solidFill>
                  <a:schemeClr val="accent1">
                    <a:lumMod val="75000"/>
                  </a:schemeClr>
                </a:solidFill>
                <a:ea typeface="宋体" panose="02010600030101010101" pitchFamily="2" charset="-122"/>
                <a:sym typeface="+mn-ea"/>
              </a:rPr>
              <a:t>Implementation issues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实现问题</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8895" y="1313180"/>
            <a:ext cx="9017635" cy="52495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In system implementation, you create an executable version of the software.</a:t>
            </a:r>
            <a:r>
              <a:rPr lang="en-US" sz="2800" b="0" dirty="0" smtClean="0">
                <a:solidFill>
                  <a:schemeClr val="tx1"/>
                </a:solidFill>
                <a:latin typeface="Calibri" panose="020F0502020204030204" charset="0"/>
                <a:cs typeface="Calibri" panose="020F0502020204030204" charset="0"/>
              </a:rPr>
              <a:t> Implementation may involve developing programs in high- or low-level programming languages or tailoring and adapting generic, off-the-shelf systems to meet the specific requirements of an organization.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实现：创建可执行软件</a:t>
            </a:r>
            <a:endParaRPr lang="en-US" sz="2800" b="0" dirty="0" smtClean="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The chapter is intended to offer a language-independent approach.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本章：提供语言无关的方法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90000"/>
              </a:lnSpc>
              <a:spcBef>
                <a:spcPts val="8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Here introduces some aspects of implementation that are particularly important to software engineering and that are often not covered in programming texts.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这里介绍实现的一些方面</a:t>
            </a:r>
            <a:endParaRPr lang="zh-CN" altLang="en-US" sz="3000" b="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5960"/>
            <a:ext cx="8977630" cy="5238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Some aspects of implementation:</a:t>
            </a:r>
            <a:r>
              <a:rPr lang="en-US" altLang="zh-CN" sz="30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实现的某些方面</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0165" y="1169670"/>
            <a:ext cx="9028430" cy="55460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Reuse: </a:t>
            </a:r>
            <a:r>
              <a:rPr lang="en-US" sz="2500" b="0" dirty="0" smtClean="0">
                <a:solidFill>
                  <a:schemeClr val="tx1"/>
                </a:solidFill>
                <a:latin typeface="Calibri" panose="020F0502020204030204" charset="0"/>
                <a:cs typeface="Calibri" panose="020F0502020204030204" charset="0"/>
              </a:rPr>
              <a:t>Most modern software is constructed by reusing existing components or systems. When you are developing software, you should make as much use as possible of existing code.    </a:t>
            </a:r>
            <a:r>
              <a:rPr lang="zh-CN" altLang="en-US" sz="2500" kern="0" dirty="0">
                <a:solidFill>
                  <a:schemeClr val="accent1">
                    <a:lumMod val="75000"/>
                  </a:schemeClr>
                </a:solidFill>
                <a:latin typeface="黑体" panose="02010609060101010101" pitchFamily="49" charset="-122"/>
                <a:ea typeface="黑体" panose="02010609060101010101" pitchFamily="49" charset="-122"/>
                <a:cs typeface="+mn-cs"/>
              </a:rPr>
              <a:t>复用</a:t>
            </a:r>
            <a:endParaRPr lang="en-US" sz="25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Configuration management:</a:t>
            </a:r>
            <a:r>
              <a:rPr lang="en-US" sz="3200" b="0" dirty="0" smtClean="0">
                <a:solidFill>
                  <a:schemeClr val="tx1"/>
                </a:solidFill>
                <a:latin typeface="Calibri" panose="020F0502020204030204" charset="0"/>
                <a:cs typeface="Calibri" panose="020F0502020204030204" charset="0"/>
              </a:rPr>
              <a:t> </a:t>
            </a:r>
            <a:r>
              <a:rPr lang="en-US" sz="2500" b="0" dirty="0" smtClean="0">
                <a:solidFill>
                  <a:schemeClr val="tx1"/>
                </a:solidFill>
                <a:latin typeface="Calibri" panose="020F0502020204030204" charset="0"/>
                <a:cs typeface="Calibri" panose="020F0502020204030204" charset="0"/>
              </a:rPr>
              <a:t>During the development process, many different versions of each software component are created. If you don’t keep track of these versions in a configuration management system, you are liable to include the wrong versions of these components in your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配置管理</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Host-target development: </a:t>
            </a:r>
            <a:r>
              <a:rPr lang="en-US" sz="2500" b="0" dirty="0" smtClean="0">
                <a:solidFill>
                  <a:schemeClr val="tx1"/>
                </a:solidFill>
                <a:latin typeface="Calibri" panose="020F0502020204030204" charset="0"/>
                <a:cs typeface="Calibri" panose="020F0502020204030204" charset="0"/>
              </a:rPr>
              <a:t>Production software does not usually execute on the same computer as the software development environment. Rather, you develop it on one computer (the </a:t>
            </a:r>
            <a:r>
              <a:rPr lang="en-US" sz="2500" b="0" u="sng" dirty="0" smtClean="0">
                <a:solidFill>
                  <a:schemeClr val="tx1"/>
                </a:solidFill>
                <a:latin typeface="Calibri" panose="020F0502020204030204" charset="0"/>
                <a:cs typeface="Calibri" panose="020F0502020204030204" charset="0"/>
              </a:rPr>
              <a:t>host system</a:t>
            </a:r>
            <a:r>
              <a:rPr lang="en-US" sz="2500" b="0" dirty="0" smtClean="0">
                <a:solidFill>
                  <a:schemeClr val="tx1"/>
                </a:solidFill>
                <a:latin typeface="Calibri" panose="020F0502020204030204" charset="0"/>
                <a:cs typeface="Calibri" panose="020F0502020204030204" charset="0"/>
              </a:rPr>
              <a:t>) and execute it on a separate computer (the </a:t>
            </a:r>
            <a:r>
              <a:rPr lang="en-US" sz="2500" b="0" u="sng" dirty="0" smtClean="0">
                <a:solidFill>
                  <a:schemeClr val="tx1"/>
                </a:solidFill>
                <a:latin typeface="Calibri" panose="020F0502020204030204" charset="0"/>
                <a:cs typeface="Calibri" panose="020F0502020204030204" charset="0"/>
              </a:rPr>
              <a:t>target system</a:t>
            </a:r>
            <a:r>
              <a:rPr lang="en-US" sz="2500" b="0" dirty="0" smtClean="0">
                <a:solidFill>
                  <a:schemeClr val="tx1"/>
                </a:solidFill>
                <a:latin typeface="Calibri" panose="020F0502020204030204" charset="0"/>
                <a:cs typeface="Calibri" panose="020F0502020204030204" charset="0"/>
              </a:rPr>
              <a:t>). The host and target systems are sometimes of the same type, but often they are completely different.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宿主机-目标机开发</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19785"/>
            <a:ext cx="8977630" cy="34905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100" dirty="0">
                <a:solidFill>
                  <a:schemeClr val="accent1">
                    <a:lumMod val="75000"/>
                  </a:schemeClr>
                </a:solidFill>
                <a:ea typeface="宋体" panose="02010600030101010101" pitchFamily="2" charset="-122"/>
                <a:sym typeface="+mn-ea"/>
              </a:rPr>
              <a:t> 7.3.1 Reuse</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(本节留作自学)</a:t>
            </a:r>
            <a:endParaRPr lang="en-US" altLang="zh-CN" sz="3100" dirty="0">
              <a:solidFill>
                <a:schemeClr val="accent1">
                  <a:lumMod val="75000"/>
                </a:schemeClr>
              </a:solidFill>
              <a:ea typeface="宋体" panose="02010600030101010101" pitchFamily="2" charset="-122"/>
              <a:sym typeface="+mn-ea"/>
            </a:endParaRPr>
          </a:p>
          <a:p>
            <a:pPr algn="l" eaLnBrk="1" latinLnBrk="0" hangingPunct="1">
              <a:lnSpc>
                <a:spcPct val="100000"/>
              </a:lnSpc>
              <a:spcBef>
                <a:spcPts val="1200"/>
              </a:spcBef>
              <a:buSzTx/>
              <a:buFont typeface="Wingdings" panose="05000000000000000000" pitchFamily="2" charset="2"/>
              <a:buChar char="§"/>
            </a:pPr>
            <a:r>
              <a:rPr lang="en-US" altLang="zh-CN" sz="3100" dirty="0">
                <a:solidFill>
                  <a:schemeClr val="accent1">
                    <a:lumMod val="75000"/>
                  </a:schemeClr>
                </a:solidFill>
                <a:ea typeface="宋体" panose="02010600030101010101" pitchFamily="2" charset="-122"/>
                <a:sym typeface="+mn-ea"/>
              </a:rPr>
              <a:t> 7.3.2 Configuration management</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(本节留作自学)</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a:p>
            <a:pPr algn="l" eaLnBrk="1" latinLnBrk="0" hangingPunct="1">
              <a:lnSpc>
                <a:spcPct val="100000"/>
              </a:lnSpc>
              <a:spcBef>
                <a:spcPts val="1200"/>
              </a:spcBef>
              <a:buSzTx/>
              <a:buFont typeface="Wingdings" panose="05000000000000000000" pitchFamily="2" charset="2"/>
              <a:buChar char="§"/>
            </a:pPr>
            <a:r>
              <a:rPr lang="en-US" altLang="zh-CN" sz="3100" dirty="0">
                <a:solidFill>
                  <a:schemeClr val="accent1">
                    <a:lumMod val="75000"/>
                  </a:schemeClr>
                </a:solidFill>
                <a:ea typeface="宋体" panose="02010600030101010101" pitchFamily="2" charset="-122"/>
                <a:sym typeface="+mn-ea"/>
              </a:rPr>
              <a:t> 7.3.3 Host-target development</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(本节留作自学)</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a:p>
            <a:pPr algn="l" eaLnBrk="1" latinLnBrk="0" hangingPunct="1">
              <a:lnSpc>
                <a:spcPct val="100000"/>
              </a:lnSpc>
              <a:spcBef>
                <a:spcPts val="1200"/>
              </a:spcBef>
              <a:buSzTx/>
              <a:buFont typeface="Wingdings" panose="05000000000000000000" pitchFamily="2" charset="2"/>
              <a:buChar char="§"/>
            </a:pPr>
            <a:r>
              <a:rPr lang="en-US" altLang="zh-CN" sz="3100" dirty="0">
                <a:solidFill>
                  <a:schemeClr val="accent1">
                    <a:lumMod val="75000"/>
                  </a:schemeClr>
                </a:solidFill>
                <a:ea typeface="宋体" panose="02010600030101010101" pitchFamily="2" charset="-122"/>
                <a:sym typeface="+mn-ea"/>
              </a:rPr>
              <a:t> 7.4 </a:t>
            </a:r>
            <a:r>
              <a:rPr lang="zh-CN" altLang="en-US" sz="3100" dirty="0">
                <a:solidFill>
                  <a:schemeClr val="accent1">
                    <a:lumMod val="75000"/>
                  </a:schemeClr>
                </a:solidFill>
                <a:ea typeface="宋体" panose="02010600030101010101" pitchFamily="2" charset="-122"/>
                <a:sym typeface="+mn-ea"/>
              </a:rPr>
              <a:t>Open source development</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开源开发</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本节留作自学</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625094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7  Design and implementation</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TABLE_ENDDRAG_ORIGIN_RECT" val="706*432"/>
  <p:tag name="TABLE_ENDDRAG_RECT" val="7*93*706*432"/>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TABLE_ENDDRAG_ORIGIN_RECT" val="703*406"/>
  <p:tag name="TABLE_ENDDRAG_RECT" val="7*109*704*406"/>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TABLE_ENDDRAG_ORIGIN_RECT" val="706*435"/>
  <p:tag name="TABLE_ENDDRAG_RECT" val="7*95*706*435"/>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PP_MARK_KEY" val="49d2eca4-30e1-4ef7-9bc7-486bee5195f9"/>
  <p:tag name="COMMONDATA" val="eyJoZGlkIjoiYWU0ZmM3NzM2M2MzNjY4OGU3MWVlODFhMGQ0MTAxM2IifQ=="/>
  <p:tag name="commondata" val="eyJoZGlkIjoiZmI4NTZjMzhhMTQ0YmQ3Nzc5ZGViNjA4MWFmMWE3NTA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25932</Words>
  <Application>WPS 演示</Application>
  <PresentationFormat>信纸(8.5x11 英寸)</PresentationFormat>
  <Paragraphs>354</Paragraphs>
  <Slides>38</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38</vt:i4>
      </vt:variant>
    </vt:vector>
  </HeadingPairs>
  <TitlesOfParts>
    <vt:vector size="50"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CS152-SP98</vt:lpstr>
      <vt:lpstr> Software Engineering</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PowerPoint 演示文稿</vt:lpstr>
      <vt:lpstr>Chap. 7  Design and implementation</vt:lpstr>
      <vt:lpstr>Chap. 7  Design and implementation</vt:lpstr>
      <vt:lpstr>Chap. 7  Design and implementation</vt:lpstr>
      <vt:lpstr>Chap. 7  Design and implementation</vt:lpstr>
      <vt:lpstr>PowerPoint 演示文稿</vt:lpstr>
      <vt:lpstr>Chap. 7  Design and implementation</vt:lpstr>
      <vt:lpstr>PowerPoint 演示文稿</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lpstr>Chap. 7  Design and implementation</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2117</cp:revision>
  <cp:lastPrinted>1999-08-22T22:40:00Z</cp:lastPrinted>
  <dcterms:created xsi:type="dcterms:W3CDTF">1997-08-19T16:58:00Z</dcterms:created>
  <dcterms:modified xsi:type="dcterms:W3CDTF">2025-11-06T05:59:44Z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3E2B1C6E25C54BFF8474069605F54195_13</vt:lpwstr>
  </property>
</Properties>
</file>