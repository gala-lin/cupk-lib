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57"/>
  </p:handoutMasterIdLst>
  <p:sldIdLst>
    <p:sldId id="256" r:id="rId3"/>
    <p:sldId id="1597" r:id="rId5"/>
    <p:sldId id="1802" r:id="rId6"/>
    <p:sldId id="1803" r:id="rId7"/>
    <p:sldId id="1804" r:id="rId8"/>
    <p:sldId id="1853" r:id="rId9"/>
    <p:sldId id="1805" r:id="rId10"/>
    <p:sldId id="1807" r:id="rId11"/>
    <p:sldId id="1809" r:id="rId12"/>
    <p:sldId id="1810" r:id="rId13"/>
    <p:sldId id="1811" r:id="rId14"/>
    <p:sldId id="1812" r:id="rId15"/>
    <p:sldId id="1813" r:id="rId16"/>
    <p:sldId id="1814" r:id="rId17"/>
    <p:sldId id="1815" r:id="rId18"/>
    <p:sldId id="1816" r:id="rId19"/>
    <p:sldId id="1817" r:id="rId20"/>
    <p:sldId id="1818" r:id="rId21"/>
    <p:sldId id="1819" r:id="rId22"/>
    <p:sldId id="1820" r:id="rId23"/>
    <p:sldId id="1821" r:id="rId24"/>
    <p:sldId id="1822" r:id="rId25"/>
    <p:sldId id="1823" r:id="rId26"/>
    <p:sldId id="1824" r:id="rId27"/>
    <p:sldId id="1825" r:id="rId28"/>
    <p:sldId id="1826" r:id="rId29"/>
    <p:sldId id="1827" r:id="rId30"/>
    <p:sldId id="1828" r:id="rId31"/>
    <p:sldId id="1829" r:id="rId32"/>
    <p:sldId id="1830" r:id="rId33"/>
    <p:sldId id="1831" r:id="rId34"/>
    <p:sldId id="1832" r:id="rId35"/>
    <p:sldId id="1833" r:id="rId36"/>
    <p:sldId id="1834" r:id="rId37"/>
    <p:sldId id="1835" r:id="rId38"/>
    <p:sldId id="1837" r:id="rId39"/>
    <p:sldId id="1836" r:id="rId40"/>
    <p:sldId id="1838" r:id="rId41"/>
    <p:sldId id="1839" r:id="rId42"/>
    <p:sldId id="1840" r:id="rId43"/>
    <p:sldId id="1841" r:id="rId44"/>
    <p:sldId id="1842" r:id="rId45"/>
    <p:sldId id="1843" r:id="rId46"/>
    <p:sldId id="1844" r:id="rId47"/>
    <p:sldId id="1854" r:id="rId48"/>
    <p:sldId id="1845" r:id="rId49"/>
    <p:sldId id="1846" r:id="rId50"/>
    <p:sldId id="1848" r:id="rId51"/>
    <p:sldId id="1849" r:id="rId52"/>
    <p:sldId id="1850" r:id="rId53"/>
    <p:sldId id="1856" r:id="rId54"/>
    <p:sldId id="1851" r:id="rId55"/>
    <p:sldId id="1852" r:id="rId56"/>
  </p:sldIdLst>
  <p:sldSz cx="9144000" cy="6858000" type="letter"/>
  <p:notesSz cx="9163050" cy="6877050"/>
  <p:custDataLst>
    <p:tags r:id="rId61"/>
  </p:custDataLst>
  <p:kinsoku lang="zh-CN" invalStChars="、。，．・：；？！゛゜ヽヾゝゞ々ー’”）〕］｝〉》」』】°‰′″℃￠％ぁぃぅぇぉっゃゅょゎァィゥェォッャュョヮヵヶ!%),.:;?]}｡｣､･ｧｨｩｪｫｬｭｮｯｰﾞﾟ" invalEndChars="‘“（〔［｛〈《「『【￥＄$([\{｢￡"/>
  <p:defaultTextStyle>
    <a:defPPr>
      <a:defRPr lang="en-US"/>
    </a:defPPr>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accent1"/>
        </a:solidFill>
        <a:latin typeface="Arial" panose="020B0604020202020204" pitchFamily="34" charset="0"/>
        <a:ea typeface="+mn-ea"/>
        <a:cs typeface="+mn-cs"/>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accent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accent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accent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accent1"/>
        </a:solidFill>
        <a:latin typeface="Arial" panose="020B0604020202020204" pitchFamily="34" charset="0"/>
        <a:ea typeface="+mn-ea"/>
        <a:cs typeface="+mn-cs"/>
      </a:defRPr>
    </a:lvl5pPr>
    <a:lvl6pPr marL="2286000" lvl="5"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accent1"/>
        </a:solidFill>
        <a:latin typeface="Arial" panose="020B0604020202020204" pitchFamily="34" charset="0"/>
        <a:ea typeface="+mn-ea"/>
        <a:cs typeface="+mn-cs"/>
      </a:defRPr>
    </a:lvl6pPr>
    <a:lvl7pPr marL="2743200" lvl="6"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accent1"/>
        </a:solidFill>
        <a:latin typeface="Arial" panose="020B0604020202020204" pitchFamily="34" charset="0"/>
        <a:ea typeface="+mn-ea"/>
        <a:cs typeface="+mn-cs"/>
      </a:defRPr>
    </a:lvl7pPr>
    <a:lvl8pPr marL="3200400" lvl="7"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accent1"/>
        </a:solidFill>
        <a:latin typeface="Arial" panose="020B0604020202020204" pitchFamily="34" charset="0"/>
        <a:ea typeface="+mn-ea"/>
        <a:cs typeface="+mn-cs"/>
      </a:defRPr>
    </a:lvl8pPr>
    <a:lvl9pPr marL="3657600" lvl="8"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accent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089" userDrawn="1">
          <p15:clr>
            <a:srgbClr val="A4A3A4"/>
          </p15:clr>
        </p15:guide>
        <p15:guide id="2" pos="287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chemeClr val="tx1"/>
    </p:penClr>
    <p:extLst>
      <p:ext uri="{2FDB2607-1784-4EEB-B798-7EB5836EED8A}">
        <p14:showMediaCtrls xmlns:p14="http://schemas.microsoft.com/office/powerpoint/2010/main" val="1"/>
      </p:ext>
    </p:extLst>
  </p:showPr>
  <p:clrMru>
    <a:srgbClr val="CC0000"/>
    <a:srgbClr val="134AD5"/>
    <a:srgbClr val="B3380D"/>
    <a:srgbClr val="E6E6E6"/>
    <a:srgbClr val="660066"/>
    <a:srgbClr val="FF0000"/>
    <a:srgbClr val="800000"/>
    <a:srgbClr val="000066"/>
    <a:srgbClr val="003300"/>
    <a:srgbClr val="0054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3646"/>
    <p:restoredTop sz="73912"/>
  </p:normalViewPr>
  <p:slideViewPr>
    <p:cSldViewPr showGuides="1">
      <p:cViewPr varScale="1">
        <p:scale>
          <a:sx n="75" d="100"/>
          <a:sy n="75" d="100"/>
        </p:scale>
        <p:origin x="-1092" y="-102"/>
      </p:cViewPr>
      <p:guideLst>
        <p:guide orient="horz" pos="2089"/>
        <p:guide pos="2870"/>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100" d="100"/>
        <a:sy n="100" d="100"/>
      </p:scale>
      <p:origin x="0" y="1812"/>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1" Type="http://schemas.openxmlformats.org/officeDocument/2006/relationships/tags" Target="tags/tag92.xml"/><Relationship Id="rId60" Type="http://schemas.openxmlformats.org/officeDocument/2006/relationships/tableStyles" Target="tableStyles.xml"/><Relationship Id="rId6" Type="http://schemas.openxmlformats.org/officeDocument/2006/relationships/slide" Target="slides/slide3.xml"/><Relationship Id="rId59" Type="http://schemas.openxmlformats.org/officeDocument/2006/relationships/viewProps" Target="viewProps.xml"/><Relationship Id="rId58" Type="http://schemas.openxmlformats.org/officeDocument/2006/relationships/presProps" Target="presProps.xml"/><Relationship Id="rId57" Type="http://schemas.openxmlformats.org/officeDocument/2006/relationships/handoutMaster" Target="handoutMasters/handoutMaster1.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8194" name="Rectangle 2"/>
          <p:cNvSpPr>
            <a:spLocks noTextEdit="1"/>
          </p:cNvSpPr>
          <p:nvPr>
            <p:ph type="sldImg"/>
          </p:nvPr>
        </p:nvSpPr>
        <p:spPr>
          <a:xfrm>
            <a:off x="2878138" y="441325"/>
            <a:ext cx="3424237" cy="2568575"/>
          </a:xfrm>
          <a:prstGeom prst="rect">
            <a:avLst/>
          </a:prstGeom>
          <a:noFill/>
          <a:ln w="12700">
            <a:noFill/>
          </a:ln>
        </p:spPr>
      </p:sp>
      <p:sp>
        <p:nvSpPr>
          <p:cNvPr id="2051" name="Rectangle 3"/>
          <p:cNvSpPr>
            <a:spLocks noGrp="1" noChangeArrowheads="1"/>
          </p:cNvSpPr>
          <p:nvPr>
            <p:ph type="body" sz="quarter" idx="3"/>
          </p:nvPr>
        </p:nvSpPr>
        <p:spPr bwMode="auto">
          <a:xfrm>
            <a:off x="687388" y="3267075"/>
            <a:ext cx="7899400" cy="3092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692" tIns="44550" rIns="90692" bIns="44550" numCol="1" anchor="t" anchorCtr="0" compatLnSpc="1"/>
          <a:lstStyle/>
          <a:p>
            <a:pPr marL="0" marR="0" lvl="0" indent="0" algn="just" defTabSz="914400" rtl="0" eaLnBrk="0" fontAlgn="base" latinLnBrk="0" hangingPunct="0">
              <a:lnSpc>
                <a:spcPct val="90000"/>
              </a:lnSpc>
              <a:spcBef>
                <a:spcPct val="40000"/>
              </a:spcBef>
              <a:spcAft>
                <a:spcPct val="0"/>
              </a:spcAft>
              <a:buClrTx/>
              <a:buSzTx/>
              <a:buFontTx/>
              <a:buNone/>
              <a:defRPr/>
            </a:pPr>
            <a:r>
              <a:rPr kumimoji="0" lang="en-US" altLang="zh-CN" sz="1100" b="0" i="0" u="none" strike="noStrike" kern="1200" cap="none" spc="0" normalizeH="0" baseline="0" noProof="0" smtClean="0">
                <a:ln>
                  <a:noFill/>
                </a:ln>
                <a:solidFill>
                  <a:schemeClr val="tx1"/>
                </a:solidFill>
                <a:effectLst/>
                <a:uLnTx/>
                <a:uFillTx/>
                <a:latin typeface="Arial" panose="020B0604020202020204" pitchFamily="34" charset="0"/>
                <a:ea typeface="+mn-ea"/>
                <a:cs typeface="+mn-cs"/>
              </a:rPr>
              <a:t>We want this to be in font 11 and justify.</a:t>
            </a:r>
            <a:endParaRPr kumimoji="0" lang="en-US" altLang="zh-CN" sz="1100" b="0" i="0" u="none" strike="noStrike" kern="1200" cap="none" spc="0" normalizeH="0" baseline="0" noProof="0" smtClean="0">
              <a:ln>
                <a:noFill/>
              </a:ln>
              <a:solidFill>
                <a:schemeClr val="tx1"/>
              </a:solidFill>
              <a:effectLst/>
              <a:uLnTx/>
              <a:uFillTx/>
              <a:latin typeface="Arial" panose="020B0604020202020204" pitchFamily="34" charset="0"/>
              <a:ea typeface="+mn-ea"/>
              <a:cs typeface="+mn-cs"/>
            </a:endParaRPr>
          </a:p>
        </p:txBody>
      </p:sp>
    </p:spTree>
  </p:cSld>
  <p:clrMap bg1="lt1" tx1="dk1" bg2="lt2" tx2="dk2" accent1="accent1" accent2="accent2" accent3="accent3" accent4="accent4" accent5="accent5" accent6="accent6" hlink="hlink" folHlink="folHlink"/>
  <p:hf sldNum="0" hdr="0" ftr="0" dt="0"/>
  <p:notesStyle>
    <a:lvl1pPr algn="just" rtl="0" eaLnBrk="0" fontAlgn="base" hangingPunct="0">
      <a:lnSpc>
        <a:spcPct val="90000"/>
      </a:lnSpc>
      <a:spcBef>
        <a:spcPct val="40000"/>
      </a:spcBef>
      <a:spcAft>
        <a:spcPct val="0"/>
      </a:spcAft>
      <a:defRPr sz="1100" kern="1200">
        <a:solidFill>
          <a:schemeClr val="tx1"/>
        </a:solidFill>
        <a:latin typeface="Arial" panose="020B0604020202020204" pitchFamily="34" charset="0"/>
        <a:ea typeface="+mn-ea"/>
        <a:cs typeface="+mn-cs"/>
      </a:defRPr>
    </a:lvl1pPr>
    <a:lvl2pPr marL="742950" indent="-285750" algn="l" rtl="0" eaLnBrk="0" fontAlgn="base" hangingPunct="0">
      <a:lnSpc>
        <a:spcPct val="90000"/>
      </a:lnSpc>
      <a:spcBef>
        <a:spcPct val="30000"/>
      </a:spcBef>
      <a:spcAft>
        <a:spcPct val="0"/>
      </a:spcAft>
      <a:defRPr sz="1200" kern="1200">
        <a:solidFill>
          <a:schemeClr val="tx1"/>
        </a:solidFill>
        <a:latin typeface="Times New Roman" panose="02020603050405020304" pitchFamily="18" charset="0"/>
        <a:ea typeface="+mn-ea"/>
        <a:cs typeface="+mn-cs"/>
      </a:defRPr>
    </a:lvl2pPr>
    <a:lvl3pPr marL="1143000" indent="-228600" algn="l" rtl="0" eaLnBrk="0" fontAlgn="base" hangingPunct="0">
      <a:lnSpc>
        <a:spcPct val="90000"/>
      </a:lnSpc>
      <a:spcBef>
        <a:spcPct val="30000"/>
      </a:spcBef>
      <a:spcAft>
        <a:spcPct val="0"/>
      </a:spcAft>
      <a:defRPr sz="1200" kern="1200">
        <a:solidFill>
          <a:schemeClr val="tx1"/>
        </a:solidFill>
        <a:latin typeface="Times New Roman" panose="02020603050405020304" pitchFamily="18" charset="0"/>
        <a:ea typeface="+mn-ea"/>
        <a:cs typeface="+mn-cs"/>
      </a:defRPr>
    </a:lvl3pPr>
    <a:lvl4pPr marL="1600200" indent="-228600" algn="l" rtl="0" eaLnBrk="0" fontAlgn="base" hangingPunct="0">
      <a:lnSpc>
        <a:spcPct val="90000"/>
      </a:lnSpc>
      <a:spcBef>
        <a:spcPct val="30000"/>
      </a:spcBef>
      <a:spcAft>
        <a:spcPct val="0"/>
      </a:spcAft>
      <a:defRPr sz="1200" kern="1200">
        <a:solidFill>
          <a:schemeClr val="tx1"/>
        </a:solidFill>
        <a:latin typeface="Times New Roman" panose="02020603050405020304" pitchFamily="18" charset="0"/>
        <a:ea typeface="+mn-ea"/>
        <a:cs typeface="+mn-cs"/>
      </a:defRPr>
    </a:lvl4pPr>
    <a:lvl5pPr marL="2057400" indent="-228600" algn="l" rtl="0" eaLnBrk="0" fontAlgn="base" hangingPunct="0">
      <a:lnSpc>
        <a:spcPct val="90000"/>
      </a:lnSpc>
      <a:spcBef>
        <a:spcPct val="30000"/>
      </a:spcBef>
      <a:spcAft>
        <a:spcPct val="0"/>
      </a:spcAft>
      <a:defRPr sz="1200" kern="1200">
        <a:solidFill>
          <a:schemeClr val="tx1"/>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1" name="Rectangle 2"/>
          <p:cNvSpPr>
            <a:spLocks noGrp="1"/>
          </p:cNvSpPr>
          <p:nvPr>
            <p:ph type="body"/>
          </p:nvPr>
        </p:nvSpPr>
        <p:spPr>
          <a:ln w="12700"/>
        </p:spPr>
        <p:txBody>
          <a:bodyPr wrap="square" lIns="90692" tIns="44550" rIns="90692" bIns="44550" anchor="t" anchorCtr="0"/>
          <a:p>
            <a:pPr lvl="0"/>
            <a:endParaRPr lang="en-US" altLang="zh-CN" dirty="0">
              <a:ea typeface="宋体" panose="02010600030101010101" pitchFamily="2" charset="-122"/>
            </a:endParaRPr>
          </a:p>
        </p:txBody>
      </p:sp>
      <p:sp>
        <p:nvSpPr>
          <p:cNvPr id="10242" name="Rectangle 3"/>
          <p:cNvSpPr>
            <a:spLocks noTextEdit="1"/>
          </p:cNvSpPr>
          <p:nvPr>
            <p:ph type="sldImg"/>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solidFill>
          <a:schemeClr val="bg1"/>
        </a:solidFill>
        <a:effectLst/>
      </p:bgPr>
    </p:bg>
    <p:spTree>
      <p:nvGrpSpPr>
        <p:cNvPr id="1" name=""/>
        <p:cNvGrpSpPr/>
        <p:nvPr/>
      </p:nvGrpSpPr>
      <p:grpSpPr>
        <a:xfrm>
          <a:off x="0" y="0"/>
          <a:ext cx="0" cy="0"/>
          <a:chOff x="0" y="0"/>
          <a:chExt cx="0" cy="0"/>
        </a:xfrm>
      </p:grpSpPr>
      <p:sp>
        <p:nvSpPr>
          <p:cNvPr id="87042" name="Rectangle 1026"/>
          <p:cNvSpPr>
            <a:spLocks noGrp="1" noChangeArrowheads="1"/>
          </p:cNvSpPr>
          <p:nvPr>
            <p:ph type="ctrTitle"/>
          </p:nvPr>
        </p:nvSpPr>
        <p:spPr>
          <a:xfrm>
            <a:off x="2378075" y="2020888"/>
            <a:ext cx="4325938" cy="368300"/>
          </a:xfrm>
        </p:spPr>
        <p:txBody>
          <a:bodyPr/>
          <a:lstStyle>
            <a:lvl1pPr>
              <a:defRPr>
                <a:solidFill>
                  <a:schemeClr val="accent2"/>
                </a:solidFill>
              </a:defRPr>
            </a:lvl1pPr>
          </a:lstStyle>
          <a:p>
            <a:pPr lvl="0" fontAlgn="base"/>
            <a:r>
              <a:rPr lang="en-US" altLang="zh-CN" strike="noStrike" noProof="0" smtClean="0"/>
              <a:t>Click to edit Master title style</a:t>
            </a:r>
            <a:endParaRPr lang="en-US" altLang="zh-CN" strike="noStrike" noProof="0" smtClean="0"/>
          </a:p>
        </p:txBody>
      </p:sp>
      <p:sp>
        <p:nvSpPr>
          <p:cNvPr id="87043" name="Rectangle 1027"/>
          <p:cNvSpPr>
            <a:spLocks noGrp="1" noChangeArrowheads="1"/>
          </p:cNvSpPr>
          <p:nvPr>
            <p:ph type="subTitle" idx="1"/>
          </p:nvPr>
        </p:nvSpPr>
        <p:spPr>
          <a:xfrm>
            <a:off x="1371600" y="3886200"/>
            <a:ext cx="6400800" cy="325438"/>
          </a:xfrm>
        </p:spPr>
        <p:txBody>
          <a:bodyPr/>
          <a:lstStyle>
            <a:lvl1pPr marL="0" indent="0" algn="ctr">
              <a:buFontTx/>
              <a:buNone/>
              <a:defRPr/>
            </a:lvl1pPr>
          </a:lstStyle>
          <a:p>
            <a:pPr lvl="0" fontAlgn="base"/>
            <a:r>
              <a:rPr lang="en-US" altLang="zh-CN" strike="noStrike" noProof="0" smtClean="0"/>
              <a:t>Click to edit Master subtitle style</a:t>
            </a:r>
            <a:endParaRPr lang="en-US" altLang="zh-CN" strike="noStrike" noProof="0" smtClean="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lstStyle>
            <a:lvl1pPr algn="l">
              <a:defRPr sz="4000" b="1" cap="all"/>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685800" y="1143000"/>
            <a:ext cx="3848100" cy="2209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86300" y="1143000"/>
            <a:ext cx="3848100" cy="2209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1792288" y="612775"/>
            <a:ext cx="5486400" cy="4114800"/>
          </a:xfrm>
        </p:spPr>
        <p:txBody>
          <a:bodyPr vert="horz" wrap="square" lIns="63500" tIns="25400" rIns="63500" bIns="25400" numCol="1" anchor="t" anchorCtr="0" compatLnSpc="1">
            <a:sp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75000"/>
              </a:lnSpc>
              <a:spcBef>
                <a:spcPct val="65000"/>
              </a:spcBef>
              <a:spcAft>
                <a:spcPct val="0"/>
              </a:spcAft>
              <a:buClrTx/>
              <a:buSzPct val="100000"/>
              <a:buFontTx/>
              <a:buNone/>
              <a:defRPr/>
            </a:pPr>
            <a:endParaRPr kumimoji="0" lang="zh-CN" altLang="en-US" sz="3200" b="1" i="0" u="none" strike="noStrike" kern="0" cap="none" spc="0" normalizeH="0" baseline="0" noProof="0" smtClean="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72250" y="304800"/>
            <a:ext cx="1962150" cy="30480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685800" y="304800"/>
            <a:ext cx="5734050" cy="30480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Rectangle 2"/>
          <p:cNvSpPr>
            <a:spLocks noGrp="1"/>
          </p:cNvSpPr>
          <p:nvPr>
            <p:ph type="title"/>
          </p:nvPr>
        </p:nvSpPr>
        <p:spPr>
          <a:xfrm>
            <a:off x="762000" y="304800"/>
            <a:ext cx="752475" cy="368300"/>
          </a:xfrm>
          <a:prstGeom prst="rect">
            <a:avLst/>
          </a:prstGeom>
          <a:noFill/>
          <a:ln w="12700">
            <a:noFill/>
          </a:ln>
        </p:spPr>
        <p:txBody>
          <a:bodyPr wrap="none" lIns="63500" tIns="25400" rIns="63500" bIns="25400" anchor="t" anchorCtr="0">
            <a:spAutoFit/>
          </a:bodyPr>
          <a:p>
            <a:pPr lvl="0"/>
            <a:r>
              <a:rPr lang="en-US" altLang="zh-CN" dirty="0"/>
              <a:t>Title</a:t>
            </a:r>
            <a:endParaRPr lang="en-US" altLang="zh-CN" dirty="0"/>
          </a:p>
        </p:txBody>
      </p:sp>
      <p:sp>
        <p:nvSpPr>
          <p:cNvPr id="1027" name="Rectangle 5"/>
          <p:cNvSpPr>
            <a:spLocks noGrp="1"/>
          </p:cNvSpPr>
          <p:nvPr>
            <p:ph type="body"/>
          </p:nvPr>
        </p:nvSpPr>
        <p:spPr>
          <a:xfrm>
            <a:off x="685800" y="1143000"/>
            <a:ext cx="7848600" cy="2209800"/>
          </a:xfrm>
          <a:prstGeom prst="rect">
            <a:avLst/>
          </a:prstGeom>
          <a:noFill/>
          <a:ln w="12700">
            <a:noFill/>
          </a:ln>
        </p:spPr>
        <p:txBody>
          <a:bodyPr lIns="63500" tIns="25400" rIns="63500" bIns="25400" anchor="t" anchorCtr="0">
            <a:spAutoFit/>
          </a:bodyPr>
          <a:p>
            <a:pPr lvl="0"/>
            <a:r>
              <a:rPr lang="en-US" altLang="zh-CN" dirty="0"/>
              <a:t>This is our 1st Level Bullet</a:t>
            </a:r>
            <a:endParaRPr lang="en-US" altLang="zh-CN" dirty="0"/>
          </a:p>
          <a:p>
            <a:pPr lvl="1" indent="-190500"/>
            <a:r>
              <a:rPr lang="en-US" altLang="zh-CN" dirty="0"/>
              <a:t>This is our 2nd level bullet</a:t>
            </a:r>
            <a:endParaRPr lang="en-US" altLang="zh-CN" dirty="0"/>
          </a:p>
          <a:p>
            <a:pPr lvl="2" indent="-342900"/>
            <a:r>
              <a:rPr lang="en-US" altLang="zh-CN" dirty="0"/>
              <a:t>This is our 3rd level bullet</a:t>
            </a:r>
            <a:endParaRPr lang="en-US" altLang="zh-CN" dirty="0"/>
          </a:p>
          <a:p>
            <a:pPr lvl="0"/>
            <a:r>
              <a:rPr lang="en-US" altLang="zh-CN" dirty="0"/>
              <a:t>This is our next 1st Level Bullet</a:t>
            </a:r>
            <a:endParaRPr lang="en-US" altLang="zh-CN" dirty="0"/>
          </a:p>
          <a:p>
            <a:pPr lvl="1" indent="-190500"/>
            <a:r>
              <a:rPr lang="en-US" altLang="zh-CN" dirty="0"/>
              <a:t>This is our 2nd level bullet</a:t>
            </a:r>
            <a:endParaRPr lang="en-US" altLang="zh-CN" dirty="0"/>
          </a:p>
          <a:p>
            <a:pPr lvl="2" indent="-342900"/>
            <a:r>
              <a:rPr lang="en-US" altLang="zh-CN" dirty="0"/>
              <a:t>This is our 3rd level bullet</a:t>
            </a:r>
            <a:endParaRPr lang="en-US" altLang="zh-CN" dirty="0"/>
          </a:p>
        </p:txBody>
      </p:sp>
      <p:sp>
        <p:nvSpPr>
          <p:cNvPr id="1028" name="Line 7"/>
          <p:cNvSpPr/>
          <p:nvPr/>
        </p:nvSpPr>
        <p:spPr>
          <a:xfrm>
            <a:off x="609600" y="635000"/>
            <a:ext cx="8059738" cy="0"/>
          </a:xfrm>
          <a:prstGeom prst="line">
            <a:avLst/>
          </a:prstGeom>
          <a:ln w="47625" cap="flat" cmpd="thickThin">
            <a:solidFill>
              <a:schemeClr val="accent2"/>
            </a:solidFill>
            <a:prstDash val="solid"/>
            <a:round/>
            <a:headEnd type="none" w="sm" len="sm"/>
            <a:tailEnd type="none" w="sm" len="sm"/>
          </a:ln>
        </p:spPr>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rtl="0" eaLnBrk="0" fontAlgn="base" hangingPunct="0">
        <a:lnSpc>
          <a:spcPct val="87000"/>
        </a:lnSpc>
        <a:spcBef>
          <a:spcPct val="0"/>
        </a:spcBef>
        <a:spcAft>
          <a:spcPct val="0"/>
        </a:spcAft>
        <a:defRPr sz="2400" b="1">
          <a:solidFill>
            <a:schemeClr val="tx2"/>
          </a:solidFill>
          <a:latin typeface="+mj-lt"/>
          <a:ea typeface="+mj-ea"/>
          <a:cs typeface="+mj-cs"/>
        </a:defRPr>
      </a:lvl1pPr>
      <a:lvl2pPr algn="l" rtl="0" eaLnBrk="0" fontAlgn="base" hangingPunct="0">
        <a:lnSpc>
          <a:spcPct val="87000"/>
        </a:lnSpc>
        <a:spcBef>
          <a:spcPct val="0"/>
        </a:spcBef>
        <a:spcAft>
          <a:spcPct val="0"/>
        </a:spcAft>
        <a:defRPr sz="2400" b="1">
          <a:solidFill>
            <a:schemeClr val="tx2"/>
          </a:solidFill>
          <a:latin typeface="Arial" panose="020B0604020202020204" pitchFamily="34" charset="0"/>
        </a:defRPr>
      </a:lvl2pPr>
      <a:lvl3pPr algn="l" rtl="0" eaLnBrk="0" fontAlgn="base" hangingPunct="0">
        <a:lnSpc>
          <a:spcPct val="87000"/>
        </a:lnSpc>
        <a:spcBef>
          <a:spcPct val="0"/>
        </a:spcBef>
        <a:spcAft>
          <a:spcPct val="0"/>
        </a:spcAft>
        <a:defRPr sz="2400" b="1">
          <a:solidFill>
            <a:schemeClr val="tx2"/>
          </a:solidFill>
          <a:latin typeface="Arial" panose="020B0604020202020204" pitchFamily="34" charset="0"/>
        </a:defRPr>
      </a:lvl3pPr>
      <a:lvl4pPr algn="l" rtl="0" eaLnBrk="0" fontAlgn="base" hangingPunct="0">
        <a:lnSpc>
          <a:spcPct val="87000"/>
        </a:lnSpc>
        <a:spcBef>
          <a:spcPct val="0"/>
        </a:spcBef>
        <a:spcAft>
          <a:spcPct val="0"/>
        </a:spcAft>
        <a:defRPr sz="2400" b="1">
          <a:solidFill>
            <a:schemeClr val="tx2"/>
          </a:solidFill>
          <a:latin typeface="Arial" panose="020B0604020202020204" pitchFamily="34" charset="0"/>
        </a:defRPr>
      </a:lvl4pPr>
      <a:lvl5pPr algn="l" rtl="0" eaLnBrk="0" fontAlgn="base" hangingPunct="0">
        <a:lnSpc>
          <a:spcPct val="87000"/>
        </a:lnSpc>
        <a:spcBef>
          <a:spcPct val="0"/>
        </a:spcBef>
        <a:spcAft>
          <a:spcPct val="0"/>
        </a:spcAft>
        <a:defRPr sz="2400" b="1">
          <a:solidFill>
            <a:schemeClr val="tx2"/>
          </a:solidFill>
          <a:latin typeface="Arial" panose="020B0604020202020204" pitchFamily="34" charset="0"/>
        </a:defRPr>
      </a:lvl5pPr>
      <a:lvl6pPr marL="457200" algn="l" rtl="0" eaLnBrk="0" fontAlgn="base" hangingPunct="0">
        <a:lnSpc>
          <a:spcPct val="87000"/>
        </a:lnSpc>
        <a:spcBef>
          <a:spcPct val="0"/>
        </a:spcBef>
        <a:spcAft>
          <a:spcPct val="0"/>
        </a:spcAft>
        <a:defRPr sz="2400" b="1">
          <a:solidFill>
            <a:schemeClr val="tx2"/>
          </a:solidFill>
          <a:latin typeface="Arial" panose="020B0604020202020204" pitchFamily="34" charset="0"/>
        </a:defRPr>
      </a:lvl6pPr>
      <a:lvl7pPr marL="914400" algn="l" rtl="0" eaLnBrk="0" fontAlgn="base" hangingPunct="0">
        <a:lnSpc>
          <a:spcPct val="87000"/>
        </a:lnSpc>
        <a:spcBef>
          <a:spcPct val="0"/>
        </a:spcBef>
        <a:spcAft>
          <a:spcPct val="0"/>
        </a:spcAft>
        <a:defRPr sz="2400" b="1">
          <a:solidFill>
            <a:schemeClr val="tx2"/>
          </a:solidFill>
          <a:latin typeface="Arial" panose="020B0604020202020204" pitchFamily="34" charset="0"/>
        </a:defRPr>
      </a:lvl7pPr>
      <a:lvl8pPr marL="1371600" algn="l" rtl="0" eaLnBrk="0" fontAlgn="base" hangingPunct="0">
        <a:lnSpc>
          <a:spcPct val="87000"/>
        </a:lnSpc>
        <a:spcBef>
          <a:spcPct val="0"/>
        </a:spcBef>
        <a:spcAft>
          <a:spcPct val="0"/>
        </a:spcAft>
        <a:defRPr sz="2400" b="1">
          <a:solidFill>
            <a:schemeClr val="tx2"/>
          </a:solidFill>
          <a:latin typeface="Arial" panose="020B0604020202020204" pitchFamily="34" charset="0"/>
        </a:defRPr>
      </a:lvl8pPr>
      <a:lvl9pPr marL="1828800" algn="l" rtl="0" eaLnBrk="0" fontAlgn="base" hangingPunct="0">
        <a:lnSpc>
          <a:spcPct val="87000"/>
        </a:lnSpc>
        <a:spcBef>
          <a:spcPct val="0"/>
        </a:spcBef>
        <a:spcAft>
          <a:spcPct val="0"/>
        </a:spcAft>
        <a:defRPr sz="2400" b="1">
          <a:solidFill>
            <a:schemeClr val="tx2"/>
          </a:solidFill>
          <a:latin typeface="Arial" panose="020B0604020202020204" pitchFamily="34" charset="0"/>
        </a:defRPr>
      </a:lvl9pPr>
    </p:titleStyle>
    <p:bodyStyle>
      <a:lvl1pPr marL="203200" indent="-203200" algn="l" rtl="0" eaLnBrk="0" fontAlgn="base" hangingPunct="0">
        <a:lnSpc>
          <a:spcPct val="75000"/>
        </a:lnSpc>
        <a:spcBef>
          <a:spcPct val="65000"/>
        </a:spcBef>
        <a:spcAft>
          <a:spcPct val="0"/>
        </a:spcAft>
        <a:buSzPct val="100000"/>
        <a:buChar char="°"/>
        <a:defRPr sz="2400" b="1">
          <a:solidFill>
            <a:schemeClr val="tx1"/>
          </a:solidFill>
          <a:latin typeface="+mn-lt"/>
          <a:ea typeface="+mn-ea"/>
          <a:cs typeface="+mn-cs"/>
        </a:defRPr>
      </a:lvl1pPr>
      <a:lvl2pPr marL="685800" indent="-190500" algn="l" rtl="0" eaLnBrk="0" fontAlgn="base" hangingPunct="0">
        <a:lnSpc>
          <a:spcPct val="85000"/>
        </a:lnSpc>
        <a:spcBef>
          <a:spcPct val="40000"/>
        </a:spcBef>
        <a:spcAft>
          <a:spcPct val="0"/>
        </a:spcAft>
        <a:buSzPct val="100000"/>
        <a:buChar char="•"/>
        <a:defRPr sz="2400" b="1">
          <a:solidFill>
            <a:schemeClr val="tx1"/>
          </a:solidFill>
          <a:latin typeface="+mn-lt"/>
        </a:defRPr>
      </a:lvl2pPr>
      <a:lvl3pPr marL="1257300" indent="-342900" algn="l" rtl="0" eaLnBrk="0" fontAlgn="base" hangingPunct="0">
        <a:lnSpc>
          <a:spcPct val="85000"/>
        </a:lnSpc>
        <a:spcBef>
          <a:spcPct val="40000"/>
        </a:spcBef>
        <a:spcAft>
          <a:spcPct val="0"/>
        </a:spcAft>
        <a:buSzPct val="100000"/>
        <a:buChar char="-"/>
        <a:defRPr sz="2400" b="1">
          <a:solidFill>
            <a:schemeClr val="tx1"/>
          </a:solidFill>
          <a:latin typeface="+mn-lt"/>
        </a:defRPr>
      </a:lvl3pPr>
      <a:lvl4pPr marL="1714500" indent="-342900" algn="l" rtl="0" eaLnBrk="0" fontAlgn="base" hangingPunct="0">
        <a:lnSpc>
          <a:spcPct val="85000"/>
        </a:lnSpc>
        <a:spcBef>
          <a:spcPct val="20000"/>
        </a:spcBef>
        <a:spcAft>
          <a:spcPct val="0"/>
        </a:spcAft>
        <a:buChar char="–"/>
        <a:defRPr sz="2000">
          <a:solidFill>
            <a:schemeClr val="tx1"/>
          </a:solidFill>
          <a:latin typeface="Times New Roman" panose="02020603050405020304" pitchFamily="18" charset="0"/>
        </a:defRPr>
      </a:lvl4pPr>
      <a:lvl5pPr marL="2171700" indent="-342900" algn="l" rtl="0" eaLnBrk="0" fontAlgn="base" hangingPunct="0">
        <a:lnSpc>
          <a:spcPct val="85000"/>
        </a:lnSpc>
        <a:spcBef>
          <a:spcPct val="20000"/>
        </a:spcBef>
        <a:spcAft>
          <a:spcPct val="0"/>
        </a:spcAft>
        <a:buChar char="»"/>
        <a:defRPr sz="2000">
          <a:solidFill>
            <a:schemeClr val="tx1"/>
          </a:solidFill>
          <a:latin typeface="Times New Roman" panose="02020603050405020304" pitchFamily="18" charset="0"/>
        </a:defRPr>
      </a:lvl5pPr>
      <a:lvl6pPr marL="26289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6pPr>
      <a:lvl7pPr marL="30861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5433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8pPr>
      <a:lvl9pPr marL="40005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xml"/><Relationship Id="rId1" Type="http://schemas.openxmlformats.org/officeDocument/2006/relationships/tags" Target="../tags/tag3.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xml"/><Relationship Id="rId1" Type="http://schemas.openxmlformats.org/officeDocument/2006/relationships/tags" Target="../tags/tag5.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8.xml"/><Relationship Id="rId1" Type="http://schemas.openxmlformats.org/officeDocument/2006/relationships/tags" Target="../tags/tag7.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0.xml"/><Relationship Id="rId1" Type="http://schemas.openxmlformats.org/officeDocument/2006/relationships/tags" Target="../tags/tag9.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2.xml"/><Relationship Id="rId1" Type="http://schemas.openxmlformats.org/officeDocument/2006/relationships/tags" Target="../tags/tag11.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4.xml"/><Relationship Id="rId1" Type="http://schemas.openxmlformats.org/officeDocument/2006/relationships/tags" Target="../tags/tag13.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image" Target="../media/image1.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6.xml"/><Relationship Id="rId1" Type="http://schemas.openxmlformats.org/officeDocument/2006/relationships/tags" Target="../tags/tag15.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8.xml"/><Relationship Id="rId1" Type="http://schemas.openxmlformats.org/officeDocument/2006/relationships/tags" Target="../tags/tag17.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0.xml"/><Relationship Id="rId1" Type="http://schemas.openxmlformats.org/officeDocument/2006/relationships/tags" Target="../tags/tag19.xml"/></Relationships>
</file>

<file path=ppt/slides/_rels/slide14.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6.png"/><Relationship Id="rId3" Type="http://schemas.openxmlformats.org/officeDocument/2006/relationships/image" Target="../media/image5.png"/><Relationship Id="rId2" Type="http://schemas.openxmlformats.org/officeDocument/2006/relationships/tags" Target="../tags/tag22.xml"/><Relationship Id="rId1" Type="http://schemas.openxmlformats.org/officeDocument/2006/relationships/tags" Target="../tags/tag21.xml"/></Relationships>
</file>

<file path=ppt/slides/_rels/slide1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25.xml"/><Relationship Id="rId2" Type="http://schemas.openxmlformats.org/officeDocument/2006/relationships/tags" Target="../tags/tag24.xml"/><Relationship Id="rId1" Type="http://schemas.openxmlformats.org/officeDocument/2006/relationships/tags" Target="../tags/tag23.xml"/></Relationships>
</file>

<file path=ppt/slides/_rels/slide1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27.xml"/><Relationship Id="rId2" Type="http://schemas.openxmlformats.org/officeDocument/2006/relationships/tags" Target="../tags/tag26.xml"/><Relationship Id="rId1" Type="http://schemas.openxmlformats.org/officeDocument/2006/relationships/image" Target="../media/image7.png"/></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9.xml"/><Relationship Id="rId1" Type="http://schemas.openxmlformats.org/officeDocument/2006/relationships/tags" Target="../tags/tag28.xml"/></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9.png"/><Relationship Id="rId1" Type="http://schemas.openxmlformats.org/officeDocument/2006/relationships/image" Target="../media/image8.png"/></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1.png"/><Relationship Id="rId1" Type="http://schemas.openxmlformats.org/officeDocument/2006/relationships/image" Target="../media/image10.png"/></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1.xml"/><Relationship Id="rId1" Type="http://schemas.openxmlformats.org/officeDocument/2006/relationships/tags" Target="../tags/tag30.xml"/></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3.xml"/><Relationship Id="rId1" Type="http://schemas.openxmlformats.org/officeDocument/2006/relationships/tags" Target="../tags/tag32.xml"/></Relationships>
</file>

<file path=ppt/slides/_rels/slide22.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3.png"/><Relationship Id="rId3" Type="http://schemas.openxmlformats.org/officeDocument/2006/relationships/image" Target="../media/image12.png"/><Relationship Id="rId2" Type="http://schemas.openxmlformats.org/officeDocument/2006/relationships/tags" Target="../tags/tag35.xml"/><Relationship Id="rId1" Type="http://schemas.openxmlformats.org/officeDocument/2006/relationships/tags" Target="../tags/tag34.xml"/></Relationships>
</file>

<file path=ppt/slides/_rels/slide23.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5.png"/><Relationship Id="rId3" Type="http://schemas.openxmlformats.org/officeDocument/2006/relationships/image" Target="../media/image14.png"/><Relationship Id="rId2" Type="http://schemas.openxmlformats.org/officeDocument/2006/relationships/tags" Target="../tags/tag37.xml"/><Relationship Id="rId1" Type="http://schemas.openxmlformats.org/officeDocument/2006/relationships/tags" Target="../tags/tag36.xml"/></Relationships>
</file>

<file path=ppt/slides/_rels/slide2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6.png"/><Relationship Id="rId2" Type="http://schemas.openxmlformats.org/officeDocument/2006/relationships/tags" Target="../tags/tag39.xml"/><Relationship Id="rId1" Type="http://schemas.openxmlformats.org/officeDocument/2006/relationships/tags" Target="../tags/tag38.xml"/></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1.xml"/><Relationship Id="rId1" Type="http://schemas.openxmlformats.org/officeDocument/2006/relationships/tags" Target="../tags/tag40.xml"/></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3.xml"/><Relationship Id="rId1" Type="http://schemas.openxmlformats.org/officeDocument/2006/relationships/tags" Target="../tags/tag42.xml"/></Relationships>
</file>

<file path=ppt/slides/_rels/slide2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tags" Target="../tags/tag44.xml"/></Relationships>
</file>

<file path=ppt/slides/_rels/slide2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tags" Target="../tags/tag45.xml"/></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7.xml"/><Relationship Id="rId1" Type="http://schemas.openxmlformats.org/officeDocument/2006/relationships/tags" Target="../tags/tag46.xml"/></Relationships>
</file>

<file path=ppt/slides/_rels/slide30.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22.png"/><Relationship Id="rId3" Type="http://schemas.openxmlformats.org/officeDocument/2006/relationships/image" Target="../media/image21.png"/><Relationship Id="rId2" Type="http://schemas.openxmlformats.org/officeDocument/2006/relationships/tags" Target="../tags/tag49.xml"/><Relationship Id="rId1" Type="http://schemas.openxmlformats.org/officeDocument/2006/relationships/tags" Target="../tags/tag48.xml"/></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51.xml"/><Relationship Id="rId1" Type="http://schemas.openxmlformats.org/officeDocument/2006/relationships/tags" Target="../tags/tag50.xml"/></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53.xml"/><Relationship Id="rId1" Type="http://schemas.openxmlformats.org/officeDocument/2006/relationships/tags" Target="../tags/tag52.xml"/></Relationships>
</file>

<file path=ppt/slides/_rels/slide3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55.xml"/><Relationship Id="rId2" Type="http://schemas.openxmlformats.org/officeDocument/2006/relationships/image" Target="../media/image23.png"/><Relationship Id="rId1" Type="http://schemas.openxmlformats.org/officeDocument/2006/relationships/tags" Target="../tags/tag54.xml"/></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56.xml"/><Relationship Id="rId1" Type="http://schemas.openxmlformats.org/officeDocument/2006/relationships/image" Target="../media/image24.png"/></Relationships>
</file>

<file path=ppt/slides/_rels/slide3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58.xml"/><Relationship Id="rId1" Type="http://schemas.openxmlformats.org/officeDocument/2006/relationships/tags" Target="../tags/tag57.xml"/></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5.png"/></Relationships>
</file>

<file path=ppt/slides/_rels/slide3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0.xml"/><Relationship Id="rId1" Type="http://schemas.openxmlformats.org/officeDocument/2006/relationships/tags" Target="../tags/tag59.xml"/></Relationships>
</file>

<file path=ppt/slides/_rels/slide3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7.png"/><Relationship Id="rId1" Type="http://schemas.openxmlformats.org/officeDocument/2006/relationships/image" Target="../media/image26.png"/></Relationships>
</file>

<file path=ppt/slides/_rels/slide3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2.xml"/><Relationship Id="rId1" Type="http://schemas.openxmlformats.org/officeDocument/2006/relationships/tags" Target="../tags/tag61.xml"/></Relationships>
</file>

<file path=ppt/slides/_rels/slide40.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65.xml"/><Relationship Id="rId2" Type="http://schemas.openxmlformats.org/officeDocument/2006/relationships/tags" Target="../tags/tag64.xml"/><Relationship Id="rId1" Type="http://schemas.openxmlformats.org/officeDocument/2006/relationships/tags" Target="../tags/tag63.xml"/></Relationships>
</file>

<file path=ppt/slides/_rels/slide4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7.xml"/><Relationship Id="rId1" Type="http://schemas.openxmlformats.org/officeDocument/2006/relationships/tags" Target="../tags/tag66.xml"/></Relationships>
</file>

<file path=ppt/slides/_rels/slide4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9.xml"/><Relationship Id="rId1" Type="http://schemas.openxmlformats.org/officeDocument/2006/relationships/tags" Target="../tags/tag68.xml"/></Relationships>
</file>

<file path=ppt/slides/_rels/slide4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71.xml"/><Relationship Id="rId1" Type="http://schemas.openxmlformats.org/officeDocument/2006/relationships/tags" Target="../tags/tag70.xml"/></Relationships>
</file>

<file path=ppt/slides/_rels/slide4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73.xml"/><Relationship Id="rId1" Type="http://schemas.openxmlformats.org/officeDocument/2006/relationships/tags" Target="../tags/tag72.xml"/></Relationships>
</file>

<file path=ppt/slides/_rels/slide4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75.xml"/><Relationship Id="rId1" Type="http://schemas.openxmlformats.org/officeDocument/2006/relationships/tags" Target="../tags/tag74.xml"/></Relationships>
</file>

<file path=ppt/slides/_rels/slide46.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tags" Target="../tags/tag78.xml"/><Relationship Id="rId4" Type="http://schemas.openxmlformats.org/officeDocument/2006/relationships/tags" Target="../tags/tag77.xml"/><Relationship Id="rId3" Type="http://schemas.openxmlformats.org/officeDocument/2006/relationships/tags" Target="../tags/tag76.xml"/><Relationship Id="rId2" Type="http://schemas.openxmlformats.org/officeDocument/2006/relationships/image" Target="../media/image29.png"/><Relationship Id="rId1" Type="http://schemas.openxmlformats.org/officeDocument/2006/relationships/image" Target="../media/image28.png"/></Relationships>
</file>

<file path=ppt/slides/_rels/slide4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79.xml"/><Relationship Id="rId2" Type="http://schemas.openxmlformats.org/officeDocument/2006/relationships/image" Target="../media/image31.png"/><Relationship Id="rId1" Type="http://schemas.openxmlformats.org/officeDocument/2006/relationships/image" Target="../media/image30.png"/></Relationships>
</file>

<file path=ppt/slides/_rels/slide4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81.xml"/><Relationship Id="rId1" Type="http://schemas.openxmlformats.org/officeDocument/2006/relationships/tags" Target="../tags/tag80.xml"/></Relationships>
</file>

<file path=ppt/slides/_rels/slide4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83.xml"/><Relationship Id="rId1" Type="http://schemas.openxmlformats.org/officeDocument/2006/relationships/tags" Target="../tags/tag82.xml"/></Relationships>
</file>

<file path=ppt/slides/_rels/slide5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85.xml"/><Relationship Id="rId1" Type="http://schemas.openxmlformats.org/officeDocument/2006/relationships/tags" Target="../tags/tag84.xml"/></Relationships>
</file>

<file path=ppt/slides/_rels/slide5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87.xml"/><Relationship Id="rId1" Type="http://schemas.openxmlformats.org/officeDocument/2006/relationships/tags" Target="../tags/tag86.xml"/></Relationships>
</file>

<file path=ppt/slides/_rels/slide5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89.xml"/><Relationship Id="rId1" Type="http://schemas.openxmlformats.org/officeDocument/2006/relationships/tags" Target="../tags/tag88.xml"/></Relationships>
</file>

<file path=ppt/slides/_rels/slide5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91.xml"/><Relationship Id="rId1" Type="http://schemas.openxmlformats.org/officeDocument/2006/relationships/tags" Target="../tags/tag9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7" name="Rectangle 2"/>
          <p:cNvSpPr>
            <a:spLocks noGrp="1"/>
          </p:cNvSpPr>
          <p:nvPr>
            <p:ph type="ctrTitle"/>
          </p:nvPr>
        </p:nvSpPr>
        <p:spPr>
          <a:xfrm>
            <a:off x="1673543" y="1693228"/>
            <a:ext cx="5869940" cy="1096645"/>
          </a:xfrm>
        </p:spPr>
        <p:txBody>
          <a:bodyPr vert="horz" wrap="none" lIns="63500" tIns="25400" rIns="63500" bIns="25400" anchor="ctr" anchorCtr="0">
            <a:spAutoFit/>
          </a:bodyPr>
          <a:p>
            <a:pPr algn="ctr">
              <a:lnSpc>
                <a:spcPct val="100000"/>
              </a:lnSpc>
              <a:buClrTx/>
              <a:buSzTx/>
              <a:buFontTx/>
            </a:pPr>
            <a:br>
              <a:rPr lang="en-US" altLang="zh-CN" dirty="0">
                <a:latin typeface="+mj-lt"/>
                <a:ea typeface="宋体" panose="02010600030101010101" pitchFamily="2" charset="-122"/>
                <a:cs typeface="+mj-cs"/>
              </a:rPr>
            </a:br>
            <a:r>
              <a:rPr lang="en-US" altLang="zh-CN" sz="4400" dirty="0">
                <a:solidFill>
                  <a:srgbClr val="000066"/>
                </a:solidFill>
                <a:ea typeface="黑体" panose="02010609060101010101" pitchFamily="49" charset="-122"/>
                <a:cs typeface="+mj-lt"/>
              </a:rPr>
              <a:t>Software Engineering</a:t>
            </a:r>
            <a:endParaRPr lang="en-US" altLang="zh-CN" sz="4400" dirty="0">
              <a:solidFill>
                <a:srgbClr val="000066"/>
              </a:solidFill>
              <a:ea typeface="黑体" panose="02010609060101010101" pitchFamily="49" charset="-122"/>
              <a:cs typeface="+mj-lt"/>
            </a:endParaRPr>
          </a:p>
        </p:txBody>
      </p:sp>
      <p:sp>
        <p:nvSpPr>
          <p:cNvPr id="9219" name="Text Box 8"/>
          <p:cNvSpPr txBox="1"/>
          <p:nvPr/>
        </p:nvSpPr>
        <p:spPr>
          <a:xfrm>
            <a:off x="252095" y="3197860"/>
            <a:ext cx="8641080" cy="1579880"/>
          </a:xfrm>
          <a:prstGeom prst="rect">
            <a:avLst/>
          </a:prstGeom>
          <a:noFill/>
          <a:ln w="12700">
            <a:noFill/>
          </a:ln>
        </p:spPr>
        <p:txBody>
          <a:bodyPr anchor="t" anchorCtr="0">
            <a:noAutofit/>
          </a:bodyPr>
          <a:p>
            <a:pPr eaLnBrk="0" hangingPunct="0">
              <a:spcBef>
                <a:spcPct val="50000"/>
              </a:spcBef>
            </a:pPr>
            <a:r>
              <a:rPr lang="en-US" altLang="zh-CN" b="0" dirty="0">
                <a:solidFill>
                  <a:srgbClr val="005400"/>
                </a:solidFill>
                <a:latin typeface="Arial" panose="020B0604020202020204" pitchFamily="34" charset="0"/>
                <a:ea typeface="宋体" panose="02010600030101010101" pitchFamily="2" charset="-122"/>
              </a:rPr>
              <a:t>                                 Wei-Min Wu</a:t>
            </a:r>
            <a:r>
              <a:rPr lang="zh-CN" altLang="en-US" b="0" dirty="0">
                <a:solidFill>
                  <a:srgbClr val="005400"/>
                </a:solidFill>
                <a:latin typeface="Arial" panose="020B0604020202020204" pitchFamily="34" charset="0"/>
                <a:ea typeface="宋体" panose="02010600030101010101" pitchFamily="2" charset="-122"/>
              </a:rPr>
              <a:t>（</a:t>
            </a:r>
            <a:r>
              <a:rPr lang="zh-CN" altLang="en-US" sz="2800" b="0" dirty="0">
                <a:solidFill>
                  <a:srgbClr val="003300"/>
                </a:solidFill>
                <a:latin typeface="仿宋" panose="02010609060101010101" pitchFamily="49" charset="-122"/>
                <a:ea typeface="仿宋" panose="02010609060101010101" pitchFamily="49" charset="-122"/>
              </a:rPr>
              <a:t>吴为民）</a:t>
            </a:r>
            <a:endParaRPr lang="zh-CN" altLang="en-US" sz="2800" b="0" dirty="0">
              <a:solidFill>
                <a:srgbClr val="003300"/>
              </a:solidFill>
              <a:latin typeface="Arial" panose="020B0604020202020204" pitchFamily="34" charset="0"/>
              <a:ea typeface="宋体" panose="02010600030101010101" pitchFamily="2" charset="-122"/>
            </a:endParaRPr>
          </a:p>
          <a:p>
            <a:pPr eaLnBrk="0" hangingPunct="0">
              <a:spcBef>
                <a:spcPct val="50000"/>
              </a:spcBef>
            </a:pPr>
            <a:r>
              <a:rPr lang="en-US" altLang="zh-CN" sz="2800" b="0" dirty="0">
                <a:solidFill>
                  <a:srgbClr val="003300"/>
                </a:solidFill>
                <a:latin typeface="Arial" panose="020B0604020202020204" pitchFamily="34" charset="0"/>
                <a:ea typeface="宋体" panose="02010600030101010101" pitchFamily="2" charset="-122"/>
              </a:rPr>
              <a:t>                            </a:t>
            </a:r>
            <a:r>
              <a:rPr lang="zh-CN" altLang="en-US" sz="2800" b="0" dirty="0">
                <a:solidFill>
                  <a:srgbClr val="003300"/>
                </a:solidFill>
                <a:latin typeface="Arial" panose="020B0604020202020204" pitchFamily="34" charset="0"/>
                <a:ea typeface="宋体" panose="02010600030101010101" pitchFamily="2" charset="-122"/>
              </a:rPr>
              <a:t>School of Petroleum</a:t>
            </a:r>
            <a:endParaRPr lang="en-US" altLang="zh-CN" sz="2800" b="0" dirty="0">
              <a:solidFill>
                <a:srgbClr val="003300"/>
              </a:solidFill>
              <a:latin typeface="Arial" panose="020B0604020202020204" pitchFamily="34" charset="0"/>
              <a:ea typeface="宋体" panose="02010600030101010101" pitchFamily="2" charset="-122"/>
            </a:endParaRPr>
          </a:p>
          <a:p>
            <a:pPr eaLnBrk="0" hangingPunct="0">
              <a:spcBef>
                <a:spcPts val="0"/>
              </a:spcBef>
            </a:pPr>
            <a:r>
              <a:rPr lang="en-US" altLang="zh-CN" sz="2800" b="0" dirty="0">
                <a:solidFill>
                  <a:srgbClr val="003300"/>
                </a:solidFill>
                <a:latin typeface="Arial" panose="020B0604020202020204" pitchFamily="34" charset="0"/>
                <a:ea typeface="宋体" panose="02010600030101010101" pitchFamily="2" charset="-122"/>
              </a:rPr>
              <a:t>    China University of Petroleum - Beijing at Karamay</a:t>
            </a:r>
            <a:endParaRPr lang="zh-CN" altLang="en-US" sz="2800" b="0" dirty="0">
              <a:solidFill>
                <a:srgbClr val="003300"/>
              </a:solidFill>
              <a:latin typeface="Arial" panose="020B0604020202020204" pitchFamily="34" charset="0"/>
              <a:ea typeface="宋体" panose="02010600030101010101" pitchFamily="2" charset="-122"/>
            </a:endParaRPr>
          </a:p>
        </p:txBody>
      </p:sp>
      <p:sp>
        <p:nvSpPr>
          <p:cNvPr id="9220" name="Text Box 10"/>
          <p:cNvSpPr txBox="1"/>
          <p:nvPr/>
        </p:nvSpPr>
        <p:spPr>
          <a:xfrm>
            <a:off x="6589395" y="6022340"/>
            <a:ext cx="2022475" cy="398780"/>
          </a:xfrm>
          <a:prstGeom prst="rect">
            <a:avLst/>
          </a:prstGeom>
          <a:noFill/>
          <a:ln w="12700">
            <a:noFill/>
          </a:ln>
        </p:spPr>
        <p:txBody>
          <a:bodyPr wrap="square" anchor="t" anchorCtr="0">
            <a:spAutoFit/>
          </a:bodyPr>
          <a:p>
            <a:pPr eaLnBrk="0" hangingPunct="0">
              <a:spcBef>
                <a:spcPct val="50000"/>
              </a:spcBef>
            </a:pPr>
            <a:r>
              <a:rPr lang="en-US" altLang="zh-CN" sz="2000" b="0" i="1" dirty="0">
                <a:solidFill>
                  <a:schemeClr val="tx1"/>
                </a:solidFill>
                <a:latin typeface="Arial" panose="020B0604020202020204" pitchFamily="34" charset="0"/>
                <a:ea typeface="宋体" panose="02010600030101010101" pitchFamily="2" charset="-122"/>
              </a:rPr>
              <a:t>Fall, 2025</a:t>
            </a:r>
            <a:endParaRPr lang="zh-CN" altLang="en-US" sz="2000" b="0" i="1" dirty="0">
              <a:solidFill>
                <a:schemeClr val="tx1"/>
              </a:solidFill>
              <a:latin typeface="Arial" panose="020B0604020202020204" pitchFamily="34" charset="0"/>
              <a:ea typeface="宋体" panose="02010600030101010101" pitchFamily="2" charset="-122"/>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867410"/>
            <a:ext cx="8977630" cy="66294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rgbClr val="0070C0"/>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Topics covered</a:t>
            </a:r>
            <a:endParaRPr lang="zh-CN" altLang="en-US" b="1" dirty="0" smtClean="0">
              <a:solidFill>
                <a:srgbClr val="134AD5"/>
              </a:solidFill>
              <a:latin typeface="+mn-lt"/>
              <a:ea typeface="宋体" panose="02010600030101010101" pitchFamily="2" charset="-122"/>
              <a:cs typeface="+mn-cs"/>
              <a:sym typeface="+mn-ea"/>
            </a:endParaRPr>
          </a:p>
        </p:txBody>
      </p:sp>
      <p:sp>
        <p:nvSpPr>
          <p:cNvPr id="4" name="Rectangle 2"/>
          <p:cNvSpPr>
            <a:spLocks noGrp="1"/>
          </p:cNvSpPr>
          <p:nvPr>
            <p:ph type="title"/>
            <p:custDataLst>
              <p:tags r:id="rId2"/>
            </p:custDataLst>
          </p:nvPr>
        </p:nvSpPr>
        <p:spPr>
          <a:xfrm>
            <a:off x="617538" y="198755"/>
            <a:ext cx="455295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5  System modeling</a:t>
            </a:r>
            <a:endParaRPr lang="en-US" altLang="zh-CN" sz="2800" dirty="0">
              <a:solidFill>
                <a:srgbClr val="660066"/>
              </a:solidFill>
              <a:ea typeface="黑体" panose="02010609060101010101" pitchFamily="49" charset="-122"/>
              <a:cs typeface="+mj-lt"/>
            </a:endParaRPr>
          </a:p>
        </p:txBody>
      </p:sp>
      <p:sp>
        <p:nvSpPr>
          <p:cNvPr id="3" name="Content Placeholder 2"/>
          <p:cNvSpPr>
            <a:spLocks noGrp="1"/>
          </p:cNvSpPr>
          <p:nvPr/>
        </p:nvSpPr>
        <p:spPr>
          <a:xfrm>
            <a:off x="457200" y="1528445"/>
            <a:ext cx="8229600" cy="3468370"/>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spcBef>
                <a:spcPts val="1000"/>
              </a:spcBef>
            </a:pPr>
            <a:r>
              <a:rPr lang="en-US" sz="3200" dirty="0" smtClean="0">
                <a:solidFill>
                  <a:schemeClr val="tx2">
                    <a:lumMod val="75000"/>
                    <a:lumOff val="25000"/>
                  </a:schemeClr>
                </a:solidFill>
                <a:latin typeface="Calibri" panose="020F0502020204030204" charset="0"/>
                <a:cs typeface="Calibri" panose="020F0502020204030204" charset="0"/>
              </a:rPr>
              <a:t> Context models   </a:t>
            </a:r>
            <a:r>
              <a:rPr lang="zh-CN" altLang="en-US" dirty="0" smtClean="0">
                <a:solidFill>
                  <a:schemeClr val="accent1">
                    <a:lumMod val="75000"/>
                  </a:schemeClr>
                </a:solidFill>
                <a:latin typeface="黑体" panose="02010609060101010101" pitchFamily="49" charset="-122"/>
                <a:ea typeface="黑体" panose="02010609060101010101" pitchFamily="49" charset="-122"/>
                <a:cs typeface="Calibri" panose="020F0502020204030204" charset="0"/>
              </a:rPr>
              <a:t>上下文模型</a:t>
            </a:r>
            <a:endParaRPr lang="en-US" dirty="0" smtClean="0">
              <a:solidFill>
                <a:srgbClr val="FF0000"/>
              </a:solidFill>
              <a:latin typeface="黑体" panose="02010609060101010101" pitchFamily="49" charset="-122"/>
              <a:ea typeface="黑体" panose="02010609060101010101" pitchFamily="49" charset="-122"/>
              <a:cs typeface="Calibri" panose="020F0502020204030204" charset="0"/>
            </a:endParaRPr>
          </a:p>
          <a:p>
            <a:pPr>
              <a:spcBef>
                <a:spcPts val="1000"/>
              </a:spcBef>
            </a:pPr>
            <a:r>
              <a:rPr lang="en-US" sz="3200" dirty="0" smtClean="0">
                <a:solidFill>
                  <a:schemeClr val="tx2">
                    <a:lumMod val="75000"/>
                    <a:lumOff val="25000"/>
                  </a:schemeClr>
                </a:solidFill>
                <a:latin typeface="Calibri" panose="020F0502020204030204" charset="0"/>
                <a:cs typeface="Calibri" panose="020F0502020204030204" charset="0"/>
              </a:rPr>
              <a:t> Interaction models   </a:t>
            </a:r>
            <a:r>
              <a:rPr lang="zh-CN" altLang="en-US" sz="2400" dirty="0" smtClean="0">
                <a:solidFill>
                  <a:schemeClr val="accent1">
                    <a:lumMod val="75000"/>
                  </a:schemeClr>
                </a:solidFill>
                <a:latin typeface="黑体" panose="02010609060101010101" pitchFamily="49" charset="-122"/>
                <a:ea typeface="黑体" panose="02010609060101010101" pitchFamily="49" charset="-122"/>
                <a:cs typeface="Calibri" panose="020F0502020204030204" charset="0"/>
              </a:rPr>
              <a:t>交互模型</a:t>
            </a:r>
            <a:endParaRPr lang="en-US" sz="3200" dirty="0" smtClean="0">
              <a:solidFill>
                <a:schemeClr val="tx2">
                  <a:lumMod val="75000"/>
                  <a:lumOff val="25000"/>
                </a:schemeClr>
              </a:solidFill>
              <a:latin typeface="Calibri" panose="020F0502020204030204" charset="0"/>
              <a:cs typeface="Calibri" panose="020F0502020204030204" charset="0"/>
            </a:endParaRPr>
          </a:p>
          <a:p>
            <a:pPr>
              <a:spcBef>
                <a:spcPts val="1000"/>
              </a:spcBef>
            </a:pPr>
            <a:r>
              <a:rPr lang="en-US" sz="3200" dirty="0" smtClean="0">
                <a:solidFill>
                  <a:schemeClr val="tx2">
                    <a:lumMod val="75000"/>
                    <a:lumOff val="25000"/>
                  </a:schemeClr>
                </a:solidFill>
                <a:latin typeface="Calibri" panose="020F0502020204030204" charset="0"/>
                <a:cs typeface="Calibri" panose="020F0502020204030204" charset="0"/>
              </a:rPr>
              <a:t> Structural models    </a:t>
            </a:r>
            <a:r>
              <a:rPr lang="zh-CN" altLang="en-US" sz="2400" dirty="0" smtClean="0">
                <a:solidFill>
                  <a:schemeClr val="accent1">
                    <a:lumMod val="75000"/>
                  </a:schemeClr>
                </a:solidFill>
                <a:latin typeface="黑体" panose="02010609060101010101" pitchFamily="49" charset="-122"/>
                <a:ea typeface="黑体" panose="02010609060101010101" pitchFamily="49" charset="-122"/>
                <a:cs typeface="Calibri" panose="020F0502020204030204" charset="0"/>
              </a:rPr>
              <a:t>结构模型</a:t>
            </a:r>
            <a:endParaRPr lang="en-US" sz="3200" dirty="0" smtClean="0">
              <a:solidFill>
                <a:schemeClr val="tx2">
                  <a:lumMod val="75000"/>
                  <a:lumOff val="25000"/>
                </a:schemeClr>
              </a:solidFill>
              <a:latin typeface="Calibri" panose="020F0502020204030204" charset="0"/>
              <a:cs typeface="Calibri" panose="020F0502020204030204" charset="0"/>
            </a:endParaRPr>
          </a:p>
          <a:p>
            <a:pPr>
              <a:spcBef>
                <a:spcPts val="1000"/>
              </a:spcBef>
            </a:pPr>
            <a:r>
              <a:rPr lang="en-US" sz="3200" dirty="0" smtClean="0">
                <a:solidFill>
                  <a:schemeClr val="tx2">
                    <a:lumMod val="75000"/>
                    <a:lumOff val="25000"/>
                  </a:schemeClr>
                </a:solidFill>
                <a:latin typeface="Calibri" panose="020F0502020204030204" charset="0"/>
                <a:cs typeface="Calibri" panose="020F0502020204030204" charset="0"/>
              </a:rPr>
              <a:t> Behavioral models   </a:t>
            </a:r>
            <a:r>
              <a:rPr lang="zh-CN" altLang="en-US" sz="2400" dirty="0" smtClean="0">
                <a:solidFill>
                  <a:schemeClr val="accent1">
                    <a:lumMod val="75000"/>
                  </a:schemeClr>
                </a:solidFill>
                <a:latin typeface="黑体" panose="02010609060101010101" pitchFamily="49" charset="-122"/>
                <a:ea typeface="黑体" panose="02010609060101010101" pitchFamily="49" charset="-122"/>
                <a:cs typeface="Calibri" panose="020F0502020204030204" charset="0"/>
              </a:rPr>
              <a:t>行为模型</a:t>
            </a:r>
            <a:endParaRPr lang="en-US" sz="3200" dirty="0" smtClean="0">
              <a:solidFill>
                <a:schemeClr val="tx2">
                  <a:lumMod val="75000"/>
                  <a:lumOff val="25000"/>
                </a:schemeClr>
              </a:solidFill>
              <a:latin typeface="Calibri" panose="020F0502020204030204" charset="0"/>
              <a:cs typeface="Calibri" panose="020F0502020204030204" charset="0"/>
            </a:endParaRPr>
          </a:p>
          <a:p>
            <a:pPr>
              <a:spcBef>
                <a:spcPts val="1000"/>
              </a:spcBef>
            </a:pPr>
            <a:r>
              <a:rPr lang="en-US" sz="3200" dirty="0" smtClean="0">
                <a:solidFill>
                  <a:schemeClr val="tx2">
                    <a:lumMod val="75000"/>
                    <a:lumOff val="25000"/>
                  </a:schemeClr>
                </a:solidFill>
                <a:latin typeface="Calibri" panose="020F0502020204030204" charset="0"/>
                <a:cs typeface="Calibri" panose="020F0502020204030204" charset="0"/>
              </a:rPr>
              <a:t> Model-driven architecture   </a:t>
            </a:r>
            <a:r>
              <a:rPr lang="zh-CN" altLang="en-US" sz="2400" dirty="0" smtClean="0">
                <a:solidFill>
                  <a:schemeClr val="accent1">
                    <a:lumMod val="75000"/>
                  </a:schemeClr>
                </a:solidFill>
                <a:latin typeface="黑体" panose="02010609060101010101" pitchFamily="49" charset="-122"/>
                <a:ea typeface="黑体" panose="02010609060101010101" pitchFamily="49" charset="-122"/>
                <a:cs typeface="Calibri" panose="020F0502020204030204" charset="0"/>
              </a:rPr>
              <a:t>模型驱动的体系结构</a:t>
            </a:r>
            <a:endParaRPr lang="zh-CN" altLang="en-US" sz="3200" dirty="0" smtClean="0">
              <a:solidFill>
                <a:schemeClr val="tx2">
                  <a:lumMod val="75000"/>
                  <a:lumOff val="25000"/>
                </a:schemeClr>
              </a:solidFill>
              <a:latin typeface="Calibri" panose="020F0502020204030204" charset="0"/>
              <a:ea typeface="宋体" panose="02010600030101010101" pitchFamily="2" charset="-122"/>
              <a:cs typeface="Calibri" panose="020F0502020204030204" charset="0"/>
            </a:endParaRP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28345"/>
            <a:ext cx="8977630" cy="56832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100" dirty="0">
                <a:solidFill>
                  <a:srgbClr val="0070C0"/>
                </a:solidFill>
                <a:ea typeface="宋体" panose="02010600030101010101" pitchFamily="2" charset="-122"/>
                <a:sym typeface="+mn-ea"/>
              </a:rPr>
              <a:t> </a:t>
            </a:r>
            <a:r>
              <a:rPr lang="zh-CN" altLang="en-US" sz="3100" dirty="0">
                <a:solidFill>
                  <a:schemeClr val="accent1">
                    <a:lumMod val="75000"/>
                  </a:schemeClr>
                </a:solidFill>
                <a:ea typeface="宋体" panose="02010600030101010101" pitchFamily="2" charset="-122"/>
                <a:sym typeface="+mn-ea"/>
              </a:rPr>
              <a:t>System modeling</a:t>
            </a:r>
            <a:r>
              <a:rPr lang="en-US" altLang="zh-CN" sz="3100" dirty="0">
                <a:solidFill>
                  <a:schemeClr val="accent1">
                    <a:lumMod val="75000"/>
                  </a:schemeClr>
                </a:solidFill>
                <a:ea typeface="宋体" panose="02010600030101010101" pitchFamily="2" charset="-122"/>
                <a:sym typeface="+mn-ea"/>
              </a:rPr>
              <a:t> </a:t>
            </a:r>
            <a:r>
              <a:rPr lang="zh-CN" altLang="en-US" dirty="0">
                <a:solidFill>
                  <a:schemeClr val="accent1">
                    <a:lumMod val="75000"/>
                  </a:schemeClr>
                </a:solidFill>
                <a:latin typeface="黑体" panose="02010609060101010101" pitchFamily="49" charset="-122"/>
                <a:ea typeface="黑体" panose="02010609060101010101" pitchFamily="49" charset="-122"/>
                <a:sym typeface="+mn-ea"/>
              </a:rPr>
              <a:t>系统建模</a:t>
            </a:r>
            <a:endParaRPr lang="zh-CN" altLang="en-US" dirty="0">
              <a:solidFill>
                <a:schemeClr val="accent1">
                  <a:lumMod val="75000"/>
                </a:schemeClr>
              </a:solidFill>
              <a:latin typeface="黑体" panose="02010609060101010101" pitchFamily="49" charset="-122"/>
              <a:ea typeface="黑体" panose="02010609060101010101" pitchFamily="49" charset="-122"/>
              <a:sym typeface="+mn-ea"/>
            </a:endParaRPr>
          </a:p>
        </p:txBody>
      </p:sp>
      <p:sp>
        <p:nvSpPr>
          <p:cNvPr id="4" name="Rectangle 2"/>
          <p:cNvSpPr>
            <a:spLocks noGrp="1"/>
          </p:cNvSpPr>
          <p:nvPr>
            <p:ph type="title"/>
            <p:custDataLst>
              <p:tags r:id="rId2"/>
            </p:custDataLst>
          </p:nvPr>
        </p:nvSpPr>
        <p:spPr>
          <a:xfrm>
            <a:off x="617538" y="198755"/>
            <a:ext cx="455295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5  System modeling</a:t>
            </a:r>
            <a:endParaRPr lang="en-US" altLang="zh-CN" sz="2800" dirty="0">
              <a:solidFill>
                <a:srgbClr val="660066"/>
              </a:solidFill>
              <a:ea typeface="黑体" panose="02010609060101010101" pitchFamily="49" charset="-122"/>
              <a:cs typeface="+mj-lt"/>
            </a:endParaRPr>
          </a:p>
        </p:txBody>
      </p:sp>
      <p:sp>
        <p:nvSpPr>
          <p:cNvPr id="3" name="Content Placeholder 2"/>
          <p:cNvSpPr>
            <a:spLocks noGrp="1"/>
          </p:cNvSpPr>
          <p:nvPr/>
        </p:nvSpPr>
        <p:spPr>
          <a:xfrm>
            <a:off x="55880" y="1313180"/>
            <a:ext cx="9010650" cy="5221605"/>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90000"/>
              </a:lnSpc>
              <a:spcBef>
                <a:spcPts val="800"/>
              </a:spcBef>
              <a:spcAft>
                <a:spcPts val="0"/>
              </a:spcAft>
            </a:pPr>
            <a:r>
              <a:rPr lang="en-US" sz="3100" dirty="0" smtClean="0">
                <a:solidFill>
                  <a:schemeClr val="tx2">
                    <a:lumMod val="75000"/>
                    <a:lumOff val="25000"/>
                  </a:schemeClr>
                </a:solidFill>
                <a:latin typeface="Calibri" panose="020F0502020204030204" charset="0"/>
                <a:cs typeface="Calibri" panose="020F0502020204030204" charset="0"/>
              </a:rPr>
              <a:t> System modeling is the process of developing abstract models of a system, with each model presenting a different view or perspective of that system.   </a:t>
            </a:r>
            <a:r>
              <a:rPr lang="zh-CN" altLang="en-US" dirty="0" smtClean="0">
                <a:solidFill>
                  <a:schemeClr val="accent1">
                    <a:lumMod val="75000"/>
                  </a:schemeClr>
                </a:solidFill>
                <a:latin typeface="黑体" panose="02010609060101010101" pitchFamily="49" charset="-122"/>
                <a:ea typeface="黑体" panose="02010609060101010101" pitchFamily="49" charset="-122"/>
                <a:cs typeface="Calibri" panose="020F0502020204030204" charset="0"/>
              </a:rPr>
              <a:t>含义：开发系统抽象模型的过程</a:t>
            </a:r>
            <a:endParaRPr lang="en-US" sz="3100" dirty="0" smtClean="0">
              <a:solidFill>
                <a:schemeClr val="tx2">
                  <a:lumMod val="75000"/>
                  <a:lumOff val="25000"/>
                </a:schemeClr>
              </a:solidFill>
              <a:latin typeface="Calibri" panose="020F0502020204030204" charset="0"/>
              <a:cs typeface="Calibri" panose="020F0502020204030204" charset="0"/>
            </a:endParaRPr>
          </a:p>
          <a:p>
            <a:pPr>
              <a:lnSpc>
                <a:spcPct val="90000"/>
              </a:lnSpc>
              <a:spcBef>
                <a:spcPts val="800"/>
              </a:spcBef>
              <a:spcAft>
                <a:spcPts val="0"/>
              </a:spcAft>
            </a:pPr>
            <a:r>
              <a:rPr lang="en-US" sz="3100" dirty="0" smtClean="0">
                <a:solidFill>
                  <a:schemeClr val="tx2">
                    <a:lumMod val="75000"/>
                    <a:lumOff val="25000"/>
                  </a:schemeClr>
                </a:solidFill>
                <a:latin typeface="Calibri" panose="020F0502020204030204" charset="0"/>
                <a:cs typeface="Calibri" panose="020F0502020204030204" charset="0"/>
              </a:rPr>
              <a:t> System modeling now usually means representing a system using graphical notation based on Unified Modeling Language (UML). </a:t>
            </a:r>
            <a:r>
              <a:rPr lang="zh-CN" altLang="en-US" sz="2400" dirty="0" smtClean="0">
                <a:solidFill>
                  <a:schemeClr val="accent1">
                    <a:lumMod val="75000"/>
                  </a:schemeClr>
                </a:solidFill>
                <a:latin typeface="黑体" panose="02010609060101010101" pitchFamily="49" charset="-122"/>
                <a:ea typeface="黑体" panose="02010609060101010101" pitchFamily="49" charset="-122"/>
                <a:cs typeface="Calibri" panose="020F0502020204030204" charset="0"/>
              </a:rPr>
              <a:t>通常采用基于UML的图形表示</a:t>
            </a:r>
            <a:endParaRPr lang="zh-CN" altLang="en-US" sz="2400" dirty="0" smtClean="0">
              <a:solidFill>
                <a:schemeClr val="accent1">
                  <a:lumMod val="75000"/>
                </a:schemeClr>
              </a:solidFill>
              <a:latin typeface="黑体" panose="02010609060101010101" pitchFamily="49" charset="-122"/>
              <a:ea typeface="黑体" panose="02010609060101010101" pitchFamily="49" charset="-122"/>
              <a:cs typeface="Calibri" panose="020F0502020204030204" charset="0"/>
            </a:endParaRPr>
          </a:p>
          <a:p>
            <a:pPr>
              <a:lnSpc>
                <a:spcPct val="90000"/>
              </a:lnSpc>
              <a:spcBef>
                <a:spcPts val="800"/>
              </a:spcBef>
              <a:spcAft>
                <a:spcPts val="0"/>
              </a:spcAft>
            </a:pPr>
            <a:r>
              <a:rPr lang="en-US" sz="3100" dirty="0" smtClean="0">
                <a:solidFill>
                  <a:schemeClr val="tx2">
                    <a:lumMod val="75000"/>
                    <a:lumOff val="25000"/>
                  </a:schemeClr>
                </a:solidFill>
                <a:latin typeface="Calibri" panose="020F0502020204030204" charset="0"/>
                <a:cs typeface="Calibri" panose="020F0502020204030204" charset="0"/>
              </a:rPr>
              <a:t> Models are used </a:t>
            </a:r>
            <a:r>
              <a:rPr lang="en-US" sz="2700" b="0" dirty="0" smtClean="0">
                <a:solidFill>
                  <a:schemeClr val="tx1"/>
                </a:solidFill>
                <a:latin typeface="Calibri" panose="020F0502020204030204" charset="0"/>
                <a:cs typeface="Calibri" panose="020F0502020204030204" charset="0"/>
              </a:rPr>
              <a:t>during the </a:t>
            </a:r>
            <a:r>
              <a:rPr lang="en-US" sz="2700" b="0" u="sng" dirty="0" smtClean="0">
                <a:solidFill>
                  <a:schemeClr val="tx1"/>
                </a:solidFill>
                <a:latin typeface="Calibri" panose="020F0502020204030204" charset="0"/>
                <a:cs typeface="Calibri" panose="020F0502020204030204" charset="0"/>
              </a:rPr>
              <a:t>requirements engineering</a:t>
            </a:r>
            <a:r>
              <a:rPr lang="en-US" sz="2700" b="0" dirty="0" smtClean="0">
                <a:solidFill>
                  <a:schemeClr val="tx1"/>
                </a:solidFill>
                <a:latin typeface="Calibri" panose="020F0502020204030204" charset="0"/>
                <a:cs typeface="Calibri" panose="020F0502020204030204" charset="0"/>
              </a:rPr>
              <a:t> process to help derive the detailed requirements, during the </a:t>
            </a:r>
            <a:r>
              <a:rPr lang="en-US" sz="2700" b="0" u="sng" dirty="0" smtClean="0">
                <a:solidFill>
                  <a:schemeClr val="tx1"/>
                </a:solidFill>
                <a:latin typeface="Calibri" panose="020F0502020204030204" charset="0"/>
                <a:cs typeface="Calibri" panose="020F0502020204030204" charset="0"/>
              </a:rPr>
              <a:t>design process</a:t>
            </a:r>
            <a:r>
              <a:rPr lang="en-US" sz="2700" b="0" dirty="0" smtClean="0">
                <a:solidFill>
                  <a:schemeClr val="tx1"/>
                </a:solidFill>
                <a:latin typeface="Calibri" panose="020F0502020204030204" charset="0"/>
                <a:cs typeface="Calibri" panose="020F0502020204030204" charset="0"/>
              </a:rPr>
              <a:t> to describe the system to </a:t>
            </a:r>
            <a:r>
              <a:rPr lang="en-US" sz="2700" b="0" dirty="0" smtClean="0">
                <a:solidFill>
                  <a:schemeClr val="tx1"/>
                </a:solidFill>
                <a:latin typeface="Calibri" panose="020F0502020204030204" charset="0"/>
                <a:cs typeface="Calibri" panose="020F0502020204030204" charset="0"/>
                <a:sym typeface="+mn-ea"/>
              </a:rPr>
              <a:t>engineers</a:t>
            </a:r>
            <a:r>
              <a:rPr lang="en-US" sz="2700" b="0" dirty="0" smtClean="0">
                <a:solidFill>
                  <a:schemeClr val="tx1"/>
                </a:solidFill>
                <a:latin typeface="Calibri" panose="020F0502020204030204" charset="0"/>
                <a:cs typeface="Calibri" panose="020F0502020204030204" charset="0"/>
              </a:rPr>
              <a:t>, and </a:t>
            </a:r>
            <a:r>
              <a:rPr lang="en-US" sz="2700" b="0" u="sng" dirty="0" smtClean="0">
                <a:solidFill>
                  <a:schemeClr val="tx1"/>
                </a:solidFill>
                <a:latin typeface="Calibri" panose="020F0502020204030204" charset="0"/>
                <a:cs typeface="Calibri" panose="020F0502020204030204" charset="0"/>
              </a:rPr>
              <a:t>after implementation</a:t>
            </a:r>
            <a:r>
              <a:rPr lang="en-US" sz="2700" b="0" dirty="0" smtClean="0">
                <a:solidFill>
                  <a:schemeClr val="tx1"/>
                </a:solidFill>
                <a:latin typeface="Calibri" panose="020F0502020204030204" charset="0"/>
                <a:cs typeface="Calibri" panose="020F0502020204030204" charset="0"/>
              </a:rPr>
              <a:t> to </a:t>
            </a:r>
            <a:r>
              <a:rPr lang="en-US" sz="2700" b="0" dirty="0" smtClean="0">
                <a:solidFill>
                  <a:schemeClr val="tx1"/>
                </a:solidFill>
                <a:latin typeface="Calibri" panose="020F0502020204030204" charset="0"/>
                <a:cs typeface="Calibri" panose="020F0502020204030204" charset="0"/>
              </a:rPr>
              <a:t>document the system’s structure and operation.</a:t>
            </a:r>
            <a:r>
              <a:rPr lang="en-US" sz="2800" b="0" dirty="0" smtClean="0">
                <a:solidFill>
                  <a:schemeClr val="tx1"/>
                </a:solidFill>
                <a:latin typeface="Calibri" panose="020F0502020204030204" charset="0"/>
                <a:cs typeface="Calibri" panose="020F0502020204030204" charset="0"/>
              </a:rPr>
              <a:t>   </a:t>
            </a:r>
            <a:r>
              <a:rPr lang="zh-CN" altLang="en-US" sz="2400" dirty="0" smtClean="0">
                <a:solidFill>
                  <a:schemeClr val="accent1">
                    <a:lumMod val="75000"/>
                  </a:schemeClr>
                </a:solidFill>
                <a:latin typeface="黑体" panose="02010609060101010101" pitchFamily="49" charset="-122"/>
                <a:ea typeface="黑体" panose="02010609060101010101" pitchFamily="49" charset="-122"/>
                <a:cs typeface="Calibri" panose="020F0502020204030204" charset="0"/>
              </a:rPr>
              <a:t>模型的用途</a:t>
            </a:r>
            <a:endParaRPr lang="zh-CN" altLang="en-US" sz="2400" dirty="0" smtClean="0">
              <a:solidFill>
                <a:schemeClr val="accent1">
                  <a:lumMod val="75000"/>
                </a:schemeClr>
              </a:solidFill>
              <a:latin typeface="黑体" panose="02010609060101010101" pitchFamily="49" charset="-122"/>
              <a:ea typeface="黑体" panose="02010609060101010101" pitchFamily="49" charset="-122"/>
              <a:cs typeface="Calibri" panose="020F0502020204030204" charset="0"/>
            </a:endParaRPr>
          </a:p>
        </p:txBody>
      </p:sp>
      <p:sp>
        <p:nvSpPr>
          <p:cNvPr id="6" name="Content Placeholder 2"/>
          <p:cNvSpPr>
            <a:spLocks noGrp="1"/>
          </p:cNvSpPr>
          <p:nvPr/>
        </p:nvSpPr>
        <p:spPr>
          <a:xfrm>
            <a:off x="5217795" y="220345"/>
            <a:ext cx="3791585" cy="1061085"/>
          </a:xfrm>
          <a:prstGeom prst="rect">
            <a:avLst/>
          </a:prstGeom>
          <a:solidFill>
            <a:schemeClr val="bg1"/>
          </a:solidFill>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marL="0" indent="0">
              <a:lnSpc>
                <a:spcPct val="85000"/>
              </a:lnSpc>
              <a:spcBef>
                <a:spcPts val="300"/>
              </a:spcBef>
              <a:spcAft>
                <a:spcPts val="0"/>
              </a:spcAft>
              <a:buNone/>
            </a:pPr>
            <a:r>
              <a:rPr lang="en-US" altLang="en-GB" sz="2000" b="0" dirty="0"/>
              <a:t>UML: </a:t>
            </a:r>
            <a:r>
              <a:rPr sz="2000" b="0" dirty="0"/>
              <a:t>a standard language for object-oriented modeling. </a:t>
            </a:r>
            <a:r>
              <a:rPr lang="en-US" sz="2000" b="0" dirty="0"/>
              <a:t>It </a:t>
            </a:r>
            <a:r>
              <a:rPr sz="2000" b="0" dirty="0"/>
              <a:t>supports the</a:t>
            </a:r>
            <a:r>
              <a:rPr lang="en-US" sz="2000" b="0" dirty="0"/>
              <a:t> </a:t>
            </a:r>
            <a:r>
              <a:rPr sz="2000" b="0" dirty="0"/>
              <a:t>creation of many</a:t>
            </a:r>
            <a:r>
              <a:rPr lang="en-US" sz="2000" b="0" dirty="0"/>
              <a:t> </a:t>
            </a:r>
            <a:r>
              <a:rPr sz="2000" b="0" dirty="0"/>
              <a:t>different types of system model. </a:t>
            </a:r>
            <a:endParaRPr lang="en-US" sz="2000" b="0" dirty="0"/>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0575"/>
            <a:ext cx="8977630" cy="62928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2900" dirty="0">
                <a:solidFill>
                  <a:schemeClr val="accent1">
                    <a:lumMod val="75000"/>
                  </a:schemeClr>
                </a:solidFill>
                <a:ea typeface="宋体" panose="02010600030101010101" pitchFamily="2" charset="-122"/>
                <a:sym typeface="+mn-ea"/>
              </a:rPr>
              <a:t> </a:t>
            </a:r>
            <a:r>
              <a:rPr lang="zh-CN" altLang="en-US" sz="2900" dirty="0">
                <a:solidFill>
                  <a:schemeClr val="accent1">
                    <a:lumMod val="75000"/>
                  </a:schemeClr>
                </a:solidFill>
                <a:ea typeface="宋体" panose="02010600030101010101" pitchFamily="2" charset="-122"/>
                <a:sym typeface="+mn-ea"/>
              </a:rPr>
              <a:t>Existing and </a:t>
            </a:r>
            <a:r>
              <a:rPr lang="en-US" altLang="zh-CN" sz="2900" dirty="0">
                <a:solidFill>
                  <a:schemeClr val="accent1">
                    <a:lumMod val="75000"/>
                  </a:schemeClr>
                </a:solidFill>
                <a:ea typeface="宋体" panose="02010600030101010101" pitchFamily="2" charset="-122"/>
                <a:sym typeface="+mn-ea"/>
              </a:rPr>
              <a:t>new</a:t>
            </a:r>
            <a:r>
              <a:rPr lang="zh-CN" altLang="en-US" sz="2900" dirty="0">
                <a:solidFill>
                  <a:schemeClr val="accent1">
                    <a:lumMod val="75000"/>
                  </a:schemeClr>
                </a:solidFill>
                <a:ea typeface="宋体" panose="02010600030101010101" pitchFamily="2" charset="-122"/>
                <a:sym typeface="+mn-ea"/>
              </a:rPr>
              <a:t> system models</a:t>
            </a:r>
            <a:r>
              <a:rPr lang="en-US" altLang="zh-CN" sz="2900" dirty="0">
                <a:solidFill>
                  <a:schemeClr val="accent1">
                    <a:lumMod val="75000"/>
                  </a:schemeClr>
                </a:solidFill>
                <a:ea typeface="宋体" panose="02010600030101010101" pitchFamily="2" charset="-122"/>
                <a:sym typeface="+mn-ea"/>
              </a:rPr>
              <a:t> </a:t>
            </a:r>
            <a:r>
              <a:rPr lang="zh-CN" altLang="en-US" sz="2400" kern="1200" dirty="0" smtClean="0">
                <a:solidFill>
                  <a:schemeClr val="accent1">
                    <a:lumMod val="75000"/>
                  </a:schemeClr>
                </a:solidFill>
                <a:latin typeface="黑体" panose="02010609060101010101" pitchFamily="49" charset="-122"/>
                <a:ea typeface="黑体" panose="02010609060101010101" pitchFamily="49" charset="-122"/>
                <a:cs typeface="Calibri" panose="020F0502020204030204" charset="0"/>
                <a:sym typeface="+mn-ea"/>
              </a:rPr>
              <a:t>现有和新系统模型</a:t>
            </a:r>
            <a:endParaRPr lang="zh-CN" altLang="en-US" sz="2800" dirty="0">
              <a:solidFill>
                <a:schemeClr val="accent1">
                  <a:lumMod val="75000"/>
                </a:schemeClr>
              </a:solidFill>
              <a:ea typeface="宋体" panose="02010600030101010101" pitchFamily="2" charset="-122"/>
              <a:sym typeface="+mn-ea"/>
            </a:endParaRPr>
          </a:p>
        </p:txBody>
      </p:sp>
      <p:sp>
        <p:nvSpPr>
          <p:cNvPr id="4" name="Rectangle 2"/>
          <p:cNvSpPr>
            <a:spLocks noGrp="1"/>
          </p:cNvSpPr>
          <p:nvPr>
            <p:ph type="title"/>
            <p:custDataLst>
              <p:tags r:id="rId2"/>
            </p:custDataLst>
          </p:nvPr>
        </p:nvSpPr>
        <p:spPr>
          <a:xfrm>
            <a:off x="617538" y="198755"/>
            <a:ext cx="455295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5  System modeling</a:t>
            </a:r>
            <a:endParaRPr lang="en-US" altLang="zh-CN" sz="2800" dirty="0">
              <a:solidFill>
                <a:srgbClr val="660066"/>
              </a:solidFill>
              <a:ea typeface="黑体" panose="02010609060101010101" pitchFamily="49" charset="-122"/>
              <a:cs typeface="+mj-lt"/>
            </a:endParaRPr>
          </a:p>
        </p:txBody>
      </p:sp>
      <p:sp>
        <p:nvSpPr>
          <p:cNvPr id="3" name="Content Placeholder 2"/>
          <p:cNvSpPr>
            <a:spLocks noGrp="1"/>
          </p:cNvSpPr>
          <p:nvPr/>
        </p:nvSpPr>
        <p:spPr>
          <a:xfrm>
            <a:off x="54610" y="1313180"/>
            <a:ext cx="9012555" cy="5213350"/>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90000"/>
              </a:lnSpc>
              <a:spcBef>
                <a:spcPts val="800"/>
              </a:spcBef>
              <a:spcAft>
                <a:spcPts val="0"/>
              </a:spcAft>
            </a:pPr>
            <a:r>
              <a:rPr lang="en-US" sz="3000" dirty="0" smtClean="0">
                <a:solidFill>
                  <a:schemeClr val="tx2">
                    <a:lumMod val="75000"/>
                    <a:lumOff val="25000"/>
                  </a:schemeClr>
                </a:solidFill>
                <a:latin typeface="Calibri" panose="020F0502020204030204" charset="0"/>
                <a:cs typeface="Calibri" panose="020F0502020204030204" charset="0"/>
              </a:rPr>
              <a:t> Models of the existing system are used during RE. </a:t>
            </a:r>
            <a:r>
              <a:rPr lang="en-US" sz="2800" b="0" dirty="0" smtClean="0">
                <a:solidFill>
                  <a:schemeClr val="tx1"/>
                </a:solidFill>
                <a:latin typeface="Calibri" panose="020F0502020204030204" charset="0"/>
                <a:cs typeface="Calibri" panose="020F0502020204030204" charset="0"/>
              </a:rPr>
              <a:t>They help clarify what the existing system does, and they can be used to focus a stakeholder discussion on its strengths and weaknesses. </a:t>
            </a:r>
            <a:r>
              <a:rPr lang="zh-CN" altLang="en-US" sz="2400" dirty="0" smtClean="0">
                <a:solidFill>
                  <a:schemeClr val="accent1">
                    <a:lumMod val="75000"/>
                  </a:schemeClr>
                </a:solidFill>
                <a:latin typeface="黑体" panose="02010609060101010101" pitchFamily="49" charset="-122"/>
                <a:ea typeface="黑体" panose="02010609060101010101" pitchFamily="49" charset="-122"/>
                <a:cs typeface="Calibri" panose="020F0502020204030204" charset="0"/>
              </a:rPr>
              <a:t>现有系统模型</a:t>
            </a:r>
            <a:r>
              <a:rPr lang="en-US" altLang="zh-CN" sz="2400" dirty="0" smtClean="0">
                <a:solidFill>
                  <a:schemeClr val="accent1">
                    <a:lumMod val="75000"/>
                  </a:schemeClr>
                </a:solidFill>
                <a:latin typeface="黑体" panose="02010609060101010101" pitchFamily="49" charset="-122"/>
                <a:ea typeface="黑体" panose="02010609060101010101" pitchFamily="49" charset="-122"/>
                <a:cs typeface="Calibri" panose="020F0502020204030204" charset="0"/>
              </a:rPr>
              <a:t>:</a:t>
            </a:r>
            <a:r>
              <a:rPr lang="zh-CN" altLang="en-US" sz="2400" dirty="0" smtClean="0">
                <a:solidFill>
                  <a:schemeClr val="accent1">
                    <a:lumMod val="75000"/>
                  </a:schemeClr>
                </a:solidFill>
                <a:latin typeface="黑体" panose="02010609060101010101" pitchFamily="49" charset="-122"/>
                <a:ea typeface="黑体" panose="02010609060101010101" pitchFamily="49" charset="-122"/>
                <a:cs typeface="Calibri" panose="020F0502020204030204" charset="0"/>
              </a:rPr>
              <a:t>阐明系统</a:t>
            </a:r>
            <a:r>
              <a:rPr lang="zh-CN" altLang="en-US" sz="2400" dirty="0" smtClean="0">
                <a:solidFill>
                  <a:schemeClr val="accent1">
                    <a:lumMod val="75000"/>
                  </a:schemeClr>
                </a:solidFill>
                <a:latin typeface="黑体" panose="02010609060101010101" pitchFamily="49" charset="-122"/>
                <a:ea typeface="黑体" panose="02010609060101010101" pitchFamily="49" charset="-122"/>
                <a:cs typeface="Calibri" panose="020F0502020204030204" charset="0"/>
                <a:sym typeface="+mn-ea"/>
              </a:rPr>
              <a:t>做什么</a:t>
            </a:r>
            <a:endParaRPr lang="en-US" sz="3000" dirty="0" smtClean="0">
              <a:solidFill>
                <a:schemeClr val="tx2">
                  <a:lumMod val="75000"/>
                  <a:lumOff val="25000"/>
                </a:schemeClr>
              </a:solidFill>
              <a:latin typeface="Calibri" panose="020F0502020204030204" charset="0"/>
              <a:cs typeface="Calibri" panose="020F0502020204030204" charset="0"/>
            </a:endParaRPr>
          </a:p>
          <a:p>
            <a:pPr>
              <a:lnSpc>
                <a:spcPct val="90000"/>
              </a:lnSpc>
              <a:spcBef>
                <a:spcPts val="800"/>
              </a:spcBef>
              <a:spcAft>
                <a:spcPts val="0"/>
              </a:spcAft>
            </a:pPr>
            <a:r>
              <a:rPr lang="en-US" sz="3000" dirty="0" smtClean="0">
                <a:solidFill>
                  <a:schemeClr val="tx2">
                    <a:lumMod val="75000"/>
                    <a:lumOff val="25000"/>
                  </a:schemeClr>
                </a:solidFill>
                <a:latin typeface="Calibri" panose="020F0502020204030204" charset="0"/>
                <a:cs typeface="Calibri" panose="020F0502020204030204" charset="0"/>
              </a:rPr>
              <a:t> Models of the new system are used during RE to help explain the proposed requirements to other system stakeholders. </a:t>
            </a:r>
            <a:r>
              <a:rPr lang="en-US" sz="2800" b="0" dirty="0" smtClean="0">
                <a:solidFill>
                  <a:schemeClr val="tx1"/>
                </a:solidFill>
                <a:latin typeface="Calibri" panose="020F0502020204030204" charset="0"/>
                <a:cs typeface="Calibri" panose="020F0502020204030204" charset="0"/>
              </a:rPr>
              <a:t>Engineers use these models to discuss design proposals and to document the system for implementation.  </a:t>
            </a:r>
            <a:r>
              <a:rPr lang="zh-CN" altLang="en-US" sz="2400" dirty="0" smtClean="0">
                <a:solidFill>
                  <a:schemeClr val="accent1">
                    <a:lumMod val="75000"/>
                  </a:schemeClr>
                </a:solidFill>
                <a:latin typeface="黑体" panose="02010609060101010101" pitchFamily="49" charset="-122"/>
                <a:ea typeface="黑体" panose="02010609060101010101" pitchFamily="49" charset="-122"/>
                <a:cs typeface="Calibri" panose="020F0502020204030204" charset="0"/>
              </a:rPr>
              <a:t>新系统模型</a:t>
            </a:r>
            <a:r>
              <a:rPr lang="en-US" altLang="zh-CN" sz="2400" dirty="0" smtClean="0">
                <a:solidFill>
                  <a:schemeClr val="accent1">
                    <a:lumMod val="75000"/>
                  </a:schemeClr>
                </a:solidFill>
                <a:latin typeface="黑体" panose="02010609060101010101" pitchFamily="49" charset="-122"/>
                <a:ea typeface="黑体" panose="02010609060101010101" pitchFamily="49" charset="-122"/>
                <a:cs typeface="Calibri" panose="020F0502020204030204" charset="0"/>
              </a:rPr>
              <a:t>:</a:t>
            </a:r>
            <a:r>
              <a:rPr lang="zh-CN" altLang="en-US" sz="2400" dirty="0" smtClean="0">
                <a:solidFill>
                  <a:schemeClr val="accent1">
                    <a:lumMod val="75000"/>
                  </a:schemeClr>
                </a:solidFill>
                <a:latin typeface="黑体" panose="02010609060101010101" pitchFamily="49" charset="-122"/>
                <a:ea typeface="黑体" panose="02010609060101010101" pitchFamily="49" charset="-122"/>
                <a:cs typeface="Calibri" panose="020F0502020204030204" charset="0"/>
              </a:rPr>
              <a:t>向其他干系人解释提出的需求</a:t>
            </a:r>
            <a:endParaRPr lang="en-US" sz="3000" dirty="0" smtClean="0">
              <a:solidFill>
                <a:schemeClr val="tx2">
                  <a:lumMod val="75000"/>
                  <a:lumOff val="25000"/>
                </a:schemeClr>
              </a:solidFill>
              <a:latin typeface="Calibri" panose="020F0502020204030204" charset="0"/>
              <a:cs typeface="Calibri" panose="020F0502020204030204" charset="0"/>
            </a:endParaRPr>
          </a:p>
          <a:p>
            <a:pPr>
              <a:lnSpc>
                <a:spcPct val="90000"/>
              </a:lnSpc>
              <a:spcBef>
                <a:spcPts val="800"/>
              </a:spcBef>
              <a:spcAft>
                <a:spcPts val="0"/>
              </a:spcAft>
            </a:pPr>
            <a:r>
              <a:rPr lang="en-US" sz="2900" dirty="0" smtClean="0">
                <a:solidFill>
                  <a:schemeClr val="tx2">
                    <a:lumMod val="75000"/>
                    <a:lumOff val="25000"/>
                  </a:schemeClr>
                </a:solidFill>
                <a:latin typeface="Calibri" panose="020F0502020204030204" charset="0"/>
                <a:cs typeface="Calibri" panose="020F0502020204030204" charset="0"/>
              </a:rPr>
              <a:t> In a model-driven engineering process, you can generate a complete or partial system implementation from the system model.   </a:t>
            </a:r>
            <a:r>
              <a:rPr lang="zh-CN" altLang="en-US" sz="2400" dirty="0" smtClean="0">
                <a:solidFill>
                  <a:schemeClr val="accent1">
                    <a:lumMod val="75000"/>
                  </a:schemeClr>
                </a:solidFill>
                <a:latin typeface="黑体" panose="02010609060101010101" pitchFamily="49" charset="-122"/>
                <a:ea typeface="黑体" panose="02010609060101010101" pitchFamily="49" charset="-122"/>
                <a:cs typeface="Calibri" panose="020F0502020204030204" charset="0"/>
              </a:rPr>
              <a:t>模型驱动的工程过程</a:t>
            </a:r>
            <a:endParaRPr lang="zh-CN" altLang="en-US" sz="2400" dirty="0" smtClean="0">
              <a:solidFill>
                <a:schemeClr val="accent1">
                  <a:lumMod val="75000"/>
                </a:schemeClr>
              </a:solidFill>
              <a:latin typeface="黑体" panose="02010609060101010101" pitchFamily="49" charset="-122"/>
              <a:ea typeface="黑体" panose="02010609060101010101" pitchFamily="49" charset="-122"/>
              <a:cs typeface="Calibri" panose="020F0502020204030204" charset="0"/>
            </a:endParaRP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64540"/>
            <a:ext cx="8977630" cy="62039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rgbClr val="0070C0"/>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System perspectives</a:t>
            </a:r>
            <a:r>
              <a:rPr lang="en-US" altLang="zh-CN" sz="3200" dirty="0">
                <a:solidFill>
                  <a:schemeClr val="accent1">
                    <a:lumMod val="75000"/>
                  </a:schemeClr>
                </a:solidFill>
                <a:ea typeface="宋体" panose="02010600030101010101" pitchFamily="2" charset="-122"/>
                <a:sym typeface="+mn-ea"/>
              </a:rPr>
              <a:t>   </a:t>
            </a:r>
            <a:r>
              <a:rPr lang="zh-CN" altLang="en-US" dirty="0">
                <a:solidFill>
                  <a:schemeClr val="accent1">
                    <a:lumMod val="75000"/>
                  </a:schemeClr>
                </a:solidFill>
                <a:latin typeface="黑体" panose="02010609060101010101" pitchFamily="49" charset="-122"/>
                <a:ea typeface="黑体" panose="02010609060101010101" pitchFamily="49" charset="-122"/>
                <a:sym typeface="+mn-ea"/>
              </a:rPr>
              <a:t>系统视角</a:t>
            </a:r>
            <a:endParaRPr lang="zh-CN" altLang="en-US" dirty="0">
              <a:solidFill>
                <a:schemeClr val="accent1">
                  <a:lumMod val="75000"/>
                </a:schemeClr>
              </a:solidFill>
              <a:latin typeface="黑体" panose="02010609060101010101" pitchFamily="49" charset="-122"/>
              <a:ea typeface="黑体" panose="02010609060101010101" pitchFamily="49" charset="-122"/>
              <a:sym typeface="+mn-ea"/>
            </a:endParaRPr>
          </a:p>
        </p:txBody>
      </p:sp>
      <p:sp>
        <p:nvSpPr>
          <p:cNvPr id="4" name="Rectangle 2"/>
          <p:cNvSpPr>
            <a:spLocks noGrp="1"/>
          </p:cNvSpPr>
          <p:nvPr>
            <p:ph type="title"/>
            <p:custDataLst>
              <p:tags r:id="rId2"/>
            </p:custDataLst>
          </p:nvPr>
        </p:nvSpPr>
        <p:spPr>
          <a:xfrm>
            <a:off x="617538" y="198755"/>
            <a:ext cx="455295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5  System modeling</a:t>
            </a:r>
            <a:endParaRPr lang="en-US" altLang="zh-CN" sz="2800" dirty="0">
              <a:solidFill>
                <a:srgbClr val="660066"/>
              </a:solidFill>
              <a:ea typeface="黑体" panose="02010609060101010101" pitchFamily="49" charset="-122"/>
              <a:cs typeface="+mj-lt"/>
            </a:endParaRPr>
          </a:p>
        </p:txBody>
      </p:sp>
      <p:sp>
        <p:nvSpPr>
          <p:cNvPr id="3" name="Content Placeholder 2"/>
          <p:cNvSpPr>
            <a:spLocks noGrp="1"/>
          </p:cNvSpPr>
          <p:nvPr/>
        </p:nvSpPr>
        <p:spPr>
          <a:xfrm>
            <a:off x="74930" y="1384935"/>
            <a:ext cx="8992235" cy="5233035"/>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90000"/>
              </a:lnSpc>
              <a:spcBef>
                <a:spcPts val="800"/>
              </a:spcBef>
              <a:spcAft>
                <a:spcPts val="0"/>
              </a:spcAft>
            </a:pPr>
            <a:r>
              <a:rPr lang="en-US" sz="3100" dirty="0" smtClean="0">
                <a:solidFill>
                  <a:schemeClr val="tx2">
                    <a:lumMod val="75000"/>
                    <a:lumOff val="25000"/>
                  </a:schemeClr>
                </a:solidFill>
                <a:latin typeface="Calibri" panose="020F0502020204030204" charset="0"/>
                <a:cs typeface="Calibri" panose="020F0502020204030204" charset="0"/>
              </a:rPr>
              <a:t> An external perspective, </a:t>
            </a:r>
            <a:r>
              <a:rPr lang="en-US" sz="2800" b="0" dirty="0" smtClean="0">
                <a:solidFill>
                  <a:schemeClr val="tx1"/>
                </a:solidFill>
                <a:latin typeface="Calibri" panose="020F0502020204030204" charset="0"/>
                <a:cs typeface="Calibri" panose="020F0502020204030204" charset="0"/>
              </a:rPr>
              <a:t>where you model the context or environment of the system. </a:t>
            </a:r>
            <a:r>
              <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rPr>
              <a:t>外部视角</a:t>
            </a:r>
            <a:r>
              <a:rPr lang="en-US" altLang="zh-CN" sz="2000" kern="0" dirty="0">
                <a:solidFill>
                  <a:schemeClr val="accent1">
                    <a:lumMod val="75000"/>
                  </a:schemeClr>
                </a:solidFill>
                <a:latin typeface="黑体" panose="02010609060101010101" pitchFamily="49" charset="-122"/>
                <a:ea typeface="黑体" panose="02010609060101010101" pitchFamily="49" charset="-122"/>
                <a:cs typeface="+mn-cs"/>
              </a:rPr>
              <a:t>:</a:t>
            </a:r>
            <a:r>
              <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rPr>
              <a:t>对上下文或环境建模</a:t>
            </a:r>
            <a:endParaRPr lang="en-US" sz="2000" dirty="0" smtClean="0">
              <a:solidFill>
                <a:schemeClr val="tx2">
                  <a:lumMod val="75000"/>
                  <a:lumOff val="25000"/>
                </a:schemeClr>
              </a:solidFill>
              <a:latin typeface="Calibri" panose="020F0502020204030204" charset="0"/>
              <a:cs typeface="Calibri" panose="020F0502020204030204" charset="0"/>
            </a:endParaRPr>
          </a:p>
          <a:p>
            <a:pPr>
              <a:lnSpc>
                <a:spcPct val="90000"/>
              </a:lnSpc>
              <a:spcBef>
                <a:spcPts val="800"/>
              </a:spcBef>
              <a:spcAft>
                <a:spcPts val="0"/>
              </a:spcAft>
            </a:pPr>
            <a:r>
              <a:rPr lang="en-US" sz="3100" dirty="0" smtClean="0">
                <a:solidFill>
                  <a:schemeClr val="tx2">
                    <a:lumMod val="75000"/>
                    <a:lumOff val="25000"/>
                  </a:schemeClr>
                </a:solidFill>
                <a:latin typeface="Calibri" panose="020F0502020204030204" charset="0"/>
                <a:cs typeface="Calibri" panose="020F0502020204030204" charset="0"/>
              </a:rPr>
              <a:t> An interaction perspective, </a:t>
            </a:r>
            <a:r>
              <a:rPr lang="en-US" sz="2800" b="0" dirty="0" smtClean="0">
                <a:solidFill>
                  <a:schemeClr val="tx1"/>
                </a:solidFill>
                <a:latin typeface="Calibri" panose="020F0502020204030204" charset="0"/>
                <a:cs typeface="Calibri" panose="020F0502020204030204" charset="0"/>
              </a:rPr>
              <a:t>where you model the interactions between a system and its environment, or between the components of a system.</a:t>
            </a:r>
            <a:r>
              <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rPr>
              <a:t>交互视角:对系统与其环境、或构件间的交互建模</a:t>
            </a:r>
            <a:endPar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endParaRPr>
          </a:p>
          <a:p>
            <a:pPr>
              <a:lnSpc>
                <a:spcPct val="90000"/>
              </a:lnSpc>
              <a:spcBef>
                <a:spcPts val="800"/>
              </a:spcBef>
              <a:spcAft>
                <a:spcPts val="0"/>
              </a:spcAft>
            </a:pPr>
            <a:r>
              <a:rPr lang="en-US" sz="3100" dirty="0" smtClean="0">
                <a:solidFill>
                  <a:schemeClr val="tx2">
                    <a:lumMod val="75000"/>
                    <a:lumOff val="25000"/>
                  </a:schemeClr>
                </a:solidFill>
                <a:latin typeface="Calibri" panose="020F0502020204030204" charset="0"/>
                <a:cs typeface="Calibri" panose="020F0502020204030204" charset="0"/>
              </a:rPr>
              <a:t> A structural perspective, </a:t>
            </a:r>
            <a:r>
              <a:rPr lang="en-US" sz="2800" b="0" dirty="0" smtClean="0">
                <a:solidFill>
                  <a:schemeClr val="tx1"/>
                </a:solidFill>
                <a:latin typeface="Calibri" panose="020F0502020204030204" charset="0"/>
                <a:cs typeface="Calibri" panose="020F0502020204030204" charset="0"/>
              </a:rPr>
              <a:t>where you model the organization of a system or the structure of the data processed by the system. </a:t>
            </a:r>
            <a:r>
              <a:rPr lang="en-US" sz="3100" dirty="0" smtClean="0">
                <a:solidFill>
                  <a:schemeClr val="tx2">
                    <a:lumMod val="75000"/>
                    <a:lumOff val="25000"/>
                  </a:schemeClr>
                </a:solidFill>
                <a:latin typeface="Calibri" panose="020F0502020204030204" charset="0"/>
                <a:cs typeface="Calibri" panose="020F0502020204030204" charset="0"/>
              </a:rPr>
              <a:t> </a:t>
            </a:r>
            <a:r>
              <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rPr>
              <a:t>结构视角:对系统的组织或数据结构建模</a:t>
            </a:r>
            <a:endPar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endParaRPr>
          </a:p>
          <a:p>
            <a:pPr>
              <a:lnSpc>
                <a:spcPct val="90000"/>
              </a:lnSpc>
              <a:spcBef>
                <a:spcPts val="800"/>
              </a:spcBef>
              <a:spcAft>
                <a:spcPts val="0"/>
              </a:spcAft>
            </a:pPr>
            <a:r>
              <a:rPr lang="en-US" sz="3100" dirty="0" smtClean="0">
                <a:solidFill>
                  <a:schemeClr val="tx2">
                    <a:lumMod val="75000"/>
                    <a:lumOff val="25000"/>
                  </a:schemeClr>
                </a:solidFill>
                <a:latin typeface="Calibri" panose="020F0502020204030204" charset="0"/>
                <a:cs typeface="Calibri" panose="020F0502020204030204" charset="0"/>
              </a:rPr>
              <a:t> A behavioral perspective, </a:t>
            </a:r>
            <a:r>
              <a:rPr lang="en-US" sz="2800" b="0" dirty="0" smtClean="0">
                <a:solidFill>
                  <a:schemeClr val="tx1"/>
                </a:solidFill>
                <a:latin typeface="Calibri" panose="020F0502020204030204" charset="0"/>
                <a:cs typeface="Calibri" panose="020F0502020204030204" charset="0"/>
              </a:rPr>
              <a:t>where you model the dynamic behavior of the system and how it responds to events. </a:t>
            </a:r>
            <a:r>
              <a:rPr lang="en-US" sz="3100" dirty="0" smtClean="0">
                <a:solidFill>
                  <a:schemeClr val="tx2">
                    <a:lumMod val="75000"/>
                    <a:lumOff val="25000"/>
                  </a:schemeClr>
                </a:solidFill>
                <a:latin typeface="Calibri" panose="020F0502020204030204" charset="0"/>
                <a:cs typeface="Calibri" panose="020F0502020204030204" charset="0"/>
              </a:rPr>
              <a:t> </a:t>
            </a:r>
            <a:r>
              <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rPr>
              <a:t>行为视角:对系统的动态行为、及系统如何对事件反应建模</a:t>
            </a:r>
            <a:endPar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endParaRP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46125"/>
            <a:ext cx="8977630" cy="58737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rgbClr val="0070C0"/>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Use of graphical models</a:t>
            </a:r>
            <a:r>
              <a:rPr lang="en-US" altLang="zh-CN" sz="3200" dirty="0">
                <a:solidFill>
                  <a:schemeClr val="accent1">
                    <a:lumMod val="75000"/>
                  </a:schemeClr>
                </a:solidFill>
                <a:ea typeface="宋体" panose="02010600030101010101" pitchFamily="2" charset="-122"/>
                <a:sym typeface="+mn-ea"/>
              </a:rPr>
              <a:t>  </a:t>
            </a:r>
            <a:r>
              <a:rPr lang="zh-CN" altLang="en-US" sz="2400" dirty="0">
                <a:solidFill>
                  <a:schemeClr val="accent1">
                    <a:lumMod val="75000"/>
                  </a:schemeClr>
                </a:solidFill>
                <a:latin typeface="黑体" panose="02010609060101010101" pitchFamily="49" charset="-122"/>
                <a:ea typeface="黑体" panose="02010609060101010101" pitchFamily="49" charset="-122"/>
                <a:sym typeface="+mn-ea"/>
              </a:rPr>
              <a:t>图形模型的用途</a:t>
            </a:r>
            <a:endParaRPr lang="zh-CN" altLang="en-US" sz="3200" dirty="0">
              <a:solidFill>
                <a:schemeClr val="accent1">
                  <a:lumMod val="75000"/>
                </a:schemeClr>
              </a:solidFill>
              <a:ea typeface="宋体" panose="02010600030101010101" pitchFamily="2" charset="-122"/>
              <a:sym typeface="+mn-ea"/>
            </a:endParaRPr>
          </a:p>
        </p:txBody>
      </p:sp>
      <p:sp>
        <p:nvSpPr>
          <p:cNvPr id="4" name="Rectangle 2"/>
          <p:cNvSpPr>
            <a:spLocks noGrp="1"/>
          </p:cNvSpPr>
          <p:nvPr>
            <p:ph type="title"/>
            <p:custDataLst>
              <p:tags r:id="rId2"/>
            </p:custDataLst>
          </p:nvPr>
        </p:nvSpPr>
        <p:spPr>
          <a:xfrm>
            <a:off x="617538" y="198755"/>
            <a:ext cx="455295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5  System modeling</a:t>
            </a:r>
            <a:endParaRPr lang="en-US" altLang="zh-CN" sz="2800" dirty="0">
              <a:solidFill>
                <a:srgbClr val="660066"/>
              </a:solidFill>
              <a:ea typeface="黑体" panose="02010609060101010101" pitchFamily="49" charset="-122"/>
              <a:cs typeface="+mj-lt"/>
            </a:endParaRPr>
          </a:p>
        </p:txBody>
      </p:sp>
      <p:sp>
        <p:nvSpPr>
          <p:cNvPr id="2" name="Content Placeholder 2"/>
          <p:cNvSpPr>
            <a:spLocks noGrp="1"/>
          </p:cNvSpPr>
          <p:nvPr/>
        </p:nvSpPr>
        <p:spPr>
          <a:xfrm>
            <a:off x="60960" y="1313180"/>
            <a:ext cx="9003665" cy="5280025"/>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85000"/>
              </a:lnSpc>
              <a:spcBef>
                <a:spcPts val="600"/>
              </a:spcBef>
              <a:spcAft>
                <a:spcPts val="0"/>
              </a:spcAft>
            </a:pPr>
            <a:r>
              <a:rPr lang="en-US" sz="3200" dirty="0" smtClean="0">
                <a:solidFill>
                  <a:schemeClr val="tx2">
                    <a:lumMod val="75000"/>
                    <a:lumOff val="25000"/>
                  </a:schemeClr>
                </a:solidFill>
                <a:latin typeface="Calibri" panose="020F0502020204030204" charset="0"/>
                <a:cs typeface="Calibri" panose="020F0502020204030204" charset="0"/>
              </a:rPr>
              <a:t> As a way to stimulate and focus discussion about an existing or proposed system. </a:t>
            </a:r>
            <a:r>
              <a:rPr lang="en-GB" sz="2800" b="0" dirty="0" smtClean="0">
                <a:solidFill>
                  <a:schemeClr val="tx1"/>
                </a:solidFill>
                <a:latin typeface="Calibri" panose="020F0502020204030204" charset="0"/>
                <a:cs typeface="Calibri" panose="020F0502020204030204" charset="0"/>
              </a:rPr>
              <a:t>The models may be</a:t>
            </a:r>
            <a:r>
              <a:rPr lang="en-US" altLang="en-GB" sz="2800" b="0" dirty="0" smtClean="0">
                <a:solidFill>
                  <a:schemeClr val="tx1"/>
                </a:solidFill>
                <a:latin typeface="Calibri" panose="020F0502020204030204" charset="0"/>
                <a:cs typeface="Calibri" panose="020F0502020204030204" charset="0"/>
              </a:rPr>
              <a:t> </a:t>
            </a:r>
            <a:r>
              <a:rPr lang="en-GB" sz="2800" b="0" dirty="0" smtClean="0">
                <a:solidFill>
                  <a:schemeClr val="tx1"/>
                </a:solidFill>
                <a:latin typeface="Calibri" panose="020F0502020204030204" charset="0"/>
                <a:cs typeface="Calibri" panose="020F0502020204030204" charset="0"/>
              </a:rPr>
              <a:t>incomplete</a:t>
            </a:r>
            <a:r>
              <a:rPr lang="en-US" altLang="en-GB" sz="2800" b="0" dirty="0" smtClean="0">
                <a:solidFill>
                  <a:schemeClr val="tx1"/>
                </a:solidFill>
                <a:latin typeface="Calibri" panose="020F0502020204030204" charset="0"/>
                <a:cs typeface="Calibri" panose="020F0502020204030204" charset="0"/>
              </a:rPr>
              <a:t>,</a:t>
            </a:r>
            <a:r>
              <a:rPr lang="en-GB" sz="2800" b="0" dirty="0" smtClean="0">
                <a:solidFill>
                  <a:schemeClr val="tx1"/>
                </a:solidFill>
                <a:latin typeface="Calibri" panose="020F0502020204030204" charset="0"/>
                <a:cs typeface="Calibri" panose="020F0502020204030204" charset="0"/>
              </a:rPr>
              <a:t> and they</a:t>
            </a:r>
            <a:r>
              <a:rPr lang="en-US" altLang="en-GB" sz="2800" b="0" dirty="0" smtClean="0">
                <a:solidFill>
                  <a:schemeClr val="tx1"/>
                </a:solidFill>
                <a:latin typeface="Calibri" panose="020F0502020204030204" charset="0"/>
                <a:cs typeface="Calibri" panose="020F0502020204030204" charset="0"/>
              </a:rPr>
              <a:t> </a:t>
            </a:r>
            <a:r>
              <a:rPr lang="en-GB" sz="2800" b="0" dirty="0" smtClean="0">
                <a:solidFill>
                  <a:schemeClr val="tx1"/>
                </a:solidFill>
                <a:latin typeface="Calibri" panose="020F0502020204030204" charset="0"/>
                <a:cs typeface="Calibri" panose="020F0502020204030204" charset="0"/>
              </a:rPr>
              <a:t>may use the modeling notation informally. This is how models are normally</a:t>
            </a:r>
            <a:r>
              <a:rPr lang="en-US" altLang="en-GB" sz="2800" b="0" dirty="0" smtClean="0">
                <a:solidFill>
                  <a:schemeClr val="tx1"/>
                </a:solidFill>
                <a:latin typeface="Calibri" panose="020F0502020204030204" charset="0"/>
                <a:cs typeface="Calibri" panose="020F0502020204030204" charset="0"/>
              </a:rPr>
              <a:t> </a:t>
            </a:r>
            <a:r>
              <a:rPr lang="en-GB" sz="2800" b="0" dirty="0" smtClean="0">
                <a:solidFill>
                  <a:schemeClr val="tx1"/>
                </a:solidFill>
                <a:latin typeface="Calibri" panose="020F0502020204030204" charset="0"/>
                <a:cs typeface="Calibri" panose="020F0502020204030204" charset="0"/>
              </a:rPr>
              <a:t>used in agile modeling.</a:t>
            </a:r>
            <a:r>
              <a:rPr lang="en-US" altLang="en-GB" sz="2800" b="0" dirty="0" smtClean="0">
                <a:solidFill>
                  <a:schemeClr val="tx1"/>
                </a:solidFill>
                <a:latin typeface="Calibri" panose="020F0502020204030204" charset="0"/>
                <a:cs typeface="Calibri" panose="020F0502020204030204" charset="0"/>
              </a:rPr>
              <a:t>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作为</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sym typeface="+mn-ea"/>
              </a:rPr>
              <a:t>激励和聚焦讨论的方式</a:t>
            </a:r>
            <a:endParaRPr lang="en-GB" sz="2800" dirty="0" smtClean="0">
              <a:latin typeface="Calibri" panose="020F0502020204030204" charset="0"/>
              <a:cs typeface="Calibri" panose="020F0502020204030204" charset="0"/>
            </a:endParaRPr>
          </a:p>
          <a:p>
            <a:pPr>
              <a:lnSpc>
                <a:spcPct val="85000"/>
              </a:lnSpc>
              <a:spcBef>
                <a:spcPts val="600"/>
              </a:spcBef>
              <a:spcAft>
                <a:spcPts val="0"/>
              </a:spcAft>
            </a:pPr>
            <a:r>
              <a:rPr lang="en-US" sz="3200" dirty="0" smtClean="0">
                <a:solidFill>
                  <a:schemeClr val="tx2">
                    <a:lumMod val="75000"/>
                    <a:lumOff val="25000"/>
                  </a:schemeClr>
                </a:solidFill>
                <a:latin typeface="Calibri" panose="020F0502020204030204" charset="0"/>
                <a:cs typeface="Calibri" panose="020F0502020204030204" charset="0"/>
              </a:rPr>
              <a:t> As a way of documenting an existing system.</a:t>
            </a:r>
            <a:r>
              <a:rPr lang="en-US" sz="3200" dirty="0" smtClean="0">
                <a:solidFill>
                  <a:schemeClr val="tx1"/>
                </a:solidFill>
                <a:latin typeface="Calibri" panose="020F0502020204030204" charset="0"/>
                <a:cs typeface="Calibri" panose="020F0502020204030204" charset="0"/>
              </a:rPr>
              <a:t> </a:t>
            </a:r>
            <a:r>
              <a:rPr lang="en-US" sz="2800" b="0" dirty="0" smtClean="0">
                <a:solidFill>
                  <a:schemeClr val="tx1"/>
                </a:solidFill>
                <a:latin typeface="Calibri" panose="020F0502020204030204" charset="0"/>
                <a:cs typeface="Calibri" panose="020F0502020204030204" charset="0"/>
              </a:rPr>
              <a:t>T</a:t>
            </a:r>
            <a:r>
              <a:rPr lang="en-US" sz="2800" b="0" dirty="0" smtClean="0">
                <a:solidFill>
                  <a:schemeClr val="tx1"/>
                </a:solidFill>
                <a:latin typeface="Calibri" panose="020F0502020204030204" charset="0"/>
                <a:cs typeface="Calibri" panose="020F0502020204030204" charset="0"/>
                <a:sym typeface="+mn-ea"/>
              </a:rPr>
              <a:t>he models</a:t>
            </a:r>
            <a:r>
              <a:rPr lang="en-US" sz="2800" b="0" dirty="0" smtClean="0">
                <a:solidFill>
                  <a:schemeClr val="tx1"/>
                </a:solidFill>
                <a:latin typeface="Calibri" panose="020F0502020204030204" charset="0"/>
                <a:cs typeface="Calibri" panose="020F0502020204030204" charset="0"/>
              </a:rPr>
              <a:t> do not have to be complete, but have to be correct—should use the notation correctly and be an accurate description.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作为文档化现有系统的方式</a:t>
            </a:r>
            <a:endParaRPr lang="en-GB" sz="2800" dirty="0" smtClean="0">
              <a:latin typeface="Calibri" panose="020F0502020204030204" charset="0"/>
              <a:cs typeface="Calibri" panose="020F0502020204030204" charset="0"/>
            </a:endParaRPr>
          </a:p>
          <a:p>
            <a:pPr>
              <a:lnSpc>
                <a:spcPct val="85000"/>
              </a:lnSpc>
              <a:spcBef>
                <a:spcPts val="600"/>
              </a:spcBef>
              <a:spcAft>
                <a:spcPts val="0"/>
              </a:spcAft>
            </a:pPr>
            <a:r>
              <a:rPr lang="en-US" sz="3200" dirty="0" smtClean="0">
                <a:solidFill>
                  <a:schemeClr val="tx2">
                    <a:lumMod val="75000"/>
                    <a:lumOff val="25000"/>
                  </a:schemeClr>
                </a:solidFill>
                <a:latin typeface="Calibri" panose="020F0502020204030204" charset="0"/>
                <a:cs typeface="Calibri" panose="020F0502020204030204" charset="0"/>
              </a:rPr>
              <a:t> As a detailed system description that can be used to generate a system implementation.</a:t>
            </a:r>
            <a:r>
              <a:rPr lang="en-US" sz="3200" dirty="0" smtClean="0">
                <a:solidFill>
                  <a:schemeClr val="tx1"/>
                </a:solidFill>
                <a:latin typeface="Calibri" panose="020F0502020204030204" charset="0"/>
                <a:cs typeface="Calibri" panose="020F0502020204030204" charset="0"/>
              </a:rPr>
              <a:t> </a:t>
            </a:r>
            <a:r>
              <a:rPr lang="en-US" sz="2800" b="0" dirty="0" smtClean="0">
                <a:solidFill>
                  <a:schemeClr val="tx1"/>
                </a:solidFill>
                <a:latin typeface="Calibri" panose="020F0502020204030204" charset="0"/>
                <a:cs typeface="Calibri" panose="020F0502020204030204" charset="0"/>
              </a:rPr>
              <a:t>The system models have to be both complete and correct, used as a basis for generating the source code.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用于生成系统实现</a:t>
            </a:r>
            <a:endPar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endParaRP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82320"/>
            <a:ext cx="8977630" cy="56832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rgbClr val="0070C0"/>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UML diagram types</a:t>
            </a:r>
            <a:endParaRPr lang="zh-CN" altLang="en-US" sz="3200" dirty="0">
              <a:solidFill>
                <a:schemeClr val="accent1">
                  <a:lumMod val="75000"/>
                </a:schemeClr>
              </a:solidFill>
              <a:ea typeface="宋体" panose="02010600030101010101" pitchFamily="2" charset="-122"/>
              <a:sym typeface="+mn-ea"/>
            </a:endParaRPr>
          </a:p>
        </p:txBody>
      </p:sp>
      <p:sp>
        <p:nvSpPr>
          <p:cNvPr id="4" name="Rectangle 2"/>
          <p:cNvSpPr>
            <a:spLocks noGrp="1"/>
          </p:cNvSpPr>
          <p:nvPr>
            <p:ph type="title"/>
            <p:custDataLst>
              <p:tags r:id="rId2"/>
            </p:custDataLst>
          </p:nvPr>
        </p:nvSpPr>
        <p:spPr>
          <a:xfrm>
            <a:off x="617538" y="198755"/>
            <a:ext cx="455295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5  System modeling</a:t>
            </a:r>
            <a:endParaRPr lang="en-US" altLang="zh-CN" sz="2800" dirty="0">
              <a:solidFill>
                <a:srgbClr val="660066"/>
              </a:solidFill>
              <a:ea typeface="黑体" panose="02010609060101010101" pitchFamily="49" charset="-122"/>
              <a:cs typeface="+mj-lt"/>
            </a:endParaRPr>
          </a:p>
        </p:txBody>
      </p:sp>
      <p:sp>
        <p:nvSpPr>
          <p:cNvPr id="3" name="Content Placeholder 2"/>
          <p:cNvSpPr>
            <a:spLocks noGrp="1"/>
          </p:cNvSpPr>
          <p:nvPr/>
        </p:nvSpPr>
        <p:spPr>
          <a:xfrm>
            <a:off x="47625" y="1384935"/>
            <a:ext cx="9018905" cy="5148580"/>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85000"/>
              </a:lnSpc>
              <a:spcBef>
                <a:spcPts val="600"/>
              </a:spcBef>
              <a:spcAft>
                <a:spcPts val="0"/>
              </a:spcAft>
            </a:pPr>
            <a:r>
              <a:rPr lang="en-US" sz="3000" dirty="0" smtClean="0">
                <a:solidFill>
                  <a:schemeClr val="tx2">
                    <a:lumMod val="75000"/>
                    <a:lumOff val="25000"/>
                  </a:schemeClr>
                </a:solidFill>
                <a:latin typeface="Calibri" panose="020F0502020204030204" charset="0"/>
                <a:cs typeface="Calibri" panose="020F0502020204030204" charset="0"/>
              </a:rPr>
              <a:t> The UML has 13 diagram types, 5 of them could represent the essentials of a system.  </a:t>
            </a:r>
            <a:r>
              <a:rPr lang="en-US" dirty="0" smtClean="0">
                <a:solidFill>
                  <a:srgbClr val="C00000"/>
                </a:solidFill>
                <a:latin typeface="黑体" panose="02010609060101010101" pitchFamily="49" charset="-122"/>
                <a:ea typeface="黑体" panose="02010609060101010101" pitchFamily="49" charset="-122"/>
                <a:cs typeface="黑体" panose="02010609060101010101" pitchFamily="49" charset="-122"/>
              </a:rPr>
              <a:t>5</a:t>
            </a:r>
            <a:r>
              <a:rPr lang="zh-CN" altLang="en-US" dirty="0" smtClean="0">
                <a:solidFill>
                  <a:srgbClr val="C00000"/>
                </a:solidFill>
                <a:latin typeface="黑体" panose="02010609060101010101" pitchFamily="49" charset="-122"/>
                <a:ea typeface="黑体" panose="02010609060101010101" pitchFamily="49" charset="-122"/>
                <a:cs typeface="黑体" panose="02010609060101010101" pitchFamily="49" charset="-122"/>
              </a:rPr>
              <a:t>个图类型即可</a:t>
            </a:r>
            <a:endParaRPr lang="en-US" dirty="0" smtClean="0">
              <a:solidFill>
                <a:srgbClr val="C00000"/>
              </a:solidFill>
              <a:latin typeface="黑体" panose="02010609060101010101" pitchFamily="49" charset="-122"/>
              <a:ea typeface="黑体" panose="02010609060101010101" pitchFamily="49" charset="-122"/>
              <a:cs typeface="黑体" panose="02010609060101010101" pitchFamily="49" charset="-122"/>
            </a:endParaRPr>
          </a:p>
          <a:p>
            <a:pPr lvl="1" algn="l">
              <a:lnSpc>
                <a:spcPct val="85000"/>
              </a:lnSpc>
              <a:spcBef>
                <a:spcPts val="600"/>
              </a:spcBef>
              <a:spcAft>
                <a:spcPts val="0"/>
              </a:spcAft>
            </a:pPr>
            <a:r>
              <a:rPr lang="en-US" sz="2800" dirty="0" smtClean="0">
                <a:solidFill>
                  <a:schemeClr val="tx1"/>
                </a:solidFill>
                <a:latin typeface="Calibri" panose="020F0502020204030204" charset="0"/>
                <a:cs typeface="Calibri" panose="020F0502020204030204" charset="0"/>
                <a:sym typeface="+mn-ea"/>
              </a:rPr>
              <a:t>Activity diagrams, </a:t>
            </a:r>
            <a:r>
              <a:rPr lang="en-US" sz="2700" b="0" dirty="0" smtClean="0">
                <a:solidFill>
                  <a:schemeClr val="tx1"/>
                </a:solidFill>
                <a:latin typeface="Calibri" panose="020F0502020204030204" charset="0"/>
                <a:cs typeface="Calibri" panose="020F0502020204030204" charset="0"/>
                <a:sym typeface="+mn-ea"/>
              </a:rPr>
              <a:t>which show the activities involved in a process or in data processing.</a:t>
            </a:r>
            <a:r>
              <a:rPr lang="en-US" sz="2600" b="0" dirty="0" smtClean="0">
                <a:solidFill>
                  <a:schemeClr val="tx1"/>
                </a:solidFill>
                <a:latin typeface="Calibri" panose="020F0502020204030204" charset="0"/>
                <a:cs typeface="Calibri" panose="020F0502020204030204" charset="0"/>
                <a:sym typeface="+mn-ea"/>
              </a:rPr>
              <a:t>     </a:t>
            </a:r>
            <a:r>
              <a:rPr lang="zh-CN" altLang="en-US" sz="2400" dirty="0" smtClean="0">
                <a:solidFill>
                  <a:srgbClr val="C00000"/>
                </a:solidFill>
                <a:latin typeface="黑体" panose="02010609060101010101" pitchFamily="49" charset="-122"/>
                <a:ea typeface="黑体" panose="02010609060101010101" pitchFamily="49" charset="-122"/>
                <a:cs typeface="黑体" panose="02010609060101010101" pitchFamily="49" charset="-122"/>
                <a:sym typeface="+mn-ea"/>
              </a:rPr>
              <a:t>活动图</a:t>
            </a:r>
            <a:endParaRPr lang="zh-CN" altLang="en-US" sz="2400" dirty="0" smtClean="0">
              <a:solidFill>
                <a:srgbClr val="C00000"/>
              </a:solidFill>
              <a:latin typeface="黑体" panose="02010609060101010101" pitchFamily="49" charset="-122"/>
              <a:ea typeface="黑体" panose="02010609060101010101" pitchFamily="49" charset="-122"/>
              <a:cs typeface="黑体" panose="02010609060101010101" pitchFamily="49" charset="-122"/>
              <a:sym typeface="+mn-ea"/>
            </a:endParaRPr>
          </a:p>
          <a:p>
            <a:pPr lvl="1" algn="l">
              <a:lnSpc>
                <a:spcPct val="85000"/>
              </a:lnSpc>
              <a:spcBef>
                <a:spcPts val="600"/>
              </a:spcBef>
              <a:spcAft>
                <a:spcPts val="0"/>
              </a:spcAft>
            </a:pPr>
            <a:r>
              <a:rPr lang="en-US" sz="2800" dirty="0" smtClean="0">
                <a:solidFill>
                  <a:schemeClr val="tx1"/>
                </a:solidFill>
                <a:latin typeface="Calibri" panose="020F0502020204030204" charset="0"/>
                <a:cs typeface="Calibri" panose="020F0502020204030204" charset="0"/>
                <a:sym typeface="+mn-ea"/>
              </a:rPr>
              <a:t>Use case diagrams, </a:t>
            </a:r>
            <a:r>
              <a:rPr lang="en-US" sz="2700" b="0" dirty="0" smtClean="0">
                <a:solidFill>
                  <a:schemeClr val="tx1"/>
                </a:solidFill>
                <a:latin typeface="Calibri" panose="020F0502020204030204" charset="0"/>
                <a:cs typeface="Calibri" panose="020F0502020204030204" charset="0"/>
                <a:sym typeface="+mn-ea"/>
              </a:rPr>
              <a:t>which show the interactions between a system and its environment.</a:t>
            </a:r>
            <a:r>
              <a:rPr lang="en-US" sz="2800" dirty="0" smtClean="0">
                <a:solidFill>
                  <a:schemeClr val="tx1"/>
                </a:solidFill>
                <a:latin typeface="Calibri" panose="020F0502020204030204" charset="0"/>
                <a:cs typeface="Calibri" panose="020F0502020204030204" charset="0"/>
                <a:sym typeface="+mn-ea"/>
              </a:rPr>
              <a:t>   </a:t>
            </a:r>
            <a:r>
              <a:rPr lang="en-US" sz="2800" dirty="0" smtClean="0">
                <a:latin typeface="Calibri" panose="020F0502020204030204" charset="0"/>
                <a:cs typeface="Calibri" panose="020F0502020204030204" charset="0"/>
                <a:sym typeface="+mn-ea"/>
              </a:rPr>
              <a:t> </a:t>
            </a:r>
            <a:r>
              <a:rPr lang="zh-CN" altLang="en-US" sz="2400" dirty="0" smtClean="0">
                <a:solidFill>
                  <a:srgbClr val="C00000"/>
                </a:solidFill>
                <a:latin typeface="黑体" panose="02010609060101010101" pitchFamily="49" charset="-122"/>
                <a:ea typeface="黑体" panose="02010609060101010101" pitchFamily="49" charset="-122"/>
                <a:cs typeface="黑体" panose="02010609060101010101" pitchFamily="49" charset="-122"/>
                <a:sym typeface="+mn-ea"/>
              </a:rPr>
              <a:t>用例图</a:t>
            </a:r>
            <a:endParaRPr lang="en-US" sz="2800" dirty="0" smtClean="0">
              <a:latin typeface="Calibri" panose="020F0502020204030204" charset="0"/>
              <a:cs typeface="Calibri" panose="020F0502020204030204" charset="0"/>
              <a:sym typeface="+mn-ea"/>
            </a:endParaRPr>
          </a:p>
          <a:p>
            <a:pPr lvl="1" algn="l">
              <a:lnSpc>
                <a:spcPct val="85000"/>
              </a:lnSpc>
              <a:spcBef>
                <a:spcPts val="600"/>
              </a:spcBef>
              <a:spcAft>
                <a:spcPts val="0"/>
              </a:spcAft>
            </a:pPr>
            <a:r>
              <a:rPr lang="en-US" sz="2800" dirty="0" smtClean="0">
                <a:solidFill>
                  <a:schemeClr val="tx1"/>
                </a:solidFill>
                <a:latin typeface="Calibri" panose="020F0502020204030204" charset="0"/>
                <a:cs typeface="Calibri" panose="020F0502020204030204" charset="0"/>
                <a:sym typeface="+mn-ea"/>
              </a:rPr>
              <a:t>Sequence diagrams, </a:t>
            </a:r>
            <a:r>
              <a:rPr lang="en-US" sz="2700" b="0" dirty="0" smtClean="0">
                <a:solidFill>
                  <a:schemeClr val="tx1"/>
                </a:solidFill>
                <a:latin typeface="Calibri" panose="020F0502020204030204" charset="0"/>
                <a:cs typeface="Calibri" panose="020F0502020204030204" charset="0"/>
                <a:sym typeface="+mn-ea"/>
              </a:rPr>
              <a:t>which show interactions between actors and the system and between system components.</a:t>
            </a:r>
            <a:r>
              <a:rPr lang="en-US" sz="2800" dirty="0" smtClean="0">
                <a:solidFill>
                  <a:schemeClr val="tx1"/>
                </a:solidFill>
                <a:latin typeface="Calibri" panose="020F0502020204030204" charset="0"/>
                <a:cs typeface="Calibri" panose="020F0502020204030204" charset="0"/>
                <a:sym typeface="+mn-ea"/>
              </a:rPr>
              <a:t> </a:t>
            </a:r>
            <a:r>
              <a:rPr lang="en-US" sz="2800" dirty="0" smtClean="0">
                <a:latin typeface="Calibri" panose="020F0502020204030204" charset="0"/>
                <a:cs typeface="Calibri" panose="020F0502020204030204" charset="0"/>
                <a:sym typeface="+mn-ea"/>
              </a:rPr>
              <a:t>         </a:t>
            </a:r>
            <a:r>
              <a:rPr lang="zh-CN" altLang="en-US" sz="2400" dirty="0" smtClean="0">
                <a:solidFill>
                  <a:srgbClr val="C00000"/>
                </a:solidFill>
                <a:latin typeface="黑体" panose="02010609060101010101" pitchFamily="49" charset="-122"/>
                <a:ea typeface="黑体" panose="02010609060101010101" pitchFamily="49" charset="-122"/>
                <a:cs typeface="黑体" panose="02010609060101010101" pitchFamily="49" charset="-122"/>
                <a:sym typeface="+mn-ea"/>
              </a:rPr>
              <a:t>顺序图</a:t>
            </a:r>
            <a:endParaRPr lang="en-US" sz="2800" dirty="0" smtClean="0">
              <a:latin typeface="Calibri" panose="020F0502020204030204" charset="0"/>
              <a:cs typeface="Calibri" panose="020F0502020204030204" charset="0"/>
              <a:sym typeface="+mn-ea"/>
            </a:endParaRPr>
          </a:p>
          <a:p>
            <a:pPr lvl="1" algn="l">
              <a:lnSpc>
                <a:spcPct val="85000"/>
              </a:lnSpc>
              <a:spcBef>
                <a:spcPts val="600"/>
              </a:spcBef>
              <a:spcAft>
                <a:spcPts val="0"/>
              </a:spcAft>
            </a:pPr>
            <a:r>
              <a:rPr lang="en-US" sz="2800" dirty="0" smtClean="0">
                <a:solidFill>
                  <a:schemeClr val="tx1"/>
                </a:solidFill>
                <a:latin typeface="Calibri" panose="020F0502020204030204" charset="0"/>
                <a:cs typeface="Calibri" panose="020F0502020204030204" charset="0"/>
                <a:sym typeface="+mn-ea"/>
              </a:rPr>
              <a:t>Class diagrams, </a:t>
            </a:r>
            <a:r>
              <a:rPr lang="en-US" sz="2700" b="0" dirty="0" smtClean="0">
                <a:solidFill>
                  <a:schemeClr val="tx1"/>
                </a:solidFill>
                <a:latin typeface="Calibri" panose="020F0502020204030204" charset="0"/>
                <a:cs typeface="Calibri" panose="020F0502020204030204" charset="0"/>
                <a:sym typeface="+mn-ea"/>
              </a:rPr>
              <a:t>which show the object classes in the system and the associations between these classes. </a:t>
            </a:r>
            <a:r>
              <a:rPr lang="zh-CN" altLang="en-US" sz="2400" dirty="0" smtClean="0">
                <a:solidFill>
                  <a:srgbClr val="C00000"/>
                </a:solidFill>
                <a:latin typeface="黑体" panose="02010609060101010101" pitchFamily="49" charset="-122"/>
                <a:ea typeface="黑体" panose="02010609060101010101" pitchFamily="49" charset="-122"/>
                <a:cs typeface="黑体" panose="02010609060101010101" pitchFamily="49" charset="-122"/>
                <a:sym typeface="+mn-ea"/>
              </a:rPr>
              <a:t>类图</a:t>
            </a:r>
            <a:endParaRPr lang="en-US" sz="2800" dirty="0" smtClean="0">
              <a:latin typeface="Calibri" panose="020F0502020204030204" charset="0"/>
              <a:cs typeface="Calibri" panose="020F0502020204030204" charset="0"/>
              <a:sym typeface="+mn-ea"/>
            </a:endParaRPr>
          </a:p>
          <a:p>
            <a:pPr lvl="1" algn="l">
              <a:lnSpc>
                <a:spcPct val="85000"/>
              </a:lnSpc>
              <a:spcBef>
                <a:spcPts val="600"/>
              </a:spcBef>
              <a:spcAft>
                <a:spcPts val="0"/>
              </a:spcAft>
            </a:pPr>
            <a:r>
              <a:rPr lang="en-US" sz="2800" dirty="0" smtClean="0">
                <a:solidFill>
                  <a:schemeClr val="tx1"/>
                </a:solidFill>
                <a:latin typeface="Calibri" panose="020F0502020204030204" charset="0"/>
                <a:cs typeface="Calibri" panose="020F0502020204030204" charset="0"/>
                <a:sym typeface="+mn-ea"/>
              </a:rPr>
              <a:t>State diagrams, </a:t>
            </a:r>
            <a:r>
              <a:rPr lang="en-US" sz="2800" b="0" dirty="0" smtClean="0">
                <a:solidFill>
                  <a:schemeClr val="tx1"/>
                </a:solidFill>
                <a:latin typeface="Calibri" panose="020F0502020204030204" charset="0"/>
                <a:cs typeface="Calibri" panose="020F0502020204030204" charset="0"/>
                <a:sym typeface="+mn-ea"/>
              </a:rPr>
              <a:t>which show how the system reacts to internal and external events.</a:t>
            </a:r>
            <a:r>
              <a:rPr lang="en-US" sz="2800" dirty="0" smtClean="0">
                <a:solidFill>
                  <a:schemeClr val="tx1"/>
                </a:solidFill>
                <a:latin typeface="Calibri" panose="020F0502020204030204" charset="0"/>
                <a:cs typeface="Calibri" panose="020F0502020204030204" charset="0"/>
                <a:sym typeface="+mn-ea"/>
              </a:rPr>
              <a:t>  </a:t>
            </a:r>
            <a:r>
              <a:rPr lang="en-US" sz="2800" dirty="0" smtClean="0">
                <a:latin typeface="Calibri" panose="020F0502020204030204" charset="0"/>
                <a:cs typeface="Calibri" panose="020F0502020204030204" charset="0"/>
                <a:sym typeface="+mn-ea"/>
              </a:rPr>
              <a:t> </a:t>
            </a:r>
            <a:r>
              <a:rPr lang="zh-CN" altLang="en-US" sz="2400" dirty="0" smtClean="0">
                <a:solidFill>
                  <a:srgbClr val="C00000"/>
                </a:solidFill>
                <a:latin typeface="黑体" panose="02010609060101010101" pitchFamily="49" charset="-122"/>
                <a:ea typeface="黑体" panose="02010609060101010101" pitchFamily="49" charset="-122"/>
                <a:cs typeface="黑体" panose="02010609060101010101" pitchFamily="49" charset="-122"/>
                <a:sym typeface="+mn-ea"/>
              </a:rPr>
              <a:t>状态图</a:t>
            </a:r>
            <a:endParaRPr lang="en-US" sz="2800" dirty="0" smtClean="0">
              <a:solidFill>
                <a:schemeClr val="tx2">
                  <a:lumMod val="75000"/>
                  <a:lumOff val="25000"/>
                </a:schemeClr>
              </a:solidFill>
              <a:latin typeface="Calibri" panose="020F0502020204030204" charset="0"/>
              <a:cs typeface="Calibri" panose="020F0502020204030204" charset="0"/>
            </a:endParaRP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46125"/>
            <a:ext cx="8977630" cy="53530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zh-CN" altLang="en-US" sz="3200" dirty="0">
                <a:solidFill>
                  <a:schemeClr val="accent1">
                    <a:lumMod val="75000"/>
                  </a:schemeClr>
                </a:solidFill>
                <a:ea typeface="宋体" panose="02010600030101010101" pitchFamily="2" charset="-122"/>
                <a:sym typeface="+mn-ea"/>
              </a:rPr>
              <a:t> 5.1 Context models</a:t>
            </a:r>
            <a:r>
              <a:rPr lang="en-US" altLang="zh-CN" sz="3200" dirty="0">
                <a:solidFill>
                  <a:schemeClr val="accent1">
                    <a:lumMod val="75000"/>
                  </a:schemeClr>
                </a:solidFill>
                <a:ea typeface="宋体" panose="02010600030101010101" pitchFamily="2" charset="-122"/>
                <a:sym typeface="+mn-ea"/>
              </a:rPr>
              <a:t>     </a:t>
            </a:r>
            <a:r>
              <a:rPr lang="zh-CN" altLang="en-US" sz="2400" kern="1200" dirty="0" smtClean="0">
                <a:solidFill>
                  <a:srgbClr val="C00000"/>
                </a:solidFill>
                <a:latin typeface="黑体" panose="02010609060101010101" pitchFamily="49" charset="-122"/>
                <a:ea typeface="黑体" panose="02010609060101010101" pitchFamily="49" charset="-122"/>
                <a:cs typeface="黑体" panose="02010609060101010101" pitchFamily="49" charset="-122"/>
                <a:sym typeface="+mn-ea"/>
              </a:rPr>
              <a:t>上下文模型</a:t>
            </a:r>
            <a:endParaRPr lang="zh-CN" altLang="en-US" sz="3200" dirty="0">
              <a:solidFill>
                <a:schemeClr val="accent1">
                  <a:lumMod val="75000"/>
                </a:schemeClr>
              </a:solidFill>
              <a:ea typeface="宋体" panose="02010600030101010101" pitchFamily="2" charset="-122"/>
              <a:sym typeface="+mn-ea"/>
            </a:endParaRPr>
          </a:p>
        </p:txBody>
      </p:sp>
      <p:sp>
        <p:nvSpPr>
          <p:cNvPr id="4" name="Rectangle 2"/>
          <p:cNvSpPr>
            <a:spLocks noGrp="1"/>
          </p:cNvSpPr>
          <p:nvPr>
            <p:ph type="title"/>
            <p:custDataLst>
              <p:tags r:id="rId2"/>
            </p:custDataLst>
          </p:nvPr>
        </p:nvSpPr>
        <p:spPr>
          <a:xfrm>
            <a:off x="617538" y="198755"/>
            <a:ext cx="455295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5  System modeling</a:t>
            </a:r>
            <a:endParaRPr lang="en-US" altLang="zh-CN" sz="2800" dirty="0">
              <a:solidFill>
                <a:srgbClr val="660066"/>
              </a:solidFill>
              <a:ea typeface="黑体" panose="02010609060101010101" pitchFamily="49" charset="-122"/>
              <a:cs typeface="+mj-lt"/>
            </a:endParaRPr>
          </a:p>
        </p:txBody>
      </p:sp>
      <p:sp>
        <p:nvSpPr>
          <p:cNvPr id="2" name="Content Placeholder 2"/>
          <p:cNvSpPr>
            <a:spLocks noGrp="1"/>
          </p:cNvSpPr>
          <p:nvPr/>
        </p:nvSpPr>
        <p:spPr>
          <a:xfrm>
            <a:off x="73025" y="1313180"/>
            <a:ext cx="8992870" cy="5333365"/>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82000"/>
              </a:lnSpc>
              <a:spcAft>
                <a:spcPts val="0"/>
              </a:spcAft>
            </a:pPr>
            <a:r>
              <a:rPr lang="en-US" sz="3000" dirty="0" smtClean="0">
                <a:solidFill>
                  <a:schemeClr val="tx2">
                    <a:lumMod val="75000"/>
                    <a:lumOff val="25000"/>
                  </a:schemeClr>
                </a:solidFill>
                <a:latin typeface="Calibri" panose="020F0502020204030204" charset="0"/>
                <a:cs typeface="Calibri" panose="020F0502020204030204" charset="0"/>
              </a:rPr>
              <a:t> At an early stage in the specification of a system, you should decide on the system boundaries, that is, on what is and is not part of the system being developed. </a:t>
            </a:r>
            <a:r>
              <a:rPr lang="en-US" sz="2800" b="0" dirty="0" smtClean="0">
                <a:solidFill>
                  <a:schemeClr val="tx1"/>
                </a:solidFill>
                <a:latin typeface="Calibri" panose="020F0502020204030204" charset="0"/>
                <a:cs typeface="Calibri" panose="020F0502020204030204" charset="0"/>
              </a:rPr>
              <a:t>These decisions should be made early in the process to limit the system costs and the time needed for understanding the system requirements and design.</a:t>
            </a:r>
            <a:r>
              <a:rPr lang="en-US" sz="2800" dirty="0" smtClean="0">
                <a:solidFill>
                  <a:schemeClr val="tx2">
                    <a:lumMod val="75000"/>
                    <a:lumOff val="25000"/>
                  </a:schemeClr>
                </a:solidFill>
                <a:latin typeface="Calibri" panose="020F0502020204030204" charset="0"/>
                <a:cs typeface="Calibri" panose="020F0502020204030204" charset="0"/>
              </a:rPr>
              <a:t>         </a:t>
            </a:r>
            <a:r>
              <a:rPr lang="zh-CN" altLang="en-US" sz="2400" dirty="0" smtClean="0">
                <a:solidFill>
                  <a:srgbClr val="C00000"/>
                </a:solidFill>
                <a:latin typeface="黑体" panose="02010609060101010101" pitchFamily="49" charset="-122"/>
                <a:ea typeface="黑体" panose="02010609060101010101" pitchFamily="49" charset="-122"/>
                <a:cs typeface="黑体" panose="02010609060101010101" pitchFamily="49" charset="-122"/>
              </a:rPr>
              <a:t>确定系统边界：哪些属于/不属于被开发的系统</a:t>
            </a:r>
            <a:endParaRPr lang="zh-CN" altLang="en-US" sz="2400" dirty="0" smtClean="0">
              <a:solidFill>
                <a:srgbClr val="C00000"/>
              </a:solidFill>
              <a:latin typeface="黑体" panose="02010609060101010101" pitchFamily="49" charset="-122"/>
              <a:ea typeface="黑体" panose="02010609060101010101" pitchFamily="49" charset="-122"/>
              <a:cs typeface="黑体" panose="02010609060101010101" pitchFamily="49" charset="-122"/>
            </a:endParaRPr>
          </a:p>
          <a:p>
            <a:pPr>
              <a:lnSpc>
                <a:spcPct val="82000"/>
              </a:lnSpc>
              <a:spcAft>
                <a:spcPts val="0"/>
              </a:spcAft>
            </a:pPr>
            <a:r>
              <a:rPr lang="en-US" sz="3000" dirty="0" smtClean="0">
                <a:solidFill>
                  <a:schemeClr val="tx2">
                    <a:lumMod val="75000"/>
                    <a:lumOff val="25000"/>
                  </a:schemeClr>
                </a:solidFill>
                <a:latin typeface="Calibri" panose="020F0502020204030204" charset="0"/>
                <a:cs typeface="Calibri" panose="020F0502020204030204" charset="0"/>
              </a:rPr>
              <a:t> Social and organizational concerns may mean that a system boundary may be determined by nontechnical factors.  </a:t>
            </a:r>
            <a:r>
              <a:rPr lang="zh-CN" altLang="en-US" sz="2400" dirty="0" smtClean="0">
                <a:solidFill>
                  <a:srgbClr val="C00000"/>
                </a:solidFill>
                <a:latin typeface="黑体" panose="02010609060101010101" pitchFamily="49" charset="-122"/>
                <a:ea typeface="黑体" panose="02010609060101010101" pitchFamily="49" charset="-122"/>
                <a:cs typeface="黑体" panose="02010609060101010101" pitchFamily="49" charset="-122"/>
              </a:rPr>
              <a:t>边界可能由非技术因素决定</a:t>
            </a:r>
            <a:endParaRPr lang="zh-CN" altLang="en-US" sz="2400" dirty="0" smtClean="0">
              <a:solidFill>
                <a:srgbClr val="C00000"/>
              </a:solidFill>
              <a:latin typeface="黑体" panose="02010609060101010101" pitchFamily="49" charset="-122"/>
              <a:ea typeface="黑体" panose="02010609060101010101" pitchFamily="49" charset="-122"/>
              <a:cs typeface="黑体" panose="02010609060101010101" pitchFamily="49" charset="-122"/>
            </a:endParaRPr>
          </a:p>
          <a:p>
            <a:pPr>
              <a:lnSpc>
                <a:spcPct val="82000"/>
              </a:lnSpc>
              <a:spcAft>
                <a:spcPts val="0"/>
              </a:spcAft>
            </a:pPr>
            <a:r>
              <a:rPr lang="en-US" sz="3000" dirty="0" smtClean="0">
                <a:solidFill>
                  <a:schemeClr val="tx2">
                    <a:lumMod val="75000"/>
                    <a:lumOff val="25000"/>
                  </a:schemeClr>
                </a:solidFill>
                <a:latin typeface="Calibri" panose="020F0502020204030204" charset="0"/>
                <a:cs typeface="Calibri" panose="020F0502020204030204" charset="0"/>
              </a:rPr>
              <a:t> Once the boundaries are made, part of the analysis activity is the definition of that context and the dependencies that a system has on its environment. </a:t>
            </a:r>
            <a:r>
              <a:rPr lang="zh-CN" altLang="en-US" sz="2400" dirty="0" smtClean="0">
                <a:solidFill>
                  <a:srgbClr val="C00000"/>
                </a:solidFill>
                <a:latin typeface="黑体" panose="02010609060101010101" pitchFamily="49" charset="-122"/>
                <a:ea typeface="黑体" panose="02010609060101010101" pitchFamily="49" charset="-122"/>
                <a:cs typeface="黑体" panose="02010609060101010101" pitchFamily="49" charset="-122"/>
              </a:rPr>
              <a:t>边界确定后，就要定义上下文</a:t>
            </a:r>
            <a:r>
              <a:rPr lang="en-US" altLang="zh-CN" sz="2400" dirty="0" smtClean="0">
                <a:solidFill>
                  <a:srgbClr val="C00000"/>
                </a:solidFill>
                <a:latin typeface="黑体" panose="02010609060101010101" pitchFamily="49" charset="-122"/>
                <a:ea typeface="黑体" panose="02010609060101010101" pitchFamily="49" charset="-122"/>
                <a:cs typeface="黑体" panose="02010609060101010101" pitchFamily="49" charset="-122"/>
              </a:rPr>
              <a:t>,</a:t>
            </a:r>
            <a:r>
              <a:rPr lang="zh-CN" altLang="en-US" sz="2400" dirty="0" smtClean="0">
                <a:solidFill>
                  <a:srgbClr val="C00000"/>
                </a:solidFill>
                <a:latin typeface="黑体" panose="02010609060101010101" pitchFamily="49" charset="-122"/>
                <a:ea typeface="黑体" panose="02010609060101010101" pitchFamily="49" charset="-122"/>
                <a:cs typeface="黑体" panose="02010609060101010101" pitchFamily="49" charset="-122"/>
              </a:rPr>
              <a:t>以及系统对其环境的依赖 </a:t>
            </a:r>
            <a:endParaRPr lang="en-US" sz="3000" dirty="0" smtClean="0">
              <a:solidFill>
                <a:schemeClr val="tx2">
                  <a:lumMod val="75000"/>
                  <a:lumOff val="25000"/>
                </a:schemeClr>
              </a:solidFill>
              <a:latin typeface="Calibri" panose="020F0502020204030204" charset="0"/>
              <a:cs typeface="Calibri" panose="020F0502020204030204" charset="0"/>
            </a:endParaRP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p:cNvPicPr>
            <a:picLocks noChangeAspect="1"/>
          </p:cNvPicPr>
          <p:nvPr/>
        </p:nvPicPr>
        <p:blipFill>
          <a:blip r:embed="rId1"/>
          <a:stretch>
            <a:fillRect/>
          </a:stretch>
        </p:blipFill>
        <p:spPr>
          <a:xfrm>
            <a:off x="1083310" y="160655"/>
            <a:ext cx="7962265" cy="5047615"/>
          </a:xfrm>
          <a:prstGeom prst="rect">
            <a:avLst/>
          </a:prstGeom>
        </p:spPr>
      </p:pic>
      <p:pic>
        <p:nvPicPr>
          <p:cNvPr id="6" name="图片 5"/>
          <p:cNvPicPr>
            <a:picLocks noChangeAspect="1"/>
          </p:cNvPicPr>
          <p:nvPr/>
        </p:nvPicPr>
        <p:blipFill>
          <a:blip r:embed="rId2"/>
          <a:stretch>
            <a:fillRect/>
          </a:stretch>
        </p:blipFill>
        <p:spPr>
          <a:xfrm>
            <a:off x="6809740" y="344170"/>
            <a:ext cx="1838325" cy="428625"/>
          </a:xfrm>
          <a:prstGeom prst="rect">
            <a:avLst/>
          </a:prstGeom>
        </p:spPr>
      </p:pic>
      <p:sp>
        <p:nvSpPr>
          <p:cNvPr id="7" name="Content Placeholder 2"/>
          <p:cNvSpPr>
            <a:spLocks noGrp="1"/>
          </p:cNvSpPr>
          <p:nvPr/>
        </p:nvSpPr>
        <p:spPr>
          <a:xfrm>
            <a:off x="163830" y="165100"/>
            <a:ext cx="3660140" cy="846455"/>
          </a:xfrm>
          <a:prstGeom prst="rect">
            <a:avLst/>
          </a:prstGeom>
          <a:solidFill>
            <a:schemeClr val="bg1"/>
          </a:solidFill>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marL="0" indent="0">
              <a:lnSpc>
                <a:spcPct val="85000"/>
              </a:lnSpc>
              <a:spcAft>
                <a:spcPts val="0"/>
              </a:spcAft>
              <a:buNone/>
            </a:pPr>
            <a:r>
              <a:rPr lang="en-US" altLang="en-GB" sz="1900" b="0" dirty="0"/>
              <a:t>* </a:t>
            </a:r>
            <a:r>
              <a:rPr sz="1900" b="0" dirty="0"/>
              <a:t>Fig</a:t>
            </a:r>
            <a:r>
              <a:rPr lang="en-US" sz="1900" b="0" dirty="0"/>
              <a:t>.</a:t>
            </a:r>
            <a:r>
              <a:rPr sz="1900" b="0" dirty="0"/>
              <a:t> 5.1 is a context model that shows the Mentcare system and other</a:t>
            </a:r>
            <a:r>
              <a:rPr lang="en-US" sz="1900" b="0" dirty="0"/>
              <a:t> </a:t>
            </a:r>
            <a:r>
              <a:rPr sz="1900" b="0" dirty="0"/>
              <a:t>systems in its environment. </a:t>
            </a:r>
            <a:r>
              <a:rPr lang="en-GB" sz="1900" b="0" dirty="0"/>
              <a:t> </a:t>
            </a:r>
            <a:endParaRPr lang="en-US" sz="1900" b="0" dirty="0"/>
          </a:p>
        </p:txBody>
      </p:sp>
      <p:sp>
        <p:nvSpPr>
          <p:cNvPr id="8" name="Content Placeholder 2"/>
          <p:cNvSpPr>
            <a:spLocks noGrp="1"/>
          </p:cNvSpPr>
          <p:nvPr/>
        </p:nvSpPr>
        <p:spPr>
          <a:xfrm>
            <a:off x="85725" y="4525645"/>
            <a:ext cx="3785235" cy="1433195"/>
          </a:xfrm>
          <a:prstGeom prst="rect">
            <a:avLst/>
          </a:prstGeom>
          <a:noFill/>
          <a:extLst>
            <a:ext uri="{909E8E84-426E-40DD-AFC4-6F175D3DCCD1}">
              <a14:hiddenFill xmlns:a14="http://schemas.microsoft.com/office/drawing/2010/main">
                <a:solidFill>
                  <a:schemeClr val="bg1"/>
                </a:solidFill>
              </a14:hiddenFill>
            </a:ext>
          </a:extLst>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marL="0" indent="0">
              <a:buNone/>
            </a:pPr>
            <a:r>
              <a:rPr lang="en-US" altLang="en-GB" sz="1800" b="0" dirty="0"/>
              <a:t>* </a:t>
            </a:r>
            <a:r>
              <a:rPr sz="1800" b="0" dirty="0"/>
              <a:t>You can see that the Mentcare</a:t>
            </a:r>
            <a:r>
              <a:rPr lang="en-US" sz="1800" b="0" dirty="0"/>
              <a:t> </a:t>
            </a:r>
            <a:r>
              <a:rPr sz="1800" b="0" dirty="0"/>
              <a:t>system is connected to</a:t>
            </a:r>
            <a:r>
              <a:rPr lang="en-US" sz="1800" b="0" dirty="0"/>
              <a:t> </a:t>
            </a:r>
            <a:r>
              <a:rPr sz="1800" b="0" dirty="0"/>
              <a:t>an</a:t>
            </a:r>
            <a:r>
              <a:rPr lang="en-US" sz="1800" b="0" dirty="0"/>
              <a:t> </a:t>
            </a:r>
            <a:r>
              <a:rPr sz="1800" b="0" dirty="0"/>
              <a:t>appointments system and a more general patient record system with which it</a:t>
            </a:r>
            <a:r>
              <a:rPr lang="en-US" sz="1800" b="0" dirty="0"/>
              <a:t> </a:t>
            </a:r>
            <a:r>
              <a:rPr sz="1800" b="0" dirty="0"/>
              <a:t>shares data. </a:t>
            </a:r>
            <a:endParaRPr lang="en-US" sz="1800" b="0" dirty="0"/>
          </a:p>
        </p:txBody>
      </p:sp>
      <p:sp>
        <p:nvSpPr>
          <p:cNvPr id="9" name="Content Placeholder 2"/>
          <p:cNvSpPr>
            <a:spLocks noGrp="1"/>
          </p:cNvSpPr>
          <p:nvPr/>
        </p:nvSpPr>
        <p:spPr>
          <a:xfrm>
            <a:off x="6523990" y="4389755"/>
            <a:ext cx="2542540" cy="2322195"/>
          </a:xfrm>
          <a:prstGeom prst="rect">
            <a:avLst/>
          </a:prstGeom>
          <a:noFill/>
          <a:extLst>
            <a:ext uri="{909E8E84-426E-40DD-AFC4-6F175D3DCCD1}">
              <a14:hiddenFill xmlns:a14="http://schemas.microsoft.com/office/drawing/2010/main">
                <a:solidFill>
                  <a:schemeClr val="bg1"/>
                </a:solidFill>
              </a14:hiddenFill>
            </a:ext>
          </a:extLst>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marL="0" indent="0">
              <a:buNone/>
            </a:pPr>
            <a:r>
              <a:rPr lang="en-US" altLang="en-GB" sz="1800" b="0" dirty="0"/>
              <a:t>* </a:t>
            </a:r>
            <a:r>
              <a:rPr sz="1800" b="0" dirty="0"/>
              <a:t>The system is also connected to systems for management reporting and</a:t>
            </a:r>
            <a:r>
              <a:rPr lang="en-US" sz="1800" b="0" dirty="0"/>
              <a:t> </a:t>
            </a:r>
            <a:r>
              <a:rPr sz="1800" b="0" dirty="0"/>
              <a:t>hospital admissions, and a statistics system that collects information for research.</a:t>
            </a:r>
            <a:endParaRPr lang="en-US" sz="1800" b="0" dirty="0"/>
          </a:p>
        </p:txBody>
      </p:sp>
      <p:sp>
        <p:nvSpPr>
          <p:cNvPr id="10" name="Content Placeholder 2"/>
          <p:cNvSpPr>
            <a:spLocks noGrp="1"/>
          </p:cNvSpPr>
          <p:nvPr/>
        </p:nvSpPr>
        <p:spPr>
          <a:xfrm>
            <a:off x="3780790" y="5306060"/>
            <a:ext cx="2696845" cy="1170305"/>
          </a:xfrm>
          <a:prstGeom prst="rect">
            <a:avLst/>
          </a:prstGeom>
          <a:noFill/>
          <a:extLst>
            <a:ext uri="{909E8E84-426E-40DD-AFC4-6F175D3DCCD1}">
              <a14:hiddenFill xmlns:a14="http://schemas.microsoft.com/office/drawing/2010/main">
                <a:solidFill>
                  <a:schemeClr val="bg1"/>
                </a:solidFill>
              </a14:hiddenFill>
            </a:ext>
          </a:extLst>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marL="0" indent="0">
              <a:buNone/>
            </a:pPr>
            <a:r>
              <a:rPr lang="en-US" altLang="en-GB" sz="1800" b="0" dirty="0"/>
              <a:t>* </a:t>
            </a:r>
            <a:r>
              <a:rPr sz="1800" b="0" dirty="0"/>
              <a:t>Finally, it makes use of a prescription system to generate prescriptions for patients’</a:t>
            </a:r>
            <a:r>
              <a:rPr lang="en-US" sz="1800" b="0" dirty="0"/>
              <a:t> </a:t>
            </a:r>
            <a:r>
              <a:rPr sz="1800" b="0" dirty="0"/>
              <a:t>medication.</a:t>
            </a:r>
            <a:endParaRPr sz="1800" b="0" dirty="0"/>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67080"/>
            <a:ext cx="8977630" cy="57848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rgbClr val="0070C0"/>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Process perspective</a:t>
            </a:r>
            <a:r>
              <a:rPr lang="en-US" altLang="zh-CN" sz="3200" dirty="0">
                <a:solidFill>
                  <a:schemeClr val="accent1">
                    <a:lumMod val="75000"/>
                  </a:schemeClr>
                </a:solidFill>
                <a:ea typeface="宋体" panose="02010600030101010101" pitchFamily="2" charset="-122"/>
                <a:sym typeface="+mn-ea"/>
              </a:rPr>
              <a:t>   </a:t>
            </a:r>
            <a:r>
              <a:rPr lang="zh-CN" altLang="en-US" sz="2400" kern="1200" dirty="0" smtClean="0">
                <a:solidFill>
                  <a:srgbClr val="C00000"/>
                </a:solidFill>
                <a:latin typeface="黑体" panose="02010609060101010101" pitchFamily="49" charset="-122"/>
                <a:ea typeface="黑体" panose="02010609060101010101" pitchFamily="49" charset="-122"/>
                <a:cs typeface="黑体" panose="02010609060101010101" pitchFamily="49" charset="-122"/>
                <a:sym typeface="+mn-ea"/>
              </a:rPr>
              <a:t>过程视角</a:t>
            </a:r>
            <a:endParaRPr lang="zh-CN" altLang="en-US" sz="3200" dirty="0">
              <a:solidFill>
                <a:schemeClr val="accent1">
                  <a:lumMod val="75000"/>
                </a:schemeClr>
              </a:solidFill>
              <a:ea typeface="宋体" panose="02010600030101010101" pitchFamily="2" charset="-122"/>
              <a:sym typeface="+mn-ea"/>
            </a:endParaRPr>
          </a:p>
        </p:txBody>
      </p:sp>
      <p:sp>
        <p:nvSpPr>
          <p:cNvPr id="4" name="Rectangle 2"/>
          <p:cNvSpPr>
            <a:spLocks noGrp="1"/>
          </p:cNvSpPr>
          <p:nvPr>
            <p:ph type="title"/>
            <p:custDataLst>
              <p:tags r:id="rId2"/>
            </p:custDataLst>
          </p:nvPr>
        </p:nvSpPr>
        <p:spPr>
          <a:xfrm>
            <a:off x="617538" y="198755"/>
            <a:ext cx="455295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5  System modeling</a:t>
            </a:r>
            <a:endParaRPr lang="en-US" altLang="zh-CN" sz="2800" dirty="0">
              <a:solidFill>
                <a:srgbClr val="660066"/>
              </a:solidFill>
              <a:ea typeface="黑体" panose="02010609060101010101" pitchFamily="49" charset="-122"/>
              <a:cs typeface="+mj-lt"/>
            </a:endParaRPr>
          </a:p>
        </p:txBody>
      </p:sp>
      <p:sp>
        <p:nvSpPr>
          <p:cNvPr id="3" name="Content Placeholder 2"/>
          <p:cNvSpPr>
            <a:spLocks noGrp="1"/>
          </p:cNvSpPr>
          <p:nvPr/>
        </p:nvSpPr>
        <p:spPr>
          <a:xfrm>
            <a:off x="61595" y="1313180"/>
            <a:ext cx="9004935" cy="5293995"/>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85000"/>
              </a:lnSpc>
              <a:spcBef>
                <a:spcPts val="800"/>
              </a:spcBef>
              <a:spcAft>
                <a:spcPts val="0"/>
              </a:spcAft>
            </a:pPr>
            <a:r>
              <a:rPr lang="en-US" sz="3100" dirty="0" smtClean="0">
                <a:solidFill>
                  <a:schemeClr val="tx2">
                    <a:lumMod val="75000"/>
                    <a:lumOff val="25000"/>
                  </a:schemeClr>
                </a:solidFill>
                <a:latin typeface="Calibri" panose="020F0502020204030204" charset="0"/>
                <a:cs typeface="Calibri" panose="020F0502020204030204" charset="0"/>
              </a:rPr>
              <a:t> Context models simply show that the environment includes several other automated systems. they do not show the types of relationships between the systems in the environment and the system that is being specified. </a:t>
            </a:r>
            <a:r>
              <a:rPr lang="zh-CN" altLang="en-US" sz="2000" dirty="0" smtClean="0">
                <a:solidFill>
                  <a:srgbClr val="C00000"/>
                </a:solidFill>
                <a:latin typeface="黑体" panose="02010609060101010101" pitchFamily="49" charset="-122"/>
                <a:ea typeface="黑体" panose="02010609060101010101" pitchFamily="49" charset="-122"/>
                <a:cs typeface="黑体" panose="02010609060101010101" pitchFamily="49" charset="-122"/>
              </a:rPr>
              <a:t>上下文模型未展示系统和环境之间的关系的类型</a:t>
            </a:r>
            <a:endParaRPr lang="zh-CN" altLang="en-US" sz="2400" dirty="0" smtClean="0">
              <a:solidFill>
                <a:srgbClr val="C00000"/>
              </a:solidFill>
              <a:latin typeface="黑体" panose="02010609060101010101" pitchFamily="49" charset="-122"/>
              <a:ea typeface="黑体" panose="02010609060101010101" pitchFamily="49" charset="-122"/>
              <a:cs typeface="黑体" panose="02010609060101010101" pitchFamily="49" charset="-122"/>
            </a:endParaRPr>
          </a:p>
          <a:p>
            <a:pPr>
              <a:lnSpc>
                <a:spcPct val="85000"/>
              </a:lnSpc>
              <a:spcBef>
                <a:spcPts val="800"/>
              </a:spcBef>
              <a:spcAft>
                <a:spcPts val="0"/>
              </a:spcAft>
            </a:pPr>
            <a:r>
              <a:rPr lang="en-US" sz="3100" dirty="0" smtClean="0">
                <a:solidFill>
                  <a:schemeClr val="tx2">
                    <a:lumMod val="75000"/>
                    <a:lumOff val="25000"/>
                  </a:schemeClr>
                </a:solidFill>
                <a:latin typeface="Calibri" panose="020F0502020204030204" charset="0"/>
                <a:cs typeface="Calibri" panose="020F0502020204030204" charset="0"/>
              </a:rPr>
              <a:t> Therefore, context models are used along with other models, such as business process models.      </a:t>
            </a:r>
            <a:r>
              <a:rPr lang="zh-CN" altLang="en-US" sz="2000" dirty="0" smtClean="0">
                <a:solidFill>
                  <a:srgbClr val="C00000"/>
                </a:solidFill>
                <a:latin typeface="黑体" panose="02010609060101010101" pitchFamily="49" charset="-122"/>
                <a:ea typeface="黑体" panose="02010609060101010101" pitchFamily="49" charset="-122"/>
                <a:cs typeface="黑体" panose="02010609060101010101" pitchFamily="49" charset="-122"/>
              </a:rPr>
              <a:t>因此，上下文模型要与业务过程模型一起使用</a:t>
            </a:r>
            <a:endParaRPr lang="zh-CN" altLang="en-US" sz="2000" dirty="0" smtClean="0">
              <a:solidFill>
                <a:srgbClr val="C00000"/>
              </a:solidFill>
              <a:latin typeface="黑体" panose="02010609060101010101" pitchFamily="49" charset="-122"/>
              <a:ea typeface="黑体" panose="02010609060101010101" pitchFamily="49" charset="-122"/>
              <a:cs typeface="黑体" panose="02010609060101010101" pitchFamily="49" charset="-122"/>
            </a:endParaRPr>
          </a:p>
          <a:p>
            <a:pPr>
              <a:lnSpc>
                <a:spcPct val="85000"/>
              </a:lnSpc>
              <a:spcBef>
                <a:spcPts val="800"/>
              </a:spcBef>
              <a:spcAft>
                <a:spcPts val="0"/>
              </a:spcAft>
            </a:pPr>
            <a:r>
              <a:rPr lang="en-US" sz="3100" dirty="0" smtClean="0">
                <a:solidFill>
                  <a:schemeClr val="tx2">
                    <a:lumMod val="75000"/>
                    <a:lumOff val="25000"/>
                  </a:schemeClr>
                </a:solidFill>
                <a:latin typeface="Calibri" panose="020F0502020204030204" charset="0"/>
                <a:cs typeface="Calibri" panose="020F0502020204030204" charset="0"/>
              </a:rPr>
              <a:t> UML activity diagrams may be used to show the business processes. </a:t>
            </a:r>
            <a:r>
              <a:rPr lang="en-US" sz="2800" b="0" dirty="0" smtClean="0">
                <a:solidFill>
                  <a:schemeClr val="tx1"/>
                </a:solidFill>
                <a:latin typeface="Calibri" panose="020F0502020204030204" charset="0"/>
                <a:cs typeface="Calibri" panose="020F0502020204030204" charset="0"/>
              </a:rPr>
              <a:t>Figure 5.2 is a UML activity diagram that shows where the Mentcare system is used in an important mental health care process—involuntary detention.   </a:t>
            </a:r>
            <a:r>
              <a:rPr lang="zh-CN" altLang="en-US" sz="2400" dirty="0" smtClean="0">
                <a:solidFill>
                  <a:srgbClr val="C00000"/>
                </a:solidFill>
                <a:latin typeface="黑体" panose="02010609060101010101" pitchFamily="49" charset="-122"/>
                <a:ea typeface="黑体" panose="02010609060101010101" pitchFamily="49" charset="-122"/>
                <a:cs typeface="黑体" panose="02010609060101010101" pitchFamily="49" charset="-122"/>
              </a:rPr>
              <a:t> </a:t>
            </a:r>
            <a:r>
              <a:rPr lang="zh-CN" altLang="en-US" sz="2000" dirty="0" smtClean="0">
                <a:solidFill>
                  <a:srgbClr val="C00000"/>
                </a:solidFill>
                <a:latin typeface="黑体" panose="02010609060101010101" pitchFamily="49" charset="-122"/>
                <a:ea typeface="黑体" panose="02010609060101010101" pitchFamily="49" charset="-122"/>
                <a:cs typeface="黑体" panose="02010609060101010101" pitchFamily="49" charset="-122"/>
              </a:rPr>
              <a:t>UML活动图，用于展示业务过程：非自愿留置</a:t>
            </a:r>
            <a:endParaRPr lang="en-US" sz="2000" dirty="0" smtClean="0">
              <a:solidFill>
                <a:schemeClr val="tx2">
                  <a:lumMod val="75000"/>
                  <a:lumOff val="25000"/>
                </a:schemeClr>
              </a:solidFill>
              <a:latin typeface="Calibri" panose="020F0502020204030204" charset="0"/>
              <a:cs typeface="Calibri" panose="020F0502020204030204" charset="0"/>
            </a:endParaRP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p:cNvPicPr>
            <a:picLocks noChangeAspect="1"/>
          </p:cNvPicPr>
          <p:nvPr/>
        </p:nvPicPr>
        <p:blipFill>
          <a:blip r:embed="rId1"/>
          <a:stretch>
            <a:fillRect/>
          </a:stretch>
        </p:blipFill>
        <p:spPr>
          <a:xfrm>
            <a:off x="66040" y="38100"/>
            <a:ext cx="8999220" cy="4845685"/>
          </a:xfrm>
          <a:prstGeom prst="rect">
            <a:avLst/>
          </a:prstGeom>
        </p:spPr>
      </p:pic>
      <p:pic>
        <p:nvPicPr>
          <p:cNvPr id="6" name="图片 5"/>
          <p:cNvPicPr>
            <a:picLocks noChangeAspect="1"/>
          </p:cNvPicPr>
          <p:nvPr/>
        </p:nvPicPr>
        <p:blipFill>
          <a:blip r:embed="rId2"/>
          <a:stretch>
            <a:fillRect/>
          </a:stretch>
        </p:blipFill>
        <p:spPr>
          <a:xfrm>
            <a:off x="6372860" y="335280"/>
            <a:ext cx="2284730" cy="890270"/>
          </a:xfrm>
          <a:prstGeom prst="rect">
            <a:avLst/>
          </a:prstGeom>
        </p:spPr>
      </p:pic>
      <p:sp>
        <p:nvSpPr>
          <p:cNvPr id="7" name="Content Placeholder 2"/>
          <p:cNvSpPr>
            <a:spLocks noGrp="1"/>
          </p:cNvSpPr>
          <p:nvPr/>
        </p:nvSpPr>
        <p:spPr>
          <a:xfrm>
            <a:off x="80010" y="4884420"/>
            <a:ext cx="8984615" cy="1934845"/>
          </a:xfrm>
          <a:prstGeom prst="rect">
            <a:avLst/>
          </a:prstGeom>
          <a:noFill/>
          <a:extLst>
            <a:ext uri="{909E8E84-426E-40DD-AFC4-6F175D3DCCD1}">
              <a14:hiddenFill xmlns:a14="http://schemas.microsoft.com/office/drawing/2010/main">
                <a:solidFill>
                  <a:schemeClr val="bg1"/>
                </a:solidFill>
              </a14:hiddenFill>
            </a:ext>
          </a:extLst>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marL="0" indent="0">
              <a:lnSpc>
                <a:spcPct val="85000"/>
              </a:lnSpc>
              <a:spcBef>
                <a:spcPts val="300"/>
              </a:spcBef>
              <a:spcAft>
                <a:spcPts val="0"/>
              </a:spcAft>
              <a:buNone/>
            </a:pPr>
            <a:r>
              <a:rPr lang="en-US" altLang="en-GB" sz="1600" b="0" dirty="0">
                <a:sym typeface="Symbol" panose="05050102010706020507" charset="0"/>
              </a:rPr>
              <a:t> </a:t>
            </a:r>
            <a:r>
              <a:rPr sz="1600" b="0" dirty="0"/>
              <a:t>UML activity diagrams show the activities in a process and the </a:t>
            </a:r>
            <a:r>
              <a:rPr sz="1600" b="0" u="sng" dirty="0"/>
              <a:t>flow of control</a:t>
            </a:r>
            <a:r>
              <a:rPr lang="en-US" sz="1600" b="0" dirty="0"/>
              <a:t> </a:t>
            </a:r>
            <a:r>
              <a:rPr sz="1600" b="0" dirty="0"/>
              <a:t>from one activity to another. The </a:t>
            </a:r>
            <a:r>
              <a:rPr sz="1600" b="0" u="sng" dirty="0"/>
              <a:t>start</a:t>
            </a:r>
            <a:r>
              <a:rPr sz="1600" b="0" dirty="0"/>
              <a:t> of a process is indicated by a </a:t>
            </a:r>
            <a:r>
              <a:rPr sz="1600" b="0" u="sng" dirty="0"/>
              <a:t>filled circle</a:t>
            </a:r>
            <a:r>
              <a:rPr sz="1600" b="0" dirty="0"/>
              <a:t>, the</a:t>
            </a:r>
            <a:r>
              <a:rPr lang="en-US" sz="1600" b="0" dirty="0"/>
              <a:t> </a:t>
            </a:r>
            <a:r>
              <a:rPr sz="1600" b="0" u="sng" dirty="0"/>
              <a:t>end</a:t>
            </a:r>
            <a:r>
              <a:rPr sz="1600" b="0" dirty="0"/>
              <a:t> by a filled </a:t>
            </a:r>
            <a:r>
              <a:rPr sz="1600" b="0" u="sng" dirty="0"/>
              <a:t>circle inside another circle</a:t>
            </a:r>
            <a:r>
              <a:rPr sz="1600" b="0" dirty="0"/>
              <a:t>. </a:t>
            </a:r>
            <a:r>
              <a:rPr sz="1600" b="0" u="sng" dirty="0"/>
              <a:t>Rectangles with round corners</a:t>
            </a:r>
            <a:r>
              <a:rPr sz="1600" b="0" dirty="0"/>
              <a:t> represent</a:t>
            </a:r>
            <a:r>
              <a:rPr lang="en-US" sz="1600" b="0" dirty="0"/>
              <a:t> </a:t>
            </a:r>
            <a:r>
              <a:rPr sz="1600" b="0" u="sng" dirty="0"/>
              <a:t>activities</a:t>
            </a:r>
            <a:r>
              <a:rPr sz="1600" b="0" dirty="0"/>
              <a:t>. </a:t>
            </a:r>
            <a:r>
              <a:rPr lang="en-US" sz="1600" b="0" u="sng" dirty="0"/>
              <a:t>Objects</a:t>
            </a:r>
            <a:r>
              <a:rPr lang="en-US" sz="1600" b="0" dirty="0"/>
              <a:t> </a:t>
            </a:r>
            <a:r>
              <a:rPr sz="1600" b="0" dirty="0"/>
              <a:t>are separate systems </a:t>
            </a:r>
            <a:r>
              <a:rPr lang="en-US" sz="1600" b="0" dirty="0"/>
              <a:t>shown </a:t>
            </a:r>
            <a:r>
              <a:rPr sz="1600" b="0" dirty="0"/>
              <a:t>by using </a:t>
            </a:r>
            <a:r>
              <a:rPr lang="en-US" sz="1600" b="0" dirty="0"/>
              <a:t>The </a:t>
            </a:r>
            <a:r>
              <a:rPr sz="1600" b="0" dirty="0"/>
              <a:t>UML</a:t>
            </a:r>
            <a:r>
              <a:rPr lang="en-US" sz="1600" b="0" dirty="0"/>
              <a:t> </a:t>
            </a:r>
            <a:r>
              <a:rPr sz="1600" b="0" dirty="0"/>
              <a:t>stereotype feature where the </a:t>
            </a:r>
            <a:r>
              <a:rPr sz="1600" b="0" u="sng" dirty="0"/>
              <a:t>type of entity in</a:t>
            </a:r>
            <a:r>
              <a:rPr lang="en-US" sz="1600" b="0" u="sng" dirty="0"/>
              <a:t> </a:t>
            </a:r>
            <a:r>
              <a:rPr sz="1600" b="0" u="sng" dirty="0"/>
              <a:t>the box between </a:t>
            </a:r>
            <a:r>
              <a:rPr lang="en-US" sz="1600" b="0" u="sng" dirty="0"/>
              <a:t>&lt;&lt;&gt;&gt;</a:t>
            </a:r>
            <a:r>
              <a:rPr sz="1600" b="0" u="sng" dirty="0"/>
              <a:t> </a:t>
            </a:r>
            <a:r>
              <a:rPr sz="1600" b="0" dirty="0"/>
              <a:t>is shown. </a:t>
            </a:r>
            <a:r>
              <a:rPr sz="1600" b="0" u="sng" dirty="0"/>
              <a:t>Arrows</a:t>
            </a:r>
            <a:r>
              <a:rPr sz="1600" b="0" dirty="0"/>
              <a:t> represent the </a:t>
            </a:r>
            <a:r>
              <a:rPr sz="1600" b="0" u="sng" dirty="0"/>
              <a:t>flow of work</a:t>
            </a:r>
            <a:r>
              <a:rPr sz="1600" b="0" dirty="0"/>
              <a:t> from one activity to another, and a </a:t>
            </a:r>
            <a:r>
              <a:rPr sz="1600" b="0" u="sng" dirty="0"/>
              <a:t>solid bar</a:t>
            </a:r>
            <a:r>
              <a:rPr lang="en-US" sz="1600" b="0" dirty="0"/>
              <a:t> indicates </a:t>
            </a:r>
            <a:r>
              <a:rPr lang="en-US" sz="1600" b="0" u="sng" dirty="0"/>
              <a:t>activity coordination</a:t>
            </a:r>
            <a:r>
              <a:rPr lang="en-US" sz="1600" b="0" dirty="0"/>
              <a:t>. When the flow from more than one activity leads to a solid bar, then all of these activities must be </a:t>
            </a:r>
            <a:r>
              <a:rPr lang="en-US" sz="1600" b="0" u="sng" dirty="0"/>
              <a:t>complete</a:t>
            </a:r>
            <a:r>
              <a:rPr lang="en-US" sz="1600" b="0" dirty="0"/>
              <a:t> before progress. When the flow from a solid bar leads to a number of activities, these may be executed in </a:t>
            </a:r>
            <a:r>
              <a:rPr lang="en-US" sz="1600" b="0" u="sng" dirty="0"/>
              <a:t>parallel</a:t>
            </a:r>
            <a:r>
              <a:rPr lang="en-US" sz="1600" b="0" dirty="0"/>
              <a:t>. Arrows may be annotated with </a:t>
            </a:r>
            <a:r>
              <a:rPr lang="en-US" sz="1600" b="0" u="sng" dirty="0"/>
              <a:t>guards</a:t>
            </a:r>
            <a:r>
              <a:rPr lang="en-US" sz="1600" b="0" dirty="0"/>
              <a:t> (in square brackets) that specify when that flow is followed.   </a:t>
            </a:r>
            <a:r>
              <a:rPr lang="zh-CN" altLang="en-US" sz="1600" dirty="0">
                <a:solidFill>
                  <a:schemeClr val="accent5">
                    <a:lumMod val="50000"/>
                  </a:schemeClr>
                </a:solidFill>
                <a:latin typeface="黑体" panose="02010609060101010101" pitchFamily="49" charset="-122"/>
                <a:ea typeface="黑体" panose="02010609060101010101" pitchFamily="49" charset="-122"/>
              </a:rPr>
              <a:t>活动图中各种符号的解释</a:t>
            </a:r>
            <a:endParaRPr lang="zh-CN" altLang="en-US" sz="1600" dirty="0">
              <a:solidFill>
                <a:schemeClr val="accent5">
                  <a:lumMod val="50000"/>
                </a:schemeClr>
              </a:solidFill>
              <a:latin typeface="黑体" panose="02010609060101010101" pitchFamily="49" charset="-122"/>
              <a:ea typeface="黑体" panose="02010609060101010101" pitchFamily="49" charset="-122"/>
            </a:endParaRP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10565"/>
            <a:ext cx="8977630" cy="56832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zh-CN" altLang="en-US" sz="3200" dirty="0">
                <a:solidFill>
                  <a:schemeClr val="accent1">
                    <a:lumMod val="75000"/>
                  </a:schemeClr>
                </a:solidFill>
                <a:ea typeface="宋体" panose="02010600030101010101" pitchFamily="2" charset="-122"/>
                <a:sym typeface="+mn-ea"/>
              </a:rPr>
              <a:t> 5.2 Interaction models</a:t>
            </a:r>
            <a:r>
              <a:rPr lang="en-US" altLang="zh-CN" sz="3200" dirty="0">
                <a:solidFill>
                  <a:schemeClr val="accent1">
                    <a:lumMod val="75000"/>
                  </a:schemeClr>
                </a:solidFill>
                <a:ea typeface="宋体" panose="02010600030101010101" pitchFamily="2" charset="-122"/>
                <a:sym typeface="+mn-ea"/>
              </a:rPr>
              <a:t>   </a:t>
            </a:r>
            <a:r>
              <a:rPr lang="zh-CN" altLang="en-US" dirty="0">
                <a:solidFill>
                  <a:schemeClr val="accent1">
                    <a:lumMod val="75000"/>
                  </a:schemeClr>
                </a:solidFill>
                <a:latin typeface="黑体" panose="02010609060101010101" pitchFamily="49" charset="-122"/>
                <a:ea typeface="黑体" panose="02010609060101010101" pitchFamily="49" charset="-122"/>
                <a:sym typeface="+mn-ea"/>
              </a:rPr>
              <a:t>交互模型</a:t>
            </a:r>
            <a:endParaRPr lang="zh-CN" altLang="en-US" dirty="0">
              <a:solidFill>
                <a:schemeClr val="accent1">
                  <a:lumMod val="75000"/>
                </a:schemeClr>
              </a:solidFill>
              <a:latin typeface="黑体" panose="02010609060101010101" pitchFamily="49" charset="-122"/>
              <a:ea typeface="黑体" panose="02010609060101010101" pitchFamily="49" charset="-122"/>
              <a:sym typeface="+mn-ea"/>
            </a:endParaRPr>
          </a:p>
        </p:txBody>
      </p:sp>
      <p:sp>
        <p:nvSpPr>
          <p:cNvPr id="4" name="Rectangle 2"/>
          <p:cNvSpPr>
            <a:spLocks noGrp="1"/>
          </p:cNvSpPr>
          <p:nvPr>
            <p:ph type="title"/>
            <p:custDataLst>
              <p:tags r:id="rId2"/>
            </p:custDataLst>
          </p:nvPr>
        </p:nvSpPr>
        <p:spPr>
          <a:xfrm>
            <a:off x="617538" y="198755"/>
            <a:ext cx="455295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5  System modeling</a:t>
            </a:r>
            <a:endParaRPr lang="en-US" altLang="zh-CN" sz="2800" dirty="0">
              <a:solidFill>
                <a:srgbClr val="660066"/>
              </a:solidFill>
              <a:ea typeface="黑体" panose="02010609060101010101" pitchFamily="49" charset="-122"/>
              <a:cs typeface="+mj-lt"/>
            </a:endParaRPr>
          </a:p>
        </p:txBody>
      </p:sp>
      <p:sp>
        <p:nvSpPr>
          <p:cNvPr id="3" name="Content Placeholder 2"/>
          <p:cNvSpPr>
            <a:spLocks noGrp="1"/>
          </p:cNvSpPr>
          <p:nvPr/>
        </p:nvSpPr>
        <p:spPr>
          <a:xfrm>
            <a:off x="74930" y="1241425"/>
            <a:ext cx="8991600" cy="5399405"/>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85000"/>
              </a:lnSpc>
              <a:spcAft>
                <a:spcPts val="0"/>
              </a:spcAft>
            </a:pPr>
            <a:r>
              <a:rPr lang="en-US" sz="2900" dirty="0" smtClean="0">
                <a:solidFill>
                  <a:schemeClr val="tx2">
                    <a:lumMod val="75000"/>
                    <a:lumOff val="25000"/>
                  </a:schemeClr>
                </a:solidFill>
                <a:latin typeface="Calibri" panose="020F0502020204030204" charset="0"/>
                <a:cs typeface="Calibri" panose="020F0502020204030204" charset="0"/>
              </a:rPr>
              <a:t> User interaction modeling is important as it helps to identify user requirements. </a:t>
            </a:r>
            <a:r>
              <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rPr>
              <a:t>用户交互:重要,有助于识别用户需求</a:t>
            </a:r>
            <a:endPar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endParaRPr>
          </a:p>
          <a:p>
            <a:pPr>
              <a:lnSpc>
                <a:spcPct val="85000"/>
              </a:lnSpc>
              <a:spcAft>
                <a:spcPts val="0"/>
              </a:spcAft>
            </a:pPr>
            <a:r>
              <a:rPr lang="en-US" sz="3000" dirty="0" smtClean="0">
                <a:solidFill>
                  <a:schemeClr val="tx2">
                    <a:lumMod val="75000"/>
                    <a:lumOff val="25000"/>
                  </a:schemeClr>
                </a:solidFill>
                <a:latin typeface="Calibri" panose="020F0502020204030204" charset="0"/>
                <a:cs typeface="Calibri" panose="020F0502020204030204" charset="0"/>
              </a:rPr>
              <a:t> Modeling system-to-system interaction highlights the communication problems.  </a:t>
            </a:r>
            <a:r>
              <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rPr>
              <a:t>系统间交互：突出通信问题</a:t>
            </a:r>
            <a:endPar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endParaRPr>
          </a:p>
          <a:p>
            <a:pPr>
              <a:lnSpc>
                <a:spcPct val="85000"/>
              </a:lnSpc>
              <a:spcAft>
                <a:spcPts val="0"/>
              </a:spcAft>
            </a:pPr>
            <a:r>
              <a:rPr lang="en-US" sz="2900" dirty="0" smtClean="0">
                <a:solidFill>
                  <a:schemeClr val="tx2">
                    <a:lumMod val="75000"/>
                    <a:lumOff val="25000"/>
                  </a:schemeClr>
                </a:solidFill>
                <a:latin typeface="Calibri" panose="020F0502020204030204" charset="0"/>
                <a:cs typeface="Calibri" panose="020F0502020204030204" charset="0"/>
              </a:rPr>
              <a:t> Modeling component interaction helps us understand if a proposed system structure is likely to deliver the required system performance and dependability.          </a:t>
            </a:r>
            <a:r>
              <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rPr>
              <a:t>组件间交互：有助于理解是否可以交付所要求的性能和可依赖性</a:t>
            </a:r>
            <a:endPar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endParaRPr>
          </a:p>
          <a:p>
            <a:pPr>
              <a:lnSpc>
                <a:spcPct val="85000"/>
              </a:lnSpc>
              <a:spcAft>
                <a:spcPts val="0"/>
              </a:spcAft>
            </a:pPr>
            <a:r>
              <a:rPr lang="en-US" sz="2900" dirty="0" smtClean="0">
                <a:solidFill>
                  <a:schemeClr val="tx2">
                    <a:lumMod val="75000"/>
                    <a:lumOff val="25000"/>
                  </a:schemeClr>
                </a:solidFill>
                <a:latin typeface="Calibri" panose="020F0502020204030204" charset="0"/>
                <a:cs typeface="Calibri" panose="020F0502020204030204" charset="0"/>
              </a:rPr>
              <a:t>This section discusses two related approaches to interaction modeling: </a:t>
            </a:r>
            <a:r>
              <a:rPr lang="en-US" sz="2700" dirty="0" smtClean="0">
                <a:solidFill>
                  <a:schemeClr val="tx1"/>
                </a:solidFill>
                <a:latin typeface="Calibri" panose="020F0502020204030204" charset="0"/>
                <a:cs typeface="Calibri" panose="020F0502020204030204" charset="0"/>
              </a:rPr>
              <a:t>Use case modeling</a:t>
            </a:r>
            <a:r>
              <a:rPr lang="en-US" sz="2700" b="0" dirty="0" smtClean="0">
                <a:solidFill>
                  <a:schemeClr val="tx1"/>
                </a:solidFill>
                <a:latin typeface="Calibri" panose="020F0502020204030204" charset="0"/>
                <a:cs typeface="Calibri" panose="020F0502020204030204" charset="0"/>
              </a:rPr>
              <a:t>, which is mostly used to model interactions between a system and external agents; </a:t>
            </a:r>
            <a:r>
              <a:rPr lang="en-US" sz="2700" dirty="0" smtClean="0">
                <a:solidFill>
                  <a:schemeClr val="tx1"/>
                </a:solidFill>
                <a:latin typeface="Calibri" panose="020F0502020204030204" charset="0"/>
                <a:cs typeface="Calibri" panose="020F0502020204030204" charset="0"/>
              </a:rPr>
              <a:t>Sequence diagrams</a:t>
            </a:r>
            <a:r>
              <a:rPr lang="en-US" sz="2700" b="0" dirty="0" smtClean="0">
                <a:solidFill>
                  <a:schemeClr val="tx1"/>
                </a:solidFill>
                <a:latin typeface="Calibri" panose="020F0502020204030204" charset="0"/>
                <a:cs typeface="Calibri" panose="020F0502020204030204" charset="0"/>
              </a:rPr>
              <a:t>, which are used to model interactions between system components, although external agents may also be included.  </a:t>
            </a:r>
            <a:r>
              <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rPr>
              <a:t>两种交互模型：用例建模和顺序图</a:t>
            </a:r>
            <a:endPar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endParaRP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84860"/>
            <a:ext cx="8977630" cy="55245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rgbClr val="0070C0"/>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Use case modeling</a:t>
            </a:r>
            <a:r>
              <a:rPr lang="en-US" altLang="zh-CN" sz="3200" dirty="0">
                <a:solidFill>
                  <a:schemeClr val="accent1">
                    <a:lumMod val="75000"/>
                  </a:schemeClr>
                </a:solidFill>
                <a:ea typeface="宋体" panose="02010600030101010101" pitchFamily="2" charset="-122"/>
                <a:sym typeface="+mn-ea"/>
              </a:rPr>
              <a:t>   </a:t>
            </a:r>
            <a:r>
              <a:rPr lang="zh-CN" altLang="en-US" dirty="0">
                <a:solidFill>
                  <a:schemeClr val="accent1">
                    <a:lumMod val="75000"/>
                  </a:schemeClr>
                </a:solidFill>
                <a:latin typeface="黑体" panose="02010609060101010101" pitchFamily="49" charset="-122"/>
                <a:ea typeface="黑体" panose="02010609060101010101" pitchFamily="49" charset="-122"/>
                <a:sym typeface="+mn-ea"/>
              </a:rPr>
              <a:t>用例建模</a:t>
            </a:r>
            <a:endParaRPr lang="zh-CN" altLang="en-US" dirty="0">
              <a:solidFill>
                <a:schemeClr val="accent1">
                  <a:lumMod val="75000"/>
                </a:schemeClr>
              </a:solidFill>
              <a:latin typeface="黑体" panose="02010609060101010101" pitchFamily="49" charset="-122"/>
              <a:ea typeface="黑体" panose="02010609060101010101" pitchFamily="49" charset="-122"/>
              <a:sym typeface="+mn-ea"/>
            </a:endParaRPr>
          </a:p>
        </p:txBody>
      </p:sp>
      <p:sp>
        <p:nvSpPr>
          <p:cNvPr id="4" name="Rectangle 2"/>
          <p:cNvSpPr>
            <a:spLocks noGrp="1"/>
          </p:cNvSpPr>
          <p:nvPr>
            <p:ph type="title"/>
            <p:custDataLst>
              <p:tags r:id="rId2"/>
            </p:custDataLst>
          </p:nvPr>
        </p:nvSpPr>
        <p:spPr>
          <a:xfrm>
            <a:off x="617538" y="198755"/>
            <a:ext cx="455295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5  System modeling</a:t>
            </a:r>
            <a:endParaRPr lang="en-US" altLang="zh-CN" sz="2800" dirty="0">
              <a:solidFill>
                <a:srgbClr val="660066"/>
              </a:solidFill>
              <a:ea typeface="黑体" panose="02010609060101010101" pitchFamily="49" charset="-122"/>
              <a:cs typeface="+mj-lt"/>
            </a:endParaRPr>
          </a:p>
        </p:txBody>
      </p:sp>
      <p:sp>
        <p:nvSpPr>
          <p:cNvPr id="3" name="Content Placeholder 2"/>
          <p:cNvSpPr>
            <a:spLocks noGrp="1"/>
          </p:cNvSpPr>
          <p:nvPr/>
        </p:nvSpPr>
        <p:spPr>
          <a:xfrm>
            <a:off x="70485" y="1384935"/>
            <a:ext cx="8996680" cy="5023485"/>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85000"/>
              </a:lnSpc>
              <a:spcAft>
                <a:spcPts val="0"/>
              </a:spcAft>
            </a:pPr>
            <a:r>
              <a:rPr lang="en-US" sz="3200" dirty="0" smtClean="0">
                <a:solidFill>
                  <a:schemeClr val="tx2">
                    <a:lumMod val="75000"/>
                    <a:lumOff val="25000"/>
                  </a:schemeClr>
                </a:solidFill>
                <a:latin typeface="Calibri" panose="020F0502020204030204" charset="0"/>
                <a:cs typeface="Calibri" panose="020F0502020204030204" charset="0"/>
              </a:rPr>
              <a:t> Use cases were developed originally to support requirements elicitation and now incorporated into the UML.  </a:t>
            </a:r>
            <a:r>
              <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rPr>
              <a:t>用于需求抽取</a:t>
            </a:r>
            <a:endParaRPr lang="en-US" sz="2000" dirty="0" smtClean="0">
              <a:solidFill>
                <a:schemeClr val="tx2">
                  <a:lumMod val="75000"/>
                  <a:lumOff val="25000"/>
                </a:schemeClr>
              </a:solidFill>
              <a:latin typeface="Calibri" panose="020F0502020204030204" charset="0"/>
              <a:cs typeface="Calibri" panose="020F0502020204030204" charset="0"/>
            </a:endParaRPr>
          </a:p>
          <a:p>
            <a:pPr>
              <a:lnSpc>
                <a:spcPct val="85000"/>
              </a:lnSpc>
              <a:spcAft>
                <a:spcPts val="0"/>
              </a:spcAft>
            </a:pPr>
            <a:r>
              <a:rPr lang="en-US" sz="3200" dirty="0" smtClean="0">
                <a:solidFill>
                  <a:schemeClr val="tx2">
                    <a:lumMod val="75000"/>
                    <a:lumOff val="25000"/>
                  </a:schemeClr>
                </a:solidFill>
                <a:latin typeface="Calibri" panose="020F0502020204030204" charset="0"/>
                <a:cs typeface="Calibri" panose="020F0502020204030204" charset="0"/>
              </a:rPr>
              <a:t> Each use case represents a discrete task that involves external interaction with a system. </a:t>
            </a:r>
            <a:r>
              <a:rPr lang="en-US" sz="2800" b="0" dirty="0" smtClean="0">
                <a:solidFill>
                  <a:schemeClr val="tx1"/>
                </a:solidFill>
                <a:latin typeface="Calibri" panose="020F0502020204030204" charset="0"/>
                <a:cs typeface="Calibri" panose="020F0502020204030204" charset="0"/>
              </a:rPr>
              <a:t>In its simplest form, a use case is shown as an </a:t>
            </a:r>
            <a:r>
              <a:rPr lang="en-US" sz="2800" b="0" u="sng" dirty="0" smtClean="0">
                <a:solidFill>
                  <a:schemeClr val="tx1"/>
                </a:solidFill>
                <a:latin typeface="Calibri" panose="020F0502020204030204" charset="0"/>
                <a:cs typeface="Calibri" panose="020F0502020204030204" charset="0"/>
              </a:rPr>
              <a:t>ellipse</a:t>
            </a:r>
            <a:r>
              <a:rPr lang="en-US" sz="2800" b="0" dirty="0" smtClean="0">
                <a:solidFill>
                  <a:schemeClr val="tx1"/>
                </a:solidFill>
                <a:latin typeface="Calibri" panose="020F0502020204030204" charset="0"/>
                <a:cs typeface="Calibri" panose="020F0502020204030204" charset="0"/>
              </a:rPr>
              <a:t>, with the actors involved in the use case represented as </a:t>
            </a:r>
            <a:r>
              <a:rPr lang="en-US" sz="2800" b="0" u="sng" dirty="0" smtClean="0">
                <a:solidFill>
                  <a:schemeClr val="tx1"/>
                </a:solidFill>
                <a:latin typeface="Calibri" panose="020F0502020204030204" charset="0"/>
                <a:cs typeface="Calibri" panose="020F0502020204030204" charset="0"/>
              </a:rPr>
              <a:t>stick figures</a:t>
            </a:r>
            <a:r>
              <a:rPr lang="en-US" sz="2800" b="0" dirty="0" smtClean="0">
                <a:solidFill>
                  <a:schemeClr val="tx1"/>
                </a:solidFill>
                <a:latin typeface="Calibri" panose="020F0502020204030204" charset="0"/>
                <a:cs typeface="Calibri" panose="020F0502020204030204" charset="0"/>
              </a:rPr>
              <a:t>.  </a:t>
            </a:r>
            <a:r>
              <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sym typeface="+mn-ea"/>
              </a:rPr>
              <a:t>每个用例是一个离散的任务，涉及与系统的外部交互</a:t>
            </a:r>
            <a:endPar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endParaRPr>
          </a:p>
          <a:p>
            <a:pPr>
              <a:lnSpc>
                <a:spcPct val="85000"/>
              </a:lnSpc>
              <a:spcAft>
                <a:spcPts val="0"/>
              </a:spcAft>
            </a:pPr>
            <a:r>
              <a:rPr lang="en-US" sz="3200" dirty="0" smtClean="0">
                <a:solidFill>
                  <a:schemeClr val="tx2">
                    <a:lumMod val="75000"/>
                    <a:lumOff val="25000"/>
                  </a:schemeClr>
                </a:solidFill>
                <a:latin typeface="Calibri" panose="020F0502020204030204" charset="0"/>
                <a:cs typeface="Calibri" panose="020F0502020204030204" charset="0"/>
              </a:rPr>
              <a:t> Figure 5.3 shows a use case from the Mentcare system that represents the task of uploading data from Mentcare system to a more general patient record system.  </a:t>
            </a:r>
            <a:r>
              <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rPr>
              <a:t>例子</a:t>
            </a:r>
            <a:r>
              <a:rPr lang="en-US" altLang="zh-CN" sz="2000" kern="0" dirty="0">
                <a:solidFill>
                  <a:schemeClr val="accent1">
                    <a:lumMod val="75000"/>
                  </a:schemeClr>
                </a:solidFill>
                <a:latin typeface="黑体" panose="02010609060101010101" pitchFamily="49" charset="-122"/>
                <a:ea typeface="黑体" panose="02010609060101010101" pitchFamily="49" charset="-122"/>
                <a:cs typeface="+mn-cs"/>
              </a:rPr>
              <a:t>:</a:t>
            </a:r>
            <a:r>
              <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rPr>
              <a:t>从</a:t>
            </a:r>
            <a:r>
              <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sym typeface="+mn-ea"/>
              </a:rPr>
              <a:t>Mentcare向更通用病例系统上传数据</a:t>
            </a:r>
            <a:endPar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endParaRPr>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46125"/>
            <a:ext cx="8977630" cy="62039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rgbClr val="0070C0"/>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Transfer-data use case</a:t>
            </a:r>
            <a:endParaRPr lang="zh-CN" altLang="en-US" sz="3200" dirty="0">
              <a:solidFill>
                <a:schemeClr val="accent1">
                  <a:lumMod val="75000"/>
                </a:schemeClr>
              </a:solidFill>
              <a:ea typeface="宋体" panose="02010600030101010101" pitchFamily="2" charset="-122"/>
              <a:sym typeface="+mn-ea"/>
            </a:endParaRPr>
          </a:p>
        </p:txBody>
      </p:sp>
      <p:sp>
        <p:nvSpPr>
          <p:cNvPr id="4" name="Rectangle 2"/>
          <p:cNvSpPr>
            <a:spLocks noGrp="1"/>
          </p:cNvSpPr>
          <p:nvPr>
            <p:ph type="title"/>
            <p:custDataLst>
              <p:tags r:id="rId2"/>
            </p:custDataLst>
          </p:nvPr>
        </p:nvSpPr>
        <p:spPr>
          <a:xfrm>
            <a:off x="617538" y="198755"/>
            <a:ext cx="455295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5  System modeling</a:t>
            </a:r>
            <a:endParaRPr lang="en-US" altLang="zh-CN" sz="2800" dirty="0">
              <a:solidFill>
                <a:srgbClr val="660066"/>
              </a:solidFill>
              <a:ea typeface="黑体" panose="02010609060101010101" pitchFamily="49" charset="-122"/>
              <a:cs typeface="+mj-lt"/>
            </a:endParaRPr>
          </a:p>
        </p:txBody>
      </p:sp>
      <p:sp>
        <p:nvSpPr>
          <p:cNvPr id="5" name="Content Placeholder 2"/>
          <p:cNvSpPr>
            <a:spLocks noGrp="1"/>
          </p:cNvSpPr>
          <p:nvPr/>
        </p:nvSpPr>
        <p:spPr>
          <a:xfrm>
            <a:off x="88900" y="2891790"/>
            <a:ext cx="8964295" cy="1755140"/>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marL="0" indent="0">
              <a:lnSpc>
                <a:spcPct val="85000"/>
              </a:lnSpc>
              <a:spcBef>
                <a:spcPts val="500"/>
              </a:spcBef>
              <a:spcAft>
                <a:spcPts val="0"/>
              </a:spcAft>
              <a:buNone/>
            </a:pPr>
            <a:r>
              <a:rPr lang="en-US" sz="2000" b="0" dirty="0" smtClean="0">
                <a:solidFill>
                  <a:schemeClr val="tx1"/>
                </a:solidFill>
                <a:latin typeface="Calibri" panose="020F0502020204030204" charset="0"/>
                <a:cs typeface="Calibri" panose="020F0502020204030204" charset="0"/>
              </a:rPr>
              <a:t>* Notice that there are two actors in this use case—the operator who is transferring the data, and the patient record system.  </a:t>
            </a:r>
            <a:r>
              <a:rPr lang="zh-CN" altLang="en-US" sz="2000" b="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rPr>
              <a:t>两个参与者</a:t>
            </a:r>
            <a:r>
              <a:rPr lang="en-US" altLang="zh-CN" sz="2000" b="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rPr>
              <a:t>:</a:t>
            </a:r>
            <a:r>
              <a:rPr lang="zh-CN" altLang="en-US" sz="2000" b="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rPr>
              <a:t>医疗接待员、病例系统</a:t>
            </a:r>
            <a:endParaRPr lang="en-US" sz="2000" b="0" dirty="0" smtClean="0">
              <a:solidFill>
                <a:schemeClr val="tx1"/>
              </a:solidFill>
              <a:latin typeface="Calibri" panose="020F0502020204030204" charset="0"/>
              <a:cs typeface="Calibri" panose="020F0502020204030204" charset="0"/>
            </a:endParaRPr>
          </a:p>
          <a:p>
            <a:pPr marL="0" indent="0">
              <a:lnSpc>
                <a:spcPct val="85000"/>
              </a:lnSpc>
              <a:spcBef>
                <a:spcPts val="500"/>
              </a:spcBef>
              <a:spcAft>
                <a:spcPts val="0"/>
              </a:spcAft>
              <a:buNone/>
            </a:pPr>
            <a:r>
              <a:rPr lang="en-US" sz="2000" b="0" dirty="0" smtClean="0">
                <a:solidFill>
                  <a:schemeClr val="tx1"/>
                </a:solidFill>
                <a:latin typeface="Calibri" panose="020F0502020204030204" charset="0"/>
                <a:cs typeface="Calibri" panose="020F0502020204030204" charset="0"/>
              </a:rPr>
              <a:t>* The </a:t>
            </a:r>
            <a:r>
              <a:rPr lang="en-US" sz="2000" b="0" u="sng" dirty="0" smtClean="0">
                <a:solidFill>
                  <a:schemeClr val="tx1"/>
                </a:solidFill>
                <a:latin typeface="Calibri" panose="020F0502020204030204" charset="0"/>
                <a:cs typeface="Calibri" panose="020F0502020204030204" charset="0"/>
              </a:rPr>
              <a:t>stick figure</a:t>
            </a:r>
            <a:r>
              <a:rPr lang="en-US" sz="2000" b="0" dirty="0" smtClean="0">
                <a:solidFill>
                  <a:schemeClr val="tx1"/>
                </a:solidFill>
                <a:latin typeface="Calibri" panose="020F0502020204030204" charset="0"/>
                <a:cs typeface="Calibri" panose="020F0502020204030204" charset="0"/>
              </a:rPr>
              <a:t> notation was originally developed to cover human interaction, but it is also used to represent other external systems and hardware. </a:t>
            </a:r>
            <a:endParaRPr lang="en-US" sz="2000" b="0" dirty="0" smtClean="0">
              <a:solidFill>
                <a:schemeClr val="tx1"/>
              </a:solidFill>
              <a:latin typeface="Calibri" panose="020F0502020204030204" charset="0"/>
              <a:cs typeface="Calibri" panose="020F0502020204030204" charset="0"/>
            </a:endParaRPr>
          </a:p>
          <a:p>
            <a:pPr marL="0" indent="0">
              <a:lnSpc>
                <a:spcPct val="85000"/>
              </a:lnSpc>
              <a:spcBef>
                <a:spcPts val="500"/>
              </a:spcBef>
              <a:spcAft>
                <a:spcPts val="0"/>
              </a:spcAft>
              <a:buNone/>
            </a:pPr>
            <a:r>
              <a:rPr lang="en-US" sz="2000" b="0" dirty="0" smtClean="0">
                <a:solidFill>
                  <a:schemeClr val="tx1"/>
                </a:solidFill>
                <a:latin typeface="Calibri" panose="020F0502020204030204" charset="0"/>
                <a:cs typeface="Calibri" panose="020F0502020204030204" charset="0"/>
              </a:rPr>
              <a:t>* The </a:t>
            </a:r>
            <a:r>
              <a:rPr lang="en-US" sz="2000" b="0" u="sng" dirty="0" smtClean="0">
                <a:solidFill>
                  <a:schemeClr val="tx1"/>
                </a:solidFill>
                <a:latin typeface="Calibri" panose="020F0502020204030204" charset="0"/>
                <a:cs typeface="Calibri" panose="020F0502020204030204" charset="0"/>
              </a:rPr>
              <a:t>arrows</a:t>
            </a:r>
            <a:r>
              <a:rPr lang="en-US" sz="2000" b="0" dirty="0" smtClean="0">
                <a:solidFill>
                  <a:schemeClr val="tx1"/>
                </a:solidFill>
                <a:latin typeface="Calibri" panose="020F0502020204030204" charset="0"/>
                <a:cs typeface="Calibri" panose="020F0502020204030204" charset="0"/>
              </a:rPr>
              <a:t> in Figure 5.3 are used informally to indicate the medical receptionist initiates the transaction and data is transferred to the patient record system.</a:t>
            </a:r>
            <a:endParaRPr lang="en-US" sz="2000" b="0" dirty="0" smtClean="0">
              <a:solidFill>
                <a:schemeClr val="tx1"/>
              </a:solidFill>
              <a:latin typeface="Calibri" panose="020F0502020204030204" charset="0"/>
              <a:cs typeface="Calibri" panose="020F0502020204030204" charset="0"/>
            </a:endParaRPr>
          </a:p>
        </p:txBody>
      </p:sp>
      <p:pic>
        <p:nvPicPr>
          <p:cNvPr id="3" name="图片 2"/>
          <p:cNvPicPr>
            <a:picLocks noChangeAspect="1"/>
          </p:cNvPicPr>
          <p:nvPr/>
        </p:nvPicPr>
        <p:blipFill>
          <a:blip r:embed="rId3"/>
          <a:stretch>
            <a:fillRect/>
          </a:stretch>
        </p:blipFill>
        <p:spPr>
          <a:xfrm>
            <a:off x="143510" y="1336040"/>
            <a:ext cx="8839835" cy="1466850"/>
          </a:xfrm>
          <a:prstGeom prst="rect">
            <a:avLst/>
          </a:prstGeom>
        </p:spPr>
      </p:pic>
      <p:pic>
        <p:nvPicPr>
          <p:cNvPr id="6" name="图片 5"/>
          <p:cNvPicPr>
            <a:picLocks noChangeAspect="1"/>
          </p:cNvPicPr>
          <p:nvPr/>
        </p:nvPicPr>
        <p:blipFill>
          <a:blip r:embed="rId4"/>
          <a:stretch>
            <a:fillRect/>
          </a:stretch>
        </p:blipFill>
        <p:spPr>
          <a:xfrm>
            <a:off x="5292090" y="908685"/>
            <a:ext cx="2124075" cy="495300"/>
          </a:xfrm>
          <a:prstGeom prst="rect">
            <a:avLst/>
          </a:prstGeom>
        </p:spPr>
      </p:pic>
      <p:sp>
        <p:nvSpPr>
          <p:cNvPr id="7" name="Content Placeholder 2"/>
          <p:cNvSpPr>
            <a:spLocks noGrp="1"/>
          </p:cNvSpPr>
          <p:nvPr/>
        </p:nvSpPr>
        <p:spPr>
          <a:xfrm>
            <a:off x="46355" y="4669155"/>
            <a:ext cx="9058910" cy="1990090"/>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marL="0" indent="0">
              <a:lnSpc>
                <a:spcPct val="85000"/>
              </a:lnSpc>
              <a:spcBef>
                <a:spcPts val="500"/>
              </a:spcBef>
              <a:spcAft>
                <a:spcPts val="0"/>
              </a:spcAft>
              <a:buNone/>
            </a:pPr>
            <a:r>
              <a:rPr lang="en-US" dirty="0" smtClean="0">
                <a:solidFill>
                  <a:schemeClr val="tx1"/>
                </a:solidFill>
                <a:latin typeface="Calibri" panose="020F0502020204030204" charset="0"/>
                <a:cs typeface="Calibri" panose="020F0502020204030204" charset="0"/>
              </a:rPr>
              <a:t>* Use case diagrams give a simple overview of interaction, you need to </a:t>
            </a:r>
            <a:r>
              <a:rPr lang="en-US" u="sng" dirty="0" smtClean="0">
                <a:solidFill>
                  <a:schemeClr val="tx1"/>
                </a:solidFill>
                <a:latin typeface="Calibri" panose="020F0502020204030204" charset="0"/>
                <a:cs typeface="Calibri" panose="020F0502020204030204" charset="0"/>
              </a:rPr>
              <a:t>add more detail</a:t>
            </a:r>
            <a:r>
              <a:rPr lang="en-US" dirty="0" smtClean="0">
                <a:solidFill>
                  <a:schemeClr val="tx1"/>
                </a:solidFill>
                <a:latin typeface="Calibri" panose="020F0502020204030204" charset="0"/>
                <a:cs typeface="Calibri" panose="020F0502020204030204" charset="0"/>
              </a:rPr>
              <a:t> for complete description. The detail can either be a simple </a:t>
            </a:r>
            <a:r>
              <a:rPr lang="en-US" u="sng" dirty="0" smtClean="0">
                <a:solidFill>
                  <a:schemeClr val="tx1"/>
                </a:solidFill>
                <a:latin typeface="Calibri" panose="020F0502020204030204" charset="0"/>
                <a:cs typeface="Calibri" panose="020F0502020204030204" charset="0"/>
              </a:rPr>
              <a:t>textual description</a:t>
            </a:r>
            <a:r>
              <a:rPr lang="en-US" dirty="0" smtClean="0">
                <a:solidFill>
                  <a:schemeClr val="tx1"/>
                </a:solidFill>
                <a:latin typeface="Calibri" panose="020F0502020204030204" charset="0"/>
                <a:cs typeface="Calibri" panose="020F0502020204030204" charset="0"/>
              </a:rPr>
              <a:t>, </a:t>
            </a:r>
            <a:r>
              <a:rPr lang="en-US" u="sng" dirty="0" smtClean="0">
                <a:solidFill>
                  <a:schemeClr val="tx1"/>
                </a:solidFill>
                <a:latin typeface="Calibri" panose="020F0502020204030204" charset="0"/>
                <a:cs typeface="Calibri" panose="020F0502020204030204" charset="0"/>
              </a:rPr>
              <a:t>a structured description in a table</a:t>
            </a:r>
            <a:r>
              <a:rPr lang="en-US" dirty="0" smtClean="0">
                <a:solidFill>
                  <a:schemeClr val="tx1"/>
                </a:solidFill>
                <a:latin typeface="Calibri" panose="020F0502020204030204" charset="0"/>
                <a:cs typeface="Calibri" panose="020F0502020204030204" charset="0"/>
              </a:rPr>
              <a:t>, or </a:t>
            </a:r>
            <a:r>
              <a:rPr lang="en-US" u="sng" dirty="0" smtClean="0">
                <a:solidFill>
                  <a:schemeClr val="tx1"/>
                </a:solidFill>
                <a:latin typeface="Calibri" panose="020F0502020204030204" charset="0"/>
                <a:cs typeface="Calibri" panose="020F0502020204030204" charset="0"/>
              </a:rPr>
              <a:t>a sequence diagram</a:t>
            </a:r>
            <a:r>
              <a:rPr lang="en-US" dirty="0" smtClean="0">
                <a:solidFill>
                  <a:schemeClr val="tx1"/>
                </a:solidFill>
                <a:latin typeface="Calibri" panose="020F0502020204030204" charset="0"/>
                <a:cs typeface="Calibri" panose="020F0502020204030204" charset="0"/>
              </a:rPr>
              <a:t>. You choose most appropriate format depending on the use case and the level of detail that you think is required in the model. See the next slide. </a:t>
            </a:r>
            <a:r>
              <a:rPr lang="zh-CN" altLang="en-US" sz="2000" b="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rPr>
              <a:t>可加入更多细节：文本、表、顺序图</a:t>
            </a:r>
            <a:endParaRPr lang="zh-CN" altLang="en-US" sz="2000" b="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endParaRPr>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74700"/>
            <a:ext cx="8977630" cy="901700"/>
          </a:xfrm>
        </p:spPr>
        <p:txBody>
          <a:bodyPr vert="horz" wrap="square" lIns="91440" tIns="45720" rIns="91440" bIns="45720" anchor="t" anchorCtr="0">
            <a:noAutofit/>
          </a:bodyPr>
          <a:p>
            <a:pPr algn="l" eaLnBrk="1" latinLnBrk="0" hangingPunct="1">
              <a:lnSpc>
                <a:spcPct val="85000"/>
              </a:lnSpc>
              <a:spcBef>
                <a:spcPts val="600"/>
              </a:spcBef>
              <a:buSzTx/>
              <a:buFont typeface="Wingdings" panose="05000000000000000000" pitchFamily="2" charset="2"/>
              <a:buChar char="§"/>
            </a:pPr>
            <a:r>
              <a:rPr lang="en-US" altLang="zh-CN" sz="3200" dirty="0">
                <a:solidFill>
                  <a:srgbClr val="0070C0"/>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Tabular description of the </a:t>
            </a:r>
            <a:r>
              <a:rPr lang="en-US" altLang="zh-CN" sz="3200" dirty="0">
                <a:solidFill>
                  <a:schemeClr val="accent1">
                    <a:lumMod val="75000"/>
                  </a:schemeClr>
                </a:solidFill>
                <a:ea typeface="宋体" panose="02010600030101010101" pitchFamily="2" charset="-122"/>
                <a:sym typeface="+mn-ea"/>
              </a:rPr>
              <a:t>‘</a:t>
            </a:r>
            <a:r>
              <a:rPr lang="zh-CN" altLang="en-US" sz="3200" dirty="0">
                <a:solidFill>
                  <a:schemeClr val="accent1">
                    <a:lumMod val="75000"/>
                  </a:schemeClr>
                </a:solidFill>
                <a:ea typeface="宋体" panose="02010600030101010101" pitchFamily="2" charset="-122"/>
                <a:sym typeface="+mn-ea"/>
              </a:rPr>
              <a:t>Transfer data</a:t>
            </a:r>
            <a:r>
              <a:rPr lang="en-US" altLang="zh-CN" sz="3200" dirty="0">
                <a:solidFill>
                  <a:schemeClr val="accent1">
                    <a:lumMod val="75000"/>
                  </a:schemeClr>
                </a:solidFill>
                <a:ea typeface="宋体" panose="02010600030101010101" pitchFamily="2" charset="-122"/>
                <a:sym typeface="+mn-ea"/>
              </a:rPr>
              <a:t>’</a:t>
            </a:r>
            <a:r>
              <a:rPr lang="zh-CN" altLang="en-US" sz="3200" dirty="0">
                <a:solidFill>
                  <a:schemeClr val="accent1">
                    <a:lumMod val="75000"/>
                  </a:schemeClr>
                </a:solidFill>
                <a:ea typeface="宋体" panose="02010600030101010101" pitchFamily="2" charset="-122"/>
                <a:sym typeface="+mn-ea"/>
              </a:rPr>
              <a:t> use-case</a:t>
            </a:r>
            <a:r>
              <a:rPr lang="en-US" altLang="zh-CN" sz="3200" dirty="0">
                <a:solidFill>
                  <a:schemeClr val="accent1">
                    <a:lumMod val="75000"/>
                  </a:schemeClr>
                </a:solidFill>
                <a:ea typeface="宋体" panose="02010600030101010101" pitchFamily="2" charset="-122"/>
                <a:sym typeface="+mn-ea"/>
              </a:rPr>
              <a:t>  </a:t>
            </a:r>
            <a:r>
              <a:rPr lang="zh-CN" altLang="en-US" dirty="0">
                <a:solidFill>
                  <a:schemeClr val="accent1">
                    <a:lumMod val="75000"/>
                  </a:schemeClr>
                </a:solidFill>
                <a:latin typeface="黑体" panose="02010609060101010101" pitchFamily="49" charset="-122"/>
                <a:ea typeface="黑体" panose="02010609060101010101" pitchFamily="49" charset="-122"/>
                <a:sym typeface="+mn-ea"/>
              </a:rPr>
              <a:t>表格描述</a:t>
            </a:r>
            <a:endParaRPr lang="zh-CN" altLang="en-US" dirty="0">
              <a:solidFill>
                <a:schemeClr val="accent1">
                  <a:lumMod val="75000"/>
                </a:schemeClr>
              </a:solidFill>
              <a:latin typeface="黑体" panose="02010609060101010101" pitchFamily="49" charset="-122"/>
              <a:ea typeface="黑体" panose="02010609060101010101" pitchFamily="49" charset="-122"/>
              <a:sym typeface="+mn-ea"/>
            </a:endParaRPr>
          </a:p>
        </p:txBody>
      </p:sp>
      <p:sp>
        <p:nvSpPr>
          <p:cNvPr id="4" name="Rectangle 2"/>
          <p:cNvSpPr>
            <a:spLocks noGrp="1"/>
          </p:cNvSpPr>
          <p:nvPr>
            <p:ph type="title"/>
            <p:custDataLst>
              <p:tags r:id="rId2"/>
            </p:custDataLst>
          </p:nvPr>
        </p:nvSpPr>
        <p:spPr>
          <a:xfrm>
            <a:off x="617538" y="198755"/>
            <a:ext cx="455295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5  System modeling</a:t>
            </a:r>
            <a:endParaRPr lang="en-US" altLang="zh-CN" sz="2800" dirty="0">
              <a:solidFill>
                <a:srgbClr val="660066"/>
              </a:solidFill>
              <a:ea typeface="黑体" panose="02010609060101010101" pitchFamily="49" charset="-122"/>
              <a:cs typeface="+mj-lt"/>
            </a:endParaRPr>
          </a:p>
        </p:txBody>
      </p:sp>
      <p:graphicFrame>
        <p:nvGraphicFramePr>
          <p:cNvPr id="6" name="Table 2"/>
          <p:cNvGraphicFramePr>
            <a:graphicFrameLocks noGrp="1"/>
          </p:cNvGraphicFramePr>
          <p:nvPr>
            <p:custDataLst>
              <p:tags r:id="rId3"/>
            </p:custDataLst>
          </p:nvPr>
        </p:nvGraphicFramePr>
        <p:xfrm>
          <a:off x="186690" y="1725295"/>
          <a:ext cx="8764905" cy="4789170"/>
        </p:xfrm>
        <a:graphic>
          <a:graphicData uri="http://schemas.openxmlformats.org/drawingml/2006/table">
            <a:tbl>
              <a:tblPr>
                <a:effectLst/>
                <a:tableStyleId>{5940675A-B579-460E-94D1-54222C63F5DA}</a:tableStyleId>
              </a:tblPr>
              <a:tblGrid>
                <a:gridCol w="1691005"/>
                <a:gridCol w="7073900"/>
              </a:tblGrid>
              <a:tr h="416560">
                <a:tc gridSpan="2">
                  <a:txBody>
                    <a:bodyPr/>
                    <a:lstStyle/>
                    <a:p>
                      <a:pPr marL="0" marR="0" lvl="0" indent="0" algn="ctr" defTabSz="457200" rtl="0" eaLnBrk="1" fontAlgn="base" latinLnBrk="0" hangingPunct="1">
                        <a:lnSpc>
                          <a:spcPct val="100000"/>
                        </a:lnSpc>
                        <a:spcBef>
                          <a:spcPct val="0"/>
                        </a:spcBef>
                        <a:spcAft>
                          <a:spcPct val="0"/>
                        </a:spcAft>
                        <a:buClrTx/>
                        <a:buSzTx/>
                        <a:buFontTx/>
                        <a:buNone/>
                      </a:pPr>
                      <a:r>
                        <a:rPr kumimoji="0" lang="en-GB" sz="2400" b="1" i="0" u="none" strike="noStrike" cap="none" normalizeH="0" baseline="0" dirty="0" smtClean="0">
                          <a:ln>
                            <a:noFill/>
                          </a:ln>
                          <a:solidFill>
                            <a:schemeClr val="bg1"/>
                          </a:solidFill>
                          <a:effectLst/>
                          <a:latin typeface="Arial" panose="020B0604020202020204" pitchFamily="34" charset="0"/>
                          <a:ea typeface="Times New Roman" panose="02020603050405020304" pitchFamily="18" charset="0"/>
                        </a:rPr>
                        <a:t>MHC</a:t>
                      </a:r>
                      <a:r>
                        <a:rPr kumimoji="0" lang="en-GB" sz="2400" b="1" i="0" u="none" strike="noStrike" cap="none" normalizeH="0" baseline="0" dirty="0">
                          <a:ln>
                            <a:noFill/>
                          </a:ln>
                          <a:solidFill>
                            <a:schemeClr val="bg1"/>
                          </a:solidFill>
                          <a:effectLst/>
                          <a:latin typeface="Arial" panose="020B0604020202020204" pitchFamily="34" charset="0"/>
                          <a:ea typeface="Times New Roman" panose="02020603050405020304" pitchFamily="18" charset="0"/>
                        </a:rPr>
                        <a:t>-PMS: Transfer </a:t>
                      </a:r>
                      <a:r>
                        <a:rPr kumimoji="0" lang="en-GB" sz="2400" b="1" i="0" u="none" strike="noStrike" cap="none" normalizeH="0" baseline="0" dirty="0" smtClean="0">
                          <a:ln>
                            <a:noFill/>
                          </a:ln>
                          <a:solidFill>
                            <a:schemeClr val="bg1"/>
                          </a:solidFill>
                          <a:effectLst/>
                          <a:latin typeface="Arial" panose="020B0604020202020204" pitchFamily="34" charset="0"/>
                          <a:ea typeface="Times New Roman" panose="02020603050405020304" pitchFamily="18" charset="0"/>
                        </a:rPr>
                        <a:t>data</a:t>
                      </a:r>
                      <a:endParaRPr kumimoji="0" lang="en-GB" sz="2400" b="1" i="0" u="none" strike="noStrike" cap="none" normalizeH="0" baseline="0" dirty="0" smtClean="0">
                        <a:ln>
                          <a:noFill/>
                        </a:ln>
                        <a:solidFill>
                          <a:schemeClr val="bg1"/>
                        </a:solidFill>
                        <a:effectLst/>
                        <a:latin typeface="Arial" panose="020B0604020202020204" pitchFamily="34" charset="0"/>
                        <a:ea typeface="Times New Roman" panose="02020603050405020304" pitchFamily="18" charset="0"/>
                      </a:endParaRPr>
                    </a:p>
                  </a:txBody>
                  <a:tcPr marL="68580" marR="68580" marT="0" marB="0"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a:noFill/>
                    </a:lnTlToBr>
                    <a:lnBlToTr>
                      <a:noFill/>
                    </a:lnBlToTr>
                    <a:solidFill>
                      <a:srgbClr val="4F81BD"/>
                    </a:solidFill>
                  </a:tcPr>
                </a:tc>
                <a:tc hMerge="1">
                  <a:tcPr/>
                </a:tc>
              </a:tr>
              <a:tr h="347345">
                <a:tc>
                  <a:txBody>
                    <a:bodyPr/>
                    <a:lstStyle/>
                    <a:p>
                      <a:pPr marL="0" marR="0" lvl="0" indent="0" algn="l" defTabSz="457200" rtl="0" eaLnBrk="1" fontAlgn="base" latinLnBrk="0" hangingPunct="1">
                        <a:lnSpc>
                          <a:spcPct val="100000"/>
                        </a:lnSpc>
                        <a:spcBef>
                          <a:spcPct val="0"/>
                        </a:spcBef>
                        <a:spcAft>
                          <a:spcPct val="0"/>
                        </a:spcAft>
                        <a:buClrTx/>
                        <a:buSzTx/>
                        <a:buFontTx/>
                        <a:buNone/>
                      </a:pPr>
                      <a:r>
                        <a:rPr kumimoji="0" lang="en-GB" sz="2200" b="0" i="0" u="none" strike="noStrike" cap="none" normalizeH="0" baseline="0" dirty="0" smtClean="0">
                          <a:ln>
                            <a:noFill/>
                          </a:ln>
                          <a:solidFill>
                            <a:srgbClr val="000000"/>
                          </a:solidFill>
                          <a:effectLst/>
                          <a:latin typeface="Arial" panose="020B0604020202020204" pitchFamily="34" charset="0"/>
                          <a:ea typeface="Times New Roman" panose="02020603050405020304" pitchFamily="18" charset="0"/>
                        </a:rPr>
                        <a:t>Actors</a:t>
                      </a:r>
                      <a:endParaRPr kumimoji="0" lang="en-GB" sz="2200" b="0" i="0" u="none" strike="noStrike" cap="none" normalizeH="0" baseline="0" dirty="0" smtClean="0">
                        <a:ln>
                          <a:noFill/>
                        </a:ln>
                        <a:solidFill>
                          <a:srgbClr val="000000"/>
                        </a:solidFill>
                        <a:effectLst/>
                        <a:latin typeface="Arial" panose="020B0604020202020204" pitchFamily="34" charset="0"/>
                        <a:ea typeface="Times New Roman" panose="02020603050405020304" pitchFamily="18" charset="0"/>
                      </a:endParaRPr>
                    </a:p>
                  </a:txBody>
                  <a:tcPr marL="68580" marR="68580" marT="0" marB="0"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D0D8E8"/>
                    </a:solidFill>
                  </a:tcPr>
                </a:tc>
                <a:tc>
                  <a:txBody>
                    <a:bodyPr/>
                    <a:lstStyle/>
                    <a:p>
                      <a:pPr marL="0" marR="0" lvl="0" indent="0" algn="l" defTabSz="457200" rtl="0" eaLnBrk="1" fontAlgn="base" latinLnBrk="0" hangingPunct="1">
                        <a:lnSpc>
                          <a:spcPct val="100000"/>
                        </a:lnSpc>
                        <a:spcBef>
                          <a:spcPct val="0"/>
                        </a:spcBef>
                        <a:spcAft>
                          <a:spcPct val="0"/>
                        </a:spcAft>
                        <a:buClrTx/>
                        <a:buSzTx/>
                        <a:buFontTx/>
                        <a:buNone/>
                      </a:pPr>
                      <a:r>
                        <a:rPr kumimoji="0" lang="en-GB" sz="2200" b="0" i="0" u="none" strike="noStrike" cap="none" normalizeH="0" baseline="0">
                          <a:ln>
                            <a:noFill/>
                          </a:ln>
                          <a:solidFill>
                            <a:srgbClr val="000000"/>
                          </a:solidFill>
                          <a:effectLst/>
                          <a:latin typeface="Arial" panose="020B0604020202020204" pitchFamily="34" charset="0"/>
                          <a:ea typeface="Times New Roman" panose="02020603050405020304" pitchFamily="18" charset="0"/>
                        </a:rPr>
                        <a:t>Medical receptionist, patient records system (PRS)</a:t>
                      </a:r>
                      <a:endParaRPr kumimoji="0" lang="en-GB" sz="2200" b="0" i="0" u="none" strike="noStrike" cap="none" normalizeH="0" baseline="0">
                        <a:ln>
                          <a:noFill/>
                        </a:ln>
                        <a:solidFill>
                          <a:srgbClr val="000000"/>
                        </a:solidFill>
                        <a:effectLst/>
                        <a:latin typeface="Arial" panose="020B0604020202020204" pitchFamily="34" charset="0"/>
                        <a:ea typeface="Times New Roman" panose="02020603050405020304" pitchFamily="18" charset="0"/>
                      </a:endParaRPr>
                    </a:p>
                  </a:txBody>
                  <a:tcPr marL="68580" marR="68580" marT="0" marB="0"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D0D8E8"/>
                    </a:solidFill>
                  </a:tcPr>
                </a:tc>
              </a:tr>
              <a:tr h="2011680">
                <a:tc>
                  <a:txBody>
                    <a:bodyPr/>
                    <a:lstStyle/>
                    <a:p>
                      <a:pPr marL="0" marR="0" lvl="0" indent="0" algn="l" defTabSz="457200" rtl="0" eaLnBrk="1" fontAlgn="base" latinLnBrk="0" hangingPunct="1">
                        <a:lnSpc>
                          <a:spcPct val="100000"/>
                        </a:lnSpc>
                        <a:spcBef>
                          <a:spcPct val="0"/>
                        </a:spcBef>
                        <a:spcAft>
                          <a:spcPct val="0"/>
                        </a:spcAft>
                        <a:buClrTx/>
                        <a:buSzTx/>
                        <a:buFontTx/>
                        <a:buNone/>
                      </a:pPr>
                      <a:r>
                        <a:rPr kumimoji="0" lang="en-GB" sz="22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rPr>
                        <a:t>Description</a:t>
                      </a:r>
                      <a:endParaRPr kumimoji="0" lang="en-GB" sz="22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endParaRPr>
                    </a:p>
                  </a:txBody>
                  <a:tcPr marL="68580" marR="68580" marT="0" marB="0"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E9EDF4"/>
                    </a:solidFill>
                  </a:tcPr>
                </a:tc>
                <a:tc>
                  <a:txBody>
                    <a:bodyPr/>
                    <a:lstStyle/>
                    <a:p>
                      <a:pPr marL="0" marR="0" lvl="0" indent="0" algn="l" defTabSz="457200" rtl="0" eaLnBrk="1" fontAlgn="base" latinLnBrk="0" hangingPunct="1">
                        <a:lnSpc>
                          <a:spcPct val="100000"/>
                        </a:lnSpc>
                        <a:spcBef>
                          <a:spcPct val="0"/>
                        </a:spcBef>
                        <a:spcAft>
                          <a:spcPct val="0"/>
                        </a:spcAft>
                        <a:buClrTx/>
                        <a:buSzTx/>
                        <a:buFontTx/>
                        <a:buNone/>
                      </a:pPr>
                      <a:r>
                        <a:rPr kumimoji="0" lang="en-GB" sz="22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rPr>
                        <a:t>A receptionist may transfer data from the </a:t>
                      </a:r>
                      <a:r>
                        <a:rPr kumimoji="0" lang="en-GB" sz="2200" b="0" i="0" u="none" strike="noStrike" cap="none" normalizeH="0" baseline="0" dirty="0" err="1" smtClean="0">
                          <a:ln>
                            <a:noFill/>
                          </a:ln>
                          <a:solidFill>
                            <a:srgbClr val="000000"/>
                          </a:solidFill>
                          <a:effectLst/>
                          <a:latin typeface="Arial" panose="020B0604020202020204" pitchFamily="34" charset="0"/>
                          <a:ea typeface="Times New Roman" panose="02020603050405020304" pitchFamily="18" charset="0"/>
                        </a:rPr>
                        <a:t>Mentcase</a:t>
                      </a:r>
                      <a:r>
                        <a:rPr kumimoji="0" lang="en-GB" sz="2200" b="0" i="0" u="none" strike="noStrike" cap="none" normalizeH="0" baseline="0" dirty="0" smtClean="0">
                          <a:ln>
                            <a:noFill/>
                          </a:ln>
                          <a:solidFill>
                            <a:srgbClr val="000000"/>
                          </a:solidFill>
                          <a:effectLst/>
                          <a:latin typeface="Arial" panose="020B0604020202020204" pitchFamily="34" charset="0"/>
                          <a:ea typeface="Times New Roman" panose="02020603050405020304" pitchFamily="18" charset="0"/>
                        </a:rPr>
                        <a:t> system to </a:t>
                      </a:r>
                      <a:r>
                        <a:rPr kumimoji="0" lang="en-GB" sz="22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rPr>
                        <a:t>a general patient record database that is maintained by a health authority. The information transferred may either be updated personal information (address, phone number, etc.) or a summary of the patient’s diagnosis and treatment.</a:t>
                      </a:r>
                      <a:endParaRPr kumimoji="0" lang="en-GB" sz="22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endParaRPr>
                    </a:p>
                  </a:txBody>
                  <a:tcPr marL="68580" marR="68580" marT="0" marB="0"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E9EDF4"/>
                    </a:solidFill>
                  </a:tcPr>
                </a:tc>
              </a:tr>
              <a:tr h="337185">
                <a:tc>
                  <a:txBody>
                    <a:bodyPr/>
                    <a:lstStyle/>
                    <a:p>
                      <a:pPr marL="0" marR="0" lvl="0" indent="0" algn="l" defTabSz="457200" rtl="0" eaLnBrk="1" fontAlgn="base" latinLnBrk="0" hangingPunct="1">
                        <a:lnSpc>
                          <a:spcPct val="100000"/>
                        </a:lnSpc>
                        <a:spcBef>
                          <a:spcPct val="0"/>
                        </a:spcBef>
                        <a:spcAft>
                          <a:spcPct val="0"/>
                        </a:spcAft>
                        <a:buClrTx/>
                        <a:buSzTx/>
                        <a:buFontTx/>
                        <a:buNone/>
                      </a:pPr>
                      <a:r>
                        <a:rPr kumimoji="0" lang="en-GB" sz="2200" b="0" i="0" u="none" strike="noStrike" cap="none" normalizeH="0" baseline="0">
                          <a:ln>
                            <a:noFill/>
                          </a:ln>
                          <a:solidFill>
                            <a:srgbClr val="000000"/>
                          </a:solidFill>
                          <a:effectLst/>
                          <a:latin typeface="Arial" panose="020B0604020202020204" pitchFamily="34" charset="0"/>
                          <a:ea typeface="Times New Roman" panose="02020603050405020304" pitchFamily="18" charset="0"/>
                        </a:rPr>
                        <a:t>Data</a:t>
                      </a:r>
                      <a:endParaRPr kumimoji="0" lang="en-GB" sz="2200" b="0" i="0" u="none" strike="noStrike" cap="none" normalizeH="0" baseline="0">
                        <a:ln>
                          <a:noFill/>
                        </a:ln>
                        <a:solidFill>
                          <a:srgbClr val="000000"/>
                        </a:solidFill>
                        <a:effectLst/>
                        <a:latin typeface="Arial" panose="020B0604020202020204" pitchFamily="34" charset="0"/>
                        <a:ea typeface="Times New Roman" panose="02020603050405020304" pitchFamily="18" charset="0"/>
                      </a:endParaRPr>
                    </a:p>
                  </a:txBody>
                  <a:tcPr marL="68580" marR="68580" marT="0" marB="0"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D0D8E8"/>
                    </a:solidFill>
                  </a:tcPr>
                </a:tc>
                <a:tc>
                  <a:txBody>
                    <a:bodyPr/>
                    <a:lstStyle/>
                    <a:p>
                      <a:pPr marL="0" marR="0" lvl="0" indent="0" algn="l" defTabSz="457200" rtl="0" eaLnBrk="1" fontAlgn="base" latinLnBrk="0" hangingPunct="1">
                        <a:lnSpc>
                          <a:spcPct val="100000"/>
                        </a:lnSpc>
                        <a:spcBef>
                          <a:spcPct val="0"/>
                        </a:spcBef>
                        <a:spcAft>
                          <a:spcPct val="0"/>
                        </a:spcAft>
                        <a:buClrTx/>
                        <a:buSzTx/>
                        <a:buFontTx/>
                        <a:buNone/>
                      </a:pPr>
                      <a:r>
                        <a:rPr kumimoji="0" lang="en-GB" sz="22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rPr>
                        <a:t>Patient’s personal information, treatment summary</a:t>
                      </a:r>
                      <a:endParaRPr kumimoji="0" lang="en-GB" sz="22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endParaRPr>
                    </a:p>
                  </a:txBody>
                  <a:tcPr marL="68580" marR="68580" marT="0" marB="0"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D0D8E8"/>
                    </a:solidFill>
                  </a:tcPr>
                </a:tc>
              </a:tr>
              <a:tr h="335280">
                <a:tc>
                  <a:txBody>
                    <a:bodyPr/>
                    <a:lstStyle/>
                    <a:p>
                      <a:pPr marL="0" marR="0" lvl="0" indent="0" algn="l" defTabSz="457200" rtl="0" eaLnBrk="1" fontAlgn="base" latinLnBrk="0" hangingPunct="1">
                        <a:lnSpc>
                          <a:spcPct val="100000"/>
                        </a:lnSpc>
                        <a:spcBef>
                          <a:spcPct val="0"/>
                        </a:spcBef>
                        <a:spcAft>
                          <a:spcPct val="0"/>
                        </a:spcAft>
                        <a:buClrTx/>
                        <a:buSzTx/>
                        <a:buFontTx/>
                        <a:buNone/>
                      </a:pPr>
                      <a:r>
                        <a:rPr kumimoji="0" lang="en-GB" sz="2200" b="0" i="0" u="none" strike="noStrike" cap="none" normalizeH="0" baseline="0">
                          <a:ln>
                            <a:noFill/>
                          </a:ln>
                          <a:solidFill>
                            <a:srgbClr val="000000"/>
                          </a:solidFill>
                          <a:effectLst/>
                          <a:latin typeface="Arial" panose="020B0604020202020204" pitchFamily="34" charset="0"/>
                          <a:ea typeface="Times New Roman" panose="02020603050405020304" pitchFamily="18" charset="0"/>
                        </a:rPr>
                        <a:t>Stimulus</a:t>
                      </a:r>
                      <a:endParaRPr kumimoji="0" lang="en-GB" sz="2200" b="0" i="0" u="none" strike="noStrike" cap="none" normalizeH="0" baseline="0">
                        <a:ln>
                          <a:noFill/>
                        </a:ln>
                        <a:solidFill>
                          <a:srgbClr val="000000"/>
                        </a:solidFill>
                        <a:effectLst/>
                        <a:latin typeface="Arial" panose="020B0604020202020204" pitchFamily="34" charset="0"/>
                        <a:ea typeface="Times New Roman" panose="02020603050405020304" pitchFamily="18" charset="0"/>
                      </a:endParaRPr>
                    </a:p>
                  </a:txBody>
                  <a:tcPr marL="68580" marR="68580" marT="0" marB="0"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E9EDF4"/>
                    </a:solidFill>
                  </a:tcPr>
                </a:tc>
                <a:tc>
                  <a:txBody>
                    <a:bodyPr/>
                    <a:lstStyle/>
                    <a:p>
                      <a:pPr marL="0" marR="0" lvl="0" indent="0" algn="l" defTabSz="457200" rtl="0" eaLnBrk="1" fontAlgn="base" latinLnBrk="0" hangingPunct="1">
                        <a:lnSpc>
                          <a:spcPct val="100000"/>
                        </a:lnSpc>
                        <a:spcBef>
                          <a:spcPct val="0"/>
                        </a:spcBef>
                        <a:spcAft>
                          <a:spcPct val="0"/>
                        </a:spcAft>
                        <a:buClrTx/>
                        <a:buSzTx/>
                        <a:buFontTx/>
                        <a:buNone/>
                      </a:pPr>
                      <a:r>
                        <a:rPr kumimoji="0" lang="en-GB" sz="22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rPr>
                        <a:t>User command issued by medical receptionist</a:t>
                      </a:r>
                      <a:endParaRPr kumimoji="0" lang="en-GB" sz="22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endParaRPr>
                    </a:p>
                  </a:txBody>
                  <a:tcPr marL="68580" marR="68580" marT="0" marB="0"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E9EDF4"/>
                    </a:solidFill>
                  </a:tcPr>
                </a:tc>
              </a:tr>
              <a:tr h="335280">
                <a:tc>
                  <a:txBody>
                    <a:bodyPr/>
                    <a:lstStyle/>
                    <a:p>
                      <a:pPr marL="0" marR="0" lvl="0" indent="0" algn="l" defTabSz="457200" rtl="0" eaLnBrk="1" fontAlgn="base" latinLnBrk="0" hangingPunct="1">
                        <a:lnSpc>
                          <a:spcPct val="100000"/>
                        </a:lnSpc>
                        <a:spcBef>
                          <a:spcPct val="0"/>
                        </a:spcBef>
                        <a:spcAft>
                          <a:spcPct val="0"/>
                        </a:spcAft>
                        <a:buClrTx/>
                        <a:buSzTx/>
                        <a:buFontTx/>
                        <a:buNone/>
                      </a:pPr>
                      <a:r>
                        <a:rPr kumimoji="0" lang="en-GB" sz="2200" b="0" i="0" u="none" strike="noStrike" cap="none" normalizeH="0" baseline="0">
                          <a:ln>
                            <a:noFill/>
                          </a:ln>
                          <a:solidFill>
                            <a:srgbClr val="000000"/>
                          </a:solidFill>
                          <a:effectLst/>
                          <a:latin typeface="Arial" panose="020B0604020202020204" pitchFamily="34" charset="0"/>
                          <a:ea typeface="Times New Roman" panose="02020603050405020304" pitchFamily="18" charset="0"/>
                        </a:rPr>
                        <a:t>Response</a:t>
                      </a:r>
                      <a:endParaRPr kumimoji="0" lang="en-GB" sz="2200" b="0" i="0" u="none" strike="noStrike" cap="none" normalizeH="0" baseline="0">
                        <a:ln>
                          <a:noFill/>
                        </a:ln>
                        <a:solidFill>
                          <a:srgbClr val="000000"/>
                        </a:solidFill>
                        <a:effectLst/>
                        <a:latin typeface="Arial" panose="020B0604020202020204" pitchFamily="34" charset="0"/>
                        <a:ea typeface="Times New Roman" panose="02020603050405020304" pitchFamily="18" charset="0"/>
                      </a:endParaRPr>
                    </a:p>
                  </a:txBody>
                  <a:tcPr marL="68580" marR="68580" marT="0" marB="0"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D0D8E8"/>
                    </a:solidFill>
                  </a:tcPr>
                </a:tc>
                <a:tc>
                  <a:txBody>
                    <a:bodyPr/>
                    <a:lstStyle/>
                    <a:p>
                      <a:pPr marL="0" marR="0" lvl="0" indent="0" algn="l" defTabSz="457200" rtl="0" eaLnBrk="1" fontAlgn="base" latinLnBrk="0" hangingPunct="1">
                        <a:lnSpc>
                          <a:spcPct val="100000"/>
                        </a:lnSpc>
                        <a:spcBef>
                          <a:spcPct val="0"/>
                        </a:spcBef>
                        <a:spcAft>
                          <a:spcPct val="0"/>
                        </a:spcAft>
                        <a:buClrTx/>
                        <a:buSzTx/>
                        <a:buFontTx/>
                        <a:buNone/>
                      </a:pPr>
                      <a:r>
                        <a:rPr kumimoji="0" lang="en-GB" sz="22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rPr>
                        <a:t>Confirmation that PRS has been updated</a:t>
                      </a:r>
                      <a:endParaRPr kumimoji="0" lang="en-GB" sz="22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endParaRPr>
                    </a:p>
                  </a:txBody>
                  <a:tcPr marL="68580" marR="68580" marT="0" marB="0"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D0D8E8"/>
                    </a:solidFill>
                  </a:tcPr>
                </a:tc>
              </a:tr>
              <a:tr h="1005840">
                <a:tc>
                  <a:txBody>
                    <a:bodyPr/>
                    <a:lstStyle/>
                    <a:p>
                      <a:pPr marL="0" marR="0" lvl="0" indent="0" algn="l" defTabSz="457200" rtl="0" eaLnBrk="1" fontAlgn="base" latinLnBrk="0" hangingPunct="1">
                        <a:lnSpc>
                          <a:spcPct val="100000"/>
                        </a:lnSpc>
                        <a:spcBef>
                          <a:spcPct val="0"/>
                        </a:spcBef>
                        <a:spcAft>
                          <a:spcPct val="0"/>
                        </a:spcAft>
                        <a:buClrTx/>
                        <a:buSzTx/>
                        <a:buFontTx/>
                        <a:buNone/>
                      </a:pPr>
                      <a:r>
                        <a:rPr kumimoji="0" lang="en-GB" sz="2200" b="0" i="0" u="none" strike="noStrike" cap="none" normalizeH="0" baseline="0">
                          <a:ln>
                            <a:noFill/>
                          </a:ln>
                          <a:solidFill>
                            <a:srgbClr val="000000"/>
                          </a:solidFill>
                          <a:effectLst/>
                          <a:latin typeface="Arial" panose="020B0604020202020204" pitchFamily="34" charset="0"/>
                          <a:ea typeface="Times New Roman" panose="02020603050405020304" pitchFamily="18" charset="0"/>
                        </a:rPr>
                        <a:t>Comments</a:t>
                      </a:r>
                      <a:endParaRPr kumimoji="0" lang="en-GB" sz="2200" b="0" i="0" u="none" strike="noStrike" cap="none" normalizeH="0" baseline="0">
                        <a:ln>
                          <a:noFill/>
                        </a:ln>
                        <a:solidFill>
                          <a:srgbClr val="000000"/>
                        </a:solidFill>
                        <a:effectLst/>
                        <a:latin typeface="Arial" panose="020B0604020202020204" pitchFamily="34" charset="0"/>
                        <a:ea typeface="Times New Roman" panose="02020603050405020304" pitchFamily="18" charset="0"/>
                      </a:endParaRPr>
                    </a:p>
                  </a:txBody>
                  <a:tcPr marL="68580" marR="68580" marT="0" marB="0"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E9EDF4"/>
                    </a:solidFill>
                  </a:tcPr>
                </a:tc>
                <a:tc>
                  <a:txBody>
                    <a:bodyPr/>
                    <a:lstStyle/>
                    <a:p>
                      <a:pPr marL="0" marR="0" lvl="0" indent="0" algn="l" defTabSz="457200" rtl="0" eaLnBrk="1" fontAlgn="base" latinLnBrk="0" hangingPunct="1">
                        <a:lnSpc>
                          <a:spcPct val="100000"/>
                        </a:lnSpc>
                        <a:spcBef>
                          <a:spcPct val="0"/>
                        </a:spcBef>
                        <a:spcAft>
                          <a:spcPct val="0"/>
                        </a:spcAft>
                        <a:buClrTx/>
                        <a:buSzTx/>
                        <a:buFontTx/>
                        <a:buNone/>
                      </a:pPr>
                      <a:r>
                        <a:rPr kumimoji="0" lang="en-GB" sz="22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rPr>
                        <a:t>The receptionist must have appropriate security permissions to access the patient information and the PRS</a:t>
                      </a:r>
                      <a:r>
                        <a:rPr kumimoji="0" lang="en-GB" sz="2200" b="0" i="0" u="none" strike="noStrike" cap="none" normalizeH="0" baseline="0" dirty="0" smtClean="0">
                          <a:ln>
                            <a:noFill/>
                          </a:ln>
                          <a:solidFill>
                            <a:srgbClr val="000000"/>
                          </a:solidFill>
                          <a:effectLst/>
                          <a:latin typeface="Arial" panose="020B0604020202020204" pitchFamily="34" charset="0"/>
                          <a:ea typeface="Times New Roman" panose="02020603050405020304" pitchFamily="18" charset="0"/>
                        </a:rPr>
                        <a:t>.</a:t>
                      </a:r>
                      <a:endParaRPr kumimoji="0" lang="en-GB" sz="22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endParaRPr>
                    </a:p>
                  </a:txBody>
                  <a:tcPr marL="68580" marR="68580" marT="0" marB="0"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E9EDF4"/>
                    </a:solidFill>
                  </a:tcPr>
                </a:tc>
              </a:tr>
            </a:tbl>
          </a:graphicData>
        </a:graphic>
      </p:graphicFrame>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p:cNvPicPr>
            <a:picLocks noChangeAspect="1"/>
          </p:cNvPicPr>
          <p:nvPr/>
        </p:nvPicPr>
        <p:blipFill>
          <a:blip r:embed="rId1"/>
          <a:stretch>
            <a:fillRect/>
          </a:stretch>
        </p:blipFill>
        <p:spPr>
          <a:xfrm>
            <a:off x="3747770" y="735965"/>
            <a:ext cx="5283200" cy="6056630"/>
          </a:xfrm>
          <a:prstGeom prst="rect">
            <a:avLst/>
          </a:prstGeom>
        </p:spPr>
      </p:pic>
      <p:sp>
        <p:nvSpPr>
          <p:cNvPr id="15363" name="Rectangle 3"/>
          <p:cNvSpPr>
            <a:spLocks noGrp="1" noRot="1"/>
          </p:cNvSpPr>
          <p:nvPr>
            <p:ph type="subTitle" idx="1"/>
            <p:custDataLst>
              <p:tags r:id="rId2"/>
            </p:custDataLst>
          </p:nvPr>
        </p:nvSpPr>
        <p:spPr>
          <a:xfrm>
            <a:off x="88900" y="753110"/>
            <a:ext cx="6502400" cy="79692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dirty="0">
                <a:solidFill>
                  <a:srgbClr val="0070C0"/>
                </a:solidFill>
                <a:ea typeface="宋体" panose="02010600030101010101" pitchFamily="2" charset="-122"/>
                <a:sym typeface="+mn-ea"/>
              </a:rPr>
              <a:t> </a:t>
            </a:r>
            <a:r>
              <a:rPr lang="zh-CN" altLang="en-US" dirty="0">
                <a:solidFill>
                  <a:schemeClr val="accent1">
                    <a:lumMod val="75000"/>
                  </a:schemeClr>
                </a:solidFill>
                <a:ea typeface="宋体" panose="02010600030101010101" pitchFamily="2" charset="-122"/>
                <a:sym typeface="+mn-ea"/>
              </a:rPr>
              <a:t>Use cases in the Mentcare system involving the role </a:t>
            </a:r>
            <a:r>
              <a:rPr lang="en-US" altLang="zh-CN" dirty="0">
                <a:solidFill>
                  <a:schemeClr val="accent1">
                    <a:lumMod val="75000"/>
                  </a:schemeClr>
                </a:solidFill>
                <a:ea typeface="宋体" panose="02010600030101010101" pitchFamily="2" charset="-122"/>
                <a:sym typeface="+mn-ea"/>
              </a:rPr>
              <a:t>‘ </a:t>
            </a:r>
            <a:r>
              <a:rPr lang="zh-CN" altLang="en-US" dirty="0">
                <a:solidFill>
                  <a:schemeClr val="accent1">
                    <a:lumMod val="75000"/>
                  </a:schemeClr>
                </a:solidFill>
                <a:ea typeface="宋体" panose="02010600030101010101" pitchFamily="2" charset="-122"/>
                <a:sym typeface="+mn-ea"/>
              </a:rPr>
              <a:t>Medical Receptionist</a:t>
            </a:r>
            <a:r>
              <a:rPr lang="en-US" altLang="zh-CN" dirty="0">
                <a:solidFill>
                  <a:schemeClr val="accent1">
                    <a:lumMod val="75000"/>
                  </a:schemeClr>
                </a:solidFill>
                <a:ea typeface="宋体" panose="02010600030101010101" pitchFamily="2" charset="-122"/>
                <a:sym typeface="+mn-ea"/>
              </a:rPr>
              <a:t> ’</a:t>
            </a:r>
            <a:endParaRPr lang="en-US" altLang="zh-CN" dirty="0">
              <a:solidFill>
                <a:schemeClr val="accent1">
                  <a:lumMod val="75000"/>
                </a:schemeClr>
              </a:solidFill>
              <a:ea typeface="宋体" panose="02010600030101010101" pitchFamily="2" charset="-122"/>
              <a:sym typeface="+mn-ea"/>
            </a:endParaRPr>
          </a:p>
        </p:txBody>
      </p:sp>
      <p:sp>
        <p:nvSpPr>
          <p:cNvPr id="4" name="Rectangle 2"/>
          <p:cNvSpPr>
            <a:spLocks noGrp="1"/>
          </p:cNvSpPr>
          <p:nvPr>
            <p:ph type="title"/>
            <p:custDataLst>
              <p:tags r:id="rId3"/>
            </p:custDataLst>
          </p:nvPr>
        </p:nvSpPr>
        <p:spPr>
          <a:xfrm>
            <a:off x="617538" y="198755"/>
            <a:ext cx="455295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5  System modeling</a:t>
            </a:r>
            <a:endParaRPr lang="en-US" altLang="zh-CN" sz="2800" dirty="0">
              <a:solidFill>
                <a:srgbClr val="660066"/>
              </a:solidFill>
              <a:ea typeface="黑体" panose="02010609060101010101" pitchFamily="49" charset="-122"/>
              <a:cs typeface="+mj-lt"/>
            </a:endParaRPr>
          </a:p>
        </p:txBody>
      </p:sp>
      <p:sp>
        <p:nvSpPr>
          <p:cNvPr id="7" name="Content Placeholder 2"/>
          <p:cNvSpPr>
            <a:spLocks noGrp="1"/>
          </p:cNvSpPr>
          <p:nvPr/>
        </p:nvSpPr>
        <p:spPr>
          <a:xfrm>
            <a:off x="144145" y="1655445"/>
            <a:ext cx="5427345" cy="668655"/>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marL="0" indent="0">
              <a:lnSpc>
                <a:spcPct val="85000"/>
              </a:lnSpc>
              <a:spcBef>
                <a:spcPts val="500"/>
              </a:spcBef>
              <a:spcAft>
                <a:spcPts val="0"/>
              </a:spcAft>
              <a:buNone/>
            </a:pPr>
            <a:r>
              <a:rPr lang="en-US" sz="2200" b="0" dirty="0" smtClean="0">
                <a:solidFill>
                  <a:schemeClr val="tx1"/>
                </a:solidFill>
                <a:latin typeface="Calibri" panose="020F0502020204030204" charset="0"/>
                <a:cs typeface="Calibri" panose="020F0502020204030204" charset="0"/>
              </a:rPr>
              <a:t>* Composite use case diagrams show a number of different use cases.  </a:t>
            </a:r>
            <a:r>
              <a:rPr lang="zh-CN" altLang="en-US" sz="2200" b="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rPr>
              <a:t>复合用例图</a:t>
            </a:r>
            <a:endParaRPr lang="zh-CN" altLang="en-US" sz="2200" b="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endParaRPr>
          </a:p>
        </p:txBody>
      </p:sp>
      <p:sp>
        <p:nvSpPr>
          <p:cNvPr id="5" name="Content Placeholder 2"/>
          <p:cNvSpPr>
            <a:spLocks noGrp="1"/>
          </p:cNvSpPr>
          <p:nvPr/>
        </p:nvSpPr>
        <p:spPr>
          <a:xfrm>
            <a:off x="127635" y="5226685"/>
            <a:ext cx="5510530" cy="1491615"/>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marL="0" indent="0">
              <a:lnSpc>
                <a:spcPct val="85000"/>
              </a:lnSpc>
              <a:spcBef>
                <a:spcPts val="500"/>
              </a:spcBef>
              <a:spcAft>
                <a:spcPts val="0"/>
              </a:spcAft>
              <a:buNone/>
            </a:pPr>
            <a:r>
              <a:rPr lang="en-US" sz="2200" b="0" dirty="0" smtClean="0">
                <a:solidFill>
                  <a:schemeClr val="tx1"/>
                </a:solidFill>
                <a:latin typeface="Calibri" panose="020F0502020204030204" charset="0"/>
                <a:cs typeface="Calibri" panose="020F0502020204030204" charset="0"/>
              </a:rPr>
              <a:t>* Figure 5.5 shows all of the use cases in the Mentcare system in which the actor “Medical Receptionist” is involved. </a:t>
            </a:r>
            <a:r>
              <a:rPr lang="en-US" sz="2200" b="0" u="sng" dirty="0" smtClean="0">
                <a:solidFill>
                  <a:schemeClr val="tx1"/>
                </a:solidFill>
                <a:latin typeface="Calibri" panose="020F0502020204030204" charset="0"/>
                <a:cs typeface="Calibri" panose="020F0502020204030204" charset="0"/>
              </a:rPr>
              <a:t>Each of these should be accompanied by a more detailed description. </a:t>
            </a:r>
            <a:r>
              <a:rPr lang="en-US" sz="2200" b="0" dirty="0" smtClean="0">
                <a:solidFill>
                  <a:schemeClr val="tx1"/>
                </a:solidFill>
                <a:latin typeface="Calibri" panose="020F0502020204030204" charset="0"/>
                <a:cs typeface="Calibri" panose="020F0502020204030204" charset="0"/>
              </a:rPr>
              <a:t> </a:t>
            </a:r>
            <a:r>
              <a:rPr lang="zh-CN" altLang="en-US" sz="1600" dirty="0" smtClean="0">
                <a:solidFill>
                  <a:schemeClr val="accent5">
                    <a:lumMod val="50000"/>
                  </a:schemeClr>
                </a:solidFill>
                <a:latin typeface="黑体" panose="02010609060101010101" pitchFamily="49" charset="-122"/>
                <a:ea typeface="黑体" panose="02010609060101010101" pitchFamily="49" charset="-122"/>
                <a:cs typeface="黑体" panose="02010609060101010101" pitchFamily="49" charset="-122"/>
              </a:rPr>
              <a:t>展示了</a:t>
            </a:r>
            <a:r>
              <a:rPr lang="en-US" altLang="zh-CN" sz="1600" dirty="0" smtClean="0">
                <a:solidFill>
                  <a:schemeClr val="accent5">
                    <a:lumMod val="50000"/>
                  </a:schemeClr>
                </a:solidFill>
                <a:latin typeface="黑体" panose="02010609060101010101" pitchFamily="49" charset="-122"/>
                <a:ea typeface="黑体" panose="02010609060101010101" pitchFamily="49" charset="-122"/>
                <a:cs typeface="黑体" panose="02010609060101010101" pitchFamily="49" charset="-122"/>
              </a:rPr>
              <a:t>‘</a:t>
            </a:r>
            <a:r>
              <a:rPr lang="zh-CN" altLang="en-US" sz="1600" dirty="0" smtClean="0">
                <a:solidFill>
                  <a:schemeClr val="accent5">
                    <a:lumMod val="50000"/>
                  </a:schemeClr>
                </a:solidFill>
                <a:latin typeface="黑体" panose="02010609060101010101" pitchFamily="49" charset="-122"/>
                <a:ea typeface="黑体" panose="02010609060101010101" pitchFamily="49" charset="-122"/>
                <a:cs typeface="黑体" panose="02010609060101010101" pitchFamily="49" charset="-122"/>
              </a:rPr>
              <a:t>医疗接待员</a:t>
            </a:r>
            <a:r>
              <a:rPr lang="en-US" altLang="zh-CN" sz="1600" dirty="0" smtClean="0">
                <a:solidFill>
                  <a:schemeClr val="accent5">
                    <a:lumMod val="50000"/>
                  </a:schemeClr>
                </a:solidFill>
                <a:latin typeface="黑体" panose="02010609060101010101" pitchFamily="49" charset="-122"/>
                <a:ea typeface="黑体" panose="02010609060101010101" pitchFamily="49" charset="-122"/>
                <a:cs typeface="黑体" panose="02010609060101010101" pitchFamily="49" charset="-122"/>
              </a:rPr>
              <a:t>’</a:t>
            </a:r>
            <a:r>
              <a:rPr lang="zh-CN" altLang="en-US" sz="1600" dirty="0" smtClean="0">
                <a:solidFill>
                  <a:schemeClr val="accent5">
                    <a:lumMod val="50000"/>
                  </a:schemeClr>
                </a:solidFill>
                <a:latin typeface="黑体" panose="02010609060101010101" pitchFamily="49" charset="-122"/>
                <a:ea typeface="黑体" panose="02010609060101010101" pitchFamily="49" charset="-122"/>
                <a:cs typeface="黑体" panose="02010609060101010101" pitchFamily="49" charset="-122"/>
              </a:rPr>
              <a:t>涉及到的所有用例</a:t>
            </a:r>
            <a:endParaRPr lang="zh-CN" altLang="en-US" sz="1600" dirty="0" smtClean="0">
              <a:solidFill>
                <a:schemeClr val="accent5">
                  <a:lumMod val="50000"/>
                </a:schemeClr>
              </a:solidFill>
              <a:latin typeface="黑体" panose="02010609060101010101" pitchFamily="49" charset="-122"/>
              <a:ea typeface="黑体" panose="02010609060101010101" pitchFamily="49" charset="-122"/>
              <a:cs typeface="黑体" panose="02010609060101010101" pitchFamily="49" charset="-122"/>
            </a:endParaRPr>
          </a:p>
        </p:txBody>
      </p:sp>
      <p:sp>
        <p:nvSpPr>
          <p:cNvPr id="6" name="Content Placeholder 2"/>
          <p:cNvSpPr>
            <a:spLocks noGrp="1"/>
          </p:cNvSpPr>
          <p:nvPr/>
        </p:nvSpPr>
        <p:spPr>
          <a:xfrm>
            <a:off x="144145" y="2339975"/>
            <a:ext cx="3684270" cy="2905760"/>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marL="0" indent="0">
              <a:lnSpc>
                <a:spcPct val="85000"/>
              </a:lnSpc>
              <a:spcBef>
                <a:spcPts val="500"/>
              </a:spcBef>
              <a:spcAft>
                <a:spcPts val="0"/>
              </a:spcAft>
              <a:buNone/>
            </a:pPr>
            <a:r>
              <a:rPr lang="en-US" sz="2200" b="0" dirty="0" smtClean="0">
                <a:solidFill>
                  <a:schemeClr val="tx1"/>
                </a:solidFill>
                <a:latin typeface="Calibri" panose="020F0502020204030204" charset="0"/>
                <a:cs typeface="Calibri" panose="020F0502020204030204" charset="0"/>
              </a:rPr>
              <a:t>* Sometimes it is possible to include all possible interactions within a system in a single composite use case diagram. However, this may be impossible because of the number of use cases. In such cases, you may develop several diagrams, each of which shows related use cases.</a:t>
            </a:r>
            <a:endParaRPr lang="en-US" sz="2200" b="0" dirty="0" smtClean="0">
              <a:solidFill>
                <a:schemeClr val="tx1"/>
              </a:solidFill>
              <a:latin typeface="Calibri" panose="020F0502020204030204" charset="0"/>
              <a:cs typeface="Calibri" panose="020F0502020204030204" charset="0"/>
            </a:endParaRPr>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04215"/>
            <a:ext cx="8977630" cy="53721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rgbClr val="0070C0"/>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Sequence diagrams</a:t>
            </a:r>
            <a:r>
              <a:rPr lang="en-US" altLang="zh-CN" sz="3200" dirty="0">
                <a:solidFill>
                  <a:schemeClr val="accent1">
                    <a:lumMod val="75000"/>
                  </a:schemeClr>
                </a:solidFill>
                <a:ea typeface="宋体" panose="02010600030101010101" pitchFamily="2" charset="-122"/>
                <a:sym typeface="+mn-ea"/>
              </a:rPr>
              <a:t>   </a:t>
            </a:r>
            <a:r>
              <a:rPr lang="zh-CN" altLang="en-US" dirty="0">
                <a:solidFill>
                  <a:schemeClr val="accent1">
                    <a:lumMod val="75000"/>
                  </a:schemeClr>
                </a:solidFill>
                <a:latin typeface="黑体" panose="02010609060101010101" pitchFamily="49" charset="-122"/>
                <a:ea typeface="黑体" panose="02010609060101010101" pitchFamily="49" charset="-122"/>
                <a:sym typeface="+mn-ea"/>
              </a:rPr>
              <a:t>顺序图</a:t>
            </a:r>
            <a:endParaRPr lang="zh-CN" altLang="en-US" dirty="0">
              <a:solidFill>
                <a:schemeClr val="accent1">
                  <a:lumMod val="75000"/>
                </a:schemeClr>
              </a:solidFill>
              <a:latin typeface="黑体" panose="02010609060101010101" pitchFamily="49" charset="-122"/>
              <a:ea typeface="黑体" panose="02010609060101010101" pitchFamily="49" charset="-122"/>
              <a:sym typeface="+mn-ea"/>
            </a:endParaRPr>
          </a:p>
        </p:txBody>
      </p:sp>
      <p:sp>
        <p:nvSpPr>
          <p:cNvPr id="4" name="Rectangle 2"/>
          <p:cNvSpPr>
            <a:spLocks noGrp="1"/>
          </p:cNvSpPr>
          <p:nvPr>
            <p:ph type="title"/>
            <p:custDataLst>
              <p:tags r:id="rId2"/>
            </p:custDataLst>
          </p:nvPr>
        </p:nvSpPr>
        <p:spPr>
          <a:xfrm>
            <a:off x="617538" y="198755"/>
            <a:ext cx="455295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5  System modeling</a:t>
            </a:r>
            <a:endParaRPr lang="en-US" altLang="zh-CN" sz="2800" dirty="0">
              <a:solidFill>
                <a:srgbClr val="660066"/>
              </a:solidFill>
              <a:ea typeface="黑体" panose="02010609060101010101" pitchFamily="49" charset="-122"/>
              <a:cs typeface="+mj-lt"/>
            </a:endParaRPr>
          </a:p>
        </p:txBody>
      </p:sp>
      <p:sp>
        <p:nvSpPr>
          <p:cNvPr id="5" name="Content Placeholder 2"/>
          <p:cNvSpPr>
            <a:spLocks noGrp="1"/>
          </p:cNvSpPr>
          <p:nvPr/>
        </p:nvSpPr>
        <p:spPr>
          <a:xfrm>
            <a:off x="37465" y="1241425"/>
            <a:ext cx="9026525" cy="5412740"/>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85000"/>
              </a:lnSpc>
              <a:spcBef>
                <a:spcPts val="500"/>
              </a:spcBef>
              <a:spcAft>
                <a:spcPts val="0"/>
              </a:spcAft>
            </a:pPr>
            <a:r>
              <a:rPr lang="en-US" sz="2800" dirty="0" smtClean="0">
                <a:solidFill>
                  <a:schemeClr val="tx2">
                    <a:lumMod val="75000"/>
                    <a:lumOff val="25000"/>
                  </a:schemeClr>
                </a:solidFill>
                <a:latin typeface="Calibri" panose="020F0502020204030204" charset="0"/>
                <a:cs typeface="Calibri" panose="020F0502020204030204" charset="0"/>
              </a:rPr>
              <a:t> Sequence diagrams are used to model the interactions between the actors and the objects and the interactions between the objects.  </a:t>
            </a:r>
            <a:r>
              <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rPr>
              <a:t>对交互建模</a:t>
            </a:r>
            <a:r>
              <a:rPr lang="en-US" altLang="zh-CN" sz="2000" kern="0" dirty="0">
                <a:solidFill>
                  <a:schemeClr val="accent1">
                    <a:lumMod val="75000"/>
                  </a:schemeClr>
                </a:solidFill>
                <a:latin typeface="黑体" panose="02010609060101010101" pitchFamily="49" charset="-122"/>
                <a:ea typeface="黑体" panose="02010609060101010101" pitchFamily="49" charset="-122"/>
                <a:cs typeface="+mn-cs"/>
              </a:rPr>
              <a:t>:</a:t>
            </a:r>
            <a:r>
              <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rPr>
              <a:t>参与者与对象，对象之间</a:t>
            </a:r>
            <a:endPar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endParaRPr>
          </a:p>
          <a:p>
            <a:pPr>
              <a:lnSpc>
                <a:spcPct val="85000"/>
              </a:lnSpc>
              <a:spcBef>
                <a:spcPts val="500"/>
              </a:spcBef>
              <a:spcAft>
                <a:spcPts val="0"/>
              </a:spcAft>
            </a:pPr>
            <a:r>
              <a:rPr lang="en-US" sz="2800" dirty="0" smtClean="0">
                <a:solidFill>
                  <a:schemeClr val="tx2">
                    <a:lumMod val="75000"/>
                    <a:lumOff val="25000"/>
                  </a:schemeClr>
                </a:solidFill>
                <a:latin typeface="Calibri" panose="020F0502020204030204" charset="0"/>
                <a:cs typeface="Calibri" panose="020F0502020204030204" charset="0"/>
              </a:rPr>
              <a:t> A sequence diagram shows the sequence of interactions that take place during a particular use case. </a:t>
            </a:r>
            <a:r>
              <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rPr>
              <a:t>展示交互序列</a:t>
            </a:r>
            <a:endPar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endParaRPr>
          </a:p>
          <a:p>
            <a:pPr>
              <a:lnSpc>
                <a:spcPct val="85000"/>
              </a:lnSpc>
              <a:spcBef>
                <a:spcPts val="500"/>
              </a:spcBef>
              <a:spcAft>
                <a:spcPts val="0"/>
              </a:spcAft>
            </a:pPr>
            <a:r>
              <a:rPr lang="en-US" sz="2800" dirty="0" smtClean="0">
                <a:solidFill>
                  <a:schemeClr val="tx2">
                    <a:lumMod val="75000"/>
                    <a:lumOff val="25000"/>
                  </a:schemeClr>
                </a:solidFill>
                <a:latin typeface="Calibri" panose="020F0502020204030204" charset="0"/>
                <a:cs typeface="Calibri" panose="020F0502020204030204" charset="0"/>
              </a:rPr>
              <a:t> Figure 5.6 is a sequence diagram that illustrates the notation. It models the interactions in the ‘ view patient information ’ use case. </a:t>
            </a:r>
            <a:r>
              <a:rPr lang="en-US" sz="2200" b="0" dirty="0" smtClean="0">
                <a:solidFill>
                  <a:schemeClr val="tx1"/>
                </a:solidFill>
                <a:latin typeface="Calibri" panose="020F0502020204030204" charset="0"/>
                <a:cs typeface="Calibri" panose="020F0502020204030204" charset="0"/>
              </a:rPr>
              <a:t>Objects and actors involved are listed along the top of the diagram, with a </a:t>
            </a:r>
            <a:r>
              <a:rPr lang="en-US" sz="2200" b="0" u="sng" dirty="0" smtClean="0">
                <a:solidFill>
                  <a:schemeClr val="tx1"/>
                </a:solidFill>
                <a:latin typeface="Calibri" panose="020F0502020204030204" charset="0"/>
                <a:cs typeface="Calibri" panose="020F0502020204030204" charset="0"/>
              </a:rPr>
              <a:t>dotted line</a:t>
            </a:r>
            <a:r>
              <a:rPr lang="en-US" sz="2200" b="0" dirty="0" smtClean="0">
                <a:solidFill>
                  <a:schemeClr val="tx1"/>
                </a:solidFill>
                <a:latin typeface="Calibri" panose="020F0502020204030204" charset="0"/>
                <a:cs typeface="Calibri" panose="020F0502020204030204" charset="0"/>
              </a:rPr>
              <a:t> drawn vertically from these. </a:t>
            </a:r>
            <a:r>
              <a:rPr lang="en-US" sz="2200" b="0" u="sng" dirty="0" smtClean="0">
                <a:solidFill>
                  <a:schemeClr val="tx1"/>
                </a:solidFill>
                <a:latin typeface="Calibri" panose="020F0502020204030204" charset="0"/>
                <a:cs typeface="Calibri" panose="020F0502020204030204" charset="0"/>
              </a:rPr>
              <a:t>Annotated arrows</a:t>
            </a:r>
            <a:r>
              <a:rPr lang="en-US" sz="2200" b="0" dirty="0" smtClean="0">
                <a:solidFill>
                  <a:schemeClr val="tx1"/>
                </a:solidFill>
                <a:latin typeface="Calibri" panose="020F0502020204030204" charset="0"/>
                <a:cs typeface="Calibri" panose="020F0502020204030204" charset="0"/>
              </a:rPr>
              <a:t> indicate </a:t>
            </a:r>
            <a:r>
              <a:rPr lang="en-US" sz="2200" b="0" u="sng" dirty="0" smtClean="0">
                <a:solidFill>
                  <a:schemeClr val="tx1"/>
                </a:solidFill>
                <a:latin typeface="Calibri" panose="020F0502020204030204" charset="0"/>
                <a:cs typeface="Calibri" panose="020F0502020204030204" charset="0"/>
              </a:rPr>
              <a:t>interactions</a:t>
            </a:r>
            <a:r>
              <a:rPr lang="en-US" sz="2200" b="0" dirty="0" smtClean="0">
                <a:solidFill>
                  <a:schemeClr val="tx1"/>
                </a:solidFill>
                <a:latin typeface="Calibri" panose="020F0502020204030204" charset="0"/>
                <a:cs typeface="Calibri" panose="020F0502020204030204" charset="0"/>
              </a:rPr>
              <a:t> between objects. The </a:t>
            </a:r>
            <a:r>
              <a:rPr lang="en-US" sz="2200" b="0" u="sng" dirty="0" smtClean="0">
                <a:solidFill>
                  <a:schemeClr val="tx1"/>
                </a:solidFill>
                <a:latin typeface="Calibri" panose="020F0502020204030204" charset="0"/>
                <a:cs typeface="Calibri" panose="020F0502020204030204" charset="0"/>
              </a:rPr>
              <a:t>rectangle</a:t>
            </a:r>
            <a:r>
              <a:rPr lang="en-US" sz="2200" b="0" dirty="0" smtClean="0">
                <a:solidFill>
                  <a:schemeClr val="tx1"/>
                </a:solidFill>
                <a:latin typeface="Calibri" panose="020F0502020204030204" charset="0"/>
                <a:cs typeface="Calibri" panose="020F0502020204030204" charset="0"/>
              </a:rPr>
              <a:t> on the dotted lines indicates the </a:t>
            </a:r>
            <a:r>
              <a:rPr lang="en-US" sz="2200" b="0" u="sng" dirty="0" smtClean="0">
                <a:solidFill>
                  <a:schemeClr val="tx1"/>
                </a:solidFill>
                <a:latin typeface="Calibri" panose="020F0502020204030204" charset="0"/>
                <a:cs typeface="Calibri" panose="020F0502020204030204" charset="0"/>
              </a:rPr>
              <a:t>lifeline</a:t>
            </a:r>
            <a:r>
              <a:rPr lang="en-US" sz="2200" b="0" dirty="0" smtClean="0">
                <a:solidFill>
                  <a:schemeClr val="tx1"/>
                </a:solidFill>
                <a:latin typeface="Calibri" panose="020F0502020204030204" charset="0"/>
                <a:cs typeface="Calibri" panose="020F0502020204030204" charset="0"/>
              </a:rPr>
              <a:t> of the object concerned. You read the sequence of interactions from top to bottom. The annotations on the arrows indicate the calls to the objects, their parameters, and the return values. A box named </a:t>
            </a:r>
            <a:r>
              <a:rPr lang="en-US" sz="2200" b="0" u="sng" dirty="0" smtClean="0">
                <a:solidFill>
                  <a:schemeClr val="tx1"/>
                </a:solidFill>
                <a:latin typeface="Calibri" panose="020F0502020204030204" charset="0"/>
                <a:cs typeface="Calibri" panose="020F0502020204030204" charset="0"/>
              </a:rPr>
              <a:t>alt</a:t>
            </a:r>
            <a:r>
              <a:rPr lang="en-US" sz="2200" b="0" dirty="0" smtClean="0">
                <a:solidFill>
                  <a:schemeClr val="tx1"/>
                </a:solidFill>
                <a:latin typeface="Calibri" panose="020F0502020204030204" charset="0"/>
                <a:cs typeface="Calibri" panose="020F0502020204030204" charset="0"/>
              </a:rPr>
              <a:t> is used with the conditions indicated in </a:t>
            </a:r>
            <a:r>
              <a:rPr lang="en-US" sz="2200" b="0" u="sng" dirty="0" smtClean="0">
                <a:solidFill>
                  <a:schemeClr val="tx1"/>
                </a:solidFill>
                <a:latin typeface="Calibri" panose="020F0502020204030204" charset="0"/>
                <a:cs typeface="Calibri" panose="020F0502020204030204" charset="0"/>
              </a:rPr>
              <a:t>square brackets</a:t>
            </a:r>
            <a:r>
              <a:rPr lang="en-US" sz="2200" b="0" dirty="0" smtClean="0">
                <a:solidFill>
                  <a:schemeClr val="tx1"/>
                </a:solidFill>
                <a:latin typeface="Calibri" panose="020F0502020204030204" charset="0"/>
                <a:cs typeface="Calibri" panose="020F0502020204030204" charset="0"/>
              </a:rPr>
              <a:t>, with alternative interaction options separated by a </a:t>
            </a:r>
            <a:r>
              <a:rPr lang="en-US" sz="2200" b="0" u="sng" dirty="0" smtClean="0">
                <a:solidFill>
                  <a:schemeClr val="tx1"/>
                </a:solidFill>
                <a:latin typeface="Calibri" panose="020F0502020204030204" charset="0"/>
                <a:cs typeface="Calibri" panose="020F0502020204030204" charset="0"/>
              </a:rPr>
              <a:t>dotted line</a:t>
            </a:r>
            <a:r>
              <a:rPr lang="en-US" sz="2200" b="0" dirty="0" smtClean="0">
                <a:solidFill>
                  <a:schemeClr val="tx1"/>
                </a:solidFill>
                <a:latin typeface="Calibri" panose="020F0502020204030204" charset="0"/>
                <a:cs typeface="Calibri" panose="020F0502020204030204" charset="0"/>
              </a:rPr>
              <a:t>. </a:t>
            </a:r>
            <a:r>
              <a:rPr lang="en-US" sz="2000" b="0" dirty="0" smtClean="0">
                <a:solidFill>
                  <a:schemeClr val="tx1"/>
                </a:solidFill>
                <a:latin typeface="Calibri" panose="020F0502020204030204" charset="0"/>
                <a:cs typeface="Calibri" panose="020F0502020204030204" charset="0"/>
              </a:rPr>
              <a:t> </a:t>
            </a:r>
            <a:r>
              <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rPr>
              <a:t>例子</a:t>
            </a:r>
            <a:r>
              <a:rPr lang="en-US" altLang="zh-CN" sz="2000" kern="0" dirty="0">
                <a:solidFill>
                  <a:schemeClr val="accent1">
                    <a:lumMod val="75000"/>
                  </a:schemeClr>
                </a:solidFill>
                <a:latin typeface="黑体" panose="02010609060101010101" pitchFamily="49" charset="-122"/>
                <a:ea typeface="黑体" panose="02010609060101010101" pitchFamily="49" charset="-122"/>
                <a:cs typeface="+mn-cs"/>
              </a:rPr>
              <a:t>: ‘</a:t>
            </a:r>
            <a:r>
              <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rPr>
              <a:t>查看病人信息</a:t>
            </a:r>
            <a:r>
              <a:rPr lang="en-US" altLang="zh-CN" sz="2000" kern="0" dirty="0">
                <a:solidFill>
                  <a:schemeClr val="accent1">
                    <a:lumMod val="75000"/>
                  </a:schemeClr>
                </a:solidFill>
                <a:latin typeface="黑体" panose="02010609060101010101" pitchFamily="49" charset="-122"/>
                <a:ea typeface="黑体" panose="02010609060101010101" pitchFamily="49" charset="-122"/>
                <a:cs typeface="+mn-cs"/>
              </a:rPr>
              <a:t>’</a:t>
            </a:r>
            <a:r>
              <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rPr>
              <a:t>的用例图</a:t>
            </a:r>
            <a:endParaRPr lang="zh-CN" altLang="en-US" sz="2000" b="0" kern="0" dirty="0" smtClean="0">
              <a:solidFill>
                <a:schemeClr val="accent1">
                  <a:lumMod val="75000"/>
                </a:schemeClr>
              </a:solidFill>
              <a:latin typeface="黑体" panose="02010609060101010101" pitchFamily="49" charset="-122"/>
              <a:ea typeface="黑体" panose="02010609060101010101" pitchFamily="49" charset="-122"/>
              <a:cs typeface="+mn-cs"/>
            </a:endParaRPr>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6" name="图片 5"/>
          <p:cNvPicPr>
            <a:picLocks noChangeAspect="1"/>
          </p:cNvPicPr>
          <p:nvPr/>
        </p:nvPicPr>
        <p:blipFill>
          <a:blip r:embed="rId1"/>
          <a:stretch>
            <a:fillRect/>
          </a:stretch>
        </p:blipFill>
        <p:spPr>
          <a:xfrm>
            <a:off x="1355090" y="182245"/>
            <a:ext cx="7693025" cy="5573395"/>
          </a:xfrm>
          <a:prstGeom prst="rect">
            <a:avLst/>
          </a:prstGeom>
        </p:spPr>
      </p:pic>
      <p:pic>
        <p:nvPicPr>
          <p:cNvPr id="7" name="图片 6"/>
          <p:cNvPicPr>
            <a:picLocks noChangeAspect="1"/>
          </p:cNvPicPr>
          <p:nvPr/>
        </p:nvPicPr>
        <p:blipFill>
          <a:blip r:embed="rId2"/>
          <a:stretch>
            <a:fillRect/>
          </a:stretch>
        </p:blipFill>
        <p:spPr>
          <a:xfrm>
            <a:off x="4739005" y="76835"/>
            <a:ext cx="1976120" cy="626110"/>
          </a:xfrm>
          <a:prstGeom prst="rect">
            <a:avLst/>
          </a:prstGeom>
        </p:spPr>
      </p:pic>
      <p:sp>
        <p:nvSpPr>
          <p:cNvPr id="8" name="Content Placeholder 2"/>
          <p:cNvSpPr>
            <a:spLocks noGrp="1"/>
          </p:cNvSpPr>
          <p:nvPr/>
        </p:nvSpPr>
        <p:spPr>
          <a:xfrm>
            <a:off x="72390" y="689610"/>
            <a:ext cx="1597660" cy="4994275"/>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marL="0" indent="0">
              <a:lnSpc>
                <a:spcPct val="85000"/>
              </a:lnSpc>
              <a:spcBef>
                <a:spcPts val="500"/>
              </a:spcBef>
              <a:spcAft>
                <a:spcPts val="0"/>
              </a:spcAft>
              <a:buNone/>
            </a:pPr>
            <a:r>
              <a:rPr lang="en-US" sz="1400" b="0" dirty="0" smtClean="0">
                <a:solidFill>
                  <a:schemeClr val="tx1"/>
                </a:solidFill>
                <a:latin typeface="Calibri" panose="020F0502020204030204" charset="0"/>
                <a:cs typeface="Calibri" panose="020F0502020204030204" charset="0"/>
              </a:rPr>
              <a:t>1. The medical receptionist triggers ViewInfo method in an instance P of the PatientInfo class, supplying the patient’s identifier, PID to identify the required information. P is a user interface object, which is displayed as a form showing patient information. </a:t>
            </a:r>
            <a:endParaRPr lang="en-US" sz="1400" b="0" dirty="0" smtClean="0">
              <a:solidFill>
                <a:schemeClr val="tx1"/>
              </a:solidFill>
              <a:latin typeface="Calibri" panose="020F0502020204030204" charset="0"/>
              <a:cs typeface="Calibri" panose="020F0502020204030204" charset="0"/>
            </a:endParaRPr>
          </a:p>
          <a:p>
            <a:pPr marL="0" indent="0">
              <a:lnSpc>
                <a:spcPct val="85000"/>
              </a:lnSpc>
              <a:spcBef>
                <a:spcPts val="500"/>
              </a:spcBef>
              <a:spcAft>
                <a:spcPts val="0"/>
              </a:spcAft>
              <a:buNone/>
            </a:pPr>
            <a:r>
              <a:rPr lang="en-US" sz="1400" b="0" dirty="0" smtClean="0">
                <a:solidFill>
                  <a:schemeClr val="tx1"/>
                </a:solidFill>
                <a:latin typeface="Calibri" panose="020F0502020204030204" charset="0"/>
                <a:cs typeface="Calibri" panose="020F0502020204030204" charset="0"/>
              </a:rPr>
              <a:t>2. The P calls the database to return the information required, supplying the receptionist’s identifier to allow security checking. (Here, it is not important where the receptionist’s UID comes from.)</a:t>
            </a:r>
            <a:endParaRPr lang="en-US" sz="1400" b="0" dirty="0" smtClean="0">
              <a:solidFill>
                <a:schemeClr val="tx1"/>
              </a:solidFill>
              <a:latin typeface="Calibri" panose="020F0502020204030204" charset="0"/>
              <a:cs typeface="Calibri" panose="020F0502020204030204" charset="0"/>
            </a:endParaRPr>
          </a:p>
          <a:p>
            <a:pPr marL="0" indent="0">
              <a:lnSpc>
                <a:spcPct val="85000"/>
              </a:lnSpc>
              <a:spcBef>
                <a:spcPts val="500"/>
              </a:spcBef>
              <a:spcAft>
                <a:spcPts val="0"/>
              </a:spcAft>
              <a:buNone/>
            </a:pPr>
            <a:endParaRPr lang="en-US" sz="1400" b="0" dirty="0" smtClean="0">
              <a:solidFill>
                <a:schemeClr val="tx1"/>
              </a:solidFill>
              <a:latin typeface="Calibri" panose="020F0502020204030204" charset="0"/>
              <a:cs typeface="Calibri" panose="020F0502020204030204" charset="0"/>
            </a:endParaRPr>
          </a:p>
        </p:txBody>
      </p:sp>
      <p:sp>
        <p:nvSpPr>
          <p:cNvPr id="9" name="Content Placeholder 2"/>
          <p:cNvSpPr>
            <a:spLocks noGrp="1"/>
          </p:cNvSpPr>
          <p:nvPr/>
        </p:nvSpPr>
        <p:spPr>
          <a:xfrm>
            <a:off x="100330" y="5767705"/>
            <a:ext cx="8977630" cy="894715"/>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marL="0" indent="0">
              <a:lnSpc>
                <a:spcPct val="85000"/>
              </a:lnSpc>
              <a:spcBef>
                <a:spcPts val="500"/>
              </a:spcBef>
              <a:spcAft>
                <a:spcPts val="0"/>
              </a:spcAft>
              <a:buNone/>
            </a:pPr>
            <a:r>
              <a:rPr lang="en-US" sz="1400" b="0" dirty="0" smtClean="0">
                <a:solidFill>
                  <a:schemeClr val="tx1"/>
                </a:solidFill>
                <a:latin typeface="Calibri" panose="020F0502020204030204" charset="0"/>
                <a:cs typeface="Calibri" panose="020F0502020204030204" charset="0"/>
              </a:rPr>
              <a:t>3. The database checks with an authorization system that the receptionist is authorized for this action. </a:t>
            </a:r>
            <a:endParaRPr lang="en-US" sz="1400" b="0" dirty="0" smtClean="0">
              <a:solidFill>
                <a:schemeClr val="tx1"/>
              </a:solidFill>
              <a:latin typeface="Calibri" panose="020F0502020204030204" charset="0"/>
              <a:cs typeface="Calibri" panose="020F0502020204030204" charset="0"/>
            </a:endParaRPr>
          </a:p>
          <a:p>
            <a:pPr marL="0" indent="0">
              <a:lnSpc>
                <a:spcPct val="85000"/>
              </a:lnSpc>
              <a:spcBef>
                <a:spcPts val="500"/>
              </a:spcBef>
              <a:spcAft>
                <a:spcPts val="0"/>
              </a:spcAft>
              <a:buNone/>
            </a:pPr>
            <a:r>
              <a:rPr lang="en-US" sz="1400" b="0" dirty="0" smtClean="0">
                <a:solidFill>
                  <a:schemeClr val="tx1"/>
                </a:solidFill>
                <a:latin typeface="Calibri" panose="020F0502020204030204" charset="0"/>
                <a:cs typeface="Calibri" panose="020F0502020204030204" charset="0"/>
              </a:rPr>
              <a:t>4. If authorized, the patient information is returned and is displayed on a form on the user’s screen. If authorization fails, then an error message is returned. The box denoted by “alt” in the top-left corner is a choice box indicating that one of the contained interactions will be executed. The condition that selects the choice is shown in square brackets.</a:t>
            </a:r>
            <a:endParaRPr lang="en-US" sz="1400" b="0" dirty="0" smtClean="0">
              <a:solidFill>
                <a:schemeClr val="tx1"/>
              </a:solidFill>
              <a:latin typeface="Calibri" panose="020F0502020204030204" charset="0"/>
              <a:cs typeface="Calibri" panose="020F0502020204030204" charset="0"/>
            </a:endParaRPr>
          </a:p>
          <a:p>
            <a:pPr marL="0" indent="0">
              <a:lnSpc>
                <a:spcPct val="85000"/>
              </a:lnSpc>
              <a:spcBef>
                <a:spcPts val="500"/>
              </a:spcBef>
              <a:spcAft>
                <a:spcPts val="0"/>
              </a:spcAft>
              <a:buNone/>
            </a:pPr>
            <a:endParaRPr lang="en-US" sz="1400" b="0" dirty="0" smtClean="0">
              <a:solidFill>
                <a:schemeClr val="tx1"/>
              </a:solidFill>
              <a:latin typeface="Calibri" panose="020F0502020204030204" charset="0"/>
              <a:cs typeface="Calibri" panose="020F0502020204030204" charset="0"/>
            </a:endParaRPr>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6" name="图片 5"/>
          <p:cNvPicPr>
            <a:picLocks noChangeAspect="1"/>
          </p:cNvPicPr>
          <p:nvPr/>
        </p:nvPicPr>
        <p:blipFill>
          <a:blip r:embed="rId1"/>
          <a:stretch>
            <a:fillRect/>
          </a:stretch>
        </p:blipFill>
        <p:spPr>
          <a:xfrm>
            <a:off x="2237105" y="30480"/>
            <a:ext cx="6837680" cy="6769100"/>
          </a:xfrm>
          <a:prstGeom prst="rect">
            <a:avLst/>
          </a:prstGeom>
        </p:spPr>
      </p:pic>
      <p:pic>
        <p:nvPicPr>
          <p:cNvPr id="7" name="图片 6"/>
          <p:cNvPicPr>
            <a:picLocks noChangeAspect="1"/>
          </p:cNvPicPr>
          <p:nvPr/>
        </p:nvPicPr>
        <p:blipFill>
          <a:blip r:embed="rId2"/>
          <a:stretch>
            <a:fillRect/>
          </a:stretch>
        </p:blipFill>
        <p:spPr>
          <a:xfrm>
            <a:off x="7449185" y="62230"/>
            <a:ext cx="1133475" cy="419100"/>
          </a:xfrm>
          <a:prstGeom prst="rect">
            <a:avLst/>
          </a:prstGeom>
        </p:spPr>
      </p:pic>
      <p:sp>
        <p:nvSpPr>
          <p:cNvPr id="8" name="Content Placeholder 2"/>
          <p:cNvSpPr>
            <a:spLocks noGrp="1"/>
          </p:cNvSpPr>
          <p:nvPr/>
        </p:nvSpPr>
        <p:spPr>
          <a:xfrm>
            <a:off x="72390" y="402590"/>
            <a:ext cx="2425700" cy="6191885"/>
          </a:xfrm>
          <a:prstGeom prst="rect">
            <a:avLst/>
          </a:prstGeom>
          <a:solidFill>
            <a:schemeClr val="bg1"/>
          </a:solidFill>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marL="0" indent="0">
              <a:lnSpc>
                <a:spcPct val="85000"/>
              </a:lnSpc>
              <a:spcBef>
                <a:spcPts val="500"/>
              </a:spcBef>
              <a:spcAft>
                <a:spcPts val="0"/>
              </a:spcAft>
              <a:buNone/>
            </a:pPr>
            <a:r>
              <a:rPr lang="en-US" sz="1400" b="0" dirty="0" smtClean="0">
                <a:solidFill>
                  <a:schemeClr val="tx1"/>
                </a:solidFill>
                <a:latin typeface="Calibri" panose="020F0502020204030204" charset="0"/>
                <a:cs typeface="Calibri" panose="020F0502020204030204" charset="0"/>
              </a:rPr>
              <a:t>Figure 5.7 is a further example that illustrates two additional features. These are the direct communication between the actors and the creation of objects. An object of type Summary is created to hold the summary data that is to be uploaded to a national PRS. </a:t>
            </a:r>
            <a:endParaRPr lang="en-US" sz="1400" b="0" dirty="0" smtClean="0">
              <a:solidFill>
                <a:schemeClr val="tx1"/>
              </a:solidFill>
              <a:latin typeface="Calibri" panose="020F0502020204030204" charset="0"/>
              <a:cs typeface="Calibri" panose="020F0502020204030204" charset="0"/>
            </a:endParaRPr>
          </a:p>
          <a:p>
            <a:pPr marL="0" indent="0">
              <a:lnSpc>
                <a:spcPct val="85000"/>
              </a:lnSpc>
              <a:spcBef>
                <a:spcPts val="500"/>
              </a:spcBef>
              <a:spcAft>
                <a:spcPts val="0"/>
              </a:spcAft>
              <a:buNone/>
            </a:pPr>
            <a:r>
              <a:rPr lang="en-US" sz="1400" b="0" dirty="0" smtClean="0">
                <a:solidFill>
                  <a:schemeClr val="tx1"/>
                </a:solidFill>
                <a:latin typeface="Calibri" panose="020F0502020204030204" charset="0"/>
                <a:cs typeface="Calibri" panose="020F0502020204030204" charset="0"/>
              </a:rPr>
              <a:t>1. The receptionist logs on to PRS</a:t>
            </a:r>
            <a:r>
              <a:rPr lang="en-US" sz="1400" b="0" dirty="0" smtClean="0">
                <a:solidFill>
                  <a:schemeClr val="tx1"/>
                </a:solidFill>
                <a:latin typeface="Calibri" panose="020F0502020204030204" charset="0"/>
                <a:cs typeface="Calibri" panose="020F0502020204030204" charset="0"/>
                <a:sym typeface="+mn-ea"/>
              </a:rPr>
              <a:t>(patient records system)</a:t>
            </a:r>
            <a:r>
              <a:rPr lang="en-US" sz="1400" b="0" dirty="0" smtClean="0">
                <a:solidFill>
                  <a:schemeClr val="tx1"/>
                </a:solidFill>
                <a:latin typeface="Calibri" panose="020F0502020204030204" charset="0"/>
                <a:cs typeface="Calibri" panose="020F0502020204030204" charset="0"/>
              </a:rPr>
              <a:t>.</a:t>
            </a:r>
            <a:endParaRPr lang="en-US" sz="1400" b="0" dirty="0" smtClean="0">
              <a:solidFill>
                <a:schemeClr val="tx1"/>
              </a:solidFill>
              <a:latin typeface="Calibri" panose="020F0502020204030204" charset="0"/>
              <a:cs typeface="Calibri" panose="020F0502020204030204" charset="0"/>
            </a:endParaRPr>
          </a:p>
          <a:p>
            <a:pPr marL="0" indent="0">
              <a:lnSpc>
                <a:spcPct val="85000"/>
              </a:lnSpc>
              <a:spcBef>
                <a:spcPts val="500"/>
              </a:spcBef>
              <a:spcAft>
                <a:spcPts val="0"/>
              </a:spcAft>
              <a:buNone/>
            </a:pPr>
            <a:r>
              <a:rPr lang="en-US" sz="1400" b="0" dirty="0" smtClean="0">
                <a:solidFill>
                  <a:schemeClr val="tx1"/>
                </a:solidFill>
                <a:latin typeface="Calibri" panose="020F0502020204030204" charset="0"/>
                <a:cs typeface="Calibri" panose="020F0502020204030204" charset="0"/>
              </a:rPr>
              <a:t>2. Two options are available. These allow the direct transfer of updated patient information from the Mentcare database to the PRS and the transfer of summary health data from the Mentcare database to the PRS.</a:t>
            </a:r>
            <a:endParaRPr lang="en-US" sz="1400" b="0" dirty="0" smtClean="0">
              <a:solidFill>
                <a:schemeClr val="tx1"/>
              </a:solidFill>
              <a:latin typeface="Calibri" panose="020F0502020204030204" charset="0"/>
              <a:cs typeface="Calibri" panose="020F0502020204030204" charset="0"/>
            </a:endParaRPr>
          </a:p>
          <a:p>
            <a:pPr marL="0" indent="0">
              <a:lnSpc>
                <a:spcPct val="85000"/>
              </a:lnSpc>
              <a:spcBef>
                <a:spcPts val="500"/>
              </a:spcBef>
              <a:spcAft>
                <a:spcPts val="0"/>
              </a:spcAft>
              <a:buNone/>
            </a:pPr>
            <a:r>
              <a:rPr lang="en-US" sz="1400" b="0" dirty="0" smtClean="0">
                <a:solidFill>
                  <a:schemeClr val="tx1"/>
                </a:solidFill>
                <a:latin typeface="Calibri" panose="020F0502020204030204" charset="0"/>
                <a:cs typeface="Calibri" panose="020F0502020204030204" charset="0"/>
              </a:rPr>
              <a:t>3. Each case, the receptionist’s permissions are checked using the authorization system.</a:t>
            </a:r>
            <a:endParaRPr lang="en-US" sz="1400" b="0" dirty="0" smtClean="0">
              <a:solidFill>
                <a:schemeClr val="tx1"/>
              </a:solidFill>
              <a:latin typeface="Calibri" panose="020F0502020204030204" charset="0"/>
              <a:cs typeface="Calibri" panose="020F0502020204030204" charset="0"/>
            </a:endParaRPr>
          </a:p>
          <a:p>
            <a:pPr marL="0" indent="0">
              <a:lnSpc>
                <a:spcPct val="85000"/>
              </a:lnSpc>
              <a:spcBef>
                <a:spcPts val="500"/>
              </a:spcBef>
              <a:spcAft>
                <a:spcPts val="0"/>
              </a:spcAft>
              <a:buNone/>
            </a:pPr>
            <a:r>
              <a:rPr lang="en-US" sz="1400" b="0" dirty="0" smtClean="0">
                <a:solidFill>
                  <a:schemeClr val="tx1"/>
                </a:solidFill>
                <a:latin typeface="Calibri" panose="020F0502020204030204" charset="0"/>
                <a:cs typeface="Calibri" panose="020F0502020204030204" charset="0"/>
              </a:rPr>
              <a:t>4. Personal information may be transferred directly from the user interface object to the PRS. Alternatively, a summary record may be created from the database, and that record is then transferred.</a:t>
            </a:r>
            <a:endParaRPr lang="en-US" sz="1400" b="0" dirty="0" smtClean="0">
              <a:solidFill>
                <a:schemeClr val="tx1"/>
              </a:solidFill>
              <a:latin typeface="Calibri" panose="020F0502020204030204" charset="0"/>
              <a:cs typeface="Calibri" panose="020F0502020204030204" charset="0"/>
            </a:endParaRPr>
          </a:p>
          <a:p>
            <a:pPr marL="0" indent="0">
              <a:lnSpc>
                <a:spcPct val="85000"/>
              </a:lnSpc>
              <a:spcBef>
                <a:spcPts val="500"/>
              </a:spcBef>
              <a:spcAft>
                <a:spcPts val="0"/>
              </a:spcAft>
              <a:buNone/>
            </a:pPr>
            <a:r>
              <a:rPr lang="en-US" sz="1400" b="0" dirty="0" smtClean="0">
                <a:solidFill>
                  <a:schemeClr val="tx1"/>
                </a:solidFill>
                <a:latin typeface="Calibri" panose="020F0502020204030204" charset="0"/>
                <a:cs typeface="Calibri" panose="020F0502020204030204" charset="0"/>
              </a:rPr>
              <a:t>5. On completion of the transfer, the PRS issues a status message and the user logs off.</a:t>
            </a:r>
            <a:endParaRPr lang="en-US" sz="1400" b="0" dirty="0" smtClean="0">
              <a:solidFill>
                <a:schemeClr val="tx1"/>
              </a:solidFill>
              <a:latin typeface="Calibri" panose="020F0502020204030204" charset="0"/>
              <a:cs typeface="Calibri" panose="020F0502020204030204" charset="0"/>
            </a:endParaRPr>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654685"/>
            <a:ext cx="8977630" cy="60007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zh-CN" altLang="en-US" sz="3200" dirty="0">
                <a:solidFill>
                  <a:schemeClr val="accent1">
                    <a:lumMod val="75000"/>
                  </a:schemeClr>
                </a:solidFill>
                <a:ea typeface="宋体" panose="02010600030101010101" pitchFamily="2" charset="-122"/>
                <a:sym typeface="+mn-ea"/>
              </a:rPr>
              <a:t> 5.3</a:t>
            </a:r>
            <a:r>
              <a:rPr lang="en-US" altLang="zh-CN" sz="3200" dirty="0">
                <a:solidFill>
                  <a:srgbClr val="0070C0"/>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Structural models</a:t>
            </a:r>
            <a:r>
              <a:rPr lang="en-US" altLang="zh-CN" sz="3200" dirty="0">
                <a:solidFill>
                  <a:schemeClr val="accent1">
                    <a:lumMod val="75000"/>
                  </a:schemeClr>
                </a:solidFill>
                <a:ea typeface="宋体" panose="02010600030101010101" pitchFamily="2" charset="-122"/>
                <a:sym typeface="+mn-ea"/>
              </a:rPr>
              <a:t>   </a:t>
            </a:r>
            <a:r>
              <a:rPr lang="zh-CN" altLang="en-US" sz="2400" dirty="0">
                <a:solidFill>
                  <a:schemeClr val="accent1">
                    <a:lumMod val="75000"/>
                  </a:schemeClr>
                </a:solidFill>
                <a:latin typeface="黑体" panose="02010609060101010101" pitchFamily="49" charset="-122"/>
                <a:ea typeface="黑体" panose="02010609060101010101" pitchFamily="49" charset="-122"/>
                <a:sym typeface="+mn-ea"/>
              </a:rPr>
              <a:t>结构模型</a:t>
            </a:r>
            <a:endParaRPr lang="zh-CN" altLang="en-US" sz="3200" dirty="0">
              <a:solidFill>
                <a:schemeClr val="accent1">
                  <a:lumMod val="75000"/>
                </a:schemeClr>
              </a:solidFill>
              <a:ea typeface="宋体" panose="02010600030101010101" pitchFamily="2" charset="-122"/>
              <a:sym typeface="+mn-ea"/>
            </a:endParaRPr>
          </a:p>
        </p:txBody>
      </p:sp>
      <p:sp>
        <p:nvSpPr>
          <p:cNvPr id="4" name="Rectangle 2"/>
          <p:cNvSpPr>
            <a:spLocks noGrp="1"/>
          </p:cNvSpPr>
          <p:nvPr>
            <p:ph type="title"/>
            <p:custDataLst>
              <p:tags r:id="rId2"/>
            </p:custDataLst>
          </p:nvPr>
        </p:nvSpPr>
        <p:spPr>
          <a:xfrm>
            <a:off x="617538" y="198755"/>
            <a:ext cx="455295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5  System modeling</a:t>
            </a:r>
            <a:endParaRPr lang="en-US" altLang="zh-CN" sz="2800" dirty="0">
              <a:solidFill>
                <a:srgbClr val="660066"/>
              </a:solidFill>
              <a:ea typeface="黑体" panose="02010609060101010101" pitchFamily="49" charset="-122"/>
              <a:cs typeface="+mj-lt"/>
            </a:endParaRPr>
          </a:p>
        </p:txBody>
      </p:sp>
      <p:sp>
        <p:nvSpPr>
          <p:cNvPr id="5" name="Content Placeholder 2"/>
          <p:cNvSpPr>
            <a:spLocks noGrp="1"/>
          </p:cNvSpPr>
          <p:nvPr/>
        </p:nvSpPr>
        <p:spPr>
          <a:xfrm>
            <a:off x="48895" y="1169670"/>
            <a:ext cx="9017635" cy="5507355"/>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85000"/>
              </a:lnSpc>
              <a:spcBef>
                <a:spcPts val="600"/>
              </a:spcBef>
              <a:spcAft>
                <a:spcPts val="0"/>
              </a:spcAft>
            </a:pPr>
            <a:r>
              <a:rPr lang="en-US" sz="3000" dirty="0" smtClean="0">
                <a:solidFill>
                  <a:schemeClr val="tx2">
                    <a:lumMod val="75000"/>
                    <a:lumOff val="25000"/>
                  </a:schemeClr>
                </a:solidFill>
                <a:latin typeface="Calibri" panose="020F0502020204030204" charset="0"/>
                <a:cs typeface="Calibri" panose="020F0502020204030204" charset="0"/>
              </a:rPr>
              <a:t> Structural models display the organization of system in terms of the components that make up that system and their relationships. </a:t>
            </a:r>
            <a:r>
              <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rPr>
              <a:t>用构件及其关系显示系统的组织</a:t>
            </a:r>
            <a:endParaRPr lang="en-US" sz="2000" dirty="0" smtClean="0">
              <a:solidFill>
                <a:schemeClr val="tx2">
                  <a:lumMod val="75000"/>
                  <a:lumOff val="25000"/>
                </a:schemeClr>
              </a:solidFill>
              <a:latin typeface="Calibri" panose="020F0502020204030204" charset="0"/>
              <a:cs typeface="Calibri" panose="020F0502020204030204" charset="0"/>
            </a:endParaRPr>
          </a:p>
          <a:p>
            <a:pPr>
              <a:lnSpc>
                <a:spcPct val="85000"/>
              </a:lnSpc>
              <a:spcBef>
                <a:spcPts val="600"/>
              </a:spcBef>
              <a:spcAft>
                <a:spcPts val="0"/>
              </a:spcAft>
            </a:pPr>
            <a:r>
              <a:rPr lang="en-US" sz="3000" dirty="0" smtClean="0">
                <a:solidFill>
                  <a:schemeClr val="tx2">
                    <a:lumMod val="75000"/>
                    <a:lumOff val="25000"/>
                  </a:schemeClr>
                </a:solidFill>
                <a:latin typeface="Calibri" panose="020F0502020204030204" charset="0"/>
                <a:cs typeface="Calibri" panose="020F0502020204030204" charset="0"/>
              </a:rPr>
              <a:t> Structural models may be static models, which show the organization of the system, or dynamic models, which show the organization of the system when it is executing. </a:t>
            </a:r>
            <a:r>
              <a:rPr lang="en-US" sz="2800" b="0" dirty="0" smtClean="0">
                <a:solidFill>
                  <a:schemeClr val="tx1"/>
                </a:solidFill>
                <a:latin typeface="Calibri" panose="020F0502020204030204" charset="0"/>
                <a:cs typeface="Calibri" panose="020F0502020204030204" charset="0"/>
              </a:rPr>
              <a:t>The dynamic organization of a system as a set of interacting threads may be very different from a static model of the system components.  </a:t>
            </a:r>
            <a:r>
              <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rPr>
              <a:t>可以是静态模型或动态模型</a:t>
            </a:r>
            <a:endParaRPr lang="en-US" sz="2000" b="0" dirty="0" smtClean="0">
              <a:solidFill>
                <a:schemeClr val="tx1"/>
              </a:solidFill>
              <a:latin typeface="Calibri" panose="020F0502020204030204" charset="0"/>
              <a:cs typeface="Calibri" panose="020F0502020204030204" charset="0"/>
            </a:endParaRPr>
          </a:p>
          <a:p>
            <a:pPr>
              <a:lnSpc>
                <a:spcPct val="85000"/>
              </a:lnSpc>
              <a:spcBef>
                <a:spcPts val="600"/>
              </a:spcBef>
              <a:spcAft>
                <a:spcPts val="0"/>
              </a:spcAft>
            </a:pPr>
            <a:r>
              <a:rPr lang="en-US" sz="3000" dirty="0" smtClean="0">
                <a:solidFill>
                  <a:schemeClr val="tx2">
                    <a:lumMod val="75000"/>
                    <a:lumOff val="25000"/>
                  </a:schemeClr>
                </a:solidFill>
                <a:latin typeface="Calibri" panose="020F0502020204030204" charset="0"/>
                <a:cs typeface="Calibri" panose="020F0502020204030204" charset="0"/>
              </a:rPr>
              <a:t> You create structural models of a system when you are discussing and designing the system architecture. </a:t>
            </a:r>
            <a:r>
              <a:rPr lang="en-US" sz="2800" b="0" dirty="0" smtClean="0">
                <a:solidFill>
                  <a:schemeClr val="tx1"/>
                </a:solidFill>
                <a:latin typeface="Calibri" panose="020F0502020204030204" charset="0"/>
                <a:cs typeface="Calibri" panose="020F0502020204030204" charset="0"/>
              </a:rPr>
              <a:t>These can be models of the overall system architecture or more detailed models of the objects in system and their relationships. </a:t>
            </a:r>
            <a:r>
              <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rPr>
              <a:t>在讨论和设计系统架构时创建结构模型</a:t>
            </a:r>
            <a:endPar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endParaRPr>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75970"/>
            <a:ext cx="8977630" cy="56578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rgbClr val="0070C0"/>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Class diagrams</a:t>
            </a:r>
            <a:r>
              <a:rPr lang="en-US" altLang="zh-CN" sz="3200" dirty="0">
                <a:solidFill>
                  <a:schemeClr val="accent1">
                    <a:lumMod val="75000"/>
                  </a:schemeClr>
                </a:solidFill>
                <a:ea typeface="宋体" panose="02010600030101010101" pitchFamily="2" charset="-122"/>
                <a:sym typeface="+mn-ea"/>
              </a:rPr>
              <a:t>    </a:t>
            </a:r>
            <a:r>
              <a:rPr lang="zh-CN" altLang="en-US" sz="2400" dirty="0">
                <a:solidFill>
                  <a:schemeClr val="accent1">
                    <a:lumMod val="75000"/>
                  </a:schemeClr>
                </a:solidFill>
                <a:latin typeface="黑体" panose="02010609060101010101" pitchFamily="49" charset="-122"/>
                <a:ea typeface="黑体" panose="02010609060101010101" pitchFamily="49" charset="-122"/>
                <a:sym typeface="+mn-ea"/>
              </a:rPr>
              <a:t>类图</a:t>
            </a:r>
            <a:endParaRPr lang="zh-CN" altLang="en-US" sz="3200" dirty="0">
              <a:solidFill>
                <a:schemeClr val="accent1">
                  <a:lumMod val="75000"/>
                </a:schemeClr>
              </a:solidFill>
              <a:ea typeface="宋体" panose="02010600030101010101" pitchFamily="2" charset="-122"/>
              <a:sym typeface="+mn-ea"/>
            </a:endParaRPr>
          </a:p>
        </p:txBody>
      </p:sp>
      <p:sp>
        <p:nvSpPr>
          <p:cNvPr id="4" name="Rectangle 2"/>
          <p:cNvSpPr>
            <a:spLocks noGrp="1"/>
          </p:cNvSpPr>
          <p:nvPr>
            <p:ph type="title"/>
            <p:custDataLst>
              <p:tags r:id="rId2"/>
            </p:custDataLst>
          </p:nvPr>
        </p:nvSpPr>
        <p:spPr>
          <a:xfrm>
            <a:off x="617538" y="198755"/>
            <a:ext cx="455295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5  System modeling</a:t>
            </a:r>
            <a:endParaRPr lang="en-US" altLang="zh-CN" sz="2800" dirty="0">
              <a:solidFill>
                <a:srgbClr val="660066"/>
              </a:solidFill>
              <a:ea typeface="黑体" panose="02010609060101010101" pitchFamily="49" charset="-122"/>
              <a:cs typeface="+mj-lt"/>
            </a:endParaRPr>
          </a:p>
        </p:txBody>
      </p:sp>
      <p:sp>
        <p:nvSpPr>
          <p:cNvPr id="5" name="Content Placeholder 2"/>
          <p:cNvSpPr>
            <a:spLocks noGrp="1"/>
          </p:cNvSpPr>
          <p:nvPr/>
        </p:nvSpPr>
        <p:spPr>
          <a:xfrm>
            <a:off x="47625" y="1313180"/>
            <a:ext cx="9018905" cy="5082540"/>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85000"/>
              </a:lnSpc>
              <a:spcBef>
                <a:spcPts val="600"/>
              </a:spcBef>
              <a:spcAft>
                <a:spcPts val="0"/>
              </a:spcAft>
            </a:pPr>
            <a:r>
              <a:rPr lang="en-US" sz="3000" dirty="0" smtClean="0">
                <a:solidFill>
                  <a:schemeClr val="tx2">
                    <a:lumMod val="75000"/>
                    <a:lumOff val="25000"/>
                  </a:schemeClr>
                </a:solidFill>
                <a:latin typeface="Calibri" panose="020F0502020204030204" charset="0"/>
                <a:cs typeface="Calibri" panose="020F0502020204030204" charset="0"/>
              </a:rPr>
              <a:t>Class diagrams are used when developing an object-oriented system model to show the classes in a system and the associations between these classes. </a:t>
            </a:r>
            <a:r>
              <a:rPr lang="en-US" sz="2800" b="0" dirty="0" smtClean="0">
                <a:solidFill>
                  <a:schemeClr val="tx1"/>
                </a:solidFill>
                <a:latin typeface="Calibri" panose="020F0502020204030204" charset="0"/>
                <a:cs typeface="Calibri" panose="020F0502020204030204" charset="0"/>
              </a:rPr>
              <a:t>An object class can be thought of as a general definition of one kind of system object. An association is a link between classes indicating that some relationship exists between these classes.  </a:t>
            </a:r>
            <a:r>
              <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rPr>
              <a:t>展示系统中的类，以及这些类之间的关联</a:t>
            </a:r>
            <a:endParaRPr lang="en-US" sz="2000" b="0" dirty="0" smtClean="0">
              <a:solidFill>
                <a:schemeClr val="tx1"/>
              </a:solidFill>
              <a:latin typeface="Calibri" panose="020F0502020204030204" charset="0"/>
              <a:cs typeface="Calibri" panose="020F0502020204030204" charset="0"/>
            </a:endParaRPr>
          </a:p>
          <a:p>
            <a:pPr>
              <a:lnSpc>
                <a:spcPct val="85000"/>
              </a:lnSpc>
              <a:spcBef>
                <a:spcPts val="600"/>
              </a:spcBef>
              <a:spcAft>
                <a:spcPts val="0"/>
              </a:spcAft>
            </a:pPr>
            <a:r>
              <a:rPr lang="en-US" sz="3000" dirty="0" smtClean="0">
                <a:solidFill>
                  <a:schemeClr val="tx2">
                    <a:lumMod val="75000"/>
                    <a:lumOff val="25000"/>
                  </a:schemeClr>
                </a:solidFill>
                <a:latin typeface="Calibri" panose="020F0502020204030204" charset="0"/>
                <a:cs typeface="Calibri" panose="020F0502020204030204" charset="0"/>
              </a:rPr>
              <a:t> When you are developing models during the early stages of the SE process, objects represent something in the real world. As an implementation is developed, you define implementation objects to represent data that is manipulated by the system.  </a:t>
            </a:r>
            <a:r>
              <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rPr>
              <a:t>早期</a:t>
            </a:r>
            <a:r>
              <a:rPr lang="en-US" altLang="zh-CN" sz="2000" kern="0" dirty="0">
                <a:solidFill>
                  <a:schemeClr val="accent1">
                    <a:lumMod val="75000"/>
                  </a:schemeClr>
                </a:solidFill>
                <a:latin typeface="黑体" panose="02010609060101010101" pitchFamily="49" charset="-122"/>
                <a:ea typeface="黑体" panose="02010609060101010101" pitchFamily="49" charset="-122"/>
                <a:cs typeface="+mn-cs"/>
              </a:rPr>
              <a:t>,</a:t>
            </a:r>
            <a:r>
              <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rPr>
              <a:t>对象表示真实世界的东西；随着开发</a:t>
            </a:r>
            <a:r>
              <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sym typeface="+mn-ea"/>
              </a:rPr>
              <a:t>实现</a:t>
            </a:r>
            <a:r>
              <a:rPr lang="en-US" altLang="zh-CN" sz="2000" kern="0" dirty="0">
                <a:solidFill>
                  <a:schemeClr val="accent1">
                    <a:lumMod val="75000"/>
                  </a:schemeClr>
                </a:solidFill>
                <a:latin typeface="黑体" panose="02010609060101010101" pitchFamily="49" charset="-122"/>
                <a:ea typeface="黑体" panose="02010609060101010101" pitchFamily="49" charset="-122"/>
                <a:cs typeface="+mn-cs"/>
                <a:sym typeface="+mn-ea"/>
              </a:rPr>
              <a:t>,</a:t>
            </a:r>
            <a:r>
              <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rPr>
              <a:t>要定义实现对象</a:t>
            </a:r>
            <a:r>
              <a:rPr lang="en-US" altLang="zh-CN" sz="2000" kern="0" dirty="0">
                <a:solidFill>
                  <a:schemeClr val="accent1">
                    <a:lumMod val="75000"/>
                  </a:schemeClr>
                </a:solidFill>
                <a:latin typeface="黑体" panose="02010609060101010101" pitchFamily="49" charset="-122"/>
                <a:ea typeface="黑体" panose="02010609060101010101" pitchFamily="49" charset="-122"/>
                <a:cs typeface="+mn-cs"/>
              </a:rPr>
              <a:t>,</a:t>
            </a:r>
            <a:r>
              <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rPr>
              <a:t>来表示系统操纵的数据。</a:t>
            </a:r>
            <a:endPar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endParaRPr>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01675"/>
            <a:ext cx="8977630" cy="63944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rgbClr val="0070C0"/>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UML classes and association</a:t>
            </a:r>
            <a:r>
              <a:rPr lang="en-US" altLang="zh-CN" sz="3200" dirty="0">
                <a:solidFill>
                  <a:schemeClr val="accent1">
                    <a:lumMod val="75000"/>
                  </a:schemeClr>
                </a:solidFill>
                <a:ea typeface="宋体" panose="02010600030101010101" pitchFamily="2" charset="-122"/>
                <a:sym typeface="+mn-ea"/>
              </a:rPr>
              <a:t>  </a:t>
            </a:r>
            <a:r>
              <a:rPr lang="zh-CN" altLang="en-US" sz="2400" dirty="0">
                <a:solidFill>
                  <a:schemeClr val="accent1">
                    <a:lumMod val="75000"/>
                  </a:schemeClr>
                </a:solidFill>
                <a:latin typeface="黑体" panose="02010609060101010101" pitchFamily="49" charset="-122"/>
                <a:ea typeface="黑体" panose="02010609060101010101" pitchFamily="49" charset="-122"/>
                <a:sym typeface="+mn-ea"/>
              </a:rPr>
              <a:t>UML类和关联</a:t>
            </a:r>
            <a:endParaRPr lang="zh-CN" altLang="en-US" sz="2400" dirty="0">
              <a:solidFill>
                <a:schemeClr val="accent1">
                  <a:lumMod val="75000"/>
                </a:schemeClr>
              </a:solidFill>
              <a:latin typeface="黑体" panose="02010609060101010101" pitchFamily="49" charset="-122"/>
              <a:ea typeface="黑体" panose="02010609060101010101" pitchFamily="49" charset="-122"/>
              <a:sym typeface="+mn-ea"/>
            </a:endParaRPr>
          </a:p>
        </p:txBody>
      </p:sp>
      <p:sp>
        <p:nvSpPr>
          <p:cNvPr id="4" name="Rectangle 2"/>
          <p:cNvSpPr>
            <a:spLocks noGrp="1"/>
          </p:cNvSpPr>
          <p:nvPr>
            <p:ph type="title"/>
            <p:custDataLst>
              <p:tags r:id="rId2"/>
            </p:custDataLst>
          </p:nvPr>
        </p:nvSpPr>
        <p:spPr>
          <a:xfrm>
            <a:off x="617538" y="198755"/>
            <a:ext cx="455295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5  System modeling</a:t>
            </a:r>
            <a:endParaRPr lang="en-US" altLang="zh-CN" sz="2800" dirty="0">
              <a:solidFill>
                <a:srgbClr val="660066"/>
              </a:solidFill>
              <a:ea typeface="黑体" panose="02010609060101010101" pitchFamily="49" charset="-122"/>
              <a:cs typeface="+mj-lt"/>
            </a:endParaRPr>
          </a:p>
        </p:txBody>
      </p:sp>
      <p:sp>
        <p:nvSpPr>
          <p:cNvPr id="5" name="Content Placeholder 2"/>
          <p:cNvSpPr>
            <a:spLocks noGrp="1"/>
          </p:cNvSpPr>
          <p:nvPr/>
        </p:nvSpPr>
        <p:spPr>
          <a:xfrm>
            <a:off x="47625" y="1241425"/>
            <a:ext cx="9018905" cy="5566410"/>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85000"/>
              </a:lnSpc>
              <a:spcBef>
                <a:spcPts val="600"/>
              </a:spcBef>
              <a:spcAft>
                <a:spcPts val="0"/>
              </a:spcAft>
            </a:pPr>
            <a:r>
              <a:rPr lang="en-US" sz="3000" dirty="0" smtClean="0">
                <a:solidFill>
                  <a:schemeClr val="tx2">
                    <a:lumMod val="75000"/>
                    <a:lumOff val="25000"/>
                  </a:schemeClr>
                </a:solidFill>
                <a:latin typeface="Calibri" panose="020F0502020204030204" charset="0"/>
                <a:cs typeface="Calibri" panose="020F0502020204030204" charset="0"/>
              </a:rPr>
              <a:t> When developing a model, the first stage is to look at the world, identify the essential objects, and represent these as classes.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第一阶段: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看世界，识别基本对象，将它们表示为类</a:t>
            </a:r>
            <a:endPar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endParaRPr>
          </a:p>
          <a:p>
            <a:pPr marL="0" indent="0">
              <a:lnSpc>
                <a:spcPct val="85000"/>
              </a:lnSpc>
              <a:spcBef>
                <a:spcPts val="600"/>
              </a:spcBef>
              <a:spcAft>
                <a:spcPts val="0"/>
              </a:spcAft>
              <a:buNone/>
            </a:pPr>
            <a:r>
              <a:rPr lang="en-US" sz="3000" dirty="0" smtClean="0">
                <a:solidFill>
                  <a:schemeClr val="tx2">
                    <a:lumMod val="75000"/>
                    <a:lumOff val="25000"/>
                  </a:schemeClr>
                </a:solidFill>
                <a:latin typeface="Calibri" panose="020F0502020204030204" charset="0"/>
                <a:cs typeface="Calibri" panose="020F0502020204030204" charset="0"/>
              </a:rPr>
              <a:t> </a:t>
            </a:r>
            <a:endParaRPr lang="en-US" sz="3000" dirty="0" smtClean="0">
              <a:solidFill>
                <a:schemeClr val="tx2">
                  <a:lumMod val="75000"/>
                  <a:lumOff val="25000"/>
                </a:schemeClr>
              </a:solidFill>
              <a:latin typeface="Calibri" panose="020F0502020204030204" charset="0"/>
              <a:cs typeface="Calibri" panose="020F0502020204030204" charset="0"/>
            </a:endParaRPr>
          </a:p>
          <a:p>
            <a:pPr marL="0" indent="0">
              <a:lnSpc>
                <a:spcPct val="85000"/>
              </a:lnSpc>
              <a:spcBef>
                <a:spcPts val="600"/>
              </a:spcBef>
              <a:spcAft>
                <a:spcPts val="0"/>
              </a:spcAft>
              <a:buNone/>
            </a:pPr>
            <a:endParaRPr lang="en-US" sz="3000" dirty="0" smtClean="0">
              <a:solidFill>
                <a:schemeClr val="tx2">
                  <a:lumMod val="75000"/>
                  <a:lumOff val="25000"/>
                </a:schemeClr>
              </a:solidFill>
              <a:latin typeface="Calibri" panose="020F0502020204030204" charset="0"/>
              <a:cs typeface="Calibri" panose="020F0502020204030204" charset="0"/>
            </a:endParaRPr>
          </a:p>
          <a:p>
            <a:pPr>
              <a:lnSpc>
                <a:spcPct val="85000"/>
              </a:lnSpc>
              <a:spcBef>
                <a:spcPts val="600"/>
              </a:spcBef>
              <a:spcAft>
                <a:spcPts val="0"/>
              </a:spcAft>
            </a:pPr>
            <a:r>
              <a:rPr lang="en-US" sz="3000" dirty="0" smtClean="0">
                <a:solidFill>
                  <a:schemeClr val="tx2">
                    <a:lumMod val="75000"/>
                    <a:lumOff val="25000"/>
                  </a:schemeClr>
                </a:solidFill>
                <a:latin typeface="Calibri" panose="020F0502020204030204" charset="0"/>
                <a:cs typeface="Calibri" panose="020F0502020204030204" charset="0"/>
              </a:rPr>
              <a:t> The simplest way is to write the class name in a box. You can note an association by drawing a line between classes. </a:t>
            </a:r>
            <a:r>
              <a:rPr lang="en-US" sz="2800" b="0" dirty="0" smtClean="0">
                <a:solidFill>
                  <a:schemeClr val="tx1"/>
                </a:solidFill>
                <a:latin typeface="Calibri" panose="020F0502020204030204" charset="0"/>
                <a:cs typeface="Calibri" panose="020F0502020204030204" charset="0"/>
              </a:rPr>
              <a:t>Fig. 5.8 is a simple class diagram showing two classes, Patient and Patient Record, with an association between them. You do not need to say what association is at this stage. Each end of association is annotated with 1, meaning the 1:1 relationship between them.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画法</a:t>
            </a:r>
            <a:r>
              <a:rPr lang="en-US" altLang="zh-CN" sz="2400" kern="0" dirty="0">
                <a:solidFill>
                  <a:schemeClr val="accent1">
                    <a:lumMod val="75000"/>
                  </a:schemeClr>
                </a:solidFill>
                <a:latin typeface="黑体" panose="02010609060101010101" pitchFamily="49" charset="-122"/>
                <a:ea typeface="黑体" panose="02010609060101010101" pitchFamily="49" charset="-122"/>
                <a:cs typeface="+mn-cs"/>
              </a:rPr>
              <a:t>: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将类名写在方框中，在类间画线表示存在关联</a:t>
            </a:r>
            <a:endParaRPr lang="zh-CN" altLang="en-US" sz="2400" b="0" kern="0" dirty="0" smtClean="0">
              <a:solidFill>
                <a:schemeClr val="accent1">
                  <a:lumMod val="75000"/>
                </a:schemeClr>
              </a:solidFill>
              <a:latin typeface="黑体" panose="02010609060101010101" pitchFamily="49" charset="-122"/>
              <a:ea typeface="黑体" panose="02010609060101010101" pitchFamily="49" charset="-122"/>
              <a:cs typeface="+mn-cs"/>
            </a:endParaRPr>
          </a:p>
        </p:txBody>
      </p:sp>
      <p:pic>
        <p:nvPicPr>
          <p:cNvPr id="3" name="图片 2"/>
          <p:cNvPicPr>
            <a:picLocks noChangeAspect="1"/>
          </p:cNvPicPr>
          <p:nvPr/>
        </p:nvPicPr>
        <p:blipFill>
          <a:blip r:embed="rId3"/>
          <a:stretch>
            <a:fillRect/>
          </a:stretch>
        </p:blipFill>
        <p:spPr>
          <a:xfrm>
            <a:off x="640715" y="3037840"/>
            <a:ext cx="2341245" cy="511175"/>
          </a:xfrm>
          <a:prstGeom prst="rect">
            <a:avLst/>
          </a:prstGeom>
        </p:spPr>
      </p:pic>
      <p:pic>
        <p:nvPicPr>
          <p:cNvPr id="6" name="图片 5"/>
          <p:cNvPicPr>
            <a:picLocks noChangeAspect="1"/>
          </p:cNvPicPr>
          <p:nvPr/>
        </p:nvPicPr>
        <p:blipFill>
          <a:blip r:embed="rId4"/>
          <a:stretch>
            <a:fillRect/>
          </a:stretch>
        </p:blipFill>
        <p:spPr>
          <a:xfrm>
            <a:off x="3220085" y="2896870"/>
            <a:ext cx="4747895" cy="793750"/>
          </a:xfrm>
          <a:prstGeom prst="rect">
            <a:avLst/>
          </a:prstGeom>
        </p:spPr>
      </p:pic>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04215"/>
            <a:ext cx="8977630" cy="62547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rgbClr val="0070C0"/>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Classes and associations in the MHC-PMS</a:t>
            </a:r>
            <a:endParaRPr lang="zh-CN" altLang="en-US" sz="3200" dirty="0">
              <a:solidFill>
                <a:schemeClr val="accent1">
                  <a:lumMod val="75000"/>
                </a:schemeClr>
              </a:solidFill>
              <a:ea typeface="宋体" panose="02010600030101010101" pitchFamily="2" charset="-122"/>
              <a:sym typeface="+mn-ea"/>
            </a:endParaRPr>
          </a:p>
        </p:txBody>
      </p:sp>
      <p:sp>
        <p:nvSpPr>
          <p:cNvPr id="4" name="Rectangle 2"/>
          <p:cNvSpPr>
            <a:spLocks noGrp="1"/>
          </p:cNvSpPr>
          <p:nvPr>
            <p:ph type="title"/>
            <p:custDataLst>
              <p:tags r:id="rId2"/>
            </p:custDataLst>
          </p:nvPr>
        </p:nvSpPr>
        <p:spPr>
          <a:xfrm>
            <a:off x="617538" y="198755"/>
            <a:ext cx="455295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5  System modeling</a:t>
            </a:r>
            <a:endParaRPr lang="en-US" altLang="zh-CN" sz="2800" dirty="0">
              <a:solidFill>
                <a:srgbClr val="660066"/>
              </a:solidFill>
              <a:ea typeface="黑体" panose="02010609060101010101" pitchFamily="49" charset="-122"/>
              <a:cs typeface="+mj-lt"/>
            </a:endParaRPr>
          </a:p>
        </p:txBody>
      </p:sp>
      <p:pic>
        <p:nvPicPr>
          <p:cNvPr id="2" name="图片 1"/>
          <p:cNvPicPr>
            <a:picLocks noChangeAspect="1"/>
          </p:cNvPicPr>
          <p:nvPr/>
        </p:nvPicPr>
        <p:blipFill>
          <a:blip r:embed="rId3"/>
          <a:stretch>
            <a:fillRect/>
          </a:stretch>
        </p:blipFill>
        <p:spPr>
          <a:xfrm>
            <a:off x="1035685" y="1289050"/>
            <a:ext cx="8030845" cy="5432425"/>
          </a:xfrm>
          <a:prstGeom prst="rect">
            <a:avLst/>
          </a:prstGeom>
        </p:spPr>
      </p:pic>
      <p:pic>
        <p:nvPicPr>
          <p:cNvPr id="5" name="图片 4"/>
          <p:cNvPicPr>
            <a:picLocks noChangeAspect="1"/>
          </p:cNvPicPr>
          <p:nvPr/>
        </p:nvPicPr>
        <p:blipFill>
          <a:blip r:embed="rId4"/>
          <a:stretch>
            <a:fillRect/>
          </a:stretch>
        </p:blipFill>
        <p:spPr>
          <a:xfrm>
            <a:off x="6419215" y="1449705"/>
            <a:ext cx="2214880" cy="804545"/>
          </a:xfrm>
          <a:prstGeom prst="rect">
            <a:avLst/>
          </a:prstGeom>
        </p:spPr>
      </p:pic>
      <p:sp>
        <p:nvSpPr>
          <p:cNvPr id="8" name="Content Placeholder 2"/>
          <p:cNvSpPr>
            <a:spLocks noGrp="1"/>
          </p:cNvSpPr>
          <p:nvPr/>
        </p:nvSpPr>
        <p:spPr>
          <a:xfrm>
            <a:off x="113030" y="1263650"/>
            <a:ext cx="3827145" cy="1329055"/>
          </a:xfrm>
          <a:prstGeom prst="rect">
            <a:avLst/>
          </a:prstGeom>
          <a:solidFill>
            <a:schemeClr val="bg1"/>
          </a:solidFill>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marL="0" indent="0">
              <a:lnSpc>
                <a:spcPct val="85000"/>
              </a:lnSpc>
              <a:spcBef>
                <a:spcPts val="500"/>
              </a:spcBef>
              <a:spcAft>
                <a:spcPts val="0"/>
              </a:spcAft>
              <a:buNone/>
            </a:pPr>
            <a:r>
              <a:rPr lang="en-US" sz="1600" b="0" dirty="0" smtClean="0">
                <a:solidFill>
                  <a:schemeClr val="tx1"/>
                </a:solidFill>
                <a:latin typeface="Calibri" panose="020F0502020204030204" charset="0"/>
                <a:cs typeface="Calibri" panose="020F0502020204030204" charset="0"/>
              </a:rPr>
              <a:t>* Fig. 5.9 develops the simple class diagram in Fig. 5.8 to show that objects of class Patient are also involved in relationships with a number of other classes. You can name associations to give an indication of the type of relationship that exists.</a:t>
            </a:r>
            <a:endParaRPr lang="en-US" sz="1600" b="0" dirty="0" smtClean="0">
              <a:solidFill>
                <a:schemeClr val="tx1"/>
              </a:solidFill>
              <a:latin typeface="Calibri" panose="020F0502020204030204" charset="0"/>
              <a:cs typeface="Calibri" panose="020F0502020204030204" charset="0"/>
            </a:endParaRPr>
          </a:p>
        </p:txBody>
      </p:sp>
      <p:sp>
        <p:nvSpPr>
          <p:cNvPr id="6" name="Content Placeholder 2"/>
          <p:cNvSpPr>
            <a:spLocks noGrp="1"/>
          </p:cNvSpPr>
          <p:nvPr/>
        </p:nvSpPr>
        <p:spPr>
          <a:xfrm>
            <a:off x="113030" y="3758565"/>
            <a:ext cx="3701415" cy="2921000"/>
          </a:xfrm>
          <a:prstGeom prst="rect">
            <a:avLst/>
          </a:prstGeom>
          <a:solidFill>
            <a:schemeClr val="bg1"/>
          </a:solidFill>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marL="0" indent="0">
              <a:lnSpc>
                <a:spcPct val="85000"/>
              </a:lnSpc>
              <a:spcBef>
                <a:spcPts val="500"/>
              </a:spcBef>
              <a:spcAft>
                <a:spcPts val="0"/>
              </a:spcAft>
              <a:buNone/>
            </a:pPr>
            <a:r>
              <a:rPr lang="en-US" sz="1600" b="0" dirty="0" smtClean="0">
                <a:solidFill>
                  <a:schemeClr val="tx1"/>
                </a:solidFill>
                <a:latin typeface="Calibri" panose="020F0502020204030204" charset="0"/>
                <a:cs typeface="Calibri" panose="020F0502020204030204" charset="0"/>
              </a:rPr>
              <a:t>* An exact number of objects are involved (e.g., 1..4) or, by using a *, indicate that there are an indefinite number of objects.</a:t>
            </a:r>
            <a:endParaRPr lang="en-US" sz="1600" b="0" dirty="0" smtClean="0">
              <a:solidFill>
                <a:schemeClr val="tx1"/>
              </a:solidFill>
              <a:latin typeface="Calibri" panose="020F0502020204030204" charset="0"/>
              <a:cs typeface="Calibri" panose="020F0502020204030204" charset="0"/>
            </a:endParaRPr>
          </a:p>
          <a:p>
            <a:pPr marL="0" indent="0">
              <a:lnSpc>
                <a:spcPct val="85000"/>
              </a:lnSpc>
              <a:spcBef>
                <a:spcPts val="500"/>
              </a:spcBef>
              <a:spcAft>
                <a:spcPts val="0"/>
              </a:spcAft>
              <a:buNone/>
            </a:pPr>
            <a:r>
              <a:rPr lang="en-US" sz="1600" b="0" dirty="0" smtClean="0">
                <a:solidFill>
                  <a:schemeClr val="tx1"/>
                </a:solidFill>
                <a:latin typeface="Calibri" panose="020F0502020204030204" charset="0"/>
                <a:cs typeface="Calibri" panose="020F0502020204030204" charset="0"/>
              </a:rPr>
              <a:t>* When showing the associations between classes, it is best to represent the classes in the simplest possible way, without attributes or operations. </a:t>
            </a:r>
            <a:endParaRPr lang="en-US" sz="1600" b="0" dirty="0" smtClean="0">
              <a:solidFill>
                <a:schemeClr val="tx1"/>
              </a:solidFill>
              <a:latin typeface="Calibri" panose="020F0502020204030204" charset="0"/>
              <a:cs typeface="Calibri" panose="020F0502020204030204" charset="0"/>
            </a:endParaRPr>
          </a:p>
          <a:p>
            <a:pPr marL="0" indent="0">
              <a:lnSpc>
                <a:spcPct val="85000"/>
              </a:lnSpc>
              <a:spcBef>
                <a:spcPts val="500"/>
              </a:spcBef>
              <a:spcAft>
                <a:spcPts val="0"/>
              </a:spcAft>
              <a:buNone/>
            </a:pPr>
            <a:r>
              <a:rPr lang="en-US" sz="1600" b="0" dirty="0" smtClean="0">
                <a:solidFill>
                  <a:schemeClr val="tx1"/>
                </a:solidFill>
                <a:latin typeface="Calibri" panose="020F0502020204030204" charset="0"/>
                <a:cs typeface="Calibri" panose="020F0502020204030204" charset="0"/>
              </a:rPr>
              <a:t>* To define objects in more detail, you add information about their attributes and operations. For example, a Patient object has the attribute Address, and you may include an operation ChangeAddress, which is called when a patient has moved.</a:t>
            </a:r>
            <a:endParaRPr lang="en-US" sz="1600" b="0" dirty="0" smtClean="0">
              <a:solidFill>
                <a:schemeClr val="tx1"/>
              </a:solidFill>
              <a:latin typeface="Calibri" panose="020F0502020204030204" charset="0"/>
              <a:cs typeface="Calibri" panose="020F0502020204030204" charset="0"/>
            </a:endParaRPr>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75970"/>
            <a:ext cx="5340350" cy="59182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rgbClr val="0070C0"/>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The Consultation class</a:t>
            </a:r>
            <a:endParaRPr lang="zh-CN" altLang="en-US" sz="3200" dirty="0">
              <a:solidFill>
                <a:schemeClr val="accent1">
                  <a:lumMod val="75000"/>
                </a:schemeClr>
              </a:solidFill>
              <a:ea typeface="宋体" panose="02010600030101010101" pitchFamily="2" charset="-122"/>
              <a:sym typeface="+mn-ea"/>
            </a:endParaRPr>
          </a:p>
        </p:txBody>
      </p:sp>
      <p:sp>
        <p:nvSpPr>
          <p:cNvPr id="4" name="Rectangle 2"/>
          <p:cNvSpPr>
            <a:spLocks noGrp="1"/>
          </p:cNvSpPr>
          <p:nvPr>
            <p:ph type="title"/>
            <p:custDataLst>
              <p:tags r:id="rId2"/>
            </p:custDataLst>
          </p:nvPr>
        </p:nvSpPr>
        <p:spPr>
          <a:xfrm>
            <a:off x="617538" y="198755"/>
            <a:ext cx="455295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5  System modeling</a:t>
            </a:r>
            <a:endParaRPr lang="en-US" altLang="zh-CN" sz="2800" dirty="0">
              <a:solidFill>
                <a:srgbClr val="660066"/>
              </a:solidFill>
              <a:ea typeface="黑体" panose="02010609060101010101" pitchFamily="49" charset="-122"/>
              <a:cs typeface="+mj-lt"/>
            </a:endParaRPr>
          </a:p>
        </p:txBody>
      </p:sp>
      <p:pic>
        <p:nvPicPr>
          <p:cNvPr id="3" name="图片 2"/>
          <p:cNvPicPr>
            <a:picLocks noChangeAspect="1"/>
          </p:cNvPicPr>
          <p:nvPr/>
        </p:nvPicPr>
        <p:blipFill>
          <a:blip r:embed="rId3"/>
          <a:stretch>
            <a:fillRect/>
          </a:stretch>
        </p:blipFill>
        <p:spPr>
          <a:xfrm>
            <a:off x="5505450" y="670560"/>
            <a:ext cx="3498850" cy="6033135"/>
          </a:xfrm>
          <a:prstGeom prst="rect">
            <a:avLst/>
          </a:prstGeom>
        </p:spPr>
      </p:pic>
      <p:sp>
        <p:nvSpPr>
          <p:cNvPr id="6" name="Content Placeholder 2"/>
          <p:cNvSpPr>
            <a:spLocks noGrp="1"/>
          </p:cNvSpPr>
          <p:nvPr/>
        </p:nvSpPr>
        <p:spPr>
          <a:xfrm>
            <a:off x="113030" y="1318895"/>
            <a:ext cx="5542280" cy="5385435"/>
          </a:xfrm>
          <a:prstGeom prst="rect">
            <a:avLst/>
          </a:prstGeom>
          <a:noFill/>
          <a:extLst>
            <a:ext uri="{909E8E84-426E-40DD-AFC4-6F175D3DCCD1}">
              <a14:hiddenFill xmlns:a14="http://schemas.microsoft.com/office/drawing/2010/main">
                <a:solidFill>
                  <a:schemeClr val="bg1"/>
                </a:solidFill>
              </a14:hiddenFill>
            </a:ext>
          </a:extLst>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marL="0" indent="0">
              <a:lnSpc>
                <a:spcPct val="85000"/>
              </a:lnSpc>
              <a:spcBef>
                <a:spcPts val="500"/>
              </a:spcBef>
              <a:spcAft>
                <a:spcPts val="0"/>
              </a:spcAft>
              <a:buNone/>
            </a:pPr>
            <a:r>
              <a:rPr lang="en-US" sz="2200" b="0" dirty="0" smtClean="0">
                <a:solidFill>
                  <a:schemeClr val="tx1"/>
                </a:solidFill>
                <a:latin typeface="Calibri" panose="020F0502020204030204" charset="0"/>
                <a:cs typeface="Calibri" panose="020F0502020204030204" charset="0"/>
              </a:rPr>
              <a:t>* In UML, you show attributes and operations by extending the simple rectangle. Fig. 5.10 shows an object representing a consultation between doctor and patient:  </a:t>
            </a:r>
            <a:r>
              <a:rPr lang="zh-CN" altLang="en-US" sz="2000" b="0" dirty="0" smtClean="0">
                <a:solidFill>
                  <a:schemeClr val="accent5">
                    <a:lumMod val="50000"/>
                  </a:schemeClr>
                </a:solidFill>
                <a:latin typeface="黑体" panose="02010609060101010101" pitchFamily="49" charset="-122"/>
                <a:ea typeface="黑体" panose="02010609060101010101" pitchFamily="49" charset="-122"/>
                <a:cs typeface="黑体" panose="02010609060101010101" pitchFamily="49" charset="-122"/>
              </a:rPr>
              <a:t>还可以扩展</a:t>
            </a:r>
            <a:r>
              <a:rPr lang="en-US" altLang="zh-CN" sz="2000" b="0" dirty="0" smtClean="0">
                <a:solidFill>
                  <a:schemeClr val="accent5">
                    <a:lumMod val="50000"/>
                  </a:schemeClr>
                </a:solidFill>
                <a:latin typeface="黑体" panose="02010609060101010101" pitchFamily="49" charset="-122"/>
                <a:ea typeface="黑体" panose="02010609060101010101" pitchFamily="49" charset="-122"/>
                <a:cs typeface="黑体" panose="02010609060101010101" pitchFamily="49" charset="-122"/>
              </a:rPr>
              <a:t>,</a:t>
            </a:r>
            <a:r>
              <a:rPr lang="zh-CN" altLang="en-US" sz="2000" b="0" dirty="0" smtClean="0">
                <a:solidFill>
                  <a:schemeClr val="accent5">
                    <a:lumMod val="50000"/>
                  </a:schemeClr>
                </a:solidFill>
                <a:latin typeface="黑体" panose="02010609060101010101" pitchFamily="49" charset="-122"/>
                <a:ea typeface="黑体" panose="02010609060101010101" pitchFamily="49" charset="-122"/>
                <a:cs typeface="黑体" panose="02010609060101010101" pitchFamily="49" charset="-122"/>
              </a:rPr>
              <a:t>显示属性和操作</a:t>
            </a:r>
            <a:endParaRPr lang="en-US" sz="2200" b="0" dirty="0" smtClean="0">
              <a:solidFill>
                <a:schemeClr val="tx1"/>
              </a:solidFill>
              <a:latin typeface="Calibri" panose="020F0502020204030204" charset="0"/>
              <a:cs typeface="Calibri" panose="020F0502020204030204" charset="0"/>
            </a:endParaRPr>
          </a:p>
          <a:p>
            <a:pPr marL="0" indent="0">
              <a:lnSpc>
                <a:spcPct val="85000"/>
              </a:lnSpc>
              <a:spcBef>
                <a:spcPts val="500"/>
              </a:spcBef>
              <a:spcAft>
                <a:spcPts val="0"/>
              </a:spcAft>
              <a:buNone/>
            </a:pPr>
            <a:r>
              <a:rPr lang="en-US" sz="2200" b="0" dirty="0" smtClean="0">
                <a:solidFill>
                  <a:schemeClr val="tx1"/>
                </a:solidFill>
                <a:latin typeface="Calibri" panose="020F0502020204030204" charset="0"/>
                <a:cs typeface="Calibri" panose="020F0502020204030204" charset="0"/>
              </a:rPr>
              <a:t>    1. The name of the object class is in the top section.</a:t>
            </a:r>
            <a:endParaRPr lang="en-US" sz="2200" b="0" dirty="0" smtClean="0">
              <a:solidFill>
                <a:schemeClr val="tx1"/>
              </a:solidFill>
              <a:latin typeface="Calibri" panose="020F0502020204030204" charset="0"/>
              <a:cs typeface="Calibri" panose="020F0502020204030204" charset="0"/>
            </a:endParaRPr>
          </a:p>
          <a:p>
            <a:pPr marL="0" indent="0">
              <a:lnSpc>
                <a:spcPct val="85000"/>
              </a:lnSpc>
              <a:spcBef>
                <a:spcPts val="500"/>
              </a:spcBef>
              <a:spcAft>
                <a:spcPts val="0"/>
              </a:spcAft>
              <a:buNone/>
            </a:pPr>
            <a:r>
              <a:rPr lang="en-US" sz="2200" b="0" dirty="0" smtClean="0">
                <a:solidFill>
                  <a:schemeClr val="tx1"/>
                </a:solidFill>
                <a:latin typeface="Calibri" panose="020F0502020204030204" charset="0"/>
                <a:cs typeface="Calibri" panose="020F0502020204030204" charset="0"/>
              </a:rPr>
              <a:t>    2. The class attributes are in the middle section. This includes the attribute names and, optionally, their types. </a:t>
            </a:r>
            <a:endParaRPr lang="en-US" sz="2200" b="0" dirty="0" smtClean="0">
              <a:solidFill>
                <a:schemeClr val="tx1"/>
              </a:solidFill>
              <a:latin typeface="Calibri" panose="020F0502020204030204" charset="0"/>
              <a:cs typeface="Calibri" panose="020F0502020204030204" charset="0"/>
            </a:endParaRPr>
          </a:p>
          <a:p>
            <a:pPr marL="0" indent="0">
              <a:lnSpc>
                <a:spcPct val="85000"/>
              </a:lnSpc>
              <a:spcBef>
                <a:spcPts val="500"/>
              </a:spcBef>
              <a:spcAft>
                <a:spcPts val="0"/>
              </a:spcAft>
              <a:buNone/>
            </a:pPr>
            <a:r>
              <a:rPr lang="en-US" sz="2200" b="0" dirty="0" smtClean="0">
                <a:solidFill>
                  <a:schemeClr val="tx1"/>
                </a:solidFill>
                <a:latin typeface="Calibri" panose="020F0502020204030204" charset="0"/>
                <a:cs typeface="Calibri" panose="020F0502020204030204" charset="0"/>
              </a:rPr>
              <a:t>    3. The operations associated with the class are in the lower section of the rectangle. </a:t>
            </a:r>
            <a:endParaRPr lang="en-US" sz="2200" b="0" dirty="0" smtClean="0">
              <a:solidFill>
                <a:schemeClr val="tx1"/>
              </a:solidFill>
              <a:latin typeface="Calibri" panose="020F0502020204030204" charset="0"/>
              <a:cs typeface="Calibri" panose="020F0502020204030204" charset="0"/>
            </a:endParaRPr>
          </a:p>
          <a:p>
            <a:pPr marL="0" indent="0">
              <a:lnSpc>
                <a:spcPct val="85000"/>
              </a:lnSpc>
              <a:spcBef>
                <a:spcPts val="500"/>
              </a:spcBef>
              <a:spcAft>
                <a:spcPts val="0"/>
              </a:spcAft>
              <a:buNone/>
            </a:pPr>
            <a:r>
              <a:rPr lang="en-US" sz="2200" b="0" dirty="0" smtClean="0">
                <a:solidFill>
                  <a:schemeClr val="tx1"/>
                </a:solidFill>
                <a:latin typeface="Calibri" panose="020F0502020204030204" charset="0"/>
                <a:cs typeface="Calibri" panose="020F0502020204030204" charset="0"/>
              </a:rPr>
              <a:t>* Here, it is assumed that doctors record voice notes that are transcribed later to record details of the consultation. To prescribe medication, the doctor involved must use the Prescribe method to generate an electronic prescription.</a:t>
            </a:r>
            <a:endParaRPr lang="en-US" sz="2200" b="0" dirty="0" smtClean="0">
              <a:solidFill>
                <a:schemeClr val="tx1"/>
              </a:solidFill>
              <a:latin typeface="Calibri" panose="020F0502020204030204" charset="0"/>
              <a:cs typeface="Calibri" panose="020F0502020204030204" charset="0"/>
            </a:endParaRPr>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60095"/>
            <a:ext cx="8977630" cy="55054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rgbClr val="0070C0"/>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Generalization</a:t>
            </a:r>
            <a:r>
              <a:rPr lang="en-US" altLang="zh-CN" sz="3200" dirty="0">
                <a:solidFill>
                  <a:schemeClr val="accent1">
                    <a:lumMod val="75000"/>
                  </a:schemeClr>
                </a:solidFill>
                <a:ea typeface="宋体" panose="02010600030101010101" pitchFamily="2" charset="-122"/>
                <a:sym typeface="+mn-ea"/>
              </a:rPr>
              <a:t>    </a:t>
            </a:r>
            <a:r>
              <a:rPr lang="zh-CN" altLang="en-US" sz="2400" dirty="0">
                <a:solidFill>
                  <a:schemeClr val="accent1">
                    <a:lumMod val="75000"/>
                  </a:schemeClr>
                </a:solidFill>
                <a:latin typeface="黑体" panose="02010609060101010101" pitchFamily="49" charset="-122"/>
                <a:ea typeface="黑体" panose="02010609060101010101" pitchFamily="49" charset="-122"/>
                <a:sym typeface="+mn-ea"/>
              </a:rPr>
              <a:t>泛化</a:t>
            </a:r>
            <a:endParaRPr lang="zh-CN" altLang="en-US" sz="3200" dirty="0">
              <a:solidFill>
                <a:schemeClr val="accent1">
                  <a:lumMod val="75000"/>
                </a:schemeClr>
              </a:solidFill>
              <a:ea typeface="宋体" panose="02010600030101010101" pitchFamily="2" charset="-122"/>
              <a:sym typeface="+mn-ea"/>
            </a:endParaRPr>
          </a:p>
        </p:txBody>
      </p:sp>
      <p:sp>
        <p:nvSpPr>
          <p:cNvPr id="4" name="Rectangle 2"/>
          <p:cNvSpPr>
            <a:spLocks noGrp="1"/>
          </p:cNvSpPr>
          <p:nvPr>
            <p:ph type="title"/>
            <p:custDataLst>
              <p:tags r:id="rId2"/>
            </p:custDataLst>
          </p:nvPr>
        </p:nvSpPr>
        <p:spPr>
          <a:xfrm>
            <a:off x="617538" y="198755"/>
            <a:ext cx="455295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5  System modeling</a:t>
            </a:r>
            <a:endParaRPr lang="en-US" altLang="zh-CN" sz="2800" dirty="0">
              <a:solidFill>
                <a:srgbClr val="660066"/>
              </a:solidFill>
              <a:ea typeface="黑体" panose="02010609060101010101" pitchFamily="49" charset="-122"/>
              <a:cs typeface="+mj-lt"/>
            </a:endParaRPr>
          </a:p>
        </p:txBody>
      </p:sp>
      <p:sp>
        <p:nvSpPr>
          <p:cNvPr id="5" name="Content Placeholder 2"/>
          <p:cNvSpPr>
            <a:spLocks noGrp="1"/>
          </p:cNvSpPr>
          <p:nvPr/>
        </p:nvSpPr>
        <p:spPr>
          <a:xfrm>
            <a:off x="83185" y="1313180"/>
            <a:ext cx="8982710" cy="5295900"/>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85000"/>
              </a:lnSpc>
              <a:spcAft>
                <a:spcPts val="0"/>
              </a:spcAft>
            </a:pPr>
            <a:r>
              <a:rPr lang="en-US" sz="3000" dirty="0" smtClean="0">
                <a:solidFill>
                  <a:schemeClr val="tx2">
                    <a:lumMod val="75000"/>
                    <a:lumOff val="25000"/>
                  </a:schemeClr>
                </a:solidFill>
                <a:latin typeface="Calibri" panose="020F0502020204030204" charset="0"/>
                <a:cs typeface="Calibri" panose="020F0502020204030204" charset="0"/>
              </a:rPr>
              <a:t> Generalization is an everyday technique that we use to manage complexity.   </a:t>
            </a:r>
            <a:r>
              <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rPr>
              <a:t>泛化：管理复杂性的日常技术</a:t>
            </a:r>
            <a:endParaRPr lang="en-US" sz="2000" dirty="0" smtClean="0">
              <a:solidFill>
                <a:schemeClr val="tx2">
                  <a:lumMod val="75000"/>
                  <a:lumOff val="25000"/>
                </a:schemeClr>
              </a:solidFill>
              <a:latin typeface="Calibri" panose="020F0502020204030204" charset="0"/>
              <a:cs typeface="Calibri" panose="020F0502020204030204" charset="0"/>
            </a:endParaRPr>
          </a:p>
          <a:p>
            <a:pPr>
              <a:lnSpc>
                <a:spcPct val="85000"/>
              </a:lnSpc>
              <a:spcAft>
                <a:spcPts val="0"/>
              </a:spcAft>
            </a:pPr>
            <a:r>
              <a:rPr lang="en-US" sz="3000" dirty="0" smtClean="0">
                <a:solidFill>
                  <a:schemeClr val="tx2">
                    <a:lumMod val="75000"/>
                    <a:lumOff val="25000"/>
                  </a:schemeClr>
                </a:solidFill>
                <a:latin typeface="Calibri" panose="020F0502020204030204" charset="0"/>
                <a:cs typeface="Calibri" panose="020F0502020204030204" charset="0"/>
              </a:rPr>
              <a:t> Rather than learn the detailed characteristics of everything that we experience, we learn about general classes (animals, cars, houses, etc.) and learn the characteristics of these classes.</a:t>
            </a:r>
            <a:r>
              <a:rPr lang="en-US" sz="2000" dirty="0" smtClean="0">
                <a:solidFill>
                  <a:schemeClr val="tx2">
                    <a:lumMod val="75000"/>
                    <a:lumOff val="25000"/>
                  </a:schemeClr>
                </a:solidFill>
                <a:latin typeface="Calibri" panose="020F0502020204030204" charset="0"/>
                <a:cs typeface="Calibri" panose="020F0502020204030204" charset="0"/>
              </a:rPr>
              <a:t>  </a:t>
            </a:r>
            <a:r>
              <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rPr>
              <a:t>我们不是学习万物的细节特征，而是学习更泛化的类</a:t>
            </a:r>
            <a:r>
              <a:rPr lang="en-US" altLang="zh-CN" sz="2000" kern="0" dirty="0">
                <a:solidFill>
                  <a:schemeClr val="accent1">
                    <a:lumMod val="75000"/>
                  </a:schemeClr>
                </a:solidFill>
                <a:latin typeface="黑体" panose="02010609060101010101" pitchFamily="49" charset="-122"/>
                <a:ea typeface="黑体" panose="02010609060101010101" pitchFamily="49" charset="-122"/>
                <a:cs typeface="+mn-cs"/>
              </a:rPr>
              <a:t>(</a:t>
            </a:r>
            <a:r>
              <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rPr>
              <a:t>动物、车、房子等</a:t>
            </a:r>
            <a:r>
              <a:rPr lang="en-US" altLang="zh-CN" sz="2000" kern="0" dirty="0">
                <a:solidFill>
                  <a:schemeClr val="accent1">
                    <a:lumMod val="75000"/>
                  </a:schemeClr>
                </a:solidFill>
                <a:latin typeface="黑体" panose="02010609060101010101" pitchFamily="49" charset="-122"/>
                <a:ea typeface="黑体" panose="02010609060101010101" pitchFamily="49" charset="-122"/>
                <a:cs typeface="+mn-cs"/>
              </a:rPr>
              <a:t>)</a:t>
            </a:r>
            <a:r>
              <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rPr>
              <a:t>以及这些类的特征。</a:t>
            </a:r>
            <a:endParaRPr lang="en-US" sz="2000" dirty="0" smtClean="0">
              <a:solidFill>
                <a:schemeClr val="tx2">
                  <a:lumMod val="75000"/>
                  <a:lumOff val="25000"/>
                </a:schemeClr>
              </a:solidFill>
              <a:latin typeface="Calibri" panose="020F0502020204030204" charset="0"/>
              <a:cs typeface="Calibri" panose="020F0502020204030204" charset="0"/>
            </a:endParaRPr>
          </a:p>
          <a:p>
            <a:pPr>
              <a:lnSpc>
                <a:spcPct val="85000"/>
              </a:lnSpc>
              <a:spcAft>
                <a:spcPts val="0"/>
              </a:spcAft>
            </a:pPr>
            <a:r>
              <a:rPr lang="en-US" sz="3000" dirty="0" smtClean="0">
                <a:solidFill>
                  <a:schemeClr val="tx2">
                    <a:lumMod val="75000"/>
                    <a:lumOff val="25000"/>
                  </a:schemeClr>
                </a:solidFill>
                <a:latin typeface="Calibri" panose="020F0502020204030204" charset="0"/>
                <a:cs typeface="Calibri" panose="020F0502020204030204" charset="0"/>
                <a:sym typeface="+mn-ea"/>
              </a:rPr>
              <a:t> We then reuse knowledge by classifying things and focus on the differences between them and their class.</a:t>
            </a:r>
            <a:r>
              <a:rPr lang="en-US" sz="2700" dirty="0" smtClean="0">
                <a:solidFill>
                  <a:schemeClr val="tx2">
                    <a:lumMod val="75000"/>
                    <a:lumOff val="25000"/>
                  </a:schemeClr>
                </a:solidFill>
                <a:latin typeface="Calibri" panose="020F0502020204030204" charset="0"/>
                <a:cs typeface="Calibri" panose="020F0502020204030204" charset="0"/>
                <a:sym typeface="+mn-ea"/>
              </a:rPr>
              <a:t> </a:t>
            </a:r>
            <a:r>
              <a:rPr lang="en-US" sz="2700" b="0" dirty="0" smtClean="0">
                <a:solidFill>
                  <a:schemeClr val="tx1"/>
                </a:solidFill>
                <a:latin typeface="Calibri" panose="020F0502020204030204" charset="0"/>
                <a:cs typeface="Calibri" panose="020F0502020204030204" charset="0"/>
                <a:sym typeface="+mn-ea"/>
              </a:rPr>
              <a:t>For example, squirrels and rats are members of the class “rodents,” and so share the characteristics of rodents. General statements apply to all class members; for example, all rodents have teeth for gnawing.  </a:t>
            </a:r>
            <a:r>
              <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rPr>
              <a:t>然后，我们通过对事物分类并关注事物及其类别的</a:t>
            </a:r>
            <a:r>
              <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sym typeface="+mn-ea"/>
              </a:rPr>
              <a:t>区别，达到知识复用</a:t>
            </a:r>
            <a:endParaRPr lang="en-US" sz="2800" b="0" dirty="0" smtClean="0">
              <a:solidFill>
                <a:schemeClr val="tx1"/>
              </a:solidFill>
              <a:latin typeface="Calibri" panose="020F0502020204030204" charset="0"/>
              <a:cs typeface="Calibri" panose="020F0502020204030204" charset="0"/>
            </a:endParaRPr>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65175"/>
            <a:ext cx="8977630" cy="57213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rgbClr val="0070C0"/>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Generalization</a:t>
            </a:r>
            <a:r>
              <a:rPr lang="en-US" altLang="zh-CN" sz="3200" dirty="0">
                <a:solidFill>
                  <a:schemeClr val="accent1">
                    <a:lumMod val="75000"/>
                  </a:schemeClr>
                </a:solidFill>
                <a:ea typeface="宋体" panose="02010600030101010101" pitchFamily="2" charset="-122"/>
                <a:sym typeface="+mn-ea"/>
              </a:rPr>
              <a:t> practice  </a:t>
            </a:r>
            <a:r>
              <a:rPr lang="zh-CN" altLang="en-US" sz="2400" dirty="0">
                <a:solidFill>
                  <a:schemeClr val="accent1">
                    <a:lumMod val="75000"/>
                  </a:schemeClr>
                </a:solidFill>
                <a:latin typeface="黑体" panose="02010609060101010101" pitchFamily="49" charset="-122"/>
                <a:ea typeface="黑体" panose="02010609060101010101" pitchFamily="49" charset="-122"/>
                <a:sym typeface="+mn-ea"/>
              </a:rPr>
              <a:t>泛化实践</a:t>
            </a:r>
            <a:endParaRPr lang="zh-CN" altLang="en-US" sz="3200" dirty="0">
              <a:solidFill>
                <a:schemeClr val="accent1">
                  <a:lumMod val="75000"/>
                </a:schemeClr>
              </a:solidFill>
              <a:ea typeface="宋体" panose="02010600030101010101" pitchFamily="2" charset="-122"/>
              <a:sym typeface="+mn-ea"/>
            </a:endParaRPr>
          </a:p>
        </p:txBody>
      </p:sp>
      <p:sp>
        <p:nvSpPr>
          <p:cNvPr id="4" name="Rectangle 2"/>
          <p:cNvSpPr>
            <a:spLocks noGrp="1"/>
          </p:cNvSpPr>
          <p:nvPr>
            <p:ph type="title"/>
            <p:custDataLst>
              <p:tags r:id="rId2"/>
            </p:custDataLst>
          </p:nvPr>
        </p:nvSpPr>
        <p:spPr>
          <a:xfrm>
            <a:off x="617538" y="198755"/>
            <a:ext cx="455295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5  System modeling</a:t>
            </a:r>
            <a:endParaRPr lang="en-US" altLang="zh-CN" sz="2800" dirty="0">
              <a:solidFill>
                <a:srgbClr val="660066"/>
              </a:solidFill>
              <a:ea typeface="黑体" panose="02010609060101010101" pitchFamily="49" charset="-122"/>
              <a:cs typeface="+mj-lt"/>
            </a:endParaRPr>
          </a:p>
        </p:txBody>
      </p:sp>
      <p:sp>
        <p:nvSpPr>
          <p:cNvPr id="5" name="Content Placeholder 2"/>
          <p:cNvSpPr>
            <a:spLocks noGrp="1"/>
          </p:cNvSpPr>
          <p:nvPr/>
        </p:nvSpPr>
        <p:spPr>
          <a:xfrm>
            <a:off x="47625" y="1313180"/>
            <a:ext cx="9018905" cy="5203825"/>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85000"/>
              </a:lnSpc>
              <a:spcAft>
                <a:spcPts val="0"/>
              </a:spcAft>
            </a:pPr>
            <a:r>
              <a:rPr lang="en-US" sz="3000" dirty="0" smtClean="0">
                <a:solidFill>
                  <a:schemeClr val="tx2">
                    <a:lumMod val="75000"/>
                    <a:lumOff val="25000"/>
                  </a:schemeClr>
                </a:solidFill>
                <a:latin typeface="Calibri" panose="020F0502020204030204" charset="0"/>
                <a:cs typeface="Calibri" panose="020F0502020204030204" charset="0"/>
              </a:rPr>
              <a:t> When modeling systems, it is often useful to examine the classes in a system to see if there is scope for generalization and class creation. </a:t>
            </a:r>
            <a:r>
              <a:rPr lang="en-US" sz="2800" b="0" dirty="0" smtClean="0">
                <a:solidFill>
                  <a:schemeClr val="tx1"/>
                </a:solidFill>
                <a:latin typeface="Calibri" panose="020F0502020204030204" charset="0"/>
                <a:cs typeface="Calibri" panose="020F0502020204030204" charset="0"/>
              </a:rPr>
              <a:t>This means that common information will be maintained in one place only. </a:t>
            </a:r>
            <a:r>
              <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rPr>
              <a:t>考察系统中的类，寻找泛化和创建类的空间</a:t>
            </a:r>
            <a:endPar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endParaRPr>
          </a:p>
          <a:p>
            <a:pPr>
              <a:lnSpc>
                <a:spcPct val="85000"/>
              </a:lnSpc>
              <a:spcAft>
                <a:spcPts val="0"/>
              </a:spcAft>
            </a:pPr>
            <a:r>
              <a:rPr lang="en-US" sz="3000" dirty="0" smtClean="0">
                <a:solidFill>
                  <a:schemeClr val="tx2">
                    <a:lumMod val="75000"/>
                    <a:lumOff val="25000"/>
                  </a:schemeClr>
                </a:solidFill>
                <a:latin typeface="Calibri" panose="020F0502020204030204" charset="0"/>
                <a:cs typeface="Calibri" panose="020F0502020204030204" charset="0"/>
              </a:rPr>
              <a:t> This is good design practice, meaning if changes are proposed, you need not to look at all classes that may be affected by the change. </a:t>
            </a:r>
            <a:r>
              <a:rPr lang="en-US" sz="2800" b="0" dirty="0" smtClean="0">
                <a:solidFill>
                  <a:schemeClr val="tx1"/>
                </a:solidFill>
                <a:latin typeface="Calibri" panose="020F0502020204030204" charset="0"/>
                <a:cs typeface="Calibri" panose="020F0502020204030204" charset="0"/>
              </a:rPr>
              <a:t>You can make the changes at the most general level.</a:t>
            </a:r>
            <a:r>
              <a:rPr lang="en-US" sz="3200" dirty="0" smtClean="0">
                <a:solidFill>
                  <a:schemeClr val="tx2">
                    <a:lumMod val="75000"/>
                    <a:lumOff val="25000"/>
                  </a:schemeClr>
                </a:solidFill>
                <a:latin typeface="Calibri" panose="020F0502020204030204" charset="0"/>
                <a:cs typeface="Calibri" panose="020F0502020204030204" charset="0"/>
              </a:rPr>
              <a:t> </a:t>
            </a:r>
            <a:r>
              <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rPr>
              <a:t>如果提出改变，无需查看受该改变影响的所有类，在更泛化的类改变即可。</a:t>
            </a:r>
            <a:endParaRPr lang="en-US" sz="2000" dirty="0" smtClean="0">
              <a:solidFill>
                <a:schemeClr val="tx2">
                  <a:lumMod val="75000"/>
                  <a:lumOff val="25000"/>
                </a:schemeClr>
              </a:solidFill>
              <a:latin typeface="Calibri" panose="020F0502020204030204" charset="0"/>
              <a:cs typeface="Calibri" panose="020F0502020204030204" charset="0"/>
            </a:endParaRPr>
          </a:p>
          <a:p>
            <a:pPr>
              <a:lnSpc>
                <a:spcPct val="85000"/>
              </a:lnSpc>
              <a:spcAft>
                <a:spcPts val="0"/>
              </a:spcAft>
            </a:pPr>
            <a:r>
              <a:rPr lang="en-US" sz="3000" dirty="0" smtClean="0">
                <a:solidFill>
                  <a:schemeClr val="tx2">
                    <a:lumMod val="75000"/>
                    <a:lumOff val="25000"/>
                  </a:schemeClr>
                </a:solidFill>
                <a:latin typeface="Calibri" panose="020F0502020204030204" charset="0"/>
                <a:cs typeface="Calibri" panose="020F0502020204030204" charset="0"/>
              </a:rPr>
              <a:t> In object-oriented languages, such as Java, generalization is implemented using the class inheritance mechanisms.  </a:t>
            </a:r>
            <a:r>
              <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rPr>
              <a:t>在Java中，泛化使用类继承机制来实现</a:t>
            </a:r>
            <a:endPar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endParaRPr>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Rectangle 2"/>
          <p:cNvSpPr>
            <a:spLocks noGrp="1"/>
          </p:cNvSpPr>
          <p:nvPr>
            <p:ph type="title"/>
            <p:custDataLst>
              <p:tags r:id="rId1"/>
            </p:custDataLst>
          </p:nvPr>
        </p:nvSpPr>
        <p:spPr>
          <a:xfrm>
            <a:off x="617538" y="198755"/>
            <a:ext cx="455295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5  System modeling</a:t>
            </a:r>
            <a:endParaRPr lang="en-US" altLang="zh-CN" sz="2800" dirty="0">
              <a:solidFill>
                <a:srgbClr val="660066"/>
              </a:solidFill>
              <a:ea typeface="黑体" panose="02010609060101010101" pitchFamily="49" charset="-122"/>
              <a:cs typeface="+mj-lt"/>
            </a:endParaRPr>
          </a:p>
        </p:txBody>
      </p:sp>
      <p:pic>
        <p:nvPicPr>
          <p:cNvPr id="3" name="图片 2"/>
          <p:cNvPicPr>
            <a:picLocks noChangeAspect="1"/>
          </p:cNvPicPr>
          <p:nvPr/>
        </p:nvPicPr>
        <p:blipFill>
          <a:blip r:embed="rId2"/>
          <a:stretch>
            <a:fillRect/>
          </a:stretch>
        </p:blipFill>
        <p:spPr>
          <a:xfrm>
            <a:off x="1398270" y="852805"/>
            <a:ext cx="7691120" cy="5402580"/>
          </a:xfrm>
          <a:prstGeom prst="rect">
            <a:avLst/>
          </a:prstGeom>
        </p:spPr>
      </p:pic>
      <p:pic>
        <p:nvPicPr>
          <p:cNvPr id="5" name="图片 4"/>
          <p:cNvPicPr>
            <a:picLocks noChangeAspect="1"/>
          </p:cNvPicPr>
          <p:nvPr/>
        </p:nvPicPr>
        <p:blipFill>
          <a:blip r:embed="rId3"/>
          <a:stretch>
            <a:fillRect/>
          </a:stretch>
        </p:blipFill>
        <p:spPr>
          <a:xfrm>
            <a:off x="6290310" y="966470"/>
            <a:ext cx="2515870" cy="641985"/>
          </a:xfrm>
          <a:prstGeom prst="rect">
            <a:avLst/>
          </a:prstGeom>
        </p:spPr>
      </p:pic>
      <p:sp>
        <p:nvSpPr>
          <p:cNvPr id="6" name="Content Placeholder 2"/>
          <p:cNvSpPr>
            <a:spLocks noGrp="1"/>
          </p:cNvSpPr>
          <p:nvPr/>
        </p:nvSpPr>
        <p:spPr>
          <a:xfrm>
            <a:off x="113030" y="888365"/>
            <a:ext cx="3970020" cy="1275080"/>
          </a:xfrm>
          <a:prstGeom prst="rect">
            <a:avLst/>
          </a:prstGeom>
          <a:noFill/>
          <a:extLst>
            <a:ext uri="{909E8E84-426E-40DD-AFC4-6F175D3DCCD1}">
              <a14:hiddenFill xmlns:a14="http://schemas.microsoft.com/office/drawing/2010/main">
                <a:solidFill>
                  <a:schemeClr val="bg1"/>
                </a:solidFill>
              </a14:hiddenFill>
            </a:ext>
          </a:extLst>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marL="0" indent="0">
              <a:lnSpc>
                <a:spcPct val="85000"/>
              </a:lnSpc>
              <a:spcBef>
                <a:spcPts val="500"/>
              </a:spcBef>
              <a:spcAft>
                <a:spcPts val="0"/>
              </a:spcAft>
              <a:buNone/>
            </a:pPr>
            <a:r>
              <a:rPr lang="en-US" b="0" dirty="0" smtClean="0">
                <a:solidFill>
                  <a:schemeClr val="tx1"/>
                </a:solidFill>
                <a:latin typeface="Calibri" panose="020F0502020204030204" charset="0"/>
                <a:cs typeface="Calibri" panose="020F0502020204030204" charset="0"/>
              </a:rPr>
              <a:t>* The UML has a specific type of association to denote generalization, as illustrated in Figure 5.11. </a:t>
            </a:r>
            <a:endParaRPr lang="en-US" b="0" dirty="0" smtClean="0">
              <a:solidFill>
                <a:schemeClr val="tx1"/>
              </a:solidFill>
              <a:latin typeface="Calibri" panose="020F0502020204030204" charset="0"/>
              <a:cs typeface="Calibri" panose="020F0502020204030204" charset="0"/>
            </a:endParaRPr>
          </a:p>
          <a:p>
            <a:pPr marL="0" indent="0">
              <a:lnSpc>
                <a:spcPct val="85000"/>
              </a:lnSpc>
              <a:spcBef>
                <a:spcPts val="500"/>
              </a:spcBef>
              <a:spcAft>
                <a:spcPts val="0"/>
              </a:spcAft>
              <a:buNone/>
            </a:pPr>
            <a:endParaRPr lang="en-US" b="0" dirty="0" smtClean="0">
              <a:solidFill>
                <a:schemeClr val="tx1"/>
              </a:solidFill>
              <a:latin typeface="Calibri" panose="020F0502020204030204" charset="0"/>
              <a:cs typeface="Calibri" panose="020F0502020204030204" charset="0"/>
            </a:endParaRPr>
          </a:p>
        </p:txBody>
      </p:sp>
      <p:sp>
        <p:nvSpPr>
          <p:cNvPr id="8" name="Content Placeholder 2"/>
          <p:cNvSpPr>
            <a:spLocks noGrp="1"/>
          </p:cNvSpPr>
          <p:nvPr/>
        </p:nvSpPr>
        <p:spPr>
          <a:xfrm>
            <a:off x="311785" y="2306955"/>
            <a:ext cx="2757170" cy="1129665"/>
          </a:xfrm>
          <a:prstGeom prst="rect">
            <a:avLst/>
          </a:prstGeom>
          <a:noFill/>
          <a:extLst>
            <a:ext uri="{909E8E84-426E-40DD-AFC4-6F175D3DCCD1}">
              <a14:hiddenFill xmlns:a14="http://schemas.microsoft.com/office/drawing/2010/main">
                <a:solidFill>
                  <a:schemeClr val="bg1"/>
                </a:solidFill>
              </a14:hiddenFill>
            </a:ext>
          </a:extLst>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marL="0" indent="0">
              <a:lnSpc>
                <a:spcPct val="85000"/>
              </a:lnSpc>
              <a:spcBef>
                <a:spcPts val="500"/>
              </a:spcBef>
              <a:spcAft>
                <a:spcPts val="0"/>
              </a:spcAft>
              <a:buNone/>
            </a:pPr>
            <a:r>
              <a:rPr lang="en-US" sz="2000" b="0" dirty="0" smtClean="0">
                <a:solidFill>
                  <a:schemeClr val="tx1"/>
                </a:solidFill>
                <a:latin typeface="Calibri" panose="020F0502020204030204" charset="0"/>
                <a:cs typeface="Calibri" panose="020F0502020204030204" charset="0"/>
              </a:rPr>
              <a:t>* The generalization is shown as an </a:t>
            </a:r>
            <a:r>
              <a:rPr lang="en-US" sz="2000" b="0" u="sng" dirty="0" smtClean="0">
                <a:solidFill>
                  <a:schemeClr val="tx1"/>
                </a:solidFill>
                <a:latin typeface="Calibri" panose="020F0502020204030204" charset="0"/>
                <a:cs typeface="Calibri" panose="020F0502020204030204" charset="0"/>
              </a:rPr>
              <a:t>arrowhead</a:t>
            </a:r>
            <a:r>
              <a:rPr lang="en-US" sz="2000" b="0" dirty="0" smtClean="0">
                <a:solidFill>
                  <a:schemeClr val="tx1"/>
                </a:solidFill>
                <a:latin typeface="Calibri" panose="020F0502020204030204" charset="0"/>
                <a:cs typeface="Calibri" panose="020F0502020204030204" charset="0"/>
              </a:rPr>
              <a:t> pointing up to the more general class. </a:t>
            </a:r>
            <a:endParaRPr lang="en-US" sz="2000" b="0" dirty="0" smtClean="0">
              <a:solidFill>
                <a:schemeClr val="tx1"/>
              </a:solidFill>
              <a:latin typeface="Calibri" panose="020F0502020204030204" charset="0"/>
              <a:cs typeface="Calibri" panose="020F0502020204030204" charset="0"/>
            </a:endParaRPr>
          </a:p>
        </p:txBody>
      </p:sp>
      <p:sp>
        <p:nvSpPr>
          <p:cNvPr id="9" name="Content Placeholder 2"/>
          <p:cNvSpPr>
            <a:spLocks noGrp="1"/>
          </p:cNvSpPr>
          <p:nvPr/>
        </p:nvSpPr>
        <p:spPr>
          <a:xfrm>
            <a:off x="151765" y="4586605"/>
            <a:ext cx="3345815" cy="2118995"/>
          </a:xfrm>
          <a:prstGeom prst="rect">
            <a:avLst/>
          </a:prstGeom>
          <a:noFill/>
          <a:extLst>
            <a:ext uri="{909E8E84-426E-40DD-AFC4-6F175D3DCCD1}">
              <a14:hiddenFill xmlns:a14="http://schemas.microsoft.com/office/drawing/2010/main">
                <a:solidFill>
                  <a:schemeClr val="bg1"/>
                </a:solidFill>
              </a14:hiddenFill>
            </a:ext>
          </a:extLst>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marL="0" indent="0">
              <a:lnSpc>
                <a:spcPct val="85000"/>
              </a:lnSpc>
              <a:spcBef>
                <a:spcPts val="500"/>
              </a:spcBef>
              <a:spcAft>
                <a:spcPts val="0"/>
              </a:spcAft>
              <a:buNone/>
            </a:pPr>
            <a:r>
              <a:rPr lang="en-US" sz="1600" b="0" dirty="0" smtClean="0">
                <a:solidFill>
                  <a:schemeClr val="tx1"/>
                </a:solidFill>
                <a:latin typeface="Calibri" panose="020F0502020204030204" charset="0"/>
                <a:cs typeface="Calibri" panose="020F0502020204030204" charset="0"/>
              </a:rPr>
              <a:t>* This indicates that general practitioners and hospital doctors can be generalized as doctors and that there are 3 types of Hospital Doctor: those just graduated from medical school and is supervised (Trainee Doctor); those who work unsupervised as part of a consultant’s team (Registered Doctor); and consultants, who are senior doctors.</a:t>
            </a:r>
            <a:endParaRPr lang="en-US" sz="1600" b="0" dirty="0" smtClean="0">
              <a:solidFill>
                <a:schemeClr val="tx1"/>
              </a:solidFill>
              <a:latin typeface="Calibri" panose="020F0502020204030204" charset="0"/>
              <a:cs typeface="Calibri" panose="020F0502020204030204" charset="0"/>
            </a:endParaRPr>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Rectangle 2"/>
          <p:cNvSpPr>
            <a:spLocks noGrp="1"/>
          </p:cNvSpPr>
          <p:nvPr>
            <p:ph type="title"/>
            <p:custDataLst>
              <p:tags r:id="rId1"/>
            </p:custDataLst>
          </p:nvPr>
        </p:nvSpPr>
        <p:spPr>
          <a:xfrm>
            <a:off x="617538" y="198755"/>
            <a:ext cx="455295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5  System modeling</a:t>
            </a:r>
            <a:endParaRPr lang="en-US" altLang="zh-CN" sz="2800" dirty="0">
              <a:solidFill>
                <a:srgbClr val="660066"/>
              </a:solidFill>
              <a:ea typeface="黑体" panose="02010609060101010101" pitchFamily="49" charset="-122"/>
              <a:cs typeface="+mj-lt"/>
            </a:endParaRPr>
          </a:p>
        </p:txBody>
      </p:sp>
      <p:pic>
        <p:nvPicPr>
          <p:cNvPr id="5" name="图片 4"/>
          <p:cNvPicPr>
            <a:picLocks noChangeAspect="1"/>
          </p:cNvPicPr>
          <p:nvPr/>
        </p:nvPicPr>
        <p:blipFill>
          <a:blip r:embed="rId2"/>
          <a:stretch>
            <a:fillRect/>
          </a:stretch>
        </p:blipFill>
        <p:spPr>
          <a:xfrm>
            <a:off x="1991360" y="796925"/>
            <a:ext cx="7072630" cy="5688965"/>
          </a:xfrm>
          <a:prstGeom prst="rect">
            <a:avLst/>
          </a:prstGeom>
        </p:spPr>
      </p:pic>
      <p:pic>
        <p:nvPicPr>
          <p:cNvPr id="6" name="图片 5"/>
          <p:cNvPicPr>
            <a:picLocks noChangeAspect="1"/>
          </p:cNvPicPr>
          <p:nvPr/>
        </p:nvPicPr>
        <p:blipFill>
          <a:blip r:embed="rId3"/>
          <a:stretch>
            <a:fillRect/>
          </a:stretch>
        </p:blipFill>
        <p:spPr>
          <a:xfrm>
            <a:off x="6395720" y="1732280"/>
            <a:ext cx="2553970" cy="912495"/>
          </a:xfrm>
          <a:prstGeom prst="rect">
            <a:avLst/>
          </a:prstGeom>
        </p:spPr>
      </p:pic>
      <p:sp>
        <p:nvSpPr>
          <p:cNvPr id="7" name="Content Placeholder 2"/>
          <p:cNvSpPr>
            <a:spLocks noGrp="1"/>
          </p:cNvSpPr>
          <p:nvPr/>
        </p:nvSpPr>
        <p:spPr>
          <a:xfrm>
            <a:off x="113030" y="744855"/>
            <a:ext cx="4143375" cy="3144520"/>
          </a:xfrm>
          <a:prstGeom prst="rect">
            <a:avLst/>
          </a:prstGeom>
          <a:noFill/>
          <a:extLst>
            <a:ext uri="{909E8E84-426E-40DD-AFC4-6F175D3DCCD1}">
              <a14:hiddenFill xmlns:a14="http://schemas.microsoft.com/office/drawing/2010/main">
                <a:solidFill>
                  <a:schemeClr val="bg1"/>
                </a:solidFill>
              </a14:hiddenFill>
            </a:ext>
          </a:extLst>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marL="0" indent="0">
              <a:lnSpc>
                <a:spcPct val="85000"/>
              </a:lnSpc>
              <a:spcBef>
                <a:spcPts val="500"/>
              </a:spcBef>
              <a:spcAft>
                <a:spcPts val="0"/>
              </a:spcAft>
              <a:buNone/>
            </a:pPr>
            <a:r>
              <a:rPr lang="en-US" sz="2300" b="0" dirty="0" smtClean="0">
                <a:solidFill>
                  <a:schemeClr val="tx1"/>
                </a:solidFill>
                <a:latin typeface="Calibri" panose="020F0502020204030204" charset="0"/>
                <a:cs typeface="Calibri" panose="020F0502020204030204" charset="0"/>
              </a:rPr>
              <a:t>* The attributes and operations associated with higher-level classes are also associated with the lower-level classes. The lower-level classes are subclasses that inherit the attributes and operations from their superclasses. These lower-level classes then add more specific attributes and operations.</a:t>
            </a:r>
            <a:endParaRPr lang="en-US" sz="2300" b="0" dirty="0" smtClean="0">
              <a:solidFill>
                <a:schemeClr val="tx1"/>
              </a:solidFill>
              <a:latin typeface="Calibri" panose="020F0502020204030204" charset="0"/>
              <a:cs typeface="Calibri" panose="020F0502020204030204" charset="0"/>
            </a:endParaRPr>
          </a:p>
          <a:p>
            <a:pPr marL="0" indent="0">
              <a:lnSpc>
                <a:spcPct val="85000"/>
              </a:lnSpc>
              <a:spcBef>
                <a:spcPts val="500"/>
              </a:spcBef>
              <a:spcAft>
                <a:spcPts val="0"/>
              </a:spcAft>
              <a:buNone/>
            </a:pPr>
            <a:endParaRPr lang="en-US" sz="2300" b="0" dirty="0" smtClean="0">
              <a:solidFill>
                <a:schemeClr val="tx1"/>
              </a:solidFill>
              <a:latin typeface="Calibri" panose="020F0502020204030204" charset="0"/>
              <a:cs typeface="Calibri" panose="020F0502020204030204" charset="0"/>
            </a:endParaRPr>
          </a:p>
        </p:txBody>
      </p:sp>
      <p:sp>
        <p:nvSpPr>
          <p:cNvPr id="8" name="Content Placeholder 2"/>
          <p:cNvSpPr>
            <a:spLocks noGrp="1"/>
          </p:cNvSpPr>
          <p:nvPr/>
        </p:nvSpPr>
        <p:spPr>
          <a:xfrm>
            <a:off x="168275" y="3813810"/>
            <a:ext cx="2021840" cy="2744470"/>
          </a:xfrm>
          <a:prstGeom prst="rect">
            <a:avLst/>
          </a:prstGeom>
          <a:noFill/>
          <a:extLst>
            <a:ext uri="{909E8E84-426E-40DD-AFC4-6F175D3DCCD1}">
              <a14:hiddenFill xmlns:a14="http://schemas.microsoft.com/office/drawing/2010/main">
                <a:solidFill>
                  <a:schemeClr val="bg1"/>
                </a:solidFill>
              </a14:hiddenFill>
            </a:ext>
          </a:extLst>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marL="0" indent="0">
              <a:lnSpc>
                <a:spcPct val="85000"/>
              </a:lnSpc>
              <a:spcBef>
                <a:spcPts val="500"/>
              </a:spcBef>
              <a:spcAft>
                <a:spcPts val="0"/>
              </a:spcAft>
              <a:buNone/>
            </a:pPr>
            <a:r>
              <a:rPr lang="en-US" sz="1600" b="0" dirty="0" smtClean="0">
                <a:solidFill>
                  <a:schemeClr val="tx1"/>
                </a:solidFill>
                <a:latin typeface="Calibri" panose="020F0502020204030204" charset="0"/>
                <a:cs typeface="Calibri" panose="020F0502020204030204" charset="0"/>
              </a:rPr>
              <a:t>* all doctors have a name and phone number, and all hospital doctors have a staff number and carry a pager. General practitioners don’t have these attributes, as they work independently, but they have an individual practice name and address.  </a:t>
            </a:r>
            <a:endParaRPr lang="en-US" sz="1600" b="0" dirty="0" smtClean="0">
              <a:solidFill>
                <a:schemeClr val="tx1"/>
              </a:solidFill>
              <a:latin typeface="Calibri" panose="020F0502020204030204" charset="0"/>
              <a:cs typeface="Calibri" panose="020F0502020204030204" charset="0"/>
            </a:endParaRPr>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75970"/>
            <a:ext cx="8977630" cy="62547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zh-CN" altLang="en-US" sz="3200" dirty="0">
                <a:solidFill>
                  <a:schemeClr val="accent1">
                    <a:lumMod val="75000"/>
                  </a:schemeClr>
                </a:solidFill>
                <a:ea typeface="宋体" panose="02010600030101010101" pitchFamily="2" charset="-122"/>
                <a:sym typeface="+mn-ea"/>
              </a:rPr>
              <a:t> Agregation</a:t>
            </a:r>
            <a:r>
              <a:rPr lang="en-US" altLang="zh-CN" sz="3200" dirty="0">
                <a:solidFill>
                  <a:schemeClr val="accent1">
                    <a:lumMod val="75000"/>
                  </a:schemeClr>
                </a:solidFill>
                <a:ea typeface="宋体" panose="02010600030101010101" pitchFamily="2" charset="-122"/>
                <a:sym typeface="+mn-ea"/>
              </a:rPr>
              <a:t>   </a:t>
            </a:r>
            <a:r>
              <a:rPr lang="zh-CN" altLang="en-US" sz="2400" dirty="0">
                <a:solidFill>
                  <a:schemeClr val="accent1">
                    <a:lumMod val="75000"/>
                  </a:schemeClr>
                </a:solidFill>
                <a:latin typeface="黑体" panose="02010609060101010101" pitchFamily="49" charset="-122"/>
                <a:ea typeface="黑体" panose="02010609060101010101" pitchFamily="49" charset="-122"/>
                <a:sym typeface="+mn-ea"/>
              </a:rPr>
              <a:t>聚集</a:t>
            </a:r>
            <a:endParaRPr lang="zh-CN" altLang="en-US" sz="3200" dirty="0">
              <a:solidFill>
                <a:schemeClr val="accent1">
                  <a:lumMod val="75000"/>
                </a:schemeClr>
              </a:solidFill>
              <a:ea typeface="宋体" panose="02010600030101010101" pitchFamily="2" charset="-122"/>
              <a:sym typeface="+mn-ea"/>
            </a:endParaRPr>
          </a:p>
        </p:txBody>
      </p:sp>
      <p:sp>
        <p:nvSpPr>
          <p:cNvPr id="4" name="Rectangle 2"/>
          <p:cNvSpPr>
            <a:spLocks noGrp="1"/>
          </p:cNvSpPr>
          <p:nvPr>
            <p:ph type="title"/>
            <p:custDataLst>
              <p:tags r:id="rId2"/>
            </p:custDataLst>
          </p:nvPr>
        </p:nvSpPr>
        <p:spPr>
          <a:xfrm>
            <a:off x="617538" y="198755"/>
            <a:ext cx="455295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5  System modeling</a:t>
            </a:r>
            <a:endParaRPr lang="en-US" altLang="zh-CN" sz="2800" dirty="0">
              <a:solidFill>
                <a:srgbClr val="660066"/>
              </a:solidFill>
              <a:ea typeface="黑体" panose="02010609060101010101" pitchFamily="49" charset="-122"/>
              <a:cs typeface="+mj-lt"/>
            </a:endParaRPr>
          </a:p>
        </p:txBody>
      </p:sp>
      <p:sp>
        <p:nvSpPr>
          <p:cNvPr id="5" name="Content Placeholder 2"/>
          <p:cNvSpPr>
            <a:spLocks noGrp="1"/>
          </p:cNvSpPr>
          <p:nvPr/>
        </p:nvSpPr>
        <p:spPr>
          <a:xfrm>
            <a:off x="71755" y="1384935"/>
            <a:ext cx="8994140" cy="5105400"/>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90000"/>
              </a:lnSpc>
              <a:spcAft>
                <a:spcPts val="0"/>
              </a:spcAft>
            </a:pPr>
            <a:r>
              <a:rPr lang="en-US" sz="3200" dirty="0" smtClean="0">
                <a:solidFill>
                  <a:schemeClr val="tx2">
                    <a:lumMod val="75000"/>
                    <a:lumOff val="25000"/>
                  </a:schemeClr>
                </a:solidFill>
                <a:latin typeface="Calibri" panose="020F0502020204030204" charset="0"/>
                <a:cs typeface="Calibri" panose="020F0502020204030204" charset="0"/>
              </a:rPr>
              <a:t> Objects in the real world are often made up of different parts. </a:t>
            </a:r>
            <a:r>
              <a:rPr lang="en-US" sz="2800" b="0" dirty="0" smtClean="0">
                <a:solidFill>
                  <a:schemeClr val="tx1"/>
                </a:solidFill>
                <a:latin typeface="Calibri" panose="020F0502020204030204" charset="0"/>
                <a:cs typeface="Calibri" panose="020F0502020204030204" charset="0"/>
              </a:rPr>
              <a:t>For example, a study pack for a course may be composed of a book, PowerPoint slides, quizzes, and recommendations for further reading.</a:t>
            </a:r>
            <a:r>
              <a:rPr lang="en-US" sz="3200" dirty="0" smtClean="0">
                <a:solidFill>
                  <a:schemeClr val="tx2">
                    <a:lumMod val="75000"/>
                    <a:lumOff val="25000"/>
                  </a:schemeClr>
                </a:solidFill>
                <a:latin typeface="Calibri" panose="020F0502020204030204" charset="0"/>
                <a:cs typeface="Calibri" panose="020F0502020204030204" charset="0"/>
              </a:rPr>
              <a:t>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对象由不同部分组成</a:t>
            </a:r>
            <a:endParaRPr lang="en-US" sz="3200" dirty="0" smtClean="0">
              <a:solidFill>
                <a:schemeClr val="tx2">
                  <a:lumMod val="75000"/>
                  <a:lumOff val="25000"/>
                </a:schemeClr>
              </a:solidFill>
              <a:latin typeface="Calibri" panose="020F0502020204030204" charset="0"/>
              <a:cs typeface="Calibri" panose="020F0502020204030204" charset="0"/>
            </a:endParaRPr>
          </a:p>
          <a:p>
            <a:pPr>
              <a:lnSpc>
                <a:spcPct val="90000"/>
              </a:lnSpc>
              <a:spcAft>
                <a:spcPts val="0"/>
              </a:spcAft>
            </a:pPr>
            <a:r>
              <a:rPr lang="en-US" sz="3200" dirty="0" smtClean="0">
                <a:solidFill>
                  <a:schemeClr val="tx2">
                    <a:lumMod val="75000"/>
                    <a:lumOff val="25000"/>
                  </a:schemeClr>
                </a:solidFill>
                <a:latin typeface="Calibri" panose="020F0502020204030204" charset="0"/>
                <a:cs typeface="Calibri" panose="020F0502020204030204" charset="0"/>
              </a:rPr>
              <a:t> The UML provides a special type of association between classes called aggregation, which means that one object (the whole) is composed of other objects (the parts). </a:t>
            </a:r>
            <a:r>
              <a:rPr lang="en-US" sz="2800" b="0" dirty="0" smtClean="0">
                <a:solidFill>
                  <a:schemeClr val="tx1"/>
                </a:solidFill>
                <a:latin typeface="Calibri" panose="020F0502020204030204" charset="0"/>
                <a:cs typeface="Calibri" panose="020F0502020204030204" charset="0"/>
              </a:rPr>
              <a:t>To define aggregation, a diamond shape is added to the link next to the class that represents the whole.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UML提供特殊类型的关联，称为聚集。含义：一个对象由其他对象组成</a:t>
            </a:r>
            <a:endParaRPr lang="zh-CN" altLang="en-US" sz="2800" b="0" dirty="0" smtClean="0">
              <a:solidFill>
                <a:schemeClr val="tx1"/>
              </a:solidFill>
              <a:latin typeface="Calibri" panose="020F0502020204030204" charset="0"/>
              <a:ea typeface="宋体" panose="02010600030101010101" pitchFamily="2" charset="-122"/>
              <a:cs typeface="Calibri" panose="020F0502020204030204" charset="0"/>
            </a:endParaRPr>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847725"/>
            <a:ext cx="8977630" cy="62547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rgbClr val="0070C0"/>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The aggregation association</a:t>
            </a:r>
            <a:r>
              <a:rPr lang="en-US" altLang="zh-CN" sz="3200" dirty="0">
                <a:solidFill>
                  <a:schemeClr val="accent1">
                    <a:lumMod val="75000"/>
                  </a:schemeClr>
                </a:solidFill>
                <a:ea typeface="宋体" panose="02010600030101010101" pitchFamily="2" charset="-122"/>
                <a:sym typeface="+mn-ea"/>
              </a:rPr>
              <a:t>  </a:t>
            </a:r>
            <a:r>
              <a:rPr lang="zh-CN" altLang="en-US" sz="2400" dirty="0">
                <a:solidFill>
                  <a:schemeClr val="accent1">
                    <a:lumMod val="75000"/>
                  </a:schemeClr>
                </a:solidFill>
                <a:latin typeface="黑体" panose="02010609060101010101" pitchFamily="49" charset="-122"/>
                <a:ea typeface="黑体" panose="02010609060101010101" pitchFamily="49" charset="-122"/>
                <a:sym typeface="+mn-ea"/>
              </a:rPr>
              <a:t>聚集关联</a:t>
            </a:r>
            <a:endParaRPr lang="zh-CN" altLang="en-US" sz="3200" dirty="0">
              <a:solidFill>
                <a:schemeClr val="accent1">
                  <a:lumMod val="75000"/>
                </a:schemeClr>
              </a:solidFill>
              <a:ea typeface="宋体" panose="02010600030101010101" pitchFamily="2" charset="-122"/>
              <a:sym typeface="+mn-ea"/>
            </a:endParaRPr>
          </a:p>
        </p:txBody>
      </p:sp>
      <p:sp>
        <p:nvSpPr>
          <p:cNvPr id="4" name="Rectangle 2"/>
          <p:cNvSpPr>
            <a:spLocks noGrp="1"/>
          </p:cNvSpPr>
          <p:nvPr>
            <p:ph type="title"/>
            <p:custDataLst>
              <p:tags r:id="rId2"/>
            </p:custDataLst>
          </p:nvPr>
        </p:nvSpPr>
        <p:spPr>
          <a:xfrm>
            <a:off x="617538" y="198755"/>
            <a:ext cx="455295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5  System modeling</a:t>
            </a:r>
            <a:endParaRPr lang="en-US" altLang="zh-CN" sz="2800" dirty="0">
              <a:solidFill>
                <a:srgbClr val="660066"/>
              </a:solidFill>
              <a:ea typeface="黑体" panose="02010609060101010101" pitchFamily="49" charset="-122"/>
              <a:cs typeface="+mj-lt"/>
            </a:endParaRPr>
          </a:p>
        </p:txBody>
      </p:sp>
      <p:pic>
        <p:nvPicPr>
          <p:cNvPr id="3" name="图片 2"/>
          <p:cNvPicPr>
            <a:picLocks noChangeAspect="1"/>
          </p:cNvPicPr>
          <p:nvPr/>
        </p:nvPicPr>
        <p:blipFill>
          <a:blip r:embed="rId3"/>
          <a:stretch>
            <a:fillRect/>
          </a:stretch>
        </p:blipFill>
        <p:spPr>
          <a:xfrm>
            <a:off x="3038475" y="2327275"/>
            <a:ext cx="5741670" cy="3317240"/>
          </a:xfrm>
          <a:prstGeom prst="rect">
            <a:avLst/>
          </a:prstGeom>
        </p:spPr>
      </p:pic>
      <p:pic>
        <p:nvPicPr>
          <p:cNvPr id="5" name="图片 4"/>
          <p:cNvPicPr>
            <a:picLocks noChangeAspect="1"/>
          </p:cNvPicPr>
          <p:nvPr/>
        </p:nvPicPr>
        <p:blipFill>
          <a:blip r:embed="rId4"/>
          <a:stretch>
            <a:fillRect/>
          </a:stretch>
        </p:blipFill>
        <p:spPr>
          <a:xfrm>
            <a:off x="6233795" y="1540510"/>
            <a:ext cx="2576830" cy="654050"/>
          </a:xfrm>
          <a:prstGeom prst="rect">
            <a:avLst/>
          </a:prstGeom>
        </p:spPr>
      </p:pic>
      <p:sp>
        <p:nvSpPr>
          <p:cNvPr id="7" name="Content Placeholder 2"/>
          <p:cNvSpPr>
            <a:spLocks noGrp="1"/>
          </p:cNvSpPr>
          <p:nvPr/>
        </p:nvSpPr>
        <p:spPr>
          <a:xfrm>
            <a:off x="256540" y="1605915"/>
            <a:ext cx="4259580" cy="2654935"/>
          </a:xfrm>
          <a:prstGeom prst="rect">
            <a:avLst/>
          </a:prstGeom>
          <a:noFill/>
          <a:extLst>
            <a:ext uri="{909E8E84-426E-40DD-AFC4-6F175D3DCCD1}">
              <a14:hiddenFill xmlns:a14="http://schemas.microsoft.com/office/drawing/2010/main">
                <a:solidFill>
                  <a:schemeClr val="bg1"/>
                </a:solidFill>
              </a14:hiddenFill>
            </a:ext>
          </a:extLst>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marL="0" indent="0">
              <a:lnSpc>
                <a:spcPct val="85000"/>
              </a:lnSpc>
              <a:spcBef>
                <a:spcPts val="500"/>
              </a:spcBef>
              <a:spcAft>
                <a:spcPts val="0"/>
              </a:spcAft>
              <a:buNone/>
            </a:pPr>
            <a:r>
              <a:rPr lang="en-US" b="0" dirty="0" smtClean="0">
                <a:solidFill>
                  <a:schemeClr val="tx1"/>
                </a:solidFill>
                <a:latin typeface="Calibri" panose="020F0502020204030204" charset="0"/>
                <a:cs typeface="Calibri" panose="020F0502020204030204" charset="0"/>
              </a:rPr>
              <a:t>* Figure 5.13 shows that a patient record is an aggregate of Patient and an indefinite number of Consultations. </a:t>
            </a:r>
            <a:endParaRPr lang="en-US" b="0" dirty="0" smtClean="0">
              <a:solidFill>
                <a:schemeClr val="tx1"/>
              </a:solidFill>
              <a:latin typeface="Calibri" panose="020F0502020204030204" charset="0"/>
              <a:cs typeface="Calibri" panose="020F0502020204030204" charset="0"/>
            </a:endParaRPr>
          </a:p>
          <a:p>
            <a:pPr marL="0" indent="0">
              <a:lnSpc>
                <a:spcPct val="85000"/>
              </a:lnSpc>
              <a:spcBef>
                <a:spcPts val="500"/>
              </a:spcBef>
              <a:spcAft>
                <a:spcPts val="0"/>
              </a:spcAft>
              <a:buNone/>
            </a:pPr>
            <a:r>
              <a:rPr lang="en-US" b="0" dirty="0" smtClean="0">
                <a:solidFill>
                  <a:schemeClr val="tx1"/>
                </a:solidFill>
                <a:latin typeface="Calibri" panose="020F0502020204030204" charset="0"/>
                <a:cs typeface="Calibri" panose="020F0502020204030204" charset="0"/>
              </a:rPr>
              <a:t>* That is, the record maintains personal patient information as well as an individual record for each consultation with a doctor.</a:t>
            </a:r>
            <a:endParaRPr lang="en-US" b="0" dirty="0" smtClean="0">
              <a:solidFill>
                <a:schemeClr val="tx1"/>
              </a:solidFill>
              <a:latin typeface="Calibri" panose="020F0502020204030204" charset="0"/>
              <a:cs typeface="Calibri" panose="020F0502020204030204" charset="0"/>
            </a:endParaRPr>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45490"/>
            <a:ext cx="8977630" cy="58420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zh-CN" altLang="en-US" sz="3200" dirty="0">
                <a:solidFill>
                  <a:schemeClr val="accent1">
                    <a:lumMod val="75000"/>
                  </a:schemeClr>
                </a:solidFill>
                <a:ea typeface="宋体" panose="02010600030101010101" pitchFamily="2" charset="-122"/>
                <a:sym typeface="+mn-ea"/>
              </a:rPr>
              <a:t> 5.4 Behavioral models</a:t>
            </a:r>
            <a:r>
              <a:rPr lang="en-US" altLang="zh-CN" sz="3200" dirty="0">
                <a:solidFill>
                  <a:schemeClr val="accent1">
                    <a:lumMod val="75000"/>
                  </a:schemeClr>
                </a:solidFill>
                <a:ea typeface="宋体" panose="02010600030101010101" pitchFamily="2" charset="-122"/>
                <a:sym typeface="+mn-ea"/>
              </a:rPr>
              <a:t>   </a:t>
            </a:r>
            <a:r>
              <a:rPr lang="zh-CN" altLang="en-US" sz="2400" dirty="0">
                <a:solidFill>
                  <a:schemeClr val="accent1">
                    <a:lumMod val="75000"/>
                  </a:schemeClr>
                </a:solidFill>
                <a:latin typeface="黑体" panose="02010609060101010101" pitchFamily="49" charset="-122"/>
                <a:ea typeface="黑体" panose="02010609060101010101" pitchFamily="49" charset="-122"/>
                <a:sym typeface="+mn-ea"/>
              </a:rPr>
              <a:t>行为模型</a:t>
            </a:r>
            <a:endParaRPr lang="zh-CN" altLang="en-US" sz="3200" dirty="0">
              <a:solidFill>
                <a:schemeClr val="accent1">
                  <a:lumMod val="75000"/>
                </a:schemeClr>
              </a:solidFill>
              <a:ea typeface="宋体" panose="02010600030101010101" pitchFamily="2" charset="-122"/>
              <a:sym typeface="+mn-ea"/>
            </a:endParaRPr>
          </a:p>
        </p:txBody>
      </p:sp>
      <p:sp>
        <p:nvSpPr>
          <p:cNvPr id="4" name="Rectangle 2"/>
          <p:cNvSpPr>
            <a:spLocks noGrp="1"/>
          </p:cNvSpPr>
          <p:nvPr>
            <p:ph type="title"/>
            <p:custDataLst>
              <p:tags r:id="rId2"/>
            </p:custDataLst>
          </p:nvPr>
        </p:nvSpPr>
        <p:spPr>
          <a:xfrm>
            <a:off x="617538" y="198755"/>
            <a:ext cx="455295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5  System modeling</a:t>
            </a:r>
            <a:endParaRPr lang="en-US" altLang="zh-CN" sz="2800" dirty="0">
              <a:solidFill>
                <a:srgbClr val="660066"/>
              </a:solidFill>
              <a:ea typeface="黑体" panose="02010609060101010101" pitchFamily="49" charset="-122"/>
              <a:cs typeface="+mj-lt"/>
            </a:endParaRPr>
          </a:p>
        </p:txBody>
      </p:sp>
      <p:sp>
        <p:nvSpPr>
          <p:cNvPr id="3" name="Content Placeholder 2"/>
          <p:cNvSpPr>
            <a:spLocks noGrp="1"/>
          </p:cNvSpPr>
          <p:nvPr/>
        </p:nvSpPr>
        <p:spPr>
          <a:xfrm>
            <a:off x="26670" y="1313180"/>
            <a:ext cx="9053195" cy="5147310"/>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85000"/>
              </a:lnSpc>
              <a:spcBef>
                <a:spcPts val="600"/>
              </a:spcBef>
              <a:spcAft>
                <a:spcPts val="0"/>
              </a:spcAft>
            </a:pPr>
            <a:r>
              <a:rPr lang="en-US" sz="3100" dirty="0" smtClean="0">
                <a:solidFill>
                  <a:schemeClr val="accent2">
                    <a:lumMod val="75000"/>
                  </a:schemeClr>
                </a:solidFill>
                <a:latin typeface="Calibri" panose="020F0502020204030204" charset="0"/>
                <a:cs typeface="Calibri" panose="020F0502020204030204" charset="0"/>
              </a:rPr>
              <a:t> Behavioral models are models of the dynamic behavior of a system as it is executing. They show what happens or what is supposed to happen when a system responds to a stimulus from its environment.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动态行为模型：响应环境的刺激，发生事情</a:t>
            </a:r>
            <a:endPar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endParaRPr>
          </a:p>
          <a:p>
            <a:pPr>
              <a:lnSpc>
                <a:spcPct val="85000"/>
              </a:lnSpc>
              <a:spcBef>
                <a:spcPts val="600"/>
              </a:spcBef>
              <a:spcAft>
                <a:spcPts val="0"/>
              </a:spcAft>
            </a:pPr>
            <a:r>
              <a:rPr lang="en-US" sz="3100" dirty="0" smtClean="0">
                <a:solidFill>
                  <a:schemeClr val="accent2">
                    <a:lumMod val="75000"/>
                  </a:schemeClr>
                </a:solidFill>
                <a:latin typeface="Calibri" panose="020F0502020204030204" charset="0"/>
                <a:cs typeface="Calibri" panose="020F0502020204030204" charset="0"/>
              </a:rPr>
              <a:t> These stimuli may be either data or events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刺激可以是数据或事件</a:t>
            </a:r>
            <a:endPar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endParaRPr>
          </a:p>
          <a:p>
            <a:pPr lvl="1">
              <a:lnSpc>
                <a:spcPct val="85000"/>
              </a:lnSpc>
              <a:spcBef>
                <a:spcPts val="600"/>
              </a:spcBef>
              <a:spcAft>
                <a:spcPts val="0"/>
              </a:spcAft>
            </a:pPr>
            <a:r>
              <a:rPr lang="en-US" sz="2700" b="0" dirty="0" smtClean="0">
                <a:solidFill>
                  <a:srgbClr val="C00000"/>
                </a:solidFill>
                <a:latin typeface="Calibri" panose="020F0502020204030204" charset="0"/>
                <a:cs typeface="Calibri" panose="020F0502020204030204" charset="0"/>
              </a:rPr>
              <a:t>Data</a:t>
            </a:r>
            <a:r>
              <a:rPr lang="en-US" sz="2700" b="0" dirty="0" smtClean="0">
                <a:solidFill>
                  <a:schemeClr val="tx1"/>
                </a:solidFill>
                <a:latin typeface="Calibri" panose="020F0502020204030204" charset="0"/>
                <a:cs typeface="Calibri" panose="020F0502020204030204" charset="0"/>
              </a:rPr>
              <a:t> becomes available that has to be processed by the system. The availability of the data triggers the processing.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数据的可用，触发了处理过程</a:t>
            </a:r>
            <a:endParaRPr lang="en-US" sz="2800" b="0" dirty="0" smtClean="0">
              <a:solidFill>
                <a:schemeClr val="tx1"/>
              </a:solidFill>
              <a:latin typeface="Calibri" panose="020F0502020204030204" charset="0"/>
              <a:cs typeface="Calibri" panose="020F0502020204030204" charset="0"/>
            </a:endParaRPr>
          </a:p>
          <a:p>
            <a:pPr lvl="1">
              <a:lnSpc>
                <a:spcPct val="85000"/>
              </a:lnSpc>
              <a:spcBef>
                <a:spcPts val="600"/>
              </a:spcBef>
              <a:spcAft>
                <a:spcPts val="0"/>
              </a:spcAft>
            </a:pPr>
            <a:r>
              <a:rPr lang="en-US" sz="2700" b="0" dirty="0" smtClean="0">
                <a:solidFill>
                  <a:schemeClr val="tx1"/>
                </a:solidFill>
                <a:latin typeface="Calibri" panose="020F0502020204030204" charset="0"/>
                <a:cs typeface="Calibri" panose="020F0502020204030204" charset="0"/>
              </a:rPr>
              <a:t>An </a:t>
            </a:r>
            <a:r>
              <a:rPr lang="en-US" sz="2700" b="0" dirty="0" smtClean="0">
                <a:solidFill>
                  <a:srgbClr val="C00000"/>
                </a:solidFill>
                <a:latin typeface="Calibri" panose="020F0502020204030204" charset="0"/>
                <a:cs typeface="Calibri" panose="020F0502020204030204" charset="0"/>
              </a:rPr>
              <a:t>event</a:t>
            </a:r>
            <a:r>
              <a:rPr lang="en-US" sz="2700" b="0" dirty="0" smtClean="0">
                <a:solidFill>
                  <a:schemeClr val="tx1"/>
                </a:solidFill>
                <a:latin typeface="Calibri" panose="020F0502020204030204" charset="0"/>
                <a:cs typeface="Calibri" panose="020F0502020204030204" charset="0"/>
              </a:rPr>
              <a:t> happens that triggers system processing. Events may have associated data, although this is not always the case.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事件的发生，触发了系统处理过程</a:t>
            </a:r>
            <a:endParaRPr lang="en-US" sz="2800" dirty="0">
              <a:latin typeface="Calibri" panose="020F0502020204030204" charset="0"/>
              <a:cs typeface="Calibri" panose="020F0502020204030204" charset="0"/>
            </a:endParaRPr>
          </a:p>
        </p:txBody>
      </p:sp>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42950"/>
            <a:ext cx="8977630" cy="57277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rgbClr val="0070C0"/>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Data-driven modeling</a:t>
            </a:r>
            <a:r>
              <a:rPr lang="en-US" altLang="zh-CN" sz="3200" dirty="0">
                <a:solidFill>
                  <a:schemeClr val="accent1">
                    <a:lumMod val="75000"/>
                  </a:schemeClr>
                </a:solidFill>
                <a:ea typeface="宋体" panose="02010600030101010101" pitchFamily="2" charset="-122"/>
                <a:sym typeface="+mn-ea"/>
              </a:rPr>
              <a:t>  </a:t>
            </a:r>
            <a:r>
              <a:rPr lang="zh-CN" altLang="en-US" sz="2400" dirty="0">
                <a:solidFill>
                  <a:schemeClr val="accent1">
                    <a:lumMod val="75000"/>
                  </a:schemeClr>
                </a:solidFill>
                <a:latin typeface="黑体" panose="02010609060101010101" pitchFamily="49" charset="-122"/>
                <a:ea typeface="黑体" panose="02010609060101010101" pitchFamily="49" charset="-122"/>
                <a:sym typeface="+mn-ea"/>
              </a:rPr>
              <a:t>数据驱动建模</a:t>
            </a:r>
            <a:endParaRPr lang="zh-CN" altLang="en-US" sz="3200" dirty="0">
              <a:solidFill>
                <a:schemeClr val="accent1">
                  <a:lumMod val="75000"/>
                </a:schemeClr>
              </a:solidFill>
              <a:ea typeface="宋体" panose="02010600030101010101" pitchFamily="2" charset="-122"/>
              <a:sym typeface="+mn-ea"/>
            </a:endParaRPr>
          </a:p>
        </p:txBody>
      </p:sp>
      <p:sp>
        <p:nvSpPr>
          <p:cNvPr id="4" name="Rectangle 2"/>
          <p:cNvSpPr>
            <a:spLocks noGrp="1"/>
          </p:cNvSpPr>
          <p:nvPr>
            <p:ph type="title"/>
            <p:custDataLst>
              <p:tags r:id="rId2"/>
            </p:custDataLst>
          </p:nvPr>
        </p:nvSpPr>
        <p:spPr>
          <a:xfrm>
            <a:off x="617538" y="198755"/>
            <a:ext cx="455295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5  System modeling</a:t>
            </a:r>
            <a:endParaRPr lang="en-US" altLang="zh-CN" sz="2800" dirty="0">
              <a:solidFill>
                <a:srgbClr val="660066"/>
              </a:solidFill>
              <a:ea typeface="黑体" panose="02010609060101010101" pitchFamily="49" charset="-122"/>
              <a:cs typeface="+mj-lt"/>
            </a:endParaRPr>
          </a:p>
        </p:txBody>
      </p:sp>
      <p:sp>
        <p:nvSpPr>
          <p:cNvPr id="5" name="Content Placeholder 2"/>
          <p:cNvSpPr>
            <a:spLocks noGrp="1"/>
          </p:cNvSpPr>
          <p:nvPr/>
        </p:nvSpPr>
        <p:spPr>
          <a:xfrm>
            <a:off x="64135" y="1313180"/>
            <a:ext cx="9002395" cy="5287010"/>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82000"/>
              </a:lnSpc>
              <a:spcAft>
                <a:spcPts val="0"/>
              </a:spcAft>
            </a:pPr>
            <a:r>
              <a:rPr lang="en-US" sz="3100" dirty="0" smtClean="0">
                <a:solidFill>
                  <a:schemeClr val="tx2">
                    <a:lumMod val="75000"/>
                    <a:lumOff val="25000"/>
                  </a:schemeClr>
                </a:solidFill>
                <a:latin typeface="Calibri" panose="020F0502020204030204" charset="0"/>
                <a:cs typeface="Calibri" panose="020F0502020204030204" charset="0"/>
              </a:rPr>
              <a:t> Data-driven models show the sequence of actions involved in processing input data and generating an associated output.  </a:t>
            </a:r>
            <a:r>
              <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rPr>
              <a:t>展示处理输入数据</a:t>
            </a:r>
            <a:r>
              <a:rPr lang="en-US" altLang="zh-CN" sz="2000" kern="0" dirty="0">
                <a:solidFill>
                  <a:schemeClr val="accent1">
                    <a:lumMod val="75000"/>
                  </a:schemeClr>
                </a:solidFill>
                <a:latin typeface="黑体" panose="02010609060101010101" pitchFamily="49" charset="-122"/>
                <a:ea typeface="黑体" panose="02010609060101010101" pitchFamily="49" charset="-122"/>
                <a:cs typeface="+mn-cs"/>
              </a:rPr>
              <a:t>,</a:t>
            </a:r>
            <a:r>
              <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rPr>
              <a:t>生成相关输出的动作序列</a:t>
            </a:r>
            <a:endParaRPr lang="en-US" sz="2000" dirty="0" smtClean="0">
              <a:solidFill>
                <a:schemeClr val="tx2">
                  <a:lumMod val="75000"/>
                  <a:lumOff val="25000"/>
                </a:schemeClr>
              </a:solidFill>
              <a:latin typeface="Calibri" panose="020F0502020204030204" charset="0"/>
              <a:cs typeface="Calibri" panose="020F0502020204030204" charset="0"/>
            </a:endParaRPr>
          </a:p>
          <a:p>
            <a:pPr>
              <a:lnSpc>
                <a:spcPct val="82000"/>
              </a:lnSpc>
              <a:spcAft>
                <a:spcPts val="0"/>
              </a:spcAft>
            </a:pPr>
            <a:r>
              <a:rPr lang="en-US" sz="3100" dirty="0" smtClean="0">
                <a:solidFill>
                  <a:schemeClr val="tx2">
                    <a:lumMod val="75000"/>
                    <a:lumOff val="25000"/>
                  </a:schemeClr>
                </a:solidFill>
                <a:latin typeface="Calibri" panose="020F0502020204030204" charset="0"/>
                <a:cs typeface="Calibri" panose="020F0502020204030204" charset="0"/>
              </a:rPr>
              <a:t> Can be used during the analysis of requirements as they show end-to-end processing. </a:t>
            </a:r>
            <a:r>
              <a:rPr lang="en-US" sz="2800" b="0" dirty="0" smtClean="0">
                <a:solidFill>
                  <a:schemeClr val="tx1"/>
                </a:solidFill>
                <a:latin typeface="Calibri" panose="020F0502020204030204" charset="0"/>
                <a:cs typeface="Calibri" panose="020F0502020204030204" charset="0"/>
              </a:rPr>
              <a:t>That is, they show the entire sequence of actions that takes place from an initial input to the corresponding output, which is the system’s response. </a:t>
            </a:r>
            <a:r>
              <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rPr>
              <a:t>可在</a:t>
            </a:r>
            <a:r>
              <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sym typeface="+mn-ea"/>
              </a:rPr>
              <a:t>分析</a:t>
            </a:r>
            <a:r>
              <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rPr>
              <a:t>需求时运用,因其展示了端到端的处理</a:t>
            </a:r>
            <a:endPar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endParaRPr>
          </a:p>
          <a:p>
            <a:pPr>
              <a:lnSpc>
                <a:spcPct val="82000"/>
              </a:lnSpc>
              <a:spcAft>
                <a:spcPts val="0"/>
              </a:spcAft>
            </a:pPr>
            <a:r>
              <a:rPr lang="en-US" sz="3100" dirty="0" smtClean="0">
                <a:solidFill>
                  <a:schemeClr val="tx2">
                    <a:lumMod val="75000"/>
                    <a:lumOff val="25000"/>
                  </a:schemeClr>
                </a:solidFill>
                <a:latin typeface="Calibri" panose="020F0502020204030204" charset="0"/>
                <a:cs typeface="Calibri" panose="020F0502020204030204" charset="0"/>
              </a:rPr>
              <a:t> Data-driven models are useful because tracking and documenting how data associated with a particular process moves through the system help analysts and designers understand the process. </a:t>
            </a:r>
            <a:r>
              <a:rPr lang="en-US" sz="2800" b="0" dirty="0" smtClean="0">
                <a:solidFill>
                  <a:schemeClr val="tx1"/>
                </a:solidFill>
                <a:latin typeface="Calibri" panose="020F0502020204030204" charset="0"/>
                <a:cs typeface="Calibri" panose="020F0502020204030204" charset="0"/>
              </a:rPr>
              <a:t> </a:t>
            </a:r>
            <a:r>
              <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rPr>
              <a:t>有用</a:t>
            </a:r>
            <a:r>
              <a:rPr lang="en-US" altLang="zh-CN" sz="2000" kern="0" dirty="0">
                <a:solidFill>
                  <a:schemeClr val="accent1">
                    <a:lumMod val="75000"/>
                  </a:schemeClr>
                </a:solidFill>
                <a:latin typeface="黑体" panose="02010609060101010101" pitchFamily="49" charset="-122"/>
                <a:ea typeface="黑体" panose="02010609060101010101" pitchFamily="49" charset="-122"/>
                <a:cs typeface="+mn-cs"/>
              </a:rPr>
              <a:t>:</a:t>
            </a:r>
            <a:r>
              <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rPr>
              <a:t>因为跟踪和记载与特定过程关联的数据是如何在系统中流动的，有助于分析人员和设计者理解过程。</a:t>
            </a:r>
            <a:endPar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endParaRPr>
          </a:p>
        </p:txBody>
      </p:sp>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Rectangle 2"/>
          <p:cNvSpPr>
            <a:spLocks noGrp="1"/>
          </p:cNvSpPr>
          <p:nvPr>
            <p:ph type="title"/>
            <p:custDataLst>
              <p:tags r:id="rId1"/>
            </p:custDataLst>
          </p:nvPr>
        </p:nvSpPr>
        <p:spPr>
          <a:xfrm>
            <a:off x="617538" y="198755"/>
            <a:ext cx="455295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5  System modeling</a:t>
            </a:r>
            <a:endParaRPr lang="en-US" altLang="zh-CN" sz="2800" dirty="0">
              <a:solidFill>
                <a:srgbClr val="660066"/>
              </a:solidFill>
              <a:ea typeface="黑体" panose="02010609060101010101" pitchFamily="49" charset="-122"/>
              <a:cs typeface="+mj-lt"/>
            </a:endParaRPr>
          </a:p>
        </p:txBody>
      </p:sp>
      <p:pic>
        <p:nvPicPr>
          <p:cNvPr id="3" name="图片 2"/>
          <p:cNvPicPr>
            <a:picLocks noChangeAspect="1"/>
          </p:cNvPicPr>
          <p:nvPr/>
        </p:nvPicPr>
        <p:blipFill>
          <a:blip r:embed="rId2"/>
          <a:stretch>
            <a:fillRect/>
          </a:stretch>
        </p:blipFill>
        <p:spPr>
          <a:xfrm>
            <a:off x="32385" y="894715"/>
            <a:ext cx="9047480" cy="3023235"/>
          </a:xfrm>
          <a:prstGeom prst="rect">
            <a:avLst/>
          </a:prstGeom>
        </p:spPr>
      </p:pic>
      <p:sp>
        <p:nvSpPr>
          <p:cNvPr id="7" name="Content Placeholder 2"/>
          <p:cNvSpPr>
            <a:spLocks noGrp="1"/>
          </p:cNvSpPr>
          <p:nvPr/>
        </p:nvSpPr>
        <p:spPr>
          <a:xfrm>
            <a:off x="89535" y="4045585"/>
            <a:ext cx="8976995" cy="2456180"/>
          </a:xfrm>
          <a:prstGeom prst="rect">
            <a:avLst/>
          </a:prstGeom>
          <a:noFill/>
          <a:extLst>
            <a:ext uri="{909E8E84-426E-40DD-AFC4-6F175D3DCCD1}">
              <a14:hiddenFill xmlns:a14="http://schemas.microsoft.com/office/drawing/2010/main">
                <a:solidFill>
                  <a:schemeClr val="bg1"/>
                </a:solidFill>
              </a14:hiddenFill>
            </a:ext>
          </a:extLst>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marL="0" indent="0">
              <a:lnSpc>
                <a:spcPct val="85000"/>
              </a:lnSpc>
              <a:spcBef>
                <a:spcPts val="500"/>
              </a:spcBef>
              <a:spcAft>
                <a:spcPts val="0"/>
              </a:spcAft>
              <a:buNone/>
            </a:pPr>
            <a:r>
              <a:rPr lang="en-US" b="0" dirty="0" smtClean="0">
                <a:solidFill>
                  <a:schemeClr val="tx1"/>
                </a:solidFill>
                <a:latin typeface="Calibri" panose="020F0502020204030204" charset="0"/>
                <a:cs typeface="Calibri" panose="020F0502020204030204" charset="0"/>
              </a:rPr>
              <a:t>* Data-flow diagrams can be represented in the UML using the activity diagram type, described in Section 5.1. </a:t>
            </a:r>
            <a:endParaRPr lang="en-US" b="0" dirty="0" smtClean="0">
              <a:solidFill>
                <a:schemeClr val="tx1"/>
              </a:solidFill>
              <a:latin typeface="Calibri" panose="020F0502020204030204" charset="0"/>
              <a:cs typeface="Calibri" panose="020F0502020204030204" charset="0"/>
            </a:endParaRPr>
          </a:p>
          <a:p>
            <a:pPr marL="0" indent="0">
              <a:lnSpc>
                <a:spcPct val="85000"/>
              </a:lnSpc>
              <a:spcBef>
                <a:spcPts val="500"/>
              </a:spcBef>
              <a:spcAft>
                <a:spcPts val="0"/>
              </a:spcAft>
              <a:buNone/>
            </a:pPr>
            <a:r>
              <a:rPr lang="en-US" b="0" dirty="0" smtClean="0">
                <a:solidFill>
                  <a:schemeClr val="tx1"/>
                </a:solidFill>
                <a:latin typeface="Calibri" panose="020F0502020204030204" charset="0"/>
                <a:cs typeface="Calibri" panose="020F0502020204030204" charset="0"/>
              </a:rPr>
              <a:t>* Figure 5.14 is a simple activity diagram that shows the chain of processing involved in the insulin pump software. </a:t>
            </a:r>
            <a:endParaRPr lang="en-US" b="0" dirty="0" smtClean="0">
              <a:solidFill>
                <a:schemeClr val="tx1"/>
              </a:solidFill>
              <a:latin typeface="Calibri" panose="020F0502020204030204" charset="0"/>
              <a:cs typeface="Calibri" panose="020F0502020204030204" charset="0"/>
            </a:endParaRPr>
          </a:p>
          <a:p>
            <a:pPr marL="0" indent="0">
              <a:lnSpc>
                <a:spcPct val="85000"/>
              </a:lnSpc>
              <a:spcBef>
                <a:spcPts val="500"/>
              </a:spcBef>
              <a:spcAft>
                <a:spcPts val="0"/>
              </a:spcAft>
              <a:buNone/>
            </a:pPr>
            <a:r>
              <a:rPr lang="en-US" b="0" dirty="0" smtClean="0">
                <a:solidFill>
                  <a:schemeClr val="tx1"/>
                </a:solidFill>
                <a:latin typeface="Calibri" panose="020F0502020204030204" charset="0"/>
                <a:cs typeface="Calibri" panose="020F0502020204030204" charset="0"/>
              </a:rPr>
              <a:t>* You can see the processing steps, represented as activities (rounded rectangles), and the data flowing between these steps, represented as objects (rectangles).</a:t>
            </a:r>
            <a:endParaRPr lang="en-US" b="0" dirty="0" smtClean="0">
              <a:solidFill>
                <a:schemeClr val="tx1"/>
              </a:solidFill>
              <a:latin typeface="Calibri" panose="020F0502020204030204" charset="0"/>
              <a:cs typeface="Calibri" panose="020F0502020204030204" charset="0"/>
            </a:endParaRPr>
          </a:p>
        </p:txBody>
      </p:sp>
      <p:sp>
        <p:nvSpPr>
          <p:cNvPr id="15363" name="Rectangle 3"/>
          <p:cNvSpPr>
            <a:spLocks noGrp="1" noRot="1"/>
          </p:cNvSpPr>
          <p:nvPr>
            <p:ph type="subTitle" idx="1"/>
            <p:custDataLst>
              <p:tags r:id="rId3"/>
            </p:custDataLst>
          </p:nvPr>
        </p:nvSpPr>
        <p:spPr>
          <a:xfrm>
            <a:off x="232410" y="2139315"/>
            <a:ext cx="7214870" cy="42164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zh-CN" altLang="en-US" dirty="0">
                <a:solidFill>
                  <a:schemeClr val="accent1">
                    <a:lumMod val="75000"/>
                  </a:schemeClr>
                </a:solidFill>
                <a:ea typeface="宋体" panose="02010600030101010101" pitchFamily="2" charset="-122"/>
                <a:sym typeface="+mn-ea"/>
              </a:rPr>
              <a:t> Activity model of the insulin pump</a:t>
            </a:r>
            <a:r>
              <a:rPr lang="en-US" altLang="zh-CN" dirty="0">
                <a:solidFill>
                  <a:schemeClr val="accent1">
                    <a:lumMod val="75000"/>
                  </a:schemeClr>
                </a:solidFill>
                <a:ea typeface="宋体" panose="02010600030101010101" pitchFamily="2" charset="-122"/>
                <a:sym typeface="+mn-ea"/>
              </a:rPr>
              <a:t>’</a:t>
            </a:r>
            <a:r>
              <a:rPr lang="zh-CN" altLang="en-US" dirty="0">
                <a:solidFill>
                  <a:schemeClr val="accent1">
                    <a:lumMod val="75000"/>
                  </a:schemeClr>
                </a:solidFill>
                <a:ea typeface="宋体" panose="02010600030101010101" pitchFamily="2" charset="-122"/>
                <a:sym typeface="+mn-ea"/>
              </a:rPr>
              <a:t>s operation</a:t>
            </a:r>
            <a:endParaRPr lang="zh-CN" altLang="en-US" dirty="0">
              <a:solidFill>
                <a:schemeClr val="accent1">
                  <a:lumMod val="75000"/>
                </a:schemeClr>
              </a:solidFill>
              <a:ea typeface="宋体" panose="02010600030101010101" pitchFamily="2" charset="-122"/>
              <a:sym typeface="+mn-ea"/>
            </a:endParaRPr>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118110" y="109855"/>
            <a:ext cx="8920480" cy="4622165"/>
          </a:xfrm>
          <a:prstGeom prst="rect">
            <a:avLst/>
          </a:prstGeom>
        </p:spPr>
      </p:pic>
      <p:sp>
        <p:nvSpPr>
          <p:cNvPr id="7" name="Rectangle 3"/>
          <p:cNvSpPr>
            <a:spLocks noGrp="1" noRot="1"/>
          </p:cNvSpPr>
          <p:nvPr>
            <p:ph type="subTitle" idx="1"/>
            <p:custDataLst>
              <p:tags r:id="rId2"/>
            </p:custDataLst>
          </p:nvPr>
        </p:nvSpPr>
        <p:spPr>
          <a:xfrm>
            <a:off x="2528570" y="58420"/>
            <a:ext cx="5525770" cy="57023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000" dirty="0">
                <a:solidFill>
                  <a:schemeClr val="accent1">
                    <a:lumMod val="75000"/>
                  </a:schemeClr>
                </a:solidFill>
                <a:latin typeface="黑体" panose="02010609060101010101" pitchFamily="49" charset="-122"/>
                <a:ea typeface="黑体" panose="02010609060101010101" pitchFamily="49" charset="-122"/>
                <a:sym typeface="+mn-ea"/>
              </a:rPr>
              <a:t> </a:t>
            </a:r>
            <a:r>
              <a:rPr lang="zh-CN" altLang="en-US" sz="3000" dirty="0">
                <a:solidFill>
                  <a:schemeClr val="accent1">
                    <a:lumMod val="75000"/>
                  </a:schemeClr>
                </a:solidFill>
                <a:latin typeface="+mj-lt"/>
                <a:ea typeface="黑体" panose="02010609060101010101" pitchFamily="49" charset="-122"/>
                <a:cs typeface="+mj-lt"/>
                <a:sym typeface="+mn-ea"/>
              </a:rPr>
              <a:t>Order processing</a:t>
            </a:r>
            <a:r>
              <a:rPr lang="en-US" altLang="zh-CN" sz="3000" dirty="0">
                <a:solidFill>
                  <a:schemeClr val="accent1">
                    <a:lumMod val="75000"/>
                  </a:schemeClr>
                </a:solidFill>
                <a:latin typeface="黑体" panose="02010609060101010101" pitchFamily="49" charset="-122"/>
                <a:ea typeface="黑体" panose="02010609060101010101" pitchFamily="49" charset="-122"/>
                <a:sym typeface="+mn-ea"/>
              </a:rPr>
              <a:t>  </a:t>
            </a:r>
            <a:r>
              <a:rPr lang="zh-CN" altLang="en-US" dirty="0">
                <a:solidFill>
                  <a:schemeClr val="accent1">
                    <a:lumMod val="75000"/>
                  </a:schemeClr>
                </a:solidFill>
                <a:latin typeface="黑体" panose="02010609060101010101" pitchFamily="49" charset="-122"/>
                <a:ea typeface="黑体" panose="02010609060101010101" pitchFamily="49" charset="-122"/>
                <a:sym typeface="+mn-ea"/>
              </a:rPr>
              <a:t>订单处理</a:t>
            </a:r>
            <a:endParaRPr lang="zh-CN" altLang="en-US" dirty="0">
              <a:solidFill>
                <a:schemeClr val="accent1">
                  <a:lumMod val="75000"/>
                </a:schemeClr>
              </a:solidFill>
              <a:latin typeface="黑体" panose="02010609060101010101" pitchFamily="49" charset="-122"/>
              <a:ea typeface="黑体" panose="02010609060101010101" pitchFamily="49" charset="-122"/>
              <a:sym typeface="+mn-ea"/>
            </a:endParaRPr>
          </a:p>
        </p:txBody>
      </p:sp>
      <p:sp>
        <p:nvSpPr>
          <p:cNvPr id="8" name="Content Placeholder 2"/>
          <p:cNvSpPr>
            <a:spLocks noGrp="1"/>
          </p:cNvSpPr>
          <p:nvPr/>
        </p:nvSpPr>
        <p:spPr>
          <a:xfrm>
            <a:off x="89535" y="4763135"/>
            <a:ext cx="8976995" cy="1818005"/>
          </a:xfrm>
          <a:prstGeom prst="rect">
            <a:avLst/>
          </a:prstGeom>
          <a:noFill/>
          <a:extLst>
            <a:ext uri="{909E8E84-426E-40DD-AFC4-6F175D3DCCD1}">
              <a14:hiddenFill xmlns:a14="http://schemas.microsoft.com/office/drawing/2010/main">
                <a:solidFill>
                  <a:schemeClr val="bg1"/>
                </a:solidFill>
              </a14:hiddenFill>
            </a:ext>
          </a:extLst>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marL="0" indent="0">
              <a:lnSpc>
                <a:spcPct val="85000"/>
              </a:lnSpc>
              <a:spcBef>
                <a:spcPts val="500"/>
              </a:spcBef>
              <a:spcAft>
                <a:spcPts val="0"/>
              </a:spcAft>
              <a:buNone/>
            </a:pPr>
            <a:r>
              <a:rPr lang="en-US" sz="2100" b="0" dirty="0" smtClean="0">
                <a:solidFill>
                  <a:schemeClr val="tx1"/>
                </a:solidFill>
                <a:latin typeface="Calibri" panose="020F0502020204030204" charset="0"/>
                <a:cs typeface="Calibri" panose="020F0502020204030204" charset="0"/>
              </a:rPr>
              <a:t>* An alternative way of showing the sequence of processing in a system is to use UML sequence diagrams.  Fig. 5.15 uses a sequence model of processing an order and sending it to a supplier. </a:t>
            </a:r>
            <a:r>
              <a:rPr lang="zh-CN" altLang="en-US" sz="2100" kern="0" dirty="0">
                <a:solidFill>
                  <a:schemeClr val="accent1">
                    <a:lumMod val="75000"/>
                  </a:schemeClr>
                </a:solidFill>
                <a:latin typeface="黑体" panose="02010609060101010101" pitchFamily="49" charset="-122"/>
                <a:ea typeface="黑体" panose="02010609060101010101" pitchFamily="49" charset="-122"/>
                <a:cs typeface="+mn-cs"/>
              </a:rPr>
              <a:t> </a:t>
            </a:r>
            <a:r>
              <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rPr>
              <a:t>顺序图：处理订单，发送给提供商</a:t>
            </a:r>
            <a:endPar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endParaRPr>
          </a:p>
          <a:p>
            <a:pPr marL="0" indent="0">
              <a:lnSpc>
                <a:spcPct val="85000"/>
              </a:lnSpc>
              <a:spcBef>
                <a:spcPts val="500"/>
              </a:spcBef>
              <a:spcAft>
                <a:spcPts val="0"/>
              </a:spcAft>
              <a:buNone/>
            </a:pPr>
            <a:r>
              <a:rPr lang="en-US" sz="2100" b="0" dirty="0" smtClean="0">
                <a:solidFill>
                  <a:schemeClr val="tx1"/>
                </a:solidFill>
                <a:latin typeface="Calibri" panose="020F0502020204030204" charset="0"/>
                <a:cs typeface="Calibri" panose="020F0502020204030204" charset="0"/>
              </a:rPr>
              <a:t>* Sequence models highlight</a:t>
            </a:r>
            <a:r>
              <a:rPr lang="en-US" sz="2100" b="0" u="sng" dirty="0" smtClean="0">
                <a:solidFill>
                  <a:schemeClr val="tx1"/>
                </a:solidFill>
                <a:latin typeface="Calibri" panose="020F0502020204030204" charset="0"/>
                <a:cs typeface="Calibri" panose="020F0502020204030204" charset="0"/>
              </a:rPr>
              <a:t> objects</a:t>
            </a:r>
            <a:r>
              <a:rPr lang="en-US" sz="2100" b="0" dirty="0" smtClean="0">
                <a:solidFill>
                  <a:schemeClr val="tx1"/>
                </a:solidFill>
                <a:latin typeface="Calibri" panose="020F0502020204030204" charset="0"/>
                <a:cs typeface="Calibri" panose="020F0502020204030204" charset="0"/>
              </a:rPr>
              <a:t> in a system, whereas data-flow diagrams highlight the </a:t>
            </a:r>
            <a:r>
              <a:rPr lang="en-US" sz="2100" b="0" u="sng" dirty="0" smtClean="0">
                <a:solidFill>
                  <a:schemeClr val="tx1"/>
                </a:solidFill>
                <a:latin typeface="Calibri" panose="020F0502020204030204" charset="0"/>
                <a:cs typeface="Calibri" panose="020F0502020204030204" charset="0"/>
              </a:rPr>
              <a:t>operations or activities</a:t>
            </a:r>
            <a:r>
              <a:rPr lang="en-US" sz="2100" b="0" dirty="0" smtClean="0">
                <a:solidFill>
                  <a:schemeClr val="tx1"/>
                </a:solidFill>
                <a:latin typeface="Calibri" panose="020F0502020204030204" charset="0"/>
                <a:cs typeface="Calibri" panose="020F0502020204030204" charset="0"/>
              </a:rPr>
              <a:t>. In practice, nonexperts seem to find data-flow diagrams more intuitive, but engineers prefer sequence diagrams.</a:t>
            </a:r>
            <a:endParaRPr lang="en-US" sz="2100" b="0" dirty="0" smtClean="0">
              <a:solidFill>
                <a:schemeClr val="tx1"/>
              </a:solidFill>
              <a:latin typeface="Calibri" panose="020F0502020204030204" charset="0"/>
              <a:cs typeface="Calibri" panose="020F0502020204030204" charset="0"/>
            </a:endParaRPr>
          </a:p>
        </p:txBody>
      </p:sp>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53110"/>
            <a:ext cx="8977630" cy="64643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rgbClr val="0070C0"/>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Event-driven modeling</a:t>
            </a:r>
            <a:r>
              <a:rPr lang="en-US" altLang="zh-CN" sz="3200" dirty="0">
                <a:solidFill>
                  <a:schemeClr val="accent1">
                    <a:lumMod val="75000"/>
                  </a:schemeClr>
                </a:solidFill>
                <a:ea typeface="宋体" panose="02010600030101010101" pitchFamily="2" charset="-122"/>
                <a:sym typeface="+mn-ea"/>
              </a:rPr>
              <a:t>   </a:t>
            </a:r>
            <a:r>
              <a:rPr lang="zh-CN" altLang="en-US" sz="2400" dirty="0">
                <a:solidFill>
                  <a:schemeClr val="accent1">
                    <a:lumMod val="75000"/>
                  </a:schemeClr>
                </a:solidFill>
                <a:latin typeface="黑体" panose="02010609060101010101" pitchFamily="49" charset="-122"/>
                <a:ea typeface="黑体" panose="02010609060101010101" pitchFamily="49" charset="-122"/>
                <a:sym typeface="+mn-ea"/>
              </a:rPr>
              <a:t>事件驱动建模</a:t>
            </a:r>
            <a:endParaRPr lang="zh-CN" altLang="en-US" sz="3200" dirty="0">
              <a:solidFill>
                <a:schemeClr val="accent1">
                  <a:lumMod val="75000"/>
                </a:schemeClr>
              </a:solidFill>
              <a:ea typeface="宋体" panose="02010600030101010101" pitchFamily="2" charset="-122"/>
              <a:sym typeface="+mn-ea"/>
            </a:endParaRPr>
          </a:p>
        </p:txBody>
      </p:sp>
      <p:sp>
        <p:nvSpPr>
          <p:cNvPr id="4" name="Rectangle 2"/>
          <p:cNvSpPr>
            <a:spLocks noGrp="1"/>
          </p:cNvSpPr>
          <p:nvPr>
            <p:ph type="title"/>
            <p:custDataLst>
              <p:tags r:id="rId2"/>
            </p:custDataLst>
          </p:nvPr>
        </p:nvSpPr>
        <p:spPr>
          <a:xfrm>
            <a:off x="617538" y="198755"/>
            <a:ext cx="455295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5  System modeling</a:t>
            </a:r>
            <a:endParaRPr lang="en-US" altLang="zh-CN" sz="2800" dirty="0">
              <a:solidFill>
                <a:srgbClr val="660066"/>
              </a:solidFill>
              <a:ea typeface="黑体" panose="02010609060101010101" pitchFamily="49" charset="-122"/>
              <a:cs typeface="+mj-lt"/>
            </a:endParaRPr>
          </a:p>
        </p:txBody>
      </p:sp>
      <p:sp>
        <p:nvSpPr>
          <p:cNvPr id="5" name="Content Placeholder 2"/>
          <p:cNvSpPr>
            <a:spLocks noGrp="1"/>
          </p:cNvSpPr>
          <p:nvPr/>
        </p:nvSpPr>
        <p:spPr>
          <a:xfrm>
            <a:off x="62230" y="1313815"/>
            <a:ext cx="8992870" cy="5321300"/>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85000"/>
              </a:lnSpc>
              <a:spcAft>
                <a:spcPts val="0"/>
              </a:spcAft>
            </a:pPr>
            <a:r>
              <a:rPr lang="en-US" sz="3200" dirty="0" smtClean="0">
                <a:solidFill>
                  <a:schemeClr val="tx2">
                    <a:lumMod val="75000"/>
                    <a:lumOff val="25000"/>
                  </a:schemeClr>
                </a:solidFill>
                <a:latin typeface="Calibri" panose="020F0502020204030204" charset="0"/>
                <a:cs typeface="Calibri" panose="020F0502020204030204" charset="0"/>
              </a:rPr>
              <a:t> Event-driven modeling shows how a system responds to external and internal events. </a:t>
            </a:r>
            <a:r>
              <a:rPr lang="en-US" sz="2800" b="0" dirty="0" smtClean="0">
                <a:solidFill>
                  <a:schemeClr val="tx1"/>
                </a:solidFill>
                <a:latin typeface="Calibri" panose="020F0502020204030204" charset="0"/>
                <a:cs typeface="Calibri" panose="020F0502020204030204" charset="0"/>
              </a:rPr>
              <a:t>It is based on the assumption that a system has a finite number of states and that events (stimuli) may cause a transition from one state to another.  </a:t>
            </a:r>
            <a:r>
              <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rPr>
              <a:t>展示系统如何响应外部和内部事件</a:t>
            </a:r>
            <a:endParaRPr lang="en-US" sz="2800" b="0" dirty="0" smtClean="0">
              <a:solidFill>
                <a:schemeClr val="tx1"/>
              </a:solidFill>
              <a:latin typeface="Calibri" panose="020F0502020204030204" charset="0"/>
              <a:cs typeface="Calibri" panose="020F0502020204030204" charset="0"/>
            </a:endParaRPr>
          </a:p>
          <a:p>
            <a:pPr>
              <a:lnSpc>
                <a:spcPct val="85000"/>
              </a:lnSpc>
              <a:spcAft>
                <a:spcPts val="0"/>
              </a:spcAft>
            </a:pPr>
            <a:r>
              <a:rPr lang="en-US" sz="3200" dirty="0" smtClean="0">
                <a:solidFill>
                  <a:schemeClr val="tx2">
                    <a:lumMod val="75000"/>
                    <a:lumOff val="25000"/>
                  </a:schemeClr>
                </a:solidFill>
                <a:latin typeface="Calibri" panose="020F0502020204030204" charset="0"/>
                <a:cs typeface="Calibri" panose="020F0502020204030204" charset="0"/>
              </a:rPr>
              <a:t> Used extensively in designing and documenting real-time systems.  </a:t>
            </a:r>
            <a:r>
              <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rPr>
              <a:t>在实时系统设计和文档化中广泛使用</a:t>
            </a:r>
            <a:endPar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endParaRPr>
          </a:p>
          <a:p>
            <a:pPr>
              <a:lnSpc>
                <a:spcPct val="85000"/>
              </a:lnSpc>
              <a:spcAft>
                <a:spcPts val="0"/>
              </a:spcAft>
            </a:pPr>
            <a:r>
              <a:rPr lang="en-US" sz="3200" dirty="0" smtClean="0">
                <a:solidFill>
                  <a:schemeClr val="tx2">
                    <a:lumMod val="75000"/>
                    <a:lumOff val="25000"/>
                  </a:schemeClr>
                </a:solidFill>
                <a:latin typeface="Calibri" panose="020F0502020204030204" charset="0"/>
                <a:cs typeface="Calibri" panose="020F0502020204030204" charset="0"/>
              </a:rPr>
              <a:t>The UML supports event-based modeling using state diagrams, </a:t>
            </a:r>
            <a:r>
              <a:rPr lang="en-US" sz="2800" b="0" dirty="0" smtClean="0">
                <a:solidFill>
                  <a:schemeClr val="tx1"/>
                </a:solidFill>
                <a:latin typeface="Calibri" panose="020F0502020204030204" charset="0"/>
                <a:cs typeface="Calibri" panose="020F0502020204030204" charset="0"/>
              </a:rPr>
              <a:t>State diagrams show system states and events that cause transitions from one state to another. They do not show the flow of data within the system but may include additional information on the computations carried out in each state.  </a:t>
            </a:r>
            <a:r>
              <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rPr>
              <a:t>在UML中的支持：状态图</a:t>
            </a:r>
            <a:endPar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endParaRPr>
          </a:p>
        </p:txBody>
      </p: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8" name="图片 7"/>
          <p:cNvPicPr>
            <a:picLocks noChangeAspect="1"/>
          </p:cNvPicPr>
          <p:nvPr/>
        </p:nvPicPr>
        <p:blipFill>
          <a:blip r:embed="rId1"/>
          <a:stretch>
            <a:fillRect/>
          </a:stretch>
        </p:blipFill>
        <p:spPr>
          <a:xfrm>
            <a:off x="42545" y="78740"/>
            <a:ext cx="9058275" cy="5838825"/>
          </a:xfrm>
          <a:prstGeom prst="rect">
            <a:avLst/>
          </a:prstGeom>
        </p:spPr>
      </p:pic>
      <p:sp>
        <p:nvSpPr>
          <p:cNvPr id="10" name="Content Placeholder 2"/>
          <p:cNvSpPr>
            <a:spLocks noGrp="1"/>
          </p:cNvSpPr>
          <p:nvPr/>
        </p:nvSpPr>
        <p:spPr>
          <a:xfrm>
            <a:off x="3467100" y="170815"/>
            <a:ext cx="5574665" cy="588010"/>
          </a:xfrm>
          <a:prstGeom prst="rect">
            <a:avLst/>
          </a:prstGeom>
          <a:noFill/>
          <a:extLst>
            <a:ext uri="{909E8E84-426E-40DD-AFC4-6F175D3DCCD1}">
              <a14:hiddenFill xmlns:a14="http://schemas.microsoft.com/office/drawing/2010/main">
                <a:solidFill>
                  <a:schemeClr val="bg1"/>
                </a:solidFill>
              </a14:hiddenFill>
            </a:ext>
          </a:extLst>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marL="0" indent="0">
              <a:lnSpc>
                <a:spcPct val="85000"/>
              </a:lnSpc>
              <a:spcBef>
                <a:spcPts val="500"/>
              </a:spcBef>
              <a:spcAft>
                <a:spcPts val="0"/>
              </a:spcAft>
              <a:buNone/>
            </a:pPr>
            <a:r>
              <a:rPr lang="en-US" sz="2000" b="0" dirty="0" smtClean="0">
                <a:solidFill>
                  <a:schemeClr val="tx1"/>
                </a:solidFill>
                <a:latin typeface="Calibri" panose="020F0502020204030204" charset="0"/>
                <a:cs typeface="Calibri" panose="020F0502020204030204" charset="0"/>
              </a:rPr>
              <a:t>*  An example of control software for a very simple microwave oven to illustrate event-driven modeling.  </a:t>
            </a:r>
            <a:endParaRPr lang="en-US" sz="2000" b="0" dirty="0" smtClean="0">
              <a:solidFill>
                <a:schemeClr val="tx1"/>
              </a:solidFill>
              <a:latin typeface="Calibri" panose="020F0502020204030204" charset="0"/>
              <a:cs typeface="Calibri" panose="020F0502020204030204" charset="0"/>
            </a:endParaRPr>
          </a:p>
        </p:txBody>
      </p:sp>
      <p:sp>
        <p:nvSpPr>
          <p:cNvPr id="11" name="Content Placeholder 2"/>
          <p:cNvSpPr>
            <a:spLocks noGrp="1"/>
          </p:cNvSpPr>
          <p:nvPr/>
        </p:nvSpPr>
        <p:spPr>
          <a:xfrm>
            <a:off x="5629275" y="800100"/>
            <a:ext cx="3321685" cy="876935"/>
          </a:xfrm>
          <a:prstGeom prst="rect">
            <a:avLst/>
          </a:prstGeom>
          <a:noFill/>
          <a:extLst>
            <a:ext uri="{909E8E84-426E-40DD-AFC4-6F175D3DCCD1}">
              <a14:hiddenFill xmlns:a14="http://schemas.microsoft.com/office/drawing/2010/main">
                <a:solidFill>
                  <a:schemeClr val="bg1"/>
                </a:solidFill>
              </a14:hiddenFill>
            </a:ext>
          </a:extLst>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marL="0" indent="0">
              <a:lnSpc>
                <a:spcPct val="85000"/>
              </a:lnSpc>
              <a:spcBef>
                <a:spcPts val="500"/>
              </a:spcBef>
              <a:spcAft>
                <a:spcPts val="0"/>
              </a:spcAft>
              <a:buNone/>
            </a:pPr>
            <a:r>
              <a:rPr lang="en-US" sz="1600" b="0" dirty="0" smtClean="0">
                <a:solidFill>
                  <a:schemeClr val="tx1"/>
                </a:solidFill>
                <a:latin typeface="Calibri" panose="020F0502020204030204" charset="0"/>
                <a:cs typeface="Calibri" panose="020F0502020204030204" charset="0"/>
              </a:rPr>
              <a:t>*  The oven has a switch to select full or half power, a numeric keypad to input the cooking time, a start/stop button, and an alphanumeric display.  </a:t>
            </a:r>
            <a:endParaRPr lang="en-US" sz="1600" b="0" dirty="0" smtClean="0">
              <a:solidFill>
                <a:schemeClr val="tx1"/>
              </a:solidFill>
              <a:latin typeface="Calibri" panose="020F0502020204030204" charset="0"/>
              <a:cs typeface="Calibri" panose="020F0502020204030204" charset="0"/>
            </a:endParaRPr>
          </a:p>
        </p:txBody>
      </p:sp>
      <p:sp>
        <p:nvSpPr>
          <p:cNvPr id="12" name="Content Placeholder 2"/>
          <p:cNvSpPr>
            <a:spLocks noGrp="1"/>
          </p:cNvSpPr>
          <p:nvPr/>
        </p:nvSpPr>
        <p:spPr>
          <a:xfrm>
            <a:off x="115570" y="5894705"/>
            <a:ext cx="8923655" cy="925195"/>
          </a:xfrm>
          <a:prstGeom prst="rect">
            <a:avLst/>
          </a:prstGeom>
          <a:noFill/>
          <a:extLst>
            <a:ext uri="{909E8E84-426E-40DD-AFC4-6F175D3DCCD1}">
              <a14:hiddenFill xmlns:a14="http://schemas.microsoft.com/office/drawing/2010/main">
                <a:solidFill>
                  <a:schemeClr val="bg1"/>
                </a:solidFill>
              </a14:hiddenFill>
            </a:ext>
          </a:extLst>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marL="0" indent="0">
              <a:lnSpc>
                <a:spcPct val="80000"/>
              </a:lnSpc>
              <a:spcBef>
                <a:spcPts val="300"/>
              </a:spcBef>
              <a:spcAft>
                <a:spcPts val="0"/>
              </a:spcAft>
              <a:buNone/>
            </a:pPr>
            <a:r>
              <a:rPr lang="en-US" sz="1700" b="0" dirty="0" smtClean="0">
                <a:solidFill>
                  <a:schemeClr val="tx1"/>
                </a:solidFill>
                <a:latin typeface="Calibri" panose="020F0502020204030204" charset="0"/>
                <a:cs typeface="Calibri" panose="020F0502020204030204" charset="0"/>
              </a:rPr>
              <a:t>* The sequence of actions in using the microwave: 1. Select the power level;  2. Input the cooking time using a numeric keypad; 3. Press Start and the food is cooked for the given time. </a:t>
            </a:r>
            <a:endParaRPr lang="en-US" sz="1700" b="0" dirty="0" smtClean="0">
              <a:solidFill>
                <a:schemeClr val="tx1"/>
              </a:solidFill>
              <a:latin typeface="Calibri" panose="020F0502020204030204" charset="0"/>
              <a:cs typeface="Calibri" panose="020F0502020204030204" charset="0"/>
            </a:endParaRPr>
          </a:p>
          <a:p>
            <a:pPr marL="0" indent="0">
              <a:lnSpc>
                <a:spcPct val="80000"/>
              </a:lnSpc>
              <a:spcBef>
                <a:spcPts val="300"/>
              </a:spcBef>
              <a:spcAft>
                <a:spcPts val="0"/>
              </a:spcAft>
              <a:buNone/>
            </a:pPr>
            <a:r>
              <a:rPr lang="en-US" sz="1700" b="0" dirty="0" smtClean="0">
                <a:solidFill>
                  <a:schemeClr val="tx1"/>
                </a:solidFill>
                <a:latin typeface="Calibri" panose="020F0502020204030204" charset="0"/>
                <a:cs typeface="Calibri" panose="020F0502020204030204" charset="0"/>
              </a:rPr>
              <a:t>* For safety, the oven should not operate when the door is open, and, on completion of cooking, a buzzer is sounded. The oven has a simple display to display alerts and warning messages.</a:t>
            </a:r>
            <a:endParaRPr lang="en-US" sz="1700" b="0" dirty="0" smtClean="0">
              <a:solidFill>
                <a:schemeClr val="tx1"/>
              </a:solidFill>
              <a:latin typeface="Calibri" panose="020F0502020204030204" charset="0"/>
              <a:cs typeface="Calibri" panose="020F0502020204030204" charset="0"/>
            </a:endParaRPr>
          </a:p>
        </p:txBody>
      </p:sp>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04215"/>
            <a:ext cx="8977630" cy="52514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000" dirty="0">
                <a:solidFill>
                  <a:srgbClr val="0070C0"/>
                </a:solidFill>
                <a:ea typeface="宋体" panose="02010600030101010101" pitchFamily="2" charset="-122"/>
                <a:sym typeface="+mn-ea"/>
              </a:rPr>
              <a:t> </a:t>
            </a:r>
            <a:r>
              <a:rPr lang="zh-CN" altLang="en-US" sz="3000" dirty="0">
                <a:solidFill>
                  <a:schemeClr val="accent1">
                    <a:lumMod val="75000"/>
                  </a:schemeClr>
                </a:solidFill>
                <a:ea typeface="宋体" panose="02010600030101010101" pitchFamily="2" charset="-122"/>
                <a:sym typeface="+mn-ea"/>
              </a:rPr>
              <a:t>A state</a:t>
            </a:r>
            <a:r>
              <a:rPr lang="en-US" altLang="zh-CN" sz="3000" dirty="0">
                <a:solidFill>
                  <a:schemeClr val="accent1">
                    <a:lumMod val="75000"/>
                  </a:schemeClr>
                </a:solidFill>
                <a:ea typeface="宋体" panose="02010600030101010101" pitchFamily="2" charset="-122"/>
                <a:sym typeface="+mn-ea"/>
              </a:rPr>
              <a:t> </a:t>
            </a:r>
            <a:r>
              <a:rPr lang="zh-CN" altLang="en-US" sz="3000" dirty="0">
                <a:solidFill>
                  <a:schemeClr val="accent1">
                    <a:lumMod val="75000"/>
                  </a:schemeClr>
                </a:solidFill>
                <a:ea typeface="宋体" panose="02010600030101010101" pitchFamily="2" charset="-122"/>
                <a:sym typeface="+mn-ea"/>
              </a:rPr>
              <a:t>diagram of a</a:t>
            </a:r>
            <a:r>
              <a:rPr lang="en-US" altLang="zh-CN" sz="3000" dirty="0">
                <a:solidFill>
                  <a:schemeClr val="accent1">
                    <a:lumMod val="75000"/>
                  </a:schemeClr>
                </a:solidFill>
                <a:ea typeface="宋体" panose="02010600030101010101" pitchFamily="2" charset="-122"/>
                <a:sym typeface="+mn-ea"/>
              </a:rPr>
              <a:t> </a:t>
            </a:r>
            <a:r>
              <a:rPr lang="zh-CN" altLang="en-US" sz="3000" dirty="0">
                <a:solidFill>
                  <a:schemeClr val="accent1">
                    <a:lumMod val="75000"/>
                  </a:schemeClr>
                </a:solidFill>
                <a:ea typeface="宋体" panose="02010600030101010101" pitchFamily="2" charset="-122"/>
                <a:sym typeface="+mn-ea"/>
              </a:rPr>
              <a:t>microwave oven</a:t>
            </a:r>
            <a:r>
              <a:rPr lang="en-US" altLang="zh-CN" sz="3000" dirty="0">
                <a:solidFill>
                  <a:schemeClr val="accent1">
                    <a:lumMod val="75000"/>
                  </a:schemeClr>
                </a:solidFill>
                <a:ea typeface="宋体" panose="02010600030101010101" pitchFamily="2" charset="-122"/>
                <a:sym typeface="+mn-ea"/>
              </a:rPr>
              <a:t>  cont’d</a:t>
            </a:r>
            <a:endParaRPr lang="en-US" altLang="zh-CN" sz="3000" dirty="0">
              <a:solidFill>
                <a:schemeClr val="accent1">
                  <a:lumMod val="75000"/>
                </a:schemeClr>
              </a:solidFill>
              <a:ea typeface="宋体" panose="02010600030101010101" pitchFamily="2" charset="-122"/>
              <a:sym typeface="+mn-ea"/>
            </a:endParaRPr>
          </a:p>
        </p:txBody>
      </p:sp>
      <p:sp>
        <p:nvSpPr>
          <p:cNvPr id="4" name="Rectangle 2"/>
          <p:cNvSpPr>
            <a:spLocks noGrp="1"/>
          </p:cNvSpPr>
          <p:nvPr>
            <p:ph type="title"/>
            <p:custDataLst>
              <p:tags r:id="rId2"/>
            </p:custDataLst>
          </p:nvPr>
        </p:nvSpPr>
        <p:spPr>
          <a:xfrm>
            <a:off x="617538" y="198755"/>
            <a:ext cx="455295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5  System modeling</a:t>
            </a:r>
            <a:endParaRPr lang="en-US" altLang="zh-CN" sz="2800" dirty="0">
              <a:solidFill>
                <a:srgbClr val="660066"/>
              </a:solidFill>
              <a:ea typeface="黑体" panose="02010609060101010101" pitchFamily="49" charset="-122"/>
              <a:cs typeface="+mj-lt"/>
            </a:endParaRPr>
          </a:p>
        </p:txBody>
      </p:sp>
      <p:sp>
        <p:nvSpPr>
          <p:cNvPr id="5" name="Content Placeholder 2"/>
          <p:cNvSpPr>
            <a:spLocks noGrp="1"/>
          </p:cNvSpPr>
          <p:nvPr/>
        </p:nvSpPr>
        <p:spPr>
          <a:xfrm>
            <a:off x="62230" y="1241425"/>
            <a:ext cx="9016365" cy="5410835"/>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85000"/>
              </a:lnSpc>
              <a:spcAft>
                <a:spcPts val="0"/>
              </a:spcAft>
            </a:pPr>
            <a:r>
              <a:rPr lang="en-US" sz="3200" dirty="0" smtClean="0">
                <a:solidFill>
                  <a:schemeClr val="tx2">
                    <a:lumMod val="75000"/>
                    <a:lumOff val="25000"/>
                  </a:schemeClr>
                </a:solidFill>
                <a:latin typeface="Calibri" panose="020F0502020204030204" charset="0"/>
                <a:cs typeface="Calibri" panose="020F0502020204030204" charset="0"/>
              </a:rPr>
              <a:t> In UML state diagrams, </a:t>
            </a:r>
            <a:r>
              <a:rPr lang="en-US" sz="2800" b="0" u="sng" dirty="0" smtClean="0">
                <a:solidFill>
                  <a:schemeClr val="tx1"/>
                </a:solidFill>
                <a:latin typeface="Calibri" panose="020F0502020204030204" charset="0"/>
                <a:cs typeface="Calibri" panose="020F0502020204030204" charset="0"/>
              </a:rPr>
              <a:t>rounded rectangles</a:t>
            </a:r>
            <a:r>
              <a:rPr lang="en-US" sz="2800" b="0" dirty="0" smtClean="0">
                <a:solidFill>
                  <a:schemeClr val="tx1"/>
                </a:solidFill>
                <a:latin typeface="Calibri" panose="020F0502020204030204" charset="0"/>
                <a:cs typeface="Calibri" panose="020F0502020204030204" charset="0"/>
              </a:rPr>
              <a:t> represent system </a:t>
            </a:r>
            <a:r>
              <a:rPr lang="en-US" sz="2800" b="0" u="sng" dirty="0" smtClean="0">
                <a:solidFill>
                  <a:schemeClr val="tx1"/>
                </a:solidFill>
                <a:latin typeface="Calibri" panose="020F0502020204030204" charset="0"/>
                <a:cs typeface="Calibri" panose="020F0502020204030204" charset="0"/>
              </a:rPr>
              <a:t>states</a:t>
            </a:r>
            <a:r>
              <a:rPr lang="en-US" sz="2800" b="0" dirty="0" smtClean="0">
                <a:solidFill>
                  <a:schemeClr val="tx1"/>
                </a:solidFill>
                <a:latin typeface="Calibri" panose="020F0502020204030204" charset="0"/>
                <a:cs typeface="Calibri" panose="020F0502020204030204" charset="0"/>
              </a:rPr>
              <a:t>. They may include a brief </a:t>
            </a:r>
            <a:r>
              <a:rPr lang="en-US" sz="2800" b="0" u="sng" dirty="0" smtClean="0">
                <a:solidFill>
                  <a:schemeClr val="tx1"/>
                </a:solidFill>
                <a:latin typeface="Calibri" panose="020F0502020204030204" charset="0"/>
                <a:cs typeface="Calibri" panose="020F0502020204030204" charset="0"/>
              </a:rPr>
              <a:t>description</a:t>
            </a:r>
            <a:r>
              <a:rPr lang="en-US" sz="2800" b="0" dirty="0" smtClean="0">
                <a:solidFill>
                  <a:schemeClr val="tx1"/>
                </a:solidFill>
                <a:latin typeface="Calibri" panose="020F0502020204030204" charset="0"/>
                <a:cs typeface="Calibri" panose="020F0502020204030204" charset="0"/>
              </a:rPr>
              <a:t> (following “</a:t>
            </a:r>
            <a:r>
              <a:rPr lang="en-US" sz="2800" b="0" u="sng" dirty="0" smtClean="0">
                <a:solidFill>
                  <a:schemeClr val="tx1"/>
                </a:solidFill>
                <a:latin typeface="Calibri" panose="020F0502020204030204" charset="0"/>
                <a:cs typeface="Calibri" panose="020F0502020204030204" charset="0"/>
              </a:rPr>
              <a:t>do</a:t>
            </a:r>
            <a:r>
              <a:rPr lang="en-US" sz="2800" b="0" dirty="0" smtClean="0">
                <a:solidFill>
                  <a:schemeClr val="tx1"/>
                </a:solidFill>
                <a:latin typeface="Calibri" panose="020F0502020204030204" charset="0"/>
                <a:cs typeface="Calibri" panose="020F0502020204030204" charset="0"/>
              </a:rPr>
              <a:t>”) of the </a:t>
            </a:r>
            <a:r>
              <a:rPr lang="en-US" sz="2800" b="0" u="sng" dirty="0" smtClean="0">
                <a:solidFill>
                  <a:schemeClr val="tx1"/>
                </a:solidFill>
                <a:latin typeface="Calibri" panose="020F0502020204030204" charset="0"/>
                <a:cs typeface="Calibri" panose="020F0502020204030204" charset="0"/>
              </a:rPr>
              <a:t>actions</a:t>
            </a:r>
            <a:r>
              <a:rPr lang="en-US" sz="2800" b="0" dirty="0" smtClean="0">
                <a:solidFill>
                  <a:schemeClr val="tx1"/>
                </a:solidFill>
                <a:latin typeface="Calibri" panose="020F0502020204030204" charset="0"/>
                <a:cs typeface="Calibri" panose="020F0502020204030204" charset="0"/>
              </a:rPr>
              <a:t> taken in that state. The </a:t>
            </a:r>
            <a:r>
              <a:rPr lang="en-US" sz="2800" b="0" u="sng" dirty="0" smtClean="0">
                <a:solidFill>
                  <a:schemeClr val="tx1"/>
                </a:solidFill>
                <a:latin typeface="Calibri" panose="020F0502020204030204" charset="0"/>
                <a:cs typeface="Calibri" panose="020F0502020204030204" charset="0"/>
              </a:rPr>
              <a:t>labeled arrows</a:t>
            </a:r>
            <a:r>
              <a:rPr lang="en-US" sz="2800" b="0" dirty="0" smtClean="0">
                <a:solidFill>
                  <a:schemeClr val="tx1"/>
                </a:solidFill>
                <a:latin typeface="Calibri" panose="020F0502020204030204" charset="0"/>
                <a:cs typeface="Calibri" panose="020F0502020204030204" charset="0"/>
              </a:rPr>
              <a:t> represent </a:t>
            </a:r>
            <a:r>
              <a:rPr lang="en-US" sz="2800" b="0" u="sng" dirty="0" smtClean="0">
                <a:solidFill>
                  <a:schemeClr val="tx1"/>
                </a:solidFill>
                <a:latin typeface="Calibri" panose="020F0502020204030204" charset="0"/>
                <a:cs typeface="Calibri" panose="020F0502020204030204" charset="0"/>
              </a:rPr>
              <a:t>stimuli</a:t>
            </a:r>
            <a:r>
              <a:rPr lang="en-US" sz="2800" b="0" dirty="0" smtClean="0">
                <a:solidFill>
                  <a:schemeClr val="tx1"/>
                </a:solidFill>
                <a:latin typeface="Calibri" panose="020F0502020204030204" charset="0"/>
                <a:cs typeface="Calibri" panose="020F0502020204030204" charset="0"/>
              </a:rPr>
              <a:t> that force a transition from one state to another. You can indicate </a:t>
            </a:r>
            <a:r>
              <a:rPr lang="en-US" sz="2800" b="0" u="sng" dirty="0" smtClean="0">
                <a:solidFill>
                  <a:schemeClr val="tx1"/>
                </a:solidFill>
                <a:latin typeface="Calibri" panose="020F0502020204030204" charset="0"/>
                <a:cs typeface="Calibri" panose="020F0502020204030204" charset="0"/>
              </a:rPr>
              <a:t>start</a:t>
            </a:r>
            <a:r>
              <a:rPr lang="en-US" sz="2800" b="0" dirty="0" smtClean="0">
                <a:solidFill>
                  <a:schemeClr val="tx1"/>
                </a:solidFill>
                <a:latin typeface="Calibri" panose="020F0502020204030204" charset="0"/>
                <a:cs typeface="Calibri" panose="020F0502020204030204" charset="0"/>
              </a:rPr>
              <a:t> and </a:t>
            </a:r>
            <a:r>
              <a:rPr lang="en-US" sz="2800" b="0" u="sng" dirty="0" smtClean="0">
                <a:solidFill>
                  <a:schemeClr val="tx1"/>
                </a:solidFill>
                <a:latin typeface="Calibri" panose="020F0502020204030204" charset="0"/>
                <a:cs typeface="Calibri" panose="020F0502020204030204" charset="0"/>
              </a:rPr>
              <a:t>end</a:t>
            </a:r>
            <a:r>
              <a:rPr lang="en-US" sz="2800" b="0" dirty="0" smtClean="0">
                <a:solidFill>
                  <a:schemeClr val="tx1"/>
                </a:solidFill>
                <a:latin typeface="Calibri" panose="020F0502020204030204" charset="0"/>
                <a:cs typeface="Calibri" panose="020F0502020204030204" charset="0"/>
              </a:rPr>
              <a:t> states using </a:t>
            </a:r>
            <a:r>
              <a:rPr lang="en-US" sz="2800" b="0" u="sng" dirty="0" smtClean="0">
                <a:solidFill>
                  <a:schemeClr val="tx1"/>
                </a:solidFill>
                <a:latin typeface="Calibri" panose="020F0502020204030204" charset="0"/>
                <a:cs typeface="Calibri" panose="020F0502020204030204" charset="0"/>
              </a:rPr>
              <a:t>filled circles</a:t>
            </a:r>
            <a:r>
              <a:rPr lang="en-US" sz="2800" b="0" dirty="0" smtClean="0">
                <a:solidFill>
                  <a:schemeClr val="tx1"/>
                </a:solidFill>
                <a:latin typeface="Calibri" panose="020F0502020204030204" charset="0"/>
                <a:cs typeface="Calibri" panose="020F0502020204030204" charset="0"/>
              </a:rPr>
              <a:t>, as in activity diagrams.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符号表示</a:t>
            </a:r>
            <a:endPar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endParaRPr>
          </a:p>
          <a:p>
            <a:pPr>
              <a:lnSpc>
                <a:spcPct val="85000"/>
              </a:lnSpc>
              <a:spcAft>
                <a:spcPts val="0"/>
              </a:spcAft>
            </a:pPr>
            <a:r>
              <a:rPr lang="en-US" sz="3200" dirty="0" smtClean="0">
                <a:solidFill>
                  <a:schemeClr val="tx2">
                    <a:lumMod val="75000"/>
                    <a:lumOff val="25000"/>
                  </a:schemeClr>
                </a:solidFill>
                <a:latin typeface="Calibri" panose="020F0502020204030204" charset="0"/>
                <a:cs typeface="Calibri" panose="020F0502020204030204" charset="0"/>
              </a:rPr>
              <a:t>Fig. 5.16 shows: </a:t>
            </a:r>
            <a:r>
              <a:rPr lang="en-US" sz="2800" b="0" dirty="0" smtClean="0">
                <a:solidFill>
                  <a:schemeClr val="tx1"/>
                </a:solidFill>
                <a:latin typeface="Calibri" panose="020F0502020204030204" charset="0"/>
                <a:cs typeface="Calibri" panose="020F0502020204030204" charset="0"/>
              </a:rPr>
              <a:t>the system starts in a waiting state and responds initially to the full-power or the half-power button. Users can change their minds after selecting one  and may press the other button. The time is set and, if the door is closed, the Start button is enabled. Pushing this button starts the oven operation, and cooking takes place for the specified time. This is the end of the cooking cycle, and the system returns to the waiting state.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符号示例</a:t>
            </a:r>
            <a:endPar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endParaRPr>
          </a:p>
        </p:txBody>
      </p:sp>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2242820" y="71120"/>
            <a:ext cx="6864985" cy="5537200"/>
          </a:xfrm>
          <a:prstGeom prst="rect">
            <a:avLst/>
          </a:prstGeom>
        </p:spPr>
      </p:pic>
      <p:pic>
        <p:nvPicPr>
          <p:cNvPr id="7" name="图片 6"/>
          <p:cNvPicPr>
            <a:picLocks noChangeAspect="1"/>
          </p:cNvPicPr>
          <p:nvPr/>
        </p:nvPicPr>
        <p:blipFill>
          <a:blip r:embed="rId2"/>
          <a:stretch>
            <a:fillRect/>
          </a:stretch>
        </p:blipFill>
        <p:spPr>
          <a:xfrm>
            <a:off x="141605" y="182880"/>
            <a:ext cx="2100580" cy="864235"/>
          </a:xfrm>
          <a:prstGeom prst="rect">
            <a:avLst/>
          </a:prstGeom>
        </p:spPr>
      </p:pic>
      <p:sp>
        <p:nvSpPr>
          <p:cNvPr id="10" name="Content Placeholder 2"/>
          <p:cNvSpPr>
            <a:spLocks noGrp="1"/>
          </p:cNvSpPr>
          <p:nvPr/>
        </p:nvSpPr>
        <p:spPr>
          <a:xfrm>
            <a:off x="120650" y="1103630"/>
            <a:ext cx="2216150" cy="2959735"/>
          </a:xfrm>
          <a:prstGeom prst="rect">
            <a:avLst/>
          </a:prstGeom>
          <a:noFill/>
          <a:extLst>
            <a:ext uri="{909E8E84-426E-40DD-AFC4-6F175D3DCCD1}">
              <a14:hiddenFill xmlns:a14="http://schemas.microsoft.com/office/drawing/2010/main">
                <a:solidFill>
                  <a:schemeClr val="bg1"/>
                </a:solidFill>
              </a14:hiddenFill>
            </a:ext>
          </a:extLst>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marL="0" indent="0">
              <a:lnSpc>
                <a:spcPct val="85000"/>
              </a:lnSpc>
              <a:spcAft>
                <a:spcPts val="0"/>
              </a:spcAft>
              <a:buNone/>
            </a:pPr>
            <a:r>
              <a:rPr lang="en-US" sz="2000" b="0" dirty="0" smtClean="0">
                <a:solidFill>
                  <a:schemeClr val="tx1"/>
                </a:solidFill>
                <a:latin typeface="Calibri" panose="020F0502020204030204" charset="0"/>
                <a:cs typeface="Calibri" panose="020F0502020204030204" charset="0"/>
              </a:rPr>
              <a:t>* The problem with state-based modeling is that the number of possible states increases rapidly. </a:t>
            </a:r>
            <a:endParaRPr lang="en-US" sz="2000" b="0" dirty="0" smtClean="0">
              <a:solidFill>
                <a:schemeClr val="tx1"/>
              </a:solidFill>
              <a:latin typeface="Calibri" panose="020F0502020204030204" charset="0"/>
              <a:cs typeface="Calibri" panose="020F0502020204030204" charset="0"/>
            </a:endParaRPr>
          </a:p>
          <a:p>
            <a:pPr marL="0" indent="0">
              <a:lnSpc>
                <a:spcPct val="85000"/>
              </a:lnSpc>
              <a:spcAft>
                <a:spcPts val="0"/>
              </a:spcAft>
              <a:buNone/>
            </a:pPr>
            <a:r>
              <a:rPr lang="en-US" sz="2000" b="0" dirty="0" smtClean="0">
                <a:solidFill>
                  <a:schemeClr val="tx1"/>
                </a:solidFill>
                <a:latin typeface="Calibri" panose="020F0502020204030204" charset="0"/>
                <a:cs typeface="Calibri" panose="020F0502020204030204" charset="0"/>
              </a:rPr>
              <a:t>* For large system models, therefore, you need to hide detail in the models. </a:t>
            </a:r>
            <a:endParaRPr lang="en-US" sz="2000" b="0" dirty="0" smtClean="0">
              <a:solidFill>
                <a:schemeClr val="tx1"/>
              </a:solidFill>
              <a:latin typeface="Calibri" panose="020F0502020204030204" charset="0"/>
              <a:cs typeface="Calibri" panose="020F0502020204030204" charset="0"/>
            </a:endParaRPr>
          </a:p>
        </p:txBody>
      </p:sp>
      <p:sp>
        <p:nvSpPr>
          <p:cNvPr id="8" name="Content Placeholder 2"/>
          <p:cNvSpPr>
            <a:spLocks noGrp="1"/>
          </p:cNvSpPr>
          <p:nvPr/>
        </p:nvSpPr>
        <p:spPr>
          <a:xfrm>
            <a:off x="104140" y="4172585"/>
            <a:ext cx="3086100" cy="2593975"/>
          </a:xfrm>
          <a:prstGeom prst="rect">
            <a:avLst/>
          </a:prstGeom>
          <a:noFill/>
          <a:extLst>
            <a:ext uri="{909E8E84-426E-40DD-AFC4-6F175D3DCCD1}">
              <a14:hiddenFill xmlns:a14="http://schemas.microsoft.com/office/drawing/2010/main">
                <a:solidFill>
                  <a:schemeClr val="bg1"/>
                </a:solidFill>
              </a14:hiddenFill>
            </a:ext>
          </a:extLst>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marL="0" indent="0">
              <a:lnSpc>
                <a:spcPct val="85000"/>
              </a:lnSpc>
              <a:spcBef>
                <a:spcPts val="500"/>
              </a:spcBef>
              <a:spcAft>
                <a:spcPts val="0"/>
              </a:spcAft>
              <a:buNone/>
            </a:pPr>
            <a:r>
              <a:rPr lang="en-US" sz="1900" b="0" dirty="0" smtClean="0">
                <a:solidFill>
                  <a:schemeClr val="tx1"/>
                </a:solidFill>
                <a:latin typeface="Calibri" panose="020F0502020204030204" charset="0"/>
                <a:cs typeface="Calibri" panose="020F0502020204030204" charset="0"/>
              </a:rPr>
              <a:t>* One way is by using the notion of a “superstate” that encapsulates a number of separate states. This superstate looks like a single state on a high-level model but is then expanded to show more detail on a separate diagram. Here the Operation state is a superstate. </a:t>
            </a:r>
            <a:endParaRPr lang="en-US" sz="1900" b="0" dirty="0" smtClean="0">
              <a:solidFill>
                <a:schemeClr val="tx1"/>
              </a:solidFill>
              <a:latin typeface="Calibri" panose="020F0502020204030204" charset="0"/>
              <a:cs typeface="Calibri" panose="020F0502020204030204" charset="0"/>
            </a:endParaRPr>
          </a:p>
        </p:txBody>
      </p:sp>
      <p:sp>
        <p:nvSpPr>
          <p:cNvPr id="9" name="Content Placeholder 2"/>
          <p:cNvSpPr>
            <a:spLocks noGrp="1"/>
          </p:cNvSpPr>
          <p:nvPr/>
        </p:nvSpPr>
        <p:spPr>
          <a:xfrm>
            <a:off x="3173095" y="5519420"/>
            <a:ext cx="5889625" cy="1297305"/>
          </a:xfrm>
          <a:prstGeom prst="rect">
            <a:avLst/>
          </a:prstGeom>
          <a:noFill/>
          <a:extLst>
            <a:ext uri="{909E8E84-426E-40DD-AFC4-6F175D3DCCD1}">
              <a14:hiddenFill xmlns:a14="http://schemas.microsoft.com/office/drawing/2010/main">
                <a:solidFill>
                  <a:schemeClr val="bg1"/>
                </a:solidFill>
              </a14:hiddenFill>
            </a:ext>
          </a:extLst>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marL="0" indent="0">
              <a:lnSpc>
                <a:spcPct val="85000"/>
              </a:lnSpc>
              <a:spcBef>
                <a:spcPts val="500"/>
              </a:spcBef>
              <a:spcAft>
                <a:spcPts val="0"/>
              </a:spcAft>
              <a:buNone/>
            </a:pPr>
            <a:r>
              <a:rPr lang="en-US" sz="1600" b="0" dirty="0" smtClean="0">
                <a:solidFill>
                  <a:schemeClr val="tx1"/>
                </a:solidFill>
                <a:latin typeface="Calibri" panose="020F0502020204030204" charset="0"/>
                <a:cs typeface="Calibri" panose="020F0502020204030204" charset="0"/>
              </a:rPr>
              <a:t>* “Operation” includes a number of substates. It shows that operation starts with a status check and that if any problems are discovered an alarm is indicated and operation is disabled. Cooking involves running the microwave generator for the specified time; on completion, a buzzer is sounded. If the door is opened during operation, the system moves to the disabled state.</a:t>
            </a:r>
            <a:endParaRPr lang="en-US" sz="1600" b="0" dirty="0" smtClean="0">
              <a:solidFill>
                <a:schemeClr val="tx1"/>
              </a:solidFill>
              <a:latin typeface="Calibri" panose="020F0502020204030204" charset="0"/>
              <a:cs typeface="Calibri" panose="020F0502020204030204" charset="0"/>
            </a:endParaRPr>
          </a:p>
        </p:txBody>
      </p:sp>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58420"/>
            <a:ext cx="8977630" cy="51435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2800" dirty="0">
                <a:solidFill>
                  <a:srgbClr val="0070C0"/>
                </a:solidFill>
                <a:ea typeface="宋体" panose="02010600030101010101" pitchFamily="2" charset="-122"/>
                <a:sym typeface="+mn-ea"/>
              </a:rPr>
              <a:t> </a:t>
            </a:r>
            <a:r>
              <a:rPr lang="zh-CN" altLang="en-US" sz="2800" dirty="0">
                <a:solidFill>
                  <a:schemeClr val="accent1">
                    <a:lumMod val="75000"/>
                  </a:schemeClr>
                </a:solidFill>
                <a:ea typeface="宋体" panose="02010600030101010101" pitchFamily="2" charset="-122"/>
                <a:sym typeface="+mn-ea"/>
              </a:rPr>
              <a:t>States and stimuli for the microwave oven (a)</a:t>
            </a:r>
            <a:endParaRPr lang="zh-CN" altLang="en-US" sz="2800" dirty="0">
              <a:solidFill>
                <a:schemeClr val="accent1">
                  <a:lumMod val="75000"/>
                </a:schemeClr>
              </a:solidFill>
              <a:ea typeface="宋体" panose="02010600030101010101" pitchFamily="2" charset="-122"/>
              <a:sym typeface="+mn-ea"/>
            </a:endParaRPr>
          </a:p>
        </p:txBody>
      </p:sp>
      <p:graphicFrame>
        <p:nvGraphicFramePr>
          <p:cNvPr id="2" name="Table 2"/>
          <p:cNvGraphicFramePr>
            <a:graphicFrameLocks noGrp="1"/>
          </p:cNvGraphicFramePr>
          <p:nvPr>
            <p:custDataLst>
              <p:tags r:id="rId2"/>
            </p:custDataLst>
          </p:nvPr>
        </p:nvGraphicFramePr>
        <p:xfrm>
          <a:off x="88900" y="2085975"/>
          <a:ext cx="8968105" cy="4663440"/>
        </p:xfrm>
        <a:graphic>
          <a:graphicData uri="http://schemas.openxmlformats.org/drawingml/2006/table">
            <a:tbl>
              <a:tblPr>
                <a:effectLst/>
                <a:tableStyleId>{5940675A-B579-460E-94D1-54222C63F5DA}</a:tableStyleId>
              </a:tblPr>
              <a:tblGrid>
                <a:gridCol w="1243330"/>
                <a:gridCol w="7724775"/>
              </a:tblGrid>
              <a:tr h="457200">
                <a:tc>
                  <a:txBody>
                    <a:bodyPr/>
                    <a:p>
                      <a:pPr marL="0" marR="0" lvl="0" indent="0" algn="ctr" defTabSz="457200" rtl="0" eaLnBrk="1" fontAlgn="base" latinLnBrk="0" hangingPunct="1">
                        <a:lnSpc>
                          <a:spcPct val="100000"/>
                        </a:lnSpc>
                        <a:spcBef>
                          <a:spcPct val="0"/>
                        </a:spcBef>
                        <a:spcAft>
                          <a:spcPct val="0"/>
                        </a:spcAft>
                        <a:buClrTx/>
                        <a:buSzTx/>
                        <a:buFontTx/>
                        <a:buNone/>
                      </a:pPr>
                      <a:r>
                        <a:rPr kumimoji="0" lang="en-GB" sz="1800" b="1" i="0" u="none" strike="noStrike" cap="none" normalizeH="0" baseline="0" dirty="0" smtClean="0">
                          <a:ln>
                            <a:noFill/>
                          </a:ln>
                          <a:solidFill>
                            <a:schemeClr val="bg1"/>
                          </a:solidFill>
                          <a:effectLst/>
                          <a:latin typeface="Arial" panose="020B0604020202020204" pitchFamily="34" charset="0"/>
                          <a:ea typeface="Times New Roman" panose="02020603050405020304" pitchFamily="18" charset="0"/>
                        </a:rPr>
                        <a:t>State</a:t>
                      </a:r>
                      <a:endParaRPr kumimoji="0" lang="en-GB" sz="1800" b="1" i="0" u="none" strike="noStrike" cap="none" normalizeH="0" baseline="0" dirty="0" smtClean="0">
                        <a:ln>
                          <a:noFill/>
                        </a:ln>
                        <a:solidFill>
                          <a:schemeClr val="bg1"/>
                        </a:solidFill>
                        <a:effectLst/>
                        <a:latin typeface="Arial" panose="020B0604020202020204" pitchFamily="34" charset="0"/>
                        <a:ea typeface="Times New Roman" panose="02020603050405020304" pitchFamily="18" charset="0"/>
                      </a:endParaRPr>
                    </a:p>
                  </a:txBody>
                  <a:tcPr marL="54610" marR="54610" marT="91440" marB="91440"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a:noFill/>
                    </a:lnTlToBr>
                    <a:lnBlToTr>
                      <a:noFill/>
                    </a:lnBlToTr>
                    <a:solidFill>
                      <a:srgbClr val="4F81BD"/>
                    </a:solidFill>
                  </a:tcPr>
                </a:tc>
                <a:tc>
                  <a:txBody>
                    <a:bodyPr/>
                    <a:p>
                      <a:pPr marL="0" marR="0" lvl="0" indent="0" algn="ctr" defTabSz="457200" rtl="0" eaLnBrk="1" fontAlgn="base" latinLnBrk="0" hangingPunct="1">
                        <a:lnSpc>
                          <a:spcPct val="100000"/>
                        </a:lnSpc>
                        <a:spcBef>
                          <a:spcPct val="0"/>
                        </a:spcBef>
                        <a:spcAft>
                          <a:spcPct val="0"/>
                        </a:spcAft>
                        <a:buClrTx/>
                        <a:buSzTx/>
                        <a:buFontTx/>
                        <a:buNone/>
                      </a:pPr>
                      <a:r>
                        <a:rPr kumimoji="0" lang="en-GB" sz="1800" b="1" i="0" u="none" strike="noStrike" cap="none" normalizeH="0" baseline="0" smtClean="0">
                          <a:ln>
                            <a:noFill/>
                          </a:ln>
                          <a:solidFill>
                            <a:schemeClr val="bg1"/>
                          </a:solidFill>
                          <a:effectLst/>
                          <a:latin typeface="Arial" panose="020B0604020202020204" pitchFamily="34" charset="0"/>
                          <a:ea typeface="Times New Roman" panose="02020603050405020304" pitchFamily="18" charset="0"/>
                        </a:rPr>
                        <a:t>Description</a:t>
                      </a:r>
                      <a:endParaRPr kumimoji="0" lang="en-GB" sz="1800" b="1" i="0" u="none" strike="noStrike" cap="none" normalizeH="0" baseline="0" smtClean="0">
                        <a:ln>
                          <a:noFill/>
                        </a:ln>
                        <a:solidFill>
                          <a:schemeClr val="bg1"/>
                        </a:solidFill>
                        <a:effectLst/>
                        <a:latin typeface="Arial" panose="020B0604020202020204" pitchFamily="34" charset="0"/>
                        <a:ea typeface="Times New Roman" panose="02020603050405020304" pitchFamily="18" charset="0"/>
                      </a:endParaRPr>
                    </a:p>
                  </a:txBody>
                  <a:tcPr marL="54610" marR="54610" marT="91440" marB="91440"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a:noFill/>
                    </a:lnTlToBr>
                    <a:lnBlToTr>
                      <a:noFill/>
                    </a:lnBlToTr>
                    <a:solidFill>
                      <a:srgbClr val="4F81BD"/>
                    </a:solidFill>
                  </a:tcPr>
                </a:tc>
              </a:tr>
              <a:tr h="365760">
                <a:tc>
                  <a:txBody>
                    <a:bodyPr/>
                    <a:p>
                      <a:pPr marL="0" marR="0" lvl="0" indent="0" algn="l" defTabSz="457200" rtl="0" eaLnBrk="1" fontAlgn="base" latinLnBrk="0" hangingPunct="1">
                        <a:lnSpc>
                          <a:spcPct val="100000"/>
                        </a:lnSpc>
                        <a:spcBef>
                          <a:spcPct val="0"/>
                        </a:spcBef>
                        <a:spcAft>
                          <a:spcPct val="0"/>
                        </a:spcAft>
                        <a:buClrTx/>
                        <a:buSzTx/>
                        <a:buFontTx/>
                        <a:buNone/>
                      </a:pPr>
                      <a:r>
                        <a:rPr kumimoji="0" lang="en-GB" sz="1800" b="0" i="0" u="none" strike="noStrike" cap="none" normalizeH="0" baseline="0" dirty="0" smtClean="0">
                          <a:ln>
                            <a:noFill/>
                          </a:ln>
                          <a:solidFill>
                            <a:srgbClr val="000000"/>
                          </a:solidFill>
                          <a:effectLst/>
                          <a:latin typeface="Arial" panose="020B0604020202020204" pitchFamily="34" charset="0"/>
                          <a:ea typeface="Times New Roman" panose="02020603050405020304" pitchFamily="18" charset="0"/>
                        </a:rPr>
                        <a:t>Waiting</a:t>
                      </a:r>
                      <a:endParaRPr kumimoji="0" lang="en-GB" sz="1800" b="0" i="0" u="none" strike="noStrike" cap="none" normalizeH="0" baseline="0" dirty="0" smtClean="0">
                        <a:ln>
                          <a:noFill/>
                        </a:ln>
                        <a:solidFill>
                          <a:srgbClr val="000000"/>
                        </a:solidFill>
                        <a:effectLst/>
                        <a:latin typeface="Arial" panose="020B0604020202020204" pitchFamily="34" charset="0"/>
                        <a:ea typeface="Times New Roman" panose="02020603050405020304" pitchFamily="18" charset="0"/>
                      </a:endParaRPr>
                    </a:p>
                  </a:txBody>
                  <a:tcPr marL="54610" marR="54610" marT="0" marB="91440"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D0D8E8"/>
                    </a:solidFill>
                  </a:tcPr>
                </a:tc>
                <a:tc>
                  <a:txBody>
                    <a:bodyPr/>
                    <a:p>
                      <a:pPr marL="0" marR="0" lvl="0" indent="0" algn="l" defTabSz="457200" rtl="0" eaLnBrk="1" fontAlgn="base" latinLnBrk="0" hangingPunct="1">
                        <a:lnSpc>
                          <a:spcPct val="100000"/>
                        </a:lnSpc>
                        <a:spcBef>
                          <a:spcPct val="0"/>
                        </a:spcBef>
                        <a:spcAft>
                          <a:spcPct val="0"/>
                        </a:spcAft>
                        <a:buClrTx/>
                        <a:buSzTx/>
                        <a:buFontTx/>
                        <a:buNone/>
                      </a:pPr>
                      <a:r>
                        <a:rPr kumimoji="0" lang="en-GB" sz="1800" b="0" i="0" u="none" strike="noStrike" cap="none" normalizeH="0" baseline="0">
                          <a:ln>
                            <a:noFill/>
                          </a:ln>
                          <a:solidFill>
                            <a:srgbClr val="000000"/>
                          </a:solidFill>
                          <a:effectLst/>
                          <a:latin typeface="Arial" panose="020B0604020202020204" pitchFamily="34" charset="0"/>
                          <a:ea typeface="Times New Roman" panose="02020603050405020304" pitchFamily="18" charset="0"/>
                        </a:rPr>
                        <a:t>The oven is waiting for input. The display shows the current time.</a:t>
                      </a:r>
                      <a:endParaRPr kumimoji="0" lang="en-GB" sz="1800" b="0" i="0" u="none" strike="noStrike" cap="none" normalizeH="0" baseline="0">
                        <a:ln>
                          <a:noFill/>
                        </a:ln>
                        <a:solidFill>
                          <a:srgbClr val="000000"/>
                        </a:solidFill>
                        <a:effectLst/>
                        <a:latin typeface="Arial" panose="020B0604020202020204" pitchFamily="34" charset="0"/>
                        <a:ea typeface="Times New Roman" panose="02020603050405020304" pitchFamily="18" charset="0"/>
                      </a:endParaRPr>
                    </a:p>
                  </a:txBody>
                  <a:tcPr marL="54610" marR="54610" marT="0" marB="91440"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D0D8E8"/>
                    </a:solidFill>
                  </a:tcPr>
                </a:tc>
              </a:tr>
              <a:tr h="365760">
                <a:tc>
                  <a:txBody>
                    <a:bodyPr/>
                    <a:p>
                      <a:pPr marL="0" marR="0" lvl="0" indent="0" algn="l" defTabSz="457200" rtl="0" eaLnBrk="1" fontAlgn="base" latinLnBrk="0" hangingPunct="1">
                        <a:lnSpc>
                          <a:spcPct val="100000"/>
                        </a:lnSpc>
                        <a:spcBef>
                          <a:spcPct val="0"/>
                        </a:spcBef>
                        <a:spcAft>
                          <a:spcPct val="0"/>
                        </a:spcAft>
                        <a:buClrTx/>
                        <a:buSzTx/>
                        <a:buFontTx/>
                        <a:buNone/>
                      </a:pPr>
                      <a:r>
                        <a:rPr kumimoji="0" lang="en-GB" sz="1800" b="0" i="0" u="none" strike="noStrike" cap="none" normalizeH="0" baseline="0">
                          <a:ln>
                            <a:noFill/>
                          </a:ln>
                          <a:solidFill>
                            <a:srgbClr val="000000"/>
                          </a:solidFill>
                          <a:effectLst/>
                          <a:latin typeface="Arial" panose="020B0604020202020204" pitchFamily="34" charset="0"/>
                          <a:ea typeface="Times New Roman" panose="02020603050405020304" pitchFamily="18" charset="0"/>
                        </a:rPr>
                        <a:t>Half power</a:t>
                      </a:r>
                      <a:endParaRPr kumimoji="0" lang="en-GB" sz="1800" b="0" i="0" u="none" strike="noStrike" cap="none" normalizeH="0" baseline="0">
                        <a:ln>
                          <a:noFill/>
                        </a:ln>
                        <a:solidFill>
                          <a:srgbClr val="000000"/>
                        </a:solidFill>
                        <a:effectLst/>
                        <a:latin typeface="Arial" panose="020B0604020202020204" pitchFamily="34" charset="0"/>
                        <a:ea typeface="Times New Roman" panose="02020603050405020304" pitchFamily="18" charset="0"/>
                      </a:endParaRPr>
                    </a:p>
                  </a:txBody>
                  <a:tcPr marL="54610" marR="54610" marT="0" marB="91440"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E9EDF4"/>
                    </a:solidFill>
                  </a:tcPr>
                </a:tc>
                <a:tc>
                  <a:txBody>
                    <a:bodyPr/>
                    <a:p>
                      <a:pPr marL="0" marR="0" lvl="0" indent="0" algn="l" defTabSz="457200" rtl="0" eaLnBrk="1" fontAlgn="base" latinLnBrk="0" hangingPunct="1">
                        <a:lnSpc>
                          <a:spcPct val="100000"/>
                        </a:lnSpc>
                        <a:spcBef>
                          <a:spcPct val="0"/>
                        </a:spcBef>
                        <a:spcAft>
                          <a:spcPct val="0"/>
                        </a:spcAft>
                        <a:buClrTx/>
                        <a:buSzTx/>
                        <a:buFontTx/>
                        <a:buNone/>
                      </a:pPr>
                      <a:r>
                        <a:rPr kumimoji="0" lang="en-GB" sz="1800" b="0" i="0" u="none" strike="noStrike" cap="none" normalizeH="0" baseline="0">
                          <a:ln>
                            <a:noFill/>
                          </a:ln>
                          <a:solidFill>
                            <a:srgbClr val="000000"/>
                          </a:solidFill>
                          <a:effectLst/>
                          <a:latin typeface="Arial" panose="020B0604020202020204" pitchFamily="34" charset="0"/>
                          <a:ea typeface="Times New Roman" panose="02020603050405020304" pitchFamily="18" charset="0"/>
                        </a:rPr>
                        <a:t>The oven power is set to 300 watts. The display shows ‘Half power’.</a:t>
                      </a:r>
                      <a:endParaRPr kumimoji="0" lang="en-GB" sz="1800" b="0" i="0" u="none" strike="noStrike" cap="none" normalizeH="0" baseline="0">
                        <a:ln>
                          <a:noFill/>
                        </a:ln>
                        <a:solidFill>
                          <a:srgbClr val="000000"/>
                        </a:solidFill>
                        <a:effectLst/>
                        <a:latin typeface="Arial" panose="020B0604020202020204" pitchFamily="34" charset="0"/>
                        <a:ea typeface="Times New Roman" panose="02020603050405020304" pitchFamily="18" charset="0"/>
                      </a:endParaRPr>
                    </a:p>
                  </a:txBody>
                  <a:tcPr marL="54610" marR="54610" marT="0" marB="91440"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E9EDF4"/>
                    </a:solidFill>
                  </a:tcPr>
                </a:tc>
              </a:tr>
              <a:tr h="365760">
                <a:tc>
                  <a:txBody>
                    <a:bodyPr/>
                    <a:p>
                      <a:pPr marL="0" marR="0" lvl="0" indent="0" algn="l" defTabSz="457200" rtl="0" eaLnBrk="1" fontAlgn="base" latinLnBrk="0" hangingPunct="1">
                        <a:lnSpc>
                          <a:spcPct val="100000"/>
                        </a:lnSpc>
                        <a:spcBef>
                          <a:spcPct val="0"/>
                        </a:spcBef>
                        <a:spcAft>
                          <a:spcPct val="0"/>
                        </a:spcAft>
                        <a:buClrTx/>
                        <a:buSzTx/>
                        <a:buFontTx/>
                        <a:buNone/>
                      </a:pPr>
                      <a:r>
                        <a:rPr kumimoji="0" lang="en-GB" sz="1800" b="0" i="0" u="none" strike="noStrike" cap="none" normalizeH="0" baseline="0">
                          <a:ln>
                            <a:noFill/>
                          </a:ln>
                          <a:solidFill>
                            <a:srgbClr val="000000"/>
                          </a:solidFill>
                          <a:effectLst/>
                          <a:latin typeface="Arial" panose="020B0604020202020204" pitchFamily="34" charset="0"/>
                          <a:ea typeface="Times New Roman" panose="02020603050405020304" pitchFamily="18" charset="0"/>
                        </a:rPr>
                        <a:t>Full power</a:t>
                      </a:r>
                      <a:endParaRPr kumimoji="0" lang="en-GB" sz="1800" b="0" i="0" u="none" strike="noStrike" cap="none" normalizeH="0" baseline="0">
                        <a:ln>
                          <a:noFill/>
                        </a:ln>
                        <a:solidFill>
                          <a:srgbClr val="000000"/>
                        </a:solidFill>
                        <a:effectLst/>
                        <a:latin typeface="Arial" panose="020B0604020202020204" pitchFamily="34" charset="0"/>
                        <a:ea typeface="Times New Roman" panose="02020603050405020304" pitchFamily="18" charset="0"/>
                      </a:endParaRPr>
                    </a:p>
                  </a:txBody>
                  <a:tcPr marL="54610" marR="54610" marT="0" marB="91440"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D0D8E8"/>
                    </a:solidFill>
                  </a:tcPr>
                </a:tc>
                <a:tc>
                  <a:txBody>
                    <a:bodyPr/>
                    <a:p>
                      <a:pPr marL="0" marR="0" lvl="0" indent="0" algn="l" defTabSz="457200" rtl="0" eaLnBrk="1" fontAlgn="base" latinLnBrk="0" hangingPunct="1">
                        <a:lnSpc>
                          <a:spcPct val="100000"/>
                        </a:lnSpc>
                        <a:spcBef>
                          <a:spcPct val="0"/>
                        </a:spcBef>
                        <a:spcAft>
                          <a:spcPct val="0"/>
                        </a:spcAft>
                        <a:buClrTx/>
                        <a:buSzTx/>
                        <a:buFontTx/>
                        <a:buNone/>
                      </a:pPr>
                      <a:r>
                        <a:rPr kumimoji="0" lang="en-GB" sz="1800" b="0" i="0" u="none" strike="noStrike" cap="none" normalizeH="0" baseline="0">
                          <a:ln>
                            <a:noFill/>
                          </a:ln>
                          <a:solidFill>
                            <a:srgbClr val="000000"/>
                          </a:solidFill>
                          <a:effectLst/>
                          <a:latin typeface="Arial" panose="020B0604020202020204" pitchFamily="34" charset="0"/>
                          <a:ea typeface="Times New Roman" panose="02020603050405020304" pitchFamily="18" charset="0"/>
                        </a:rPr>
                        <a:t>The oven power is set to 600 watts. The display shows ‘Full power’.</a:t>
                      </a:r>
                      <a:endParaRPr kumimoji="0" lang="en-GB" sz="1800" b="0" i="0" u="none" strike="noStrike" cap="none" normalizeH="0" baseline="0">
                        <a:ln>
                          <a:noFill/>
                        </a:ln>
                        <a:solidFill>
                          <a:srgbClr val="000000"/>
                        </a:solidFill>
                        <a:effectLst/>
                        <a:latin typeface="Arial" panose="020B0604020202020204" pitchFamily="34" charset="0"/>
                        <a:ea typeface="Times New Roman" panose="02020603050405020304" pitchFamily="18" charset="0"/>
                      </a:endParaRPr>
                    </a:p>
                  </a:txBody>
                  <a:tcPr marL="54610" marR="54610" marT="0" marB="91440"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D0D8E8"/>
                    </a:solidFill>
                  </a:tcPr>
                </a:tc>
              </a:tr>
              <a:tr h="640080">
                <a:tc>
                  <a:txBody>
                    <a:bodyPr/>
                    <a:p>
                      <a:pPr marL="0" marR="0" lvl="0" indent="0" algn="l" defTabSz="457200" rtl="0" eaLnBrk="1" fontAlgn="base" latinLnBrk="0" hangingPunct="1">
                        <a:lnSpc>
                          <a:spcPct val="100000"/>
                        </a:lnSpc>
                        <a:spcBef>
                          <a:spcPct val="0"/>
                        </a:spcBef>
                        <a:spcAft>
                          <a:spcPct val="0"/>
                        </a:spcAft>
                        <a:buClrTx/>
                        <a:buSzTx/>
                        <a:buFontTx/>
                        <a:buNone/>
                      </a:pPr>
                      <a:r>
                        <a:rPr kumimoji="0" lang="en-GB" sz="1800" b="0" i="0" u="none" strike="noStrike" cap="none" normalizeH="0" baseline="0">
                          <a:ln>
                            <a:noFill/>
                          </a:ln>
                          <a:solidFill>
                            <a:srgbClr val="000000"/>
                          </a:solidFill>
                          <a:effectLst/>
                          <a:latin typeface="Arial" panose="020B0604020202020204" pitchFamily="34" charset="0"/>
                          <a:ea typeface="Times New Roman" panose="02020603050405020304" pitchFamily="18" charset="0"/>
                        </a:rPr>
                        <a:t>Set time</a:t>
                      </a:r>
                      <a:endParaRPr kumimoji="0" lang="en-GB" sz="1800" b="0" i="0" u="none" strike="noStrike" cap="none" normalizeH="0" baseline="0">
                        <a:ln>
                          <a:noFill/>
                        </a:ln>
                        <a:solidFill>
                          <a:srgbClr val="000000"/>
                        </a:solidFill>
                        <a:effectLst/>
                        <a:latin typeface="Arial" panose="020B0604020202020204" pitchFamily="34" charset="0"/>
                        <a:ea typeface="Times New Roman" panose="02020603050405020304" pitchFamily="18" charset="0"/>
                      </a:endParaRPr>
                    </a:p>
                  </a:txBody>
                  <a:tcPr marL="54610" marR="54610" marT="0" marB="91440"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E9EDF4"/>
                    </a:solidFill>
                  </a:tcPr>
                </a:tc>
                <a:tc>
                  <a:txBody>
                    <a:bodyPr/>
                    <a:p>
                      <a:pPr marL="0" marR="0" lvl="0" indent="0" algn="l" defTabSz="457200" rtl="0" eaLnBrk="1" fontAlgn="base" latinLnBrk="0" hangingPunct="1">
                        <a:lnSpc>
                          <a:spcPct val="100000"/>
                        </a:lnSpc>
                        <a:spcBef>
                          <a:spcPct val="0"/>
                        </a:spcBef>
                        <a:spcAft>
                          <a:spcPct val="0"/>
                        </a:spcAft>
                        <a:buClrTx/>
                        <a:buSzTx/>
                        <a:buFontTx/>
                        <a:buNone/>
                      </a:pPr>
                      <a:r>
                        <a:rPr kumimoji="0" lang="en-GB" sz="1800" b="0" i="0" u="none" strike="noStrike" cap="none" normalizeH="0" baseline="0">
                          <a:ln>
                            <a:noFill/>
                          </a:ln>
                          <a:solidFill>
                            <a:srgbClr val="000000"/>
                          </a:solidFill>
                          <a:effectLst/>
                          <a:latin typeface="Arial" panose="020B0604020202020204" pitchFamily="34" charset="0"/>
                          <a:ea typeface="Times New Roman" panose="02020603050405020304" pitchFamily="18" charset="0"/>
                        </a:rPr>
                        <a:t>The cooking time is set to the user’s input value. The display shows the cooking time selected and is updated as the time is set.</a:t>
                      </a:r>
                      <a:endParaRPr kumimoji="0" lang="en-GB" sz="1800" b="0" i="0" u="none" strike="noStrike" cap="none" normalizeH="0" baseline="0">
                        <a:ln>
                          <a:noFill/>
                        </a:ln>
                        <a:solidFill>
                          <a:srgbClr val="000000"/>
                        </a:solidFill>
                        <a:effectLst/>
                        <a:latin typeface="Arial" panose="020B0604020202020204" pitchFamily="34" charset="0"/>
                        <a:ea typeface="Times New Roman" panose="02020603050405020304" pitchFamily="18" charset="0"/>
                      </a:endParaRPr>
                    </a:p>
                  </a:txBody>
                  <a:tcPr marL="54610" marR="54610" marT="0" marB="91440"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E9EDF4"/>
                    </a:solidFill>
                  </a:tcPr>
                </a:tc>
              </a:tr>
              <a:tr h="640080">
                <a:tc>
                  <a:txBody>
                    <a:bodyPr/>
                    <a:p>
                      <a:pPr marL="0" marR="0" lvl="0" indent="0" algn="l" defTabSz="457200" rtl="0" eaLnBrk="1" fontAlgn="base" latinLnBrk="0" hangingPunct="1">
                        <a:lnSpc>
                          <a:spcPct val="100000"/>
                        </a:lnSpc>
                        <a:spcBef>
                          <a:spcPct val="0"/>
                        </a:spcBef>
                        <a:spcAft>
                          <a:spcPct val="0"/>
                        </a:spcAft>
                        <a:buClrTx/>
                        <a:buSzTx/>
                        <a:buFontTx/>
                        <a:buNone/>
                      </a:pPr>
                      <a:r>
                        <a:rPr kumimoji="0" lang="en-GB" sz="1800" b="0" i="0" u="none" strike="noStrike" cap="none" normalizeH="0" baseline="0">
                          <a:ln>
                            <a:noFill/>
                          </a:ln>
                          <a:solidFill>
                            <a:srgbClr val="000000"/>
                          </a:solidFill>
                          <a:effectLst/>
                          <a:latin typeface="Arial" panose="020B0604020202020204" pitchFamily="34" charset="0"/>
                          <a:ea typeface="Times New Roman" panose="02020603050405020304" pitchFamily="18" charset="0"/>
                        </a:rPr>
                        <a:t>Disabled</a:t>
                      </a:r>
                      <a:endParaRPr kumimoji="0" lang="en-GB" sz="1800" b="0" i="0" u="none" strike="noStrike" cap="none" normalizeH="0" baseline="0">
                        <a:ln>
                          <a:noFill/>
                        </a:ln>
                        <a:solidFill>
                          <a:srgbClr val="000000"/>
                        </a:solidFill>
                        <a:effectLst/>
                        <a:latin typeface="Arial" panose="020B0604020202020204" pitchFamily="34" charset="0"/>
                        <a:ea typeface="Times New Roman" panose="02020603050405020304" pitchFamily="18" charset="0"/>
                      </a:endParaRPr>
                    </a:p>
                  </a:txBody>
                  <a:tcPr marL="54610" marR="54610" marT="0" marB="91440"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D0D8E8"/>
                    </a:solidFill>
                  </a:tcPr>
                </a:tc>
                <a:tc>
                  <a:txBody>
                    <a:bodyPr/>
                    <a:p>
                      <a:pPr marL="0" marR="0" lvl="0" indent="0" algn="l" defTabSz="457200" rtl="0" eaLnBrk="1" fontAlgn="base" latinLnBrk="0" hangingPunct="1">
                        <a:lnSpc>
                          <a:spcPct val="100000"/>
                        </a:lnSpc>
                        <a:spcBef>
                          <a:spcPct val="0"/>
                        </a:spcBef>
                        <a:spcAft>
                          <a:spcPct val="0"/>
                        </a:spcAft>
                        <a:buClrTx/>
                        <a:buSzTx/>
                        <a:buFontTx/>
                        <a:buNone/>
                      </a:pPr>
                      <a:r>
                        <a:rPr kumimoji="0" lang="en-GB" sz="1800" b="0" i="0" u="none" strike="noStrike" cap="none" normalizeH="0" baseline="0">
                          <a:ln>
                            <a:noFill/>
                          </a:ln>
                          <a:solidFill>
                            <a:srgbClr val="000000"/>
                          </a:solidFill>
                          <a:effectLst/>
                          <a:latin typeface="Arial" panose="020B0604020202020204" pitchFamily="34" charset="0"/>
                          <a:ea typeface="Times New Roman" panose="02020603050405020304" pitchFamily="18" charset="0"/>
                        </a:rPr>
                        <a:t>Oven operation is disabled for safety. Interior oven light is on. Display shows ‘Not ready’.</a:t>
                      </a:r>
                      <a:endParaRPr kumimoji="0" lang="en-GB" sz="1800" b="0" i="0" u="none" strike="noStrike" cap="none" normalizeH="0" baseline="0">
                        <a:ln>
                          <a:noFill/>
                        </a:ln>
                        <a:solidFill>
                          <a:srgbClr val="000000"/>
                        </a:solidFill>
                        <a:effectLst/>
                        <a:latin typeface="Arial" panose="020B0604020202020204" pitchFamily="34" charset="0"/>
                        <a:ea typeface="Times New Roman" panose="02020603050405020304" pitchFamily="18" charset="0"/>
                      </a:endParaRPr>
                    </a:p>
                  </a:txBody>
                  <a:tcPr marL="54610" marR="54610" marT="0" marB="91440"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D0D8E8"/>
                    </a:solidFill>
                  </a:tcPr>
                </a:tc>
              </a:tr>
              <a:tr h="640080">
                <a:tc>
                  <a:txBody>
                    <a:bodyPr/>
                    <a:p>
                      <a:pPr marL="0" marR="0" lvl="0" indent="0" algn="l" defTabSz="457200" rtl="0" eaLnBrk="1" fontAlgn="base" latinLnBrk="0" hangingPunct="1">
                        <a:lnSpc>
                          <a:spcPct val="100000"/>
                        </a:lnSpc>
                        <a:spcBef>
                          <a:spcPct val="0"/>
                        </a:spcBef>
                        <a:spcAft>
                          <a:spcPct val="0"/>
                        </a:spcAft>
                        <a:buClrTx/>
                        <a:buSzTx/>
                        <a:buFontTx/>
                        <a:buNone/>
                      </a:pPr>
                      <a:r>
                        <a:rPr kumimoji="0" lang="en-GB" sz="1800" b="0" i="0" u="none" strike="noStrike" cap="none" normalizeH="0" baseline="0">
                          <a:ln>
                            <a:noFill/>
                          </a:ln>
                          <a:solidFill>
                            <a:srgbClr val="000000"/>
                          </a:solidFill>
                          <a:effectLst/>
                          <a:latin typeface="Arial" panose="020B0604020202020204" pitchFamily="34" charset="0"/>
                          <a:ea typeface="Times New Roman" panose="02020603050405020304" pitchFamily="18" charset="0"/>
                        </a:rPr>
                        <a:t>Enabled</a:t>
                      </a:r>
                      <a:endParaRPr kumimoji="0" lang="en-GB" sz="1800" b="0" i="0" u="none" strike="noStrike" cap="none" normalizeH="0" baseline="0">
                        <a:ln>
                          <a:noFill/>
                        </a:ln>
                        <a:solidFill>
                          <a:srgbClr val="000000"/>
                        </a:solidFill>
                        <a:effectLst/>
                        <a:latin typeface="Arial" panose="020B0604020202020204" pitchFamily="34" charset="0"/>
                        <a:ea typeface="Times New Roman" panose="02020603050405020304" pitchFamily="18" charset="0"/>
                      </a:endParaRPr>
                    </a:p>
                  </a:txBody>
                  <a:tcPr marL="54610" marR="54610" marT="0" marB="91440"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E9EDF4"/>
                    </a:solidFill>
                  </a:tcPr>
                </a:tc>
                <a:tc>
                  <a:txBody>
                    <a:bodyPr/>
                    <a:p>
                      <a:pPr marL="0" marR="0" lvl="0" indent="0" algn="l" defTabSz="457200" rtl="0" eaLnBrk="1" fontAlgn="base" latinLnBrk="0" hangingPunct="1">
                        <a:lnSpc>
                          <a:spcPct val="100000"/>
                        </a:lnSpc>
                        <a:spcBef>
                          <a:spcPct val="0"/>
                        </a:spcBef>
                        <a:spcAft>
                          <a:spcPct val="0"/>
                        </a:spcAft>
                        <a:buClrTx/>
                        <a:buSzTx/>
                        <a:buFontTx/>
                        <a:buNone/>
                      </a:pPr>
                      <a:r>
                        <a:rPr kumimoji="0" lang="en-GB" sz="1800" b="0" i="0" u="none" strike="noStrike" cap="none" normalizeH="0" baseline="0">
                          <a:ln>
                            <a:noFill/>
                          </a:ln>
                          <a:solidFill>
                            <a:srgbClr val="000000"/>
                          </a:solidFill>
                          <a:effectLst/>
                          <a:latin typeface="Arial" panose="020B0604020202020204" pitchFamily="34" charset="0"/>
                          <a:ea typeface="Times New Roman" panose="02020603050405020304" pitchFamily="18" charset="0"/>
                        </a:rPr>
                        <a:t>Oven operation is enabled. Interior oven light is off. Display shows ‘Ready to cook’.</a:t>
                      </a:r>
                      <a:endParaRPr kumimoji="0" lang="en-GB" sz="1800" b="0" i="0" u="none" strike="noStrike" cap="none" normalizeH="0" baseline="0">
                        <a:ln>
                          <a:noFill/>
                        </a:ln>
                        <a:solidFill>
                          <a:srgbClr val="000000"/>
                        </a:solidFill>
                        <a:effectLst/>
                        <a:latin typeface="Arial" panose="020B0604020202020204" pitchFamily="34" charset="0"/>
                        <a:ea typeface="Times New Roman" panose="02020603050405020304" pitchFamily="18" charset="0"/>
                      </a:endParaRPr>
                    </a:p>
                  </a:txBody>
                  <a:tcPr marL="54610" marR="54610" marT="0" marB="91440"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E9EDF4"/>
                    </a:solidFill>
                  </a:tcPr>
                </a:tc>
              </a:tr>
              <a:tr h="1188720">
                <a:tc>
                  <a:txBody>
                    <a:bodyPr/>
                    <a:p>
                      <a:pPr marL="0" marR="0" lvl="0" indent="0" algn="l" defTabSz="457200" rtl="0" eaLnBrk="1" fontAlgn="base" latinLnBrk="0" hangingPunct="1">
                        <a:lnSpc>
                          <a:spcPct val="100000"/>
                        </a:lnSpc>
                        <a:spcBef>
                          <a:spcPct val="0"/>
                        </a:spcBef>
                        <a:spcAft>
                          <a:spcPct val="0"/>
                        </a:spcAft>
                        <a:buClrTx/>
                        <a:buSzTx/>
                        <a:buFontTx/>
                        <a:buNone/>
                      </a:pPr>
                      <a:r>
                        <a:rPr kumimoji="0" lang="en-GB" sz="1800" b="0" i="0" u="none" strike="noStrike" cap="none" normalizeH="0" baseline="0">
                          <a:ln>
                            <a:noFill/>
                          </a:ln>
                          <a:solidFill>
                            <a:srgbClr val="000000"/>
                          </a:solidFill>
                          <a:effectLst/>
                          <a:latin typeface="Arial" panose="020B0604020202020204" pitchFamily="34" charset="0"/>
                          <a:ea typeface="Times New Roman" panose="02020603050405020304" pitchFamily="18" charset="0"/>
                        </a:rPr>
                        <a:t>Operation</a:t>
                      </a:r>
                      <a:endParaRPr kumimoji="0" lang="en-GB" sz="1800" b="0" i="0" u="none" strike="noStrike" cap="none" normalizeH="0" baseline="0">
                        <a:ln>
                          <a:noFill/>
                        </a:ln>
                        <a:solidFill>
                          <a:srgbClr val="000000"/>
                        </a:solidFill>
                        <a:effectLst/>
                        <a:latin typeface="Arial" panose="020B0604020202020204" pitchFamily="34" charset="0"/>
                        <a:ea typeface="Times New Roman" panose="02020603050405020304" pitchFamily="18" charset="0"/>
                      </a:endParaRPr>
                    </a:p>
                  </a:txBody>
                  <a:tcPr marL="54610" marR="54610" marT="0" marB="91440"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D0D8E8"/>
                    </a:solidFill>
                  </a:tcPr>
                </a:tc>
                <a:tc>
                  <a:txBody>
                    <a:bodyPr/>
                    <a:p>
                      <a:pPr marL="0" marR="0" lvl="0" indent="0" algn="l" defTabSz="457200" rtl="0" eaLnBrk="1" fontAlgn="base" latinLnBrk="0" hangingPunct="1">
                        <a:lnSpc>
                          <a:spcPct val="100000"/>
                        </a:lnSpc>
                        <a:spcBef>
                          <a:spcPct val="0"/>
                        </a:spcBef>
                        <a:spcAft>
                          <a:spcPct val="0"/>
                        </a:spcAft>
                        <a:buClrTx/>
                        <a:buSzTx/>
                        <a:buFontTx/>
                        <a:buNone/>
                      </a:pPr>
                      <a:r>
                        <a:rPr kumimoji="0" lang="en-GB" sz="18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rPr>
                        <a:t>Oven in operation. Interior oven light is on. Display shows the timer countdown. On completion of cooking, the buzzer is sounded for five seconds. Oven light is on. Display shows ‘Cooking complete’ while buzzer is sounding</a:t>
                      </a:r>
                      <a:r>
                        <a:rPr kumimoji="0" lang="en-GB" sz="1800" b="0" i="0" u="none" strike="noStrike" cap="none" normalizeH="0" baseline="0" dirty="0" smtClean="0">
                          <a:ln>
                            <a:noFill/>
                          </a:ln>
                          <a:solidFill>
                            <a:srgbClr val="000000"/>
                          </a:solidFill>
                          <a:effectLst/>
                          <a:latin typeface="Arial" panose="020B0604020202020204" pitchFamily="34" charset="0"/>
                          <a:ea typeface="Times New Roman" panose="02020603050405020304" pitchFamily="18" charset="0"/>
                        </a:rPr>
                        <a:t>.</a:t>
                      </a:r>
                      <a:endParaRPr kumimoji="0" lang="en-GB" sz="18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endParaRPr>
                    </a:p>
                  </a:txBody>
                  <a:tcPr marL="54610" marR="54610" marT="0" marB="91440"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D0D8E8"/>
                    </a:solidFill>
                  </a:tcPr>
                </a:tc>
              </a:tr>
            </a:tbl>
          </a:graphicData>
        </a:graphic>
      </p:graphicFrame>
      <p:sp>
        <p:nvSpPr>
          <p:cNvPr id="10" name="Content Placeholder 2"/>
          <p:cNvSpPr>
            <a:spLocks noGrp="1"/>
          </p:cNvSpPr>
          <p:nvPr/>
        </p:nvSpPr>
        <p:spPr>
          <a:xfrm>
            <a:off x="120650" y="687705"/>
            <a:ext cx="8936990" cy="1358265"/>
          </a:xfrm>
          <a:prstGeom prst="rect">
            <a:avLst/>
          </a:prstGeom>
          <a:noFill/>
          <a:extLst>
            <a:ext uri="{909E8E84-426E-40DD-AFC4-6F175D3DCCD1}">
              <a14:hiddenFill xmlns:a14="http://schemas.microsoft.com/office/drawing/2010/main">
                <a:solidFill>
                  <a:schemeClr val="bg1"/>
                </a:solidFill>
              </a14:hiddenFill>
            </a:ext>
          </a:extLst>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marL="0" indent="0">
              <a:lnSpc>
                <a:spcPct val="85000"/>
              </a:lnSpc>
              <a:spcBef>
                <a:spcPts val="300"/>
              </a:spcBef>
              <a:spcAft>
                <a:spcPts val="0"/>
              </a:spcAft>
              <a:buNone/>
            </a:pPr>
            <a:r>
              <a:rPr lang="en-US" sz="2000" b="0" dirty="0" smtClean="0">
                <a:solidFill>
                  <a:schemeClr val="tx1"/>
                </a:solidFill>
                <a:latin typeface="Calibri" panose="020F0502020204030204" charset="0"/>
                <a:cs typeface="Calibri" panose="020F0502020204030204" charset="0"/>
              </a:rPr>
              <a:t>* You normally have to extend “</a:t>
            </a:r>
            <a:r>
              <a:rPr lang="en-US" sz="2000" b="0" dirty="0" smtClean="0">
                <a:solidFill>
                  <a:schemeClr val="tx1"/>
                </a:solidFill>
                <a:latin typeface="Calibri" panose="020F0502020204030204" charset="0"/>
                <a:cs typeface="Calibri" panose="020F0502020204030204" charset="0"/>
                <a:sym typeface="+mn-ea"/>
              </a:rPr>
              <a:t>State models”</a:t>
            </a:r>
            <a:r>
              <a:rPr lang="en-US" sz="2000" b="0" dirty="0" smtClean="0">
                <a:solidFill>
                  <a:schemeClr val="tx1"/>
                </a:solidFill>
                <a:latin typeface="Calibri" panose="020F0502020204030204" charset="0"/>
                <a:cs typeface="Calibri" panose="020F0502020204030204" charset="0"/>
              </a:rPr>
              <a:t> with a more </a:t>
            </a:r>
            <a:r>
              <a:rPr lang="en-US" sz="2000" b="0" u="sng" dirty="0" smtClean="0">
                <a:solidFill>
                  <a:schemeClr val="tx1"/>
                </a:solidFill>
                <a:latin typeface="Calibri" panose="020F0502020204030204" charset="0"/>
                <a:cs typeface="Calibri" panose="020F0502020204030204" charset="0"/>
              </a:rPr>
              <a:t>detailed description</a:t>
            </a:r>
            <a:r>
              <a:rPr lang="en-US" sz="2000" b="0" dirty="0" smtClean="0">
                <a:solidFill>
                  <a:schemeClr val="tx1"/>
                </a:solidFill>
                <a:latin typeface="Calibri" panose="020F0502020204030204" charset="0"/>
                <a:cs typeface="Calibri" panose="020F0502020204030204" charset="0"/>
              </a:rPr>
              <a:t> of the stimuli and the system states. You may use a table to list the states and events that stimulate state transitions along with a description of each state and event. Figure 5.18 shows a tabular description of each state and how the stimuli that force state transitions are generated.</a:t>
            </a:r>
            <a:endParaRPr lang="en-US" sz="2000" b="0" dirty="0" smtClean="0">
              <a:solidFill>
                <a:schemeClr val="tx1"/>
              </a:solidFill>
              <a:latin typeface="Calibri" panose="020F0502020204030204" charset="0"/>
              <a:cs typeface="Calibri" panose="020F0502020204030204" charset="0"/>
            </a:endParaRPr>
          </a:p>
        </p:txBody>
      </p:sp>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75970"/>
            <a:ext cx="8977630" cy="62547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100" dirty="0">
                <a:solidFill>
                  <a:srgbClr val="0070C0"/>
                </a:solidFill>
                <a:ea typeface="宋体" panose="02010600030101010101" pitchFamily="2" charset="-122"/>
                <a:sym typeface="+mn-ea"/>
              </a:rPr>
              <a:t> </a:t>
            </a:r>
            <a:r>
              <a:rPr lang="zh-CN" altLang="en-US" sz="3100" dirty="0">
                <a:solidFill>
                  <a:schemeClr val="accent1">
                    <a:lumMod val="75000"/>
                  </a:schemeClr>
                </a:solidFill>
                <a:ea typeface="宋体" panose="02010600030101010101" pitchFamily="2" charset="-122"/>
                <a:sym typeface="+mn-ea"/>
              </a:rPr>
              <a:t>States and stimuli for the microwave oven (b)</a:t>
            </a:r>
            <a:endParaRPr lang="zh-CN" altLang="en-US" sz="3100" dirty="0">
              <a:solidFill>
                <a:schemeClr val="accent1">
                  <a:lumMod val="75000"/>
                </a:schemeClr>
              </a:solidFill>
              <a:ea typeface="宋体" panose="02010600030101010101" pitchFamily="2" charset="-122"/>
              <a:sym typeface="+mn-ea"/>
            </a:endParaRPr>
          </a:p>
        </p:txBody>
      </p:sp>
      <p:sp>
        <p:nvSpPr>
          <p:cNvPr id="4" name="Rectangle 2"/>
          <p:cNvSpPr>
            <a:spLocks noGrp="1"/>
          </p:cNvSpPr>
          <p:nvPr>
            <p:ph type="title"/>
            <p:custDataLst>
              <p:tags r:id="rId2"/>
            </p:custDataLst>
          </p:nvPr>
        </p:nvSpPr>
        <p:spPr>
          <a:xfrm>
            <a:off x="617538" y="198755"/>
            <a:ext cx="455295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5  System modeling</a:t>
            </a:r>
            <a:endParaRPr lang="en-US" altLang="zh-CN" sz="2800" dirty="0">
              <a:solidFill>
                <a:srgbClr val="660066"/>
              </a:solidFill>
              <a:ea typeface="黑体" panose="02010609060101010101" pitchFamily="49" charset="-122"/>
              <a:cs typeface="+mj-lt"/>
            </a:endParaRPr>
          </a:p>
        </p:txBody>
      </p:sp>
      <p:graphicFrame>
        <p:nvGraphicFramePr>
          <p:cNvPr id="3" name="Table 2"/>
          <p:cNvGraphicFramePr>
            <a:graphicFrameLocks noGrp="1"/>
          </p:cNvGraphicFramePr>
          <p:nvPr>
            <p:custDataLst>
              <p:tags r:id="rId3"/>
            </p:custDataLst>
          </p:nvPr>
        </p:nvGraphicFramePr>
        <p:xfrm>
          <a:off x="132715" y="1394460"/>
          <a:ext cx="8882380" cy="4272280"/>
        </p:xfrm>
        <a:graphic>
          <a:graphicData uri="http://schemas.openxmlformats.org/drawingml/2006/table">
            <a:tbl>
              <a:tblPr>
                <a:effectLst/>
                <a:tableStyleId>{5940675A-B579-460E-94D1-54222C63F5DA}</a:tableStyleId>
              </a:tblPr>
              <a:tblGrid>
                <a:gridCol w="1779270"/>
                <a:gridCol w="7103110"/>
              </a:tblGrid>
              <a:tr h="556895">
                <a:tc>
                  <a:txBody>
                    <a:bodyPr/>
                    <a:p>
                      <a:pPr marL="0" marR="0" lvl="0" indent="0" algn="just" defTabSz="457200" rtl="0" eaLnBrk="1" fontAlgn="base" latinLnBrk="0" hangingPunct="1">
                        <a:lnSpc>
                          <a:spcPct val="100000"/>
                        </a:lnSpc>
                        <a:spcBef>
                          <a:spcPct val="0"/>
                        </a:spcBef>
                        <a:spcAft>
                          <a:spcPct val="0"/>
                        </a:spcAft>
                        <a:buClrTx/>
                        <a:buSzTx/>
                        <a:buFontTx/>
                        <a:buNone/>
                      </a:pPr>
                      <a:r>
                        <a:rPr kumimoji="0" lang="en-GB" sz="2400" b="1" i="0" u="none" strike="noStrike" cap="none" normalizeH="0" baseline="0" dirty="0" smtClean="0">
                          <a:ln>
                            <a:noFill/>
                          </a:ln>
                          <a:solidFill>
                            <a:schemeClr val="bg1"/>
                          </a:solidFill>
                          <a:effectLst/>
                          <a:latin typeface="Arial" panose="020B0604020202020204" pitchFamily="34" charset="0"/>
                          <a:ea typeface="Times New Roman" panose="02020603050405020304" pitchFamily="18" charset="0"/>
                        </a:rPr>
                        <a:t>Stimulus</a:t>
                      </a:r>
                      <a:endParaRPr kumimoji="0" lang="en-GB" sz="2400" b="1" i="0" u="none" strike="noStrike" cap="none" normalizeH="0" baseline="0" dirty="0" smtClean="0">
                        <a:ln>
                          <a:noFill/>
                        </a:ln>
                        <a:solidFill>
                          <a:schemeClr val="bg1"/>
                        </a:solidFill>
                        <a:effectLst/>
                        <a:latin typeface="Arial" panose="020B0604020202020204" pitchFamily="34" charset="0"/>
                        <a:ea typeface="Times New Roman" panose="02020603050405020304" pitchFamily="18" charset="0"/>
                      </a:endParaRPr>
                    </a:p>
                  </a:txBody>
                  <a:tcPr marL="54610" marR="54610" marT="91440" marB="91440"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a:noFill/>
                    </a:lnTlToBr>
                    <a:lnBlToTr>
                      <a:noFill/>
                    </a:lnBlToTr>
                    <a:solidFill>
                      <a:srgbClr val="4F81BD"/>
                    </a:solidFill>
                  </a:tcPr>
                </a:tc>
                <a:tc>
                  <a:txBody>
                    <a:bodyPr/>
                    <a:p>
                      <a:pPr marL="0" marR="0" lvl="0" indent="0" algn="just" defTabSz="457200" rtl="0" eaLnBrk="1" fontAlgn="base" latinLnBrk="0" hangingPunct="1">
                        <a:lnSpc>
                          <a:spcPct val="100000"/>
                        </a:lnSpc>
                        <a:spcBef>
                          <a:spcPct val="0"/>
                        </a:spcBef>
                        <a:spcAft>
                          <a:spcPct val="0"/>
                        </a:spcAft>
                        <a:buClrTx/>
                        <a:buSzTx/>
                        <a:buFontTx/>
                        <a:buNone/>
                      </a:pPr>
                      <a:r>
                        <a:rPr kumimoji="0" lang="en-GB" sz="2400" b="1" i="0" u="none" strike="noStrike" cap="none" normalizeH="0" baseline="0" dirty="0" smtClean="0">
                          <a:ln>
                            <a:noFill/>
                          </a:ln>
                          <a:solidFill>
                            <a:schemeClr val="bg1"/>
                          </a:solidFill>
                          <a:effectLst/>
                          <a:latin typeface="Arial" panose="020B0604020202020204" pitchFamily="34" charset="0"/>
                          <a:ea typeface="Times New Roman" panose="02020603050405020304" pitchFamily="18" charset="0"/>
                        </a:rPr>
                        <a:t>Description</a:t>
                      </a:r>
                      <a:endParaRPr kumimoji="0" lang="en-GB" sz="2400" b="1" i="0" u="none" strike="noStrike" cap="none" normalizeH="0" baseline="0" dirty="0" smtClean="0">
                        <a:ln>
                          <a:noFill/>
                        </a:ln>
                        <a:solidFill>
                          <a:schemeClr val="bg1"/>
                        </a:solidFill>
                        <a:effectLst/>
                        <a:latin typeface="Arial" panose="020B0604020202020204" pitchFamily="34" charset="0"/>
                        <a:ea typeface="Times New Roman" panose="02020603050405020304" pitchFamily="18" charset="0"/>
                      </a:endParaRPr>
                    </a:p>
                  </a:txBody>
                  <a:tcPr marL="54610" marR="54610" marT="91440" marB="91440"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a:noFill/>
                    </a:lnTlToBr>
                    <a:lnBlToTr>
                      <a:noFill/>
                    </a:lnBlToTr>
                    <a:solidFill>
                      <a:srgbClr val="4F81BD"/>
                    </a:solidFill>
                  </a:tcPr>
                </a:tc>
              </a:tr>
              <a:tr h="464820">
                <a:tc>
                  <a:txBody>
                    <a:bodyPr/>
                    <a:p>
                      <a:pPr marL="0" marR="0" lvl="0" indent="0" algn="just" defTabSz="457200" rtl="0" eaLnBrk="1" fontAlgn="base" latinLnBrk="0" hangingPunct="1">
                        <a:lnSpc>
                          <a:spcPct val="100000"/>
                        </a:lnSpc>
                        <a:spcBef>
                          <a:spcPct val="0"/>
                        </a:spcBef>
                        <a:spcAft>
                          <a:spcPct val="0"/>
                        </a:spcAft>
                        <a:buClrTx/>
                        <a:buSzTx/>
                        <a:buFontTx/>
                        <a:buNone/>
                      </a:pPr>
                      <a:r>
                        <a:rPr kumimoji="0" lang="en-GB" sz="2400" b="0" i="0" u="none" strike="noStrike" cap="none" normalizeH="0" baseline="0" dirty="0" smtClean="0">
                          <a:ln>
                            <a:noFill/>
                          </a:ln>
                          <a:solidFill>
                            <a:srgbClr val="000000"/>
                          </a:solidFill>
                          <a:effectLst/>
                          <a:latin typeface="Arial" panose="020B0604020202020204" pitchFamily="34" charset="0"/>
                          <a:ea typeface="Times New Roman" panose="02020603050405020304" pitchFamily="18" charset="0"/>
                        </a:rPr>
                        <a:t>Half </a:t>
                      </a:r>
                      <a:r>
                        <a:rPr kumimoji="0" lang="en-GB" sz="24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rPr>
                        <a:t>power </a:t>
                      </a:r>
                      <a:endParaRPr kumimoji="0" lang="en-GB" sz="24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endParaRPr>
                    </a:p>
                  </a:txBody>
                  <a:tcPr marL="54610" marR="54610" marT="0" marB="91440"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D0D8E8"/>
                    </a:solidFill>
                  </a:tcPr>
                </a:tc>
                <a:tc>
                  <a:txBody>
                    <a:bodyPr/>
                    <a:p>
                      <a:pPr marL="0" marR="0" lvl="0" indent="0" algn="just" defTabSz="457200" rtl="0" eaLnBrk="1" fontAlgn="base" latinLnBrk="0" hangingPunct="1">
                        <a:lnSpc>
                          <a:spcPct val="100000"/>
                        </a:lnSpc>
                        <a:spcBef>
                          <a:spcPct val="0"/>
                        </a:spcBef>
                        <a:spcAft>
                          <a:spcPct val="0"/>
                        </a:spcAft>
                        <a:buClrTx/>
                        <a:buSzTx/>
                        <a:buFontTx/>
                        <a:buNone/>
                      </a:pPr>
                      <a:r>
                        <a:rPr kumimoji="0" lang="en-GB" sz="24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rPr>
                        <a:t>The user has pressed the half-power button.</a:t>
                      </a:r>
                      <a:endParaRPr kumimoji="0" lang="en-GB" sz="24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endParaRPr>
                    </a:p>
                  </a:txBody>
                  <a:tcPr marL="54610" marR="54610" marT="0" marB="91440"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D0D8E8"/>
                    </a:solidFill>
                  </a:tcPr>
                </a:tc>
              </a:tr>
              <a:tr h="464185">
                <a:tc>
                  <a:txBody>
                    <a:bodyPr/>
                    <a:p>
                      <a:pPr marL="0" marR="0" lvl="0" indent="0" algn="just" defTabSz="457200" rtl="0" eaLnBrk="1" fontAlgn="base" latinLnBrk="0" hangingPunct="1">
                        <a:lnSpc>
                          <a:spcPct val="100000"/>
                        </a:lnSpc>
                        <a:spcBef>
                          <a:spcPct val="0"/>
                        </a:spcBef>
                        <a:spcAft>
                          <a:spcPct val="0"/>
                        </a:spcAft>
                        <a:buClrTx/>
                        <a:buSzTx/>
                        <a:buFontTx/>
                        <a:buNone/>
                      </a:pPr>
                      <a:r>
                        <a:rPr kumimoji="0" lang="en-GB" sz="2400" b="0" i="0" u="none" strike="noStrike" cap="none" normalizeH="0" baseline="0">
                          <a:ln>
                            <a:noFill/>
                          </a:ln>
                          <a:solidFill>
                            <a:srgbClr val="000000"/>
                          </a:solidFill>
                          <a:effectLst/>
                          <a:latin typeface="Arial" panose="020B0604020202020204" pitchFamily="34" charset="0"/>
                          <a:ea typeface="Times New Roman" panose="02020603050405020304" pitchFamily="18" charset="0"/>
                        </a:rPr>
                        <a:t>Full power </a:t>
                      </a:r>
                      <a:endParaRPr kumimoji="0" lang="en-GB" sz="2400" b="0" i="0" u="none" strike="noStrike" cap="none" normalizeH="0" baseline="0">
                        <a:ln>
                          <a:noFill/>
                        </a:ln>
                        <a:solidFill>
                          <a:srgbClr val="000000"/>
                        </a:solidFill>
                        <a:effectLst/>
                        <a:latin typeface="Arial" panose="020B0604020202020204" pitchFamily="34" charset="0"/>
                        <a:ea typeface="Times New Roman" panose="02020603050405020304" pitchFamily="18" charset="0"/>
                      </a:endParaRPr>
                    </a:p>
                  </a:txBody>
                  <a:tcPr marL="54610" marR="54610" marT="0" marB="91440"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E9EDF4"/>
                    </a:solidFill>
                  </a:tcPr>
                </a:tc>
                <a:tc>
                  <a:txBody>
                    <a:bodyPr/>
                    <a:p>
                      <a:pPr marL="0" marR="0" lvl="0" indent="0" algn="just" defTabSz="457200" rtl="0" eaLnBrk="1" fontAlgn="base" latinLnBrk="0" hangingPunct="1">
                        <a:lnSpc>
                          <a:spcPct val="100000"/>
                        </a:lnSpc>
                        <a:spcBef>
                          <a:spcPct val="0"/>
                        </a:spcBef>
                        <a:spcAft>
                          <a:spcPct val="0"/>
                        </a:spcAft>
                        <a:buClrTx/>
                        <a:buSzTx/>
                        <a:buFontTx/>
                        <a:buNone/>
                      </a:pPr>
                      <a:r>
                        <a:rPr kumimoji="0" lang="en-GB" sz="24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rPr>
                        <a:t>The user has pressed the full-power button.</a:t>
                      </a:r>
                      <a:endParaRPr kumimoji="0" lang="en-GB" sz="24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endParaRPr>
                    </a:p>
                  </a:txBody>
                  <a:tcPr marL="54610" marR="54610" marT="0" marB="91440"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E9EDF4"/>
                    </a:solidFill>
                  </a:tcPr>
                </a:tc>
              </a:tr>
              <a:tr h="464820">
                <a:tc>
                  <a:txBody>
                    <a:bodyPr/>
                    <a:p>
                      <a:pPr marL="0" marR="0" lvl="0" indent="0" algn="just" defTabSz="457200" rtl="0" eaLnBrk="1" fontAlgn="base" latinLnBrk="0" hangingPunct="1">
                        <a:lnSpc>
                          <a:spcPct val="100000"/>
                        </a:lnSpc>
                        <a:spcBef>
                          <a:spcPct val="0"/>
                        </a:spcBef>
                        <a:spcAft>
                          <a:spcPct val="0"/>
                        </a:spcAft>
                        <a:buClrTx/>
                        <a:buSzTx/>
                        <a:buFontTx/>
                        <a:buNone/>
                      </a:pPr>
                      <a:r>
                        <a:rPr kumimoji="0" lang="en-GB" sz="2400" b="0" i="0" u="none" strike="noStrike" cap="none" normalizeH="0" baseline="0">
                          <a:ln>
                            <a:noFill/>
                          </a:ln>
                          <a:solidFill>
                            <a:srgbClr val="000000"/>
                          </a:solidFill>
                          <a:effectLst/>
                          <a:latin typeface="Arial" panose="020B0604020202020204" pitchFamily="34" charset="0"/>
                          <a:ea typeface="Times New Roman" panose="02020603050405020304" pitchFamily="18" charset="0"/>
                        </a:rPr>
                        <a:t>Timer</a:t>
                      </a:r>
                      <a:endParaRPr kumimoji="0" lang="en-GB" sz="2400" b="0" i="0" u="none" strike="noStrike" cap="none" normalizeH="0" baseline="0">
                        <a:ln>
                          <a:noFill/>
                        </a:ln>
                        <a:solidFill>
                          <a:srgbClr val="000000"/>
                        </a:solidFill>
                        <a:effectLst/>
                        <a:latin typeface="Arial" panose="020B0604020202020204" pitchFamily="34" charset="0"/>
                        <a:ea typeface="Times New Roman" panose="02020603050405020304" pitchFamily="18" charset="0"/>
                      </a:endParaRPr>
                    </a:p>
                  </a:txBody>
                  <a:tcPr marL="54610" marR="54610" marT="0" marB="91440"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D0D8E8"/>
                    </a:solidFill>
                  </a:tcPr>
                </a:tc>
                <a:tc>
                  <a:txBody>
                    <a:bodyPr/>
                    <a:p>
                      <a:pPr marL="0" marR="0" lvl="0" indent="0" algn="just" defTabSz="457200" rtl="0" eaLnBrk="1" fontAlgn="base" latinLnBrk="0" hangingPunct="1">
                        <a:lnSpc>
                          <a:spcPct val="100000"/>
                        </a:lnSpc>
                        <a:spcBef>
                          <a:spcPct val="0"/>
                        </a:spcBef>
                        <a:spcAft>
                          <a:spcPct val="0"/>
                        </a:spcAft>
                        <a:buClrTx/>
                        <a:buSzTx/>
                        <a:buFontTx/>
                        <a:buNone/>
                      </a:pPr>
                      <a:r>
                        <a:rPr kumimoji="0" lang="en-GB" sz="2400" b="0" i="0" u="none" strike="noStrike" cap="none" normalizeH="0" baseline="0">
                          <a:ln>
                            <a:noFill/>
                          </a:ln>
                          <a:solidFill>
                            <a:srgbClr val="000000"/>
                          </a:solidFill>
                          <a:effectLst/>
                          <a:latin typeface="Arial" panose="020B0604020202020204" pitchFamily="34" charset="0"/>
                          <a:ea typeface="Times New Roman" panose="02020603050405020304" pitchFamily="18" charset="0"/>
                        </a:rPr>
                        <a:t>The user has pressed one of the timer buttons.</a:t>
                      </a:r>
                      <a:endParaRPr kumimoji="0" lang="en-GB" sz="2400" b="0" i="0" u="none" strike="noStrike" cap="none" normalizeH="0" baseline="0">
                        <a:ln>
                          <a:noFill/>
                        </a:ln>
                        <a:solidFill>
                          <a:srgbClr val="000000"/>
                        </a:solidFill>
                        <a:effectLst/>
                        <a:latin typeface="Arial" panose="020B0604020202020204" pitchFamily="34" charset="0"/>
                        <a:ea typeface="Times New Roman" panose="02020603050405020304" pitchFamily="18" charset="0"/>
                      </a:endParaRPr>
                    </a:p>
                  </a:txBody>
                  <a:tcPr marL="54610" marR="54610" marT="0" marB="91440"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D0D8E8"/>
                    </a:solidFill>
                  </a:tcPr>
                </a:tc>
              </a:tr>
              <a:tr h="464185">
                <a:tc>
                  <a:txBody>
                    <a:bodyPr/>
                    <a:p>
                      <a:pPr marL="0" marR="0" lvl="0" indent="0" algn="just" defTabSz="457200" rtl="0" eaLnBrk="1" fontAlgn="base" latinLnBrk="0" hangingPunct="1">
                        <a:lnSpc>
                          <a:spcPct val="100000"/>
                        </a:lnSpc>
                        <a:spcBef>
                          <a:spcPct val="0"/>
                        </a:spcBef>
                        <a:spcAft>
                          <a:spcPct val="0"/>
                        </a:spcAft>
                        <a:buClrTx/>
                        <a:buSzTx/>
                        <a:buFontTx/>
                        <a:buNone/>
                      </a:pPr>
                      <a:r>
                        <a:rPr kumimoji="0" lang="en-GB" sz="2400" b="0" i="0" u="none" strike="noStrike" cap="none" normalizeH="0" baseline="0">
                          <a:ln>
                            <a:noFill/>
                          </a:ln>
                          <a:solidFill>
                            <a:srgbClr val="000000"/>
                          </a:solidFill>
                          <a:effectLst/>
                          <a:latin typeface="Arial" panose="020B0604020202020204" pitchFamily="34" charset="0"/>
                          <a:ea typeface="Times New Roman" panose="02020603050405020304" pitchFamily="18" charset="0"/>
                        </a:rPr>
                        <a:t>Number</a:t>
                      </a:r>
                      <a:endParaRPr kumimoji="0" lang="en-GB" sz="2400" b="0" i="0" u="none" strike="noStrike" cap="none" normalizeH="0" baseline="0">
                        <a:ln>
                          <a:noFill/>
                        </a:ln>
                        <a:solidFill>
                          <a:srgbClr val="000000"/>
                        </a:solidFill>
                        <a:effectLst/>
                        <a:latin typeface="Arial" panose="020B0604020202020204" pitchFamily="34" charset="0"/>
                        <a:ea typeface="Times New Roman" panose="02020603050405020304" pitchFamily="18" charset="0"/>
                      </a:endParaRPr>
                    </a:p>
                  </a:txBody>
                  <a:tcPr marL="54610" marR="54610" marT="0" marB="91440"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E9EDF4"/>
                    </a:solidFill>
                  </a:tcPr>
                </a:tc>
                <a:tc>
                  <a:txBody>
                    <a:bodyPr/>
                    <a:p>
                      <a:pPr marL="0" marR="0" lvl="0" indent="0" algn="just" defTabSz="457200" rtl="0" eaLnBrk="1" fontAlgn="base" latinLnBrk="0" hangingPunct="1">
                        <a:lnSpc>
                          <a:spcPct val="100000"/>
                        </a:lnSpc>
                        <a:spcBef>
                          <a:spcPct val="0"/>
                        </a:spcBef>
                        <a:spcAft>
                          <a:spcPct val="0"/>
                        </a:spcAft>
                        <a:buClrTx/>
                        <a:buSzTx/>
                        <a:buFontTx/>
                        <a:buNone/>
                      </a:pPr>
                      <a:r>
                        <a:rPr kumimoji="0" lang="en-GB" sz="2400" b="0" i="0" u="none" strike="noStrike" cap="none" normalizeH="0" baseline="0">
                          <a:ln>
                            <a:noFill/>
                          </a:ln>
                          <a:solidFill>
                            <a:srgbClr val="000000"/>
                          </a:solidFill>
                          <a:effectLst/>
                          <a:latin typeface="Arial" panose="020B0604020202020204" pitchFamily="34" charset="0"/>
                          <a:ea typeface="Times New Roman" panose="02020603050405020304" pitchFamily="18" charset="0"/>
                        </a:rPr>
                        <a:t>The user has pressed a numeric key.</a:t>
                      </a:r>
                      <a:endParaRPr kumimoji="0" lang="en-GB" sz="2400" b="0" i="0" u="none" strike="noStrike" cap="none" normalizeH="0" baseline="0">
                        <a:ln>
                          <a:noFill/>
                        </a:ln>
                        <a:solidFill>
                          <a:srgbClr val="000000"/>
                        </a:solidFill>
                        <a:effectLst/>
                        <a:latin typeface="Arial" panose="020B0604020202020204" pitchFamily="34" charset="0"/>
                        <a:ea typeface="Times New Roman" panose="02020603050405020304" pitchFamily="18" charset="0"/>
                      </a:endParaRPr>
                    </a:p>
                  </a:txBody>
                  <a:tcPr marL="54610" marR="54610" marT="0" marB="91440"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E9EDF4"/>
                    </a:solidFill>
                  </a:tcPr>
                </a:tc>
              </a:tr>
              <a:tr h="464185">
                <a:tc>
                  <a:txBody>
                    <a:bodyPr/>
                    <a:p>
                      <a:pPr marL="0" marR="0" lvl="0" indent="0" algn="just" defTabSz="457200" rtl="0" eaLnBrk="1" fontAlgn="base" latinLnBrk="0" hangingPunct="1">
                        <a:lnSpc>
                          <a:spcPct val="100000"/>
                        </a:lnSpc>
                        <a:spcBef>
                          <a:spcPct val="0"/>
                        </a:spcBef>
                        <a:spcAft>
                          <a:spcPct val="0"/>
                        </a:spcAft>
                        <a:buClrTx/>
                        <a:buSzTx/>
                        <a:buFontTx/>
                        <a:buNone/>
                      </a:pPr>
                      <a:r>
                        <a:rPr kumimoji="0" lang="en-GB" sz="2400" b="0" i="0" u="none" strike="noStrike" cap="none" normalizeH="0" baseline="0">
                          <a:ln>
                            <a:noFill/>
                          </a:ln>
                          <a:solidFill>
                            <a:srgbClr val="000000"/>
                          </a:solidFill>
                          <a:effectLst/>
                          <a:latin typeface="Arial" panose="020B0604020202020204" pitchFamily="34" charset="0"/>
                          <a:ea typeface="Times New Roman" panose="02020603050405020304" pitchFamily="18" charset="0"/>
                        </a:rPr>
                        <a:t>Door open</a:t>
                      </a:r>
                      <a:endParaRPr kumimoji="0" lang="en-GB" sz="2400" b="0" i="0" u="none" strike="noStrike" cap="none" normalizeH="0" baseline="0">
                        <a:ln>
                          <a:noFill/>
                        </a:ln>
                        <a:solidFill>
                          <a:srgbClr val="000000"/>
                        </a:solidFill>
                        <a:effectLst/>
                        <a:latin typeface="Arial" panose="020B0604020202020204" pitchFamily="34" charset="0"/>
                        <a:ea typeface="Times New Roman" panose="02020603050405020304" pitchFamily="18" charset="0"/>
                      </a:endParaRPr>
                    </a:p>
                  </a:txBody>
                  <a:tcPr marL="54610" marR="54610" marT="0" marB="91440"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D0D8E8"/>
                    </a:solidFill>
                  </a:tcPr>
                </a:tc>
                <a:tc>
                  <a:txBody>
                    <a:bodyPr/>
                    <a:p>
                      <a:pPr marL="0" marR="0" lvl="0" indent="0" algn="just" defTabSz="457200" rtl="0" eaLnBrk="1" fontAlgn="base" latinLnBrk="0" hangingPunct="1">
                        <a:lnSpc>
                          <a:spcPct val="100000"/>
                        </a:lnSpc>
                        <a:spcBef>
                          <a:spcPct val="0"/>
                        </a:spcBef>
                        <a:spcAft>
                          <a:spcPct val="0"/>
                        </a:spcAft>
                        <a:buClrTx/>
                        <a:buSzTx/>
                        <a:buFontTx/>
                        <a:buNone/>
                      </a:pPr>
                      <a:r>
                        <a:rPr kumimoji="0" lang="en-GB" sz="2400" b="0" i="0" u="none" strike="noStrike" cap="none" normalizeH="0" baseline="0">
                          <a:ln>
                            <a:noFill/>
                          </a:ln>
                          <a:solidFill>
                            <a:srgbClr val="000000"/>
                          </a:solidFill>
                          <a:effectLst/>
                          <a:latin typeface="Arial" panose="020B0604020202020204" pitchFamily="34" charset="0"/>
                          <a:ea typeface="Times New Roman" panose="02020603050405020304" pitchFamily="18" charset="0"/>
                        </a:rPr>
                        <a:t>The oven door switch is not closed.</a:t>
                      </a:r>
                      <a:endParaRPr kumimoji="0" lang="en-GB" sz="2400" b="0" i="0" u="none" strike="noStrike" cap="none" normalizeH="0" baseline="0">
                        <a:ln>
                          <a:noFill/>
                        </a:ln>
                        <a:solidFill>
                          <a:srgbClr val="000000"/>
                        </a:solidFill>
                        <a:effectLst/>
                        <a:latin typeface="Arial" panose="020B0604020202020204" pitchFamily="34" charset="0"/>
                        <a:ea typeface="Times New Roman" panose="02020603050405020304" pitchFamily="18" charset="0"/>
                      </a:endParaRPr>
                    </a:p>
                  </a:txBody>
                  <a:tcPr marL="54610" marR="54610" marT="0" marB="91440"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D0D8E8"/>
                    </a:solidFill>
                  </a:tcPr>
                </a:tc>
              </a:tr>
              <a:tr h="464820">
                <a:tc>
                  <a:txBody>
                    <a:bodyPr/>
                    <a:p>
                      <a:pPr marL="0" marR="0" lvl="0" indent="0" algn="just" defTabSz="457200" rtl="0" eaLnBrk="1" fontAlgn="base" latinLnBrk="0" hangingPunct="1">
                        <a:lnSpc>
                          <a:spcPct val="100000"/>
                        </a:lnSpc>
                        <a:spcBef>
                          <a:spcPct val="0"/>
                        </a:spcBef>
                        <a:spcAft>
                          <a:spcPct val="0"/>
                        </a:spcAft>
                        <a:buClrTx/>
                        <a:buSzTx/>
                        <a:buFontTx/>
                        <a:buNone/>
                      </a:pPr>
                      <a:r>
                        <a:rPr kumimoji="0" lang="en-GB" sz="2400" b="0" i="0" u="none" strike="noStrike" cap="none" normalizeH="0" baseline="0">
                          <a:ln>
                            <a:noFill/>
                          </a:ln>
                          <a:solidFill>
                            <a:srgbClr val="000000"/>
                          </a:solidFill>
                          <a:effectLst/>
                          <a:latin typeface="Arial" panose="020B0604020202020204" pitchFamily="34" charset="0"/>
                          <a:ea typeface="Times New Roman" panose="02020603050405020304" pitchFamily="18" charset="0"/>
                        </a:rPr>
                        <a:t>Door closed</a:t>
                      </a:r>
                      <a:endParaRPr kumimoji="0" lang="en-GB" sz="2400" b="0" i="0" u="none" strike="noStrike" cap="none" normalizeH="0" baseline="0">
                        <a:ln>
                          <a:noFill/>
                        </a:ln>
                        <a:solidFill>
                          <a:srgbClr val="000000"/>
                        </a:solidFill>
                        <a:effectLst/>
                        <a:latin typeface="Arial" panose="020B0604020202020204" pitchFamily="34" charset="0"/>
                        <a:ea typeface="Times New Roman" panose="02020603050405020304" pitchFamily="18" charset="0"/>
                      </a:endParaRPr>
                    </a:p>
                  </a:txBody>
                  <a:tcPr marL="54610" marR="54610" marT="0" marB="91440"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E9EDF4"/>
                    </a:solidFill>
                  </a:tcPr>
                </a:tc>
                <a:tc>
                  <a:txBody>
                    <a:bodyPr/>
                    <a:p>
                      <a:pPr marL="0" marR="0" lvl="0" indent="0" algn="just" defTabSz="457200" rtl="0" eaLnBrk="1" fontAlgn="base" latinLnBrk="0" hangingPunct="1">
                        <a:lnSpc>
                          <a:spcPct val="100000"/>
                        </a:lnSpc>
                        <a:spcBef>
                          <a:spcPct val="0"/>
                        </a:spcBef>
                        <a:spcAft>
                          <a:spcPct val="0"/>
                        </a:spcAft>
                        <a:buClrTx/>
                        <a:buSzTx/>
                        <a:buFontTx/>
                        <a:buNone/>
                      </a:pPr>
                      <a:r>
                        <a:rPr kumimoji="0" lang="en-GB" sz="2400" b="0" i="0" u="none" strike="noStrike" cap="none" normalizeH="0" baseline="0">
                          <a:ln>
                            <a:noFill/>
                          </a:ln>
                          <a:solidFill>
                            <a:srgbClr val="000000"/>
                          </a:solidFill>
                          <a:effectLst/>
                          <a:latin typeface="Arial" panose="020B0604020202020204" pitchFamily="34" charset="0"/>
                          <a:ea typeface="Times New Roman" panose="02020603050405020304" pitchFamily="18" charset="0"/>
                        </a:rPr>
                        <a:t>The oven door switch is closed.</a:t>
                      </a:r>
                      <a:endParaRPr kumimoji="0" lang="en-GB" sz="2400" b="0" i="0" u="none" strike="noStrike" cap="none" normalizeH="0" baseline="0">
                        <a:ln>
                          <a:noFill/>
                        </a:ln>
                        <a:solidFill>
                          <a:srgbClr val="000000"/>
                        </a:solidFill>
                        <a:effectLst/>
                        <a:latin typeface="Arial" panose="020B0604020202020204" pitchFamily="34" charset="0"/>
                        <a:ea typeface="Times New Roman" panose="02020603050405020304" pitchFamily="18" charset="0"/>
                      </a:endParaRPr>
                    </a:p>
                  </a:txBody>
                  <a:tcPr marL="54610" marR="54610" marT="0" marB="91440"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E9EDF4"/>
                    </a:solidFill>
                  </a:tcPr>
                </a:tc>
              </a:tr>
              <a:tr h="463550">
                <a:tc>
                  <a:txBody>
                    <a:bodyPr/>
                    <a:p>
                      <a:pPr marL="0" marR="0" lvl="0" indent="0" algn="just" defTabSz="457200" rtl="0" eaLnBrk="1" fontAlgn="base" latinLnBrk="0" hangingPunct="1">
                        <a:lnSpc>
                          <a:spcPct val="100000"/>
                        </a:lnSpc>
                        <a:spcBef>
                          <a:spcPct val="0"/>
                        </a:spcBef>
                        <a:spcAft>
                          <a:spcPct val="0"/>
                        </a:spcAft>
                        <a:buClrTx/>
                        <a:buSzTx/>
                        <a:buFontTx/>
                        <a:buNone/>
                      </a:pPr>
                      <a:r>
                        <a:rPr kumimoji="0" lang="en-GB" sz="2400" b="0" i="0" u="none" strike="noStrike" cap="none" normalizeH="0" baseline="0">
                          <a:ln>
                            <a:noFill/>
                          </a:ln>
                          <a:solidFill>
                            <a:srgbClr val="000000"/>
                          </a:solidFill>
                          <a:effectLst/>
                          <a:latin typeface="Arial" panose="020B0604020202020204" pitchFamily="34" charset="0"/>
                          <a:ea typeface="Times New Roman" panose="02020603050405020304" pitchFamily="18" charset="0"/>
                        </a:rPr>
                        <a:t>Start</a:t>
                      </a:r>
                      <a:endParaRPr kumimoji="0" lang="en-GB" sz="2400" b="0" i="0" u="none" strike="noStrike" cap="none" normalizeH="0" baseline="0">
                        <a:ln>
                          <a:noFill/>
                        </a:ln>
                        <a:solidFill>
                          <a:srgbClr val="000000"/>
                        </a:solidFill>
                        <a:effectLst/>
                        <a:latin typeface="Arial" panose="020B0604020202020204" pitchFamily="34" charset="0"/>
                        <a:ea typeface="Times New Roman" panose="02020603050405020304" pitchFamily="18" charset="0"/>
                      </a:endParaRPr>
                    </a:p>
                  </a:txBody>
                  <a:tcPr marL="54610" marR="54610" marT="0" marB="91440"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D0D8E8"/>
                    </a:solidFill>
                  </a:tcPr>
                </a:tc>
                <a:tc>
                  <a:txBody>
                    <a:bodyPr/>
                    <a:p>
                      <a:pPr marL="0" marR="0" lvl="0" indent="0" algn="just" defTabSz="457200" rtl="0" eaLnBrk="1" fontAlgn="base" latinLnBrk="0" hangingPunct="1">
                        <a:lnSpc>
                          <a:spcPct val="100000"/>
                        </a:lnSpc>
                        <a:spcBef>
                          <a:spcPct val="0"/>
                        </a:spcBef>
                        <a:spcAft>
                          <a:spcPct val="0"/>
                        </a:spcAft>
                        <a:buClrTx/>
                        <a:buSzTx/>
                        <a:buFontTx/>
                        <a:buNone/>
                      </a:pPr>
                      <a:r>
                        <a:rPr kumimoji="0" lang="en-GB" sz="2400" b="0" i="0" u="none" strike="noStrike" cap="none" normalizeH="0" baseline="0">
                          <a:ln>
                            <a:noFill/>
                          </a:ln>
                          <a:solidFill>
                            <a:srgbClr val="000000"/>
                          </a:solidFill>
                          <a:effectLst/>
                          <a:latin typeface="Arial" panose="020B0604020202020204" pitchFamily="34" charset="0"/>
                          <a:ea typeface="Times New Roman" panose="02020603050405020304" pitchFamily="18" charset="0"/>
                        </a:rPr>
                        <a:t>The user has pressed the Start button.</a:t>
                      </a:r>
                      <a:endParaRPr kumimoji="0" lang="en-GB" sz="2400" b="0" i="0" u="none" strike="noStrike" cap="none" normalizeH="0" baseline="0">
                        <a:ln>
                          <a:noFill/>
                        </a:ln>
                        <a:solidFill>
                          <a:srgbClr val="000000"/>
                        </a:solidFill>
                        <a:effectLst/>
                        <a:latin typeface="Arial" panose="020B0604020202020204" pitchFamily="34" charset="0"/>
                        <a:ea typeface="Times New Roman" panose="02020603050405020304" pitchFamily="18" charset="0"/>
                      </a:endParaRPr>
                    </a:p>
                  </a:txBody>
                  <a:tcPr marL="54610" marR="54610" marT="0" marB="91440"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D0D8E8"/>
                    </a:solidFill>
                  </a:tcPr>
                </a:tc>
              </a:tr>
              <a:tr h="464820">
                <a:tc>
                  <a:txBody>
                    <a:bodyPr/>
                    <a:p>
                      <a:pPr marL="0" marR="0" lvl="0" indent="0" algn="just" defTabSz="457200" rtl="0" eaLnBrk="1" fontAlgn="base" latinLnBrk="0" hangingPunct="1">
                        <a:lnSpc>
                          <a:spcPct val="100000"/>
                        </a:lnSpc>
                        <a:spcBef>
                          <a:spcPct val="0"/>
                        </a:spcBef>
                        <a:spcAft>
                          <a:spcPct val="0"/>
                        </a:spcAft>
                        <a:buClrTx/>
                        <a:buSzTx/>
                        <a:buFontTx/>
                        <a:buNone/>
                      </a:pPr>
                      <a:r>
                        <a:rPr kumimoji="0" lang="en-GB" sz="2400" b="0" i="0" u="none" strike="noStrike" cap="none" normalizeH="0" baseline="0">
                          <a:ln>
                            <a:noFill/>
                          </a:ln>
                          <a:solidFill>
                            <a:srgbClr val="000000"/>
                          </a:solidFill>
                          <a:effectLst/>
                          <a:latin typeface="Arial" panose="020B0604020202020204" pitchFamily="34" charset="0"/>
                          <a:ea typeface="Times New Roman" panose="02020603050405020304" pitchFamily="18" charset="0"/>
                        </a:rPr>
                        <a:t>Cancel</a:t>
                      </a:r>
                      <a:endParaRPr kumimoji="0" lang="en-GB" sz="2400" b="0" i="0" u="none" strike="noStrike" cap="none" normalizeH="0" baseline="0">
                        <a:ln>
                          <a:noFill/>
                        </a:ln>
                        <a:solidFill>
                          <a:srgbClr val="000000"/>
                        </a:solidFill>
                        <a:effectLst/>
                        <a:latin typeface="Arial" panose="020B0604020202020204" pitchFamily="34" charset="0"/>
                        <a:ea typeface="Times New Roman" panose="02020603050405020304" pitchFamily="18" charset="0"/>
                      </a:endParaRPr>
                    </a:p>
                  </a:txBody>
                  <a:tcPr marL="54610" marR="54610" marT="0" marB="91440"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E9EDF4"/>
                    </a:solidFill>
                  </a:tcPr>
                </a:tc>
                <a:tc>
                  <a:txBody>
                    <a:bodyPr/>
                    <a:p>
                      <a:pPr marL="0" marR="0" lvl="0" indent="0" algn="just" defTabSz="457200" rtl="0" eaLnBrk="1" fontAlgn="base" latinLnBrk="0" hangingPunct="1">
                        <a:lnSpc>
                          <a:spcPct val="100000"/>
                        </a:lnSpc>
                        <a:spcBef>
                          <a:spcPct val="0"/>
                        </a:spcBef>
                        <a:spcAft>
                          <a:spcPct val="0"/>
                        </a:spcAft>
                        <a:buClrTx/>
                        <a:buSzTx/>
                        <a:buFontTx/>
                        <a:buNone/>
                      </a:pPr>
                      <a:r>
                        <a:rPr kumimoji="0" lang="en-GB" sz="24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rPr>
                        <a:t>The user has pressed the Cancel button</a:t>
                      </a:r>
                      <a:r>
                        <a:rPr kumimoji="0" lang="en-GB" sz="2400" b="0" i="0" u="none" strike="noStrike" cap="none" normalizeH="0" baseline="0" dirty="0" smtClean="0">
                          <a:ln>
                            <a:noFill/>
                          </a:ln>
                          <a:solidFill>
                            <a:srgbClr val="000000"/>
                          </a:solidFill>
                          <a:effectLst/>
                          <a:latin typeface="Arial" panose="020B0604020202020204" pitchFamily="34" charset="0"/>
                          <a:ea typeface="Times New Roman" panose="02020603050405020304" pitchFamily="18" charset="0"/>
                        </a:rPr>
                        <a:t>. </a:t>
                      </a:r>
                      <a:endParaRPr kumimoji="0" lang="en-GB" sz="24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endParaRPr>
                    </a:p>
                  </a:txBody>
                  <a:tcPr marL="54610" marR="54610" marT="0" marB="91440"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E9EDF4"/>
                    </a:solidFill>
                  </a:tcPr>
                </a:tc>
              </a:tr>
            </a:tbl>
          </a:graphicData>
        </a:graphic>
      </p:graphicFrame>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75970"/>
            <a:ext cx="8977630" cy="56642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zh-CN" altLang="en-US" sz="3100" dirty="0">
                <a:solidFill>
                  <a:schemeClr val="accent1">
                    <a:lumMod val="75000"/>
                  </a:schemeClr>
                </a:solidFill>
                <a:ea typeface="宋体" panose="02010600030101010101" pitchFamily="2" charset="-122"/>
                <a:sym typeface="+mn-ea"/>
              </a:rPr>
              <a:t> Model-driven </a:t>
            </a:r>
            <a:r>
              <a:rPr lang="en-US" altLang="zh-CN" sz="3100" dirty="0">
                <a:solidFill>
                  <a:schemeClr val="accent1">
                    <a:lumMod val="75000"/>
                  </a:schemeClr>
                </a:solidFill>
                <a:ea typeface="宋体" panose="02010600030101010101" pitchFamily="2" charset="-122"/>
                <a:sym typeface="+mn-ea"/>
              </a:rPr>
              <a:t>engineering   </a:t>
            </a:r>
            <a:r>
              <a:rPr lang="zh-CN" altLang="en-US" sz="2400" dirty="0">
                <a:solidFill>
                  <a:schemeClr val="accent1">
                    <a:lumMod val="75000"/>
                  </a:schemeClr>
                </a:solidFill>
                <a:latin typeface="黑体" panose="02010609060101010101" pitchFamily="49" charset="-122"/>
                <a:ea typeface="黑体" panose="02010609060101010101" pitchFamily="49" charset="-122"/>
                <a:sym typeface="+mn-ea"/>
              </a:rPr>
              <a:t>模型驱动的工程</a:t>
            </a:r>
            <a:endParaRPr lang="zh-CN" altLang="en-US" sz="3100" dirty="0">
              <a:solidFill>
                <a:schemeClr val="accent1">
                  <a:lumMod val="75000"/>
                </a:schemeClr>
              </a:solidFill>
              <a:ea typeface="宋体" panose="02010600030101010101" pitchFamily="2" charset="-122"/>
              <a:sym typeface="+mn-ea"/>
            </a:endParaRPr>
          </a:p>
        </p:txBody>
      </p:sp>
      <p:sp>
        <p:nvSpPr>
          <p:cNvPr id="4" name="Rectangle 2"/>
          <p:cNvSpPr>
            <a:spLocks noGrp="1"/>
          </p:cNvSpPr>
          <p:nvPr>
            <p:ph type="title"/>
            <p:custDataLst>
              <p:tags r:id="rId2"/>
            </p:custDataLst>
          </p:nvPr>
        </p:nvSpPr>
        <p:spPr>
          <a:xfrm>
            <a:off x="617538" y="198755"/>
            <a:ext cx="455295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5  System modeling</a:t>
            </a:r>
            <a:endParaRPr lang="en-US" altLang="zh-CN" sz="2800" dirty="0">
              <a:solidFill>
                <a:srgbClr val="660066"/>
              </a:solidFill>
              <a:ea typeface="黑体" panose="02010609060101010101" pitchFamily="49" charset="-122"/>
              <a:cs typeface="+mj-lt"/>
            </a:endParaRPr>
          </a:p>
        </p:txBody>
      </p:sp>
      <p:sp>
        <p:nvSpPr>
          <p:cNvPr id="5" name="Content Placeholder 4"/>
          <p:cNvSpPr>
            <a:spLocks noGrp="1"/>
          </p:cNvSpPr>
          <p:nvPr/>
        </p:nvSpPr>
        <p:spPr>
          <a:xfrm>
            <a:off x="38100" y="1313180"/>
            <a:ext cx="9037955" cy="5200015"/>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82000"/>
              </a:lnSpc>
              <a:spcAft>
                <a:spcPts val="0"/>
              </a:spcAft>
            </a:pPr>
            <a:r>
              <a:rPr lang="en-US" sz="3100" dirty="0" smtClean="0">
                <a:solidFill>
                  <a:schemeClr val="accent2">
                    <a:lumMod val="75000"/>
                  </a:schemeClr>
                </a:solidFill>
                <a:latin typeface="Calibri" panose="020F0502020204030204" charset="0"/>
                <a:cs typeface="Calibri" panose="020F0502020204030204" charset="0"/>
              </a:rPr>
              <a:t> Model-driven engineering (MDE) is an approach to software development whereby </a:t>
            </a:r>
            <a:r>
              <a:rPr lang="en-US" sz="3100" u="sng" dirty="0" smtClean="0">
                <a:solidFill>
                  <a:schemeClr val="accent2">
                    <a:lumMod val="75000"/>
                  </a:schemeClr>
                </a:solidFill>
                <a:latin typeface="Calibri" panose="020F0502020204030204" charset="0"/>
                <a:cs typeface="Calibri" panose="020F0502020204030204" charset="0"/>
              </a:rPr>
              <a:t>models</a:t>
            </a:r>
            <a:r>
              <a:rPr lang="en-US" sz="3100" dirty="0" smtClean="0">
                <a:solidFill>
                  <a:schemeClr val="accent2">
                    <a:lumMod val="75000"/>
                  </a:schemeClr>
                </a:solidFill>
                <a:latin typeface="Calibri" panose="020F0502020204030204" charset="0"/>
                <a:cs typeface="Calibri" panose="020F0502020204030204" charset="0"/>
              </a:rPr>
              <a:t> rather than programs are the principal outputs of the development process.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开发过程的输出是模型而不是程序</a:t>
            </a:r>
            <a:endPar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endParaRPr>
          </a:p>
          <a:p>
            <a:pPr>
              <a:lnSpc>
                <a:spcPct val="82000"/>
              </a:lnSpc>
              <a:spcAft>
                <a:spcPts val="0"/>
              </a:spcAft>
            </a:pPr>
            <a:r>
              <a:rPr lang="en-US" sz="3100" dirty="0" smtClean="0">
                <a:solidFill>
                  <a:schemeClr val="accent2">
                    <a:lumMod val="75000"/>
                  </a:schemeClr>
                </a:solidFill>
                <a:latin typeface="Calibri" panose="020F0502020204030204" charset="0"/>
                <a:cs typeface="Calibri" panose="020F0502020204030204" charset="0"/>
              </a:rPr>
              <a:t> The programs that execute on a hardware/ software platform are generated automatically from the models.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从模型自动生成程序</a:t>
            </a:r>
            <a:endPar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endParaRPr>
          </a:p>
          <a:p>
            <a:pPr>
              <a:lnSpc>
                <a:spcPct val="82000"/>
              </a:lnSpc>
              <a:spcAft>
                <a:spcPts val="0"/>
              </a:spcAft>
            </a:pPr>
            <a:r>
              <a:rPr lang="en-US" sz="3100" dirty="0" smtClean="0">
                <a:solidFill>
                  <a:schemeClr val="accent2">
                    <a:lumMod val="75000"/>
                  </a:schemeClr>
                </a:solidFill>
                <a:latin typeface="Calibri" panose="020F0502020204030204" charset="0"/>
                <a:cs typeface="Calibri" panose="020F0502020204030204" charset="0"/>
              </a:rPr>
              <a:t> Proponents of MDE argue that this raises the level of abstraction in software engineering so that engineers no longer have to be concerned with programming language details or the specifics of execution platforms.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拥护者的观点：提升了抽象级别，工程师不必关心编程语言的细节或运行平台的具体情况。</a:t>
            </a:r>
            <a:endParaRPr lang="en-GB" sz="3200" dirty="0" smtClean="0">
              <a:solidFill>
                <a:schemeClr val="accent2">
                  <a:lumMod val="75000"/>
                </a:schemeClr>
              </a:solidFill>
              <a:latin typeface="Calibri" panose="020F0502020204030204" charset="0"/>
              <a:cs typeface="Calibri" panose="020F0502020204030204" charset="0"/>
            </a:endParaRPr>
          </a:p>
        </p:txBody>
      </p:sp>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nvSpPr>
        <p:spPr>
          <a:xfrm>
            <a:off x="67310" y="1313180"/>
            <a:ext cx="8999220" cy="5210175"/>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85000"/>
              </a:lnSpc>
              <a:spcBef>
                <a:spcPts val="600"/>
              </a:spcBef>
              <a:spcAft>
                <a:spcPts val="0"/>
              </a:spcAft>
            </a:pPr>
            <a:r>
              <a:rPr lang="en-US" sz="3200" dirty="0" smtClean="0">
                <a:solidFill>
                  <a:schemeClr val="accent2">
                    <a:lumMod val="75000"/>
                  </a:schemeClr>
                </a:solidFill>
                <a:latin typeface="Calibri" panose="020F0502020204030204" charset="0"/>
                <a:cs typeface="Calibri" panose="020F0502020204030204" charset="0"/>
              </a:rPr>
              <a:t> MDE was developed from the idea of model-driven architecture (MDA).</a:t>
            </a:r>
            <a:r>
              <a:rPr lang="en-US" sz="2800" dirty="0" smtClean="0">
                <a:solidFill>
                  <a:schemeClr val="accent2">
                    <a:lumMod val="75000"/>
                  </a:schemeClr>
                </a:solidFill>
                <a:latin typeface="Calibri" panose="020F0502020204030204" charset="0"/>
                <a:cs typeface="Calibri" panose="020F0502020204030204" charset="0"/>
              </a:rPr>
              <a:t>  </a:t>
            </a:r>
            <a:r>
              <a:rPr lang="zh-CN" altLang="en-US" kern="0" dirty="0">
                <a:solidFill>
                  <a:schemeClr val="accent1">
                    <a:lumMod val="75000"/>
                  </a:schemeClr>
                </a:solidFill>
                <a:latin typeface="黑体" panose="02010609060101010101" pitchFamily="49" charset="-122"/>
                <a:ea typeface="黑体" panose="02010609060101010101" pitchFamily="49" charset="-122"/>
                <a:cs typeface="+mn-cs"/>
              </a:rPr>
              <a:t>MDE的思想来源于MDA</a:t>
            </a:r>
            <a:endParaRPr lang="zh-CN" altLang="en-US" sz="2800" kern="0" dirty="0">
              <a:solidFill>
                <a:schemeClr val="accent1">
                  <a:lumMod val="75000"/>
                </a:schemeClr>
              </a:solidFill>
              <a:latin typeface="黑体" panose="02010609060101010101" pitchFamily="49" charset="-122"/>
              <a:ea typeface="黑体" panose="02010609060101010101" pitchFamily="49" charset="-122"/>
              <a:cs typeface="+mn-cs"/>
            </a:endParaRPr>
          </a:p>
          <a:p>
            <a:pPr lvl="1" algn="l">
              <a:lnSpc>
                <a:spcPct val="85000"/>
              </a:lnSpc>
              <a:spcBef>
                <a:spcPts val="600"/>
              </a:spcBef>
              <a:spcAft>
                <a:spcPts val="0"/>
              </a:spcAft>
            </a:pPr>
            <a:r>
              <a:rPr lang="en-US" sz="2700" b="0" dirty="0" smtClean="0">
                <a:solidFill>
                  <a:schemeClr val="tx1"/>
                </a:solidFill>
                <a:latin typeface="Calibri" panose="020F0502020204030204" charset="0"/>
                <a:cs typeface="Calibri" panose="020F0502020204030204" charset="0"/>
                <a:sym typeface="+mn-ea"/>
              </a:rPr>
              <a:t>MDA focuses on the design and implementation stages of software development, whereas MDE is concerned with all aspects of the software engineering process. Therefore, topics such as model-based requirements engineering, software processes for model-based development, and model-based testing are part of MDE but are not considered in MDA. </a:t>
            </a:r>
            <a:r>
              <a:rPr lang="en-US" sz="2400" b="0" dirty="0" smtClean="0">
                <a:solidFill>
                  <a:schemeClr val="tx1"/>
                </a:solidFill>
                <a:latin typeface="Calibri" panose="020F0502020204030204" charset="0"/>
                <a:cs typeface="Calibri" panose="020F0502020204030204" charset="0"/>
                <a:sym typeface="+mn-ea"/>
              </a:rPr>
              <a:t>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sym typeface="+mn-ea"/>
              </a:rPr>
              <a:t>两者的区别：</a:t>
            </a:r>
            <a:r>
              <a:rPr lang="en-US" altLang="zh-CN" sz="2400" kern="0" dirty="0">
                <a:solidFill>
                  <a:schemeClr val="accent1">
                    <a:lumMod val="75000"/>
                  </a:schemeClr>
                </a:solidFill>
                <a:latin typeface="黑体" panose="02010609060101010101" pitchFamily="49" charset="-122"/>
                <a:ea typeface="黑体" panose="02010609060101010101" pitchFamily="49" charset="-122"/>
                <a:cs typeface="+mn-cs"/>
                <a:sym typeface="+mn-ea"/>
              </a:rPr>
              <a:t>MDA</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sym typeface="+mn-ea"/>
              </a:rPr>
              <a:t>关注软件开发的设计和实现阶段；而</a:t>
            </a:r>
            <a:r>
              <a:rPr lang="en-US" altLang="zh-CN" sz="2400" kern="0" dirty="0">
                <a:solidFill>
                  <a:schemeClr val="accent1">
                    <a:lumMod val="75000"/>
                  </a:schemeClr>
                </a:solidFill>
                <a:latin typeface="黑体" panose="02010609060101010101" pitchFamily="49" charset="-122"/>
                <a:ea typeface="黑体" panose="02010609060101010101" pitchFamily="49" charset="-122"/>
                <a:cs typeface="+mn-cs"/>
                <a:sym typeface="+mn-ea"/>
              </a:rPr>
              <a:t>MDE</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sym typeface="+mn-ea"/>
              </a:rPr>
              <a:t>关注软件工程过程的所有方面</a:t>
            </a:r>
            <a:endParaRPr lang="en-US" sz="2400" b="0" dirty="0" smtClean="0">
              <a:solidFill>
                <a:schemeClr val="tx1"/>
              </a:solidFill>
              <a:latin typeface="Calibri" panose="020F0502020204030204" charset="0"/>
              <a:cs typeface="Calibri" panose="020F0502020204030204" charset="0"/>
              <a:sym typeface="+mn-ea"/>
            </a:endParaRPr>
          </a:p>
          <a:p>
            <a:pPr lvl="1" algn="l">
              <a:lnSpc>
                <a:spcPct val="85000"/>
              </a:lnSpc>
              <a:spcBef>
                <a:spcPts val="600"/>
              </a:spcBef>
              <a:spcAft>
                <a:spcPts val="0"/>
              </a:spcAft>
            </a:pPr>
            <a:r>
              <a:rPr lang="en-US" sz="2700" b="0" dirty="0" smtClean="0">
                <a:solidFill>
                  <a:schemeClr val="tx1"/>
                </a:solidFill>
                <a:latin typeface="Calibri" panose="020F0502020204030204" charset="0"/>
                <a:cs typeface="Calibri" panose="020F0502020204030204" charset="0"/>
                <a:sym typeface="+mn-ea"/>
              </a:rPr>
              <a:t>MDA has been adopted by a number of large companies to support their development processes. The take-up of more general MDE has been slow.</a:t>
            </a:r>
            <a:r>
              <a:rPr lang="en-US" sz="2400" b="0" dirty="0" smtClean="0">
                <a:solidFill>
                  <a:schemeClr val="tx1"/>
                </a:solidFill>
                <a:latin typeface="Calibri" panose="020F0502020204030204" charset="0"/>
                <a:cs typeface="Calibri" panose="020F0502020204030204" charset="0"/>
                <a:sym typeface="+mn-ea"/>
              </a:rPr>
              <a:t>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sym typeface="+mn-ea"/>
              </a:rPr>
              <a:t>MDA被一些大公司采用，但</a:t>
            </a:r>
            <a:r>
              <a:rPr lang="en-US" altLang="zh-CN" sz="2400" kern="0" dirty="0">
                <a:solidFill>
                  <a:schemeClr val="accent1">
                    <a:lumMod val="75000"/>
                  </a:schemeClr>
                </a:solidFill>
                <a:latin typeface="黑体" panose="02010609060101010101" pitchFamily="49" charset="-122"/>
                <a:ea typeface="黑体" panose="02010609060101010101" pitchFamily="49" charset="-122"/>
                <a:cs typeface="+mn-cs"/>
                <a:sym typeface="+mn-ea"/>
              </a:rPr>
              <a:t>MDE</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sym typeface="+mn-ea"/>
              </a:rPr>
              <a:t>接受度低</a:t>
            </a:r>
            <a:endPar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sym typeface="+mn-ea"/>
            </a:endParaRPr>
          </a:p>
        </p:txBody>
      </p:sp>
      <p:sp>
        <p:nvSpPr>
          <p:cNvPr id="15363" name="Rectangle 3"/>
          <p:cNvSpPr>
            <a:spLocks noGrp="1" noRot="1"/>
          </p:cNvSpPr>
          <p:nvPr>
            <p:ph type="subTitle" idx="1"/>
            <p:custDataLst>
              <p:tags r:id="rId1"/>
            </p:custDataLst>
          </p:nvPr>
        </p:nvSpPr>
        <p:spPr>
          <a:xfrm>
            <a:off x="88900" y="775970"/>
            <a:ext cx="8977630" cy="56642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100" dirty="0">
                <a:solidFill>
                  <a:srgbClr val="0070C0"/>
                </a:solidFill>
                <a:ea typeface="宋体" panose="02010600030101010101" pitchFamily="2" charset="-122"/>
                <a:sym typeface="+mn-ea"/>
              </a:rPr>
              <a:t> </a:t>
            </a:r>
            <a:r>
              <a:rPr lang="zh-CN" altLang="en-US" sz="3100" dirty="0">
                <a:solidFill>
                  <a:schemeClr val="accent1">
                    <a:lumMod val="75000"/>
                  </a:schemeClr>
                </a:solidFill>
                <a:ea typeface="宋体" panose="02010600030101010101" pitchFamily="2" charset="-122"/>
                <a:sym typeface="+mn-ea"/>
              </a:rPr>
              <a:t>Usage of model-driven engineering</a:t>
            </a:r>
            <a:r>
              <a:rPr lang="en-US" altLang="zh-CN" sz="3100" dirty="0">
                <a:solidFill>
                  <a:schemeClr val="accent1">
                    <a:lumMod val="75000"/>
                  </a:schemeClr>
                </a:solidFill>
                <a:ea typeface="宋体" panose="02010600030101010101" pitchFamily="2" charset="-122"/>
                <a:sym typeface="+mn-ea"/>
              </a:rPr>
              <a:t>  </a:t>
            </a:r>
            <a:r>
              <a:rPr lang="zh-CN" altLang="en-US" sz="2400" dirty="0">
                <a:solidFill>
                  <a:schemeClr val="accent1">
                    <a:lumMod val="75000"/>
                  </a:schemeClr>
                </a:solidFill>
                <a:latin typeface="黑体" panose="02010609060101010101" pitchFamily="49" charset="-122"/>
                <a:ea typeface="黑体" panose="02010609060101010101" pitchFamily="49" charset="-122"/>
                <a:sym typeface="+mn-ea"/>
              </a:rPr>
              <a:t>使用情况</a:t>
            </a:r>
            <a:endParaRPr lang="zh-CN" altLang="en-US" sz="3100" dirty="0">
              <a:solidFill>
                <a:schemeClr val="accent1">
                  <a:lumMod val="75000"/>
                </a:schemeClr>
              </a:solidFill>
              <a:ea typeface="宋体" panose="02010600030101010101" pitchFamily="2" charset="-122"/>
              <a:sym typeface="+mn-ea"/>
            </a:endParaRPr>
          </a:p>
        </p:txBody>
      </p:sp>
      <p:sp>
        <p:nvSpPr>
          <p:cNvPr id="4" name="Rectangle 2"/>
          <p:cNvSpPr>
            <a:spLocks noGrp="1"/>
          </p:cNvSpPr>
          <p:nvPr>
            <p:ph type="title"/>
            <p:custDataLst>
              <p:tags r:id="rId2"/>
            </p:custDataLst>
          </p:nvPr>
        </p:nvSpPr>
        <p:spPr>
          <a:xfrm>
            <a:off x="617538" y="198755"/>
            <a:ext cx="455295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5  System modeling</a:t>
            </a:r>
            <a:endParaRPr lang="en-US" altLang="zh-CN" sz="2800" dirty="0">
              <a:solidFill>
                <a:srgbClr val="660066"/>
              </a:solidFill>
              <a:ea typeface="黑体" panose="02010609060101010101" pitchFamily="49" charset="-122"/>
              <a:cs typeface="+mj-lt"/>
            </a:endParaRPr>
          </a:p>
        </p:txBody>
      </p:sp>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86765"/>
            <a:ext cx="8977630" cy="54673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zh-CN" altLang="en-US" sz="3100" dirty="0">
                <a:solidFill>
                  <a:schemeClr val="accent1">
                    <a:lumMod val="75000"/>
                  </a:schemeClr>
                </a:solidFill>
                <a:ea typeface="宋体" panose="02010600030101010101" pitchFamily="2" charset="-122"/>
                <a:sym typeface="+mn-ea"/>
              </a:rPr>
              <a:t> 5.5 Model</a:t>
            </a:r>
            <a:r>
              <a:rPr lang="en-US" altLang="zh-CN" sz="3100" dirty="0">
                <a:solidFill>
                  <a:schemeClr val="accent1">
                    <a:lumMod val="75000"/>
                  </a:schemeClr>
                </a:solidFill>
                <a:ea typeface="宋体" panose="02010600030101010101" pitchFamily="2" charset="-122"/>
                <a:sym typeface="+mn-ea"/>
              </a:rPr>
              <a:t>-</a:t>
            </a:r>
            <a:r>
              <a:rPr lang="zh-CN" altLang="en-US" sz="3100" dirty="0">
                <a:solidFill>
                  <a:schemeClr val="accent1">
                    <a:lumMod val="75000"/>
                  </a:schemeClr>
                </a:solidFill>
                <a:ea typeface="宋体" panose="02010600030101010101" pitchFamily="2" charset="-122"/>
                <a:sym typeface="+mn-ea"/>
              </a:rPr>
              <a:t>driven architecture</a:t>
            </a:r>
            <a:r>
              <a:rPr lang="en-US" altLang="zh-CN" sz="3100" dirty="0">
                <a:solidFill>
                  <a:schemeClr val="accent1">
                    <a:lumMod val="75000"/>
                  </a:schemeClr>
                </a:solidFill>
                <a:ea typeface="宋体" panose="02010600030101010101" pitchFamily="2" charset="-122"/>
                <a:sym typeface="+mn-ea"/>
              </a:rPr>
              <a:t> </a:t>
            </a:r>
            <a:r>
              <a:rPr lang="zh-CN" altLang="en-US" sz="2400" dirty="0">
                <a:solidFill>
                  <a:schemeClr val="accent1">
                    <a:lumMod val="75000"/>
                  </a:schemeClr>
                </a:solidFill>
                <a:latin typeface="黑体" panose="02010609060101010101" pitchFamily="49" charset="-122"/>
                <a:ea typeface="黑体" panose="02010609060101010101" pitchFamily="49" charset="-122"/>
                <a:sym typeface="+mn-ea"/>
              </a:rPr>
              <a:t>模型驱动的体系结构</a:t>
            </a:r>
            <a:endParaRPr lang="zh-CN" altLang="en-US" sz="2400" dirty="0">
              <a:solidFill>
                <a:schemeClr val="accent1">
                  <a:lumMod val="75000"/>
                </a:schemeClr>
              </a:solidFill>
              <a:latin typeface="黑体" panose="02010609060101010101" pitchFamily="49" charset="-122"/>
              <a:ea typeface="黑体" panose="02010609060101010101" pitchFamily="49" charset="-122"/>
              <a:sym typeface="+mn-ea"/>
            </a:endParaRPr>
          </a:p>
        </p:txBody>
      </p:sp>
      <p:sp>
        <p:nvSpPr>
          <p:cNvPr id="4" name="Rectangle 2"/>
          <p:cNvSpPr>
            <a:spLocks noGrp="1"/>
          </p:cNvSpPr>
          <p:nvPr>
            <p:ph type="title"/>
            <p:custDataLst>
              <p:tags r:id="rId2"/>
            </p:custDataLst>
          </p:nvPr>
        </p:nvSpPr>
        <p:spPr>
          <a:xfrm>
            <a:off x="617538" y="198755"/>
            <a:ext cx="455295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5  System modeling</a:t>
            </a:r>
            <a:endParaRPr lang="en-US" altLang="zh-CN" sz="2800" dirty="0">
              <a:solidFill>
                <a:srgbClr val="660066"/>
              </a:solidFill>
              <a:ea typeface="黑体" panose="02010609060101010101" pitchFamily="49" charset="-122"/>
              <a:cs typeface="+mj-lt"/>
            </a:endParaRPr>
          </a:p>
        </p:txBody>
      </p:sp>
      <p:sp>
        <p:nvSpPr>
          <p:cNvPr id="5" name="Content Placeholder 4"/>
          <p:cNvSpPr>
            <a:spLocks noGrp="1"/>
          </p:cNvSpPr>
          <p:nvPr/>
        </p:nvSpPr>
        <p:spPr>
          <a:xfrm>
            <a:off x="59690" y="1384935"/>
            <a:ext cx="9006840" cy="4598670"/>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90000"/>
              </a:lnSpc>
              <a:spcBef>
                <a:spcPts val="800"/>
              </a:spcBef>
              <a:spcAft>
                <a:spcPts val="0"/>
              </a:spcAft>
            </a:pPr>
            <a:r>
              <a:rPr lang="en-US" sz="3200" dirty="0" smtClean="0">
                <a:solidFill>
                  <a:schemeClr val="accent2">
                    <a:lumMod val="75000"/>
                  </a:schemeClr>
                </a:solidFill>
                <a:latin typeface="Calibri" panose="020F0502020204030204" charset="0"/>
                <a:cs typeface="Calibri" panose="020F0502020204030204" charset="0"/>
              </a:rPr>
              <a:t> MDA is a model-focused approach to software design and implementation that uses a subset of UML models to describe a system.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含义: 关注模型的设计和实现方法，用UML模型描述系统</a:t>
            </a:r>
            <a:endPar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endParaRPr>
          </a:p>
          <a:p>
            <a:pPr>
              <a:lnSpc>
                <a:spcPct val="90000"/>
              </a:lnSpc>
              <a:spcBef>
                <a:spcPts val="800"/>
              </a:spcBef>
              <a:spcAft>
                <a:spcPts val="0"/>
              </a:spcAft>
            </a:pPr>
            <a:r>
              <a:rPr lang="en-US" sz="3200" dirty="0" smtClean="0">
                <a:solidFill>
                  <a:schemeClr val="accent2">
                    <a:lumMod val="75000"/>
                  </a:schemeClr>
                </a:solidFill>
                <a:latin typeface="Calibri" panose="020F0502020204030204" charset="0"/>
                <a:cs typeface="Calibri" panose="020F0502020204030204" charset="0"/>
              </a:rPr>
              <a:t> Models at different levels of abstraction are created.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创建不同级别的抽象模型</a:t>
            </a:r>
            <a:endParaRPr lang="en-US" sz="3200" dirty="0" smtClean="0">
              <a:solidFill>
                <a:schemeClr val="accent2">
                  <a:lumMod val="75000"/>
                </a:schemeClr>
              </a:solidFill>
              <a:latin typeface="Calibri" panose="020F0502020204030204" charset="0"/>
              <a:cs typeface="Calibri" panose="020F0502020204030204" charset="0"/>
            </a:endParaRPr>
          </a:p>
          <a:p>
            <a:pPr>
              <a:lnSpc>
                <a:spcPct val="90000"/>
              </a:lnSpc>
              <a:spcBef>
                <a:spcPts val="800"/>
              </a:spcBef>
              <a:spcAft>
                <a:spcPts val="0"/>
              </a:spcAft>
            </a:pPr>
            <a:r>
              <a:rPr lang="en-US" sz="3200" dirty="0" smtClean="0">
                <a:solidFill>
                  <a:schemeClr val="accent2">
                    <a:lumMod val="75000"/>
                  </a:schemeClr>
                </a:solidFill>
                <a:latin typeface="Calibri" panose="020F0502020204030204" charset="0"/>
                <a:cs typeface="Calibri" panose="020F0502020204030204" charset="0"/>
              </a:rPr>
              <a:t> From a high-level, platform independent model, it is possible, in principle, to generate a working program without manual intervention.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从高层、平台无关模型，能生成可运行程序，无需人工干预</a:t>
            </a:r>
            <a:endParaRPr lang="en-GB" sz="3200" dirty="0" smtClean="0">
              <a:solidFill>
                <a:schemeClr val="accent2">
                  <a:lumMod val="75000"/>
                </a:schemeClr>
              </a:solidFill>
              <a:latin typeface="Calibri" panose="020F0502020204030204" charset="0"/>
              <a:cs typeface="Calibri" panose="020F0502020204030204" charset="0"/>
            </a:endParaRPr>
          </a:p>
        </p:txBody>
      </p:sp>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46125"/>
            <a:ext cx="8977630" cy="68389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100" dirty="0">
                <a:solidFill>
                  <a:srgbClr val="0070C0"/>
                </a:solidFill>
                <a:ea typeface="宋体" panose="02010600030101010101" pitchFamily="2" charset="-122"/>
                <a:sym typeface="+mn-ea"/>
              </a:rPr>
              <a:t> </a:t>
            </a:r>
            <a:r>
              <a:rPr lang="zh-CN" altLang="en-US" sz="3100" dirty="0">
                <a:solidFill>
                  <a:schemeClr val="accent1">
                    <a:lumMod val="75000"/>
                  </a:schemeClr>
                </a:solidFill>
                <a:ea typeface="宋体" panose="02010600030101010101" pitchFamily="2" charset="-122"/>
                <a:sym typeface="+mn-ea"/>
              </a:rPr>
              <a:t>Types of model</a:t>
            </a:r>
            <a:r>
              <a:rPr lang="en-US" altLang="zh-CN" sz="3100" dirty="0">
                <a:solidFill>
                  <a:schemeClr val="accent1">
                    <a:lumMod val="75000"/>
                  </a:schemeClr>
                </a:solidFill>
                <a:ea typeface="宋体" panose="02010600030101010101" pitchFamily="2" charset="-122"/>
                <a:sym typeface="+mn-ea"/>
              </a:rPr>
              <a:t> - 3 types  </a:t>
            </a:r>
            <a:r>
              <a:rPr lang="zh-CN" altLang="en-US" sz="2400" dirty="0">
                <a:solidFill>
                  <a:schemeClr val="accent1">
                    <a:lumMod val="75000"/>
                  </a:schemeClr>
                </a:solidFill>
                <a:latin typeface="黑体" panose="02010609060101010101" pitchFamily="49" charset="-122"/>
                <a:ea typeface="黑体" panose="02010609060101010101" pitchFamily="49" charset="-122"/>
                <a:sym typeface="+mn-ea"/>
              </a:rPr>
              <a:t>模型的种类</a:t>
            </a:r>
            <a:endParaRPr lang="zh-CN" altLang="en-US" sz="2400" dirty="0">
              <a:solidFill>
                <a:schemeClr val="accent1">
                  <a:lumMod val="75000"/>
                </a:schemeClr>
              </a:solidFill>
              <a:latin typeface="黑体" panose="02010609060101010101" pitchFamily="49" charset="-122"/>
              <a:ea typeface="黑体" panose="02010609060101010101" pitchFamily="49" charset="-122"/>
              <a:sym typeface="+mn-ea"/>
            </a:endParaRPr>
          </a:p>
        </p:txBody>
      </p:sp>
      <p:sp>
        <p:nvSpPr>
          <p:cNvPr id="4" name="Rectangle 2"/>
          <p:cNvSpPr>
            <a:spLocks noGrp="1"/>
          </p:cNvSpPr>
          <p:nvPr>
            <p:ph type="title"/>
            <p:custDataLst>
              <p:tags r:id="rId2"/>
            </p:custDataLst>
          </p:nvPr>
        </p:nvSpPr>
        <p:spPr>
          <a:xfrm>
            <a:off x="617538" y="198755"/>
            <a:ext cx="455295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5  System modeling</a:t>
            </a:r>
            <a:endParaRPr lang="en-US" altLang="zh-CN" sz="2800" dirty="0">
              <a:solidFill>
                <a:srgbClr val="660066"/>
              </a:solidFill>
              <a:ea typeface="黑体" panose="02010609060101010101" pitchFamily="49" charset="-122"/>
              <a:cs typeface="+mj-lt"/>
            </a:endParaRPr>
          </a:p>
        </p:txBody>
      </p:sp>
      <p:sp>
        <p:nvSpPr>
          <p:cNvPr id="3" name="Content Placeholder 2"/>
          <p:cNvSpPr>
            <a:spLocks noGrp="1"/>
          </p:cNvSpPr>
          <p:nvPr/>
        </p:nvSpPr>
        <p:spPr>
          <a:xfrm>
            <a:off x="60960" y="1321435"/>
            <a:ext cx="9005570" cy="5198110"/>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85000"/>
              </a:lnSpc>
              <a:spcBef>
                <a:spcPts val="600"/>
              </a:spcBef>
              <a:spcAft>
                <a:spcPts val="0"/>
              </a:spcAft>
            </a:pPr>
            <a:r>
              <a:rPr lang="en-US" sz="3000" dirty="0" smtClean="0">
                <a:solidFill>
                  <a:schemeClr val="accent2">
                    <a:lumMod val="75000"/>
                  </a:schemeClr>
                </a:solidFill>
                <a:latin typeface="Calibri" panose="020F0502020204030204" charset="0"/>
                <a:cs typeface="Calibri" panose="020F0502020204030204" charset="0"/>
              </a:rPr>
              <a:t> A computation independent model (CIM):</a:t>
            </a:r>
            <a:r>
              <a:rPr lang="en-US" sz="3100" dirty="0" smtClean="0">
                <a:solidFill>
                  <a:schemeClr val="accent2">
                    <a:lumMod val="75000"/>
                  </a:schemeClr>
                </a:solidFill>
                <a:latin typeface="Calibri" panose="020F0502020204030204" charset="0"/>
                <a:cs typeface="Calibri" panose="020F0502020204030204" charset="0"/>
              </a:rPr>
              <a:t> </a:t>
            </a:r>
            <a:r>
              <a:rPr lang="en-US" sz="2600" b="0" dirty="0" smtClean="0">
                <a:solidFill>
                  <a:schemeClr val="tx1"/>
                </a:solidFill>
                <a:latin typeface="Calibri" panose="020F0502020204030204" charset="0"/>
                <a:cs typeface="Calibri" panose="020F0502020204030204" charset="0"/>
              </a:rPr>
              <a:t>CIMs model the important </a:t>
            </a:r>
            <a:r>
              <a:rPr lang="en-US" sz="2600" b="0" u="sng" dirty="0" smtClean="0">
                <a:solidFill>
                  <a:schemeClr val="tx1"/>
                </a:solidFill>
                <a:latin typeface="Calibri" panose="020F0502020204030204" charset="0"/>
                <a:cs typeface="Calibri" panose="020F0502020204030204" charset="0"/>
              </a:rPr>
              <a:t>domain abstractions</a:t>
            </a:r>
            <a:r>
              <a:rPr lang="en-US" sz="2600" b="0" dirty="0" smtClean="0">
                <a:solidFill>
                  <a:schemeClr val="tx1"/>
                </a:solidFill>
                <a:latin typeface="Calibri" panose="020F0502020204030204" charset="0"/>
                <a:cs typeface="Calibri" panose="020F0502020204030204" charset="0"/>
              </a:rPr>
              <a:t> used in a system and so are sometimes called </a:t>
            </a:r>
            <a:r>
              <a:rPr lang="en-US" sz="2600" b="0" u="sng" dirty="0" smtClean="0">
                <a:solidFill>
                  <a:schemeClr val="tx1"/>
                </a:solidFill>
                <a:latin typeface="Calibri" panose="020F0502020204030204" charset="0"/>
                <a:cs typeface="Calibri" panose="020F0502020204030204" charset="0"/>
              </a:rPr>
              <a:t>domain models</a:t>
            </a:r>
            <a:r>
              <a:rPr lang="en-US" sz="2600" b="0" dirty="0" smtClean="0">
                <a:solidFill>
                  <a:schemeClr val="tx1"/>
                </a:solidFill>
                <a:latin typeface="Calibri" panose="020F0502020204030204" charset="0"/>
                <a:cs typeface="Calibri" panose="020F0502020204030204" charset="0"/>
              </a:rPr>
              <a:t>. You may develop several different CIMs, reflecting different views of the system.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计算无关模型</a:t>
            </a:r>
            <a:endParaRPr lang="en-US" sz="3100" dirty="0" smtClean="0">
              <a:solidFill>
                <a:schemeClr val="accent2">
                  <a:lumMod val="75000"/>
                </a:schemeClr>
              </a:solidFill>
              <a:latin typeface="Calibri" panose="020F0502020204030204" charset="0"/>
              <a:cs typeface="Calibri" panose="020F0502020204030204" charset="0"/>
            </a:endParaRPr>
          </a:p>
          <a:p>
            <a:pPr algn="l">
              <a:lnSpc>
                <a:spcPct val="85000"/>
              </a:lnSpc>
              <a:spcBef>
                <a:spcPts val="600"/>
              </a:spcBef>
              <a:spcAft>
                <a:spcPts val="0"/>
              </a:spcAft>
            </a:pPr>
            <a:r>
              <a:rPr lang="en-US" sz="3000" dirty="0" smtClean="0">
                <a:solidFill>
                  <a:schemeClr val="accent2">
                    <a:lumMod val="75000"/>
                  </a:schemeClr>
                </a:solidFill>
                <a:latin typeface="Calibri" panose="020F0502020204030204" charset="0"/>
                <a:cs typeface="Calibri" panose="020F0502020204030204" charset="0"/>
                <a:sym typeface="+mn-ea"/>
              </a:rPr>
              <a:t> </a:t>
            </a:r>
            <a:r>
              <a:rPr lang="en-US" sz="3000" dirty="0" smtClean="0">
                <a:solidFill>
                  <a:schemeClr val="accent2">
                    <a:lumMod val="75000"/>
                  </a:schemeClr>
                </a:solidFill>
                <a:latin typeface="Calibri" panose="020F0502020204030204" charset="0"/>
                <a:cs typeface="Calibri" panose="020F0502020204030204" charset="0"/>
              </a:rPr>
              <a:t>A platform-independent model (PIM): </a:t>
            </a:r>
            <a:r>
              <a:rPr lang="en-US" sz="2600" b="0" dirty="0" smtClean="0">
                <a:solidFill>
                  <a:schemeClr val="tx1"/>
                </a:solidFill>
                <a:latin typeface="Calibri" panose="020F0502020204030204" charset="0"/>
                <a:cs typeface="Calibri" panose="020F0502020204030204" charset="0"/>
              </a:rPr>
              <a:t>PIMs model the operation of the system without reference to its implementation. A PIM is usually described using UML models that show the </a:t>
            </a:r>
            <a:r>
              <a:rPr lang="en-US" sz="2600" b="0" u="sng" dirty="0" smtClean="0">
                <a:solidFill>
                  <a:schemeClr val="tx1"/>
                </a:solidFill>
                <a:latin typeface="Calibri" panose="020F0502020204030204" charset="0"/>
                <a:cs typeface="Calibri" panose="020F0502020204030204" charset="0"/>
              </a:rPr>
              <a:t>static</a:t>
            </a:r>
            <a:r>
              <a:rPr lang="en-US" sz="2600" b="0" dirty="0" smtClean="0">
                <a:solidFill>
                  <a:schemeClr val="tx1"/>
                </a:solidFill>
                <a:latin typeface="Calibri" panose="020F0502020204030204" charset="0"/>
                <a:cs typeface="Calibri" panose="020F0502020204030204" charset="0"/>
              </a:rPr>
              <a:t> system structure and how it responds to external and internal events. </a:t>
            </a:r>
            <a:r>
              <a:rPr lang="en-US" sz="2800" b="0" dirty="0" smtClean="0">
                <a:solidFill>
                  <a:schemeClr val="tx1"/>
                </a:solidFill>
                <a:latin typeface="Calibri" panose="020F0502020204030204" charset="0"/>
                <a:cs typeface="Calibri" panose="020F0502020204030204" charset="0"/>
              </a:rPr>
              <a:t>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平台无关模型</a:t>
            </a:r>
            <a:endParaRPr lang="en-US" sz="3100" dirty="0" smtClean="0">
              <a:solidFill>
                <a:schemeClr val="accent2">
                  <a:lumMod val="75000"/>
                </a:schemeClr>
              </a:solidFill>
              <a:latin typeface="Calibri" panose="020F0502020204030204" charset="0"/>
              <a:cs typeface="Calibri" panose="020F0502020204030204" charset="0"/>
            </a:endParaRPr>
          </a:p>
          <a:p>
            <a:pPr>
              <a:lnSpc>
                <a:spcPct val="85000"/>
              </a:lnSpc>
              <a:spcBef>
                <a:spcPts val="600"/>
              </a:spcBef>
              <a:spcAft>
                <a:spcPts val="0"/>
              </a:spcAft>
            </a:pPr>
            <a:r>
              <a:rPr lang="en-US" sz="3000" dirty="0" smtClean="0">
                <a:solidFill>
                  <a:schemeClr val="accent2">
                    <a:lumMod val="75000"/>
                  </a:schemeClr>
                </a:solidFill>
                <a:latin typeface="Calibri" panose="020F0502020204030204" charset="0"/>
                <a:cs typeface="Calibri" panose="020F0502020204030204" charset="0"/>
              </a:rPr>
              <a:t> Platform-specific models (PSM): </a:t>
            </a:r>
            <a:r>
              <a:rPr lang="en-US" sz="2600" b="0" dirty="0" smtClean="0">
                <a:solidFill>
                  <a:schemeClr val="tx1"/>
                </a:solidFill>
                <a:latin typeface="Calibri" panose="020F0502020204030204" charset="0"/>
                <a:cs typeface="Calibri" panose="020F0502020204030204" charset="0"/>
              </a:rPr>
              <a:t>A</a:t>
            </a:r>
            <a:r>
              <a:rPr lang="en-US" sz="2600" b="0" dirty="0" smtClean="0">
                <a:solidFill>
                  <a:schemeClr val="tx1"/>
                </a:solidFill>
                <a:latin typeface="Calibri" panose="020F0502020204030204" charset="0"/>
                <a:cs typeface="Calibri" panose="020F0502020204030204" charset="0"/>
              </a:rPr>
              <a:t>re transformations of the PIM with a separate PSM for each application platform. In principle, there may be layers of PSM, with each layer adding some platform-specific detail.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sym typeface="+mn-ea"/>
              </a:rPr>
              <a:t>平台相关模型</a:t>
            </a:r>
            <a:endParaRPr lang="en-US" sz="2800" b="0" dirty="0" smtClean="0">
              <a:solidFill>
                <a:schemeClr val="tx1"/>
              </a:solidFill>
              <a:latin typeface="Calibri" panose="020F0502020204030204" charset="0"/>
              <a:cs typeface="Calibri" panose="020F0502020204030204" charset="0"/>
            </a:endParaRPr>
          </a:p>
        </p:txBody>
      </p:sp>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Rectangle 2"/>
          <p:cNvSpPr>
            <a:spLocks noGrp="1"/>
          </p:cNvSpPr>
          <p:nvPr>
            <p:ph type="title"/>
            <p:custDataLst>
              <p:tags r:id="rId1"/>
            </p:custDataLst>
          </p:nvPr>
        </p:nvSpPr>
        <p:spPr>
          <a:xfrm>
            <a:off x="617538" y="198755"/>
            <a:ext cx="455295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5  System modeling</a:t>
            </a:r>
            <a:endParaRPr lang="en-US" altLang="zh-CN" sz="2800" dirty="0">
              <a:solidFill>
                <a:srgbClr val="660066"/>
              </a:solidFill>
              <a:ea typeface="黑体" panose="02010609060101010101" pitchFamily="49" charset="-122"/>
              <a:cs typeface="+mj-lt"/>
            </a:endParaRPr>
          </a:p>
        </p:txBody>
      </p:sp>
      <p:sp>
        <p:nvSpPr>
          <p:cNvPr id="3" name="Content Placeholder 2"/>
          <p:cNvSpPr>
            <a:spLocks noGrp="1"/>
          </p:cNvSpPr>
          <p:nvPr/>
        </p:nvSpPr>
        <p:spPr>
          <a:xfrm>
            <a:off x="60960" y="1249680"/>
            <a:ext cx="9005570" cy="5302885"/>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85000"/>
              </a:lnSpc>
              <a:spcBef>
                <a:spcPts val="600"/>
              </a:spcBef>
              <a:spcAft>
                <a:spcPts val="0"/>
              </a:spcAft>
            </a:pPr>
            <a:r>
              <a:rPr lang="en-US" sz="3000" dirty="0" smtClean="0">
                <a:solidFill>
                  <a:schemeClr val="accent2">
                    <a:lumMod val="75000"/>
                  </a:schemeClr>
                </a:solidFill>
                <a:latin typeface="Calibri" panose="020F0502020204030204" charset="0"/>
                <a:cs typeface="Calibri" panose="020F0502020204030204" charset="0"/>
              </a:rPr>
              <a:t> Model-based engineering allows engineers to think about systems at a high level of abstraction, without concern for the details of their implementation.</a:t>
            </a:r>
            <a:r>
              <a:rPr lang="en-US" sz="2800" b="0" dirty="0" smtClean="0">
                <a:solidFill>
                  <a:schemeClr val="tx1"/>
                </a:solidFill>
                <a:latin typeface="Calibri" panose="020F0502020204030204" charset="0"/>
                <a:cs typeface="Calibri" panose="020F0502020204030204" charset="0"/>
              </a:rPr>
              <a:t> This reduces the likelihood of errors, speeds up the design and implementation process, and allows for the creation of reusable, platform-independent application models.  </a:t>
            </a:r>
            <a:r>
              <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rPr>
              <a:t>在高抽象层次看待系统，无需关心实现的细节</a:t>
            </a:r>
            <a:endPar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endParaRPr>
          </a:p>
          <a:p>
            <a:pPr>
              <a:lnSpc>
                <a:spcPct val="85000"/>
              </a:lnSpc>
              <a:spcBef>
                <a:spcPts val="600"/>
              </a:spcBef>
              <a:spcAft>
                <a:spcPts val="0"/>
              </a:spcAft>
            </a:pPr>
            <a:r>
              <a:rPr lang="en-US" sz="3000" dirty="0" smtClean="0">
                <a:solidFill>
                  <a:schemeClr val="accent2">
                    <a:lumMod val="75000"/>
                  </a:schemeClr>
                </a:solidFill>
                <a:latin typeface="Calibri" panose="020F0502020204030204" charset="0"/>
                <a:cs typeface="Calibri" panose="020F0502020204030204" charset="0"/>
              </a:rPr>
              <a:t> By using powerful tools, system implementations can be generated for different platforms from the same model. </a:t>
            </a:r>
            <a:r>
              <a:rPr lang="en-US" sz="2800" b="0" dirty="0" smtClean="0">
                <a:solidFill>
                  <a:schemeClr val="tx1"/>
                </a:solidFill>
                <a:latin typeface="Calibri" panose="020F0502020204030204" charset="0"/>
                <a:cs typeface="Calibri" panose="020F0502020204030204" charset="0"/>
              </a:rPr>
              <a:t>Therefore, to adapt the system to some new platform, you write a model </a:t>
            </a:r>
            <a:r>
              <a:rPr lang="en-US" sz="2800" b="0" u="sng" dirty="0" smtClean="0">
                <a:solidFill>
                  <a:schemeClr val="tx1"/>
                </a:solidFill>
                <a:latin typeface="Calibri" panose="020F0502020204030204" charset="0"/>
                <a:cs typeface="Calibri" panose="020F0502020204030204" charset="0"/>
              </a:rPr>
              <a:t>translator</a:t>
            </a:r>
            <a:r>
              <a:rPr lang="en-US" sz="2800" b="0" dirty="0" smtClean="0">
                <a:solidFill>
                  <a:schemeClr val="tx1"/>
                </a:solidFill>
                <a:latin typeface="Calibri" panose="020F0502020204030204" charset="0"/>
                <a:cs typeface="Calibri" panose="020F0502020204030204" charset="0"/>
              </a:rPr>
              <a:t> for that platform. When this is available, all platform-independent models can then be rapidly re-hosted on the new platform. </a:t>
            </a:r>
            <a:r>
              <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rPr>
              <a:t>使用强大的工具</a:t>
            </a:r>
            <a:r>
              <a:rPr lang="en-US" altLang="zh-CN" sz="2000" kern="0" dirty="0">
                <a:solidFill>
                  <a:schemeClr val="accent1">
                    <a:lumMod val="75000"/>
                  </a:schemeClr>
                </a:solidFill>
                <a:latin typeface="黑体" panose="02010609060101010101" pitchFamily="49" charset="-122"/>
                <a:ea typeface="黑体" panose="02010609060101010101" pitchFamily="49" charset="-122"/>
                <a:cs typeface="+mn-cs"/>
              </a:rPr>
              <a:t>,</a:t>
            </a:r>
            <a:r>
              <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rPr>
              <a:t>可从同一个模型</a:t>
            </a:r>
            <a:r>
              <a:rPr lang="en-US" altLang="zh-CN" sz="2000" kern="0" dirty="0">
                <a:solidFill>
                  <a:schemeClr val="accent1">
                    <a:lumMod val="75000"/>
                  </a:schemeClr>
                </a:solidFill>
                <a:latin typeface="黑体" panose="02010609060101010101" pitchFamily="49" charset="-122"/>
                <a:ea typeface="黑体" panose="02010609060101010101" pitchFamily="49" charset="-122"/>
                <a:cs typeface="+mn-cs"/>
              </a:rPr>
              <a:t>,</a:t>
            </a:r>
            <a:r>
              <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rPr>
              <a:t>针对不同平台</a:t>
            </a:r>
            <a:r>
              <a:rPr lang="en-US" altLang="zh-CN" sz="2000" kern="0" dirty="0">
                <a:solidFill>
                  <a:schemeClr val="accent1">
                    <a:lumMod val="75000"/>
                  </a:schemeClr>
                </a:solidFill>
                <a:latin typeface="黑体" panose="02010609060101010101" pitchFamily="49" charset="-122"/>
                <a:ea typeface="黑体" panose="02010609060101010101" pitchFamily="49" charset="-122"/>
                <a:cs typeface="+mn-cs"/>
              </a:rPr>
              <a:t>,</a:t>
            </a:r>
            <a:r>
              <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sym typeface="+mn-ea"/>
              </a:rPr>
              <a:t>生成</a:t>
            </a:r>
            <a:r>
              <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rPr>
              <a:t>系统实现</a:t>
            </a:r>
            <a:endPar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endParaRPr>
          </a:p>
        </p:txBody>
      </p:sp>
      <p:sp>
        <p:nvSpPr>
          <p:cNvPr id="5" name="Rectangle 3"/>
          <p:cNvSpPr>
            <a:spLocks noGrp="1" noRot="1"/>
          </p:cNvSpPr>
          <p:nvPr>
            <p:ph type="subTitle" idx="1"/>
            <p:custDataLst>
              <p:tags r:id="rId2"/>
            </p:custDataLst>
          </p:nvPr>
        </p:nvSpPr>
        <p:spPr>
          <a:xfrm>
            <a:off x="88900" y="715010"/>
            <a:ext cx="8977630" cy="59753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100" dirty="0">
                <a:solidFill>
                  <a:srgbClr val="0070C0"/>
                </a:solidFill>
                <a:ea typeface="宋体" panose="02010600030101010101" pitchFamily="2" charset="-122"/>
                <a:sym typeface="+mn-ea"/>
              </a:rPr>
              <a:t> </a:t>
            </a:r>
            <a:r>
              <a:rPr lang="zh-CN" altLang="en-US" sz="3100" dirty="0">
                <a:solidFill>
                  <a:schemeClr val="accent1">
                    <a:lumMod val="75000"/>
                  </a:schemeClr>
                </a:solidFill>
                <a:ea typeface="宋体" panose="02010600030101010101" pitchFamily="2" charset="-122"/>
                <a:sym typeface="+mn-ea"/>
              </a:rPr>
              <a:t>MDA transformations</a:t>
            </a:r>
            <a:r>
              <a:rPr lang="en-US" altLang="zh-CN" sz="3100" dirty="0">
                <a:solidFill>
                  <a:schemeClr val="accent1">
                    <a:lumMod val="75000"/>
                  </a:schemeClr>
                </a:solidFill>
                <a:ea typeface="宋体" panose="02010600030101010101" pitchFamily="2" charset="-122"/>
                <a:sym typeface="+mn-ea"/>
              </a:rPr>
              <a:t>   </a:t>
            </a:r>
            <a:r>
              <a:rPr lang="zh-CN" altLang="en-US" sz="2400" dirty="0">
                <a:solidFill>
                  <a:schemeClr val="accent1">
                    <a:lumMod val="75000"/>
                  </a:schemeClr>
                </a:solidFill>
                <a:latin typeface="黑体" panose="02010609060101010101" pitchFamily="49" charset="-122"/>
                <a:ea typeface="黑体" panose="02010609060101010101" pitchFamily="49" charset="-122"/>
                <a:sym typeface="+mn-ea"/>
              </a:rPr>
              <a:t>MDA转换</a:t>
            </a:r>
            <a:endParaRPr lang="zh-CN" altLang="en-US" sz="3100" dirty="0">
              <a:solidFill>
                <a:schemeClr val="accent1">
                  <a:lumMod val="75000"/>
                </a:schemeClr>
              </a:solidFill>
              <a:ea typeface="宋体" panose="02010600030101010101" pitchFamily="2" charset="-122"/>
              <a:sym typeface="+mn-ea"/>
            </a:endParaRPr>
          </a:p>
        </p:txBody>
      </p:sp>
    </p:spTree>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68580" y="100965"/>
            <a:ext cx="8997950" cy="3733165"/>
          </a:xfrm>
          <a:prstGeom prst="rect">
            <a:avLst/>
          </a:prstGeom>
        </p:spPr>
      </p:pic>
      <p:pic>
        <p:nvPicPr>
          <p:cNvPr id="7" name="图片 6"/>
          <p:cNvPicPr>
            <a:picLocks noChangeAspect="1"/>
          </p:cNvPicPr>
          <p:nvPr/>
        </p:nvPicPr>
        <p:blipFill>
          <a:blip r:embed="rId2"/>
          <a:stretch>
            <a:fillRect/>
          </a:stretch>
        </p:blipFill>
        <p:spPr>
          <a:xfrm>
            <a:off x="7679690" y="2358390"/>
            <a:ext cx="1390650" cy="419100"/>
          </a:xfrm>
          <a:prstGeom prst="rect">
            <a:avLst/>
          </a:prstGeom>
        </p:spPr>
      </p:pic>
      <p:sp>
        <p:nvSpPr>
          <p:cNvPr id="10" name="Content Placeholder 2"/>
          <p:cNvSpPr>
            <a:spLocks noGrp="1"/>
          </p:cNvSpPr>
          <p:nvPr/>
        </p:nvSpPr>
        <p:spPr>
          <a:xfrm>
            <a:off x="120650" y="3902075"/>
            <a:ext cx="8936990" cy="1696085"/>
          </a:xfrm>
          <a:prstGeom prst="rect">
            <a:avLst/>
          </a:prstGeom>
          <a:noFill/>
          <a:extLst>
            <a:ext uri="{909E8E84-426E-40DD-AFC4-6F175D3DCCD1}">
              <a14:hiddenFill xmlns:a14="http://schemas.microsoft.com/office/drawing/2010/main">
                <a:solidFill>
                  <a:schemeClr val="bg1"/>
                </a:solidFill>
              </a14:hiddenFill>
            </a:ext>
          </a:extLst>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marL="0" indent="0">
              <a:lnSpc>
                <a:spcPct val="85000"/>
              </a:lnSpc>
              <a:spcBef>
                <a:spcPts val="300"/>
              </a:spcBef>
              <a:spcAft>
                <a:spcPts val="0"/>
              </a:spcAft>
              <a:buNone/>
            </a:pPr>
            <a:r>
              <a:rPr lang="en-US" sz="2000" b="0" dirty="0" smtClean="0">
                <a:solidFill>
                  <a:schemeClr val="tx1"/>
                </a:solidFill>
                <a:latin typeface="Calibri" panose="020F0502020204030204" charset="0"/>
                <a:cs typeface="Calibri" panose="020F0502020204030204" charset="0"/>
              </a:rPr>
              <a:t>* Fundamental to MDA is the notion that </a:t>
            </a:r>
            <a:r>
              <a:rPr lang="en-US" sz="2000" b="0" u="sng" dirty="0" smtClean="0">
                <a:solidFill>
                  <a:schemeClr val="tx1"/>
                </a:solidFill>
                <a:latin typeface="Calibri" panose="020F0502020204030204" charset="0"/>
                <a:cs typeface="Calibri" panose="020F0502020204030204" charset="0"/>
              </a:rPr>
              <a:t>transformations</a:t>
            </a:r>
            <a:r>
              <a:rPr lang="en-US" sz="2000" b="0" dirty="0" smtClean="0">
                <a:solidFill>
                  <a:schemeClr val="tx1"/>
                </a:solidFill>
                <a:latin typeface="Calibri" panose="020F0502020204030204" charset="0"/>
                <a:cs typeface="Calibri" panose="020F0502020204030204" charset="0"/>
              </a:rPr>
              <a:t> between models can be defined and applied </a:t>
            </a:r>
            <a:r>
              <a:rPr lang="en-US" sz="2000" b="0" u="sng" dirty="0" smtClean="0">
                <a:solidFill>
                  <a:schemeClr val="tx1"/>
                </a:solidFill>
                <a:latin typeface="Calibri" panose="020F0502020204030204" charset="0"/>
                <a:cs typeface="Calibri" panose="020F0502020204030204" charset="0"/>
              </a:rPr>
              <a:t>automatically</a:t>
            </a:r>
            <a:r>
              <a:rPr lang="en-US" sz="2000" b="0" dirty="0" smtClean="0">
                <a:solidFill>
                  <a:schemeClr val="tx1"/>
                </a:solidFill>
                <a:latin typeface="Calibri" panose="020F0502020204030204" charset="0"/>
                <a:cs typeface="Calibri" panose="020F0502020204030204" charset="0"/>
              </a:rPr>
              <a:t> by software </a:t>
            </a:r>
            <a:r>
              <a:rPr lang="en-US" sz="2000" b="0" u="sng" dirty="0" smtClean="0">
                <a:solidFill>
                  <a:schemeClr val="tx1"/>
                </a:solidFill>
                <a:latin typeface="Calibri" panose="020F0502020204030204" charset="0"/>
                <a:cs typeface="Calibri" panose="020F0502020204030204" charset="0"/>
              </a:rPr>
              <a:t>tools</a:t>
            </a:r>
            <a:r>
              <a:rPr lang="en-US" sz="2000" b="0" dirty="0" smtClean="0">
                <a:solidFill>
                  <a:schemeClr val="tx1"/>
                </a:solidFill>
                <a:latin typeface="Calibri" panose="020F0502020204030204" charset="0"/>
                <a:cs typeface="Calibri" panose="020F0502020204030204" charset="0"/>
              </a:rPr>
              <a:t>, as illustrated in Figure 5.19.</a:t>
            </a:r>
            <a:endParaRPr lang="en-US" sz="2000" b="0" dirty="0" smtClean="0">
              <a:solidFill>
                <a:schemeClr val="tx1"/>
              </a:solidFill>
              <a:latin typeface="Calibri" panose="020F0502020204030204" charset="0"/>
              <a:cs typeface="Calibri" panose="020F0502020204030204" charset="0"/>
            </a:endParaRPr>
          </a:p>
          <a:p>
            <a:pPr marL="0" indent="0">
              <a:lnSpc>
                <a:spcPct val="85000"/>
              </a:lnSpc>
              <a:spcBef>
                <a:spcPts val="300"/>
              </a:spcBef>
              <a:spcAft>
                <a:spcPts val="0"/>
              </a:spcAft>
              <a:buNone/>
            </a:pPr>
            <a:r>
              <a:rPr lang="en-US" sz="2000" b="0" dirty="0" smtClean="0">
                <a:solidFill>
                  <a:schemeClr val="tx1"/>
                </a:solidFill>
                <a:latin typeface="Calibri" panose="020F0502020204030204" charset="0"/>
                <a:cs typeface="Calibri" panose="020F0502020204030204" charset="0"/>
              </a:rPr>
              <a:t>* This diagram also shows a final level of automatic transformation where a transformation is applied to the PSM to generate the executable code that will run on the designated software platform. Therefore, in principle at least, executable software can be generated from a high-level system model.  </a:t>
            </a:r>
            <a:endParaRPr lang="en-US" sz="2000" b="0" dirty="0" smtClean="0">
              <a:solidFill>
                <a:schemeClr val="tx1"/>
              </a:solidFill>
              <a:latin typeface="Calibri" panose="020F0502020204030204" charset="0"/>
              <a:cs typeface="Calibri" panose="020F0502020204030204" charset="0"/>
            </a:endParaRPr>
          </a:p>
        </p:txBody>
      </p:sp>
      <p:sp>
        <p:nvSpPr>
          <p:cNvPr id="11" name="Content Placeholder 2"/>
          <p:cNvSpPr>
            <a:spLocks noGrp="1"/>
          </p:cNvSpPr>
          <p:nvPr/>
        </p:nvSpPr>
        <p:spPr>
          <a:xfrm>
            <a:off x="104140" y="5607685"/>
            <a:ext cx="8936990" cy="1130300"/>
          </a:xfrm>
          <a:prstGeom prst="rect">
            <a:avLst/>
          </a:prstGeom>
          <a:noFill/>
          <a:extLst>
            <a:ext uri="{909E8E84-426E-40DD-AFC4-6F175D3DCCD1}">
              <a14:hiddenFill xmlns:a14="http://schemas.microsoft.com/office/drawing/2010/main">
                <a:solidFill>
                  <a:schemeClr val="bg1"/>
                </a:solidFill>
              </a14:hiddenFill>
            </a:ext>
          </a:extLst>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marL="0" indent="0">
              <a:lnSpc>
                <a:spcPct val="85000"/>
              </a:lnSpc>
              <a:spcBef>
                <a:spcPts val="300"/>
              </a:spcBef>
              <a:spcAft>
                <a:spcPts val="0"/>
              </a:spcAft>
              <a:buNone/>
            </a:pPr>
            <a:r>
              <a:rPr lang="en-US" sz="2000" b="0" dirty="0" smtClean="0">
                <a:solidFill>
                  <a:schemeClr val="tx1"/>
                </a:solidFill>
                <a:latin typeface="Calibri" panose="020F0502020204030204" charset="0"/>
                <a:cs typeface="Calibri" panose="020F0502020204030204" charset="0"/>
              </a:rPr>
              <a:t>* In practice, completely automated translation of </a:t>
            </a:r>
            <a:r>
              <a:rPr lang="en-US" sz="2000" b="0" u="sng" dirty="0" smtClean="0">
                <a:solidFill>
                  <a:schemeClr val="tx1"/>
                </a:solidFill>
                <a:latin typeface="Calibri" panose="020F0502020204030204" charset="0"/>
                <a:cs typeface="Calibri" panose="020F0502020204030204" charset="0"/>
              </a:rPr>
              <a:t>models to code</a:t>
            </a:r>
            <a:r>
              <a:rPr lang="en-US" sz="2000" b="0" dirty="0" smtClean="0">
                <a:solidFill>
                  <a:schemeClr val="tx1"/>
                </a:solidFill>
                <a:latin typeface="Calibri" panose="020F0502020204030204" charset="0"/>
                <a:cs typeface="Calibri" panose="020F0502020204030204" charset="0"/>
              </a:rPr>
              <a:t> is </a:t>
            </a:r>
            <a:r>
              <a:rPr lang="en-US" sz="2000" b="0" u="sng" dirty="0" smtClean="0">
                <a:solidFill>
                  <a:schemeClr val="tx1"/>
                </a:solidFill>
                <a:latin typeface="Calibri" panose="020F0502020204030204" charset="0"/>
                <a:cs typeface="Calibri" panose="020F0502020204030204" charset="0"/>
              </a:rPr>
              <a:t>rarely possible</a:t>
            </a:r>
            <a:r>
              <a:rPr lang="en-US" sz="2000" b="0" dirty="0" smtClean="0">
                <a:solidFill>
                  <a:schemeClr val="tx1"/>
                </a:solidFill>
                <a:latin typeface="Calibri" panose="020F0502020204030204" charset="0"/>
                <a:cs typeface="Calibri" panose="020F0502020204030204" charset="0"/>
              </a:rPr>
              <a:t>. The translation of high-level </a:t>
            </a:r>
            <a:r>
              <a:rPr lang="en-US" sz="2000" b="0" u="sng" dirty="0" smtClean="0">
                <a:solidFill>
                  <a:schemeClr val="tx1"/>
                </a:solidFill>
                <a:latin typeface="Calibri" panose="020F0502020204030204" charset="0"/>
                <a:cs typeface="Calibri" panose="020F0502020204030204" charset="0"/>
              </a:rPr>
              <a:t>CIM to PIM</a:t>
            </a:r>
            <a:r>
              <a:rPr lang="en-US" sz="2000" b="0" dirty="0" smtClean="0">
                <a:solidFill>
                  <a:schemeClr val="tx1"/>
                </a:solidFill>
                <a:latin typeface="Calibri" panose="020F0502020204030204" charset="0"/>
                <a:cs typeface="Calibri" panose="020F0502020204030204" charset="0"/>
              </a:rPr>
              <a:t> models </a:t>
            </a:r>
            <a:r>
              <a:rPr lang="en-US" sz="2000" b="0" u="sng" dirty="0" smtClean="0">
                <a:solidFill>
                  <a:schemeClr val="tx1"/>
                </a:solidFill>
                <a:latin typeface="Calibri" panose="020F0502020204030204" charset="0"/>
                <a:cs typeface="Calibri" panose="020F0502020204030204" charset="0"/>
              </a:rPr>
              <a:t>remains a research problem</a:t>
            </a:r>
            <a:r>
              <a:rPr lang="en-US" sz="2000" b="0" dirty="0" smtClean="0">
                <a:solidFill>
                  <a:schemeClr val="tx1"/>
                </a:solidFill>
                <a:latin typeface="Calibri" panose="020F0502020204030204" charset="0"/>
                <a:cs typeface="Calibri" panose="020F0502020204030204" charset="0"/>
              </a:rPr>
              <a:t>, and for production systems, human intervention, illustrated using a stick figure in Figure 5.19, is normally required. </a:t>
            </a:r>
            <a:endParaRPr lang="en-US" sz="2000" b="0" dirty="0" smtClean="0">
              <a:solidFill>
                <a:schemeClr val="tx1"/>
              </a:solidFill>
              <a:latin typeface="Calibri" panose="020F0502020204030204" charset="0"/>
              <a:cs typeface="Calibri" panose="020F0502020204030204" charset="0"/>
            </a:endParaRPr>
          </a:p>
        </p:txBody>
      </p:sp>
      <p:sp>
        <p:nvSpPr>
          <p:cNvPr id="15363" name="Rectangle 3"/>
          <p:cNvSpPr>
            <a:spLocks noGrp="1" noRot="1"/>
          </p:cNvSpPr>
          <p:nvPr>
            <p:ph type="subTitle" idx="1"/>
            <p:custDataLst>
              <p:tags r:id="rId3"/>
            </p:custDataLst>
          </p:nvPr>
        </p:nvSpPr>
        <p:spPr>
          <a:xfrm>
            <a:off x="1236980" y="602615"/>
            <a:ext cx="680085" cy="352425"/>
          </a:xfrm>
        </p:spPr>
        <p:txBody>
          <a:bodyPr vert="horz" wrap="square" lIns="91440" tIns="45720" rIns="91440" bIns="45720" anchor="t" anchorCtr="0">
            <a:noAutofit/>
          </a:bodyPr>
          <a:p>
            <a:pPr marL="0" indent="0" algn="l" eaLnBrk="1" latinLnBrk="0" hangingPunct="1">
              <a:lnSpc>
                <a:spcPct val="100000"/>
              </a:lnSpc>
              <a:spcBef>
                <a:spcPts val="1200"/>
              </a:spcBef>
              <a:buSzTx/>
              <a:buFont typeface="Wingdings" panose="05000000000000000000" pitchFamily="2" charset="2"/>
              <a:buNone/>
            </a:pPr>
            <a:r>
              <a:rPr lang="en-US" altLang="zh-CN" sz="2000" dirty="0">
                <a:solidFill>
                  <a:schemeClr val="accent1">
                    <a:lumMod val="75000"/>
                  </a:schemeClr>
                </a:solidFill>
                <a:ea typeface="宋体" panose="02010600030101010101" pitchFamily="2" charset="-122"/>
                <a:sym typeface="+mn-ea"/>
              </a:rPr>
              <a:t>CIM</a:t>
            </a:r>
            <a:endParaRPr lang="en-US" altLang="zh-CN" sz="2000" dirty="0">
              <a:solidFill>
                <a:schemeClr val="accent1">
                  <a:lumMod val="75000"/>
                </a:schemeClr>
              </a:solidFill>
              <a:latin typeface="黑体" panose="02010609060101010101" pitchFamily="49" charset="-122"/>
              <a:ea typeface="宋体" panose="02010600030101010101" pitchFamily="2" charset="-122"/>
              <a:sym typeface="+mn-ea"/>
            </a:endParaRPr>
          </a:p>
        </p:txBody>
      </p:sp>
      <p:sp>
        <p:nvSpPr>
          <p:cNvPr id="3" name="Rectangle 3"/>
          <p:cNvSpPr>
            <a:spLocks noGrp="1" noRot="1"/>
          </p:cNvSpPr>
          <p:nvPr>
            <p:custDataLst>
              <p:tags r:id="rId4"/>
            </p:custDataLst>
          </p:nvPr>
        </p:nvSpPr>
        <p:spPr>
          <a:xfrm>
            <a:off x="3660140" y="657860"/>
            <a:ext cx="680085" cy="352425"/>
          </a:xfrm>
          <a:prstGeom prst="rect">
            <a:avLst/>
          </a:prstGeom>
          <a:noFill/>
          <a:ln w="12700">
            <a:noFill/>
          </a:ln>
        </p:spPr>
        <p:txBody>
          <a:bodyPr vert="horz" wrap="square" lIns="91440" tIns="45720" rIns="91440" bIns="45720" anchor="t" anchorCtr="0">
            <a:noAutofit/>
          </a:bodyPr>
          <a:lstStyle>
            <a:lvl1pPr marL="203200" indent="-203200" algn="l" rtl="0" eaLnBrk="0" fontAlgn="base" hangingPunct="0">
              <a:lnSpc>
                <a:spcPct val="75000"/>
              </a:lnSpc>
              <a:spcBef>
                <a:spcPct val="65000"/>
              </a:spcBef>
              <a:spcAft>
                <a:spcPct val="0"/>
              </a:spcAft>
              <a:buSzPct val="100000"/>
              <a:buChar char="°"/>
              <a:defRPr sz="2400" b="1">
                <a:solidFill>
                  <a:schemeClr val="tx1"/>
                </a:solidFill>
                <a:latin typeface="+mn-lt"/>
                <a:ea typeface="+mn-ea"/>
                <a:cs typeface="+mn-cs"/>
              </a:defRPr>
            </a:lvl1pPr>
            <a:lvl2pPr marL="685800" indent="-190500" algn="l" rtl="0" eaLnBrk="0" fontAlgn="base" hangingPunct="0">
              <a:lnSpc>
                <a:spcPct val="85000"/>
              </a:lnSpc>
              <a:spcBef>
                <a:spcPct val="40000"/>
              </a:spcBef>
              <a:spcAft>
                <a:spcPct val="0"/>
              </a:spcAft>
              <a:buSzPct val="100000"/>
              <a:buChar char="•"/>
              <a:defRPr sz="2400" b="1">
                <a:solidFill>
                  <a:schemeClr val="tx1"/>
                </a:solidFill>
                <a:latin typeface="+mn-lt"/>
              </a:defRPr>
            </a:lvl2pPr>
            <a:lvl3pPr marL="1257300" indent="-342900" algn="l" rtl="0" eaLnBrk="0" fontAlgn="base" hangingPunct="0">
              <a:lnSpc>
                <a:spcPct val="85000"/>
              </a:lnSpc>
              <a:spcBef>
                <a:spcPct val="40000"/>
              </a:spcBef>
              <a:spcAft>
                <a:spcPct val="0"/>
              </a:spcAft>
              <a:buSzPct val="100000"/>
              <a:buChar char="-"/>
              <a:defRPr sz="2400" b="1">
                <a:solidFill>
                  <a:schemeClr val="tx1"/>
                </a:solidFill>
                <a:latin typeface="+mn-lt"/>
              </a:defRPr>
            </a:lvl3pPr>
            <a:lvl4pPr marL="1714500" indent="-342900" algn="l" rtl="0" eaLnBrk="0" fontAlgn="base" hangingPunct="0">
              <a:lnSpc>
                <a:spcPct val="85000"/>
              </a:lnSpc>
              <a:spcBef>
                <a:spcPct val="20000"/>
              </a:spcBef>
              <a:spcAft>
                <a:spcPct val="0"/>
              </a:spcAft>
              <a:buChar char="–"/>
              <a:defRPr sz="2000">
                <a:solidFill>
                  <a:schemeClr val="tx1"/>
                </a:solidFill>
                <a:latin typeface="Times New Roman" panose="02020603050405020304" pitchFamily="18" charset="0"/>
              </a:defRPr>
            </a:lvl4pPr>
            <a:lvl5pPr marL="2171700" indent="-342900" algn="l" rtl="0" eaLnBrk="0" fontAlgn="base" hangingPunct="0">
              <a:lnSpc>
                <a:spcPct val="85000"/>
              </a:lnSpc>
              <a:spcBef>
                <a:spcPct val="20000"/>
              </a:spcBef>
              <a:spcAft>
                <a:spcPct val="0"/>
              </a:spcAft>
              <a:buChar char="»"/>
              <a:defRPr sz="2000">
                <a:solidFill>
                  <a:schemeClr val="tx1"/>
                </a:solidFill>
                <a:latin typeface="Times New Roman" panose="02020603050405020304" pitchFamily="18" charset="0"/>
              </a:defRPr>
            </a:lvl5pPr>
            <a:lvl6pPr marL="26289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6pPr>
            <a:lvl7pPr marL="30861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5433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8pPr>
            <a:lvl9pPr marL="40005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indent="0" algn="l" eaLnBrk="1" latinLnBrk="0" hangingPunct="1">
              <a:lnSpc>
                <a:spcPct val="100000"/>
              </a:lnSpc>
              <a:spcBef>
                <a:spcPts val="1200"/>
              </a:spcBef>
              <a:buSzTx/>
              <a:buFont typeface="Wingdings" panose="05000000000000000000" pitchFamily="2" charset="2"/>
              <a:buNone/>
            </a:pPr>
            <a:r>
              <a:rPr lang="en-US" altLang="zh-CN" sz="2000" dirty="0">
                <a:solidFill>
                  <a:schemeClr val="accent1">
                    <a:lumMod val="75000"/>
                  </a:schemeClr>
                </a:solidFill>
                <a:ea typeface="宋体" panose="02010600030101010101" pitchFamily="2" charset="-122"/>
                <a:sym typeface="+mn-ea"/>
              </a:rPr>
              <a:t>PIM</a:t>
            </a:r>
            <a:endParaRPr lang="en-US" altLang="zh-CN" sz="2000" dirty="0">
              <a:solidFill>
                <a:schemeClr val="accent1">
                  <a:lumMod val="75000"/>
                </a:schemeClr>
              </a:solidFill>
              <a:latin typeface="黑体" panose="02010609060101010101" pitchFamily="49" charset="-122"/>
              <a:ea typeface="宋体" panose="02010600030101010101" pitchFamily="2" charset="-122"/>
              <a:sym typeface="+mn-ea"/>
            </a:endParaRPr>
          </a:p>
        </p:txBody>
      </p:sp>
      <p:sp>
        <p:nvSpPr>
          <p:cNvPr id="4" name="Rectangle 3"/>
          <p:cNvSpPr>
            <a:spLocks noGrp="1" noRot="1"/>
          </p:cNvSpPr>
          <p:nvPr>
            <p:custDataLst>
              <p:tags r:id="rId5"/>
            </p:custDataLst>
          </p:nvPr>
        </p:nvSpPr>
        <p:spPr>
          <a:xfrm>
            <a:off x="5382260" y="729615"/>
            <a:ext cx="838835" cy="352425"/>
          </a:xfrm>
          <a:prstGeom prst="rect">
            <a:avLst/>
          </a:prstGeom>
          <a:noFill/>
          <a:ln w="12700">
            <a:noFill/>
          </a:ln>
        </p:spPr>
        <p:txBody>
          <a:bodyPr vert="horz" wrap="square" lIns="91440" tIns="45720" rIns="91440" bIns="45720" anchor="t" anchorCtr="0">
            <a:noAutofit/>
          </a:bodyPr>
          <a:lstStyle>
            <a:lvl1pPr marL="203200" indent="-203200" algn="l" rtl="0" eaLnBrk="0" fontAlgn="base" hangingPunct="0">
              <a:lnSpc>
                <a:spcPct val="75000"/>
              </a:lnSpc>
              <a:spcBef>
                <a:spcPct val="65000"/>
              </a:spcBef>
              <a:spcAft>
                <a:spcPct val="0"/>
              </a:spcAft>
              <a:buSzPct val="100000"/>
              <a:buChar char="°"/>
              <a:defRPr sz="2400" b="1">
                <a:solidFill>
                  <a:schemeClr val="tx1"/>
                </a:solidFill>
                <a:latin typeface="+mn-lt"/>
                <a:ea typeface="+mn-ea"/>
                <a:cs typeface="+mn-cs"/>
              </a:defRPr>
            </a:lvl1pPr>
            <a:lvl2pPr marL="685800" indent="-190500" algn="l" rtl="0" eaLnBrk="0" fontAlgn="base" hangingPunct="0">
              <a:lnSpc>
                <a:spcPct val="85000"/>
              </a:lnSpc>
              <a:spcBef>
                <a:spcPct val="40000"/>
              </a:spcBef>
              <a:spcAft>
                <a:spcPct val="0"/>
              </a:spcAft>
              <a:buSzPct val="100000"/>
              <a:buChar char="•"/>
              <a:defRPr sz="2400" b="1">
                <a:solidFill>
                  <a:schemeClr val="tx1"/>
                </a:solidFill>
                <a:latin typeface="+mn-lt"/>
              </a:defRPr>
            </a:lvl2pPr>
            <a:lvl3pPr marL="1257300" indent="-342900" algn="l" rtl="0" eaLnBrk="0" fontAlgn="base" hangingPunct="0">
              <a:lnSpc>
                <a:spcPct val="85000"/>
              </a:lnSpc>
              <a:spcBef>
                <a:spcPct val="40000"/>
              </a:spcBef>
              <a:spcAft>
                <a:spcPct val="0"/>
              </a:spcAft>
              <a:buSzPct val="100000"/>
              <a:buChar char="-"/>
              <a:defRPr sz="2400" b="1">
                <a:solidFill>
                  <a:schemeClr val="tx1"/>
                </a:solidFill>
                <a:latin typeface="+mn-lt"/>
              </a:defRPr>
            </a:lvl3pPr>
            <a:lvl4pPr marL="1714500" indent="-342900" algn="l" rtl="0" eaLnBrk="0" fontAlgn="base" hangingPunct="0">
              <a:lnSpc>
                <a:spcPct val="85000"/>
              </a:lnSpc>
              <a:spcBef>
                <a:spcPct val="20000"/>
              </a:spcBef>
              <a:spcAft>
                <a:spcPct val="0"/>
              </a:spcAft>
              <a:buChar char="–"/>
              <a:defRPr sz="2000">
                <a:solidFill>
                  <a:schemeClr val="tx1"/>
                </a:solidFill>
                <a:latin typeface="Times New Roman" panose="02020603050405020304" pitchFamily="18" charset="0"/>
              </a:defRPr>
            </a:lvl4pPr>
            <a:lvl5pPr marL="2171700" indent="-342900" algn="l" rtl="0" eaLnBrk="0" fontAlgn="base" hangingPunct="0">
              <a:lnSpc>
                <a:spcPct val="85000"/>
              </a:lnSpc>
              <a:spcBef>
                <a:spcPct val="20000"/>
              </a:spcBef>
              <a:spcAft>
                <a:spcPct val="0"/>
              </a:spcAft>
              <a:buChar char="»"/>
              <a:defRPr sz="2000">
                <a:solidFill>
                  <a:schemeClr val="tx1"/>
                </a:solidFill>
                <a:latin typeface="Times New Roman" panose="02020603050405020304" pitchFamily="18" charset="0"/>
              </a:defRPr>
            </a:lvl5pPr>
            <a:lvl6pPr marL="26289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6pPr>
            <a:lvl7pPr marL="30861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5433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8pPr>
            <a:lvl9pPr marL="40005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indent="0" algn="l" eaLnBrk="1" latinLnBrk="0" hangingPunct="1">
              <a:lnSpc>
                <a:spcPct val="100000"/>
              </a:lnSpc>
              <a:spcBef>
                <a:spcPts val="1200"/>
              </a:spcBef>
              <a:buSzTx/>
              <a:buFont typeface="Wingdings" panose="05000000000000000000" pitchFamily="2" charset="2"/>
              <a:buNone/>
            </a:pPr>
            <a:r>
              <a:rPr lang="en-US" altLang="zh-CN" sz="2000" dirty="0">
                <a:solidFill>
                  <a:schemeClr val="accent1">
                    <a:lumMod val="75000"/>
                  </a:schemeClr>
                </a:solidFill>
                <a:ea typeface="宋体" panose="02010600030101010101" pitchFamily="2" charset="-122"/>
                <a:sym typeface="+mn-ea"/>
              </a:rPr>
              <a:t>PSM</a:t>
            </a:r>
            <a:endParaRPr lang="en-US" altLang="zh-CN" sz="2000" dirty="0">
              <a:solidFill>
                <a:schemeClr val="accent1">
                  <a:lumMod val="75000"/>
                </a:schemeClr>
              </a:solidFill>
              <a:latin typeface="黑体" panose="02010609060101010101" pitchFamily="49" charset="-122"/>
              <a:ea typeface="宋体" panose="02010600030101010101" pitchFamily="2" charset="-122"/>
              <a:sym typeface="+mn-ea"/>
            </a:endParaRPr>
          </a:p>
        </p:txBody>
      </p:sp>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7" name="图片 6"/>
          <p:cNvPicPr>
            <a:picLocks noChangeAspect="1"/>
          </p:cNvPicPr>
          <p:nvPr/>
        </p:nvPicPr>
        <p:blipFill>
          <a:blip r:embed="rId1"/>
          <a:stretch>
            <a:fillRect/>
          </a:stretch>
        </p:blipFill>
        <p:spPr>
          <a:xfrm>
            <a:off x="98425" y="100330"/>
            <a:ext cx="8948420" cy="3178810"/>
          </a:xfrm>
          <a:prstGeom prst="rect">
            <a:avLst/>
          </a:prstGeom>
        </p:spPr>
      </p:pic>
      <p:pic>
        <p:nvPicPr>
          <p:cNvPr id="3" name="图片 2"/>
          <p:cNvPicPr>
            <a:picLocks noChangeAspect="1"/>
          </p:cNvPicPr>
          <p:nvPr/>
        </p:nvPicPr>
        <p:blipFill>
          <a:blip r:embed="rId2"/>
          <a:stretch>
            <a:fillRect/>
          </a:stretch>
        </p:blipFill>
        <p:spPr>
          <a:xfrm>
            <a:off x="3563620" y="1484630"/>
            <a:ext cx="2493645" cy="553085"/>
          </a:xfrm>
          <a:prstGeom prst="rect">
            <a:avLst/>
          </a:prstGeom>
        </p:spPr>
      </p:pic>
      <p:sp>
        <p:nvSpPr>
          <p:cNvPr id="10" name="Content Placeholder 2"/>
          <p:cNvSpPr>
            <a:spLocks noGrp="1"/>
          </p:cNvSpPr>
          <p:nvPr/>
        </p:nvSpPr>
        <p:spPr>
          <a:xfrm>
            <a:off x="120650" y="3328035"/>
            <a:ext cx="8936990" cy="1934845"/>
          </a:xfrm>
          <a:prstGeom prst="rect">
            <a:avLst/>
          </a:prstGeom>
          <a:noFill/>
          <a:extLst>
            <a:ext uri="{909E8E84-426E-40DD-AFC4-6F175D3DCCD1}">
              <a14:hiddenFill xmlns:a14="http://schemas.microsoft.com/office/drawing/2010/main">
                <a:solidFill>
                  <a:schemeClr val="bg1"/>
                </a:solidFill>
              </a14:hiddenFill>
            </a:ext>
          </a:extLst>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marL="0" indent="0">
              <a:lnSpc>
                <a:spcPct val="85000"/>
              </a:lnSpc>
              <a:spcBef>
                <a:spcPts val="300"/>
              </a:spcBef>
              <a:spcAft>
                <a:spcPts val="0"/>
              </a:spcAft>
              <a:buNone/>
            </a:pPr>
            <a:r>
              <a:rPr lang="en-US" sz="2000" b="0" dirty="0" smtClean="0">
                <a:solidFill>
                  <a:schemeClr val="tx1"/>
                </a:solidFill>
                <a:latin typeface="Calibri" panose="020F0502020204030204" charset="0"/>
                <a:cs typeface="Calibri" panose="020F0502020204030204" charset="0"/>
              </a:rPr>
              <a:t>* The translation of </a:t>
            </a:r>
            <a:r>
              <a:rPr lang="en-US" sz="2000" b="0" u="sng" dirty="0" smtClean="0">
                <a:solidFill>
                  <a:schemeClr val="tx1"/>
                </a:solidFill>
                <a:latin typeface="Calibri" panose="020F0502020204030204" charset="0"/>
                <a:cs typeface="Calibri" panose="020F0502020204030204" charset="0"/>
              </a:rPr>
              <a:t>PIM to PSM </a:t>
            </a:r>
            <a:r>
              <a:rPr lang="en-US" sz="2000" b="0" dirty="0" smtClean="0">
                <a:solidFill>
                  <a:schemeClr val="tx1"/>
                </a:solidFill>
                <a:latin typeface="Calibri" panose="020F0502020204030204" charset="0"/>
                <a:cs typeface="Calibri" panose="020F0502020204030204" charset="0"/>
              </a:rPr>
              <a:t>is a </a:t>
            </a:r>
            <a:r>
              <a:rPr lang="en-US" sz="2000" b="0" u="sng" dirty="0" smtClean="0">
                <a:solidFill>
                  <a:schemeClr val="tx1"/>
                </a:solidFill>
                <a:latin typeface="Calibri" panose="020F0502020204030204" charset="0"/>
                <a:cs typeface="Calibri" panose="020F0502020204030204" charset="0"/>
              </a:rPr>
              <a:t>simpler</a:t>
            </a:r>
            <a:r>
              <a:rPr lang="en-US" sz="2000" b="0" dirty="0" smtClean="0">
                <a:solidFill>
                  <a:schemeClr val="tx1"/>
                </a:solidFill>
                <a:latin typeface="Calibri" panose="020F0502020204030204" charset="0"/>
                <a:cs typeface="Calibri" panose="020F0502020204030204" charset="0"/>
              </a:rPr>
              <a:t> technical problem. Commercial tools and open-source tools are available that provide translators from PIMs to common platforms such as Java and J2EE. These use an extensive library of platform-specific rules and patterns to convert a PIM to a PSM. There may be several PSMs for each PIM in the system. If a software system is intended to run on different platforms (e.g., J2EE and .NET), then, in principle, you only have to maintain a single PIM. The PSMs for each platform are automatically generated (Figure 5.20). </a:t>
            </a:r>
            <a:endParaRPr lang="en-US" sz="2000" b="0" dirty="0" smtClean="0">
              <a:solidFill>
                <a:schemeClr val="tx1"/>
              </a:solidFill>
              <a:latin typeface="Calibri" panose="020F0502020204030204" charset="0"/>
              <a:cs typeface="Calibri" panose="020F0502020204030204" charset="0"/>
            </a:endParaRPr>
          </a:p>
        </p:txBody>
      </p:sp>
      <p:sp>
        <p:nvSpPr>
          <p:cNvPr id="8" name="Content Placeholder 2"/>
          <p:cNvSpPr>
            <a:spLocks noGrp="1"/>
          </p:cNvSpPr>
          <p:nvPr/>
        </p:nvSpPr>
        <p:spPr>
          <a:xfrm>
            <a:off x="104140" y="5248910"/>
            <a:ext cx="8936990" cy="1398270"/>
          </a:xfrm>
          <a:prstGeom prst="rect">
            <a:avLst/>
          </a:prstGeom>
          <a:noFill/>
          <a:extLst>
            <a:ext uri="{909E8E84-426E-40DD-AFC4-6F175D3DCCD1}">
              <a14:hiddenFill xmlns:a14="http://schemas.microsoft.com/office/drawing/2010/main">
                <a:solidFill>
                  <a:schemeClr val="bg1"/>
                </a:solidFill>
              </a14:hiddenFill>
            </a:ext>
          </a:extLst>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marL="0" indent="0">
              <a:lnSpc>
                <a:spcPct val="85000"/>
              </a:lnSpc>
              <a:spcBef>
                <a:spcPts val="300"/>
              </a:spcBef>
              <a:spcAft>
                <a:spcPts val="0"/>
              </a:spcAft>
              <a:buNone/>
            </a:pPr>
            <a:r>
              <a:rPr lang="en-US" sz="2000" b="0" dirty="0" smtClean="0">
                <a:solidFill>
                  <a:schemeClr val="tx1"/>
                </a:solidFill>
                <a:latin typeface="Calibri" panose="020F0502020204030204" charset="0"/>
                <a:cs typeface="Calibri" panose="020F0502020204030204" charset="0"/>
              </a:rPr>
              <a:t>* Although MDA support tools include platform-specific translators, these sometimes only offer</a:t>
            </a:r>
            <a:r>
              <a:rPr lang="en-US" sz="2000" b="0" u="sng" dirty="0" smtClean="0">
                <a:solidFill>
                  <a:schemeClr val="tx1"/>
                </a:solidFill>
                <a:latin typeface="Calibri" panose="020F0502020204030204" charset="0"/>
                <a:cs typeface="Calibri" panose="020F0502020204030204" charset="0"/>
              </a:rPr>
              <a:t> partial support</a:t>
            </a:r>
            <a:r>
              <a:rPr lang="en-US" sz="2000" b="0" dirty="0" smtClean="0">
                <a:solidFill>
                  <a:schemeClr val="tx1"/>
                </a:solidFill>
                <a:latin typeface="Calibri" panose="020F0502020204030204" charset="0"/>
                <a:cs typeface="Calibri" panose="020F0502020204030204" charset="0"/>
              </a:rPr>
              <a:t> for translating PIMs to PSMs. The execution environment for a system is</a:t>
            </a:r>
            <a:r>
              <a:rPr lang="en-US" sz="2000" b="0" u="sng" dirty="0" smtClean="0">
                <a:solidFill>
                  <a:schemeClr val="tx1"/>
                </a:solidFill>
                <a:latin typeface="Calibri" panose="020F0502020204030204" charset="0"/>
                <a:cs typeface="Calibri" panose="020F0502020204030204" charset="0"/>
              </a:rPr>
              <a:t> more than</a:t>
            </a:r>
            <a:r>
              <a:rPr lang="en-US" sz="2000" b="0" dirty="0" smtClean="0">
                <a:solidFill>
                  <a:schemeClr val="tx1"/>
                </a:solidFill>
                <a:latin typeface="Calibri" panose="020F0502020204030204" charset="0"/>
                <a:cs typeface="Calibri" panose="020F0502020204030204" charset="0"/>
              </a:rPr>
              <a:t> the standard execution platform, such as J2EE or Java. It also includes other application systems, specific application libraries that may be created for a company, external services, and user interface libraries.</a:t>
            </a:r>
            <a:endParaRPr lang="en-US" sz="2000" b="0" dirty="0" smtClean="0">
              <a:solidFill>
                <a:schemeClr val="tx1"/>
              </a:solidFill>
              <a:latin typeface="Calibri" panose="020F0502020204030204" charset="0"/>
              <a:cs typeface="Calibri" panose="020F0502020204030204" charset="0"/>
            </a:endParaRPr>
          </a:p>
        </p:txBody>
      </p:sp>
      <p:sp>
        <p:nvSpPr>
          <p:cNvPr id="2" name="Rectangle 3"/>
          <p:cNvSpPr>
            <a:spLocks noGrp="1" noRot="1"/>
          </p:cNvSpPr>
          <p:nvPr>
            <p:custDataLst>
              <p:tags r:id="rId3"/>
            </p:custDataLst>
          </p:nvPr>
        </p:nvSpPr>
        <p:spPr>
          <a:xfrm>
            <a:off x="1794510" y="1518920"/>
            <a:ext cx="680085" cy="352425"/>
          </a:xfrm>
          <a:prstGeom prst="rect">
            <a:avLst/>
          </a:prstGeom>
          <a:noFill/>
          <a:ln w="12700">
            <a:noFill/>
          </a:ln>
        </p:spPr>
        <p:txBody>
          <a:bodyPr vert="horz" wrap="square" lIns="91440" tIns="45720" rIns="91440" bIns="45720" anchor="t" anchorCtr="0">
            <a:noAutofit/>
          </a:bodyPr>
          <a:lstStyle>
            <a:lvl1pPr marL="203200" indent="-203200" algn="l" rtl="0" eaLnBrk="0" fontAlgn="base" hangingPunct="0">
              <a:lnSpc>
                <a:spcPct val="75000"/>
              </a:lnSpc>
              <a:spcBef>
                <a:spcPct val="65000"/>
              </a:spcBef>
              <a:spcAft>
                <a:spcPct val="0"/>
              </a:spcAft>
              <a:buSzPct val="100000"/>
              <a:buChar char="°"/>
              <a:defRPr sz="2400" b="1">
                <a:solidFill>
                  <a:schemeClr val="tx1"/>
                </a:solidFill>
                <a:latin typeface="+mn-lt"/>
                <a:ea typeface="+mn-ea"/>
                <a:cs typeface="+mn-cs"/>
              </a:defRPr>
            </a:lvl1pPr>
            <a:lvl2pPr marL="685800" indent="-190500" algn="l" rtl="0" eaLnBrk="0" fontAlgn="base" hangingPunct="0">
              <a:lnSpc>
                <a:spcPct val="85000"/>
              </a:lnSpc>
              <a:spcBef>
                <a:spcPct val="40000"/>
              </a:spcBef>
              <a:spcAft>
                <a:spcPct val="0"/>
              </a:spcAft>
              <a:buSzPct val="100000"/>
              <a:buChar char="•"/>
              <a:defRPr sz="2400" b="1">
                <a:solidFill>
                  <a:schemeClr val="tx1"/>
                </a:solidFill>
                <a:latin typeface="+mn-lt"/>
              </a:defRPr>
            </a:lvl2pPr>
            <a:lvl3pPr marL="1257300" indent="-342900" algn="l" rtl="0" eaLnBrk="0" fontAlgn="base" hangingPunct="0">
              <a:lnSpc>
                <a:spcPct val="85000"/>
              </a:lnSpc>
              <a:spcBef>
                <a:spcPct val="40000"/>
              </a:spcBef>
              <a:spcAft>
                <a:spcPct val="0"/>
              </a:spcAft>
              <a:buSzPct val="100000"/>
              <a:buChar char="-"/>
              <a:defRPr sz="2400" b="1">
                <a:solidFill>
                  <a:schemeClr val="tx1"/>
                </a:solidFill>
                <a:latin typeface="+mn-lt"/>
              </a:defRPr>
            </a:lvl3pPr>
            <a:lvl4pPr marL="1714500" indent="-342900" algn="l" rtl="0" eaLnBrk="0" fontAlgn="base" hangingPunct="0">
              <a:lnSpc>
                <a:spcPct val="85000"/>
              </a:lnSpc>
              <a:spcBef>
                <a:spcPct val="20000"/>
              </a:spcBef>
              <a:spcAft>
                <a:spcPct val="0"/>
              </a:spcAft>
              <a:buChar char="–"/>
              <a:defRPr sz="2000">
                <a:solidFill>
                  <a:schemeClr val="tx1"/>
                </a:solidFill>
                <a:latin typeface="Times New Roman" panose="02020603050405020304" pitchFamily="18" charset="0"/>
              </a:defRPr>
            </a:lvl4pPr>
            <a:lvl5pPr marL="2171700" indent="-342900" algn="l" rtl="0" eaLnBrk="0" fontAlgn="base" hangingPunct="0">
              <a:lnSpc>
                <a:spcPct val="85000"/>
              </a:lnSpc>
              <a:spcBef>
                <a:spcPct val="20000"/>
              </a:spcBef>
              <a:spcAft>
                <a:spcPct val="0"/>
              </a:spcAft>
              <a:buChar char="»"/>
              <a:defRPr sz="2000">
                <a:solidFill>
                  <a:schemeClr val="tx1"/>
                </a:solidFill>
                <a:latin typeface="Times New Roman" panose="02020603050405020304" pitchFamily="18" charset="0"/>
              </a:defRPr>
            </a:lvl5pPr>
            <a:lvl6pPr marL="26289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6pPr>
            <a:lvl7pPr marL="30861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5433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8pPr>
            <a:lvl9pPr marL="40005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indent="0" algn="l" eaLnBrk="1" latinLnBrk="0" hangingPunct="1">
              <a:lnSpc>
                <a:spcPct val="100000"/>
              </a:lnSpc>
              <a:spcBef>
                <a:spcPts val="1200"/>
              </a:spcBef>
              <a:buSzTx/>
              <a:buFont typeface="Wingdings" panose="05000000000000000000" pitchFamily="2" charset="2"/>
              <a:buNone/>
            </a:pPr>
            <a:r>
              <a:rPr lang="en-US" altLang="zh-CN" sz="2000" dirty="0">
                <a:solidFill>
                  <a:schemeClr val="accent1">
                    <a:lumMod val="75000"/>
                  </a:schemeClr>
                </a:solidFill>
                <a:ea typeface="宋体" panose="02010600030101010101" pitchFamily="2" charset="-122"/>
                <a:sym typeface="+mn-ea"/>
              </a:rPr>
              <a:t>PIM</a:t>
            </a:r>
            <a:endParaRPr lang="en-US" altLang="zh-CN" sz="2000" dirty="0">
              <a:solidFill>
                <a:schemeClr val="accent1">
                  <a:lumMod val="75000"/>
                </a:schemeClr>
              </a:solidFill>
              <a:latin typeface="黑体" panose="02010609060101010101" pitchFamily="49" charset="-122"/>
              <a:ea typeface="宋体" panose="02010600030101010101" pitchFamily="2" charset="-122"/>
              <a:sym typeface="+mn-ea"/>
            </a:endParaRPr>
          </a:p>
        </p:txBody>
      </p:sp>
    </p:spTree>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86765"/>
            <a:ext cx="8977630" cy="59753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100" dirty="0">
                <a:solidFill>
                  <a:srgbClr val="0070C0"/>
                </a:solidFill>
                <a:ea typeface="宋体" panose="02010600030101010101" pitchFamily="2" charset="-122"/>
                <a:sym typeface="+mn-ea"/>
              </a:rPr>
              <a:t> </a:t>
            </a:r>
            <a:r>
              <a:rPr lang="zh-CN" altLang="en-US" sz="3100" dirty="0">
                <a:solidFill>
                  <a:schemeClr val="accent1">
                    <a:lumMod val="75000"/>
                  </a:schemeClr>
                </a:solidFill>
                <a:ea typeface="宋体" panose="02010600030101010101" pitchFamily="2" charset="-122"/>
                <a:sym typeface="+mn-ea"/>
              </a:rPr>
              <a:t>Adoption of MDA</a:t>
            </a:r>
            <a:r>
              <a:rPr lang="en-US" altLang="zh-CN" sz="3100" dirty="0">
                <a:solidFill>
                  <a:schemeClr val="accent1">
                    <a:lumMod val="75000"/>
                  </a:schemeClr>
                </a:solidFill>
                <a:ea typeface="宋体" panose="02010600030101010101" pitchFamily="2" charset="-122"/>
                <a:sym typeface="+mn-ea"/>
              </a:rPr>
              <a:t>  </a:t>
            </a:r>
            <a:r>
              <a:rPr lang="zh-CN" altLang="en-US" sz="2400" dirty="0">
                <a:solidFill>
                  <a:schemeClr val="accent1">
                    <a:lumMod val="75000"/>
                  </a:schemeClr>
                </a:solidFill>
                <a:latin typeface="黑体" panose="02010609060101010101" pitchFamily="49" charset="-122"/>
                <a:ea typeface="黑体" panose="02010609060101010101" pitchFamily="49" charset="-122"/>
                <a:sym typeface="+mn-ea"/>
              </a:rPr>
              <a:t>MDA的采用</a:t>
            </a:r>
            <a:endParaRPr lang="zh-CN" altLang="en-US" sz="2400" dirty="0">
              <a:solidFill>
                <a:schemeClr val="accent1">
                  <a:lumMod val="75000"/>
                </a:schemeClr>
              </a:solidFill>
              <a:latin typeface="黑体" panose="02010609060101010101" pitchFamily="49" charset="-122"/>
              <a:ea typeface="黑体" panose="02010609060101010101" pitchFamily="49" charset="-122"/>
              <a:sym typeface="+mn-ea"/>
            </a:endParaRPr>
          </a:p>
        </p:txBody>
      </p:sp>
      <p:sp>
        <p:nvSpPr>
          <p:cNvPr id="4" name="Rectangle 2"/>
          <p:cNvSpPr>
            <a:spLocks noGrp="1"/>
          </p:cNvSpPr>
          <p:nvPr>
            <p:ph type="title"/>
            <p:custDataLst>
              <p:tags r:id="rId2"/>
            </p:custDataLst>
          </p:nvPr>
        </p:nvSpPr>
        <p:spPr>
          <a:xfrm>
            <a:off x="617538" y="198755"/>
            <a:ext cx="455295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5  System modeling</a:t>
            </a:r>
            <a:endParaRPr lang="en-US" altLang="zh-CN" sz="2800" dirty="0">
              <a:solidFill>
                <a:srgbClr val="660066"/>
              </a:solidFill>
              <a:ea typeface="黑体" panose="02010609060101010101" pitchFamily="49" charset="-122"/>
              <a:cs typeface="+mj-lt"/>
            </a:endParaRPr>
          </a:p>
        </p:txBody>
      </p:sp>
      <p:sp>
        <p:nvSpPr>
          <p:cNvPr id="5" name="Content Placeholder 4"/>
          <p:cNvSpPr>
            <a:spLocks noGrp="1"/>
          </p:cNvSpPr>
          <p:nvPr/>
        </p:nvSpPr>
        <p:spPr>
          <a:xfrm>
            <a:off x="61595" y="1384935"/>
            <a:ext cx="9004935" cy="5208905"/>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85000"/>
              </a:lnSpc>
              <a:spcAft>
                <a:spcPts val="0"/>
              </a:spcAft>
            </a:pPr>
            <a:r>
              <a:rPr lang="en-US" sz="3000" dirty="0" smtClean="0">
                <a:solidFill>
                  <a:schemeClr val="accent2">
                    <a:lumMod val="75000"/>
                  </a:schemeClr>
                </a:solidFill>
                <a:latin typeface="Calibri" panose="020F0502020204030204" charset="0"/>
                <a:cs typeface="Calibri" panose="020F0502020204030204" charset="0"/>
              </a:rPr>
              <a:t> When MDA is introduced into an organization, special-purpose translators may have to be created to make use of the facilities available in the local environment.  </a:t>
            </a:r>
            <a:r>
              <a:rPr lang="en-US" sz="2800" b="0" dirty="0" smtClean="0">
                <a:solidFill>
                  <a:schemeClr val="tx1"/>
                </a:solidFill>
                <a:latin typeface="Calibri" panose="020F0502020204030204" charset="0"/>
                <a:cs typeface="Calibri" panose="020F0502020204030204" charset="0"/>
              </a:rPr>
              <a:t>This is one reason why many companies have been reluctant to take on model-driven approaches to development.  </a:t>
            </a:r>
            <a:r>
              <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rPr>
              <a:t>当引入</a:t>
            </a:r>
            <a:r>
              <a:rPr lang="en-US" altLang="zh-CN" sz="2000" kern="0" dirty="0">
                <a:solidFill>
                  <a:schemeClr val="accent1">
                    <a:lumMod val="75000"/>
                  </a:schemeClr>
                </a:solidFill>
                <a:latin typeface="黑体" panose="02010609060101010101" pitchFamily="49" charset="-122"/>
                <a:ea typeface="黑体" panose="02010609060101010101" pitchFamily="49" charset="-122"/>
                <a:cs typeface="+mn-cs"/>
              </a:rPr>
              <a:t>MDA</a:t>
            </a:r>
            <a:r>
              <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rPr>
              <a:t>时，必须创建专用的转换器，以利用局部环境可获得的设施。因此，很多公司不愿意使用</a:t>
            </a:r>
            <a:r>
              <a:rPr lang="en-US" altLang="zh-CN" sz="2000" kern="0" dirty="0">
                <a:solidFill>
                  <a:schemeClr val="accent1">
                    <a:lumMod val="75000"/>
                  </a:schemeClr>
                </a:solidFill>
                <a:latin typeface="黑体" panose="02010609060101010101" pitchFamily="49" charset="-122"/>
                <a:ea typeface="黑体" panose="02010609060101010101" pitchFamily="49" charset="-122"/>
                <a:cs typeface="+mn-cs"/>
              </a:rPr>
              <a:t>....</a:t>
            </a:r>
            <a:endParaRPr lang="en-US" sz="3100" dirty="0" smtClean="0">
              <a:solidFill>
                <a:schemeClr val="accent2">
                  <a:lumMod val="75000"/>
                </a:schemeClr>
              </a:solidFill>
              <a:latin typeface="Calibri" panose="020F0502020204030204" charset="0"/>
              <a:cs typeface="Calibri" panose="020F0502020204030204" charset="0"/>
            </a:endParaRPr>
          </a:p>
          <a:p>
            <a:pPr>
              <a:lnSpc>
                <a:spcPct val="85000"/>
              </a:lnSpc>
              <a:spcAft>
                <a:spcPts val="0"/>
              </a:spcAft>
            </a:pPr>
            <a:r>
              <a:rPr lang="en-US" sz="3000" dirty="0" smtClean="0">
                <a:solidFill>
                  <a:schemeClr val="accent2">
                    <a:lumMod val="75000"/>
                  </a:schemeClr>
                </a:solidFill>
                <a:latin typeface="Calibri" panose="020F0502020204030204" charset="0"/>
                <a:cs typeface="Calibri" panose="020F0502020204030204" charset="0"/>
              </a:rPr>
              <a:t> They do not want to develop or maintain their own tools or to rely on small software companies, who may go out of business, for tool development. </a:t>
            </a:r>
            <a:r>
              <a:rPr lang="en-US" sz="2800" b="0" dirty="0" smtClean="0">
                <a:solidFill>
                  <a:schemeClr val="tx1"/>
                </a:solidFill>
                <a:latin typeface="Calibri" panose="020F0502020204030204" charset="0"/>
                <a:cs typeface="Calibri" panose="020F0502020204030204" charset="0"/>
              </a:rPr>
              <a:t>Without these specialist tools, model-based development requires additional manual coding which reduces the cost-effectiveness of this approach.  </a:t>
            </a:r>
            <a:r>
              <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rPr>
              <a:t>原因：它们不想维护自己的工具或依靠小公司的工具。因而</a:t>
            </a:r>
            <a:r>
              <a:rPr lang="en-US" altLang="zh-CN" sz="2000" kern="0" dirty="0">
                <a:solidFill>
                  <a:schemeClr val="accent1">
                    <a:lumMod val="75000"/>
                  </a:schemeClr>
                </a:solidFill>
                <a:latin typeface="黑体" panose="02010609060101010101" pitchFamily="49" charset="-122"/>
                <a:ea typeface="黑体" panose="02010609060101010101" pitchFamily="49" charset="-122"/>
                <a:cs typeface="+mn-cs"/>
              </a:rPr>
              <a:t>,</a:t>
            </a:r>
            <a:r>
              <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rPr>
              <a:t>需要额外手工编码</a:t>
            </a:r>
            <a:r>
              <a:rPr lang="en-US" altLang="zh-CN" sz="2000" kern="0" dirty="0">
                <a:solidFill>
                  <a:schemeClr val="accent1">
                    <a:lumMod val="75000"/>
                  </a:schemeClr>
                </a:solidFill>
                <a:latin typeface="黑体" panose="02010609060101010101" pitchFamily="49" charset="-122"/>
                <a:ea typeface="黑体" panose="02010609060101010101" pitchFamily="49" charset="-122"/>
                <a:cs typeface="+mn-cs"/>
              </a:rPr>
              <a:t>,</a:t>
            </a:r>
            <a:r>
              <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rPr>
              <a:t>降低了</a:t>
            </a:r>
            <a:r>
              <a:rPr lang="en-US" altLang="zh-CN" sz="2000" kern="0" dirty="0">
                <a:solidFill>
                  <a:schemeClr val="accent1">
                    <a:lumMod val="75000"/>
                  </a:schemeClr>
                </a:solidFill>
                <a:latin typeface="黑体" panose="02010609060101010101" pitchFamily="49" charset="-122"/>
                <a:ea typeface="黑体" panose="02010609060101010101" pitchFamily="49" charset="-122"/>
                <a:cs typeface="+mn-cs"/>
              </a:rPr>
              <a:t>MDA</a:t>
            </a:r>
            <a:r>
              <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rPr>
              <a:t>方法的成本效益</a:t>
            </a:r>
            <a:endPar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endParaRPr>
          </a:p>
          <a:p>
            <a:pPr>
              <a:lnSpc>
                <a:spcPct val="85000"/>
              </a:lnSpc>
              <a:spcAft>
                <a:spcPts val="0"/>
              </a:spcAft>
            </a:pPr>
            <a:endPar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endParaRPr>
          </a:p>
        </p:txBody>
      </p:sp>
    </p:spTree>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6290"/>
            <a:ext cx="8977630" cy="51689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100" dirty="0">
                <a:solidFill>
                  <a:srgbClr val="0070C0"/>
                </a:solidFill>
                <a:ea typeface="宋体" panose="02010600030101010101" pitchFamily="2" charset="-122"/>
                <a:sym typeface="+mn-ea"/>
              </a:rPr>
              <a:t> </a:t>
            </a:r>
            <a:r>
              <a:rPr lang="zh-CN" altLang="en-US" sz="3100" dirty="0">
                <a:solidFill>
                  <a:schemeClr val="accent1">
                    <a:lumMod val="75000"/>
                  </a:schemeClr>
                </a:solidFill>
                <a:ea typeface="宋体" panose="02010600030101010101" pitchFamily="2" charset="-122"/>
                <a:sym typeface="+mn-ea"/>
              </a:rPr>
              <a:t>Adoption of MDA</a:t>
            </a:r>
            <a:r>
              <a:rPr lang="en-US" altLang="zh-CN" sz="3100" dirty="0">
                <a:solidFill>
                  <a:schemeClr val="accent1">
                    <a:lumMod val="75000"/>
                  </a:schemeClr>
                </a:solidFill>
                <a:ea typeface="宋体" panose="02010600030101010101" pitchFamily="2" charset="-122"/>
                <a:sym typeface="+mn-ea"/>
              </a:rPr>
              <a:t>, cont’d</a:t>
            </a:r>
            <a:endParaRPr lang="en-US" altLang="zh-CN" sz="3100" dirty="0">
              <a:solidFill>
                <a:schemeClr val="accent1">
                  <a:lumMod val="75000"/>
                </a:schemeClr>
              </a:solidFill>
              <a:ea typeface="宋体" panose="02010600030101010101" pitchFamily="2" charset="-122"/>
              <a:sym typeface="+mn-ea"/>
            </a:endParaRPr>
          </a:p>
        </p:txBody>
      </p:sp>
      <p:sp>
        <p:nvSpPr>
          <p:cNvPr id="4" name="Rectangle 2"/>
          <p:cNvSpPr>
            <a:spLocks noGrp="1"/>
          </p:cNvSpPr>
          <p:nvPr>
            <p:ph type="title"/>
            <p:custDataLst>
              <p:tags r:id="rId2"/>
            </p:custDataLst>
          </p:nvPr>
        </p:nvSpPr>
        <p:spPr>
          <a:xfrm>
            <a:off x="617538" y="198755"/>
            <a:ext cx="455295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5  System modeling</a:t>
            </a:r>
            <a:endParaRPr lang="en-US" altLang="zh-CN" sz="2800" dirty="0">
              <a:solidFill>
                <a:srgbClr val="660066"/>
              </a:solidFill>
              <a:ea typeface="黑体" panose="02010609060101010101" pitchFamily="49" charset="-122"/>
              <a:cs typeface="+mj-lt"/>
            </a:endParaRPr>
          </a:p>
        </p:txBody>
      </p:sp>
      <p:sp>
        <p:nvSpPr>
          <p:cNvPr id="5" name="Content Placeholder 4"/>
          <p:cNvSpPr>
            <a:spLocks noGrp="1"/>
          </p:cNvSpPr>
          <p:nvPr/>
        </p:nvSpPr>
        <p:spPr>
          <a:xfrm>
            <a:off x="48260" y="1313180"/>
            <a:ext cx="9018905" cy="5195570"/>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85000"/>
              </a:lnSpc>
              <a:spcBef>
                <a:spcPts val="600"/>
              </a:spcBef>
              <a:spcAft>
                <a:spcPts val="0"/>
              </a:spcAft>
            </a:pPr>
            <a:r>
              <a:rPr lang="en-US" sz="3000" dirty="0" smtClean="0">
                <a:solidFill>
                  <a:schemeClr val="accent2">
                    <a:lumMod val="75000"/>
                  </a:schemeClr>
                </a:solidFill>
                <a:latin typeface="Calibri" panose="020F0502020204030204" charset="0"/>
                <a:cs typeface="Calibri" panose="020F0502020204030204" charset="0"/>
              </a:rPr>
              <a:t> Several other reasons why MDA has not become a mainstream approach</a:t>
            </a:r>
            <a:r>
              <a:rPr lang="zh-CN" altLang="en-US" sz="3000" dirty="0" smtClean="0">
                <a:solidFill>
                  <a:schemeClr val="accent2">
                    <a:lumMod val="75000"/>
                  </a:schemeClr>
                </a:solidFill>
                <a:latin typeface="Calibri" panose="020F0502020204030204" charset="0"/>
                <a:ea typeface="宋体" panose="02010600030101010101" pitchFamily="2" charset="-122"/>
                <a:cs typeface="Calibri" panose="020F0502020204030204" charset="0"/>
              </a:rPr>
              <a:t>：</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MDA没成为主流的其他原因</a:t>
            </a:r>
            <a:endParaRPr lang="en-US" sz="3000" dirty="0" smtClean="0">
              <a:solidFill>
                <a:schemeClr val="accent2">
                  <a:lumMod val="75000"/>
                </a:schemeClr>
              </a:solidFill>
              <a:latin typeface="Calibri" panose="020F0502020204030204" charset="0"/>
              <a:cs typeface="Calibri" panose="020F0502020204030204" charset="0"/>
            </a:endParaRPr>
          </a:p>
          <a:p>
            <a:pPr marL="457200" lvl="1" indent="0" algn="l">
              <a:lnSpc>
                <a:spcPct val="85000"/>
              </a:lnSpc>
              <a:spcBef>
                <a:spcPts val="600"/>
              </a:spcBef>
              <a:spcAft>
                <a:spcPts val="0"/>
              </a:spcAft>
              <a:buNone/>
            </a:pPr>
            <a:r>
              <a:rPr lang="en-US" sz="2700" dirty="0" smtClean="0">
                <a:solidFill>
                  <a:schemeClr val="tx1"/>
                </a:solidFill>
                <a:latin typeface="Calibri" panose="020F0502020204030204" charset="0"/>
                <a:cs typeface="Calibri" panose="020F0502020204030204" charset="0"/>
                <a:sym typeface="+mn-ea"/>
              </a:rPr>
              <a:t>1.</a:t>
            </a:r>
            <a:r>
              <a:rPr lang="en-US" sz="2700" b="0" dirty="0" smtClean="0">
                <a:solidFill>
                  <a:schemeClr val="tx1"/>
                </a:solidFill>
                <a:latin typeface="Calibri" panose="020F0502020204030204" charset="0"/>
                <a:cs typeface="Calibri" panose="020F0502020204030204" charset="0"/>
                <a:sym typeface="+mn-ea"/>
              </a:rPr>
              <a:t> Models are a good way of facilitating discussions about a software design. </a:t>
            </a:r>
            <a:r>
              <a:rPr lang="en-US" sz="2700" dirty="0" smtClean="0">
                <a:solidFill>
                  <a:schemeClr val="tx1"/>
                </a:solidFill>
                <a:latin typeface="Calibri" panose="020F0502020204030204" charset="0"/>
                <a:cs typeface="Calibri" panose="020F0502020204030204" charset="0"/>
                <a:sym typeface="+mn-ea"/>
              </a:rPr>
              <a:t>However, it does not always follow that the abstractions that are useful for discussions are the right abstractions for implementation.</a:t>
            </a:r>
            <a:r>
              <a:rPr lang="en-US" sz="2700" b="0" dirty="0" smtClean="0">
                <a:solidFill>
                  <a:schemeClr val="tx1"/>
                </a:solidFill>
                <a:latin typeface="Calibri" panose="020F0502020204030204" charset="0"/>
                <a:cs typeface="Calibri" panose="020F0502020204030204" charset="0"/>
                <a:sym typeface="+mn-ea"/>
              </a:rPr>
              <a:t> You may decide to use a completely different implementation approach that is based on the reuse of off-the-shelf application systems. </a:t>
            </a:r>
            <a:r>
              <a:rPr lang="en-US" sz="2600" b="0" dirty="0" smtClean="0">
                <a:solidFill>
                  <a:schemeClr val="tx1"/>
                </a:solidFill>
                <a:latin typeface="Calibri" panose="020F0502020204030204" charset="0"/>
                <a:cs typeface="Calibri" panose="020F0502020204030204" charset="0"/>
                <a:sym typeface="+mn-ea"/>
              </a:rPr>
              <a:t> </a:t>
            </a:r>
            <a:r>
              <a:rPr lang="zh-CN" altLang="en-US" kern="0" dirty="0">
                <a:solidFill>
                  <a:schemeClr val="accent1">
                    <a:lumMod val="75000"/>
                  </a:schemeClr>
                </a:solidFill>
                <a:latin typeface="黑体" panose="02010609060101010101" pitchFamily="49" charset="-122"/>
                <a:ea typeface="黑体" panose="02010609060101010101" pitchFamily="49" charset="-122"/>
                <a:cs typeface="+mn-cs"/>
                <a:sym typeface="+mn-ea"/>
              </a:rPr>
              <a:t>抽象对讨论有用,对实现未必对。可能使用完全不同的实现方法</a:t>
            </a:r>
            <a:r>
              <a:rPr lang="en-US" altLang="zh-CN" kern="0" dirty="0">
                <a:solidFill>
                  <a:schemeClr val="accent1">
                    <a:lumMod val="75000"/>
                  </a:schemeClr>
                </a:solidFill>
                <a:latin typeface="黑体" panose="02010609060101010101" pitchFamily="49" charset="-122"/>
                <a:ea typeface="黑体" panose="02010609060101010101" pitchFamily="49" charset="-122"/>
                <a:cs typeface="+mn-cs"/>
                <a:sym typeface="+mn-ea"/>
              </a:rPr>
              <a:t>--</a:t>
            </a:r>
            <a:r>
              <a:rPr lang="zh-CN" altLang="en-US" kern="0" dirty="0">
                <a:solidFill>
                  <a:schemeClr val="accent1">
                    <a:lumMod val="75000"/>
                  </a:schemeClr>
                </a:solidFill>
                <a:latin typeface="黑体" panose="02010609060101010101" pitchFamily="49" charset="-122"/>
                <a:ea typeface="黑体" panose="02010609060101010101" pitchFamily="49" charset="-122"/>
                <a:cs typeface="+mn-cs"/>
                <a:sym typeface="+mn-ea"/>
              </a:rPr>
              <a:t>复用成品系统</a:t>
            </a:r>
            <a:endParaRPr lang="zh-CN" altLang="en-US" kern="0" dirty="0">
              <a:solidFill>
                <a:schemeClr val="accent1">
                  <a:lumMod val="75000"/>
                </a:schemeClr>
              </a:solidFill>
              <a:latin typeface="黑体" panose="02010609060101010101" pitchFamily="49" charset="-122"/>
              <a:ea typeface="黑体" panose="02010609060101010101" pitchFamily="49" charset="-122"/>
              <a:cs typeface="+mn-cs"/>
              <a:sym typeface="+mn-ea"/>
            </a:endParaRPr>
          </a:p>
          <a:p>
            <a:pPr marL="457200" lvl="1" indent="0" algn="l">
              <a:lnSpc>
                <a:spcPct val="85000"/>
              </a:lnSpc>
              <a:spcBef>
                <a:spcPts val="600"/>
              </a:spcBef>
              <a:spcAft>
                <a:spcPts val="0"/>
              </a:spcAft>
              <a:buNone/>
            </a:pPr>
            <a:r>
              <a:rPr lang="en-US" sz="2700" dirty="0" smtClean="0">
                <a:solidFill>
                  <a:schemeClr val="tx1"/>
                </a:solidFill>
                <a:latin typeface="Calibri" panose="020F0502020204030204" charset="0"/>
                <a:cs typeface="Calibri" panose="020F0502020204030204" charset="0"/>
              </a:rPr>
              <a:t>2.</a:t>
            </a:r>
            <a:r>
              <a:rPr lang="en-US" sz="2700" b="0" dirty="0" smtClean="0">
                <a:solidFill>
                  <a:schemeClr val="tx1"/>
                </a:solidFill>
                <a:latin typeface="Calibri" panose="020F0502020204030204" charset="0"/>
                <a:cs typeface="Calibri" panose="020F0502020204030204" charset="0"/>
              </a:rPr>
              <a:t> For most complex systems, implementation is not the major problem—requirements engineering, security and dependability, integration with legacy systems and testing are more significant. </a:t>
            </a:r>
            <a:r>
              <a:rPr lang="en-US" sz="2700" dirty="0" smtClean="0">
                <a:solidFill>
                  <a:schemeClr val="tx1"/>
                </a:solidFill>
                <a:latin typeface="Calibri" panose="020F0502020204030204" charset="0"/>
                <a:cs typeface="Calibri" panose="020F0502020204030204" charset="0"/>
              </a:rPr>
              <a:t>Consequently, the gains from the use of MDA are limited</a:t>
            </a:r>
            <a:r>
              <a:rPr lang="en-US" sz="2700" b="0" dirty="0" smtClean="0">
                <a:solidFill>
                  <a:schemeClr val="tx1"/>
                </a:solidFill>
                <a:latin typeface="Calibri" panose="020F0502020204030204" charset="0"/>
                <a:cs typeface="Calibri" panose="020F0502020204030204" charset="0"/>
              </a:rPr>
              <a:t>.  </a:t>
            </a:r>
            <a:r>
              <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rPr>
              <a:t>对于多数复杂系统，使用MDA的收益是有限的</a:t>
            </a:r>
            <a:endPar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endParaRPr>
          </a:p>
        </p:txBody>
      </p:sp>
    </p:spTree>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Rectangle 2"/>
          <p:cNvSpPr>
            <a:spLocks noGrp="1"/>
          </p:cNvSpPr>
          <p:nvPr>
            <p:ph type="title"/>
            <p:custDataLst>
              <p:tags r:id="rId1"/>
            </p:custDataLst>
          </p:nvPr>
        </p:nvSpPr>
        <p:spPr>
          <a:xfrm>
            <a:off x="617538" y="198755"/>
            <a:ext cx="455295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5  System modeling</a:t>
            </a:r>
            <a:endParaRPr lang="en-US" altLang="zh-CN" sz="2800" dirty="0">
              <a:solidFill>
                <a:srgbClr val="660066"/>
              </a:solidFill>
              <a:ea typeface="黑体" panose="02010609060101010101" pitchFamily="49" charset="-122"/>
              <a:cs typeface="+mj-lt"/>
            </a:endParaRPr>
          </a:p>
        </p:txBody>
      </p:sp>
      <p:sp>
        <p:nvSpPr>
          <p:cNvPr id="3" name="Rectangle 3"/>
          <p:cNvSpPr>
            <a:spLocks noGrp="1" noRot="1"/>
          </p:cNvSpPr>
          <p:nvPr>
            <p:ph type="subTitle" idx="1"/>
            <p:custDataLst>
              <p:tags r:id="rId2"/>
            </p:custDataLst>
          </p:nvPr>
        </p:nvSpPr>
        <p:spPr>
          <a:xfrm>
            <a:off x="88900" y="796290"/>
            <a:ext cx="8977630" cy="51689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100" dirty="0">
                <a:solidFill>
                  <a:srgbClr val="0070C0"/>
                </a:solidFill>
                <a:ea typeface="宋体" panose="02010600030101010101" pitchFamily="2" charset="-122"/>
                <a:sym typeface="+mn-ea"/>
              </a:rPr>
              <a:t> </a:t>
            </a:r>
            <a:r>
              <a:rPr lang="zh-CN" altLang="en-US" sz="3100" dirty="0">
                <a:solidFill>
                  <a:schemeClr val="accent1">
                    <a:lumMod val="75000"/>
                  </a:schemeClr>
                </a:solidFill>
                <a:ea typeface="宋体" panose="02010600030101010101" pitchFamily="2" charset="-122"/>
                <a:sym typeface="+mn-ea"/>
              </a:rPr>
              <a:t>Adoption of MDA</a:t>
            </a:r>
            <a:r>
              <a:rPr lang="en-US" altLang="zh-CN" sz="3100" dirty="0">
                <a:solidFill>
                  <a:schemeClr val="accent1">
                    <a:lumMod val="75000"/>
                  </a:schemeClr>
                </a:solidFill>
                <a:ea typeface="宋体" panose="02010600030101010101" pitchFamily="2" charset="-122"/>
                <a:sym typeface="+mn-ea"/>
              </a:rPr>
              <a:t>, cont’d</a:t>
            </a:r>
            <a:endParaRPr lang="en-US" altLang="zh-CN" sz="3100" dirty="0">
              <a:solidFill>
                <a:schemeClr val="accent1">
                  <a:lumMod val="75000"/>
                </a:schemeClr>
              </a:solidFill>
              <a:ea typeface="宋体" panose="02010600030101010101" pitchFamily="2" charset="-122"/>
              <a:sym typeface="+mn-ea"/>
            </a:endParaRPr>
          </a:p>
        </p:txBody>
      </p:sp>
      <p:sp>
        <p:nvSpPr>
          <p:cNvPr id="6" name="Content Placeholder 4"/>
          <p:cNvSpPr>
            <a:spLocks noGrp="1"/>
          </p:cNvSpPr>
          <p:nvPr/>
        </p:nvSpPr>
        <p:spPr>
          <a:xfrm>
            <a:off x="48260" y="1384935"/>
            <a:ext cx="9018905" cy="5045075"/>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85000"/>
              </a:lnSpc>
              <a:spcBef>
                <a:spcPts val="600"/>
              </a:spcBef>
              <a:spcAft>
                <a:spcPts val="0"/>
              </a:spcAft>
            </a:pPr>
            <a:r>
              <a:rPr lang="en-US" sz="3000" dirty="0" smtClean="0">
                <a:solidFill>
                  <a:schemeClr val="accent2">
                    <a:lumMod val="75000"/>
                  </a:schemeClr>
                </a:solidFill>
                <a:latin typeface="Calibri" panose="020F0502020204030204" charset="0"/>
                <a:cs typeface="Calibri" panose="020F0502020204030204" charset="0"/>
              </a:rPr>
              <a:t> Several other reasons why MDA has not become a mainstream approach: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MDA没成为主流的其他原因（续）</a:t>
            </a:r>
            <a:endParaRPr lang="en-US" sz="3000" dirty="0" smtClean="0">
              <a:solidFill>
                <a:schemeClr val="accent2">
                  <a:lumMod val="75000"/>
                </a:schemeClr>
              </a:solidFill>
              <a:latin typeface="Calibri" panose="020F0502020204030204" charset="0"/>
              <a:cs typeface="Calibri" panose="020F0502020204030204" charset="0"/>
            </a:endParaRPr>
          </a:p>
          <a:p>
            <a:pPr marL="457200" lvl="1" indent="0" algn="l">
              <a:lnSpc>
                <a:spcPct val="85000"/>
              </a:lnSpc>
              <a:spcBef>
                <a:spcPts val="600"/>
              </a:spcBef>
              <a:spcAft>
                <a:spcPts val="0"/>
              </a:spcAft>
              <a:buNone/>
            </a:pPr>
            <a:r>
              <a:rPr lang="en-US" sz="2700" dirty="0" smtClean="0">
                <a:solidFill>
                  <a:schemeClr val="tx1"/>
                </a:solidFill>
                <a:latin typeface="Calibri" panose="020F0502020204030204" charset="0"/>
                <a:cs typeface="Calibri" panose="020F0502020204030204" charset="0"/>
                <a:sym typeface="+mn-ea"/>
              </a:rPr>
              <a:t>3.</a:t>
            </a:r>
            <a:r>
              <a:rPr lang="en-US" sz="2700" b="0" dirty="0" smtClean="0">
                <a:solidFill>
                  <a:schemeClr val="tx1"/>
                </a:solidFill>
                <a:latin typeface="Calibri" panose="020F0502020204030204" charset="0"/>
                <a:cs typeface="Calibri" panose="020F0502020204030204" charset="0"/>
                <a:sym typeface="+mn-ea"/>
              </a:rPr>
              <a:t> </a:t>
            </a:r>
            <a:r>
              <a:rPr lang="en-US" sz="2700" dirty="0" smtClean="0">
                <a:solidFill>
                  <a:schemeClr val="tx1"/>
                </a:solidFill>
                <a:latin typeface="Calibri" panose="020F0502020204030204" charset="0"/>
                <a:cs typeface="Calibri" panose="020F0502020204030204" charset="0"/>
                <a:sym typeface="+mn-ea"/>
              </a:rPr>
              <a:t>The arguments for platform independence are only valid for large, long-lifetime systems</a:t>
            </a:r>
            <a:r>
              <a:rPr lang="en-US" sz="2700" b="0" dirty="0" smtClean="0">
                <a:solidFill>
                  <a:schemeClr val="tx1"/>
                </a:solidFill>
                <a:latin typeface="Calibri" panose="020F0502020204030204" charset="0"/>
                <a:cs typeface="Calibri" panose="020F0502020204030204" charset="0"/>
                <a:sym typeface="+mn-ea"/>
              </a:rPr>
              <a:t>, </a:t>
            </a:r>
            <a:r>
              <a:rPr lang="en-US" sz="2700" dirty="0" smtClean="0">
                <a:solidFill>
                  <a:schemeClr val="tx1"/>
                </a:solidFill>
                <a:latin typeface="Calibri" panose="020F0502020204030204" charset="0"/>
                <a:cs typeface="Calibri" panose="020F0502020204030204" charset="0"/>
                <a:sym typeface="+mn-ea"/>
              </a:rPr>
              <a:t>where the platforms become obsolete during a system’s lifetime.</a:t>
            </a:r>
            <a:r>
              <a:rPr lang="en-US" sz="2700" b="0" dirty="0" smtClean="0">
                <a:solidFill>
                  <a:schemeClr val="tx1"/>
                </a:solidFill>
                <a:latin typeface="Calibri" panose="020F0502020204030204" charset="0"/>
                <a:cs typeface="Calibri" panose="020F0502020204030204" charset="0"/>
                <a:sym typeface="+mn-ea"/>
              </a:rPr>
              <a:t> For systems that are developed for standard platforms, such as Windows and Linux, the savings from the use of MDA are likely to be outweighed by the costs of its introduction and tooling.</a:t>
            </a:r>
            <a:r>
              <a:rPr lang="en-US" sz="2600" b="0" dirty="0" smtClean="0">
                <a:solidFill>
                  <a:schemeClr val="tx1"/>
                </a:solidFill>
                <a:latin typeface="Calibri" panose="020F0502020204030204" charset="0"/>
                <a:cs typeface="Calibri" panose="020F0502020204030204" charset="0"/>
                <a:sym typeface="+mn-ea"/>
              </a:rPr>
              <a:t>  </a:t>
            </a:r>
            <a:r>
              <a:rPr lang="zh-CN" altLang="en-US" kern="0" dirty="0">
                <a:solidFill>
                  <a:schemeClr val="accent1">
                    <a:lumMod val="75000"/>
                  </a:schemeClr>
                </a:solidFill>
                <a:latin typeface="黑体" panose="02010609060101010101" pitchFamily="49" charset="-122"/>
                <a:ea typeface="黑体" panose="02010609060101010101" pitchFamily="49" charset="-122"/>
                <a:cs typeface="+mn-cs"/>
                <a:sym typeface="+mn-ea"/>
              </a:rPr>
              <a:t>平台无关性只对大、长生命期系统有效；对于针对标准平台开发的系统，引入</a:t>
            </a:r>
            <a:r>
              <a:rPr lang="en-US" altLang="zh-CN" kern="0" dirty="0">
                <a:solidFill>
                  <a:schemeClr val="accent1">
                    <a:lumMod val="75000"/>
                  </a:schemeClr>
                </a:solidFill>
                <a:latin typeface="黑体" panose="02010609060101010101" pitchFamily="49" charset="-122"/>
                <a:ea typeface="黑体" panose="02010609060101010101" pitchFamily="49" charset="-122"/>
                <a:cs typeface="+mn-cs"/>
                <a:sym typeface="+mn-ea"/>
              </a:rPr>
              <a:t>MDA</a:t>
            </a:r>
            <a:r>
              <a:rPr lang="zh-CN" altLang="en-US" kern="0" dirty="0">
                <a:solidFill>
                  <a:schemeClr val="accent1">
                    <a:lumMod val="75000"/>
                  </a:schemeClr>
                </a:solidFill>
                <a:latin typeface="黑体" panose="02010609060101010101" pitchFamily="49" charset="-122"/>
                <a:ea typeface="黑体" panose="02010609060101010101" pitchFamily="49" charset="-122"/>
                <a:cs typeface="+mn-cs"/>
                <a:sym typeface="+mn-ea"/>
              </a:rPr>
              <a:t>的成本可能会超出</a:t>
            </a:r>
            <a:r>
              <a:rPr lang="zh-CN" altLang="en-US" kern="0" dirty="0">
                <a:solidFill>
                  <a:schemeClr val="accent1">
                    <a:lumMod val="75000"/>
                  </a:schemeClr>
                </a:solidFill>
                <a:latin typeface="黑体" panose="02010609060101010101" pitchFamily="49" charset="-122"/>
                <a:ea typeface="黑体" panose="02010609060101010101" pitchFamily="49" charset="-122"/>
                <a:cs typeface="+mn-cs"/>
                <a:sym typeface="+mn-ea"/>
              </a:rPr>
              <a:t>使用</a:t>
            </a:r>
            <a:r>
              <a:rPr lang="en-US" altLang="zh-CN" kern="0" dirty="0">
                <a:solidFill>
                  <a:schemeClr val="accent1">
                    <a:lumMod val="75000"/>
                  </a:schemeClr>
                </a:solidFill>
                <a:latin typeface="黑体" panose="02010609060101010101" pitchFamily="49" charset="-122"/>
                <a:ea typeface="黑体" panose="02010609060101010101" pitchFamily="49" charset="-122"/>
                <a:cs typeface="+mn-cs"/>
                <a:sym typeface="+mn-ea"/>
              </a:rPr>
              <a:t>MDA</a:t>
            </a:r>
            <a:r>
              <a:rPr lang="zh-CN" altLang="en-US" kern="0" dirty="0">
                <a:solidFill>
                  <a:schemeClr val="accent1">
                    <a:lumMod val="75000"/>
                  </a:schemeClr>
                </a:solidFill>
                <a:latin typeface="黑体" panose="02010609060101010101" pitchFamily="49" charset="-122"/>
                <a:ea typeface="黑体" panose="02010609060101010101" pitchFamily="49" charset="-122"/>
                <a:cs typeface="+mn-cs"/>
                <a:sym typeface="+mn-ea"/>
              </a:rPr>
              <a:t>的收益</a:t>
            </a:r>
            <a:endParaRPr lang="zh-CN" altLang="en-US" kern="0" dirty="0">
              <a:solidFill>
                <a:schemeClr val="accent1">
                  <a:lumMod val="75000"/>
                </a:schemeClr>
              </a:solidFill>
              <a:latin typeface="黑体" panose="02010609060101010101" pitchFamily="49" charset="-122"/>
              <a:ea typeface="黑体" panose="02010609060101010101" pitchFamily="49" charset="-122"/>
              <a:cs typeface="+mn-cs"/>
              <a:sym typeface="+mn-ea"/>
            </a:endParaRPr>
          </a:p>
          <a:p>
            <a:pPr marL="457200" lvl="1" indent="0" algn="l">
              <a:lnSpc>
                <a:spcPct val="85000"/>
              </a:lnSpc>
              <a:spcBef>
                <a:spcPts val="600"/>
              </a:spcBef>
              <a:spcAft>
                <a:spcPts val="0"/>
              </a:spcAft>
              <a:buNone/>
            </a:pPr>
            <a:r>
              <a:rPr lang="en-US" sz="2700" dirty="0" smtClean="0">
                <a:solidFill>
                  <a:schemeClr val="tx1"/>
                </a:solidFill>
                <a:latin typeface="Calibri" panose="020F0502020204030204" charset="0"/>
                <a:cs typeface="Calibri" panose="020F0502020204030204" charset="0"/>
              </a:rPr>
              <a:t>4.</a:t>
            </a:r>
            <a:r>
              <a:rPr lang="en-US" sz="2700" b="0" dirty="0" smtClean="0">
                <a:solidFill>
                  <a:schemeClr val="tx1"/>
                </a:solidFill>
                <a:latin typeface="Calibri" panose="020F0502020204030204" charset="0"/>
                <a:cs typeface="Calibri" panose="020F0502020204030204" charset="0"/>
              </a:rPr>
              <a:t> The widespread adoption of agile methods over the same period that MDA was evolving has diverted attention away from model-driven approaches.</a:t>
            </a:r>
            <a:r>
              <a:rPr lang="en-US" sz="2600" b="0" dirty="0" smtClean="0">
                <a:solidFill>
                  <a:schemeClr val="tx1"/>
                </a:solidFill>
                <a:latin typeface="Calibri" panose="020F0502020204030204" charset="0"/>
                <a:cs typeface="Calibri" panose="020F0502020204030204" charset="0"/>
              </a:rPr>
              <a:t>   </a:t>
            </a:r>
            <a:r>
              <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rPr>
              <a:t>同时期</a:t>
            </a:r>
            <a:r>
              <a:rPr lang="zh-CN" altLang="en-US" kern="0" dirty="0">
                <a:solidFill>
                  <a:schemeClr val="accent1">
                    <a:lumMod val="75000"/>
                  </a:schemeClr>
                </a:solidFill>
                <a:latin typeface="黑体" panose="02010609060101010101" pitchFamily="49" charset="-122"/>
                <a:ea typeface="黑体" panose="02010609060101010101" pitchFamily="49" charset="-122"/>
                <a:cs typeface="+mn-cs"/>
              </a:rPr>
              <a:t>敏捷方法的广泛采用，将注意力从模型驱动方法转移走了</a:t>
            </a:r>
            <a:endParaRPr lang="zh-CN" altLang="en-US" kern="0" dirty="0">
              <a:solidFill>
                <a:schemeClr val="accent1">
                  <a:lumMod val="75000"/>
                </a:schemeClr>
              </a:solidFill>
              <a:latin typeface="黑体" panose="02010609060101010101" pitchFamily="49" charset="-122"/>
              <a:ea typeface="黑体" panose="02010609060101010101" pitchFamily="49" charset="-122"/>
              <a:cs typeface="+mn-cs"/>
            </a:endParaRPr>
          </a:p>
        </p:txBody>
      </p:sp>
    </p:spTree>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63270"/>
            <a:ext cx="8977630" cy="54991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100" dirty="0">
                <a:solidFill>
                  <a:srgbClr val="0070C0"/>
                </a:solidFill>
                <a:ea typeface="宋体" panose="02010600030101010101" pitchFamily="2" charset="-122"/>
                <a:sym typeface="+mn-ea"/>
              </a:rPr>
              <a:t> </a:t>
            </a:r>
            <a:r>
              <a:rPr lang="zh-CN" altLang="en-US" sz="3100" dirty="0">
                <a:solidFill>
                  <a:schemeClr val="accent1">
                    <a:lumMod val="75000"/>
                  </a:schemeClr>
                </a:solidFill>
                <a:ea typeface="宋体" panose="02010600030101010101" pitchFamily="2" charset="-122"/>
                <a:sym typeface="+mn-ea"/>
              </a:rPr>
              <a:t>MDA</a:t>
            </a:r>
            <a:r>
              <a:rPr lang="en-US" altLang="zh-CN" sz="3100" dirty="0">
                <a:solidFill>
                  <a:schemeClr val="accent1">
                    <a:lumMod val="75000"/>
                  </a:schemeClr>
                </a:solidFill>
                <a:ea typeface="宋体" panose="02010600030101010101" pitchFamily="2" charset="-122"/>
                <a:sym typeface="+mn-ea"/>
              </a:rPr>
              <a:t> practice    MDA</a:t>
            </a:r>
            <a:r>
              <a:rPr lang="zh-CN" altLang="en-US" sz="3100" dirty="0">
                <a:solidFill>
                  <a:schemeClr val="accent1">
                    <a:lumMod val="75000"/>
                  </a:schemeClr>
                </a:solidFill>
                <a:ea typeface="宋体" panose="02010600030101010101" pitchFamily="2" charset="-122"/>
                <a:sym typeface="+mn-ea"/>
              </a:rPr>
              <a:t>实践</a:t>
            </a:r>
            <a:endParaRPr lang="zh-CN" altLang="en-US" sz="3100" dirty="0">
              <a:solidFill>
                <a:schemeClr val="accent1">
                  <a:lumMod val="75000"/>
                </a:schemeClr>
              </a:solidFill>
              <a:ea typeface="宋体" panose="02010600030101010101" pitchFamily="2" charset="-122"/>
              <a:sym typeface="+mn-ea"/>
            </a:endParaRPr>
          </a:p>
        </p:txBody>
      </p:sp>
      <p:sp>
        <p:nvSpPr>
          <p:cNvPr id="4" name="Rectangle 2"/>
          <p:cNvSpPr>
            <a:spLocks noGrp="1"/>
          </p:cNvSpPr>
          <p:nvPr>
            <p:ph type="title"/>
            <p:custDataLst>
              <p:tags r:id="rId2"/>
            </p:custDataLst>
          </p:nvPr>
        </p:nvSpPr>
        <p:spPr>
          <a:xfrm>
            <a:off x="617538" y="198755"/>
            <a:ext cx="455295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5  System modeling</a:t>
            </a:r>
            <a:endParaRPr lang="en-US" altLang="zh-CN" sz="2800" dirty="0">
              <a:solidFill>
                <a:srgbClr val="660066"/>
              </a:solidFill>
              <a:ea typeface="黑体" panose="02010609060101010101" pitchFamily="49" charset="-122"/>
              <a:cs typeface="+mj-lt"/>
            </a:endParaRPr>
          </a:p>
        </p:txBody>
      </p:sp>
      <p:sp>
        <p:nvSpPr>
          <p:cNvPr id="5" name="Content Placeholder 4"/>
          <p:cNvSpPr>
            <a:spLocks noGrp="1"/>
          </p:cNvSpPr>
          <p:nvPr/>
        </p:nvSpPr>
        <p:spPr>
          <a:xfrm>
            <a:off x="76200" y="1313180"/>
            <a:ext cx="8976995" cy="4970780"/>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85000"/>
              </a:lnSpc>
              <a:spcAft>
                <a:spcPts val="0"/>
              </a:spcAft>
            </a:pPr>
            <a:r>
              <a:rPr lang="en-US" sz="3000" dirty="0" smtClean="0">
                <a:solidFill>
                  <a:schemeClr val="accent2">
                    <a:lumMod val="75000"/>
                  </a:schemeClr>
                </a:solidFill>
                <a:latin typeface="Calibri" panose="020F0502020204030204" charset="0"/>
                <a:cs typeface="Calibri" panose="020F0502020204030204" charset="0"/>
              </a:rPr>
              <a:t> The success stories for MDA have mostly come from companies that are developing systems products, which include both hardware and software.</a:t>
            </a:r>
            <a:r>
              <a:rPr lang="en-US" sz="2700" dirty="0" smtClean="0">
                <a:solidFill>
                  <a:schemeClr val="accent2">
                    <a:lumMod val="75000"/>
                  </a:schemeClr>
                </a:solidFill>
                <a:latin typeface="Calibri" panose="020F0502020204030204" charset="0"/>
                <a:cs typeface="Calibri" panose="020F0502020204030204" charset="0"/>
              </a:rPr>
              <a:t> </a:t>
            </a:r>
            <a:r>
              <a:rPr lang="en-US" sz="2700" b="0" dirty="0" smtClean="0">
                <a:solidFill>
                  <a:schemeClr val="tx1"/>
                </a:solidFill>
                <a:latin typeface="Calibri" panose="020F0502020204030204" charset="0"/>
                <a:cs typeface="Calibri" panose="020F0502020204030204" charset="0"/>
              </a:rPr>
              <a:t>The software in these products has a long lifetime and may have to be modified to reflect changing hardware technologies. The domain of application (automotive, air traffic control) is often well understood and can be formalized in a CIM.</a:t>
            </a:r>
            <a:r>
              <a:rPr lang="en-US" sz="2800" b="0" dirty="0" smtClean="0">
                <a:solidFill>
                  <a:schemeClr val="tx1"/>
                </a:solidFill>
                <a:latin typeface="Calibri" panose="020F0502020204030204" charset="0"/>
                <a:cs typeface="Calibri" panose="020F0502020204030204" charset="0"/>
              </a:rPr>
              <a:t>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成功故事多来自于系统产品</a:t>
            </a:r>
            <a:r>
              <a:rPr lang="en-US" altLang="zh-CN" sz="2400" kern="0" dirty="0">
                <a:solidFill>
                  <a:schemeClr val="accent1">
                    <a:lumMod val="75000"/>
                  </a:schemeClr>
                </a:solidFill>
                <a:latin typeface="黑体" panose="02010609060101010101" pitchFamily="49" charset="-122"/>
                <a:ea typeface="黑体" panose="02010609060101010101" pitchFamily="49" charset="-122"/>
                <a:cs typeface="+mn-cs"/>
              </a:rPr>
              <a:t>(</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包括硬件和软件</a:t>
            </a:r>
            <a:r>
              <a:rPr lang="en-US" altLang="zh-CN" sz="2400" kern="0" dirty="0">
                <a:solidFill>
                  <a:schemeClr val="accent1">
                    <a:lumMod val="75000"/>
                  </a:schemeClr>
                </a:solidFill>
                <a:latin typeface="黑体" panose="02010609060101010101" pitchFamily="49" charset="-122"/>
                <a:ea typeface="黑体" panose="02010609060101010101" pitchFamily="49" charset="-122"/>
                <a:cs typeface="+mn-cs"/>
              </a:rPr>
              <a:t>)</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开发公司</a:t>
            </a:r>
            <a:endPar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endParaRPr>
          </a:p>
          <a:p>
            <a:pPr>
              <a:lnSpc>
                <a:spcPct val="85000"/>
              </a:lnSpc>
              <a:spcAft>
                <a:spcPts val="0"/>
              </a:spcAft>
            </a:pPr>
            <a:r>
              <a:rPr lang="en-US" sz="3100" dirty="0" smtClean="0">
                <a:solidFill>
                  <a:schemeClr val="accent2">
                    <a:lumMod val="75000"/>
                  </a:schemeClr>
                </a:solidFill>
                <a:latin typeface="Calibri" panose="020F0502020204030204" charset="0"/>
                <a:cs typeface="Calibri" panose="020F0502020204030204" charset="0"/>
              </a:rPr>
              <a:t> There is an uneasy relationship between agile methods and MDA. </a:t>
            </a:r>
            <a:r>
              <a:rPr lang="en-US" sz="2700" b="0" dirty="0" smtClean="0">
                <a:solidFill>
                  <a:schemeClr val="tx1"/>
                </a:solidFill>
                <a:latin typeface="Calibri" panose="020F0502020204030204" charset="0"/>
                <a:cs typeface="Calibri" panose="020F0502020204030204" charset="0"/>
              </a:rPr>
              <a:t>The notion of extensive up-front modeling contradicts the fundamental ideas in the agile manifesto and few agile developers feel comfortable with model-driven engineering. </a:t>
            </a:r>
            <a:r>
              <a:rPr lang="en-US" sz="2800" b="0" dirty="0" smtClean="0">
                <a:solidFill>
                  <a:schemeClr val="tx1"/>
                </a:solidFill>
                <a:latin typeface="Calibri" panose="020F0502020204030204" charset="0"/>
                <a:cs typeface="Calibri" panose="020F0502020204030204" charset="0"/>
              </a:rPr>
              <a:t>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敏捷方法与MDA关系不和谐</a:t>
            </a:r>
            <a:endPar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endParaRPr>
          </a:p>
        </p:txBody>
      </p:sp>
    </p:spTree>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6290"/>
            <a:ext cx="8977630" cy="61150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100" dirty="0">
                <a:solidFill>
                  <a:srgbClr val="0070C0"/>
                </a:solidFill>
                <a:ea typeface="宋体" panose="02010600030101010101" pitchFamily="2" charset="-122"/>
                <a:sym typeface="+mn-ea"/>
              </a:rPr>
              <a:t> </a:t>
            </a:r>
            <a:r>
              <a:rPr lang="zh-CN" altLang="en-US" sz="3100" dirty="0">
                <a:solidFill>
                  <a:schemeClr val="accent1">
                    <a:lumMod val="75000"/>
                  </a:schemeClr>
                </a:solidFill>
                <a:ea typeface="宋体" panose="02010600030101010101" pitchFamily="2" charset="-122"/>
                <a:sym typeface="+mn-ea"/>
              </a:rPr>
              <a:t>Key points</a:t>
            </a:r>
            <a:endParaRPr lang="zh-CN" altLang="en-US" sz="3100" dirty="0">
              <a:solidFill>
                <a:schemeClr val="accent1">
                  <a:lumMod val="75000"/>
                </a:schemeClr>
              </a:solidFill>
              <a:ea typeface="宋体" panose="02010600030101010101" pitchFamily="2" charset="-122"/>
              <a:sym typeface="+mn-ea"/>
            </a:endParaRPr>
          </a:p>
        </p:txBody>
      </p:sp>
      <p:sp>
        <p:nvSpPr>
          <p:cNvPr id="4" name="Rectangle 2"/>
          <p:cNvSpPr>
            <a:spLocks noGrp="1"/>
          </p:cNvSpPr>
          <p:nvPr>
            <p:ph type="title"/>
            <p:custDataLst>
              <p:tags r:id="rId2"/>
            </p:custDataLst>
          </p:nvPr>
        </p:nvSpPr>
        <p:spPr>
          <a:xfrm>
            <a:off x="617538" y="198755"/>
            <a:ext cx="455295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5  System modeling</a:t>
            </a:r>
            <a:endParaRPr lang="en-US" altLang="zh-CN" sz="2800" dirty="0">
              <a:solidFill>
                <a:srgbClr val="660066"/>
              </a:solidFill>
              <a:ea typeface="黑体" panose="02010609060101010101" pitchFamily="49" charset="-122"/>
              <a:cs typeface="+mj-lt"/>
            </a:endParaRPr>
          </a:p>
        </p:txBody>
      </p:sp>
      <p:sp>
        <p:nvSpPr>
          <p:cNvPr id="5" name="Content Placeholder 4"/>
          <p:cNvSpPr>
            <a:spLocks noGrp="1"/>
          </p:cNvSpPr>
          <p:nvPr/>
        </p:nvSpPr>
        <p:spPr>
          <a:xfrm>
            <a:off x="89535" y="1384935"/>
            <a:ext cx="8940165" cy="4942205"/>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90000"/>
              </a:lnSpc>
              <a:spcBef>
                <a:spcPts val="800"/>
              </a:spcBef>
              <a:spcAft>
                <a:spcPts val="0"/>
              </a:spcAft>
            </a:pPr>
            <a:r>
              <a:rPr lang="en-US" sz="2500" b="0" dirty="0" smtClean="0">
                <a:solidFill>
                  <a:schemeClr val="accent2">
                    <a:lumMod val="75000"/>
                  </a:schemeClr>
                </a:solidFill>
                <a:latin typeface="Calibri" panose="020F0502020204030204" charset="0"/>
                <a:cs typeface="Calibri" panose="020F0502020204030204" charset="0"/>
              </a:rPr>
              <a:t> A model is an abstract view of a system that ignores system details. Complementary system models can be developed to show the system’s context, interactions, structure and behavior.</a:t>
            </a:r>
            <a:endParaRPr lang="en-US" sz="2500" b="0" dirty="0" smtClean="0">
              <a:solidFill>
                <a:schemeClr val="accent2">
                  <a:lumMod val="75000"/>
                </a:schemeClr>
              </a:solidFill>
              <a:latin typeface="Calibri" panose="020F0502020204030204" charset="0"/>
              <a:cs typeface="Calibri" panose="020F0502020204030204" charset="0"/>
            </a:endParaRPr>
          </a:p>
          <a:p>
            <a:pPr>
              <a:lnSpc>
                <a:spcPct val="90000"/>
              </a:lnSpc>
              <a:spcBef>
                <a:spcPts val="800"/>
              </a:spcBef>
              <a:spcAft>
                <a:spcPts val="0"/>
              </a:spcAft>
            </a:pPr>
            <a:r>
              <a:rPr lang="en-US" sz="2500" b="0" dirty="0" smtClean="0">
                <a:solidFill>
                  <a:schemeClr val="accent2">
                    <a:lumMod val="75000"/>
                  </a:schemeClr>
                </a:solidFill>
                <a:latin typeface="Calibri" panose="020F0502020204030204" charset="0"/>
                <a:cs typeface="Calibri" panose="020F0502020204030204" charset="0"/>
              </a:rPr>
              <a:t> Context models show how a system that is being modeled is positioned in an environment with other systems and processes. </a:t>
            </a:r>
            <a:endParaRPr lang="en-US" sz="2500" b="0" dirty="0" smtClean="0">
              <a:solidFill>
                <a:schemeClr val="accent2">
                  <a:lumMod val="75000"/>
                </a:schemeClr>
              </a:solidFill>
              <a:latin typeface="Calibri" panose="020F0502020204030204" charset="0"/>
              <a:cs typeface="Calibri" panose="020F0502020204030204" charset="0"/>
            </a:endParaRPr>
          </a:p>
          <a:p>
            <a:pPr>
              <a:lnSpc>
                <a:spcPct val="90000"/>
              </a:lnSpc>
              <a:spcBef>
                <a:spcPts val="800"/>
              </a:spcBef>
              <a:spcAft>
                <a:spcPts val="0"/>
              </a:spcAft>
            </a:pPr>
            <a:r>
              <a:rPr lang="en-US" sz="2500" b="0" dirty="0" smtClean="0">
                <a:solidFill>
                  <a:schemeClr val="accent2">
                    <a:lumMod val="75000"/>
                  </a:schemeClr>
                </a:solidFill>
                <a:latin typeface="Calibri" panose="020F0502020204030204" charset="0"/>
                <a:cs typeface="Calibri" panose="020F0502020204030204" charset="0"/>
              </a:rPr>
              <a:t> Use case diagrams and sequence diagrams are used to describe the interactions between users and systems in the system being designed. Use cases describe interactions between a system and external actors; sequence diagrams add more information to these by showing interactions between system objects.</a:t>
            </a:r>
            <a:endParaRPr lang="en-US" sz="2500" b="0" dirty="0" smtClean="0">
              <a:solidFill>
                <a:schemeClr val="accent2">
                  <a:lumMod val="75000"/>
                </a:schemeClr>
              </a:solidFill>
              <a:latin typeface="Calibri" panose="020F0502020204030204" charset="0"/>
              <a:cs typeface="Calibri" panose="020F0502020204030204" charset="0"/>
            </a:endParaRPr>
          </a:p>
          <a:p>
            <a:pPr>
              <a:lnSpc>
                <a:spcPct val="90000"/>
              </a:lnSpc>
              <a:spcBef>
                <a:spcPts val="800"/>
              </a:spcBef>
              <a:spcAft>
                <a:spcPts val="0"/>
              </a:spcAft>
            </a:pPr>
            <a:r>
              <a:rPr lang="en-US" sz="2500" b="0" dirty="0" smtClean="0">
                <a:solidFill>
                  <a:schemeClr val="accent2">
                    <a:lumMod val="75000"/>
                  </a:schemeClr>
                </a:solidFill>
                <a:latin typeface="Calibri" panose="020F0502020204030204" charset="0"/>
                <a:cs typeface="Calibri" panose="020F0502020204030204" charset="0"/>
              </a:rPr>
              <a:t> Structural models show the organization and architecture of a system. Class diagrams are used to define the static structure of classes in a system and their associations.</a:t>
            </a:r>
            <a:endParaRPr lang="en-US" sz="2500" b="0" dirty="0"/>
          </a:p>
        </p:txBody>
      </p:sp>
    </p:spTree>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42950"/>
            <a:ext cx="8977630" cy="66294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100" dirty="0">
                <a:solidFill>
                  <a:srgbClr val="0070C0"/>
                </a:solidFill>
                <a:ea typeface="宋体" panose="02010600030101010101" pitchFamily="2" charset="-122"/>
                <a:sym typeface="+mn-ea"/>
              </a:rPr>
              <a:t> </a:t>
            </a:r>
            <a:r>
              <a:rPr lang="zh-CN" altLang="en-US" sz="3100" dirty="0">
                <a:solidFill>
                  <a:schemeClr val="accent1">
                    <a:lumMod val="75000"/>
                  </a:schemeClr>
                </a:solidFill>
                <a:ea typeface="宋体" panose="02010600030101010101" pitchFamily="2" charset="-122"/>
                <a:sym typeface="+mn-ea"/>
              </a:rPr>
              <a:t>Key points</a:t>
            </a:r>
            <a:endParaRPr lang="zh-CN" altLang="en-US" sz="3100" dirty="0">
              <a:solidFill>
                <a:schemeClr val="accent1">
                  <a:lumMod val="75000"/>
                </a:schemeClr>
              </a:solidFill>
              <a:ea typeface="宋体" panose="02010600030101010101" pitchFamily="2" charset="-122"/>
              <a:sym typeface="+mn-ea"/>
            </a:endParaRPr>
          </a:p>
        </p:txBody>
      </p:sp>
      <p:sp>
        <p:nvSpPr>
          <p:cNvPr id="4" name="Rectangle 2"/>
          <p:cNvSpPr>
            <a:spLocks noGrp="1"/>
          </p:cNvSpPr>
          <p:nvPr>
            <p:ph type="title"/>
            <p:custDataLst>
              <p:tags r:id="rId2"/>
            </p:custDataLst>
          </p:nvPr>
        </p:nvSpPr>
        <p:spPr>
          <a:xfrm>
            <a:off x="617538" y="198755"/>
            <a:ext cx="455295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5  System modeling</a:t>
            </a:r>
            <a:endParaRPr lang="en-US" altLang="zh-CN" sz="2800" dirty="0">
              <a:solidFill>
                <a:srgbClr val="660066"/>
              </a:solidFill>
              <a:ea typeface="黑体" panose="02010609060101010101" pitchFamily="49" charset="-122"/>
              <a:cs typeface="+mj-lt"/>
            </a:endParaRPr>
          </a:p>
        </p:txBody>
      </p:sp>
      <p:sp>
        <p:nvSpPr>
          <p:cNvPr id="5" name="Content Placeholder 4"/>
          <p:cNvSpPr>
            <a:spLocks noGrp="1"/>
          </p:cNvSpPr>
          <p:nvPr/>
        </p:nvSpPr>
        <p:spPr>
          <a:xfrm>
            <a:off x="89535" y="1313180"/>
            <a:ext cx="8940165" cy="5290820"/>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90000"/>
              </a:lnSpc>
              <a:spcAft>
                <a:spcPts val="0"/>
              </a:spcAft>
            </a:pPr>
            <a:r>
              <a:rPr lang="en-US" sz="2800" b="0" dirty="0" smtClean="0">
                <a:solidFill>
                  <a:schemeClr val="accent2">
                    <a:lumMod val="75000"/>
                  </a:schemeClr>
                </a:solidFill>
                <a:latin typeface="Calibri" panose="020F0502020204030204" charset="0"/>
                <a:cs typeface="Calibri" panose="020F0502020204030204" charset="0"/>
              </a:rPr>
              <a:t> Behavioral models are used to describe the dynamic behavior of an executing system. This behavior can be modeled from the perspective of the data processed by the system, or by the events that stimulate responses from a system.</a:t>
            </a:r>
            <a:endParaRPr lang="en-US" sz="2800" b="0" dirty="0" smtClean="0">
              <a:solidFill>
                <a:schemeClr val="accent2">
                  <a:lumMod val="75000"/>
                </a:schemeClr>
              </a:solidFill>
              <a:latin typeface="Calibri" panose="020F0502020204030204" charset="0"/>
              <a:cs typeface="Calibri" panose="020F0502020204030204" charset="0"/>
            </a:endParaRPr>
          </a:p>
          <a:p>
            <a:pPr>
              <a:lnSpc>
                <a:spcPct val="90000"/>
              </a:lnSpc>
              <a:spcAft>
                <a:spcPts val="0"/>
              </a:spcAft>
            </a:pPr>
            <a:r>
              <a:rPr lang="en-US" sz="2800" b="0" dirty="0" smtClean="0">
                <a:solidFill>
                  <a:schemeClr val="accent2">
                    <a:lumMod val="75000"/>
                  </a:schemeClr>
                </a:solidFill>
                <a:latin typeface="Calibri" panose="020F0502020204030204" charset="0"/>
                <a:cs typeface="Calibri" panose="020F0502020204030204" charset="0"/>
              </a:rPr>
              <a:t> Activity diagrams may be used to model the processing of data, where each activity represents one process step.</a:t>
            </a:r>
            <a:endParaRPr lang="en-US" sz="2800" b="0" dirty="0" smtClean="0">
              <a:solidFill>
                <a:schemeClr val="accent2">
                  <a:lumMod val="75000"/>
                </a:schemeClr>
              </a:solidFill>
              <a:latin typeface="Calibri" panose="020F0502020204030204" charset="0"/>
              <a:cs typeface="Calibri" panose="020F0502020204030204" charset="0"/>
            </a:endParaRPr>
          </a:p>
          <a:p>
            <a:pPr>
              <a:lnSpc>
                <a:spcPct val="90000"/>
              </a:lnSpc>
              <a:spcAft>
                <a:spcPts val="0"/>
              </a:spcAft>
            </a:pPr>
            <a:r>
              <a:rPr lang="en-US" sz="2800" b="0" dirty="0" smtClean="0">
                <a:solidFill>
                  <a:schemeClr val="accent2">
                    <a:lumMod val="75000"/>
                  </a:schemeClr>
                </a:solidFill>
                <a:latin typeface="Calibri" panose="020F0502020204030204" charset="0"/>
                <a:cs typeface="Calibri" panose="020F0502020204030204" charset="0"/>
              </a:rPr>
              <a:t> State diagrams are used to model a system’s behavior in response to internal or external events. </a:t>
            </a:r>
            <a:endParaRPr lang="en-US" sz="2800" b="0" dirty="0" smtClean="0">
              <a:solidFill>
                <a:schemeClr val="accent2">
                  <a:lumMod val="75000"/>
                </a:schemeClr>
              </a:solidFill>
              <a:latin typeface="Calibri" panose="020F0502020204030204" charset="0"/>
              <a:cs typeface="Calibri" panose="020F0502020204030204" charset="0"/>
            </a:endParaRPr>
          </a:p>
          <a:p>
            <a:pPr>
              <a:lnSpc>
                <a:spcPct val="90000"/>
              </a:lnSpc>
              <a:spcAft>
                <a:spcPts val="0"/>
              </a:spcAft>
            </a:pPr>
            <a:r>
              <a:rPr lang="en-US" sz="2800" b="0" dirty="0" smtClean="0">
                <a:solidFill>
                  <a:schemeClr val="accent2">
                    <a:lumMod val="75000"/>
                  </a:schemeClr>
                </a:solidFill>
                <a:latin typeface="Calibri" panose="020F0502020204030204" charset="0"/>
                <a:cs typeface="Calibri" panose="020F0502020204030204" charset="0"/>
              </a:rPr>
              <a:t> Model-driven engineering is an approach to software development in which a system is represented as a set of models that can be automatically transformed to executable code.</a:t>
            </a:r>
            <a:endParaRPr lang="en-US" sz="2800" b="0" dirty="0"/>
          </a:p>
        </p:txBody>
      </p:sp>
    </p:spTree>
  </p:cSld>
  <p:clrMapOvr>
    <a:masterClrMapping/>
  </p:clrMapOvr>
  <p:transition/>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M_BEAUTIFY_FLAG" val=""/>
</p:tagLst>
</file>

<file path=ppt/tags/tag17.xml><?xml version="1.0" encoding="utf-8"?>
<p:tagLst xmlns:p="http://schemas.openxmlformats.org/presentationml/2006/main">
  <p:tag name="KSO_WM_BEAUTIFY_FLAG" val=""/>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BEAUTIFY_FLAG" val=""/>
</p:tagLst>
</file>

<file path=ppt/tags/tag20.xml><?xml version="1.0" encoding="utf-8"?>
<p:tagLst xmlns:p="http://schemas.openxmlformats.org/presentationml/2006/main">
  <p:tag name="KSO_WM_BEAUTIFY_FLAG" val=""/>
</p:tagLst>
</file>

<file path=ppt/tags/tag21.xml><?xml version="1.0" encoding="utf-8"?>
<p:tagLst xmlns:p="http://schemas.openxmlformats.org/presentationml/2006/main">
  <p:tag name="KSO_WM_BEAUTIFY_FLAG" val=""/>
</p:tagLst>
</file>

<file path=ppt/tags/tag22.xml><?xml version="1.0" encoding="utf-8"?>
<p:tagLst xmlns:p="http://schemas.openxmlformats.org/presentationml/2006/main">
  <p:tag name="KSO_WM_BEAUTIFY_FLAG" val=""/>
</p:tagLst>
</file>

<file path=ppt/tags/tag23.xml><?xml version="1.0" encoding="utf-8"?>
<p:tagLst xmlns:p="http://schemas.openxmlformats.org/presentationml/2006/main">
  <p:tag name="KSO_WM_BEAUTIFY_FLAG" val=""/>
</p:tagLst>
</file>

<file path=ppt/tags/tag24.xml><?xml version="1.0" encoding="utf-8"?>
<p:tagLst xmlns:p="http://schemas.openxmlformats.org/presentationml/2006/main">
  <p:tag name="KSO_WM_BEAUTIFY_FLAG" val=""/>
</p:tagLst>
</file>

<file path=ppt/tags/tag25.xml><?xml version="1.0" encoding="utf-8"?>
<p:tagLst xmlns:p="http://schemas.openxmlformats.org/presentationml/2006/main">
  <p:tag name="TABLE_ENDDRAG_ORIGIN_RECT" val="668*339"/>
  <p:tag name="TABLE_ENDDRAG_RECT" val="42*107*668*339"/>
</p:tagLst>
</file>

<file path=ppt/tags/tag26.xml><?xml version="1.0" encoding="utf-8"?>
<p:tagLst xmlns:p="http://schemas.openxmlformats.org/presentationml/2006/main">
  <p:tag name="KSO_WM_BEAUTIFY_FLAG" val=""/>
</p:tagLst>
</file>

<file path=ppt/tags/tag27.xml><?xml version="1.0" encoding="utf-8"?>
<p:tagLst xmlns:p="http://schemas.openxmlformats.org/presentationml/2006/main">
  <p:tag name="KSO_WM_BEAUTIFY_FLAG" val=""/>
</p:tagLst>
</file>

<file path=ppt/tags/tag28.xml><?xml version="1.0" encoding="utf-8"?>
<p:tagLst xmlns:p="http://schemas.openxmlformats.org/presentationml/2006/main">
  <p:tag name="KSO_WM_BEAUTIFY_FLAG" val=""/>
</p:tagLst>
</file>

<file path=ppt/tags/tag29.xml><?xml version="1.0" encoding="utf-8"?>
<p:tagLst xmlns:p="http://schemas.openxmlformats.org/presentationml/2006/main">
  <p:tag name="KSO_WM_BEAUTIFY_FLAG" val=""/>
</p:tagLst>
</file>

<file path=ppt/tags/tag30.xml><?xml version="1.0" encoding="utf-8"?>
<p:tagLst xmlns:p="http://schemas.openxmlformats.org/presentationml/2006/main">
  <p:tag name="KSO_WM_BEAUTIFY_FLAG" val=""/>
</p:tagLst>
</file>

<file path=ppt/tags/tag31.xml><?xml version="1.0" encoding="utf-8"?>
<p:tagLst xmlns:p="http://schemas.openxmlformats.org/presentationml/2006/main">
  <p:tag name="KSO_WM_BEAUTIFY_FLAG" val=""/>
</p:tagLst>
</file>

<file path=ppt/tags/tag32.xml><?xml version="1.0" encoding="utf-8"?>
<p:tagLst xmlns:p="http://schemas.openxmlformats.org/presentationml/2006/main">
  <p:tag name="KSO_WM_BEAUTIFY_FLAG" val=""/>
</p:tagLst>
</file>

<file path=ppt/tags/tag33.xml><?xml version="1.0" encoding="utf-8"?>
<p:tagLst xmlns:p="http://schemas.openxmlformats.org/presentationml/2006/main">
  <p:tag name="KSO_WM_BEAUTIFY_FLAG" val=""/>
</p:tagLst>
</file>

<file path=ppt/tags/tag34.xml><?xml version="1.0" encoding="utf-8"?>
<p:tagLst xmlns:p="http://schemas.openxmlformats.org/presentationml/2006/main">
  <p:tag name="KSO_WM_BEAUTIFY_FLAG" val=""/>
</p:tagLst>
</file>

<file path=ppt/tags/tag35.xml><?xml version="1.0" encoding="utf-8"?>
<p:tagLst xmlns:p="http://schemas.openxmlformats.org/presentationml/2006/main">
  <p:tag name="KSO_WM_BEAUTIFY_FLAG" val=""/>
</p:tagLst>
</file>

<file path=ppt/tags/tag36.xml><?xml version="1.0" encoding="utf-8"?>
<p:tagLst xmlns:p="http://schemas.openxmlformats.org/presentationml/2006/main">
  <p:tag name="KSO_WM_BEAUTIFY_FLAG" val=""/>
</p:tagLst>
</file>

<file path=ppt/tags/tag37.xml><?xml version="1.0" encoding="utf-8"?>
<p:tagLst xmlns:p="http://schemas.openxmlformats.org/presentationml/2006/main">
  <p:tag name="KSO_WM_BEAUTIFY_FLAG" val=""/>
</p:tagLst>
</file>

<file path=ppt/tags/tag38.xml><?xml version="1.0" encoding="utf-8"?>
<p:tagLst xmlns:p="http://schemas.openxmlformats.org/presentationml/2006/main">
  <p:tag name="KSO_WM_BEAUTIFY_FLAG" val=""/>
</p:tagLst>
</file>

<file path=ppt/tags/tag39.xml><?xml version="1.0" encoding="utf-8"?>
<p:tagLst xmlns:p="http://schemas.openxmlformats.org/presentationml/2006/main">
  <p:tag name="KSO_WM_BEAUTIFY_FLAG" val=""/>
</p:tagLst>
</file>

<file path=ppt/tags/tag40.xml><?xml version="1.0" encoding="utf-8"?>
<p:tagLst xmlns:p="http://schemas.openxmlformats.org/presentationml/2006/main">
  <p:tag name="KSO_WM_BEAUTIFY_FLAG" val=""/>
</p:tagLst>
</file>

<file path=ppt/tags/tag41.xml><?xml version="1.0" encoding="utf-8"?>
<p:tagLst xmlns:p="http://schemas.openxmlformats.org/presentationml/2006/main">
  <p:tag name="KSO_WM_BEAUTIFY_FLAG" val=""/>
</p:tagLst>
</file>

<file path=ppt/tags/tag42.xml><?xml version="1.0" encoding="utf-8"?>
<p:tagLst xmlns:p="http://schemas.openxmlformats.org/presentationml/2006/main">
  <p:tag name="KSO_WM_BEAUTIFY_FLAG" val=""/>
</p:tagLst>
</file>

<file path=ppt/tags/tag43.xml><?xml version="1.0" encoding="utf-8"?>
<p:tagLst xmlns:p="http://schemas.openxmlformats.org/presentationml/2006/main">
  <p:tag name="KSO_WM_BEAUTIFY_FLAG" val=""/>
</p:tagLst>
</file>

<file path=ppt/tags/tag44.xml><?xml version="1.0" encoding="utf-8"?>
<p:tagLst xmlns:p="http://schemas.openxmlformats.org/presentationml/2006/main">
  <p:tag name="KSO_WM_BEAUTIFY_FLAG" val=""/>
</p:tagLst>
</file>

<file path=ppt/tags/tag45.xml><?xml version="1.0" encoding="utf-8"?>
<p:tagLst xmlns:p="http://schemas.openxmlformats.org/presentationml/2006/main">
  <p:tag name="KSO_WM_BEAUTIFY_FLAG" val=""/>
</p:tagLst>
</file>

<file path=ppt/tags/tag46.xml><?xml version="1.0" encoding="utf-8"?>
<p:tagLst xmlns:p="http://schemas.openxmlformats.org/presentationml/2006/main">
  <p:tag name="KSO_WM_BEAUTIFY_FLAG" val=""/>
</p:tagLst>
</file>

<file path=ppt/tags/tag47.xml><?xml version="1.0" encoding="utf-8"?>
<p:tagLst xmlns:p="http://schemas.openxmlformats.org/presentationml/2006/main">
  <p:tag name="KSO_WM_BEAUTIFY_FLAG" val=""/>
</p:tagLst>
</file>

<file path=ppt/tags/tag48.xml><?xml version="1.0" encoding="utf-8"?>
<p:tagLst xmlns:p="http://schemas.openxmlformats.org/presentationml/2006/main">
  <p:tag name="KSO_WM_BEAUTIFY_FLAG" val=""/>
</p:tagLst>
</file>

<file path=ppt/tags/tag49.xml><?xml version="1.0" encoding="utf-8"?>
<p:tagLst xmlns:p="http://schemas.openxmlformats.org/presentationml/2006/main">
  <p:tag name="KSO_WM_BEAUTIFY_FLAG" val=""/>
</p:tagLst>
</file>

<file path=ppt/tags/tag50.xml><?xml version="1.0" encoding="utf-8"?>
<p:tagLst xmlns:p="http://schemas.openxmlformats.org/presentationml/2006/main">
  <p:tag name="KSO_WM_BEAUTIFY_FLAG" val=""/>
</p:tagLst>
</file>

<file path=ppt/tags/tag51.xml><?xml version="1.0" encoding="utf-8"?>
<p:tagLst xmlns:p="http://schemas.openxmlformats.org/presentationml/2006/main">
  <p:tag name="KSO_WM_BEAUTIFY_FLAG" val=""/>
</p:tagLst>
</file>

<file path=ppt/tags/tag52.xml><?xml version="1.0" encoding="utf-8"?>
<p:tagLst xmlns:p="http://schemas.openxmlformats.org/presentationml/2006/main">
  <p:tag name="KSO_WM_BEAUTIFY_FLAG" val=""/>
</p:tagLst>
</file>

<file path=ppt/tags/tag53.xml><?xml version="1.0" encoding="utf-8"?>
<p:tagLst xmlns:p="http://schemas.openxmlformats.org/presentationml/2006/main">
  <p:tag name="KSO_WM_BEAUTIFY_FLAG" val=""/>
</p:tagLst>
</file>

<file path=ppt/tags/tag54.xml><?xml version="1.0" encoding="utf-8"?>
<p:tagLst xmlns:p="http://schemas.openxmlformats.org/presentationml/2006/main">
  <p:tag name="KSO_WM_BEAUTIFY_FLAG" val=""/>
</p:tagLst>
</file>

<file path=ppt/tags/tag55.xml><?xml version="1.0" encoding="utf-8"?>
<p:tagLst xmlns:p="http://schemas.openxmlformats.org/presentationml/2006/main">
  <p:tag name="KSO_WM_BEAUTIFY_FLAG" val=""/>
</p:tagLst>
</file>

<file path=ppt/tags/tag56.xml><?xml version="1.0" encoding="utf-8"?>
<p:tagLst xmlns:p="http://schemas.openxmlformats.org/presentationml/2006/main">
  <p:tag name="KSO_WM_BEAUTIFY_FLAG" val=""/>
</p:tagLst>
</file>

<file path=ppt/tags/tag57.xml><?xml version="1.0" encoding="utf-8"?>
<p:tagLst xmlns:p="http://schemas.openxmlformats.org/presentationml/2006/main">
  <p:tag name="KSO_WM_BEAUTIFY_FLAG" val=""/>
</p:tagLst>
</file>

<file path=ppt/tags/tag58.xml><?xml version="1.0" encoding="utf-8"?>
<p:tagLst xmlns:p="http://schemas.openxmlformats.org/presentationml/2006/main">
  <p:tag name="KSO_WM_BEAUTIFY_FLAG" val=""/>
</p:tagLst>
</file>

<file path=ppt/tags/tag59.xml><?xml version="1.0" encoding="utf-8"?>
<p:tagLst xmlns:p="http://schemas.openxmlformats.org/presentationml/2006/main">
  <p:tag name="KSO_WM_BEAUTIFY_FLAG" val=""/>
</p:tagLst>
</file>

<file path=ppt/tags/tag60.xml><?xml version="1.0" encoding="utf-8"?>
<p:tagLst xmlns:p="http://schemas.openxmlformats.org/presentationml/2006/main">
  <p:tag name="KSO_WM_BEAUTIFY_FLAG" val=""/>
</p:tagLst>
</file>

<file path=ppt/tags/tag61.xml><?xml version="1.0" encoding="utf-8"?>
<p:tagLst xmlns:p="http://schemas.openxmlformats.org/presentationml/2006/main">
  <p:tag name="KSO_WM_BEAUTIFY_FLAG" val=""/>
</p:tagLst>
</file>

<file path=ppt/tags/tag62.xml><?xml version="1.0" encoding="utf-8"?>
<p:tagLst xmlns:p="http://schemas.openxmlformats.org/presentationml/2006/main">
  <p:tag name="TABLE_ENDDRAG_ORIGIN_RECT" val="706*313"/>
  <p:tag name="TABLE_ENDDRAG_RECT" val="7*164*706*313"/>
</p:tagLst>
</file>

<file path=ppt/tags/tag63.xml><?xml version="1.0" encoding="utf-8"?>
<p:tagLst xmlns:p="http://schemas.openxmlformats.org/presentationml/2006/main">
  <p:tag name="KSO_WM_BEAUTIFY_FLAG" val=""/>
</p:tagLst>
</file>

<file path=ppt/tags/tag64.xml><?xml version="1.0" encoding="utf-8"?>
<p:tagLst xmlns:p="http://schemas.openxmlformats.org/presentationml/2006/main">
  <p:tag name="KSO_WM_BEAUTIFY_FLAG" val=""/>
</p:tagLst>
</file>

<file path=ppt/tags/tag65.xml><?xml version="1.0" encoding="utf-8"?>
<p:tagLst xmlns:p="http://schemas.openxmlformats.org/presentationml/2006/main">
  <p:tag name="TABLE_ENDDRAG_ORIGIN_RECT" val="699*336"/>
  <p:tag name="TABLE_ENDDRAG_RECT" val="10*109*699*336"/>
</p:tagLst>
</file>

<file path=ppt/tags/tag66.xml><?xml version="1.0" encoding="utf-8"?>
<p:tagLst xmlns:p="http://schemas.openxmlformats.org/presentationml/2006/main">
  <p:tag name="KSO_WM_BEAUTIFY_FLAG" val=""/>
</p:tagLst>
</file>

<file path=ppt/tags/tag67.xml><?xml version="1.0" encoding="utf-8"?>
<p:tagLst xmlns:p="http://schemas.openxmlformats.org/presentationml/2006/main">
  <p:tag name="KSO_WM_BEAUTIFY_FLAG" val=""/>
</p:tagLst>
</file>

<file path=ppt/tags/tag68.xml><?xml version="1.0" encoding="utf-8"?>
<p:tagLst xmlns:p="http://schemas.openxmlformats.org/presentationml/2006/main">
  <p:tag name="KSO_WM_BEAUTIFY_FLAG" val=""/>
</p:tagLst>
</file>

<file path=ppt/tags/tag69.xml><?xml version="1.0" encoding="utf-8"?>
<p:tagLst xmlns:p="http://schemas.openxmlformats.org/presentationml/2006/main">
  <p:tag name="KSO_WM_BEAUTIFY_FLAG" val=""/>
</p:tagLst>
</file>

<file path=ppt/tags/tag70.xml><?xml version="1.0" encoding="utf-8"?>
<p:tagLst xmlns:p="http://schemas.openxmlformats.org/presentationml/2006/main">
  <p:tag name="KSO_WM_BEAUTIFY_FLAG" val=""/>
</p:tagLst>
</file>

<file path=ppt/tags/tag71.xml><?xml version="1.0" encoding="utf-8"?>
<p:tagLst xmlns:p="http://schemas.openxmlformats.org/presentationml/2006/main">
  <p:tag name="KSO_WM_BEAUTIFY_FLAG" val=""/>
</p:tagLst>
</file>

<file path=ppt/tags/tag72.xml><?xml version="1.0" encoding="utf-8"?>
<p:tagLst xmlns:p="http://schemas.openxmlformats.org/presentationml/2006/main">
  <p:tag name="KSO_WM_BEAUTIFY_FLAG" val=""/>
</p:tagLst>
</file>

<file path=ppt/tags/tag73.xml><?xml version="1.0" encoding="utf-8"?>
<p:tagLst xmlns:p="http://schemas.openxmlformats.org/presentationml/2006/main">
  <p:tag name="KSO_WM_BEAUTIFY_FLAG" val=""/>
</p:tagLst>
</file>

<file path=ppt/tags/tag74.xml><?xml version="1.0" encoding="utf-8"?>
<p:tagLst xmlns:p="http://schemas.openxmlformats.org/presentationml/2006/main">
  <p:tag name="KSO_WM_BEAUTIFY_FLAG" val=""/>
</p:tagLst>
</file>

<file path=ppt/tags/tag75.xml><?xml version="1.0" encoding="utf-8"?>
<p:tagLst xmlns:p="http://schemas.openxmlformats.org/presentationml/2006/main">
  <p:tag name="KSO_WM_BEAUTIFY_FLAG" val=""/>
</p:tagLst>
</file>

<file path=ppt/tags/tag76.xml><?xml version="1.0" encoding="utf-8"?>
<p:tagLst xmlns:p="http://schemas.openxmlformats.org/presentationml/2006/main">
  <p:tag name="KSO_WM_BEAUTIFY_FLAG" val=""/>
</p:tagLst>
</file>

<file path=ppt/tags/tag77.xml><?xml version="1.0" encoding="utf-8"?>
<p:tagLst xmlns:p="http://schemas.openxmlformats.org/presentationml/2006/main">
  <p:tag name="KSO_WM_BEAUTIFY_FLAG" val=""/>
</p:tagLst>
</file>

<file path=ppt/tags/tag78.xml><?xml version="1.0" encoding="utf-8"?>
<p:tagLst xmlns:p="http://schemas.openxmlformats.org/presentationml/2006/main">
  <p:tag name="KSO_WM_BEAUTIFY_FLAG" val=""/>
</p:tagLst>
</file>

<file path=ppt/tags/tag79.xml><?xml version="1.0" encoding="utf-8"?>
<p:tagLst xmlns:p="http://schemas.openxmlformats.org/presentationml/2006/main">
  <p:tag name="KSO_WM_BEAUTIFY_FLAG" val=""/>
</p:tagLst>
</file>

<file path=ppt/tags/tag80.xml><?xml version="1.0" encoding="utf-8"?>
<p:tagLst xmlns:p="http://schemas.openxmlformats.org/presentationml/2006/main">
  <p:tag name="KSO_WM_BEAUTIFY_FLAG" val=""/>
</p:tagLst>
</file>

<file path=ppt/tags/tag81.xml><?xml version="1.0" encoding="utf-8"?>
<p:tagLst xmlns:p="http://schemas.openxmlformats.org/presentationml/2006/main">
  <p:tag name="KSO_WM_BEAUTIFY_FLAG" val=""/>
</p:tagLst>
</file>

<file path=ppt/tags/tag82.xml><?xml version="1.0" encoding="utf-8"?>
<p:tagLst xmlns:p="http://schemas.openxmlformats.org/presentationml/2006/main">
  <p:tag name="KSO_WM_BEAUTIFY_FLAG" val=""/>
</p:tagLst>
</file>

<file path=ppt/tags/tag83.xml><?xml version="1.0" encoding="utf-8"?>
<p:tagLst xmlns:p="http://schemas.openxmlformats.org/presentationml/2006/main">
  <p:tag name="KSO_WM_BEAUTIFY_FLAG" val=""/>
</p:tagLst>
</file>

<file path=ppt/tags/tag84.xml><?xml version="1.0" encoding="utf-8"?>
<p:tagLst xmlns:p="http://schemas.openxmlformats.org/presentationml/2006/main">
  <p:tag name="KSO_WM_BEAUTIFY_FLAG" val=""/>
</p:tagLst>
</file>

<file path=ppt/tags/tag85.xml><?xml version="1.0" encoding="utf-8"?>
<p:tagLst xmlns:p="http://schemas.openxmlformats.org/presentationml/2006/main">
  <p:tag name="KSO_WM_BEAUTIFY_FLAG" val=""/>
</p:tagLst>
</file>

<file path=ppt/tags/tag86.xml><?xml version="1.0" encoding="utf-8"?>
<p:tagLst xmlns:p="http://schemas.openxmlformats.org/presentationml/2006/main">
  <p:tag name="KSO_WM_BEAUTIFY_FLAG" val=""/>
</p:tagLst>
</file>

<file path=ppt/tags/tag87.xml><?xml version="1.0" encoding="utf-8"?>
<p:tagLst xmlns:p="http://schemas.openxmlformats.org/presentationml/2006/main">
  <p:tag name="KSO_WM_BEAUTIFY_FLAG" val=""/>
</p:tagLst>
</file>

<file path=ppt/tags/tag88.xml><?xml version="1.0" encoding="utf-8"?>
<p:tagLst xmlns:p="http://schemas.openxmlformats.org/presentationml/2006/main">
  <p:tag name="KSO_WM_BEAUTIFY_FLAG" val=""/>
</p:tagLst>
</file>

<file path=ppt/tags/tag89.xml><?xml version="1.0" encoding="utf-8"?>
<p:tagLst xmlns:p="http://schemas.openxmlformats.org/presentationml/2006/main">
  <p:tag name="KSO_WM_BEAUTIFY_FLAG" val=""/>
</p:tagLst>
</file>

<file path=ppt/tags/tag90.xml><?xml version="1.0" encoding="utf-8"?>
<p:tagLst xmlns:p="http://schemas.openxmlformats.org/presentationml/2006/main">
  <p:tag name="KSO_WM_BEAUTIFY_FLAG" val=""/>
</p:tagLst>
</file>

<file path=ppt/tags/tag91.xml><?xml version="1.0" encoding="utf-8"?>
<p:tagLst xmlns:p="http://schemas.openxmlformats.org/presentationml/2006/main">
  <p:tag name="KSO_WM_BEAUTIFY_FLAG" val=""/>
</p:tagLst>
</file>

<file path=ppt/tags/tag92.xml><?xml version="1.0" encoding="utf-8"?>
<p:tagLst xmlns:p="http://schemas.openxmlformats.org/presentationml/2006/main">
  <p:tag name="KSO_WPP_MARK_KEY" val="49d2eca4-30e1-4ef7-9bc7-486bee5195f9"/>
  <p:tag name="COMMONDATA" val="eyJoZGlkIjoiYWU0ZmM3NzM2M2MzNjY4OGU3MWVlODFhMGQ0MTAxM2IifQ=="/>
</p:tagLst>
</file>

<file path=ppt/theme/theme1.xml><?xml version="1.0" encoding="utf-8"?>
<a:theme xmlns:a="http://schemas.openxmlformats.org/drawingml/2006/main" name="CS152-SP98">
  <a:themeElements>
    <a:clrScheme name="">
      <a:dk1>
        <a:srgbClr val="000000"/>
      </a:dk1>
      <a:lt1>
        <a:srgbClr val="FFFFFF"/>
      </a:lt1>
      <a:dk2>
        <a:srgbClr val="081D58"/>
      </a:dk2>
      <a:lt2>
        <a:srgbClr val="919191"/>
      </a:lt2>
      <a:accent1>
        <a:srgbClr val="FC0128"/>
      </a:accent1>
      <a:accent2>
        <a:srgbClr val="063DE8"/>
      </a:accent2>
      <a:accent3>
        <a:srgbClr val="FFFFFF"/>
      </a:accent3>
      <a:accent4>
        <a:srgbClr val="000000"/>
      </a:accent4>
      <a:accent5>
        <a:srgbClr val="FDAAAC"/>
      </a:accent5>
      <a:accent6>
        <a:srgbClr val="0536D2"/>
      </a:accent6>
      <a:hlink>
        <a:srgbClr val="00DFCA"/>
      </a:hlink>
      <a:folHlink>
        <a:srgbClr val="EAEC5E"/>
      </a:folHlink>
    </a:clrScheme>
    <a:fontScheme name="CS152-SP98">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2700" cap="flat" cmpd="sng" algn="ctr">
          <a:solidFill>
            <a:schemeClr val="tx1"/>
          </a:solidFill>
          <a:prstDash val="solid"/>
          <a:round/>
          <a:headEnd type="none" w="med" len="med"/>
          <a:tailEnd type="none" w="med" len="med"/>
        </a:ln>
      </a:spPr>
      <a:bodyPr vert="horz" wrap="square" lIns="90000" tIns="46800" rIns="90000" bIns="46800" numCol="1" anchor="t" anchorCtr="0" compatLnSpc="1">
        <a:spAutoFit/>
      </a:bodyPr>
      <a:lstStyle>
        <a:defPPr marL="0" marR="0" indent="0" algn="l" defTabSz="914400" rtl="0" eaLnBrk="0" fontAlgn="base" latinLnBrk="0" hangingPunct="0">
          <a:lnSpc>
            <a:spcPct val="100000"/>
          </a:lnSpc>
          <a:spcBef>
            <a:spcPct val="0"/>
          </a:spcBef>
          <a:spcAft>
            <a:spcPct val="0"/>
          </a:spcAft>
          <a:buClrTx/>
          <a:buSzTx/>
          <a:buFontTx/>
          <a:buNone/>
          <a:defRPr kumimoji="0" lang="en-US" altLang="zh-CN" sz="2400" b="1" i="0" u="none" strike="noStrike" cap="none" normalizeH="0" baseline="0" smtClean="0">
            <a:ln>
              <a:noFill/>
            </a:ln>
            <a:solidFill>
              <a:schemeClr val="accent1"/>
            </a:solidFill>
            <a:effectLst/>
            <a:latin typeface="Arial" panose="020B0604020202020204" pitchFamily="34" charset="0"/>
          </a:defRPr>
        </a:defPPr>
      </a:lstStyle>
    </a:spDef>
    <a:lnDef>
      <a:spPr bwMode="auto">
        <a:xfrm>
          <a:off x="0" y="0"/>
          <a:ext cx="1" cy="1"/>
        </a:xfrm>
        <a:custGeom>
          <a:avLst/>
          <a:gdLst/>
          <a:ahLst/>
          <a:cxnLst/>
          <a:rect l="0" t="0" r="0" b="0"/>
          <a:pathLst/>
        </a:custGeom>
        <a:noFill/>
        <a:ln w="12700" cap="flat" cmpd="sng" algn="ctr">
          <a:solidFill>
            <a:schemeClr val="tx1"/>
          </a:solidFill>
          <a:prstDash val="solid"/>
          <a:round/>
          <a:headEnd type="none" w="med" len="med"/>
          <a:tailEnd type="none" w="med" len="med"/>
        </a:ln>
      </a:spPr>
      <a:bodyPr vert="horz" wrap="square" lIns="90000" tIns="46800" rIns="90000" bIns="46800" numCol="1" anchor="t" anchorCtr="0" compatLnSpc="1">
        <a:spAutoFit/>
      </a:bodyPr>
      <a:lstStyle>
        <a:defPPr marL="0" marR="0" indent="0" algn="l" defTabSz="914400" rtl="0" eaLnBrk="0" fontAlgn="base" latinLnBrk="0" hangingPunct="0">
          <a:lnSpc>
            <a:spcPct val="100000"/>
          </a:lnSpc>
          <a:spcBef>
            <a:spcPct val="0"/>
          </a:spcBef>
          <a:spcAft>
            <a:spcPct val="0"/>
          </a:spcAft>
          <a:buClrTx/>
          <a:buSzTx/>
          <a:buFontTx/>
          <a:buNone/>
          <a:defRPr kumimoji="0" lang="en-US" altLang="zh-CN" sz="2400" b="1" i="0" u="none" strike="noStrike" cap="none" normalizeH="0" baseline="0" smtClean="0">
            <a:ln>
              <a:noFill/>
            </a:ln>
            <a:solidFill>
              <a:schemeClr val="accent1"/>
            </a:solidFill>
            <a:effectLst/>
            <a:latin typeface="Arial" panose="020B0604020202020204" pitchFamily="34" charset="0"/>
          </a:defRPr>
        </a:defPPr>
      </a:lstStyle>
    </a:lnDef>
  </a:objectDefaults>
  <a:extraClrSchemeLst>
    <a:extraClrScheme>
      <a:clrScheme name="CS152-SP98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CS152-SP98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CS152-SP98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CS152-SP98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CS152-SP98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CS152-SP98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CS152-SP98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81D58"/>
      </a:dk2>
      <a:lt2>
        <a:srgbClr val="919191"/>
      </a:lt2>
      <a:accent1>
        <a:srgbClr val="FC0128"/>
      </a:accent1>
      <a:accent2>
        <a:srgbClr val="063DE8"/>
      </a:accent2>
      <a:accent3>
        <a:srgbClr val="FFFFFF"/>
      </a:accent3>
      <a:accent4>
        <a:srgbClr val="000000"/>
      </a:accent4>
      <a:accent5>
        <a:srgbClr val="FDAAAC"/>
      </a:accent5>
      <a:accent6>
        <a:srgbClr val="0536D2"/>
      </a:accent6>
      <a:hlink>
        <a:srgbClr val="00DFCA"/>
      </a:hlink>
      <a:folHlink>
        <a:srgbClr val="EAEC5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81D58"/>
      </a:dk2>
      <a:lt2>
        <a:srgbClr val="919191"/>
      </a:lt2>
      <a:accent1>
        <a:srgbClr val="FC0128"/>
      </a:accent1>
      <a:accent2>
        <a:srgbClr val="063DE8"/>
      </a:accent2>
      <a:accent3>
        <a:srgbClr val="FFFFFF"/>
      </a:accent3>
      <a:accent4>
        <a:srgbClr val="000000"/>
      </a:accent4>
      <a:accent5>
        <a:srgbClr val="FDAAAC"/>
      </a:accent5>
      <a:accent6>
        <a:srgbClr val="0536D2"/>
      </a:accent6>
      <a:hlink>
        <a:srgbClr val="00DFCA"/>
      </a:hlink>
      <a:folHlink>
        <a:srgbClr val="EAEC5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35990</Words>
  <Application>WPS 演示</Application>
  <PresentationFormat>信纸(8.5x11 英寸)</PresentationFormat>
  <Paragraphs>512</Paragraphs>
  <Slides>53</Slides>
  <Notes>6</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53</vt:i4>
      </vt:variant>
    </vt:vector>
  </HeadingPairs>
  <TitlesOfParts>
    <vt:vector size="66" baseType="lpstr">
      <vt:lpstr>Arial</vt:lpstr>
      <vt:lpstr>宋体</vt:lpstr>
      <vt:lpstr>Wingdings</vt:lpstr>
      <vt:lpstr>Times New Roman</vt:lpstr>
      <vt:lpstr>黑体</vt:lpstr>
      <vt:lpstr>仿宋</vt:lpstr>
      <vt:lpstr>Arial</vt:lpstr>
      <vt:lpstr>MS PGothic</vt:lpstr>
      <vt:lpstr>Calibri</vt:lpstr>
      <vt:lpstr>微软雅黑</vt:lpstr>
      <vt:lpstr>Arial Unicode MS</vt:lpstr>
      <vt:lpstr>Symbol</vt:lpstr>
      <vt:lpstr>CS152-SP98</vt:lpstr>
      <vt:lpstr> Software Engineering</vt:lpstr>
      <vt:lpstr>Chap. 5  System modeling</vt:lpstr>
      <vt:lpstr>Chap. 5  System modeling</vt:lpstr>
      <vt:lpstr>Chap. 5  System modeling</vt:lpstr>
      <vt:lpstr>Chap. 5  System modeling</vt:lpstr>
      <vt:lpstr>Chap. 5  System modeling</vt:lpstr>
      <vt:lpstr>Chap. 5  System modeling</vt:lpstr>
      <vt:lpstr>Chap. 5  System modeling</vt:lpstr>
      <vt:lpstr>PowerPoint 演示文稿</vt:lpstr>
      <vt:lpstr>Chap. 5  System modeling</vt:lpstr>
      <vt:lpstr>PowerPoint 演示文稿</vt:lpstr>
      <vt:lpstr>Chap. 5  System modeling</vt:lpstr>
      <vt:lpstr>Chap. 5  System modeling</vt:lpstr>
      <vt:lpstr>Chap. 5  System modeling</vt:lpstr>
      <vt:lpstr>Chap. 5  System modeling</vt:lpstr>
      <vt:lpstr>Chap. 5  System modeling</vt:lpstr>
      <vt:lpstr>Chap. 5  System modeling</vt:lpstr>
      <vt:lpstr>PowerPoint 演示文稿</vt:lpstr>
      <vt:lpstr>PowerPoint 演示文稿</vt:lpstr>
      <vt:lpstr>Chap. 5  System modeling</vt:lpstr>
      <vt:lpstr>Chap. 5  System modeling</vt:lpstr>
      <vt:lpstr>Chap. 5  System modeling</vt:lpstr>
      <vt:lpstr>Chap. 5  System modeling</vt:lpstr>
      <vt:lpstr>Chap. 5  System modeling</vt:lpstr>
      <vt:lpstr>Chap. 5  System modeling</vt:lpstr>
      <vt:lpstr>Chap. 5  System modeling</vt:lpstr>
      <vt:lpstr>Chap. 5  System modeling</vt:lpstr>
      <vt:lpstr>Chap. 5  System modeling</vt:lpstr>
      <vt:lpstr>Chap. 5  System modeling</vt:lpstr>
      <vt:lpstr>Chap. 5  System modeling</vt:lpstr>
      <vt:lpstr>Chap. 5  System modeling</vt:lpstr>
      <vt:lpstr>Chap. 5  System modeling</vt:lpstr>
      <vt:lpstr>Chap. 5  System modeling</vt:lpstr>
      <vt:lpstr>PowerPoint 演示文稿</vt:lpstr>
      <vt:lpstr>Chap. 5  System modeling</vt:lpstr>
      <vt:lpstr>PowerPoint 演示文稿</vt:lpstr>
      <vt:lpstr>Chap. 5  System modeling</vt:lpstr>
      <vt:lpstr>PowerPoint 演示文稿</vt:lpstr>
      <vt:lpstr>PowerPoint 演示文稿</vt:lpstr>
      <vt:lpstr>Chap. 5  System modeling</vt:lpstr>
      <vt:lpstr>Chap. 5  System modeling</vt:lpstr>
      <vt:lpstr>Chap. 5  System modeling</vt:lpstr>
      <vt:lpstr>Chap. 5  System modeling</vt:lpstr>
      <vt:lpstr>Chap. 5  System modeling</vt:lpstr>
      <vt:lpstr>Chap. 5  System modeling</vt:lpstr>
      <vt:lpstr>PowerPoint 演示文稿</vt:lpstr>
      <vt:lpstr>PowerPoint 演示文稿</vt:lpstr>
      <vt:lpstr>Chap. 5  System modeling</vt:lpstr>
      <vt:lpstr>Chap. 5  System modeling</vt:lpstr>
      <vt:lpstr>Chap. 5  System modeling</vt:lpstr>
      <vt:lpstr>Chap. 5  System modeling</vt:lpstr>
      <vt:lpstr>Chap. 5  System modeling</vt:lpstr>
      <vt:lpstr>Chap. 5  System modeling</vt:lpstr>
    </vt:vector>
  </TitlesOfParts>
  <Company>UC Berkeley</Company>
  <LinksUpToDate>false</LinksUpToDate>
  <SharedDoc>false</SharedDoc>
  <HyperlinksChanged>false</HyperlinksChanged>
  <AppVersion>14.0000</AppVersion>
  <Pages>47</Page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Computer Architecture</dc:title>
  <dc:creator/>
  <cp:lastModifiedBy>WPS_1662112355</cp:lastModifiedBy>
  <cp:revision>2124</cp:revision>
  <cp:lastPrinted>1999-08-22T22:40:00Z</cp:lastPrinted>
  <dcterms:created xsi:type="dcterms:W3CDTF">1997-08-19T16:58:00Z</dcterms:created>
  <dcterms:modified xsi:type="dcterms:W3CDTF">2025-10-25T09:48:38Z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2052-12.1.0.23125</vt:lpwstr>
  </property>
  <property fmtid="{D5CDD505-2E9C-101B-9397-08002B2CF9AE}" pid="3" name="ICV">
    <vt:lpwstr>3E2B1C6E25C54BFF8474069605F54195_13</vt:lpwstr>
  </property>
</Properties>
</file>