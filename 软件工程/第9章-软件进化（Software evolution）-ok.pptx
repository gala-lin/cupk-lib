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6"/>
  </p:handoutMasterIdLst>
  <p:sldIdLst>
    <p:sldId id="256" r:id="rId3"/>
    <p:sldId id="1597" r:id="rId5"/>
    <p:sldId id="1834" r:id="rId6"/>
    <p:sldId id="1835" r:id="rId7"/>
    <p:sldId id="1836" r:id="rId8"/>
    <p:sldId id="1837" r:id="rId9"/>
    <p:sldId id="1839" r:id="rId10"/>
    <p:sldId id="1840" r:id="rId11"/>
    <p:sldId id="1841" r:id="rId12"/>
    <p:sldId id="1842" r:id="rId13"/>
    <p:sldId id="1848" r:id="rId14"/>
    <p:sldId id="1849" r:id="rId15"/>
    <p:sldId id="1850" r:id="rId16"/>
    <p:sldId id="1851" r:id="rId17"/>
    <p:sldId id="1852" r:id="rId18"/>
    <p:sldId id="1853" r:id="rId19"/>
    <p:sldId id="1854" r:id="rId20"/>
    <p:sldId id="1891" r:id="rId21"/>
    <p:sldId id="1867" r:id="rId22"/>
    <p:sldId id="1868" r:id="rId23"/>
    <p:sldId id="1869" r:id="rId24"/>
    <p:sldId id="1870" r:id="rId25"/>
  </p:sldIdLst>
  <p:sldSz cx="9144000" cy="6858000" type="letter"/>
  <p:notesSz cx="9163050" cy="6877050"/>
  <p:custDataLst>
    <p:tags r:id="rId30"/>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13" userDrawn="1">
          <p15:clr>
            <a:srgbClr val="A4A3A4"/>
          </p15:clr>
        </p15:guide>
        <p15:guide id="2" pos="2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13"/>
        <p:guide pos="287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43.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2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28.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40.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21043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Evolution processes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演化过程</a:t>
            </a:r>
            <a:endParaRPr 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Legacy systems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遗留系统</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Software maintenance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软件维护</a:t>
            </a:r>
            <a:r>
              <a:rPr lang="en-US" sz="3200" dirty="0" smtClean="0">
                <a:solidFill>
                  <a:schemeClr val="tx2">
                    <a:lumMod val="75000"/>
                    <a:lumOff val="25000"/>
                  </a:schemeClr>
                </a:solidFill>
                <a:latin typeface="Calibri" panose="020F0502020204030204" charset="0"/>
                <a:cs typeface="Calibri" panose="020F0502020204030204" charset="0"/>
              </a:rPr>
              <a:t> </a:t>
            </a:r>
            <a:endParaRPr lang="en-US"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Software change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软件变更</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66563" name="Rectangle 3"/>
          <p:cNvSpPr>
            <a:spLocks noGrp="1" noChangeArrowheads="1"/>
          </p:cNvSpPr>
          <p:nvPr/>
        </p:nvSpPr>
        <p:spPr>
          <a:xfrm>
            <a:off x="50800" y="1241425"/>
            <a:ext cx="9012555" cy="53994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100" dirty="0">
                <a:solidFill>
                  <a:schemeClr val="tx2">
                    <a:lumMod val="75000"/>
                    <a:lumOff val="25000"/>
                  </a:schemeClr>
                </a:solidFill>
                <a:latin typeface="Calibri" panose="020F0502020204030204" charset="0"/>
                <a:cs typeface="Calibri" panose="020F0502020204030204" charset="0"/>
              </a:rPr>
              <a:t> During their lifetime, operational software systems have to change if they are to remain useful. </a:t>
            </a:r>
            <a:r>
              <a:rPr lang="zh-CN" altLang="en-US"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必须变更</a:t>
            </a:r>
            <a:endParaRPr lang="zh-CN" altLang="en-US"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Business changes and changes to user expectations generate new requirements for the software. </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业务变化和用户期望的改变，产生了新需求</a:t>
            </a:r>
            <a:endPar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Parts of the software may have to be modified to correct errors that are found in operation, to adapt it for changes to its hardware and software platform, and to improve its performance or other non-functional characteristics.  </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修改软件，为了:修正错误,适应硬</a:t>
            </a:r>
            <a:r>
              <a:rPr lang="en-US" altLang="zh-CN"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软件平台的变化</a:t>
            </a:r>
            <a:r>
              <a:rPr lang="en-US" altLang="zh-CN"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改进性能或其他非功能特性</a:t>
            </a:r>
            <a:endParaRPr lang="en-US" altLang="en-GB" sz="2800" b="0" dirty="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Software products and apps have to evolve to cope with platform changes and new features introduced by their competitors.  </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应对平台变化和</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竞争者引入的</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新特征</a:t>
            </a:r>
            <a:endPar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Importance of evolution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演化的重要性</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66563" name="Rectangle 3"/>
          <p:cNvSpPr>
            <a:spLocks noGrp="1" noChangeArrowheads="1"/>
          </p:cNvSpPr>
          <p:nvPr/>
        </p:nvSpPr>
        <p:spPr>
          <a:xfrm>
            <a:off x="31115" y="1241425"/>
            <a:ext cx="9035415" cy="53714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a:solidFill>
                  <a:schemeClr val="tx2">
                    <a:lumMod val="75000"/>
                    <a:lumOff val="25000"/>
                  </a:schemeClr>
                </a:solidFill>
                <a:latin typeface="Calibri" panose="020F0502020204030204" charset="0"/>
                <a:cs typeface="Calibri" panose="020F0502020204030204" charset="0"/>
              </a:rPr>
              <a:t> Businesses have to change their software to ensure that they continue to get value from it. </a:t>
            </a:r>
            <a:r>
              <a:rPr lang="en-US" sz="2700" b="0" dirty="0">
                <a:solidFill>
                  <a:schemeClr val="tx1"/>
                </a:solidFill>
                <a:latin typeface="Calibri" panose="020F0502020204030204" charset="0"/>
                <a:cs typeface="Calibri" panose="020F0502020204030204" charset="0"/>
              </a:rPr>
              <a:t>Their systems are critical business assets, and they have to invest in change to maintain the value of these assets. Consequently, most large companies spend more on maintaining existing systems than on new systems development. </a:t>
            </a:r>
            <a:r>
              <a:rPr lang="en-US"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持续获得价值</a:t>
            </a:r>
            <a:endParaRPr sz="2800" b="0" dirty="0">
              <a:solidFill>
                <a:schemeClr val="tx1"/>
              </a:solidFill>
              <a:latin typeface="Calibri" panose="020F0502020204030204" charset="0"/>
              <a:cs typeface="Calibri" panose="020F0502020204030204" charset="0"/>
            </a:endParaRPr>
          </a:p>
          <a:p>
            <a:pPr>
              <a:lnSpc>
                <a:spcPct val="85000"/>
              </a:lnSpc>
              <a:spcAft>
                <a:spcPts val="0"/>
              </a:spcAft>
            </a:pPr>
            <a:r>
              <a:rPr sz="3100" dirty="0">
                <a:solidFill>
                  <a:schemeClr val="tx2">
                    <a:lumMod val="75000"/>
                    <a:lumOff val="25000"/>
                  </a:schemeClr>
                </a:solidFill>
                <a:latin typeface="Calibri" panose="020F0502020204030204" charset="0"/>
                <a:cs typeface="Calibri" panose="020F0502020204030204" charset="0"/>
              </a:rPr>
              <a:t> Software evolution is particularly expensive in enterprise systems when individual software systems are part of a broader “system of systems.” </a:t>
            </a:r>
            <a:r>
              <a:rPr lang="en-US" sz="2700" b="0" dirty="0">
                <a:solidFill>
                  <a:schemeClr val="tx1"/>
                </a:solidFill>
                <a:latin typeface="Calibri" panose="020F0502020204030204" charset="0"/>
                <a:cs typeface="Calibri" panose="020F0502020204030204" charset="0"/>
              </a:rPr>
              <a:t>Y</a:t>
            </a:r>
            <a:r>
              <a:rPr sz="2700" b="0" dirty="0">
                <a:solidFill>
                  <a:schemeClr val="tx1"/>
                </a:solidFill>
                <a:latin typeface="Calibri" panose="020F0502020204030204" charset="0"/>
                <a:cs typeface="Calibri" panose="020F0502020204030204" charset="0"/>
              </a:rPr>
              <a:t>ou</a:t>
            </a:r>
            <a:r>
              <a:rPr lang="en-US" sz="2700" b="0" dirty="0">
                <a:solidFill>
                  <a:schemeClr val="tx1"/>
                </a:solidFill>
                <a:latin typeface="Calibri" panose="020F0502020204030204" charset="0"/>
                <a:cs typeface="Calibri" panose="020F0502020204030204" charset="0"/>
              </a:rPr>
              <a:t> </a:t>
            </a:r>
            <a:r>
              <a:rPr sz="2700" b="0" dirty="0">
                <a:solidFill>
                  <a:schemeClr val="tx1"/>
                </a:solidFill>
                <a:latin typeface="Calibri" panose="020F0502020204030204" charset="0"/>
                <a:cs typeface="Calibri" panose="020F0502020204030204" charset="0"/>
              </a:rPr>
              <a:t>cannot just consider the changes to one system; you also need to examine how the</a:t>
            </a:r>
            <a:r>
              <a:rPr lang="en-US" sz="2700" b="0" dirty="0">
                <a:solidFill>
                  <a:schemeClr val="tx1"/>
                </a:solidFill>
                <a:latin typeface="Calibri" panose="020F0502020204030204" charset="0"/>
                <a:cs typeface="Calibri" panose="020F0502020204030204" charset="0"/>
              </a:rPr>
              <a:t> </a:t>
            </a:r>
            <a:r>
              <a:rPr sz="2700" b="0" dirty="0">
                <a:solidFill>
                  <a:schemeClr val="tx1"/>
                </a:solidFill>
                <a:latin typeface="Calibri" panose="020F0502020204030204" charset="0"/>
                <a:cs typeface="Calibri" panose="020F0502020204030204" charset="0"/>
              </a:rPr>
              <a:t>changes affect the broader system of systems</a:t>
            </a:r>
            <a:r>
              <a:rPr lang="en-US" sz="2700" b="0" dirty="0">
                <a:solidFill>
                  <a:schemeClr val="tx1"/>
                </a:solidFill>
                <a:latin typeface="Calibri" panose="020F0502020204030204" charset="0"/>
                <a:cs typeface="Calibri" panose="020F0502020204030204" charset="0"/>
              </a:rPr>
              <a:t> (brownfield systems)</a:t>
            </a:r>
            <a:r>
              <a:rPr sz="2700" b="0" dirty="0">
                <a:solidFill>
                  <a:schemeClr val="tx1"/>
                </a:solidFill>
                <a:latin typeface="Calibri" panose="020F0502020204030204" charset="0"/>
                <a:cs typeface="Calibri" panose="020F0502020204030204" charset="0"/>
              </a:rPr>
              <a:t>. Changing one system may mean that</a:t>
            </a:r>
            <a:r>
              <a:rPr lang="en-US" sz="2700" b="0" dirty="0">
                <a:solidFill>
                  <a:schemeClr val="tx1"/>
                </a:solidFill>
                <a:latin typeface="Calibri" panose="020F0502020204030204" charset="0"/>
                <a:cs typeface="Calibri" panose="020F0502020204030204" charset="0"/>
              </a:rPr>
              <a:t> </a:t>
            </a:r>
            <a:r>
              <a:rPr sz="2700" b="0" dirty="0">
                <a:solidFill>
                  <a:schemeClr val="tx1"/>
                </a:solidFill>
                <a:latin typeface="Calibri" panose="020F0502020204030204" charset="0"/>
                <a:cs typeface="Calibri" panose="020F0502020204030204" charset="0"/>
              </a:rPr>
              <a:t>other systems in its environment may also have to evolve to cope with that change.</a:t>
            </a:r>
            <a:r>
              <a:rPr lang="en-US" sz="27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棕地系统:演化尤其昂贵</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7630" cy="5632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A spiral model of development and evolution </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2447925" y="1179195"/>
            <a:ext cx="6604635" cy="4445000"/>
          </a:xfrm>
          <a:prstGeom prst="rect">
            <a:avLst/>
          </a:prstGeom>
        </p:spPr>
      </p:pic>
      <p:pic>
        <p:nvPicPr>
          <p:cNvPr id="5" name="图片 4"/>
          <p:cNvPicPr>
            <a:picLocks noChangeAspect="1"/>
          </p:cNvPicPr>
          <p:nvPr/>
        </p:nvPicPr>
        <p:blipFill>
          <a:blip r:embed="rId4"/>
          <a:stretch>
            <a:fillRect/>
          </a:stretch>
        </p:blipFill>
        <p:spPr>
          <a:xfrm>
            <a:off x="2642870" y="1340485"/>
            <a:ext cx="1800225" cy="628650"/>
          </a:xfrm>
          <a:prstGeom prst="rect">
            <a:avLst/>
          </a:prstGeom>
        </p:spPr>
      </p:pic>
      <p:sp>
        <p:nvSpPr>
          <p:cNvPr id="7" name="Content Placeholder 2"/>
          <p:cNvSpPr>
            <a:spLocks noGrp="1"/>
          </p:cNvSpPr>
          <p:nvPr/>
        </p:nvSpPr>
        <p:spPr>
          <a:xfrm>
            <a:off x="88900" y="1460500"/>
            <a:ext cx="2595245" cy="378777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New releases of the systems that incorporate changes and updates are usually created at </a:t>
            </a:r>
            <a:r>
              <a:rPr lang="en-US" sz="2000" b="0" u="sng" dirty="0" smtClean="0">
                <a:solidFill>
                  <a:schemeClr val="tx1"/>
                </a:solidFill>
                <a:latin typeface="Calibri" panose="020F0502020204030204" charset="0"/>
                <a:cs typeface="Calibri" panose="020F0502020204030204" charset="0"/>
              </a:rPr>
              <a:t>regular intervals</a:t>
            </a:r>
            <a:r>
              <a:rPr lang="en-US" sz="2000" b="0" dirty="0" smtClean="0">
                <a:solidFill>
                  <a:schemeClr val="tx1"/>
                </a:solidFill>
                <a:latin typeface="Calibri" panose="020F0502020204030204" charset="0"/>
                <a:cs typeface="Calibri" panose="020F0502020204030204" charset="0"/>
              </a:rPr>
              <a:t>.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Software engineering is therefore a </a:t>
            </a:r>
            <a:r>
              <a:rPr lang="en-US" sz="2000" b="0" u="sng" dirty="0" smtClean="0">
                <a:solidFill>
                  <a:schemeClr val="tx1"/>
                </a:solidFill>
                <a:latin typeface="Calibri" panose="020F0502020204030204" charset="0"/>
                <a:cs typeface="Calibri" panose="020F0502020204030204" charset="0"/>
              </a:rPr>
              <a:t>spiral process</a:t>
            </a:r>
            <a:r>
              <a:rPr lang="en-US" sz="2000" b="0" dirty="0" smtClean="0">
                <a:solidFill>
                  <a:schemeClr val="tx1"/>
                </a:solidFill>
                <a:latin typeface="Calibri" panose="020F0502020204030204" charset="0"/>
                <a:cs typeface="Calibri" panose="020F0502020204030204" charset="0"/>
              </a:rPr>
              <a:t> with requirements, design, implementation, and testing going on throughout the lifetime of the system.</a:t>
            </a:r>
            <a:endParaRPr lang="en-US" sz="2000" b="0" dirty="0" smtClean="0">
              <a:solidFill>
                <a:schemeClr val="tx1"/>
              </a:solidFill>
              <a:latin typeface="Calibri" panose="020F0502020204030204" charset="0"/>
              <a:cs typeface="Calibri" panose="020F0502020204030204" charset="0"/>
            </a:endParaRPr>
          </a:p>
        </p:txBody>
      </p:sp>
      <p:sp>
        <p:nvSpPr>
          <p:cNvPr id="6" name="Content Placeholder 2"/>
          <p:cNvSpPr>
            <a:spLocks noGrp="1"/>
          </p:cNvSpPr>
          <p:nvPr/>
        </p:nvSpPr>
        <p:spPr>
          <a:xfrm>
            <a:off x="144145" y="5586730"/>
            <a:ext cx="8877935" cy="111125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You start by creating release 1 of system. Once delivered, changes are proposed, and the development of release 2 starts almost immediately. In fact, the need for evolution may become obvious even before the system is deployed, so later releases  may start development before the current version has even been released.</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5810"/>
            <a:ext cx="8977630" cy="6210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Evolution and servicing</a:t>
            </a:r>
            <a:r>
              <a:rPr lang="en-US" altLang="zh-CN" sz="3100" dirty="0">
                <a:solidFill>
                  <a:schemeClr val="accent1">
                    <a:lumMod val="75000"/>
                  </a:schemeClr>
                </a:solidFill>
                <a:ea typeface="宋体" panose="02010600030101010101" pitchFamily="2" charset="-122"/>
                <a:sym typeface="+mn-ea"/>
              </a:rPr>
              <a:t>   </a:t>
            </a:r>
            <a:r>
              <a:rPr lang="zh-CN" altLang="en-US" sz="2400" kern="12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rPr>
              <a:t>演化和维修</a:t>
            </a:r>
            <a:r>
              <a:rPr lang="zh-CN" altLang="en-US" sz="3100" dirty="0">
                <a:solidFill>
                  <a:schemeClr val="accent1">
                    <a:lumMod val="75000"/>
                  </a:schemeClr>
                </a:solidFill>
                <a:ea typeface="宋体" panose="02010600030101010101" pitchFamily="2" charset="-122"/>
                <a:sym typeface="+mn-ea"/>
              </a:rPr>
              <a:t> </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47625" y="4460875"/>
            <a:ext cx="9043035" cy="2092960"/>
          </a:xfrm>
          <a:prstGeom prst="rect">
            <a:avLst/>
          </a:prstGeom>
        </p:spPr>
      </p:pic>
      <p:sp>
        <p:nvSpPr>
          <p:cNvPr id="66563" name="Rectangle 3"/>
          <p:cNvSpPr>
            <a:spLocks noGrp="1" noChangeArrowheads="1"/>
          </p:cNvSpPr>
          <p:nvPr/>
        </p:nvSpPr>
        <p:spPr>
          <a:xfrm>
            <a:off x="31115" y="1313180"/>
            <a:ext cx="9035415" cy="31584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a:solidFill>
                  <a:schemeClr val="tx2">
                    <a:lumMod val="75000"/>
                    <a:lumOff val="25000"/>
                  </a:schemeClr>
                </a:solidFill>
                <a:latin typeface="Calibri" panose="020F0502020204030204" charset="0"/>
                <a:cs typeface="Calibri" panose="020F0502020204030204" charset="0"/>
              </a:rPr>
              <a:t> In an alternative view of the software evolution life cycle for business systems, the distinguish between evolution and servicing was made. </a:t>
            </a:r>
            <a:r>
              <a:rPr lang="en-US" sz="2800" b="0" dirty="0">
                <a:solidFill>
                  <a:schemeClr val="tx1"/>
                </a:solidFill>
                <a:latin typeface="Calibri" panose="020F0502020204030204" charset="0"/>
                <a:cs typeface="Calibri" panose="020F0502020204030204" charset="0"/>
              </a:rPr>
              <a:t>Evolution is the phase in which </a:t>
            </a:r>
            <a:r>
              <a:rPr lang="en-US" sz="2800" b="0" u="sng" dirty="0">
                <a:solidFill>
                  <a:schemeClr val="tx1"/>
                </a:solidFill>
                <a:latin typeface="Calibri" panose="020F0502020204030204" charset="0"/>
                <a:cs typeface="Calibri" panose="020F0502020204030204" charset="0"/>
              </a:rPr>
              <a:t>significant changes</a:t>
            </a:r>
            <a:r>
              <a:rPr lang="en-US" sz="2800" b="0" dirty="0">
                <a:solidFill>
                  <a:schemeClr val="tx1"/>
                </a:solidFill>
                <a:latin typeface="Calibri" panose="020F0502020204030204" charset="0"/>
                <a:cs typeface="Calibri" panose="020F0502020204030204" charset="0"/>
              </a:rPr>
              <a:t> to the software architecture and functionality are made. During servicing, the only changes that are made are </a:t>
            </a:r>
            <a:r>
              <a:rPr lang="en-US" sz="2800" b="0" u="sng" dirty="0">
                <a:solidFill>
                  <a:schemeClr val="tx1"/>
                </a:solidFill>
                <a:latin typeface="Calibri" panose="020F0502020204030204" charset="0"/>
                <a:cs typeface="Calibri" panose="020F0502020204030204" charset="0"/>
              </a:rPr>
              <a:t>relatively small</a:t>
            </a:r>
            <a:r>
              <a:rPr lang="en-US" sz="2800" b="0" u="sng" dirty="0">
                <a:solidFill>
                  <a:schemeClr val="tx1"/>
                </a:solidFill>
                <a:latin typeface="Calibri" panose="020F0502020204030204" charset="0"/>
                <a:cs typeface="Calibri" panose="020F0502020204030204" charset="0"/>
              </a:rPr>
              <a:t> but essential</a:t>
            </a:r>
            <a:r>
              <a:rPr lang="en-US" sz="2800" b="0" dirty="0">
                <a:solidFill>
                  <a:schemeClr val="tx1"/>
                </a:solidFill>
                <a:latin typeface="Calibri" panose="020F0502020204030204" charset="0"/>
                <a:cs typeface="Calibri" panose="020F0502020204030204" charset="0"/>
              </a:rPr>
              <a:t> changes. These phases overlap with each other, as shown in Figure 9.2.   </a:t>
            </a:r>
            <a:r>
              <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另一个视图:区别演化和维修</a:t>
            </a:r>
            <a:endParaRPr lang="zh-CN" altLang="en-US" sz="240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p:txBody>
      </p:sp>
      <p:pic>
        <p:nvPicPr>
          <p:cNvPr id="3" name="图片 2"/>
          <p:cNvPicPr>
            <a:picLocks noChangeAspect="1"/>
          </p:cNvPicPr>
          <p:nvPr/>
        </p:nvPicPr>
        <p:blipFill>
          <a:blip r:embed="rId4"/>
          <a:stretch>
            <a:fillRect/>
          </a:stretch>
        </p:blipFill>
        <p:spPr>
          <a:xfrm>
            <a:off x="452120" y="5644515"/>
            <a:ext cx="1638300" cy="44767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3740"/>
            <a:ext cx="8977630" cy="5378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100" dirty="0">
                <a:solidFill>
                  <a:schemeClr val="accent1">
                    <a:lumMod val="75000"/>
                  </a:schemeClr>
                </a:solidFill>
                <a:ea typeface="宋体" panose="02010600030101010101" pitchFamily="2" charset="-122"/>
                <a:sym typeface="+mn-ea"/>
              </a:rPr>
              <a:t> 9.1 Evolution processes</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演化过程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3025" y="1241425"/>
            <a:ext cx="8993505" cy="53879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most appropriate evolution process for a software system depends on:</a:t>
            </a:r>
            <a:r>
              <a:rPr lang="en-US" sz="2800" b="0" dirty="0" smtClean="0">
                <a:solidFill>
                  <a:schemeClr val="tx1"/>
                </a:solidFill>
                <a:latin typeface="Calibri" panose="020F0502020204030204" charset="0"/>
                <a:cs typeface="Calibri" panose="020F0502020204030204" charset="0"/>
              </a:rPr>
              <a:t> the type of software being maintained, the software development processes used, and the skills of the people involved.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演化过程取决于软件类型、开发过程、人员技能</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Formal or informal system change proposals are the driver for system evolution. </a:t>
            </a:r>
            <a:r>
              <a:rPr lang="en-US" sz="2800" b="0" dirty="0" smtClean="0">
                <a:solidFill>
                  <a:schemeClr val="tx1"/>
                </a:solidFill>
                <a:latin typeface="Calibri" panose="020F0502020204030204" charset="0"/>
                <a:cs typeface="Calibri" panose="020F0502020204030204" charset="0"/>
              </a:rPr>
              <a:t>In a change proposal, an individual or group suggests changes and updates to an existing software system. These proposals may be based on existing requirements that have not been implemented in the released system, requests for new requirements, bug reports from system stakeholders, and new ideas for software improvement from the system development team.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正式和非正式变更建议是系统演化的驱动力</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2"/>
          <a:stretch>
            <a:fillRect/>
          </a:stretch>
        </p:blipFill>
        <p:spPr>
          <a:xfrm>
            <a:off x="1313180" y="1355725"/>
            <a:ext cx="7747635" cy="5000625"/>
          </a:xfrm>
          <a:prstGeom prst="rect">
            <a:avLst/>
          </a:prstGeom>
        </p:spPr>
      </p:pic>
      <p:pic>
        <p:nvPicPr>
          <p:cNvPr id="5" name="图片 4"/>
          <p:cNvPicPr>
            <a:picLocks noChangeAspect="1"/>
          </p:cNvPicPr>
          <p:nvPr/>
        </p:nvPicPr>
        <p:blipFill>
          <a:blip r:embed="rId3"/>
          <a:stretch>
            <a:fillRect/>
          </a:stretch>
        </p:blipFill>
        <p:spPr>
          <a:xfrm>
            <a:off x="7092315" y="1700530"/>
            <a:ext cx="1571625" cy="657225"/>
          </a:xfrm>
          <a:prstGeom prst="rect">
            <a:avLst/>
          </a:prstGeom>
        </p:spPr>
      </p:pic>
      <p:sp>
        <p:nvSpPr>
          <p:cNvPr id="7" name="Content Placeholder 2"/>
          <p:cNvSpPr>
            <a:spLocks noGrp="1"/>
          </p:cNvSpPr>
          <p:nvPr/>
        </p:nvSpPr>
        <p:spPr>
          <a:xfrm>
            <a:off x="88900" y="1675765"/>
            <a:ext cx="2884805" cy="165608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processes of change identification and system evolution are cyclical and continue throughout the lifetime of a system (Figure 9.3).</a:t>
            </a:r>
            <a:endParaRPr lang="en-US" sz="2000" b="0" dirty="0" smtClean="0">
              <a:solidFill>
                <a:schemeClr val="tx1"/>
              </a:solidFill>
              <a:latin typeface="Calibri" panose="020F0502020204030204" charset="0"/>
              <a:cs typeface="Calibri" panose="020F0502020204030204" charset="0"/>
            </a:endParaRPr>
          </a:p>
        </p:txBody>
      </p:sp>
      <p:sp>
        <p:nvSpPr>
          <p:cNvPr id="6" name="Content Placeholder 2"/>
          <p:cNvSpPr>
            <a:spLocks noGrp="1"/>
          </p:cNvSpPr>
          <p:nvPr/>
        </p:nvSpPr>
        <p:spPr>
          <a:xfrm>
            <a:off x="95885" y="4744720"/>
            <a:ext cx="3083560" cy="164084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Before a change proposal is accepted, there needs to be an analysis of the software to work out which components need to be changed.  </a:t>
            </a:r>
            <a:endParaRPr lang="en-US" sz="2000"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7254875" y="4728210"/>
            <a:ext cx="1731645" cy="170942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This analysis allows the cost and the impact of the change to be assessed. </a:t>
            </a:r>
            <a:endParaRPr lang="en-US" sz="2000" b="0" dirty="0" smtClean="0">
              <a:solidFill>
                <a:schemeClr val="tx1"/>
              </a:solidFill>
              <a:latin typeface="Calibri" panose="020F0502020204030204" charset="0"/>
              <a:cs typeface="Calibri" panose="020F0502020204030204" charset="0"/>
            </a:endParaRPr>
          </a:p>
        </p:txBody>
      </p:sp>
      <p:sp>
        <p:nvSpPr>
          <p:cNvPr id="15363" name="Rectangle 3"/>
          <p:cNvSpPr>
            <a:spLocks noGrp="1" noRot="1"/>
          </p:cNvSpPr>
          <p:nvPr>
            <p:ph type="subTitle" idx="1"/>
            <p:custDataLst>
              <p:tags r:id="rId4"/>
            </p:custDataLst>
          </p:nvPr>
        </p:nvSpPr>
        <p:spPr>
          <a:xfrm>
            <a:off x="88900" y="758825"/>
            <a:ext cx="8977630" cy="69977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Change identification and evolution processes</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变更识别和演化过程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8345"/>
            <a:ext cx="8977630" cy="7302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The software evolution process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软件演化过程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109220" y="1257935"/>
            <a:ext cx="8924925" cy="2476500"/>
          </a:xfrm>
          <a:prstGeom prst="rect">
            <a:avLst/>
          </a:prstGeom>
        </p:spPr>
      </p:pic>
      <p:sp>
        <p:nvSpPr>
          <p:cNvPr id="7" name="Content Placeholder 2"/>
          <p:cNvSpPr>
            <a:spLocks noGrp="1"/>
          </p:cNvSpPr>
          <p:nvPr/>
        </p:nvSpPr>
        <p:spPr>
          <a:xfrm>
            <a:off x="88900" y="3828415"/>
            <a:ext cx="8945880" cy="296418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4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Fig. 9.4 shows some of the activities involved in software evolution. The process includes the fundamental activities of change analysis, release planning, system implementation, and releasing a system to customers. The cost and impact of these changes are assessed to see how much of the system is affected by the change and how much it might cost to implement the change.</a:t>
            </a:r>
            <a:endParaRPr lang="en-US" sz="2000" b="0" dirty="0" smtClean="0">
              <a:solidFill>
                <a:schemeClr val="tx1"/>
              </a:solidFill>
              <a:latin typeface="Calibri" panose="020F0502020204030204" charset="0"/>
              <a:cs typeface="Calibri" panose="020F0502020204030204" charset="0"/>
            </a:endParaRPr>
          </a:p>
          <a:p>
            <a:pPr marL="0" indent="0">
              <a:lnSpc>
                <a:spcPct val="84000"/>
              </a:lnSpc>
              <a:spcBef>
                <a:spcPts val="500"/>
              </a:spcBef>
              <a:spcAft>
                <a:spcPts val="0"/>
              </a:spcAft>
              <a:buNone/>
            </a:pPr>
            <a:r>
              <a:rPr lang="en-US" sz="2000" b="0" dirty="0" smtClean="0">
                <a:solidFill>
                  <a:schemeClr val="tx1"/>
                </a:solidFill>
                <a:latin typeface="Calibri" panose="020F0502020204030204" charset="0"/>
                <a:cs typeface="Calibri" panose="020F0502020204030204" charset="0"/>
              </a:rPr>
              <a:t>* If the proposed changes are accepted, a new release of the system is planned. During release planning, all proposed changes (fault repair, adaptation, and new functionality) are considered. A decision is then made on which changes to implement in the next version of the system. The changes are implemented and validated, and a new version of the system is released. The process then iterates with a new set of changes proposed for the next release.</a:t>
            </a:r>
            <a:endParaRPr lang="en-US" sz="2000" b="0"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4"/>
          <a:stretch>
            <a:fillRect/>
          </a:stretch>
        </p:blipFill>
        <p:spPr>
          <a:xfrm>
            <a:off x="7297420" y="2884805"/>
            <a:ext cx="1724025" cy="65722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0100"/>
            <a:ext cx="8977630" cy="5556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Change implementation</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变更实现</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89535" y="1536700"/>
            <a:ext cx="8995410" cy="1495425"/>
          </a:xfrm>
          <a:prstGeom prst="rect">
            <a:avLst/>
          </a:prstGeom>
        </p:spPr>
      </p:pic>
      <p:pic>
        <p:nvPicPr>
          <p:cNvPr id="5" name="图片 4"/>
          <p:cNvPicPr>
            <a:picLocks noChangeAspect="1"/>
          </p:cNvPicPr>
          <p:nvPr/>
        </p:nvPicPr>
        <p:blipFill>
          <a:blip r:embed="rId4"/>
          <a:stretch>
            <a:fillRect/>
          </a:stretch>
        </p:blipFill>
        <p:spPr>
          <a:xfrm>
            <a:off x="6488430" y="1416050"/>
            <a:ext cx="1476375" cy="438150"/>
          </a:xfrm>
          <a:prstGeom prst="rect">
            <a:avLst/>
          </a:prstGeom>
        </p:spPr>
      </p:pic>
      <p:sp>
        <p:nvSpPr>
          <p:cNvPr id="7" name="Content Placeholder 2"/>
          <p:cNvSpPr>
            <a:spLocks noGrp="1"/>
          </p:cNvSpPr>
          <p:nvPr/>
        </p:nvSpPr>
        <p:spPr>
          <a:xfrm>
            <a:off x="88900" y="3182620"/>
            <a:ext cx="8945880" cy="304292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If requirements specification and design documents are available, these should be updated during the evolution process to reflect the changes that are required (Figure 9.5).</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New software requirements should be written, and these should be analyzed and validated. If the design has been documented using UML models, these models should be updated. </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b="0" dirty="0" smtClean="0">
                <a:solidFill>
                  <a:schemeClr val="tx1"/>
                </a:solidFill>
                <a:latin typeface="Calibri" panose="020F0502020204030204" charset="0"/>
                <a:cs typeface="Calibri" panose="020F0502020204030204" charset="0"/>
              </a:rPr>
              <a:t>* The proposed changes may be prototyped as part of the change analysis process, where you assess the implications and costs of making the change.</a:t>
            </a:r>
            <a:endParaRPr lang="en-US"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35660"/>
            <a:ext cx="8977630" cy="6229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000" dirty="0">
                <a:solidFill>
                  <a:schemeClr val="accent1">
                    <a:lumMod val="75000"/>
                  </a:schemeClr>
                </a:solidFill>
                <a:ea typeface="宋体" panose="02010600030101010101" pitchFamily="2" charset="-122"/>
                <a:sym typeface="+mn-ea"/>
              </a:rPr>
              <a:t> 9.2 Legacy systems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遗留系统</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66563" name="Rectangle 3"/>
          <p:cNvSpPr>
            <a:spLocks noGrp="1" noChangeArrowheads="1"/>
          </p:cNvSpPr>
          <p:nvPr/>
        </p:nvSpPr>
        <p:spPr>
          <a:xfrm>
            <a:off x="89535" y="1384935"/>
            <a:ext cx="8976995" cy="50590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a:solidFill>
                  <a:schemeClr val="accent2">
                    <a:lumMod val="75000"/>
                  </a:schemeClr>
                </a:solidFill>
                <a:latin typeface="Calibri" panose="020F0502020204030204" charset="0"/>
                <a:cs typeface="Calibri" panose="020F0502020204030204" charset="0"/>
              </a:rPr>
              <a:t> Legacy systems are older systems that rely on languages and technology that are no longer used for new systems development.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老系统,依赖于已不再使用的语言和技术</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700" b="0" dirty="0">
                <a:solidFill>
                  <a:schemeClr val="tx1"/>
                </a:solidFill>
                <a:latin typeface="Calibri" panose="020F0502020204030204" charset="0"/>
                <a:cs typeface="Calibri" panose="020F0502020204030204" charset="0"/>
              </a:rPr>
              <a:t>Typically, they have been maintained over a long period, and their structure may have been degraded by the changes made.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已维护很长时间,结构已退化</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700" b="0" dirty="0">
                <a:solidFill>
                  <a:schemeClr val="tx1"/>
                </a:solidFill>
                <a:latin typeface="Calibri" panose="020F0502020204030204" charset="0"/>
                <a:cs typeface="Calibri" panose="020F0502020204030204" charset="0"/>
              </a:rPr>
              <a:t>Legacy software may be dependent on older hardware, such as mainframe computers and may have associated legacy processes and procedures.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依赖于旧硬件</a:t>
            </a:r>
            <a:endParaRPr lang="en-US" sz="2800" b="0" dirty="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sz="2700" b="0" dirty="0">
                <a:solidFill>
                  <a:schemeClr val="tx1"/>
                </a:solidFill>
                <a:latin typeface="Calibri" panose="020F0502020204030204" charset="0"/>
                <a:cs typeface="Calibri" panose="020F0502020204030204" charset="0"/>
              </a:rPr>
              <a:t>It may be impossible to change to more effective business processes because legacy software cannot be modified to support new processes.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无法变更为更有效的业务过程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54710"/>
            <a:ext cx="8977630" cy="6756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The elements of a legacy system</a:t>
            </a:r>
            <a:endParaRPr lang="zh-CN" altLang="en-US" sz="30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78105" y="1492250"/>
            <a:ext cx="8962390" cy="3490595"/>
          </a:xfrm>
          <a:prstGeom prst="rect">
            <a:avLst/>
          </a:prstGeom>
        </p:spPr>
      </p:pic>
      <p:pic>
        <p:nvPicPr>
          <p:cNvPr id="3" name="图片 2"/>
          <p:cNvPicPr>
            <a:picLocks noChangeAspect="1"/>
          </p:cNvPicPr>
          <p:nvPr/>
        </p:nvPicPr>
        <p:blipFill>
          <a:blip r:embed="rId4"/>
          <a:stretch>
            <a:fillRect/>
          </a:stretch>
        </p:blipFill>
        <p:spPr>
          <a:xfrm>
            <a:off x="6986905" y="1334770"/>
            <a:ext cx="1914525" cy="457200"/>
          </a:xfrm>
          <a:prstGeom prst="rect">
            <a:avLst/>
          </a:prstGeom>
        </p:spPr>
      </p:pic>
      <p:sp>
        <p:nvSpPr>
          <p:cNvPr id="7" name="Content Placeholder 2"/>
          <p:cNvSpPr>
            <a:spLocks noGrp="1"/>
          </p:cNvSpPr>
          <p:nvPr/>
        </p:nvSpPr>
        <p:spPr>
          <a:xfrm>
            <a:off x="88900" y="5191760"/>
            <a:ext cx="8978265" cy="131699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300" b="0" dirty="0" smtClean="0">
                <a:solidFill>
                  <a:schemeClr val="tx1"/>
                </a:solidFill>
                <a:latin typeface="Calibri" panose="020F0502020204030204" charset="0"/>
                <a:cs typeface="Calibri" panose="020F0502020204030204" charset="0"/>
              </a:rPr>
              <a:t>* Legacy systems are not just software systems but are broader sociotechnical systems that include hardware, software, libraries, and other supporting software and business processes. </a:t>
            </a:r>
            <a:endParaRPr lang="en-US" sz="23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300" b="0" dirty="0" smtClean="0">
                <a:solidFill>
                  <a:schemeClr val="tx1"/>
                </a:solidFill>
                <a:latin typeface="Calibri" panose="020F0502020204030204" charset="0"/>
                <a:cs typeface="Calibri" panose="020F0502020204030204" charset="0"/>
              </a:rPr>
              <a:t>* Fig. 9.7 shows the logical parts of a legacy system and their relationships. </a:t>
            </a:r>
            <a:endParaRPr lang="en-US" sz="23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5537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Legacy system components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遗留系统的构件</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66563" name="Rectangle 3"/>
          <p:cNvSpPr>
            <a:spLocks noGrp="1" noChangeArrowheads="1"/>
          </p:cNvSpPr>
          <p:nvPr/>
        </p:nvSpPr>
        <p:spPr>
          <a:xfrm>
            <a:off x="49530" y="1384935"/>
            <a:ext cx="9017000" cy="48234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System hardware:</a:t>
            </a:r>
            <a:r>
              <a:rPr lang="en-US" sz="2800" b="0" dirty="0">
                <a:solidFill>
                  <a:schemeClr val="tx1"/>
                </a:solidFill>
                <a:latin typeface="Calibri" panose="020F0502020204030204" charset="0"/>
                <a:cs typeface="Calibri" panose="020F0502020204030204" charset="0"/>
              </a:rPr>
              <a:t> Legacy systems may have been written for hardware that is no longer available, that is expensive to maintain, and that may not be compatible with current organizational IT purchasing policies.</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系统硬件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Support software:</a:t>
            </a:r>
            <a:r>
              <a:rPr lang="en-US" sz="2800" b="0" dirty="0">
                <a:solidFill>
                  <a:schemeClr val="tx1"/>
                </a:solidFill>
                <a:latin typeface="Calibri" panose="020F0502020204030204" charset="0"/>
                <a:cs typeface="Calibri" panose="020F0502020204030204" charset="0"/>
              </a:rPr>
              <a:t> The legacy system may rely on a range of support software from the operating system and utilities. Again, these may be obsolete and no longer supported by their original providers.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支持软件</a:t>
            </a:r>
            <a:endParaRPr lang="en-US" sz="2800" b="0" dirty="0">
              <a:solidFill>
                <a:schemeClr val="tx1"/>
              </a:solidFill>
              <a:latin typeface="Calibri" panose="020F0502020204030204" charset="0"/>
              <a:cs typeface="Calibri" panose="020F0502020204030204" charset="0"/>
            </a:endParaRPr>
          </a:p>
          <a:p>
            <a:pPr>
              <a:lnSpc>
                <a:spcPct val="85000"/>
              </a:lnSpc>
              <a:spcAft>
                <a:spcPts val="0"/>
              </a:spcAft>
            </a:pPr>
            <a:r>
              <a:rPr lang="en-US" sz="3200" dirty="0">
                <a:solidFill>
                  <a:schemeClr val="accent2">
                    <a:lumMod val="75000"/>
                  </a:schemeClr>
                </a:solidFill>
                <a:latin typeface="Calibri" panose="020F0502020204030204" charset="0"/>
                <a:cs typeface="Calibri" panose="020F0502020204030204" charset="0"/>
              </a:rPr>
              <a:t> Application software:</a:t>
            </a:r>
            <a:r>
              <a:rPr lang="en-US" sz="2800" b="0" dirty="0">
                <a:solidFill>
                  <a:schemeClr val="tx1"/>
                </a:solidFill>
                <a:latin typeface="Calibri" panose="020F0502020204030204" charset="0"/>
                <a:cs typeface="Calibri" panose="020F0502020204030204" charset="0"/>
              </a:rPr>
              <a:t> The application system that provides the business services is usually made up of a number of application programs that have been developed at different times.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应用软件</a:t>
            </a:r>
            <a:endParaRPr sz="3000" dirty="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66563" name="Rectangle 3"/>
          <p:cNvSpPr>
            <a:spLocks noGrp="1" noChangeArrowheads="1"/>
          </p:cNvSpPr>
          <p:nvPr/>
        </p:nvSpPr>
        <p:spPr>
          <a:xfrm>
            <a:off x="45720" y="1241425"/>
            <a:ext cx="9020810" cy="52882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sym typeface="+mn-ea"/>
              </a:rPr>
              <a:t> </a:t>
            </a:r>
            <a:r>
              <a:rPr sz="3200" dirty="0">
                <a:solidFill>
                  <a:schemeClr val="accent2">
                    <a:lumMod val="75000"/>
                  </a:schemeClr>
                </a:solidFill>
                <a:latin typeface="Calibri" panose="020F0502020204030204" charset="0"/>
                <a:cs typeface="Calibri" panose="020F0502020204030204" charset="0"/>
                <a:sym typeface="+mn-ea"/>
              </a:rPr>
              <a:t>Application data</a:t>
            </a:r>
            <a:r>
              <a:rPr lang="en-US" sz="3200" dirty="0">
                <a:solidFill>
                  <a:schemeClr val="accent2">
                    <a:lumMod val="75000"/>
                  </a:schemeClr>
                </a:solidFill>
                <a:latin typeface="Calibri" panose="020F0502020204030204" charset="0"/>
                <a:cs typeface="Calibri" panose="020F0502020204030204" charset="0"/>
                <a:sym typeface="+mn-ea"/>
              </a:rPr>
              <a:t>:</a:t>
            </a:r>
            <a:r>
              <a:rPr sz="2800" b="0" dirty="0">
                <a:solidFill>
                  <a:schemeClr val="tx1"/>
                </a:solidFill>
                <a:latin typeface="Calibri" panose="020F0502020204030204" charset="0"/>
                <a:cs typeface="Calibri" panose="020F0502020204030204" charset="0"/>
                <a:sym typeface="+mn-ea"/>
              </a:rPr>
              <a:t> These data are processed by the application system. In many</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legacy systems, an immense volume of data has accumulated over the lifetime</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of the system. This data may be</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inconsistent, may be duplicated in several files,</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and may be spread over a number of different databases.</a:t>
            </a:r>
            <a:r>
              <a:rPr lang="en-US" sz="2800" b="0" dirty="0">
                <a:solidFill>
                  <a:schemeClr val="tx1"/>
                </a:solidFill>
                <a:latin typeface="Calibri" panose="020F0502020204030204" charset="0"/>
                <a:cs typeface="Calibri" panose="020F0502020204030204" charset="0"/>
                <a:sym typeface="+mn-ea"/>
              </a:rPr>
              <a:t> </a:t>
            </a:r>
            <a:r>
              <a:rPr lang="en-US" sz="2800" b="0" dirty="0">
                <a:solidFill>
                  <a:schemeClr val="accent5">
                    <a:lumMod val="50000"/>
                  </a:schemeClr>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应用数据</a:t>
            </a:r>
            <a:endParaRPr b="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sym typeface="+mn-ea"/>
              </a:rPr>
              <a:t> </a:t>
            </a:r>
            <a:r>
              <a:rPr sz="3200" dirty="0">
                <a:solidFill>
                  <a:schemeClr val="accent2">
                    <a:lumMod val="75000"/>
                  </a:schemeClr>
                </a:solidFill>
                <a:latin typeface="Calibri" panose="020F0502020204030204" charset="0"/>
                <a:cs typeface="Calibri" panose="020F0502020204030204" charset="0"/>
                <a:sym typeface="+mn-ea"/>
              </a:rPr>
              <a:t>Business processes</a:t>
            </a:r>
            <a:r>
              <a:rPr lang="en-US" sz="3200" dirty="0">
                <a:solidFill>
                  <a:schemeClr val="accent2">
                    <a:lumMod val="75000"/>
                  </a:schemeClr>
                </a:solidFill>
                <a:latin typeface="Calibri" panose="020F0502020204030204" charset="0"/>
                <a:cs typeface="Calibri" panose="020F0502020204030204" charset="0"/>
                <a:sym typeface="+mn-ea"/>
              </a:rPr>
              <a:t>:</a:t>
            </a:r>
            <a:r>
              <a:rPr sz="32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These processes are used in the business to achieve some</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business objective. Business processes may be designed around a legacy</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system and constrained by the functionality that it provides.</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 业务过程</a:t>
            </a:r>
            <a:endParaRPr lang="zh-CN" altLang="en-US" sz="2400" b="0" dirty="0">
              <a:solidFill>
                <a:schemeClr val="accent5">
                  <a:lumMod val="50000"/>
                </a:schemeClr>
              </a:solidFill>
              <a:latin typeface="黑体" panose="02010609060101010101" pitchFamily="49" charset="-122"/>
              <a:ea typeface="黑体" panose="02010609060101010101" pitchFamily="49" charset="-122"/>
              <a:cs typeface="Calibri" panose="020F0502020204030204" charset="0"/>
              <a:sym typeface="+mn-ea"/>
            </a:endParaRPr>
          </a:p>
          <a:p>
            <a:pPr>
              <a:lnSpc>
                <a:spcPct val="82000"/>
              </a:lnSpc>
              <a:spcAft>
                <a:spcPts val="0"/>
              </a:spcAft>
            </a:pPr>
            <a:r>
              <a:rPr lang="en-US" sz="3200" dirty="0">
                <a:solidFill>
                  <a:schemeClr val="accent2">
                    <a:lumMod val="75000"/>
                  </a:schemeClr>
                </a:solidFill>
                <a:latin typeface="Calibri" panose="020F0502020204030204" charset="0"/>
                <a:cs typeface="Calibri" panose="020F0502020204030204" charset="0"/>
                <a:sym typeface="+mn-ea"/>
              </a:rPr>
              <a:t> </a:t>
            </a:r>
            <a:r>
              <a:rPr sz="3200" dirty="0">
                <a:solidFill>
                  <a:schemeClr val="accent2">
                    <a:lumMod val="75000"/>
                  </a:schemeClr>
                </a:solidFill>
                <a:latin typeface="Calibri" panose="020F0502020204030204" charset="0"/>
                <a:cs typeface="Calibri" panose="020F0502020204030204" charset="0"/>
                <a:sym typeface="+mn-ea"/>
              </a:rPr>
              <a:t>Business policies and rules</a:t>
            </a:r>
            <a:r>
              <a:rPr lang="en-US" sz="3200" dirty="0">
                <a:solidFill>
                  <a:schemeClr val="accent2">
                    <a:lumMod val="75000"/>
                  </a:schemeClr>
                </a:solidFill>
                <a:latin typeface="Calibri" panose="020F0502020204030204" charset="0"/>
                <a:cs typeface="Calibri" panose="020F0502020204030204" charset="0"/>
                <a:sym typeface="+mn-ea"/>
              </a:rPr>
              <a:t>:</a:t>
            </a:r>
            <a:r>
              <a:rPr sz="32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These are definitions of how the business should be</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carried out and constraints on the business. Use of the legacy application system</a:t>
            </a:r>
            <a:r>
              <a:rPr lang="en-US" sz="2800" b="0" dirty="0">
                <a:solidFill>
                  <a:schemeClr val="tx1"/>
                </a:solidFill>
                <a:latin typeface="Calibri" panose="020F0502020204030204" charset="0"/>
                <a:cs typeface="Calibri" panose="020F0502020204030204" charset="0"/>
                <a:sym typeface="+mn-ea"/>
              </a:rPr>
              <a:t> </a:t>
            </a:r>
            <a:r>
              <a:rPr sz="2800" b="0" dirty="0">
                <a:solidFill>
                  <a:schemeClr val="tx1"/>
                </a:solidFill>
                <a:latin typeface="Calibri" panose="020F0502020204030204" charset="0"/>
                <a:cs typeface="Calibri" panose="020F0502020204030204" charset="0"/>
                <a:sym typeface="+mn-ea"/>
              </a:rPr>
              <a:t>may be embedded in these policies and rules.</a:t>
            </a:r>
            <a:r>
              <a:rPr lang="en-US" sz="2800" b="0" dirty="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业务政策和规则</a:t>
            </a:r>
            <a:endParaRPr lang="zh-CN" altLang="en-US" sz="2800" b="0" dirty="0">
              <a:solidFill>
                <a:schemeClr val="tx1"/>
              </a:solidFill>
              <a:latin typeface="Calibri" panose="020F0502020204030204" charset="0"/>
              <a:ea typeface="宋体" panose="02010600030101010101" pitchFamily="2" charset="-122"/>
              <a:cs typeface="Calibri" panose="020F0502020204030204" charset="0"/>
            </a:endParaRPr>
          </a:p>
        </p:txBody>
      </p:sp>
      <p:sp>
        <p:nvSpPr>
          <p:cNvPr id="3" name="Rectangle 3"/>
          <p:cNvSpPr>
            <a:spLocks noGrp="1" noRot="1"/>
          </p:cNvSpPr>
          <p:nvPr>
            <p:ph type="subTitle" idx="1"/>
            <p:custDataLst>
              <p:tags r:id="rId2"/>
            </p:custDataLst>
          </p:nvPr>
        </p:nvSpPr>
        <p:spPr>
          <a:xfrm>
            <a:off x="88900" y="704215"/>
            <a:ext cx="8977630" cy="5537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Legacy system components</a:t>
            </a:r>
            <a:r>
              <a:rPr lang="en-US" altLang="zh-CN" sz="3000" dirty="0">
                <a:solidFill>
                  <a:schemeClr val="accent1">
                    <a:lumMod val="75000"/>
                  </a:schemeClr>
                </a:solidFill>
                <a:ea typeface="宋体" panose="02010600030101010101" pitchFamily="2" charset="-122"/>
                <a:sym typeface="+mn-ea"/>
              </a:rPr>
              <a:t>  cont’d</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760"/>
            <a:ext cx="8977630" cy="6864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Legacy system layers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遗留系统层次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330575" y="1530350"/>
            <a:ext cx="5735955" cy="3902075"/>
          </a:xfrm>
          <a:prstGeom prst="rect">
            <a:avLst/>
          </a:prstGeom>
        </p:spPr>
      </p:pic>
      <p:pic>
        <p:nvPicPr>
          <p:cNvPr id="3" name="图片 2"/>
          <p:cNvPicPr>
            <a:picLocks noChangeAspect="1"/>
          </p:cNvPicPr>
          <p:nvPr/>
        </p:nvPicPr>
        <p:blipFill>
          <a:blip r:embed="rId4"/>
          <a:stretch>
            <a:fillRect/>
          </a:stretch>
        </p:blipFill>
        <p:spPr>
          <a:xfrm>
            <a:off x="7025640" y="989965"/>
            <a:ext cx="1561465" cy="468630"/>
          </a:xfrm>
          <a:prstGeom prst="rect">
            <a:avLst/>
          </a:prstGeom>
        </p:spPr>
      </p:pic>
      <p:sp>
        <p:nvSpPr>
          <p:cNvPr id="7" name="Content Placeholder 2"/>
          <p:cNvSpPr>
            <a:spLocks noGrp="1"/>
          </p:cNvSpPr>
          <p:nvPr/>
        </p:nvSpPr>
        <p:spPr>
          <a:xfrm>
            <a:off x="88900" y="1388745"/>
            <a:ext cx="3303905" cy="414337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An alternative way of looking at the components of a legacy system is as a series of layers, as shown in Figure. 9.8.</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Each layer depends on the layer </a:t>
            </a:r>
            <a:r>
              <a:rPr lang="en-US" sz="2200" b="0" u="sng" dirty="0" smtClean="0">
                <a:solidFill>
                  <a:schemeClr val="tx1"/>
                </a:solidFill>
                <a:latin typeface="Calibri" panose="020F0502020204030204" charset="0"/>
                <a:cs typeface="Calibri" panose="020F0502020204030204" charset="0"/>
              </a:rPr>
              <a:t>immediately below</a:t>
            </a:r>
            <a:r>
              <a:rPr lang="en-US" sz="2200" b="0" dirty="0" smtClean="0">
                <a:solidFill>
                  <a:schemeClr val="tx1"/>
                </a:solidFill>
                <a:latin typeface="Calibri" panose="020F0502020204030204" charset="0"/>
                <a:cs typeface="Calibri" panose="020F0502020204030204" charset="0"/>
              </a:rPr>
              <a:t> it and interfaces with that layer. If </a:t>
            </a:r>
            <a:r>
              <a:rPr lang="en-US" sz="2200" b="0" u="sng" dirty="0" smtClean="0">
                <a:solidFill>
                  <a:schemeClr val="tx1"/>
                </a:solidFill>
                <a:latin typeface="Calibri" panose="020F0502020204030204" charset="0"/>
                <a:cs typeface="Calibri" panose="020F0502020204030204" charset="0"/>
              </a:rPr>
              <a:t>interfaces</a:t>
            </a:r>
            <a:r>
              <a:rPr lang="en-US" sz="2200" b="0" dirty="0" smtClean="0">
                <a:solidFill>
                  <a:schemeClr val="tx1"/>
                </a:solidFill>
                <a:latin typeface="Calibri" panose="020F0502020204030204" charset="0"/>
                <a:cs typeface="Calibri" panose="020F0502020204030204" charset="0"/>
              </a:rPr>
              <a:t> are maintained, then you should be able to make changes within a layer without affecting either of the adjacent layers. </a:t>
            </a:r>
            <a:endParaRPr lang="en-US" sz="2200" b="0" dirty="0" smtClean="0">
              <a:solidFill>
                <a:schemeClr val="tx1"/>
              </a:solidFill>
              <a:latin typeface="Calibri" panose="020F0502020204030204" charset="0"/>
              <a:cs typeface="Calibri" panose="020F0502020204030204" charset="0"/>
            </a:endParaRPr>
          </a:p>
        </p:txBody>
      </p:sp>
      <p:sp>
        <p:nvSpPr>
          <p:cNvPr id="5" name="Content Placeholder 2"/>
          <p:cNvSpPr>
            <a:spLocks noGrp="1"/>
          </p:cNvSpPr>
          <p:nvPr/>
        </p:nvSpPr>
        <p:spPr>
          <a:xfrm>
            <a:off x="338455" y="5677535"/>
            <a:ext cx="8529320" cy="96837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In practice, however, this simple encapsulation is an oversimplification, and changes to one layer of the system may require consequent changes to layers that are both above and below the changed level. </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6120"/>
            <a:ext cx="8977630" cy="5353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Legacy system replacement</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遗留系统替换</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7785" y="1241425"/>
            <a:ext cx="9009380" cy="55054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2000"/>
              </a:lnSpc>
              <a:spcBef>
                <a:spcPts val="5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Why not simply replace legacy systems with more modern equivalents? The simple answer is: it is too expensive and risky.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为什么不简单代替</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太昂贵</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有风险</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The reasons why it is expensive and risky to replace legacy systems with new systems: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具体原因</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US" sz="2600" b="0" dirty="0" smtClean="0">
                <a:solidFill>
                  <a:schemeClr val="tx1"/>
                </a:solidFill>
                <a:latin typeface="Calibri" panose="020F0502020204030204" charset="0"/>
                <a:cs typeface="Calibri" panose="020F0502020204030204" charset="0"/>
              </a:rPr>
              <a:t>There is rarely a complete specification of the legacy system.</a:t>
            </a:r>
            <a:r>
              <a:rPr lang="en-US"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遗留系统很少有完备的规格说明</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US" sz="2600" b="0" dirty="0" smtClean="0">
                <a:solidFill>
                  <a:schemeClr val="tx1"/>
                </a:solidFill>
                <a:latin typeface="Calibri" panose="020F0502020204030204" charset="0"/>
                <a:cs typeface="Calibri" panose="020F0502020204030204" charset="0"/>
              </a:rPr>
              <a:t>Business processes and the ways in which legacy systems operate are often inextricably intertwined.</a:t>
            </a:r>
            <a:r>
              <a:rPr lang="en-US"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业务过程与遗留系统的运行方式</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不可避免地纠缠在一起</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US" sz="2600" b="0" dirty="0" smtClean="0">
                <a:solidFill>
                  <a:schemeClr val="tx1"/>
                </a:solidFill>
                <a:latin typeface="Calibri" panose="020F0502020204030204" charset="0"/>
                <a:cs typeface="Calibri" panose="020F0502020204030204" charset="0"/>
              </a:rPr>
              <a:t>Important business rules may be embedded in the software and may not be documented elsewhere.</a:t>
            </a:r>
            <a:r>
              <a:rPr lang="en-US"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重要的业务规则可能嵌入在软件中,没有在别处文档化</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US" sz="2600" b="0" dirty="0" smtClean="0">
                <a:solidFill>
                  <a:schemeClr val="tx1"/>
                </a:solidFill>
                <a:latin typeface="Calibri" panose="020F0502020204030204" charset="0"/>
                <a:cs typeface="Calibri" panose="020F0502020204030204" charset="0"/>
              </a:rPr>
              <a:t>New software development is inherently risky, so that there may be unexpected problems with a new system.</a:t>
            </a:r>
            <a:r>
              <a:rPr lang="en-US"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新软件开发有内在风险,新系统会有无法预料的问题</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1995"/>
            <a:ext cx="8977630" cy="5467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Legacy system change</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遗留系统变更</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3500" y="1241425"/>
            <a:ext cx="9003665" cy="53638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Keeping legacy systems in use avoids the risks of replacement, but making changes to existing software inevitably becomes more expensive as systems get older.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保持使用遗留系统避免了替换的风险,但随着系统老化,变更变得更加昂贵</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Legacy systems are particularly expensive to change for several reasons: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变更昂贵的原因</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The program style and usage conventions are inconsistent because different people have been responsible for system changes.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程序风格和用法习惯不同</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Part or all of the system may be implemented using obsolete programming languages. It may be difficult to find people who know these languages.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编程语言过时</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4700"/>
            <a:ext cx="8977630" cy="4940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Legacy system change</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遗留系统变更</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3500" y="1313180"/>
            <a:ext cx="9003665" cy="52590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Legacy systems are particularly expensive to change for several reasons: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变更昂贵的原因（续）</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System documentation is often inadequate and out of date.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系统文档常常不充分和过时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Many years of maintenance usually degrades the system structure, making it increasingly difficult to understand.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多年维护通常使系统体系结构退化,越来越难理解</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The system may have been optimized for space or speed, which usually lead to software that is hard to understand.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系统已针对空间/时间做了优化,导致难以理解</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The data may be maintained in different files that have incompatible structures. There may be data duplication, and the data may be out of date, inaccurate, and incomplete.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数据问题:结构不兼容、重复、过时、不准确、不完备</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6605"/>
            <a:ext cx="8977630" cy="5384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000" dirty="0">
                <a:solidFill>
                  <a:schemeClr val="accent1">
                    <a:lumMod val="75000"/>
                  </a:schemeClr>
                </a:solidFill>
                <a:ea typeface="宋体" panose="02010600030101010101" pitchFamily="2" charset="-122"/>
                <a:sym typeface="+mn-ea"/>
              </a:rPr>
              <a:t> 9.3 Software maintenance</a:t>
            </a:r>
            <a:r>
              <a:rPr lang="en-US" altLang="zh-CN" sz="30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软件维护</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8194" name="Rectangle 2"/>
          <p:cNvSpPr>
            <a:spLocks noGrp="1" noChangeArrowheads="1"/>
          </p:cNvSpPr>
          <p:nvPr/>
        </p:nvSpPr>
        <p:spPr>
          <a:xfrm>
            <a:off x="43815" y="1313180"/>
            <a:ext cx="9022080" cy="510984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Software maintenance is the general process of</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changing a system after it has</a:t>
            </a:r>
            <a:r>
              <a:rPr lang="en-US" altLang="en-GB" sz="3200" dirty="0">
                <a:solidFill>
                  <a:schemeClr val="accent2">
                    <a:lumMod val="75000"/>
                  </a:schemeClr>
                </a:solidFill>
                <a:latin typeface="Calibri" panose="020F0502020204030204" charset="0"/>
                <a:cs typeface="Calibri" panose="020F0502020204030204" charset="0"/>
              </a:rPr>
              <a:t> </a:t>
            </a:r>
            <a:r>
              <a:rPr lang="en-GB" sz="3200" dirty="0">
                <a:solidFill>
                  <a:schemeClr val="accent2">
                    <a:lumMod val="75000"/>
                  </a:schemeClr>
                </a:solidFill>
                <a:latin typeface="Calibri" panose="020F0502020204030204" charset="0"/>
                <a:cs typeface="Calibri" panose="020F0502020204030204" charset="0"/>
              </a:rPr>
              <a:t>been delivered. </a:t>
            </a:r>
            <a:r>
              <a:rPr lang="zh-CN" altLang="en-GB"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含义：系统交付后</a:t>
            </a:r>
            <a:r>
              <a:rPr lang="en-US" altLang="zh-CN"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对其变更的一般过程</a:t>
            </a:r>
            <a:endParaRPr lang="en-GB"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5000"/>
              </a:lnSpc>
              <a:spcBef>
                <a:spcPts val="600"/>
              </a:spcBef>
              <a:spcAft>
                <a:spcPts val="0"/>
              </a:spcAft>
            </a:pPr>
            <a:r>
              <a:rPr lang="en-GB" sz="2800" b="0" dirty="0">
                <a:solidFill>
                  <a:schemeClr val="tx1"/>
                </a:solidFill>
                <a:latin typeface="Calibri" panose="020F0502020204030204" charset="0"/>
                <a:cs typeface="Calibri" panose="020F0502020204030204" charset="0"/>
              </a:rPr>
              <a:t>The term is usually applied to custom software, where separate</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development groups are involved before and after delivery. </a:t>
            </a:r>
            <a:r>
              <a:rPr lang="en-US" altLang="en-GB" sz="2800" b="0" dirty="0">
                <a:solidFill>
                  <a:schemeClr val="tx1"/>
                </a:solidFill>
                <a:latin typeface="Calibri" panose="020F0502020204030204" charset="0"/>
                <a:cs typeface="Calibri" panose="020F0502020204030204" charset="0"/>
              </a:rPr>
              <a:t> </a:t>
            </a:r>
            <a:r>
              <a:rPr lang="zh-CN" altLang="en-US"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通常针对定制软件,交付前后涉及不同的开发小组</a:t>
            </a:r>
            <a:endParaRPr lang="zh-CN" altLang="en-US"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5000"/>
              </a:lnSpc>
              <a:spcBef>
                <a:spcPts val="600"/>
              </a:spcBef>
              <a:spcAft>
                <a:spcPts val="0"/>
              </a:spcAft>
            </a:pPr>
            <a:r>
              <a:rPr lang="en-GB" sz="2800" b="0" dirty="0">
                <a:solidFill>
                  <a:schemeClr val="tx1"/>
                </a:solidFill>
                <a:latin typeface="Calibri" panose="020F0502020204030204" charset="0"/>
                <a:cs typeface="Calibri" panose="020F0502020204030204" charset="0"/>
              </a:rPr>
              <a:t>The changes may be simple changes to correct coding errors, more extensive</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changes to correct design errors, or significant enhancements to correct specification errors or to accommodate new requirements. </a:t>
            </a:r>
            <a:r>
              <a:rPr lang="zh-CN" altLang="en-US" sz="2000"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各种变更</a:t>
            </a:r>
            <a:endParaRPr lang="en-GB" sz="2800" b="0" dirty="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GB" sz="2800" b="0" dirty="0">
                <a:solidFill>
                  <a:schemeClr val="tx1"/>
                </a:solidFill>
                <a:latin typeface="Calibri" panose="020F0502020204030204" charset="0"/>
                <a:cs typeface="Calibri" panose="020F0502020204030204" charset="0"/>
              </a:rPr>
              <a:t>Changes are implemented by</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modifying existing system components and, where necessary, by adding new</a:t>
            </a:r>
            <a:r>
              <a:rPr lang="en-US" altLang="en-GB" sz="2800" b="0" dirty="0">
                <a:solidFill>
                  <a:schemeClr val="tx1"/>
                </a:solidFill>
                <a:latin typeface="Calibri" panose="020F0502020204030204" charset="0"/>
                <a:cs typeface="Calibri" panose="020F0502020204030204" charset="0"/>
              </a:rPr>
              <a:t> </a:t>
            </a:r>
            <a:r>
              <a:rPr lang="en-GB" sz="2800" b="0" dirty="0">
                <a:solidFill>
                  <a:schemeClr val="tx1"/>
                </a:solidFill>
                <a:latin typeface="Calibri" panose="020F0502020204030204" charset="0"/>
                <a:cs typeface="Calibri" panose="020F0502020204030204" charset="0"/>
              </a:rPr>
              <a:t>components to system.</a:t>
            </a:r>
            <a:r>
              <a:rPr lang="en-US" altLang="en-GB" sz="2800" b="0" dirty="0">
                <a:solidFill>
                  <a:schemeClr val="tx1"/>
                </a:solidFill>
                <a:latin typeface="Calibri" panose="020F0502020204030204" charset="0"/>
                <a:cs typeface="Calibri" panose="020F0502020204030204" charset="0"/>
              </a:rPr>
              <a:t> </a:t>
            </a:r>
            <a:r>
              <a:rPr lang="zh-CN" altLang="en-US" sz="2000"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实施:修改现有构件,必要时加入新构件</a:t>
            </a:r>
            <a:endParaRPr lang="zh-CN" altLang="en-US" sz="2000" dirty="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4695"/>
            <a:ext cx="8977630" cy="5410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Types of maintenance</a:t>
            </a:r>
            <a:r>
              <a:rPr lang="en-US" altLang="zh-CN" sz="3000" dirty="0">
                <a:solidFill>
                  <a:schemeClr val="accent1">
                    <a:lumMod val="75000"/>
                  </a:schemeClr>
                </a:solidFill>
                <a:ea typeface="宋体" panose="02010600030101010101" pitchFamily="2" charset="-122"/>
                <a:sym typeface="+mn-ea"/>
              </a:rPr>
              <a:t>: 3 types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3</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种维护类型</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12290" name="Rectangle 2"/>
          <p:cNvSpPr>
            <a:spLocks noGrp="1" noChangeArrowheads="1"/>
          </p:cNvSpPr>
          <p:nvPr/>
        </p:nvSpPr>
        <p:spPr>
          <a:xfrm>
            <a:off x="62865" y="1241425"/>
            <a:ext cx="9003665" cy="537210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i="1" dirty="0" smtClean="0">
                <a:solidFill>
                  <a:schemeClr val="accent2">
                    <a:lumMod val="75000"/>
                  </a:schemeClr>
                </a:solidFill>
                <a:latin typeface="Calibri" panose="020F0502020204030204" charset="0"/>
                <a:cs typeface="Calibri" panose="020F0502020204030204" charset="0"/>
              </a:rPr>
              <a:t>Fault repairs</a:t>
            </a:r>
            <a:r>
              <a:rPr 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sym typeface="+mn-ea"/>
              </a:rPr>
              <a:t>to fix bugs and vulnerabilities.</a:t>
            </a:r>
            <a:r>
              <a:rPr lang="en-GB" sz="2800" b="0" dirty="0" smtClean="0">
                <a:solidFill>
                  <a:schemeClr val="tx1"/>
                </a:solidFill>
                <a:latin typeface="Calibri" panose="020F0502020204030204" charset="0"/>
                <a:cs typeface="Calibri" panose="020F0502020204030204" charset="0"/>
                <a:sym typeface="+mn-ea"/>
              </a:rPr>
              <a:t> Coding errors are usually relatively</a:t>
            </a:r>
            <a:r>
              <a:rPr lang="en-US" altLang="en-GB" sz="2800" b="0" dirty="0" smtClean="0">
                <a:solidFill>
                  <a:schemeClr val="tx1"/>
                </a:solidFill>
                <a:latin typeface="Calibri" panose="020F0502020204030204" charset="0"/>
                <a:cs typeface="Calibri" panose="020F0502020204030204" charset="0"/>
                <a:sym typeface="+mn-ea"/>
              </a:rPr>
              <a:t> </a:t>
            </a:r>
            <a:r>
              <a:rPr lang="en-GB" sz="2800" b="0" dirty="0" smtClean="0">
                <a:solidFill>
                  <a:schemeClr val="tx1"/>
                </a:solidFill>
                <a:latin typeface="Calibri" panose="020F0502020204030204" charset="0"/>
                <a:cs typeface="Calibri" panose="020F0502020204030204" charset="0"/>
                <a:sym typeface="+mn-ea"/>
              </a:rPr>
              <a:t>cheap to correct; design errors are more expensive. Requirements errors are the most expensive to repair.</a:t>
            </a:r>
            <a:r>
              <a:rPr lang="en-US" altLang="en-GB" sz="2800" b="0" dirty="0" smtClean="0">
                <a:solidFill>
                  <a:schemeClr val="tx1"/>
                </a:solidFill>
                <a:latin typeface="Calibri" panose="020F0502020204030204" charset="0"/>
                <a:cs typeface="Calibri" panose="020F0502020204030204" charset="0"/>
                <a:sym typeface="+mn-ea"/>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故障修理</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修复故障和弱点</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US" altLang="en-GB" sz="3200" i="1" dirty="0" smtClean="0">
                <a:solidFill>
                  <a:schemeClr val="accent2">
                    <a:lumMod val="75000"/>
                  </a:schemeClr>
                </a:solidFill>
                <a:latin typeface="Calibri" panose="020F0502020204030204" charset="0"/>
                <a:cs typeface="Calibri" panose="020F0502020204030204" charset="0"/>
              </a:rPr>
              <a:t>Environmental adaptation</a:t>
            </a:r>
            <a:r>
              <a:rPr lang="en-US" altLang="en-GB" sz="3200" dirty="0" smtClean="0">
                <a:solidFill>
                  <a:schemeClr val="accent2">
                    <a:lumMod val="75000"/>
                  </a:schemeClr>
                </a:solidFill>
                <a:latin typeface="Calibri" panose="020F0502020204030204" charset="0"/>
                <a:cs typeface="Calibri" panose="020F0502020204030204" charset="0"/>
              </a:rPr>
              <a:t> to adapt the software to new platforms and environments.</a:t>
            </a:r>
            <a:r>
              <a:rPr lang="en-US" altLang="en-GB" sz="2800" b="0" dirty="0" smtClean="0">
                <a:solidFill>
                  <a:schemeClr val="tx1"/>
                </a:solidFill>
                <a:latin typeface="Calibri" panose="020F0502020204030204" charset="0"/>
                <a:cs typeface="Calibri" panose="020F0502020204030204" charset="0"/>
              </a:rPr>
              <a:t> This is required when some aspect of a system’s environment, such as the hardware, the platform operating system, or other support software, changes. </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环境适应: 使软件适应新平台和环境</a:t>
            </a:r>
            <a:endParaRPr lang="en-US" altLang="en-GB" sz="3200" dirty="0" smtClean="0">
              <a:solidFill>
                <a:schemeClr val="accent2">
                  <a:lumMod val="75000"/>
                </a:schemeClr>
              </a:solidFill>
              <a:latin typeface="Calibri" panose="020F0502020204030204" charset="0"/>
              <a:cs typeface="Calibri" panose="020F0502020204030204" charset="0"/>
            </a:endParaRPr>
          </a:p>
          <a:p>
            <a:pPr>
              <a:lnSpc>
                <a:spcPct val="82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US" altLang="en-GB" sz="3200" i="1" dirty="0" smtClean="0">
                <a:solidFill>
                  <a:schemeClr val="accent2">
                    <a:lumMod val="75000"/>
                  </a:schemeClr>
                </a:solidFill>
                <a:latin typeface="Calibri" panose="020F0502020204030204" charset="0"/>
                <a:cs typeface="Calibri" panose="020F0502020204030204" charset="0"/>
              </a:rPr>
              <a:t>Functionality addition</a:t>
            </a:r>
            <a:r>
              <a:rPr lang="en-US" altLang="en-GB" sz="3200" dirty="0" smtClean="0">
                <a:solidFill>
                  <a:schemeClr val="accent2">
                    <a:lumMod val="75000"/>
                  </a:schemeClr>
                </a:solidFill>
                <a:latin typeface="Calibri" panose="020F0502020204030204" charset="0"/>
                <a:cs typeface="Calibri" panose="020F0502020204030204" charset="0"/>
              </a:rPr>
              <a:t> to add new features and to support new requirements.</a:t>
            </a:r>
            <a:r>
              <a:rPr lang="en-US" altLang="en-GB" sz="2800" b="0" dirty="0" smtClean="0">
                <a:solidFill>
                  <a:schemeClr val="tx1"/>
                </a:solidFill>
                <a:latin typeface="Calibri" panose="020F0502020204030204" charset="0"/>
                <a:cs typeface="Calibri" panose="020F0502020204030204" charset="0"/>
              </a:rPr>
              <a:t> This is necessary when system requirements change in response to organizational or business change. The scale of changes is often much greater.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功能加入: 加入新的特征,支持新需求</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4695"/>
            <a:ext cx="8977630" cy="5803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Maintenance effort distribution</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维护工作量分布</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3897630" y="1217295"/>
            <a:ext cx="5148580" cy="5110480"/>
          </a:xfrm>
          <a:prstGeom prst="rect">
            <a:avLst/>
          </a:prstGeom>
        </p:spPr>
      </p:pic>
      <p:pic>
        <p:nvPicPr>
          <p:cNvPr id="3" name="图片 2"/>
          <p:cNvPicPr>
            <a:picLocks noChangeAspect="1"/>
          </p:cNvPicPr>
          <p:nvPr/>
        </p:nvPicPr>
        <p:blipFill>
          <a:blip r:embed="rId4"/>
          <a:stretch>
            <a:fillRect/>
          </a:stretch>
        </p:blipFill>
        <p:spPr>
          <a:xfrm>
            <a:off x="7555230" y="6056630"/>
            <a:ext cx="1495425" cy="628650"/>
          </a:xfrm>
          <a:prstGeom prst="rect">
            <a:avLst/>
          </a:prstGeom>
        </p:spPr>
      </p:pic>
      <p:sp>
        <p:nvSpPr>
          <p:cNvPr id="7" name="Content Placeholder 2"/>
          <p:cNvSpPr>
            <a:spLocks noGrp="1"/>
          </p:cNvSpPr>
          <p:nvPr/>
        </p:nvSpPr>
        <p:spPr>
          <a:xfrm>
            <a:off x="88900" y="1316990"/>
            <a:ext cx="3974465" cy="536829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Fig. 9.12 shows an approximate distribution of maintenance costs, based on data from the most recent survey available.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The authors found that the distribution of maintenance costs had changed</a:t>
            </a:r>
            <a:r>
              <a:rPr lang="en-US" sz="2200" b="0" u="sng" dirty="0" smtClean="0">
                <a:solidFill>
                  <a:schemeClr val="tx1"/>
                </a:solidFill>
                <a:latin typeface="Calibri" panose="020F0502020204030204" charset="0"/>
                <a:cs typeface="Calibri" panose="020F0502020204030204" charset="0"/>
              </a:rPr>
              <a:t> very little</a:t>
            </a:r>
            <a:r>
              <a:rPr lang="en-US" sz="2200" b="0" dirty="0" smtClean="0">
                <a:solidFill>
                  <a:schemeClr val="tx1"/>
                </a:solidFill>
                <a:latin typeface="Calibri" panose="020F0502020204030204" charset="0"/>
                <a:cs typeface="Calibri" panose="020F0502020204030204" charset="0"/>
              </a:rPr>
              <a:t> over 30 years. Although we don’t have more recent data, this suggests that this distribution is still largely correct.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500"/>
              </a:spcBef>
              <a:spcAft>
                <a:spcPts val="0"/>
              </a:spcAft>
              <a:buNone/>
            </a:pPr>
            <a:r>
              <a:rPr lang="en-US" sz="2200" b="0" dirty="0" smtClean="0">
                <a:solidFill>
                  <a:schemeClr val="tx1"/>
                </a:solidFill>
                <a:latin typeface="Calibri" panose="020F0502020204030204" charset="0"/>
                <a:cs typeface="Calibri" panose="020F0502020204030204" charset="0"/>
              </a:rPr>
              <a:t>* Repairing system faults is not the most expensive maintenance activity. Evolving the system to cope with new environments and new or changed requirements generally consumes most maintenance effort.</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4695"/>
            <a:ext cx="8977630" cy="5422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Maintenance costs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维护成本</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82917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9  Software Evolution</a:t>
            </a:r>
            <a:endParaRPr lang="en-US" altLang="zh-CN" sz="2800" dirty="0">
              <a:solidFill>
                <a:srgbClr val="660066"/>
              </a:solidFill>
              <a:ea typeface="黑体" panose="02010609060101010101" pitchFamily="49" charset="-122"/>
              <a:cs typeface="+mj-lt"/>
            </a:endParaRPr>
          </a:p>
        </p:txBody>
      </p:sp>
      <p:sp>
        <p:nvSpPr>
          <p:cNvPr id="8194" name="Rectangle 2"/>
          <p:cNvSpPr>
            <a:spLocks noGrp="1" noChangeArrowheads="1"/>
          </p:cNvSpPr>
          <p:nvPr/>
        </p:nvSpPr>
        <p:spPr>
          <a:xfrm>
            <a:off x="68580" y="1241425"/>
            <a:ext cx="8997950" cy="536765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altLang="en-GB" sz="3000" dirty="0">
                <a:solidFill>
                  <a:schemeClr val="accent2">
                    <a:lumMod val="75000"/>
                  </a:schemeClr>
                </a:solidFill>
                <a:latin typeface="Calibri" panose="020F0502020204030204" charset="0"/>
                <a:cs typeface="Calibri" panose="020F0502020204030204" charset="0"/>
              </a:rPr>
              <a:t> It is usually more expensive to add new features to a system during maintenance than it is to implement the same features during initial development.</a:t>
            </a:r>
            <a:r>
              <a:rPr lang="en-US" altLang="en-GB" sz="2300" dirty="0">
                <a:solidFill>
                  <a:schemeClr val="accent2">
                    <a:lumMod val="75000"/>
                  </a:schemeClr>
                </a:solidFill>
                <a:latin typeface="Calibri" panose="020F0502020204030204" charset="0"/>
                <a:cs typeface="Calibri" panose="020F0502020204030204" charset="0"/>
              </a:rPr>
              <a:t>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rPr>
              <a:t>在维护期间加入新特征,相比在初始开发时实现相同特征,通常更加昂贵</a:t>
            </a:r>
            <a:endPar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altLang="en-GB" sz="3000" dirty="0">
                <a:solidFill>
                  <a:schemeClr val="accent2">
                    <a:lumMod val="75000"/>
                  </a:schemeClr>
                </a:solidFill>
                <a:latin typeface="Calibri" panose="020F0502020204030204" charset="0"/>
                <a:cs typeface="Calibri" panose="020F0502020204030204" charset="0"/>
              </a:rPr>
              <a:t> The reasons for this are:</a:t>
            </a:r>
            <a:r>
              <a:rPr lang="en-US" altLang="en-GB" sz="3200" dirty="0">
                <a:solidFill>
                  <a:schemeClr val="accent2">
                    <a:lumMod val="75000"/>
                  </a:schemeClr>
                </a:solidFill>
                <a:latin typeface="Calibri" panose="020F0502020204030204" charset="0"/>
                <a:cs typeface="Calibri" panose="020F0502020204030204" charset="0"/>
              </a:rPr>
              <a:t>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rPr>
              <a:t>原因</a:t>
            </a:r>
            <a:endParaRPr lang="en-US" altLang="en-GB" sz="2300" dirty="0">
              <a:solidFill>
                <a:schemeClr val="accent2">
                  <a:lumMod val="75000"/>
                </a:schemeClr>
              </a:solidFill>
              <a:latin typeface="Calibri" panose="020F0502020204030204" charset="0"/>
              <a:cs typeface="Calibri" panose="020F0502020204030204" charset="0"/>
            </a:endParaRPr>
          </a:p>
          <a:p>
            <a:pPr lvl="1">
              <a:lnSpc>
                <a:spcPct val="85000"/>
              </a:lnSpc>
              <a:spcAft>
                <a:spcPts val="0"/>
              </a:spcAft>
            </a:pPr>
            <a:r>
              <a:rPr lang="en-US" altLang="en-GB" sz="2800" b="0" dirty="0">
                <a:solidFill>
                  <a:schemeClr val="tx1"/>
                </a:solidFill>
                <a:latin typeface="Calibri" panose="020F0502020204030204" charset="0"/>
                <a:cs typeface="Calibri" panose="020F0502020204030204" charset="0"/>
              </a:rPr>
              <a:t>A new team has to understand the program being maintained.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rPr>
              <a:t>新团队必须理解要维护的程序</a:t>
            </a:r>
            <a:endParaRPr lang="en-US" altLang="en-GB" sz="2300" b="0" dirty="0">
              <a:solidFill>
                <a:schemeClr val="tx1"/>
              </a:solidFill>
              <a:latin typeface="Calibri" panose="020F0502020204030204" charset="0"/>
              <a:cs typeface="Calibri" panose="020F0502020204030204" charset="0"/>
            </a:endParaRPr>
          </a:p>
          <a:p>
            <a:pPr lvl="1">
              <a:lnSpc>
                <a:spcPct val="85000"/>
              </a:lnSpc>
              <a:spcAft>
                <a:spcPts val="0"/>
              </a:spcAft>
            </a:pPr>
            <a:r>
              <a:rPr lang="en-US" altLang="en-GB" sz="2800" b="0" dirty="0">
                <a:solidFill>
                  <a:schemeClr val="tx1"/>
                </a:solidFill>
                <a:latin typeface="Calibri" panose="020F0502020204030204" charset="0"/>
                <a:cs typeface="Calibri" panose="020F0502020204030204" charset="0"/>
              </a:rPr>
              <a:t>Separating maintenance and development means there is no incentive for the development team to write maintainable software.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rPr>
              <a:t>开发团队没有编写维护代码的动机</a:t>
            </a:r>
            <a:endPar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altLang="en-GB" sz="2800" b="0" dirty="0">
                <a:solidFill>
                  <a:schemeClr val="tx1"/>
                </a:solidFill>
                <a:latin typeface="Calibri" panose="020F0502020204030204" charset="0"/>
                <a:cs typeface="Calibri" panose="020F0502020204030204" charset="0"/>
              </a:rPr>
              <a:t>Program maintenance work is unpopular.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rPr>
              <a:t>程序维护工作不受欢迎</a:t>
            </a:r>
            <a:endPar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altLang="en-GB" sz="2800" b="0" dirty="0">
                <a:solidFill>
                  <a:schemeClr val="tx1"/>
                </a:solidFill>
                <a:latin typeface="Calibri" panose="020F0502020204030204" charset="0"/>
                <a:cs typeface="Calibri" panose="020F0502020204030204" charset="0"/>
              </a:rPr>
              <a:t>As programs age, their structure degrades and they become harder to change.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rPr>
              <a:t>时间变化,程序退化,更难变更</a:t>
            </a:r>
            <a:endParaRPr lang="zh-CN" altLang="en-US" sz="23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13219</Words>
  <Application>WPS 演示</Application>
  <PresentationFormat>信纸(8.5x11 英寸)</PresentationFormat>
  <Paragraphs>186</Paragraphs>
  <Slides>22</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CS152-SP98</vt:lpstr>
      <vt:lpstr> Software Engineering</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lpstr>Chap. 9  Software Evolution</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2034</cp:revision>
  <cp:lastPrinted>1999-08-22T22:40:00Z</cp:lastPrinted>
  <dcterms:created xsi:type="dcterms:W3CDTF">1997-08-19T16:58:00Z</dcterms:created>
  <dcterms:modified xsi:type="dcterms:W3CDTF">2025-11-15T03:46:27Z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3E2B1C6E25C54BFF8474069605F54195_13</vt:lpwstr>
  </property>
</Properties>
</file>