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645" r:id="rId3"/>
    <p:sldId id="873" r:id="rId4"/>
    <p:sldId id="874" r:id="rId5"/>
    <p:sldId id="647" r:id="rId6"/>
    <p:sldId id="646" r:id="rId8"/>
    <p:sldId id="648" r:id="rId9"/>
    <p:sldId id="649" r:id="rId10"/>
    <p:sldId id="650" r:id="rId11"/>
    <p:sldId id="651" r:id="rId12"/>
    <p:sldId id="652" r:id="rId13"/>
    <p:sldId id="653" r:id="rId14"/>
    <p:sldId id="654" r:id="rId15"/>
    <p:sldId id="655" r:id="rId16"/>
    <p:sldId id="656" r:id="rId17"/>
    <p:sldId id="657" r:id="rId18"/>
    <p:sldId id="658" r:id="rId19"/>
    <p:sldId id="659" r:id="rId20"/>
    <p:sldId id="660" r:id="rId21"/>
    <p:sldId id="661" r:id="rId22"/>
    <p:sldId id="662" r:id="rId23"/>
    <p:sldId id="663" r:id="rId24"/>
    <p:sldId id="664" r:id="rId25"/>
    <p:sldId id="665" r:id="rId26"/>
    <p:sldId id="666" r:id="rId27"/>
    <p:sldId id="667" r:id="rId28"/>
    <p:sldId id="668" r:id="rId29"/>
    <p:sldId id="669" r:id="rId30"/>
    <p:sldId id="670" r:id="rId31"/>
    <p:sldId id="671" r:id="rId32"/>
    <p:sldId id="691" r:id="rId33"/>
    <p:sldId id="692" r:id="rId34"/>
    <p:sldId id="693" r:id="rId35"/>
    <p:sldId id="694" r:id="rId36"/>
    <p:sldId id="695" r:id="rId37"/>
    <p:sldId id="696" r:id="rId38"/>
    <p:sldId id="697" r:id="rId39"/>
    <p:sldId id="698" r:id="rId40"/>
    <p:sldId id="699" r:id="rId41"/>
    <p:sldId id="700" r:id="rId42"/>
    <p:sldId id="701" r:id="rId43"/>
    <p:sldId id="702" r:id="rId44"/>
    <p:sldId id="703" r:id="rId45"/>
    <p:sldId id="704" r:id="rId46"/>
    <p:sldId id="705" r:id="rId47"/>
    <p:sldId id="706" r:id="rId48"/>
    <p:sldId id="707" r:id="rId49"/>
    <p:sldId id="708" r:id="rId50"/>
    <p:sldId id="709" r:id="rId51"/>
    <p:sldId id="710" r:id="rId52"/>
    <p:sldId id="711" r:id="rId53"/>
    <p:sldId id="712" r:id="rId54"/>
    <p:sldId id="713" r:id="rId55"/>
    <p:sldId id="715" r:id="rId56"/>
    <p:sldId id="716" r:id="rId57"/>
    <p:sldId id="718" r:id="rId58"/>
    <p:sldId id="719" r:id="rId59"/>
    <p:sldId id="720" r:id="rId60"/>
    <p:sldId id="721" r:id="rId61"/>
    <p:sldId id="722" r:id="rId62"/>
    <p:sldId id="723" r:id="rId63"/>
    <p:sldId id="724" r:id="rId64"/>
    <p:sldId id="725" r:id="rId65"/>
    <p:sldId id="728" r:id="rId66"/>
    <p:sldId id="729" r:id="rId67"/>
    <p:sldId id="730" r:id="rId68"/>
    <p:sldId id="731" r:id="rId69"/>
    <p:sldId id="1064" r:id="rId70"/>
    <p:sldId id="1066" r:id="rId71"/>
    <p:sldId id="733" r:id="rId72"/>
    <p:sldId id="734" r:id="rId73"/>
    <p:sldId id="735" r:id="rId74"/>
    <p:sldId id="746" r:id="rId75"/>
    <p:sldId id="750" r:id="rId76"/>
    <p:sldId id="762" r:id="rId77"/>
    <p:sldId id="763" r:id="rId78"/>
    <p:sldId id="764" r:id="rId79"/>
    <p:sldId id="1011" r:id="rId80"/>
    <p:sldId id="773" r:id="rId81"/>
    <p:sldId id="774" r:id="rId82"/>
    <p:sldId id="775" r:id="rId83"/>
    <p:sldId id="776" r:id="rId84"/>
    <p:sldId id="777" r:id="rId85"/>
    <p:sldId id="778" r:id="rId86"/>
    <p:sldId id="779" r:id="rId87"/>
    <p:sldId id="780" r:id="rId88"/>
    <p:sldId id="781" r:id="rId89"/>
    <p:sldId id="782" r:id="rId90"/>
    <p:sldId id="783" r:id="rId91"/>
    <p:sldId id="784" r:id="rId92"/>
    <p:sldId id="785" r:id="rId93"/>
    <p:sldId id="786" r:id="rId94"/>
    <p:sldId id="787" r:id="rId95"/>
    <p:sldId id="788" r:id="rId96"/>
    <p:sldId id="789" r:id="rId97"/>
    <p:sldId id="790" r:id="rId98"/>
    <p:sldId id="791" r:id="rId99"/>
    <p:sldId id="792" r:id="rId100"/>
    <p:sldId id="793" r:id="rId101"/>
    <p:sldId id="794" r:id="rId102"/>
    <p:sldId id="800" r:id="rId103"/>
    <p:sldId id="801" r:id="rId104"/>
    <p:sldId id="802" r:id="rId105"/>
    <p:sldId id="803" r:id="rId106"/>
    <p:sldId id="804" r:id="rId107"/>
    <p:sldId id="805" r:id="rId108"/>
    <p:sldId id="806" r:id="rId109"/>
    <p:sldId id="807" r:id="rId110"/>
    <p:sldId id="808" r:id="rId111"/>
    <p:sldId id="809" r:id="rId112"/>
    <p:sldId id="810" r:id="rId113"/>
    <p:sldId id="811" r:id="rId114"/>
    <p:sldId id="812" r:id="rId115"/>
    <p:sldId id="813" r:id="rId116"/>
    <p:sldId id="814" r:id="rId117"/>
    <p:sldId id="815" r:id="rId118"/>
    <p:sldId id="816" r:id="rId119"/>
    <p:sldId id="817" r:id="rId120"/>
    <p:sldId id="818" r:id="rId121"/>
    <p:sldId id="1117" r:id="rId122"/>
    <p:sldId id="1118" r:id="rId123"/>
  </p:sldIdLst>
  <p:sldSz cx="9906000" cy="6858000" type="A4"/>
  <p:notesSz cx="6858000" cy="9144000"/>
  <p:defaultTextStyle>
    <a:defPPr>
      <a:defRPr lang="zh-CN"/>
    </a:defPPr>
    <a:lvl1pPr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99"/>
    <a:srgbClr val="0000FF"/>
    <a:srgbClr val="FFCC00"/>
    <a:srgbClr val="000066"/>
    <a:srgbClr val="FFFF66"/>
    <a:srgbClr val="FF99FF"/>
    <a:srgbClr val="66FFFF"/>
    <a:srgbClr val="FF9900"/>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11" autoAdjust="0"/>
  </p:normalViewPr>
  <p:slideViewPr>
    <p:cSldViewPr>
      <p:cViewPr varScale="1">
        <p:scale>
          <a:sx n="68" d="100"/>
          <a:sy n="68" d="100"/>
        </p:scale>
        <p:origin x="1284" y="78"/>
      </p:cViewPr>
      <p:guideLst>
        <p:guide orient="horz" pos="2182"/>
        <p:guide pos="3123"/>
      </p:guideLst>
    </p:cSldViewPr>
  </p:slideViewPr>
  <p:notesTextViewPr>
    <p:cViewPr>
      <p:scale>
        <a:sx n="100" d="100"/>
        <a:sy n="100" d="100"/>
      </p:scale>
      <p:origin x="0" y="0"/>
    </p:cViewPr>
  </p:notesTextViewPr>
  <p:sorterViewPr>
    <p:cViewPr>
      <p:scale>
        <a:sx n="66" d="100"/>
        <a:sy n="66" d="100"/>
      </p:scale>
      <p:origin x="0" y="2292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6" Type="http://schemas.openxmlformats.org/officeDocument/2006/relationships/tableStyles" Target="tableStyles.xml"/><Relationship Id="rId125" Type="http://schemas.openxmlformats.org/officeDocument/2006/relationships/viewProps" Target="viewProps.xml"/><Relationship Id="rId124" Type="http://schemas.openxmlformats.org/officeDocument/2006/relationships/presProps" Target="presProps.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1705B7-8C8A-42C4-AB17-1CFFB083E05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3D7E5C-22A0-4D6E-B6E0-612BC81E170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A10E362-DE88-4268-9FFD-6CE729E4A76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362318B5-3A8E-4CC1-951F-506CEE882461}"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3948000D-7B90-4030-8BBA-A050511F1FCD}"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3795" name="Rectangle 2"/>
          <p:cNvSpPr>
            <a:spLocks noGrp="1" noRot="1" noChangeAspect="1" noChangeArrowheads="1" noTextEdit="1"/>
          </p:cNvSpPr>
          <p:nvPr>
            <p:ph type="sldImg"/>
          </p:nvPr>
        </p:nvSpPr>
        <p:spPr/>
      </p:sp>
      <p:sp>
        <p:nvSpPr>
          <p:cNvPr id="3379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258536F-3E42-4A32-A403-80B99AAFE183}"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258536F-3E42-4A32-A403-80B99AAFE183}"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6FFD0F2-9519-4030-92F0-ED93B4D89C25}"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ACBF8C6-E7F9-4CF9-A77A-31F71F14A7AD}"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3A18536-26F4-43ED-B59F-3172FDDA804F}"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6758432-00AD-4FB1-9218-07AA9E0F8719}"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E54D266-0709-4BAC-880C-A85B5865C5A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36AD0BF-44DA-4D8C-8C53-122691BA6C1E}"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6316D19-0D7B-45C1-9482-0DD810A93779}"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5070B8C-B215-4763-A115-EA3510FAA8EF}"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02859AC-47E4-47A9-AD74-48598880F73E}"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220E10F-2636-4871-8AA4-8EF5997652C5}"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C006C03-CA6E-465C-8CF4-E99C9A8610CB}"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BE057E2-C06C-449E-9055-D0CD63F2EBA2}"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3F534B7-FD04-48C5-AEA8-FCACB77411C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3F534B7-FD04-48C5-AEA8-FCACB77411C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A5EF30D-B635-45D2-938A-298864C3FD41}"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5D1D9B8-B121-4CBE-B906-E7E93A7FCA81}"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50F311B-F405-428A-BB36-60689CFFC53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7D76355-5643-4E4B-8F99-ED36B351C6B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0827A7C-DD2C-453C-B37D-58FE1ECDDA9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7AAE894-2A4B-41E6-953A-528D7B92F8BF}"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CB25D2C-3153-47EB-A892-1A31BCA69827}"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6651D48-E918-474F-8323-3FA9C3FB6EBE}"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B79CD6A-4CB8-44D6-A207-E8CE0005241D}"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E6DF5D3-2C5D-4B22-823D-F8CE689E7F9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4F2407E-E322-446A-90F6-5882B5370F7B}"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58428C97-0D62-47A1-83E2-7506F1162D2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47459" name="Rectangle 2"/>
          <p:cNvSpPr>
            <a:spLocks noGrp="1" noRot="1" noChangeAspect="1" noChangeArrowheads="1" noTextEdit="1"/>
          </p:cNvSpPr>
          <p:nvPr>
            <p:ph type="sldImg"/>
          </p:nvPr>
        </p:nvSpPr>
        <p:spPr/>
      </p:sp>
      <p:sp>
        <p:nvSpPr>
          <p:cNvPr id="14746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C45AFDEE-584E-4671-A049-5102E978FCDF}"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49507" name="Rectangle 2"/>
          <p:cNvSpPr>
            <a:spLocks noGrp="1" noRot="1" noChangeAspect="1" noChangeArrowheads="1" noTextEdit="1"/>
          </p:cNvSpPr>
          <p:nvPr>
            <p:ph type="sldImg"/>
          </p:nvPr>
        </p:nvSpPr>
        <p:spPr/>
      </p:sp>
      <p:sp>
        <p:nvSpPr>
          <p:cNvPr id="14950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6DA90B0-E310-4C59-BE33-7FB9DFE184B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622A74F-6536-4563-8691-7AAD5DE25117}"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9F4657A-2B9B-496F-B68E-E4B2151C2DC4}"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55651" name="Rectangle 2"/>
          <p:cNvSpPr>
            <a:spLocks noGrp="1" noRot="1" noChangeAspect="1" noChangeArrowheads="1" noTextEdit="1"/>
          </p:cNvSpPr>
          <p:nvPr>
            <p:ph type="sldImg"/>
          </p:nvPr>
        </p:nvSpPr>
        <p:spPr/>
      </p:sp>
      <p:sp>
        <p:nvSpPr>
          <p:cNvPr id="15565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19BF4E5-DE2E-4BC9-9F2D-032EE0E3927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2BDAD19-7738-4B13-AE9B-E024A223F0CE}"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DF19E45-EE36-47CE-BFAE-8C1F902AA11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65891" name="Rectangle 2"/>
          <p:cNvSpPr>
            <a:spLocks noGrp="1" noRot="1" noChangeAspect="1" noChangeArrowheads="1" noTextEdit="1"/>
          </p:cNvSpPr>
          <p:nvPr>
            <p:ph type="sldImg"/>
          </p:nvPr>
        </p:nvSpPr>
        <p:spPr/>
      </p:sp>
      <p:sp>
        <p:nvSpPr>
          <p:cNvPr id="16589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28B4623-CAE4-4096-92F5-06EE59583F71}"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67939" name="Rectangle 2"/>
          <p:cNvSpPr>
            <a:spLocks noGrp="1" noRot="1" noChangeAspect="1" noChangeArrowheads="1" noTextEdit="1"/>
          </p:cNvSpPr>
          <p:nvPr>
            <p:ph type="sldImg"/>
          </p:nvPr>
        </p:nvSpPr>
        <p:spPr/>
      </p:sp>
      <p:sp>
        <p:nvSpPr>
          <p:cNvPr id="16794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ECD60F7-C22B-4652-9128-E776820A3BD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24E7E24-8E76-4970-B72E-74BC7260EEDB}"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72035" name="Rectangle 2"/>
          <p:cNvSpPr>
            <a:spLocks noGrp="1" noRot="1" noChangeAspect="1" noChangeArrowheads="1" noTextEdit="1"/>
          </p:cNvSpPr>
          <p:nvPr>
            <p:ph type="sldImg"/>
          </p:nvPr>
        </p:nvSpPr>
        <p:spPr/>
      </p:sp>
      <p:sp>
        <p:nvSpPr>
          <p:cNvPr id="17203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093B38E-BBE4-4D5E-AA52-E3B8E13DAED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77155" name="Rectangle 2"/>
          <p:cNvSpPr>
            <a:spLocks noGrp="1" noRot="1" noChangeAspect="1" noChangeArrowheads="1" noTextEdit="1"/>
          </p:cNvSpPr>
          <p:nvPr>
            <p:ph type="sldImg"/>
          </p:nvPr>
        </p:nvSpPr>
        <p:spPr/>
      </p:sp>
      <p:sp>
        <p:nvSpPr>
          <p:cNvPr id="17715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41258A4-76FA-49B1-85BE-B7677688812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179203" name="Rectangle 2"/>
          <p:cNvSpPr>
            <a:spLocks noGrp="1" noRot="1" noChangeAspect="1" noChangeArrowheads="1" noTextEdit="1"/>
          </p:cNvSpPr>
          <p:nvPr>
            <p:ph type="sldImg"/>
          </p:nvPr>
        </p:nvSpPr>
        <p:spPr/>
      </p:sp>
      <p:sp>
        <p:nvSpPr>
          <p:cNvPr id="17920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55A53176-2942-4D5F-8849-8B8703F6E32D}"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01731" name="Rectangle 2"/>
          <p:cNvSpPr>
            <a:spLocks noGrp="1" noRot="1" noChangeAspect="1" noChangeArrowheads="1" noTextEdit="1"/>
          </p:cNvSpPr>
          <p:nvPr>
            <p:ph type="sldImg"/>
          </p:nvPr>
        </p:nvSpPr>
        <p:spPr/>
      </p:sp>
      <p:sp>
        <p:nvSpPr>
          <p:cNvPr id="20173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C72F2B7-F9DA-4522-AAFE-DC638F04D872}"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41C277D-E93C-4D71-8F21-B329B235348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28355" name="Rectangle 2"/>
          <p:cNvSpPr>
            <a:spLocks noGrp="1" noRot="1" noChangeAspect="1" noChangeArrowheads="1" noTextEdit="1"/>
          </p:cNvSpPr>
          <p:nvPr>
            <p:ph type="sldImg"/>
          </p:nvPr>
        </p:nvSpPr>
        <p:spPr/>
      </p:sp>
      <p:sp>
        <p:nvSpPr>
          <p:cNvPr id="22835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AB1EA23-F01A-4D09-BDA1-3E14EE4ADC2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31427" name="Rectangle 2"/>
          <p:cNvSpPr>
            <a:spLocks noGrp="1" noRot="1" noChangeAspect="1" noChangeArrowheads="1" noTextEdit="1"/>
          </p:cNvSpPr>
          <p:nvPr>
            <p:ph type="sldImg"/>
          </p:nvPr>
        </p:nvSpPr>
        <p:spPr/>
      </p:sp>
      <p:sp>
        <p:nvSpPr>
          <p:cNvPr id="23142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53C188A-D847-4340-A186-E4360F9EAD5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41667" name="Rectangle 2"/>
          <p:cNvSpPr>
            <a:spLocks noGrp="1" noRot="1" noChangeAspect="1" noChangeArrowheads="1" noTextEdit="1"/>
          </p:cNvSpPr>
          <p:nvPr>
            <p:ph type="sldImg"/>
          </p:nvPr>
        </p:nvSpPr>
        <p:spPr/>
      </p:sp>
      <p:sp>
        <p:nvSpPr>
          <p:cNvPr id="24166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50FFFAA-8722-462E-8F76-05C862564025}"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43715" name="Rectangle 2"/>
          <p:cNvSpPr>
            <a:spLocks noGrp="1" noRot="1" noChangeAspect="1" noChangeArrowheads="1" noTextEdit="1"/>
          </p:cNvSpPr>
          <p:nvPr>
            <p:ph type="sldImg"/>
          </p:nvPr>
        </p:nvSpPr>
        <p:spPr/>
      </p:sp>
      <p:sp>
        <p:nvSpPr>
          <p:cNvPr id="24371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E0E71AA-33F2-4748-A2FE-2EF8894B4E7F}"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45763" name="Rectangle 2"/>
          <p:cNvSpPr>
            <a:spLocks noGrp="1" noRot="1" noChangeAspect="1" noChangeArrowheads="1" noTextEdit="1"/>
          </p:cNvSpPr>
          <p:nvPr>
            <p:ph type="sldImg"/>
          </p:nvPr>
        </p:nvSpPr>
        <p:spPr/>
      </p:sp>
      <p:sp>
        <p:nvSpPr>
          <p:cNvPr id="24576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04F7B6C-3FF6-46FC-B418-13AFCD4CAED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47811" name="Rectangle 2"/>
          <p:cNvSpPr>
            <a:spLocks noGrp="1" noRot="1" noChangeAspect="1" noChangeArrowheads="1" noTextEdit="1"/>
          </p:cNvSpPr>
          <p:nvPr>
            <p:ph type="sldImg"/>
          </p:nvPr>
        </p:nvSpPr>
        <p:spPr/>
      </p:sp>
      <p:sp>
        <p:nvSpPr>
          <p:cNvPr id="24781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2A31A6F5-B0E4-4CBF-8D23-36E57787A5C2}"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49859" name="Rectangle 2"/>
          <p:cNvSpPr>
            <a:spLocks noGrp="1" noRot="1" noChangeAspect="1" noChangeArrowheads="1" noTextEdit="1"/>
          </p:cNvSpPr>
          <p:nvPr>
            <p:ph type="sldImg"/>
          </p:nvPr>
        </p:nvSpPr>
        <p:spPr/>
      </p:sp>
      <p:sp>
        <p:nvSpPr>
          <p:cNvPr id="24986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3188689-98FF-4461-AC02-69E66E268044}"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53955" name="Rectangle 2"/>
          <p:cNvSpPr>
            <a:spLocks noGrp="1" noRot="1" noChangeAspect="1" noChangeArrowheads="1" noTextEdit="1"/>
          </p:cNvSpPr>
          <p:nvPr>
            <p:ph type="sldImg"/>
          </p:nvPr>
        </p:nvSpPr>
        <p:spPr/>
      </p:sp>
      <p:sp>
        <p:nvSpPr>
          <p:cNvPr id="25395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3578DEF0-EE48-48ED-824B-9C07BB837FD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56003" name="Rectangle 2"/>
          <p:cNvSpPr>
            <a:spLocks noGrp="1" noRot="1" noChangeAspect="1" noChangeArrowheads="1" noTextEdit="1"/>
          </p:cNvSpPr>
          <p:nvPr>
            <p:ph type="sldImg"/>
          </p:nvPr>
        </p:nvSpPr>
        <p:spPr/>
      </p:sp>
      <p:sp>
        <p:nvSpPr>
          <p:cNvPr id="25600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5E768BE-045A-4CB9-AA66-832D5213DF59}"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58051" name="Rectangle 2"/>
          <p:cNvSpPr>
            <a:spLocks noGrp="1" noRot="1" noChangeAspect="1" noChangeArrowheads="1" noTextEdit="1"/>
          </p:cNvSpPr>
          <p:nvPr>
            <p:ph type="sldImg"/>
          </p:nvPr>
        </p:nvSpPr>
        <p:spPr/>
      </p:sp>
      <p:sp>
        <p:nvSpPr>
          <p:cNvPr id="25805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548A09F0-33E5-4FCF-93E7-C1E8DC7315C2}"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60099" name="Rectangle 2"/>
          <p:cNvSpPr>
            <a:spLocks noGrp="1" noRot="1" noChangeAspect="1" noChangeArrowheads="1" noTextEdit="1"/>
          </p:cNvSpPr>
          <p:nvPr>
            <p:ph type="sldImg"/>
          </p:nvPr>
        </p:nvSpPr>
        <p:spPr/>
      </p:sp>
      <p:sp>
        <p:nvSpPr>
          <p:cNvPr id="26010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6FC4CB0-EF66-4EAB-B1C1-FFF37972914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62147" name="Rectangle 2"/>
          <p:cNvSpPr>
            <a:spLocks noGrp="1" noRot="1" noChangeAspect="1" noChangeArrowheads="1" noTextEdit="1"/>
          </p:cNvSpPr>
          <p:nvPr>
            <p:ph type="sldImg"/>
          </p:nvPr>
        </p:nvSpPr>
        <p:spPr/>
      </p:sp>
      <p:sp>
        <p:nvSpPr>
          <p:cNvPr id="26214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3CE72CF-0CC1-4FF6-A91E-E638A9EAC889}"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64195" name="Rectangle 2"/>
          <p:cNvSpPr>
            <a:spLocks noGrp="1" noRot="1" noChangeAspect="1" noChangeArrowheads="1" noTextEdit="1"/>
          </p:cNvSpPr>
          <p:nvPr>
            <p:ph type="sldImg"/>
          </p:nvPr>
        </p:nvSpPr>
        <p:spPr/>
      </p:sp>
      <p:sp>
        <p:nvSpPr>
          <p:cNvPr id="26419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AD057EE-5C3A-428A-A200-21E19ED34053}"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51ADA2A-E34E-4B4B-9BA0-6AC6FC1FF4C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68291" name="Rectangle 2"/>
          <p:cNvSpPr>
            <a:spLocks noGrp="1" noRot="1" noChangeAspect="1" noChangeArrowheads="1" noTextEdit="1"/>
          </p:cNvSpPr>
          <p:nvPr>
            <p:ph type="sldImg"/>
          </p:nvPr>
        </p:nvSpPr>
        <p:spPr/>
      </p:sp>
      <p:sp>
        <p:nvSpPr>
          <p:cNvPr id="26829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79ACA04-3DAC-4BEC-B6E9-67756EE2474E}"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70339" name="Rectangle 2"/>
          <p:cNvSpPr>
            <a:spLocks noGrp="1" noRot="1" noChangeAspect="1" noChangeArrowheads="1" noTextEdit="1"/>
          </p:cNvSpPr>
          <p:nvPr>
            <p:ph type="sldImg"/>
          </p:nvPr>
        </p:nvSpPr>
        <p:spPr/>
      </p:sp>
      <p:sp>
        <p:nvSpPr>
          <p:cNvPr id="27034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1EE98E2-6E06-498C-BB41-2943D05B75D9}"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72387" name="Rectangle 2"/>
          <p:cNvSpPr>
            <a:spLocks noGrp="1" noRot="1" noChangeAspect="1" noChangeArrowheads="1" noTextEdit="1"/>
          </p:cNvSpPr>
          <p:nvPr>
            <p:ph type="sldImg"/>
          </p:nvPr>
        </p:nvSpPr>
        <p:spPr/>
      </p:sp>
      <p:sp>
        <p:nvSpPr>
          <p:cNvPr id="27238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EE2513B-AB90-4E27-AC7A-FFFE94A48A0B}"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75459" name="Rectangle 2"/>
          <p:cNvSpPr>
            <a:spLocks noGrp="1" noRot="1" noChangeAspect="1" noChangeArrowheads="1" noTextEdit="1"/>
          </p:cNvSpPr>
          <p:nvPr>
            <p:ph type="sldImg"/>
          </p:nvPr>
        </p:nvSpPr>
        <p:spPr/>
      </p:sp>
      <p:sp>
        <p:nvSpPr>
          <p:cNvPr id="27546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D9360C5-330A-425B-9C2C-D5F74892BE77}"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77507" name="Rectangle 2"/>
          <p:cNvSpPr>
            <a:spLocks noGrp="1" noRot="1" noChangeAspect="1" noChangeArrowheads="1" noTextEdit="1"/>
          </p:cNvSpPr>
          <p:nvPr>
            <p:ph type="sldImg"/>
          </p:nvPr>
        </p:nvSpPr>
        <p:spPr/>
      </p:sp>
      <p:sp>
        <p:nvSpPr>
          <p:cNvPr id="27750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7F5BF5E-8BBC-49D6-86EA-5A64FAF70514}"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79555" name="Rectangle 2"/>
          <p:cNvSpPr>
            <a:spLocks noGrp="1" noRot="1" noChangeAspect="1" noChangeArrowheads="1" noTextEdit="1"/>
          </p:cNvSpPr>
          <p:nvPr>
            <p:ph type="sldImg"/>
          </p:nvPr>
        </p:nvSpPr>
        <p:spPr/>
      </p:sp>
      <p:sp>
        <p:nvSpPr>
          <p:cNvPr id="27955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5E00C91B-D874-46A0-AB61-1FD0703D3CC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89795" name="Rectangle 2"/>
          <p:cNvSpPr>
            <a:spLocks noGrp="1" noRot="1" noChangeAspect="1" noChangeArrowheads="1" noTextEdit="1"/>
          </p:cNvSpPr>
          <p:nvPr>
            <p:ph type="sldImg"/>
          </p:nvPr>
        </p:nvSpPr>
        <p:spPr/>
      </p:sp>
      <p:sp>
        <p:nvSpPr>
          <p:cNvPr id="28979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EF53DDF-16D4-4E9F-B2ED-0F10C96FEC03}"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91843" name="Rectangle 2"/>
          <p:cNvSpPr>
            <a:spLocks noGrp="1" noRot="1" noChangeAspect="1" noChangeArrowheads="1" noTextEdit="1"/>
          </p:cNvSpPr>
          <p:nvPr>
            <p:ph type="sldImg"/>
          </p:nvPr>
        </p:nvSpPr>
        <p:spPr/>
      </p:sp>
      <p:sp>
        <p:nvSpPr>
          <p:cNvPr id="29184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D2CFAA8-9136-46BA-B8CF-6DE586EFC7B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93891" name="Rectangle 2"/>
          <p:cNvSpPr>
            <a:spLocks noGrp="1" noRot="1" noChangeAspect="1" noChangeArrowheads="1" noTextEdit="1"/>
          </p:cNvSpPr>
          <p:nvPr>
            <p:ph type="sldImg"/>
          </p:nvPr>
        </p:nvSpPr>
        <p:spPr/>
      </p:sp>
      <p:sp>
        <p:nvSpPr>
          <p:cNvPr id="29389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23C525B-354C-4852-BCF7-4727C57ACF3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95939" name="Rectangle 2"/>
          <p:cNvSpPr>
            <a:spLocks noGrp="1" noRot="1" noChangeAspect="1" noChangeArrowheads="1" noTextEdit="1"/>
          </p:cNvSpPr>
          <p:nvPr>
            <p:ph type="sldImg"/>
          </p:nvPr>
        </p:nvSpPr>
        <p:spPr/>
      </p:sp>
      <p:sp>
        <p:nvSpPr>
          <p:cNvPr id="29594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269AAE18-608F-4584-A5BD-3611F9469C20}"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297987" name="Rectangle 2"/>
          <p:cNvSpPr>
            <a:spLocks noGrp="1" noRot="1" noChangeAspect="1" noChangeArrowheads="1" noTextEdit="1"/>
          </p:cNvSpPr>
          <p:nvPr>
            <p:ph type="sldImg"/>
          </p:nvPr>
        </p:nvSpPr>
        <p:spPr/>
      </p:sp>
      <p:sp>
        <p:nvSpPr>
          <p:cNvPr id="29798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FD223DB-77A9-4E23-8057-9B145EE8D612}"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00035" name="Rectangle 2"/>
          <p:cNvSpPr>
            <a:spLocks noGrp="1" noRot="1" noChangeAspect="1" noChangeArrowheads="1" noTextEdit="1"/>
          </p:cNvSpPr>
          <p:nvPr>
            <p:ph type="sldImg"/>
          </p:nvPr>
        </p:nvSpPr>
        <p:spPr/>
      </p:sp>
      <p:sp>
        <p:nvSpPr>
          <p:cNvPr id="30003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0AFA689-EAA9-419C-9AF3-12D6AC39E85E}"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02083" name="Rectangle 2"/>
          <p:cNvSpPr>
            <a:spLocks noGrp="1" noRot="1" noChangeAspect="1" noChangeArrowheads="1" noTextEdit="1"/>
          </p:cNvSpPr>
          <p:nvPr>
            <p:ph type="sldImg"/>
          </p:nvPr>
        </p:nvSpPr>
        <p:spPr/>
      </p:sp>
      <p:sp>
        <p:nvSpPr>
          <p:cNvPr id="30208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3B23192-A0FD-4E2F-9D3A-AF272ACD9A7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04131" name="Rectangle 2"/>
          <p:cNvSpPr>
            <a:spLocks noGrp="1" noRot="1" noChangeAspect="1" noChangeArrowheads="1" noTextEdit="1"/>
          </p:cNvSpPr>
          <p:nvPr>
            <p:ph type="sldImg"/>
          </p:nvPr>
        </p:nvSpPr>
        <p:spPr/>
      </p:sp>
      <p:sp>
        <p:nvSpPr>
          <p:cNvPr id="30413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BDBA080-0E9A-4B82-B404-22F90B62DF46}"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06179" name="Rectangle 2"/>
          <p:cNvSpPr>
            <a:spLocks noGrp="1" noRot="1" noChangeAspect="1" noChangeArrowheads="1" noTextEdit="1"/>
          </p:cNvSpPr>
          <p:nvPr>
            <p:ph type="sldImg"/>
          </p:nvPr>
        </p:nvSpPr>
        <p:spPr/>
      </p:sp>
      <p:sp>
        <p:nvSpPr>
          <p:cNvPr id="30618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2E72B09D-92D2-4F7E-811F-87BA0EEE863F}"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08227" name="Rectangle 2"/>
          <p:cNvSpPr>
            <a:spLocks noGrp="1" noRot="1" noChangeAspect="1" noChangeArrowheads="1" noTextEdit="1"/>
          </p:cNvSpPr>
          <p:nvPr>
            <p:ph type="sldImg"/>
          </p:nvPr>
        </p:nvSpPr>
        <p:spPr/>
      </p:sp>
      <p:sp>
        <p:nvSpPr>
          <p:cNvPr id="30822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CE74B998-35EB-472B-9BA6-8C4B5793B18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10275" name="Rectangle 2"/>
          <p:cNvSpPr>
            <a:spLocks noGrp="1" noRot="1" noChangeAspect="1" noChangeArrowheads="1" noTextEdit="1"/>
          </p:cNvSpPr>
          <p:nvPr>
            <p:ph type="sldImg"/>
          </p:nvPr>
        </p:nvSpPr>
        <p:spPr/>
      </p:sp>
      <p:sp>
        <p:nvSpPr>
          <p:cNvPr id="31027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8A9898C-E95E-45EE-B357-2FD84FA3834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12323" name="Rectangle 2"/>
          <p:cNvSpPr>
            <a:spLocks noGrp="1" noRot="1" noChangeAspect="1" noChangeArrowheads="1" noTextEdit="1"/>
          </p:cNvSpPr>
          <p:nvPr>
            <p:ph type="sldImg"/>
          </p:nvPr>
        </p:nvSpPr>
        <p:spPr/>
      </p:sp>
      <p:sp>
        <p:nvSpPr>
          <p:cNvPr id="31232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F9C7F13-3F90-40EE-8992-D81FFC8A9658}"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14371" name="Rectangle 2"/>
          <p:cNvSpPr>
            <a:spLocks noGrp="1" noRot="1" noChangeAspect="1" noChangeArrowheads="1" noTextEdit="1"/>
          </p:cNvSpPr>
          <p:nvPr>
            <p:ph type="sldImg"/>
          </p:nvPr>
        </p:nvSpPr>
        <p:spPr/>
      </p:sp>
      <p:sp>
        <p:nvSpPr>
          <p:cNvPr id="31437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D08F3CA-D9E0-441C-8CFA-C463CFB60712}"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16419" name="Rectangle 2"/>
          <p:cNvSpPr>
            <a:spLocks noGrp="1" noRot="1" noChangeAspect="1" noChangeArrowheads="1" noTextEdit="1"/>
          </p:cNvSpPr>
          <p:nvPr>
            <p:ph type="sldImg"/>
          </p:nvPr>
        </p:nvSpPr>
        <p:spPr/>
      </p:sp>
      <p:sp>
        <p:nvSpPr>
          <p:cNvPr id="31642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82ABD7E-7CA1-4553-8CC3-9EF1314C4111}"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18467" name="Rectangle 2"/>
          <p:cNvSpPr>
            <a:spLocks noGrp="1" noRot="1" noChangeAspect="1" noChangeArrowheads="1" noTextEdit="1"/>
          </p:cNvSpPr>
          <p:nvPr>
            <p:ph type="sldImg"/>
          </p:nvPr>
        </p:nvSpPr>
        <p:spPr/>
      </p:sp>
      <p:sp>
        <p:nvSpPr>
          <p:cNvPr id="318468"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26BE2D8-AD6A-40DC-A2EE-35BD8F021AC3}"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20515" name="Rectangle 2"/>
          <p:cNvSpPr>
            <a:spLocks noGrp="1" noRot="1" noChangeAspect="1" noChangeArrowheads="1" noTextEdit="1"/>
          </p:cNvSpPr>
          <p:nvPr>
            <p:ph type="sldImg"/>
          </p:nvPr>
        </p:nvSpPr>
        <p:spPr/>
      </p:sp>
      <p:sp>
        <p:nvSpPr>
          <p:cNvPr id="320516"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5150274-48F5-4171-AA70-FF5FAFF334A2}"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22563" name="Rectangle 2"/>
          <p:cNvSpPr>
            <a:spLocks noGrp="1" noRot="1" noChangeAspect="1" noChangeArrowheads="1" noTextEdit="1"/>
          </p:cNvSpPr>
          <p:nvPr>
            <p:ph type="sldImg"/>
          </p:nvPr>
        </p:nvSpPr>
        <p:spPr/>
      </p:sp>
      <p:sp>
        <p:nvSpPr>
          <p:cNvPr id="322564"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DAA30E0-880A-41D7-8C75-A640FE36B39C}"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24611" name="Rectangle 2"/>
          <p:cNvSpPr>
            <a:spLocks noGrp="1" noRot="1" noChangeAspect="1" noChangeArrowheads="1" noTextEdit="1"/>
          </p:cNvSpPr>
          <p:nvPr>
            <p:ph type="sldImg"/>
          </p:nvPr>
        </p:nvSpPr>
        <p:spPr/>
      </p:sp>
      <p:sp>
        <p:nvSpPr>
          <p:cNvPr id="324612"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2C93BA9-B194-4C7E-BE2C-4DB71047404B}"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326659" name="Rectangle 2"/>
          <p:cNvSpPr>
            <a:spLocks noGrp="1" noRot="1" noChangeAspect="1" noChangeArrowheads="1" noTextEdit="1"/>
          </p:cNvSpPr>
          <p:nvPr>
            <p:ph type="sldImg"/>
          </p:nvPr>
        </p:nvSpPr>
        <p:spPr/>
      </p:sp>
      <p:sp>
        <p:nvSpPr>
          <p:cNvPr id="32666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5612" name="Rectangle 12"/>
          <p:cNvSpPr>
            <a:spLocks noGrp="1" noChangeArrowheads="1"/>
          </p:cNvSpPr>
          <p:nvPr>
            <p:ph type="ctrTitle"/>
          </p:nvPr>
        </p:nvSpPr>
        <p:spPr>
          <a:xfrm>
            <a:off x="741600" y="620689"/>
            <a:ext cx="8424936" cy="216024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lang="zh-CN" altLang="en-US" sz="5400" noProof="0" smtClean="0">
                <a:latin typeface="+mj-lt"/>
                <a:ea typeface="黑体" panose="02010609060101010101" pitchFamily="2" charset="-122"/>
              </a:defRPr>
            </a:lvl1pPr>
          </a:lstStyle>
          <a:p>
            <a:pPr lvl="0" algn="ctr" eaLnBrk="1" hangingPunct="1"/>
            <a:r>
              <a:rPr lang="zh-CN" altLang="en-US" noProof="0" smtClean="0"/>
              <a:t>单击此处编辑母版标题样式</a:t>
            </a:r>
            <a:endParaRPr lang="zh-CN" altLang="en-US" noProof="0" dirty="0" smtClean="0"/>
          </a:p>
        </p:txBody>
      </p:sp>
      <p:sp>
        <p:nvSpPr>
          <p:cNvPr id="25613" name="Rectangle 13"/>
          <p:cNvSpPr>
            <a:spLocks noGrp="1" noChangeArrowheads="1"/>
          </p:cNvSpPr>
          <p:nvPr>
            <p:ph type="subTitle" idx="1"/>
          </p:nvPr>
        </p:nvSpPr>
        <p:spPr>
          <a:xfrm>
            <a:off x="1486800" y="3268800"/>
            <a:ext cx="6922800" cy="221040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lang="zh-CN" altLang="en-US" sz="3600" noProof="0" smtClean="0">
                <a:solidFill>
                  <a:schemeClr val="tx1"/>
                </a:solidFill>
                <a:latin typeface="+mj-lt"/>
                <a:ea typeface="黑体" panose="02010609060101010101" pitchFamily="2" charset="-122"/>
              </a:defRPr>
            </a:lvl1pPr>
          </a:lstStyle>
          <a:p>
            <a:pPr marL="0" lvl="0" indent="0" algn="ctr" eaLnBrk="1" hangingPunct="1">
              <a:lnSpc>
                <a:spcPct val="110000"/>
              </a:lnSpc>
              <a:spcBef>
                <a:spcPts val="600"/>
              </a:spcBef>
              <a:buNone/>
            </a:pPr>
            <a:r>
              <a:rPr lang="zh-CN" altLang="en-US" noProof="0" smtClean="0"/>
              <a:t>单击此处编辑母版副标题样式</a:t>
            </a:r>
            <a:endParaRPr lang="zh-CN" altLang="en-US" noProof="0" dirty="0" smtClean="0"/>
          </a:p>
        </p:txBody>
      </p:sp>
      <p:sp>
        <p:nvSpPr>
          <p:cNvPr id="20" name="Rectangle 8" descr="Gold bar"/>
          <p:cNvSpPr>
            <a:spLocks noChangeArrowheads="1"/>
          </p:cNvSpPr>
          <p:nvPr userDrawn="1"/>
        </p:nvSpPr>
        <p:spPr bwMode="auto">
          <a:xfrm>
            <a:off x="247650" y="2889250"/>
            <a:ext cx="3109913" cy="201613"/>
          </a:xfrm>
          <a:prstGeom prst="rect">
            <a:avLst/>
          </a:prstGeom>
          <a:solidFill>
            <a:srgbClr val="FFCC00"/>
          </a:solidFill>
          <a:ln>
            <a:noFill/>
          </a:ln>
          <a:effectLst/>
        </p:spPr>
        <p:txBody>
          <a:bodyPr wrap="none" anchor="ctr"/>
          <a:lstStyle/>
          <a:p>
            <a:endParaRPr lang="zh-CN" altLang="en-US"/>
          </a:p>
        </p:txBody>
      </p:sp>
      <p:sp>
        <p:nvSpPr>
          <p:cNvPr id="21" name="Rectangle 9" descr="Orange bar"/>
          <p:cNvSpPr>
            <a:spLocks noChangeArrowheads="1"/>
          </p:cNvSpPr>
          <p:nvPr userDrawn="1"/>
        </p:nvSpPr>
        <p:spPr bwMode="auto">
          <a:xfrm>
            <a:off x="3357563" y="2889250"/>
            <a:ext cx="3108325" cy="201613"/>
          </a:xfrm>
          <a:prstGeom prst="rect">
            <a:avLst/>
          </a:prstGeom>
          <a:solidFill>
            <a:srgbClr val="FF9900"/>
          </a:solidFill>
          <a:ln>
            <a:noFill/>
          </a:ln>
          <a:effectLst/>
        </p:spPr>
        <p:txBody>
          <a:bodyPr wrap="none" anchor="ctr"/>
          <a:lstStyle/>
          <a:p>
            <a:endParaRPr lang="zh-CN" altLang="en-US"/>
          </a:p>
        </p:txBody>
      </p:sp>
      <p:sp>
        <p:nvSpPr>
          <p:cNvPr id="22" name="Rectangle 10" descr="Slate bar"/>
          <p:cNvSpPr>
            <a:spLocks noChangeArrowheads="1"/>
          </p:cNvSpPr>
          <p:nvPr userDrawn="1"/>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
        <p:nvSpPr>
          <p:cNvPr id="23" name="Rectangle 4"/>
          <p:cNvSpPr>
            <a:spLocks noGrp="1" noChangeArrowheads="1"/>
          </p:cNvSpPr>
          <p:nvPr>
            <p:ph type="dt" sz="half" idx="2"/>
          </p:nvPr>
        </p:nvSpPr>
        <p:spPr>
          <a:xfrm>
            <a:off x="495300" y="6356176"/>
            <a:ext cx="2311400" cy="457200"/>
          </a:xfrm>
          <a:prstGeom prst="rect">
            <a:avLst/>
          </a:prstGeom>
        </p:spPr>
        <p:txBody>
          <a:bodyPr/>
          <a:lstStyle>
            <a:lvl1pPr>
              <a:defRPr/>
            </a:lvl1pPr>
          </a:lstStyle>
          <a:p>
            <a:endParaRPr lang="en-US" altLang="zh-CN"/>
          </a:p>
        </p:txBody>
      </p:sp>
      <p:sp>
        <p:nvSpPr>
          <p:cNvPr id="24" name="Rectangle 5"/>
          <p:cNvSpPr>
            <a:spLocks noGrp="1" noChangeArrowheads="1"/>
          </p:cNvSpPr>
          <p:nvPr>
            <p:ph type="ftr" sz="quarter" idx="3"/>
          </p:nvPr>
        </p:nvSpPr>
        <p:spPr>
          <a:xfrm>
            <a:off x="3384550" y="6356176"/>
            <a:ext cx="3136900" cy="457200"/>
          </a:xfrm>
          <a:prstGeom prst="rect">
            <a:avLst/>
          </a:prstGeom>
        </p:spPr>
        <p:txBody>
          <a:bodyPr/>
          <a:lstStyle>
            <a:lvl1pPr>
              <a:defRPr/>
            </a:lvl1pPr>
          </a:lstStyle>
          <a:p>
            <a:endParaRPr lang="en-US" altLang="zh-CN"/>
          </a:p>
        </p:txBody>
      </p:sp>
      <p:sp>
        <p:nvSpPr>
          <p:cNvPr id="25" name="Rectangle 6"/>
          <p:cNvSpPr>
            <a:spLocks noGrp="1" noChangeArrowheads="1"/>
          </p:cNvSpPr>
          <p:nvPr>
            <p:ph type="sldNum" sz="quarter" idx="4"/>
          </p:nvPr>
        </p:nvSpPr>
        <p:spPr>
          <a:xfrm>
            <a:off x="7099300" y="6356176"/>
            <a:ext cx="2311400" cy="457200"/>
          </a:xfrm>
          <a:prstGeom prst="rect">
            <a:avLst/>
          </a:prstGeom>
        </p:spPr>
        <p:txBody>
          <a:bodyPr/>
          <a:lstStyle>
            <a:lvl1pPr>
              <a:defRPr/>
            </a:lvl1pPr>
          </a:lstStyle>
          <a:p>
            <a:fld id="{AC80574E-8B94-4515-ADE1-BF6C35829DF0}" type="slidenum">
              <a:rPr lang="zh-CN" altLang="en-US"/>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6800" y="188640"/>
            <a:ext cx="9064800" cy="792000"/>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96800" y="1195200"/>
            <a:ext cx="9064800" cy="49356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7" name="Line 8"/>
          <p:cNvSpPr>
            <a:spLocks noChangeShapeType="1"/>
          </p:cNvSpPr>
          <p:nvPr userDrawn="1"/>
        </p:nvSpPr>
        <p:spPr bwMode="auto">
          <a:xfrm>
            <a:off x="495300" y="1051200"/>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日期占位符 3"/>
          <p:cNvSpPr>
            <a:spLocks noGrp="1"/>
          </p:cNvSpPr>
          <p:nvPr>
            <p:ph type="dt" sz="half" idx="10"/>
          </p:nvPr>
        </p:nvSpPr>
        <p:spPr>
          <a:xfrm>
            <a:off x="495300" y="6356176"/>
            <a:ext cx="2311400" cy="457200"/>
          </a:xfrm>
          <a:prstGeom prst="rect">
            <a:avLst/>
          </a:prstGeom>
        </p:spPr>
        <p:txBody>
          <a:bodyPr/>
          <a:lstStyle>
            <a:lvl1pPr>
              <a:defRPr/>
            </a:lvl1pPr>
          </a:lstStyle>
          <a:p>
            <a:endParaRPr lang="en-US" altLang="zh-CN" dirty="0"/>
          </a:p>
        </p:txBody>
      </p:sp>
      <p:sp>
        <p:nvSpPr>
          <p:cNvPr id="9"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a:p>
        </p:txBody>
      </p:sp>
      <p:sp>
        <p:nvSpPr>
          <p:cNvPr id="10" name="灯片编号占位符 5"/>
          <p:cNvSpPr>
            <a:spLocks noGrp="1"/>
          </p:cNvSpPr>
          <p:nvPr>
            <p:ph type="sldNum" sz="quarter" idx="12"/>
          </p:nvPr>
        </p:nvSpPr>
        <p:spPr>
          <a:xfrm>
            <a:off x="7099300" y="6356176"/>
            <a:ext cx="2311400" cy="457200"/>
          </a:xfrm>
          <a:prstGeom prst="rect">
            <a:avLst/>
          </a:prstGeom>
        </p:spPr>
        <p:txBody>
          <a:bodyPr/>
          <a:lstStyle>
            <a:lvl1pPr>
              <a:defRPr/>
            </a:lvl1pPr>
          </a:lstStyle>
          <a:p>
            <a:fld id="{7AC79822-BC0D-4DE8-A7E5-90A3732A2B82}" type="slidenum">
              <a:rPr lang="zh-CN" altLang="en-US"/>
            </a:fld>
            <a:endParaRPr lang="en-US" altLang="zh-CN"/>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506" y="4406901"/>
            <a:ext cx="84201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endParaRPr lang="zh-CN" altLang="en-US"/>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DB64909C-A723-4592-96C4-A002F19CFC87}" type="slidenum">
              <a:rPr lang="en-US" altLang="zh-CN"/>
            </a:fld>
            <a:endParaRPr lang="en-US" altLang="zh-CN"/>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6800" y="188640"/>
            <a:ext cx="9064800" cy="792000"/>
          </a:xfrm>
        </p:spPr>
        <p:txBody>
          <a:bodyPr/>
          <a:lstStyle/>
          <a:p>
            <a:r>
              <a:rPr lang="zh-CN" altLang="en-US" smtClean="0"/>
              <a:t>单击此处编辑母版标题样式</a:t>
            </a:r>
            <a:endParaRPr lang="zh-CN" altLang="en-US" dirty="0"/>
          </a:p>
        </p:txBody>
      </p:sp>
      <p:sp>
        <p:nvSpPr>
          <p:cNvPr id="3" name="内容占位符 2"/>
          <p:cNvSpPr>
            <a:spLocks noGrp="1"/>
          </p:cNvSpPr>
          <p:nvPr>
            <p:ph sz="half" idx="1"/>
          </p:nvPr>
        </p:nvSpPr>
        <p:spPr>
          <a:xfrm>
            <a:off x="495300" y="1196752"/>
            <a:ext cx="4460400" cy="4935600"/>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5101200" y="1196752"/>
            <a:ext cx="4460400" cy="4935600"/>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8" name="日期占位符 4"/>
          <p:cNvSpPr>
            <a:spLocks noGrp="1"/>
          </p:cNvSpPr>
          <p:nvPr>
            <p:ph type="dt" sz="half" idx="10"/>
          </p:nvPr>
        </p:nvSpPr>
        <p:spPr>
          <a:xfrm>
            <a:off x="495300" y="6356176"/>
            <a:ext cx="2311400" cy="457200"/>
          </a:xfrm>
        </p:spPr>
        <p:txBody>
          <a:bodyPr/>
          <a:lstStyle>
            <a:lvl1pPr>
              <a:defRPr/>
            </a:lvl1pPr>
          </a:lstStyle>
          <a:p>
            <a:endParaRPr lang="en-US" altLang="zh-CN"/>
          </a:p>
        </p:txBody>
      </p:sp>
      <p:sp>
        <p:nvSpPr>
          <p:cNvPr id="9" name="页脚占位符 5"/>
          <p:cNvSpPr>
            <a:spLocks noGrp="1"/>
          </p:cNvSpPr>
          <p:nvPr>
            <p:ph type="ftr" sz="quarter" idx="11"/>
          </p:nvPr>
        </p:nvSpPr>
        <p:spPr>
          <a:xfrm>
            <a:off x="3384550" y="6356176"/>
            <a:ext cx="3136900" cy="457200"/>
          </a:xfrm>
        </p:spPr>
        <p:txBody>
          <a:bodyPr/>
          <a:lstStyle>
            <a:lvl1pPr>
              <a:defRPr/>
            </a:lvl1pPr>
          </a:lstStyle>
          <a:p>
            <a:endParaRPr lang="en-US" altLang="zh-CN"/>
          </a:p>
        </p:txBody>
      </p:sp>
      <p:sp>
        <p:nvSpPr>
          <p:cNvPr id="10" name="灯片编号占位符 6"/>
          <p:cNvSpPr>
            <a:spLocks noGrp="1"/>
          </p:cNvSpPr>
          <p:nvPr>
            <p:ph type="sldNum" sz="quarter" idx="12"/>
          </p:nvPr>
        </p:nvSpPr>
        <p:spPr>
          <a:xfrm>
            <a:off x="7099300" y="6356176"/>
            <a:ext cx="2311400" cy="457200"/>
          </a:xfrm>
        </p:spPr>
        <p:txBody>
          <a:bodyPr/>
          <a:lstStyle>
            <a:lvl1pPr>
              <a:defRPr/>
            </a:lvl1pPr>
          </a:lstStyle>
          <a:p>
            <a:fld id="{40B52295-AD8D-47A8-A4D5-D2F6B9F48E3F}" type="slidenum">
              <a:rPr lang="zh-CN" altLang="en-US"/>
            </a:fld>
            <a:endParaRPr lang="en-US" altLang="zh-CN"/>
          </a:p>
        </p:txBody>
      </p:sp>
      <p:sp>
        <p:nvSpPr>
          <p:cNvPr id="11"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8" name="页脚占位符 7"/>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endParaRPr lang="zh-CN" altLang="en-US"/>
          </a:p>
        </p:txBody>
      </p:sp>
      <p:sp>
        <p:nvSpPr>
          <p:cNvPr id="9" name="灯片编号占位符 8"/>
          <p:cNvSpPr>
            <a:spLocks noGrp="1"/>
          </p:cNvSpPr>
          <p:nvPr>
            <p:ph type="sldNum" sz="quarter" idx="12"/>
          </p:nvPr>
        </p:nvSpPr>
        <p:spPr>
          <a:xfrm>
            <a:off x="7628996" y="6243638"/>
            <a:ext cx="2063750" cy="457200"/>
          </a:xfrm>
          <a:prstGeom prst="rect">
            <a:avLst/>
          </a:prstGeom>
        </p:spPr>
        <p:txBody>
          <a:bodyPr/>
          <a:lstStyle>
            <a:lvl1pPr>
              <a:defRPr/>
            </a:lvl1pPr>
          </a:lstStyle>
          <a:p>
            <a:fld id="{03C3AFE9-B973-41B6-92DA-FDC8626D61B1}" type="slidenum">
              <a:rPr lang="en-US" altLang="zh-CN"/>
            </a:fld>
            <a:endParaRPr lang="en-US" altLang="zh-CN"/>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dirty="0"/>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8"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9"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fld>
            <a:endParaRPr lang="en-US" altLang="zh-CN"/>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6"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7"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fld>
            <a:endParaRPr lang="en-US" altLang="zh-CN"/>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006"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endParaRPr lang="zh-CN" altLang="en-US"/>
          </a:p>
        </p:txBody>
      </p:sp>
      <p:sp>
        <p:nvSpPr>
          <p:cNvPr id="7" name="灯片编号占位符 6"/>
          <p:cNvSpPr>
            <a:spLocks noGrp="1"/>
          </p:cNvSpPr>
          <p:nvPr>
            <p:ph type="sldNum" sz="quarter" idx="12"/>
          </p:nvPr>
        </p:nvSpPr>
        <p:spPr>
          <a:xfrm>
            <a:off x="7628996" y="6243638"/>
            <a:ext cx="2063750" cy="457200"/>
          </a:xfrm>
          <a:prstGeom prst="rect">
            <a:avLst/>
          </a:prstGeom>
        </p:spPr>
        <p:txBody>
          <a:bodyPr/>
          <a:lstStyle>
            <a:lvl1pPr>
              <a:defRPr/>
            </a:lvl1pPr>
          </a:lstStyle>
          <a:p>
            <a:fld id="{A14D14F2-2223-435E-8478-3AA8EA550D60}" type="slidenum">
              <a:rPr lang="en-US" altLang="zh-CN"/>
            </a:fld>
            <a:endParaRPr lang="en-US" altLang="zh-CN"/>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645" y="4800600"/>
            <a:ext cx="59436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endParaRPr lang="zh-CN" altLang="en-US"/>
          </a:p>
        </p:txBody>
      </p:sp>
      <p:sp>
        <p:nvSpPr>
          <p:cNvPr id="7" name="灯片编号占位符 6"/>
          <p:cNvSpPr>
            <a:spLocks noGrp="1"/>
          </p:cNvSpPr>
          <p:nvPr>
            <p:ph type="sldNum" sz="quarter" idx="12"/>
          </p:nvPr>
        </p:nvSpPr>
        <p:spPr>
          <a:xfrm>
            <a:off x="7628996" y="6243638"/>
            <a:ext cx="2063750" cy="457200"/>
          </a:xfrm>
          <a:prstGeom prst="rect">
            <a:avLst/>
          </a:prstGeom>
        </p:spPr>
        <p:txBody>
          <a:bodyPr/>
          <a:lstStyle>
            <a:lvl1pPr>
              <a:defRPr/>
            </a:lvl1pPr>
          </a:lstStyle>
          <a:p>
            <a:fld id="{BF4D1B2F-1A08-44D8-8AC4-BBE6BFB00621}" type="slidenum">
              <a:rPr lang="en-US" altLang="zh-CN"/>
            </a:fld>
            <a:endParaRPr lang="en-US" altLang="zh-CN"/>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endParaRPr lang="zh-CN" altLang="en-US"/>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81941DFB-0DC7-4247-A055-DA5B724D952B}" type="slidenum">
              <a:rPr lang="en-US" altLang="zh-CN"/>
            </a:fld>
            <a:endParaRPr lang="en-US" altLang="zh-CN"/>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49885" y="214314"/>
            <a:ext cx="2139421" cy="567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29904" y="214314"/>
            <a:ext cx="6254882" cy="56737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endParaRPr lang="zh-CN" altLang="en-US"/>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0EC116B4-4516-4E04-856D-1B650B77BF68}" type="slidenum">
              <a:rPr lang="en-US" altLang="zh-CN"/>
            </a:fld>
            <a:endParaRPr lang="en-US" altLang="zh-C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85" name="Rectangle 9"/>
          <p:cNvSpPr>
            <a:spLocks noGrp="1" noChangeArrowheads="1"/>
          </p:cNvSpPr>
          <p:nvPr>
            <p:ph type="title"/>
          </p:nvPr>
        </p:nvSpPr>
        <p:spPr bwMode="auto">
          <a:xfrm>
            <a:off x="506507" y="188640"/>
            <a:ext cx="9049005" cy="81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eaLnBrk="1" hangingPunct="1"/>
            <a:r>
              <a:rPr lang="zh-CN" altLang="en-US" dirty="0" smtClean="0"/>
              <a:t>单击此处编辑母版标题样式</a:t>
            </a:r>
            <a:endParaRPr lang="zh-CN" altLang="en-US" dirty="0" smtClean="0"/>
          </a:p>
        </p:txBody>
      </p:sp>
      <p:sp>
        <p:nvSpPr>
          <p:cNvPr id="24586" name="Rectangle 10"/>
          <p:cNvSpPr>
            <a:spLocks noGrp="1" noChangeArrowheads="1"/>
          </p:cNvSpPr>
          <p:nvPr>
            <p:ph type="body" idx="1"/>
          </p:nvPr>
        </p:nvSpPr>
        <p:spPr bwMode="auto">
          <a:xfrm>
            <a:off x="496800" y="1195200"/>
            <a:ext cx="9049005" cy="493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14" name="Rectangle 7" descr="Gold bar"/>
          <p:cNvSpPr>
            <a:spLocks noChangeArrowheads="1"/>
          </p:cNvSpPr>
          <p:nvPr/>
        </p:nvSpPr>
        <p:spPr bwMode="auto">
          <a:xfrm>
            <a:off x="0" y="0"/>
            <a:ext cx="248400" cy="2286000"/>
          </a:xfrm>
          <a:prstGeom prst="rect">
            <a:avLst/>
          </a:prstGeom>
          <a:solidFill>
            <a:srgbClr val="FFCC00"/>
          </a:solidFill>
          <a:ln>
            <a:noFill/>
          </a:ln>
          <a:effectLst/>
        </p:spPr>
        <p:txBody>
          <a:bodyPr wrap="none" anchor="ctr"/>
          <a:lstStyle/>
          <a:p>
            <a:pPr lvl="0" algn="ctr" eaLnBrk="1" hangingPunct="1"/>
            <a:endParaRPr lang="zh-CN" altLang="en-US">
              <a:latin typeface="Times New Roman" panose="02020603050405020304" pitchFamily="18" charset="0"/>
              <a:ea typeface="宋体" panose="02010600030101010101" pitchFamily="2" charset="-122"/>
            </a:endParaRPr>
          </a:p>
        </p:txBody>
      </p:sp>
      <p:sp>
        <p:nvSpPr>
          <p:cNvPr id="15" name="Rectangle 9" descr="Orange bar"/>
          <p:cNvSpPr>
            <a:spLocks noChangeArrowheads="1"/>
          </p:cNvSpPr>
          <p:nvPr/>
        </p:nvSpPr>
        <p:spPr bwMode="auto">
          <a:xfrm>
            <a:off x="0" y="2286000"/>
            <a:ext cx="248400" cy="2286000"/>
          </a:xfrm>
          <a:prstGeom prst="rect">
            <a:avLst/>
          </a:prstGeom>
          <a:solidFill>
            <a:srgbClr val="FF9900"/>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6" name="Rectangle 10" descr="Slate bar"/>
          <p:cNvSpPr>
            <a:spLocks noChangeArrowheads="1"/>
          </p:cNvSpPr>
          <p:nvPr/>
        </p:nvSpPr>
        <p:spPr bwMode="auto">
          <a:xfrm>
            <a:off x="0" y="4572000"/>
            <a:ext cx="24840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21" name="Picture 2" descr="computer networking 的图像结果"/>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769424" y="188640"/>
            <a:ext cx="1124935" cy="812453"/>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23"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24"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dt="0"/>
  <p:txStyles>
    <p:title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rgbClr val="000000"/>
          </a:solidFill>
          <a:latin typeface="+mn-lt"/>
          <a:ea typeface="+mn-ea"/>
          <a:cs typeface="+mn-cs"/>
        </a:defRPr>
      </a:lvl1pPr>
      <a:lvl2pPr marL="742950" indent="-285750" algn="l" rtl="0" eaLnBrk="1" fontAlgn="base" hangingPunct="1">
        <a:lnSpc>
          <a:spcPct val="110000"/>
        </a:lnSpc>
        <a:spcBef>
          <a:spcPts val="600"/>
        </a:spcBef>
        <a:spcAft>
          <a:spcPct val="0"/>
        </a:spcAft>
        <a:buClr>
          <a:srgbClr val="FF9933"/>
        </a:buClr>
        <a:buSzPct val="70000"/>
        <a:buFont typeface="Wingdings" panose="05000000000000000000" pitchFamily="2" charset="2"/>
        <a:buChar char="n"/>
        <a:defRPr sz="2800" b="1">
          <a:solidFill>
            <a:srgbClr val="000000"/>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rgbClr val="000000"/>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accent2"/>
        </a:buClr>
        <a:buSzPct val="65000"/>
        <a:buFont typeface="Wingdings" panose="05000000000000000000" pitchFamily="2" charset="2"/>
        <a:buChar char="n"/>
        <a:defRPr sz="2000" b="1">
          <a:solidFill>
            <a:srgbClr val="000000"/>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rgbClr val="000000"/>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image" Target="../media/image2.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wmf"/><Relationship Id="rId1" Type="http://schemas.openxmlformats.org/officeDocument/2006/relationships/image" Target="../media/image6.wmf"/></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wmf"/><Relationship Id="rId1" Type="http://schemas.openxmlformats.org/officeDocument/2006/relationships/image" Target="../media/image4.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4.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4.wmf"/><Relationship Id="rId3" Type="http://schemas.openxmlformats.org/officeDocument/2006/relationships/image" Target="../media/image6.wmf"/><Relationship Id="rId2" Type="http://schemas.openxmlformats.org/officeDocument/2006/relationships/image" Target="../media/image7.wmf"/><Relationship Id="rId1" Type="http://schemas.openxmlformats.org/officeDocument/2006/relationships/oleObject" Target="../embeddings/oleObject1.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wmf"/><Relationship Id="rId1" Type="http://schemas.openxmlformats.org/officeDocument/2006/relationships/image" Target="../media/image6.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4.vml"/><Relationship Id="rId3" Type="http://schemas.openxmlformats.org/officeDocument/2006/relationships/slideLayout" Target="../slideLayouts/slideLayout6.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7.wmf"/><Relationship Id="rId1" Type="http://schemas.openxmlformats.org/officeDocument/2006/relationships/oleObject" Target="../embeddings/oleObject5.bin"/></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7.wmf"/><Relationship Id="rId1" Type="http://schemas.openxmlformats.org/officeDocument/2006/relationships/oleObject" Target="../embeddings/oleObject6.bin"/></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vmlDrawing" Target="../drawings/vmlDrawing8.vml"/><Relationship Id="rId4" Type="http://schemas.openxmlformats.org/officeDocument/2006/relationships/slideLayout" Target="../slideLayouts/slideLayout7.xml"/><Relationship Id="rId3" Type="http://schemas.openxmlformats.org/officeDocument/2006/relationships/oleObject" Target="../embeddings/oleObject9.bin"/><Relationship Id="rId2" Type="http://schemas.openxmlformats.org/officeDocument/2006/relationships/image" Target="../media/image7.wmf"/><Relationship Id="rId1" Type="http://schemas.openxmlformats.org/officeDocument/2006/relationships/oleObject" Target="../embeddings/oleObject8.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image" Target="../media/image4.wmf"/></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7.xml"/><Relationship Id="rId2" Type="http://schemas.openxmlformats.org/officeDocument/2006/relationships/image" Target="../media/image4.wmf"/><Relationship Id="rId1" Type="http://schemas.openxmlformats.org/officeDocument/2006/relationships/image" Target="../media/image6.wmf"/></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dirty="0" smtClean="0"/>
              <a:t>第 </a:t>
            </a:r>
            <a:r>
              <a:rPr lang="en-US" altLang="zh-CN" dirty="0"/>
              <a:t>6</a:t>
            </a:r>
            <a:r>
              <a:rPr lang="en-US" altLang="zh-CN" dirty="0" smtClean="0"/>
              <a:t> </a:t>
            </a:r>
            <a:r>
              <a:rPr lang="zh-CN" altLang="en-US" dirty="0" smtClean="0"/>
              <a:t>章  </a:t>
            </a:r>
            <a:r>
              <a:rPr lang="zh-CN" altLang="en-US" dirty="0"/>
              <a:t>应用层</a:t>
            </a:r>
            <a:endParaRPr lang="zh-CN" altLang="en-US" dirty="0"/>
          </a:p>
        </p:txBody>
      </p:sp>
      <p:sp>
        <p:nvSpPr>
          <p:cNvPr id="6" name="副标题 5"/>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椭圆 8"/>
          <p:cNvSpPr/>
          <p:nvPr/>
        </p:nvSpPr>
        <p:spPr>
          <a:xfrm>
            <a:off x="7621270" y="5258435"/>
            <a:ext cx="2124710" cy="128143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626" name="标题 1"/>
          <p:cNvSpPr>
            <a:spLocks noGrp="1"/>
          </p:cNvSpPr>
          <p:nvPr>
            <p:ph type="title"/>
          </p:nvPr>
        </p:nvSpPr>
        <p:spPr/>
        <p:txBody>
          <a:bodyPr/>
          <a:p>
            <a:pPr eaLnBrk="1" hangingPunct="1"/>
            <a:r>
              <a:rPr lang="zh-CN" altLang="en-US" dirty="0" smtClean="0">
                <a:ea typeface="黑体" panose="02010609060101010101" pitchFamily="2" charset="-122"/>
              </a:rPr>
              <a:t>问题的引入</a:t>
            </a:r>
            <a:endParaRPr lang="zh-CN" altLang="en-US" dirty="0" smtClean="0">
              <a:ea typeface="黑体" panose="02010609060101010101" pitchFamily="2" charset="-122"/>
            </a:endParaRPr>
          </a:p>
        </p:txBody>
      </p:sp>
      <p:sp>
        <p:nvSpPr>
          <p:cNvPr id="5" name="文本框 4"/>
          <p:cNvSpPr txBox="1"/>
          <p:nvPr/>
        </p:nvSpPr>
        <p:spPr>
          <a:xfrm>
            <a:off x="702310" y="1366520"/>
            <a:ext cx="2224405" cy="583565"/>
          </a:xfrm>
          <a:prstGeom prst="rect">
            <a:avLst/>
          </a:prstGeom>
          <a:noFill/>
        </p:spPr>
        <p:txBody>
          <a:bodyPr wrap="none" rtlCol="0" anchor="t">
            <a:spAutoFit/>
          </a:bodyPr>
          <a:p>
            <a:r>
              <a:rPr lang="zh-CN" altLang="en-US" sz="3200" b="1" kern="0" dirty="0">
                <a:solidFill>
                  <a:srgbClr val="FF0000"/>
                </a:solidFill>
                <a:latin typeface="+mn-lt"/>
                <a:ea typeface="+mn-ea"/>
                <a:sym typeface="+mn-ea"/>
              </a:rPr>
              <a:t>问题的引入</a:t>
            </a:r>
            <a:endParaRPr lang="zh-CN" altLang="en-US" sz="3200" b="1" kern="0" dirty="0">
              <a:solidFill>
                <a:srgbClr val="FF0000"/>
              </a:solidFill>
              <a:latin typeface="+mn-lt"/>
              <a:ea typeface="+mn-ea"/>
              <a:sym typeface="+mn-ea"/>
            </a:endParaRPr>
          </a:p>
        </p:txBody>
      </p:sp>
      <p:sp>
        <p:nvSpPr>
          <p:cNvPr id="32772" name="Rectangle 3"/>
          <p:cNvSpPr>
            <a:spLocks noGrp="1" noChangeArrowheads="1"/>
          </p:cNvSpPr>
          <p:nvPr>
            <p:ph idx="1"/>
          </p:nvPr>
        </p:nvSpPr>
        <p:spPr>
          <a:xfrm>
            <a:off x="171450" y="2247900"/>
            <a:ext cx="5504815" cy="2846070"/>
          </a:xfrm>
        </p:spPr>
        <p:txBody>
          <a:bodyPr/>
          <a:p>
            <a:pPr eaLnBrk="1" hangingPunct="1"/>
            <a:r>
              <a:rPr lang="en-US" altLang="zh-CN" sz="2000" dirty="0" smtClean="0">
                <a:ea typeface="黑体" panose="02010609060101010101" pitchFamily="2" charset="-122"/>
              </a:rPr>
              <a:t>IP</a:t>
            </a:r>
            <a:r>
              <a:rPr lang="zh-CN" altLang="en-US" sz="2000" dirty="0" smtClean="0">
                <a:ea typeface="黑体" panose="02010609060101010101" pitchFamily="2" charset="-122"/>
              </a:rPr>
              <a:t>作为主机的逻辑地址，为什么还需要使用域名？域名和</a:t>
            </a:r>
            <a:r>
              <a:rPr lang="en-US" altLang="zh-CN" sz="2000" dirty="0" smtClean="0">
                <a:ea typeface="黑体" panose="02010609060101010101" pitchFamily="2" charset="-122"/>
              </a:rPr>
              <a:t>IP</a:t>
            </a:r>
            <a:r>
              <a:rPr lang="zh-CN" altLang="en-US" sz="2000" dirty="0" smtClean="0">
                <a:ea typeface="黑体" panose="02010609060101010101" pitchFamily="2" charset="-122"/>
              </a:rPr>
              <a:t>地址之间如何对应？</a:t>
            </a:r>
            <a:endParaRPr lang="zh-CN" altLang="en-US" sz="2000" dirty="0" smtClean="0">
              <a:ea typeface="黑体" panose="02010609060101010101" pitchFamily="2" charset="-122"/>
            </a:endParaRPr>
          </a:p>
          <a:p>
            <a:pPr eaLnBrk="1" hangingPunct="1"/>
            <a:endParaRPr lang="zh-CN" altLang="en-US" sz="2000" dirty="0" smtClean="0">
              <a:ea typeface="黑体" panose="02010609060101010101" pitchFamily="2" charset="-122"/>
            </a:endParaRPr>
          </a:p>
          <a:p>
            <a:pPr eaLnBrk="1" hangingPunct="1"/>
            <a:r>
              <a:rPr lang="zh-CN" altLang="en-US" sz="2000" dirty="0" smtClean="0">
                <a:ea typeface="黑体" panose="02010609060101010101" pitchFamily="2" charset="-122"/>
              </a:rPr>
              <a:t>为什么浏览器里输入网站的名称就可以找到网站的资源？</a:t>
            </a:r>
            <a:endParaRPr lang="zh-CN" altLang="en-US" sz="2000" dirty="0" smtClean="0">
              <a:ea typeface="黑体" panose="02010609060101010101" pitchFamily="2" charset="-122"/>
            </a:endParaRPr>
          </a:p>
          <a:p>
            <a:pPr eaLnBrk="1" hangingPunct="1"/>
            <a:endParaRPr lang="zh-CN" altLang="en-US" sz="2000" dirty="0" smtClean="0">
              <a:ea typeface="黑体" panose="02010609060101010101" pitchFamily="2" charset="-122"/>
            </a:endParaRPr>
          </a:p>
          <a:p>
            <a:pPr eaLnBrk="1" hangingPunct="1"/>
            <a:r>
              <a:rPr lang="zh-CN" altLang="en-US" sz="2000" dirty="0" smtClean="0">
                <a:ea typeface="黑体" panose="02010609060101010101" pitchFamily="2" charset="-122"/>
              </a:rPr>
              <a:t>电子邮件是如何从一台主机转发到另一台主机上的？</a:t>
            </a:r>
            <a:endParaRPr lang="zh-CN" altLang="en-US" sz="2000" dirty="0" smtClean="0">
              <a:ea typeface="黑体" panose="02010609060101010101" pitchFamily="2" charset="-122"/>
            </a:endParaRPr>
          </a:p>
          <a:p>
            <a:pPr eaLnBrk="1" hangingPunct="1"/>
            <a:r>
              <a:rPr lang="zh-CN" altLang="en-US" sz="2000" dirty="0" smtClean="0">
                <a:ea typeface="黑体" panose="02010609060101010101" pitchFamily="2" charset="-122"/>
              </a:rPr>
              <a:t>终端是如何自动获得</a:t>
            </a:r>
            <a:r>
              <a:rPr lang="en-US" altLang="zh-CN" sz="2000" dirty="0" smtClean="0">
                <a:ea typeface="黑体" panose="02010609060101010101" pitchFamily="2" charset="-122"/>
              </a:rPr>
              <a:t>IP</a:t>
            </a:r>
            <a:r>
              <a:rPr lang="zh-CN" altLang="en-US" sz="2000" dirty="0" smtClean="0">
                <a:ea typeface="黑体" panose="02010609060101010101" pitchFamily="2" charset="-122"/>
              </a:rPr>
              <a:t>地址（租约）的？ </a:t>
            </a:r>
            <a:r>
              <a:rPr lang="zh-CN" altLang="en-US" sz="3600" dirty="0" smtClean="0">
                <a:ea typeface="黑体" panose="02010609060101010101" pitchFamily="2" charset="-122"/>
              </a:rPr>
              <a:t> </a:t>
            </a:r>
            <a:endParaRPr lang="zh-CN" altLang="en-US" sz="3600" dirty="0" smtClean="0">
              <a:ea typeface="黑体" panose="02010609060101010101" pitchFamily="2" charset="-122"/>
            </a:endParaRPr>
          </a:p>
        </p:txBody>
      </p:sp>
      <p:pic>
        <p:nvPicPr>
          <p:cNvPr id="44" name="Picture 1462"/>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60304" y="3081806"/>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9" name="Picture 1464"/>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266053" y="3171956"/>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87" name="Oval 1291"/>
          <p:cNvSpPr>
            <a:spLocks noChangeArrowheads="1"/>
          </p:cNvSpPr>
          <p:nvPr/>
        </p:nvSpPr>
        <p:spPr bwMode="auto">
          <a:xfrm>
            <a:off x="6745966" y="3081886"/>
            <a:ext cx="2026824" cy="1188095"/>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9" name="Oval 1288"/>
          <p:cNvSpPr>
            <a:spLocks noChangeArrowheads="1"/>
          </p:cNvSpPr>
          <p:nvPr/>
        </p:nvSpPr>
        <p:spPr bwMode="auto">
          <a:xfrm>
            <a:off x="8326634" y="3028553"/>
            <a:ext cx="984987" cy="70893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0" name="Oval 1283"/>
          <p:cNvSpPr>
            <a:spLocks noChangeArrowheads="1"/>
          </p:cNvSpPr>
          <p:nvPr/>
        </p:nvSpPr>
        <p:spPr bwMode="auto">
          <a:xfrm>
            <a:off x="7359851" y="2695820"/>
            <a:ext cx="1344625" cy="91378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1" name="Oval 1287"/>
          <p:cNvSpPr>
            <a:spLocks noChangeArrowheads="1"/>
          </p:cNvSpPr>
          <p:nvPr/>
        </p:nvSpPr>
        <p:spPr bwMode="auto">
          <a:xfrm>
            <a:off x="6821971" y="3808686"/>
            <a:ext cx="1572025" cy="960095"/>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2" name="Oval 1284"/>
          <p:cNvSpPr>
            <a:spLocks noChangeArrowheads="1"/>
          </p:cNvSpPr>
          <p:nvPr/>
        </p:nvSpPr>
        <p:spPr bwMode="auto">
          <a:xfrm>
            <a:off x="6628934" y="2695517"/>
            <a:ext cx="1022063" cy="91378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3" name="Oval 1286"/>
          <p:cNvSpPr>
            <a:spLocks noChangeArrowheads="1"/>
          </p:cNvSpPr>
          <p:nvPr/>
        </p:nvSpPr>
        <p:spPr bwMode="auto">
          <a:xfrm>
            <a:off x="6221864" y="3787099"/>
            <a:ext cx="1040601" cy="801564"/>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4" name="Oval 1284"/>
          <p:cNvSpPr>
            <a:spLocks noChangeArrowheads="1"/>
          </p:cNvSpPr>
          <p:nvPr/>
        </p:nvSpPr>
        <p:spPr bwMode="auto">
          <a:xfrm>
            <a:off x="6015524" y="3100012"/>
            <a:ext cx="1022063" cy="91378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5" name="Oval 1290"/>
          <p:cNvSpPr>
            <a:spLocks noChangeArrowheads="1"/>
          </p:cNvSpPr>
          <p:nvPr/>
        </p:nvSpPr>
        <p:spPr bwMode="auto">
          <a:xfrm>
            <a:off x="8082494" y="3449583"/>
            <a:ext cx="984987" cy="118987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6" name="Oval 1289"/>
          <p:cNvSpPr>
            <a:spLocks noChangeArrowheads="1"/>
          </p:cNvSpPr>
          <p:nvPr/>
        </p:nvSpPr>
        <p:spPr bwMode="auto">
          <a:xfrm>
            <a:off x="8554720" y="3495040"/>
            <a:ext cx="915035" cy="609600"/>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pic>
        <p:nvPicPr>
          <p:cNvPr id="97" name="Picture 146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82448" y="328614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8" name="Picture 146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64233" y="317184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9" name="Picture 146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90168" y="4085609"/>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0" name="Picture 146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78838" y="402655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1" name="Picture 146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579853" y="3609359"/>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 name="Picture 146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59918" y="388050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3" name="Picture 146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62228" y="308167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104" name="直接连接符 103"/>
          <p:cNvCxnSpPr/>
          <p:nvPr/>
        </p:nvCxnSpPr>
        <p:spPr>
          <a:xfrm>
            <a:off x="6721475" y="3609340"/>
            <a:ext cx="77470" cy="27114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5" name="直接连接符 104"/>
          <p:cNvCxnSpPr>
            <a:stCxn id="97" idx="3"/>
            <a:endCxn id="103" idx="1"/>
          </p:cNvCxnSpPr>
          <p:nvPr/>
        </p:nvCxnSpPr>
        <p:spPr>
          <a:xfrm flipV="1">
            <a:off x="6960235" y="3315335"/>
            <a:ext cx="302260" cy="20447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6" name="直接连接符 105"/>
          <p:cNvCxnSpPr>
            <a:endCxn id="98" idx="1"/>
          </p:cNvCxnSpPr>
          <p:nvPr/>
        </p:nvCxnSpPr>
        <p:spPr>
          <a:xfrm>
            <a:off x="7740015" y="3357880"/>
            <a:ext cx="324485" cy="476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7" name="直接连接符 106"/>
          <p:cNvCxnSpPr/>
          <p:nvPr/>
        </p:nvCxnSpPr>
        <p:spPr>
          <a:xfrm>
            <a:off x="6938010" y="4156075"/>
            <a:ext cx="324485" cy="476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8" name="直接连接符 107"/>
          <p:cNvCxnSpPr/>
          <p:nvPr/>
        </p:nvCxnSpPr>
        <p:spPr>
          <a:xfrm>
            <a:off x="7754620" y="4302125"/>
            <a:ext cx="351155" cy="317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9" name="直接连接符 108"/>
          <p:cNvCxnSpPr/>
          <p:nvPr/>
        </p:nvCxnSpPr>
        <p:spPr>
          <a:xfrm flipV="1">
            <a:off x="8481695" y="3867150"/>
            <a:ext cx="189865" cy="20955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0" name="直接连接符 109"/>
          <p:cNvCxnSpPr/>
          <p:nvPr/>
        </p:nvCxnSpPr>
        <p:spPr>
          <a:xfrm flipH="1" flipV="1">
            <a:off x="8465820" y="3441700"/>
            <a:ext cx="353060" cy="16764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1" name="直接连接符 110"/>
          <p:cNvCxnSpPr/>
          <p:nvPr/>
        </p:nvCxnSpPr>
        <p:spPr>
          <a:xfrm>
            <a:off x="6881495" y="3656965"/>
            <a:ext cx="1240155" cy="41973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2" name="直接连接符 111"/>
          <p:cNvCxnSpPr/>
          <p:nvPr/>
        </p:nvCxnSpPr>
        <p:spPr>
          <a:xfrm flipV="1">
            <a:off x="7621270" y="3441700"/>
            <a:ext cx="556260" cy="655955"/>
          </a:xfrm>
          <a:prstGeom prst="line">
            <a:avLst/>
          </a:prstGeom>
          <a:solidFill>
            <a:schemeClr val="accent1"/>
          </a:solidFill>
          <a:ln w="9525" cap="flat" cmpd="sng" algn="ctr">
            <a:solidFill>
              <a:schemeClr val="tx1"/>
            </a:solidFill>
            <a:prstDash val="solid"/>
            <a:round/>
            <a:headEnd type="none" w="med" len="med"/>
            <a:tailEnd type="none" w="med" len="med"/>
          </a:ln>
        </p:spPr>
      </p:cxnSp>
      <p:pic>
        <p:nvPicPr>
          <p:cNvPr id="128" name="图片 127"/>
          <p:cNvPicPr>
            <a:picLocks noChangeAspect="1"/>
          </p:cNvPicPr>
          <p:nvPr/>
        </p:nvPicPr>
        <p:blipFill>
          <a:blip r:embed="rId2"/>
          <a:stretch>
            <a:fillRect/>
          </a:stretch>
        </p:blipFill>
        <p:spPr>
          <a:xfrm>
            <a:off x="8208010" y="5546725"/>
            <a:ext cx="709295" cy="709295"/>
          </a:xfrm>
          <a:prstGeom prst="rect">
            <a:avLst/>
          </a:prstGeom>
        </p:spPr>
      </p:pic>
      <p:pic>
        <p:nvPicPr>
          <p:cNvPr id="129" name="图片 128"/>
          <p:cNvPicPr>
            <a:picLocks noChangeAspect="1"/>
          </p:cNvPicPr>
          <p:nvPr/>
        </p:nvPicPr>
        <p:blipFill>
          <a:blip r:embed="rId2"/>
          <a:stretch>
            <a:fillRect/>
          </a:stretch>
        </p:blipFill>
        <p:spPr>
          <a:xfrm>
            <a:off x="8859520" y="5546725"/>
            <a:ext cx="688340" cy="688340"/>
          </a:xfrm>
          <a:prstGeom prst="rect">
            <a:avLst/>
          </a:prstGeom>
        </p:spPr>
      </p:pic>
      <p:pic>
        <p:nvPicPr>
          <p:cNvPr id="6" name="Picture 15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9710" y="5565845"/>
            <a:ext cx="352909" cy="38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连接符 6"/>
          <p:cNvCxnSpPr>
            <a:stCxn id="6" idx="0"/>
            <a:endCxn id="91" idx="3"/>
          </p:cNvCxnSpPr>
          <p:nvPr/>
        </p:nvCxnSpPr>
        <p:spPr>
          <a:xfrm flipV="1">
            <a:off x="6306185" y="4628515"/>
            <a:ext cx="746125" cy="937260"/>
          </a:xfrm>
          <a:prstGeom prst="lin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cxnSp>
      <p:pic>
        <p:nvPicPr>
          <p:cNvPr id="8" name="Picture 15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5005" y="5800795"/>
            <a:ext cx="352909" cy="38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9"/>
          <p:cNvCxnSpPr>
            <a:stCxn id="9" idx="0"/>
            <a:endCxn id="91" idx="5"/>
          </p:cNvCxnSpPr>
          <p:nvPr/>
        </p:nvCxnSpPr>
        <p:spPr>
          <a:xfrm flipH="1" flipV="1">
            <a:off x="8163560" y="4628515"/>
            <a:ext cx="520065" cy="629920"/>
          </a:xfrm>
          <a:prstGeom prst="lin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cxnSp>
      <p:pic>
        <p:nvPicPr>
          <p:cNvPr id="11" name="图片 10"/>
          <p:cNvPicPr>
            <a:picLocks noChangeAspect="1"/>
          </p:cNvPicPr>
          <p:nvPr/>
        </p:nvPicPr>
        <p:blipFill>
          <a:blip r:embed="rId2"/>
          <a:stretch>
            <a:fillRect/>
          </a:stretch>
        </p:blipFill>
        <p:spPr>
          <a:xfrm>
            <a:off x="5994400" y="1581785"/>
            <a:ext cx="709295" cy="709295"/>
          </a:xfrm>
          <a:prstGeom prst="rect">
            <a:avLst/>
          </a:prstGeom>
        </p:spPr>
      </p:pic>
      <p:cxnSp>
        <p:nvCxnSpPr>
          <p:cNvPr id="12" name="直接连接符 11"/>
          <p:cNvCxnSpPr>
            <a:endCxn id="92" idx="1"/>
          </p:cNvCxnSpPr>
          <p:nvPr/>
        </p:nvCxnSpPr>
        <p:spPr>
          <a:xfrm>
            <a:off x="6464935" y="2132965"/>
            <a:ext cx="313690" cy="696595"/>
          </a:xfrm>
          <a:prstGeom prst="lin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cxnSp>
      <p:pic>
        <p:nvPicPr>
          <p:cNvPr id="13" name="图片 12"/>
          <p:cNvPicPr>
            <a:picLocks noChangeAspect="1"/>
          </p:cNvPicPr>
          <p:nvPr/>
        </p:nvPicPr>
        <p:blipFill>
          <a:blip r:embed="rId2"/>
          <a:stretch>
            <a:fillRect/>
          </a:stretch>
        </p:blipFill>
        <p:spPr>
          <a:xfrm>
            <a:off x="7359650" y="1581785"/>
            <a:ext cx="709295" cy="709295"/>
          </a:xfrm>
          <a:prstGeom prst="rect">
            <a:avLst/>
          </a:prstGeom>
        </p:spPr>
      </p:pic>
      <p:pic>
        <p:nvPicPr>
          <p:cNvPr id="14" name="图片 13"/>
          <p:cNvPicPr>
            <a:picLocks noChangeAspect="1"/>
          </p:cNvPicPr>
          <p:nvPr/>
        </p:nvPicPr>
        <p:blipFill>
          <a:blip r:embed="rId2"/>
          <a:stretch>
            <a:fillRect/>
          </a:stretch>
        </p:blipFill>
        <p:spPr>
          <a:xfrm>
            <a:off x="8743315" y="1599565"/>
            <a:ext cx="709295" cy="709295"/>
          </a:xfrm>
          <a:prstGeom prst="rect">
            <a:avLst/>
          </a:prstGeom>
        </p:spPr>
      </p:pic>
      <p:cxnSp>
        <p:nvCxnSpPr>
          <p:cNvPr id="15" name="直接连接符 14"/>
          <p:cNvCxnSpPr>
            <a:stCxn id="90" idx="1"/>
            <a:endCxn id="13" idx="2"/>
          </p:cNvCxnSpPr>
          <p:nvPr/>
        </p:nvCxnSpPr>
        <p:spPr>
          <a:xfrm flipV="1">
            <a:off x="7556500" y="2291080"/>
            <a:ext cx="158115" cy="538480"/>
          </a:xfrm>
          <a:prstGeom prst="lin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cxnSp>
      <p:cxnSp>
        <p:nvCxnSpPr>
          <p:cNvPr id="16" name="直接连接符 15"/>
          <p:cNvCxnSpPr>
            <a:stCxn id="90" idx="7"/>
            <a:endCxn id="14" idx="2"/>
          </p:cNvCxnSpPr>
          <p:nvPr/>
        </p:nvCxnSpPr>
        <p:spPr>
          <a:xfrm flipV="1">
            <a:off x="8507730" y="2308860"/>
            <a:ext cx="590550" cy="520700"/>
          </a:xfrm>
          <a:prstGeom prst="lin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cxnSp>
      <p:sp>
        <p:nvSpPr>
          <p:cNvPr id="17" name="文本框 16"/>
          <p:cNvSpPr txBox="1"/>
          <p:nvPr/>
        </p:nvSpPr>
        <p:spPr>
          <a:xfrm>
            <a:off x="5666740" y="1231265"/>
            <a:ext cx="1227455" cy="337185"/>
          </a:xfrm>
          <a:prstGeom prst="rect">
            <a:avLst/>
          </a:prstGeom>
          <a:noFill/>
        </p:spPr>
        <p:txBody>
          <a:bodyPr wrap="square" rtlCol="0">
            <a:spAutoFit/>
          </a:bodyPr>
          <a:p>
            <a:pPr lvl="0" algn="l">
              <a:buClrTx/>
              <a:buSzTx/>
              <a:buFontTx/>
            </a:pPr>
            <a:r>
              <a:rPr lang="en-US" altLang="zh-CN" sz="1600" b="1">
                <a:sym typeface="+mn-ea"/>
              </a:rPr>
              <a:t>邮件</a:t>
            </a:r>
            <a:r>
              <a:rPr lang="zh-CN" altLang="en-US" sz="1600" b="1">
                <a:sym typeface="+mn-ea"/>
              </a:rPr>
              <a:t>服务器</a:t>
            </a:r>
            <a:endParaRPr lang="zh-CN" altLang="en-US" sz="1600" b="1">
              <a:sym typeface="+mn-ea"/>
            </a:endParaRPr>
          </a:p>
        </p:txBody>
      </p:sp>
      <p:sp>
        <p:nvSpPr>
          <p:cNvPr id="18" name="文本框 17"/>
          <p:cNvSpPr txBox="1"/>
          <p:nvPr/>
        </p:nvSpPr>
        <p:spPr>
          <a:xfrm>
            <a:off x="7052310" y="1172845"/>
            <a:ext cx="1341120" cy="337185"/>
          </a:xfrm>
          <a:prstGeom prst="rect">
            <a:avLst/>
          </a:prstGeom>
          <a:noFill/>
        </p:spPr>
        <p:txBody>
          <a:bodyPr wrap="square" rtlCol="0">
            <a:spAutoFit/>
          </a:bodyPr>
          <a:p>
            <a:pPr lvl="0" algn="l">
              <a:buClrTx/>
              <a:buSzTx/>
              <a:buFontTx/>
            </a:pPr>
            <a:r>
              <a:rPr lang="en-US" altLang="zh-CN" sz="1600" b="1">
                <a:sym typeface="+mn-ea"/>
              </a:rPr>
              <a:t>WEB</a:t>
            </a:r>
            <a:r>
              <a:rPr lang="zh-CN" altLang="en-US" sz="1600" b="1">
                <a:sym typeface="+mn-ea"/>
              </a:rPr>
              <a:t>服务器</a:t>
            </a:r>
            <a:endParaRPr lang="zh-CN" altLang="en-US" sz="1600" b="1">
              <a:sym typeface="+mn-ea"/>
            </a:endParaRPr>
          </a:p>
        </p:txBody>
      </p:sp>
      <p:sp>
        <p:nvSpPr>
          <p:cNvPr id="19" name="文本框 18"/>
          <p:cNvSpPr txBox="1"/>
          <p:nvPr/>
        </p:nvSpPr>
        <p:spPr>
          <a:xfrm>
            <a:off x="8518525" y="1172845"/>
            <a:ext cx="1227455" cy="337185"/>
          </a:xfrm>
          <a:prstGeom prst="rect">
            <a:avLst/>
          </a:prstGeom>
          <a:noFill/>
        </p:spPr>
        <p:txBody>
          <a:bodyPr wrap="square" rtlCol="0">
            <a:spAutoFit/>
          </a:bodyPr>
          <a:p>
            <a:pPr lvl="0" algn="l">
              <a:buClrTx/>
              <a:buSzTx/>
              <a:buFontTx/>
            </a:pPr>
            <a:r>
              <a:rPr lang="zh-CN" altLang="en-US" sz="1600" b="1">
                <a:sym typeface="+mn-ea"/>
              </a:rPr>
              <a:t>域名服务器</a:t>
            </a:r>
            <a:endParaRPr lang="zh-CN" altLang="en-US" sz="1600" b="1">
              <a:sym typeface="+mn-ea"/>
            </a:endParaRPr>
          </a:p>
        </p:txBody>
      </p:sp>
      <p:sp>
        <p:nvSpPr>
          <p:cNvPr id="20" name="文本框 19"/>
          <p:cNvSpPr txBox="1"/>
          <p:nvPr/>
        </p:nvSpPr>
        <p:spPr>
          <a:xfrm>
            <a:off x="5854065" y="6002655"/>
            <a:ext cx="850265" cy="337185"/>
          </a:xfrm>
          <a:prstGeom prst="rect">
            <a:avLst/>
          </a:prstGeom>
          <a:noFill/>
        </p:spPr>
        <p:txBody>
          <a:bodyPr wrap="square" rtlCol="0">
            <a:spAutoFit/>
          </a:bodyPr>
          <a:p>
            <a:pPr lvl="0" algn="l">
              <a:buClrTx/>
              <a:buSzTx/>
              <a:buFontTx/>
            </a:pPr>
            <a:r>
              <a:rPr lang="zh-CN" altLang="en-US" sz="1600" b="1">
                <a:sym typeface="+mn-ea"/>
              </a:rPr>
              <a:t>端节点</a:t>
            </a:r>
            <a:endParaRPr lang="zh-CN" altLang="en-US" sz="1600" b="1">
              <a:sym typeface="+mn-ea"/>
            </a:endParaRPr>
          </a:p>
        </p:txBody>
      </p:sp>
      <p:sp>
        <p:nvSpPr>
          <p:cNvPr id="21" name="文本框 20"/>
          <p:cNvSpPr txBox="1"/>
          <p:nvPr/>
        </p:nvSpPr>
        <p:spPr>
          <a:xfrm>
            <a:off x="7219950" y="5524500"/>
            <a:ext cx="850265" cy="337185"/>
          </a:xfrm>
          <a:prstGeom prst="rect">
            <a:avLst/>
          </a:prstGeom>
          <a:noFill/>
        </p:spPr>
        <p:txBody>
          <a:bodyPr wrap="square" rtlCol="0">
            <a:spAutoFit/>
          </a:bodyPr>
          <a:p>
            <a:pPr lvl="0" algn="l">
              <a:buClrTx/>
              <a:buSzTx/>
              <a:buFontTx/>
            </a:pPr>
            <a:r>
              <a:rPr lang="zh-CN" altLang="en-US" sz="1600" b="1">
                <a:sym typeface="+mn-ea"/>
              </a:rPr>
              <a:t>端节点</a:t>
            </a:r>
            <a:endParaRPr lang="zh-CN" altLang="en-US" sz="1600" b="1">
              <a:sym typeface="+mn-ea"/>
            </a:endParaRPr>
          </a:p>
        </p:txBody>
      </p:sp>
      <p:sp>
        <p:nvSpPr>
          <p:cNvPr id="22" name="文本框 21"/>
          <p:cNvSpPr txBox="1"/>
          <p:nvPr/>
        </p:nvSpPr>
        <p:spPr>
          <a:xfrm>
            <a:off x="7836535" y="5237480"/>
            <a:ext cx="1341120" cy="337185"/>
          </a:xfrm>
          <a:prstGeom prst="rect">
            <a:avLst/>
          </a:prstGeom>
          <a:noFill/>
        </p:spPr>
        <p:txBody>
          <a:bodyPr wrap="square" rtlCol="0">
            <a:spAutoFit/>
          </a:bodyPr>
          <a:p>
            <a:pPr lvl="0" algn="l">
              <a:buClrTx/>
              <a:buSzTx/>
              <a:buFontTx/>
            </a:pPr>
            <a:r>
              <a:rPr lang="zh-CN" altLang="en-US" sz="1600" b="1">
                <a:sym typeface="+mn-ea"/>
              </a:rPr>
              <a:t>域名服务器</a:t>
            </a:r>
            <a:endParaRPr lang="zh-CN" altLang="en-US" sz="1600" b="1">
              <a:sym typeface="+mn-ea"/>
            </a:endParaRPr>
          </a:p>
        </p:txBody>
      </p:sp>
      <p:sp>
        <p:nvSpPr>
          <p:cNvPr id="23" name="文本框 22"/>
          <p:cNvSpPr txBox="1"/>
          <p:nvPr/>
        </p:nvSpPr>
        <p:spPr>
          <a:xfrm>
            <a:off x="8552815" y="6196330"/>
            <a:ext cx="1410970" cy="337185"/>
          </a:xfrm>
          <a:prstGeom prst="rect">
            <a:avLst/>
          </a:prstGeom>
          <a:noFill/>
        </p:spPr>
        <p:txBody>
          <a:bodyPr wrap="square" rtlCol="0">
            <a:spAutoFit/>
          </a:bodyPr>
          <a:p>
            <a:pPr lvl="0" algn="l">
              <a:buClrTx/>
              <a:buSzTx/>
              <a:buFontTx/>
            </a:pPr>
            <a:r>
              <a:rPr lang="en-US" altLang="zh-CN" sz="1600" b="1">
                <a:sym typeface="+mn-ea"/>
              </a:rPr>
              <a:t>DCHP</a:t>
            </a:r>
            <a:r>
              <a:rPr lang="zh-CN" altLang="en-US" sz="1600" b="1">
                <a:sym typeface="+mn-ea"/>
              </a:rPr>
              <a:t>服务器</a:t>
            </a:r>
            <a:endParaRPr lang="zh-CN" altLang="en-US" sz="1600" b="1">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a:p>
            <a:pPr eaLnBrk="1" hangingPunct="1"/>
            <a:r>
              <a:rPr lang="zh-CN" altLang="en-US" dirty="0" smtClean="0">
                <a:ea typeface="黑体" panose="02010609060101010101" pitchFamily="2" charset="-122"/>
              </a:rPr>
              <a:t>应用层的主要知识点</a:t>
            </a:r>
            <a:endParaRPr lang="zh-CN" altLang="en-US" dirty="0" smtClean="0">
              <a:ea typeface="黑体" panose="02010609060101010101" pitchFamily="2" charset="-122"/>
            </a:endParaRPr>
          </a:p>
        </p:txBody>
      </p:sp>
      <p:sp>
        <p:nvSpPr>
          <p:cNvPr id="32772" name="Rectangle 3"/>
          <p:cNvSpPr>
            <a:spLocks noGrp="1" noChangeArrowheads="1"/>
          </p:cNvSpPr>
          <p:nvPr>
            <p:ph idx="1"/>
          </p:nvPr>
        </p:nvSpPr>
        <p:spPr>
          <a:xfrm>
            <a:off x="171450" y="1458595"/>
            <a:ext cx="9147810" cy="2846070"/>
          </a:xfrm>
        </p:spPr>
        <p:txBody>
          <a:bodyPr/>
          <a:p>
            <a:pPr algn="just" eaLnBrk="1" hangingPunct="1"/>
            <a:r>
              <a:rPr lang="zh-CN" altLang="en-US" sz="2400" dirty="0" smtClean="0">
                <a:solidFill>
                  <a:srgbClr val="FF0000"/>
                </a:solidFill>
                <a:ea typeface="黑体" panose="02010609060101010101" pitchFamily="2" charset="-122"/>
              </a:rPr>
              <a:t>域名系统：域名系统</a:t>
            </a:r>
            <a:r>
              <a:rPr lang="en-US" altLang="zh-CN" sz="2400" dirty="0" smtClean="0">
                <a:solidFill>
                  <a:srgbClr val="FF0000"/>
                </a:solidFill>
                <a:ea typeface="黑体" panose="02010609060101010101" pitchFamily="2" charset="-122"/>
              </a:rPr>
              <a:t>DNS</a:t>
            </a:r>
            <a:r>
              <a:rPr lang="zh-CN" altLang="en-US" sz="2400" dirty="0" smtClean="0">
                <a:solidFill>
                  <a:srgbClr val="FF0000"/>
                </a:solidFill>
                <a:ea typeface="黑体" panose="02010609060101010101" pitchFamily="2" charset="-122"/>
              </a:rPr>
              <a:t>，域名结构，域名服务器，域名解析</a:t>
            </a:r>
            <a:endParaRPr lang="zh-CN" altLang="en-US" sz="2400" dirty="0" smtClean="0">
              <a:ea typeface="黑体" panose="02010609060101010101" pitchFamily="2" charset="-122"/>
            </a:endParaRPr>
          </a:p>
          <a:p>
            <a:pPr algn="just" eaLnBrk="1" hangingPunct="1"/>
            <a:r>
              <a:rPr lang="zh-CN" altLang="en-US" sz="2400" dirty="0" smtClean="0">
                <a:solidFill>
                  <a:srgbClr val="FF0000"/>
                </a:solidFill>
                <a:ea typeface="黑体" panose="02010609060101010101" pitchFamily="2" charset="-122"/>
              </a:rPr>
              <a:t>万维网：统一资源定位符URL，超文本传送协议HTTP</a:t>
            </a:r>
            <a:endParaRPr lang="zh-CN" altLang="en-US" sz="2400" dirty="0" smtClean="0">
              <a:solidFill>
                <a:srgbClr val="FF0000"/>
              </a:solidFill>
              <a:ea typeface="黑体" panose="02010609060101010101" pitchFamily="2" charset="-122"/>
            </a:endParaRPr>
          </a:p>
          <a:p>
            <a:pPr algn="just" eaLnBrk="1" hangingPunct="1"/>
            <a:r>
              <a:rPr lang="zh-CN" altLang="en-US" sz="2400" dirty="0" smtClean="0">
                <a:ea typeface="黑体" panose="02010609060101010101" pitchFamily="2" charset="-122"/>
              </a:rPr>
              <a:t>电子邮件：简单邮件传送协议</a:t>
            </a:r>
            <a:r>
              <a:rPr lang="en-US" altLang="zh-CN" sz="2400" dirty="0" smtClean="0">
                <a:ea typeface="黑体" panose="02010609060101010101" pitchFamily="2" charset="-122"/>
              </a:rPr>
              <a:t>SMTP</a:t>
            </a:r>
            <a:r>
              <a:rPr lang="zh-CN" altLang="en-US" sz="2400" dirty="0" smtClean="0">
                <a:ea typeface="黑体" panose="02010609060101010101" pitchFamily="2" charset="-122"/>
              </a:rPr>
              <a:t>， 邮件读取协议</a:t>
            </a:r>
            <a:r>
              <a:rPr lang="en-US" altLang="zh-CN" sz="2400" dirty="0" smtClean="0">
                <a:ea typeface="黑体" panose="02010609060101010101" pitchFamily="2" charset="-122"/>
              </a:rPr>
              <a:t>POP3</a:t>
            </a:r>
            <a:r>
              <a:rPr lang="zh-CN" altLang="en-US" sz="2400" dirty="0" smtClean="0">
                <a:ea typeface="黑体" panose="02010609060101010101" pitchFamily="2" charset="-122"/>
              </a:rPr>
              <a:t>和</a:t>
            </a:r>
            <a:r>
              <a:rPr lang="en-US" altLang="zh-CN" sz="2400" dirty="0" smtClean="0">
                <a:ea typeface="黑体" panose="02010609060101010101" pitchFamily="2" charset="-122"/>
              </a:rPr>
              <a:t>IMAP</a:t>
            </a:r>
            <a:r>
              <a:rPr lang="zh-CN" altLang="en-US" sz="2400" dirty="0" smtClean="0">
                <a:ea typeface="黑体" panose="02010609060101010101" pitchFamily="2" charset="-122"/>
              </a:rPr>
              <a:t>，通用因特网邮件扩充</a:t>
            </a:r>
            <a:r>
              <a:rPr lang="en-US" altLang="zh-CN" sz="2400" dirty="0" smtClean="0">
                <a:ea typeface="黑体" panose="02010609060101010101" pitchFamily="2" charset="-122"/>
              </a:rPr>
              <a:t>MIME</a:t>
            </a:r>
            <a:endParaRPr lang="en-US" altLang="zh-CN" sz="2400" dirty="0" smtClean="0">
              <a:ea typeface="黑体" panose="02010609060101010101" pitchFamily="2" charset="-122"/>
            </a:endParaRPr>
          </a:p>
          <a:p>
            <a:pPr algn="just" eaLnBrk="1" hangingPunct="1"/>
            <a:r>
              <a:rPr lang="zh-CN" altLang="en-US" sz="2400" dirty="0" smtClean="0">
                <a:solidFill>
                  <a:srgbClr val="FF0000"/>
                </a:solidFill>
                <a:ea typeface="黑体" panose="02010609060101010101" pitchFamily="2" charset="-122"/>
              </a:rPr>
              <a:t>动态主机配置协议</a:t>
            </a:r>
            <a:r>
              <a:rPr lang="en-US" altLang="zh-CN" sz="2400" dirty="0" smtClean="0">
                <a:solidFill>
                  <a:srgbClr val="FF0000"/>
                </a:solidFill>
                <a:ea typeface="黑体" panose="02010609060101010101" pitchFamily="2" charset="-122"/>
              </a:rPr>
              <a:t>DHCP</a:t>
            </a:r>
            <a:endParaRPr lang="en-US" altLang="zh-CN" sz="2400" dirty="0" smtClean="0">
              <a:solidFill>
                <a:srgbClr val="FF0000"/>
              </a:solidFill>
              <a:ea typeface="黑体" panose="0201060906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495300" y="188913"/>
            <a:ext cx="9066742" cy="792162"/>
          </a:xfrm>
        </p:spPr>
        <p:txBody>
          <a:bodyPr/>
          <a:lstStyle/>
          <a:p>
            <a:pPr algn="ctr" eaLnBrk="1" hangingPunct="1">
              <a:defRPr/>
            </a:pPr>
            <a:r>
              <a:rPr lang="zh-CN" altLang="en-US" dirty="0"/>
              <a:t>应用层协议的特点 </a:t>
            </a:r>
            <a:endParaRPr lang="zh-CN" altLang="en-US" dirty="0"/>
          </a:p>
        </p:txBody>
      </p:sp>
      <p:sp>
        <p:nvSpPr>
          <p:cNvPr id="123907" name="Rectangle 3"/>
          <p:cNvSpPr>
            <a:spLocks noGrp="1" noChangeArrowheads="1"/>
          </p:cNvSpPr>
          <p:nvPr>
            <p:ph idx="1"/>
          </p:nvPr>
        </p:nvSpPr>
        <p:spPr>
          <a:xfrm>
            <a:off x="495300" y="1196975"/>
            <a:ext cx="9066742" cy="4933950"/>
          </a:xfrm>
        </p:spPr>
        <p:txBody>
          <a:bodyPr/>
          <a:lstStyle/>
          <a:p>
            <a:pPr algn="just" eaLnBrk="1" hangingPunct="1"/>
            <a:r>
              <a:rPr lang="zh-CN" altLang="en-US" sz="2800" dirty="0" smtClean="0">
                <a:solidFill>
                  <a:srgbClr val="FF0000"/>
                </a:solidFill>
                <a:latin typeface="黑体" panose="02010609060101010101" pitchFamily="2" charset="-122"/>
                <a:ea typeface="黑体" panose="02010609060101010101" pitchFamily="2" charset="-122"/>
              </a:rPr>
              <a:t>每个应用层协议都是为了解决某一类应用问题</a:t>
            </a:r>
            <a:r>
              <a:rPr lang="zh-CN" altLang="en-US" sz="2800" dirty="0" smtClean="0">
                <a:latin typeface="黑体" panose="02010609060101010101" pitchFamily="2" charset="-122"/>
                <a:ea typeface="黑体" panose="02010609060101010101" pitchFamily="2" charset="-122"/>
              </a:rPr>
              <a:t>，而问题的解决又往往是通过位于不同主机中的多个应用进程之间的通信和协同工作来完成的。</a:t>
            </a:r>
            <a:r>
              <a:rPr lang="zh-CN" altLang="en-US" sz="2800" dirty="0" smtClean="0">
                <a:solidFill>
                  <a:schemeClr val="tx1"/>
                </a:solidFill>
                <a:latin typeface="黑体" panose="02010609060101010101" pitchFamily="2" charset="-122"/>
                <a:ea typeface="黑体" panose="02010609060101010101" pitchFamily="2" charset="-122"/>
              </a:rPr>
              <a:t>应用层的具体内容就是规定应用进程在通信时所遵循的协议</a:t>
            </a:r>
            <a:r>
              <a:rPr lang="zh-CN" altLang="en-US" sz="2800" dirty="0" smtClean="0">
                <a:latin typeface="黑体" panose="02010609060101010101" pitchFamily="2" charset="-122"/>
                <a:ea typeface="黑体" panose="02010609060101010101" pitchFamily="2" charset="-122"/>
              </a:rPr>
              <a:t>。</a:t>
            </a:r>
            <a:endParaRPr lang="zh-CN" altLang="en-US" sz="2800" dirty="0" smtClean="0">
              <a:latin typeface="黑体" panose="02010609060101010101" pitchFamily="2" charset="-122"/>
              <a:ea typeface="黑体" panose="02010609060101010101" pitchFamily="2" charset="-122"/>
            </a:endParaRPr>
          </a:p>
          <a:p>
            <a:pPr algn="just" eaLnBrk="1" hangingPunct="1"/>
            <a:r>
              <a:rPr lang="zh-CN" altLang="en-US" sz="2800" dirty="0" smtClean="0">
                <a:ea typeface="黑体" panose="02010609060101010101" pitchFamily="2" charset="-122"/>
              </a:rPr>
              <a:t>应用层的许多协议都是基于</a:t>
            </a:r>
            <a:r>
              <a:rPr lang="zh-CN" altLang="en-US" sz="2800" dirty="0" smtClean="0">
                <a:solidFill>
                  <a:srgbClr val="FF0000"/>
                </a:solidFill>
                <a:ea typeface="黑体" panose="02010609060101010101" pitchFamily="2" charset="-122"/>
              </a:rPr>
              <a:t>客户服务器</a:t>
            </a:r>
            <a:r>
              <a:rPr lang="zh-CN" altLang="en-US" sz="2800" dirty="0" smtClean="0">
                <a:ea typeface="黑体" panose="02010609060101010101" pitchFamily="2" charset="-122"/>
              </a:rPr>
              <a:t>方式。客户</a:t>
            </a:r>
            <a:r>
              <a:rPr lang="en-US" altLang="zh-CN" sz="2800" dirty="0" smtClean="0">
                <a:ea typeface="黑体" panose="02010609060101010101" pitchFamily="2" charset="-122"/>
              </a:rPr>
              <a:t>(client)</a:t>
            </a:r>
            <a:r>
              <a:rPr lang="zh-CN" altLang="en-US" sz="2800" dirty="0" smtClean="0">
                <a:ea typeface="黑体" panose="02010609060101010101" pitchFamily="2" charset="-122"/>
              </a:rPr>
              <a:t>和服务器</a:t>
            </a:r>
            <a:r>
              <a:rPr lang="en-US" altLang="zh-CN" sz="2800" dirty="0" smtClean="0">
                <a:ea typeface="黑体" panose="02010609060101010101" pitchFamily="2" charset="-122"/>
              </a:rPr>
              <a:t>(server)</a:t>
            </a:r>
            <a:r>
              <a:rPr lang="zh-CN" altLang="en-US" sz="2800" dirty="0" smtClean="0">
                <a:ea typeface="黑体" panose="02010609060101010101" pitchFamily="2" charset="-122"/>
              </a:rPr>
              <a:t>都是指通信中所涉及的两个应用进程。客户服务器方式所描述的是进程之间服务和被服务的关系。客户是服务请求方，服务器是服务提供方。 </a:t>
            </a:r>
            <a:r>
              <a:rPr lang="zh-CN" altLang="en-US" sz="2800" dirty="0" smtClean="0">
                <a:latin typeface="黑体" panose="02010609060101010101" pitchFamily="2" charset="-122"/>
                <a:ea typeface="黑体" panose="02010609060101010101" pitchFamily="2" charset="-122"/>
              </a:rPr>
              <a:t> </a:t>
            </a:r>
            <a:endParaRPr lang="zh-CN" altLang="en-US" sz="2800" dirty="0" smtClean="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4294967295" end="429496729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smtClean="0">
                <a:ea typeface="黑体" panose="02010609060101010101" pitchFamily="2" charset="-122"/>
              </a:rPr>
              <a:t>第 </a:t>
            </a:r>
            <a:r>
              <a:rPr lang="en-US" altLang="zh-CN" dirty="0" smtClean="0">
                <a:ea typeface="黑体" panose="02010609060101010101" pitchFamily="2" charset="-122"/>
              </a:rPr>
              <a:t>6 </a:t>
            </a:r>
            <a:r>
              <a:rPr lang="zh-CN" altLang="en-US" dirty="0" smtClean="0">
                <a:ea typeface="黑体" panose="02010609060101010101" pitchFamily="2" charset="-122"/>
              </a:rPr>
              <a:t>章 应用层</a:t>
            </a:r>
            <a:endParaRPr lang="zh-CN" altLang="en-US" dirty="0" smtClean="0">
              <a:ea typeface="黑体" panose="02010609060101010101" pitchFamily="2" charset="-122"/>
            </a:endParaRPr>
          </a:p>
        </p:txBody>
      </p:sp>
      <p:sp>
        <p:nvSpPr>
          <p:cNvPr id="26627" name="内容占位符 2"/>
          <p:cNvSpPr>
            <a:spLocks noGrp="1"/>
          </p:cNvSpPr>
          <p:nvPr>
            <p:ph idx="1"/>
          </p:nvPr>
        </p:nvSpPr>
        <p:spPr/>
        <p:txBody>
          <a:bodyPr/>
          <a:lstStyle/>
          <a:p>
            <a:pPr eaLnBrk="1" hangingPunct="1">
              <a:lnSpc>
                <a:spcPct val="100000"/>
              </a:lnSpc>
            </a:pPr>
            <a:r>
              <a:rPr lang="en-US" altLang="zh-CN" sz="3200" dirty="0" smtClean="0">
                <a:ea typeface="黑体" panose="02010609060101010101" pitchFamily="2" charset="-122"/>
              </a:rPr>
              <a:t>6.1  </a:t>
            </a:r>
            <a:r>
              <a:rPr lang="zh-CN" altLang="en-US" sz="3200" dirty="0" smtClean="0">
                <a:ea typeface="黑体" panose="02010609060101010101" pitchFamily="2" charset="-122"/>
              </a:rPr>
              <a:t>域名系统 </a:t>
            </a:r>
            <a:r>
              <a:rPr lang="en-US" altLang="zh-CN" sz="3200" dirty="0" smtClean="0">
                <a:ea typeface="黑体" panose="02010609060101010101" pitchFamily="2" charset="-122"/>
              </a:rPr>
              <a:t>DNS</a:t>
            </a:r>
            <a:endParaRPr lang="en-US" altLang="zh-CN" sz="3200" dirty="0" smtClean="0">
              <a:ea typeface="黑体" panose="02010609060101010101" pitchFamily="2" charset="-122"/>
            </a:endParaRPr>
          </a:p>
          <a:p>
            <a:pPr eaLnBrk="1" hangingPunct="1">
              <a:lnSpc>
                <a:spcPct val="100000"/>
              </a:lnSpc>
            </a:pPr>
            <a:r>
              <a:rPr lang="en-US" altLang="zh-CN" sz="3200" dirty="0" smtClean="0">
                <a:ea typeface="黑体" panose="02010609060101010101" pitchFamily="2" charset="-122"/>
              </a:rPr>
              <a:t>6.4  </a:t>
            </a:r>
            <a:r>
              <a:rPr lang="zh-CN" altLang="en-US" sz="3200" dirty="0" smtClean="0">
                <a:ea typeface="黑体" panose="02010609060101010101" pitchFamily="2" charset="-122"/>
              </a:rPr>
              <a:t>万维网 </a:t>
            </a:r>
            <a:r>
              <a:rPr lang="en-US" altLang="zh-CN" sz="3200" dirty="0" smtClean="0">
                <a:ea typeface="黑体" panose="02010609060101010101" pitchFamily="2" charset="-122"/>
              </a:rPr>
              <a:t>WWW</a:t>
            </a:r>
            <a:endParaRPr lang="en-US" altLang="zh-CN" sz="3200" dirty="0" smtClean="0">
              <a:ea typeface="黑体" panose="02010609060101010101" pitchFamily="2" charset="-122"/>
            </a:endParaRPr>
          </a:p>
          <a:p>
            <a:pPr eaLnBrk="1" hangingPunct="1">
              <a:lnSpc>
                <a:spcPct val="100000"/>
              </a:lnSpc>
            </a:pPr>
            <a:r>
              <a:rPr lang="en-US" altLang="zh-CN" sz="3200" dirty="0" smtClean="0">
                <a:ea typeface="黑体" panose="02010609060101010101" pitchFamily="2" charset="-122"/>
              </a:rPr>
              <a:t>6.5  </a:t>
            </a:r>
            <a:r>
              <a:rPr lang="zh-CN" altLang="en-US" sz="3200" dirty="0" smtClean="0">
                <a:ea typeface="黑体" panose="02010609060101010101" pitchFamily="2" charset="-122"/>
              </a:rPr>
              <a:t>电子邮件</a:t>
            </a:r>
            <a:endParaRPr lang="en-US" altLang="zh-CN" sz="3200" dirty="0" smtClean="0">
              <a:ea typeface="黑体" panose="02010609060101010101" pitchFamily="2" charset="-122"/>
            </a:endParaRPr>
          </a:p>
          <a:p>
            <a:pPr eaLnBrk="1" hangingPunct="1">
              <a:lnSpc>
                <a:spcPct val="100000"/>
              </a:lnSpc>
            </a:pPr>
            <a:r>
              <a:rPr lang="en-US" altLang="zh-CN" sz="3200" dirty="0" smtClean="0">
                <a:ea typeface="黑体" panose="02010609060101010101" pitchFamily="2" charset="-122"/>
              </a:rPr>
              <a:t>6.6  </a:t>
            </a:r>
            <a:r>
              <a:rPr lang="zh-CN" altLang="en-US" sz="3200" dirty="0" smtClean="0">
                <a:ea typeface="黑体" panose="02010609060101010101" pitchFamily="2" charset="-122"/>
              </a:rPr>
              <a:t>动态主机配置协议 </a:t>
            </a:r>
            <a:r>
              <a:rPr lang="en-US" altLang="zh-CN" sz="3200" dirty="0" smtClean="0">
                <a:ea typeface="黑体" panose="02010609060101010101" pitchFamily="2" charset="-122"/>
              </a:rPr>
              <a:t>DHCP</a:t>
            </a:r>
            <a:endParaRPr lang="zh-CN" altLang="en-US" sz="3200" dirty="0" smtClean="0">
              <a:ea typeface="黑体" panose="0201060906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pPr eaLnBrk="1" hangingPunct="1"/>
            <a:r>
              <a:rPr lang="en-US" altLang="zh-CN" dirty="0" smtClean="0">
                <a:ea typeface="黑体" panose="02010609060101010101" pitchFamily="2" charset="-122"/>
              </a:rPr>
              <a:t>6.1  </a:t>
            </a:r>
            <a:r>
              <a:rPr lang="zh-CN" altLang="en-US" dirty="0" smtClean="0">
                <a:ea typeface="黑体" panose="02010609060101010101" pitchFamily="2" charset="-122"/>
              </a:rPr>
              <a:t>域名系统 </a:t>
            </a:r>
            <a:r>
              <a:rPr lang="en-US" altLang="zh-CN" dirty="0" smtClean="0">
                <a:ea typeface="黑体" panose="02010609060101010101" pitchFamily="2" charset="-122"/>
              </a:rPr>
              <a:t>DNS</a:t>
            </a:r>
            <a:endParaRPr lang="zh-CN" altLang="en-US" dirty="0" smtClean="0">
              <a:ea typeface="黑体" panose="02010609060101010101" pitchFamily="2" charset="-122"/>
            </a:endParaRPr>
          </a:p>
        </p:txBody>
      </p:sp>
      <p:sp>
        <p:nvSpPr>
          <p:cNvPr id="3" name="内容占位符 2"/>
          <p:cNvSpPr>
            <a:spLocks noGrp="1"/>
          </p:cNvSpPr>
          <p:nvPr>
            <p:ph idx="1"/>
          </p:nvPr>
        </p:nvSpPr>
        <p:spPr/>
        <p:txBody>
          <a:bodyPr/>
          <a:lstStyle/>
          <a:p>
            <a:pPr eaLnBrk="1" hangingPunct="1">
              <a:defRPr/>
            </a:pPr>
            <a:r>
              <a:rPr lang="en-US" altLang="zh-CN" sz="3200" dirty="0">
                <a:ea typeface="黑体" panose="02010609060101010101" pitchFamily="2" charset="-122"/>
              </a:rPr>
              <a:t>6.1.1  </a:t>
            </a:r>
            <a:r>
              <a:rPr lang="zh-CN" altLang="en-US" sz="3200" dirty="0">
                <a:ea typeface="黑体" panose="02010609060101010101" pitchFamily="2" charset="-122"/>
              </a:rPr>
              <a:t>域名</a:t>
            </a:r>
            <a:r>
              <a:rPr lang="zh-CN" altLang="en-US" sz="3200" dirty="0" smtClean="0">
                <a:ea typeface="黑体" panose="02010609060101010101" pitchFamily="2" charset="-122"/>
              </a:rPr>
              <a:t>系统概述</a:t>
            </a:r>
            <a:endParaRPr lang="en-US" altLang="zh-CN" sz="3200" dirty="0" smtClean="0">
              <a:ea typeface="黑体" panose="02010609060101010101" pitchFamily="2" charset="-122"/>
            </a:endParaRPr>
          </a:p>
          <a:p>
            <a:pPr eaLnBrk="1" hangingPunct="1">
              <a:defRPr/>
            </a:pPr>
            <a:r>
              <a:rPr lang="en-US" altLang="zh-CN" sz="3200" dirty="0">
                <a:ea typeface="黑体" panose="02010609060101010101" pitchFamily="2" charset="-122"/>
              </a:rPr>
              <a:t>6.1.2  </a:t>
            </a:r>
            <a:r>
              <a:rPr lang="zh-CN" altLang="en-US" sz="3200" dirty="0" smtClean="0">
                <a:ea typeface="黑体" panose="02010609060101010101" pitchFamily="2" charset="-122"/>
              </a:rPr>
              <a:t>互联网的</a:t>
            </a:r>
            <a:r>
              <a:rPr lang="zh-CN" altLang="en-US" sz="3200" dirty="0">
                <a:ea typeface="黑体" panose="02010609060101010101" pitchFamily="2" charset="-122"/>
              </a:rPr>
              <a:t>域名</a:t>
            </a:r>
            <a:r>
              <a:rPr lang="zh-CN" altLang="en-US" sz="3200" dirty="0" smtClean="0">
                <a:ea typeface="黑体" panose="02010609060101010101" pitchFamily="2" charset="-122"/>
              </a:rPr>
              <a:t>结构</a:t>
            </a:r>
            <a:endParaRPr lang="en-US" altLang="zh-CN" sz="3200" dirty="0" smtClean="0">
              <a:ea typeface="黑体" panose="02010609060101010101" pitchFamily="2" charset="-122"/>
            </a:endParaRPr>
          </a:p>
          <a:p>
            <a:pPr eaLnBrk="1" hangingPunct="1">
              <a:defRPr/>
            </a:pPr>
            <a:r>
              <a:rPr lang="en-US" altLang="zh-CN" sz="3200" dirty="0">
                <a:ea typeface="黑体" panose="02010609060101010101" pitchFamily="2" charset="-122"/>
              </a:rPr>
              <a:t>6.1.3  </a:t>
            </a:r>
            <a:r>
              <a:rPr lang="zh-CN" altLang="en-US" sz="3200" dirty="0">
                <a:ea typeface="黑体" panose="02010609060101010101" pitchFamily="2" charset="-122"/>
              </a:rPr>
              <a:t>域名服务器</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pPr eaLnBrk="1" hangingPunct="1">
              <a:defRPr/>
            </a:pPr>
            <a:br>
              <a:rPr lang="en-US" altLang="zh-CN" dirty="0"/>
            </a:br>
            <a:r>
              <a:rPr lang="en-US" altLang="zh-CN" dirty="0"/>
              <a:t>6.1.1  </a:t>
            </a:r>
            <a:r>
              <a:rPr lang="zh-CN" altLang="en-US" dirty="0"/>
              <a:t>域名系统概述</a:t>
            </a:r>
            <a:endParaRPr lang="zh-CN" altLang="en-US" dirty="0"/>
          </a:p>
        </p:txBody>
      </p:sp>
      <p:sp>
        <p:nvSpPr>
          <p:cNvPr id="573443" name="Rectangle 3"/>
          <p:cNvSpPr>
            <a:spLocks noGrp="1" noChangeArrowheads="1"/>
          </p:cNvSpPr>
          <p:nvPr>
            <p:ph idx="1"/>
          </p:nvPr>
        </p:nvSpPr>
        <p:spPr/>
        <p:txBody>
          <a:bodyPr/>
          <a:lstStyle/>
          <a:p>
            <a:pPr marL="316230" indent="-316230" algn="just" eaLnBrk="1" hangingPunct="1">
              <a:spcBef>
                <a:spcPts val="555"/>
              </a:spcBef>
              <a:defRPr/>
            </a:pPr>
            <a:r>
              <a:rPr lang="zh-CN" altLang="en-US" dirty="0"/>
              <a:t>许多应用层软件经常直接使用</a:t>
            </a:r>
            <a:r>
              <a:rPr lang="zh-CN" altLang="en-US" dirty="0">
                <a:solidFill>
                  <a:srgbClr val="FF0000"/>
                </a:solidFill>
              </a:rPr>
              <a:t>域名系统</a:t>
            </a:r>
            <a:r>
              <a:rPr lang="zh-CN" altLang="en-US" dirty="0"/>
              <a:t> </a:t>
            </a:r>
            <a:r>
              <a:rPr lang="en-US" altLang="zh-CN" dirty="0"/>
              <a:t>DNS (Domain Name System)</a:t>
            </a:r>
            <a:r>
              <a:rPr lang="zh-CN" altLang="en-US" dirty="0"/>
              <a:t>，但计算机的用户只是间接而不是直接使用域名系统。 </a:t>
            </a:r>
            <a:endParaRPr lang="zh-CN" altLang="en-US" dirty="0"/>
          </a:p>
          <a:p>
            <a:pPr marL="316230" indent="-316230" algn="just" eaLnBrk="1" hangingPunct="1">
              <a:spcBef>
                <a:spcPts val="555"/>
              </a:spcBef>
              <a:defRPr/>
            </a:pPr>
            <a:r>
              <a:rPr lang="zh-CN" altLang="en-US" dirty="0" smtClean="0"/>
              <a:t>互联网</a:t>
            </a:r>
            <a:r>
              <a:rPr lang="zh-CN" altLang="en-US" dirty="0"/>
              <a:t>采用层次结构的</a:t>
            </a:r>
            <a:r>
              <a:rPr lang="zh-CN" altLang="en-US" dirty="0">
                <a:solidFill>
                  <a:srgbClr val="FF0000"/>
                </a:solidFill>
              </a:rPr>
              <a:t>命名树</a:t>
            </a:r>
            <a:r>
              <a:rPr lang="zh-CN" altLang="en-US" dirty="0"/>
              <a:t>作为主机的名字，并使用</a:t>
            </a:r>
            <a:r>
              <a:rPr lang="zh-CN" altLang="en-US" dirty="0">
                <a:solidFill>
                  <a:srgbClr val="FF0000"/>
                </a:solidFill>
              </a:rPr>
              <a:t>分布式</a:t>
            </a:r>
            <a:r>
              <a:rPr lang="zh-CN" altLang="en-US" dirty="0"/>
              <a:t>的域名系统 </a:t>
            </a:r>
            <a:r>
              <a:rPr lang="en-US" altLang="zh-CN" dirty="0"/>
              <a:t>DNS</a:t>
            </a:r>
            <a:r>
              <a:rPr lang="zh-CN" altLang="en-US" dirty="0"/>
              <a:t>。</a:t>
            </a:r>
            <a:endParaRPr lang="zh-CN" altLang="en-US" dirty="0"/>
          </a:p>
          <a:p>
            <a:pPr marL="316230" indent="-316230" algn="just" eaLnBrk="1" hangingPunct="1">
              <a:spcBef>
                <a:spcPts val="555"/>
              </a:spcBef>
              <a:defRPr/>
            </a:pPr>
            <a:r>
              <a:rPr lang="zh-CN" altLang="en-US" dirty="0"/>
              <a:t>名字到 </a:t>
            </a:r>
            <a:r>
              <a:rPr lang="en-US" altLang="zh-CN" dirty="0"/>
              <a:t>IP </a:t>
            </a:r>
            <a:r>
              <a:rPr lang="zh-CN" altLang="en-US" dirty="0"/>
              <a:t>地址的解析是由若干个域名服务器程序完成的。域名服务器程序在专设的结点上运行，运行该程序的机器称为</a:t>
            </a:r>
            <a:r>
              <a:rPr lang="zh-CN" altLang="en-US" dirty="0">
                <a:solidFill>
                  <a:srgbClr val="FF0000"/>
                </a:solidFill>
              </a:rPr>
              <a:t>域名服务器</a:t>
            </a:r>
            <a:r>
              <a:rPr lang="zh-CN" altLang="en-US"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ChangeArrowheads="1"/>
          </p:cNvSpPr>
          <p:nvPr/>
        </p:nvSpPr>
        <p:spPr bwMode="auto">
          <a:xfrm>
            <a:off x="1674994" y="4077072"/>
            <a:ext cx="6950414" cy="763587"/>
          </a:xfrm>
          <a:prstGeom prst="rect">
            <a:avLst/>
          </a:prstGeom>
          <a:solidFill>
            <a:srgbClr val="FFFF00"/>
          </a:solidFill>
          <a:ln w="28575">
            <a:solidFill>
              <a:srgbClr val="333399"/>
            </a:solidFill>
            <a:miter lim="800000"/>
          </a:ln>
          <a:effectLst/>
        </p:spPr>
        <p:txBody>
          <a:bodyPr wrap="none" anchor="ctr"/>
          <a:lstStyle/>
          <a:p>
            <a:pPr eaLnBrk="1" hangingPunct="1"/>
            <a:endParaRPr lang="zh-CN" altLang="en-US"/>
          </a:p>
        </p:txBody>
      </p:sp>
      <p:sp>
        <p:nvSpPr>
          <p:cNvPr id="574466" name="Rectangle 2"/>
          <p:cNvSpPr>
            <a:spLocks noGrp="1" noChangeArrowheads="1"/>
          </p:cNvSpPr>
          <p:nvPr>
            <p:ph type="title"/>
          </p:nvPr>
        </p:nvSpPr>
        <p:spPr/>
        <p:txBody>
          <a:bodyPr/>
          <a:lstStyle/>
          <a:p>
            <a:pPr eaLnBrk="1" hangingPunct="1">
              <a:defRPr/>
            </a:pPr>
            <a:r>
              <a:rPr lang="en-US" altLang="zh-CN" dirty="0"/>
              <a:t>6.1.2   </a:t>
            </a:r>
            <a:r>
              <a:rPr lang="zh-CN" altLang="en-US" dirty="0" smtClean="0"/>
              <a:t>互联网</a:t>
            </a:r>
            <a:r>
              <a:rPr lang="zh-CN" altLang="en-US" dirty="0"/>
              <a:t>的域名结构</a:t>
            </a:r>
            <a:endParaRPr lang="zh-CN" altLang="en-US" dirty="0"/>
          </a:p>
        </p:txBody>
      </p:sp>
      <p:sp>
        <p:nvSpPr>
          <p:cNvPr id="32772" name="Rectangle 3"/>
          <p:cNvSpPr>
            <a:spLocks noGrp="1" noChangeArrowheads="1"/>
          </p:cNvSpPr>
          <p:nvPr>
            <p:ph idx="1"/>
          </p:nvPr>
        </p:nvSpPr>
        <p:spPr/>
        <p:txBody>
          <a:bodyPr/>
          <a:lstStyle/>
          <a:p>
            <a:pPr eaLnBrk="1" hangingPunct="1"/>
            <a:r>
              <a:rPr lang="zh-CN" altLang="en-US" dirty="0" smtClean="0">
                <a:ea typeface="黑体" panose="02010609060101010101" pitchFamily="2" charset="-122"/>
              </a:rPr>
              <a:t>互联网采用了层次树状结构的命名方法。</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任何一个连接在互联网上的主机或路由器，都有一个</a:t>
            </a:r>
            <a:r>
              <a:rPr lang="zh-CN" altLang="en-US" dirty="0" smtClean="0">
                <a:solidFill>
                  <a:srgbClr val="FF0000"/>
                </a:solidFill>
                <a:ea typeface="黑体" panose="02010609060101010101" pitchFamily="2" charset="-122"/>
              </a:rPr>
              <a:t>唯一</a:t>
            </a:r>
            <a:r>
              <a:rPr lang="zh-CN" altLang="en-US" dirty="0" smtClean="0">
                <a:ea typeface="黑体" panose="02010609060101010101" pitchFamily="2" charset="-122"/>
              </a:rPr>
              <a:t>的层次结构的名字，即</a:t>
            </a:r>
            <a:r>
              <a:rPr lang="zh-CN" altLang="en-US" dirty="0" smtClean="0">
                <a:solidFill>
                  <a:srgbClr val="FF0000"/>
                </a:solidFill>
                <a:ea typeface="黑体" panose="02010609060101010101" pitchFamily="2" charset="-122"/>
              </a:rPr>
              <a:t>域名</a:t>
            </a:r>
            <a:r>
              <a:rPr lang="zh-CN" altLang="en-US" dirty="0" smtClean="0">
                <a:ea typeface="黑体" panose="02010609060101010101" pitchFamily="2" charset="-122"/>
              </a:rPr>
              <a:t>。</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域名的结构由标号序列组成，各标号之间用</a:t>
            </a:r>
            <a:r>
              <a:rPr lang="zh-CN" altLang="en-US" dirty="0" smtClean="0">
                <a:solidFill>
                  <a:srgbClr val="FF0000"/>
                </a:solidFill>
                <a:ea typeface="黑体" panose="02010609060101010101" pitchFamily="2" charset="-122"/>
              </a:rPr>
              <a:t>点</a:t>
            </a:r>
            <a:r>
              <a:rPr lang="zh-CN" altLang="en-US" dirty="0" smtClean="0">
                <a:ea typeface="黑体" panose="02010609060101010101" pitchFamily="2" charset="-122"/>
              </a:rPr>
              <a:t>隔开：</a:t>
            </a:r>
            <a:endParaRPr lang="zh-CN" altLang="en-US" dirty="0" smtClean="0">
              <a:ea typeface="黑体" panose="02010609060101010101" pitchFamily="2" charset="-122"/>
            </a:endParaRPr>
          </a:p>
          <a:p>
            <a:pPr eaLnBrk="1" hangingPunct="1">
              <a:spcAft>
                <a:spcPct val="60000"/>
              </a:spcAft>
              <a:buFont typeface="Wingdings" panose="05000000000000000000" pitchFamily="2" charset="2"/>
              <a:buNone/>
            </a:pPr>
            <a:r>
              <a:rPr lang="zh-CN" altLang="en-US" dirty="0" smtClean="0">
                <a:ea typeface="黑体" panose="02010609060101010101" pitchFamily="2" charset="-122"/>
              </a:rPr>
              <a:t>              </a:t>
            </a:r>
            <a:r>
              <a:rPr lang="en-US" altLang="zh-CN" dirty="0" smtClean="0">
                <a:ea typeface="黑体" panose="02010609060101010101" pitchFamily="2" charset="-122"/>
              </a:rPr>
              <a:t>… . </a:t>
            </a:r>
            <a:r>
              <a:rPr lang="zh-CN" altLang="en-US" dirty="0" smtClean="0">
                <a:ea typeface="黑体" panose="02010609060101010101" pitchFamily="2" charset="-122"/>
              </a:rPr>
              <a:t>三级域名 </a:t>
            </a:r>
            <a:r>
              <a:rPr lang="en-US" altLang="zh-CN" dirty="0" smtClean="0">
                <a:ea typeface="黑体" panose="02010609060101010101" pitchFamily="2" charset="-122"/>
              </a:rPr>
              <a:t>. </a:t>
            </a:r>
            <a:r>
              <a:rPr lang="zh-CN" altLang="en-US" dirty="0" smtClean="0">
                <a:ea typeface="黑体" panose="02010609060101010101" pitchFamily="2" charset="-122"/>
              </a:rPr>
              <a:t>二级域名 </a:t>
            </a:r>
            <a:r>
              <a:rPr lang="en-US" altLang="zh-CN" dirty="0" smtClean="0">
                <a:ea typeface="黑体" panose="02010609060101010101" pitchFamily="2" charset="-122"/>
              </a:rPr>
              <a:t>. </a:t>
            </a:r>
            <a:r>
              <a:rPr lang="zh-CN" altLang="en-US" dirty="0" smtClean="0">
                <a:ea typeface="黑体" panose="02010609060101010101" pitchFamily="2" charset="-122"/>
              </a:rPr>
              <a:t>顶级域名</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各标号分别代表不同级别的域名。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域名只是个逻辑概念</a:t>
            </a:r>
            <a:endParaRPr lang="zh-CN" altLang="en-US" dirty="0" smtClean="0">
              <a:ea typeface="黑体" panose="02010609060101010101" pitchFamily="2" charset="-122"/>
            </a:endParaRPr>
          </a:p>
        </p:txBody>
      </p:sp>
      <p:sp>
        <p:nvSpPr>
          <p:cNvPr id="34819" name="Rectangle 3"/>
          <p:cNvSpPr>
            <a:spLocks noGrp="1" noChangeArrowheads="1"/>
          </p:cNvSpPr>
          <p:nvPr>
            <p:ph idx="1"/>
          </p:nvPr>
        </p:nvSpPr>
        <p:spPr/>
        <p:txBody>
          <a:bodyPr/>
          <a:lstStyle/>
          <a:p>
            <a:pPr eaLnBrk="1" hangingPunct="1"/>
            <a:r>
              <a:rPr lang="zh-CN" altLang="en-US" dirty="0" smtClean="0">
                <a:ea typeface="黑体" panose="02010609060101010101" pitchFamily="2" charset="-122"/>
              </a:rPr>
              <a:t>域名只是个</a:t>
            </a:r>
            <a:r>
              <a:rPr lang="zh-CN" altLang="en-US" dirty="0" smtClean="0">
                <a:solidFill>
                  <a:srgbClr val="FF0000"/>
                </a:solidFill>
                <a:ea typeface="黑体" panose="02010609060101010101" pitchFamily="2" charset="-122"/>
              </a:rPr>
              <a:t>逻辑概念，</a:t>
            </a:r>
            <a:r>
              <a:rPr lang="zh-CN" altLang="en-US" dirty="0" smtClean="0">
                <a:ea typeface="黑体" panose="02010609060101010101" pitchFamily="2" charset="-122"/>
              </a:rPr>
              <a:t>并不代表计算机所在的物理地点。</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变长的域名和使用</a:t>
            </a:r>
            <a:r>
              <a:rPr lang="zh-CN" altLang="en-US" dirty="0" smtClean="0">
                <a:solidFill>
                  <a:srgbClr val="FF0000"/>
                </a:solidFill>
                <a:ea typeface="黑体" panose="02010609060101010101" pitchFamily="2" charset="-122"/>
              </a:rPr>
              <a:t>有助记忆的字符串</a:t>
            </a:r>
            <a:r>
              <a:rPr lang="zh-CN" altLang="en-US" dirty="0" smtClean="0">
                <a:ea typeface="黑体" panose="02010609060101010101" pitchFamily="2" charset="-122"/>
              </a:rPr>
              <a:t>，是为了</a:t>
            </a:r>
            <a:r>
              <a:rPr lang="zh-CN" altLang="en-US" dirty="0" smtClean="0">
                <a:solidFill>
                  <a:srgbClr val="FF0000"/>
                </a:solidFill>
                <a:ea typeface="黑体" panose="02010609060101010101" pitchFamily="2" charset="-122"/>
              </a:rPr>
              <a:t>便于人来使用</a:t>
            </a:r>
            <a:r>
              <a:rPr lang="zh-CN" altLang="en-US" dirty="0" smtClean="0">
                <a:ea typeface="黑体" panose="02010609060101010101" pitchFamily="2" charset="-122"/>
              </a:rPr>
              <a:t>。而 </a:t>
            </a:r>
            <a:r>
              <a:rPr lang="en-US" altLang="zh-CN" dirty="0" smtClean="0">
                <a:ea typeface="黑体" panose="02010609060101010101" pitchFamily="2" charset="-122"/>
              </a:rPr>
              <a:t>IP </a:t>
            </a:r>
            <a:r>
              <a:rPr lang="zh-CN" altLang="en-US" dirty="0" smtClean="0">
                <a:ea typeface="黑体" panose="02010609060101010101" pitchFamily="2" charset="-122"/>
              </a:rPr>
              <a:t>地址是</a:t>
            </a:r>
            <a:r>
              <a:rPr lang="zh-CN" altLang="en-US" dirty="0" smtClean="0">
                <a:solidFill>
                  <a:srgbClr val="FF0000"/>
                </a:solidFill>
                <a:ea typeface="黑体" panose="02010609060101010101" pitchFamily="2" charset="-122"/>
              </a:rPr>
              <a:t>定长的 </a:t>
            </a:r>
            <a:r>
              <a:rPr lang="en-US" altLang="zh-CN" dirty="0" smtClean="0">
                <a:solidFill>
                  <a:srgbClr val="FF0000"/>
                </a:solidFill>
                <a:ea typeface="黑体" panose="02010609060101010101" pitchFamily="2" charset="-122"/>
              </a:rPr>
              <a:t>32 </a:t>
            </a:r>
            <a:r>
              <a:rPr lang="zh-CN" altLang="en-US" dirty="0" smtClean="0">
                <a:solidFill>
                  <a:srgbClr val="FF0000"/>
                </a:solidFill>
                <a:ea typeface="黑体" panose="02010609060101010101" pitchFamily="2" charset="-122"/>
              </a:rPr>
              <a:t>位二进制数字</a:t>
            </a:r>
            <a:r>
              <a:rPr lang="zh-CN" altLang="en-US" dirty="0" smtClean="0">
                <a:ea typeface="黑体" panose="02010609060101010101" pitchFamily="2" charset="-122"/>
              </a:rPr>
              <a:t>则非常</a:t>
            </a:r>
            <a:r>
              <a:rPr lang="zh-CN" altLang="en-US" dirty="0" smtClean="0">
                <a:solidFill>
                  <a:srgbClr val="FF0000"/>
                </a:solidFill>
                <a:ea typeface="黑体" panose="02010609060101010101" pitchFamily="2" charset="-122"/>
              </a:rPr>
              <a:t>便于机器进行处理</a:t>
            </a:r>
            <a:r>
              <a:rPr lang="zh-CN" altLang="en-US" dirty="0" smtClean="0">
                <a:ea typeface="黑体" panose="02010609060101010101" pitchFamily="2" charset="-122"/>
              </a:rPr>
              <a:t>。</a:t>
            </a:r>
            <a:endParaRPr lang="zh-CN" altLang="en-US" dirty="0" smtClean="0">
              <a:ea typeface="黑体" panose="02010609060101010101" pitchFamily="2" charset="-122"/>
            </a:endParaRPr>
          </a:p>
          <a:p>
            <a:pPr eaLnBrk="1" hangingPunct="1"/>
            <a:r>
              <a:rPr lang="zh-CN" altLang="en-US" dirty="0" smtClean="0">
                <a:solidFill>
                  <a:srgbClr val="FF0000"/>
                </a:solidFill>
                <a:ea typeface="黑体" panose="02010609060101010101" pitchFamily="2" charset="-122"/>
              </a:rPr>
              <a:t>域名中的“点”和点分十进制 </a:t>
            </a:r>
            <a:r>
              <a:rPr lang="en-US" altLang="zh-CN" dirty="0" smtClean="0">
                <a:solidFill>
                  <a:srgbClr val="FF0000"/>
                </a:solidFill>
                <a:ea typeface="黑体" panose="02010609060101010101" pitchFamily="2" charset="-122"/>
              </a:rPr>
              <a:t>IP </a:t>
            </a:r>
            <a:r>
              <a:rPr lang="zh-CN" altLang="en-US" dirty="0" smtClean="0">
                <a:solidFill>
                  <a:srgbClr val="FF0000"/>
                </a:solidFill>
                <a:ea typeface="黑体" panose="02010609060101010101" pitchFamily="2" charset="-122"/>
              </a:rPr>
              <a:t>地址中的“点”并无一一对应的关系。</a:t>
            </a:r>
            <a:r>
              <a:rPr lang="zh-CN" altLang="en-US" dirty="0" smtClean="0">
                <a:ea typeface="黑体" panose="02010609060101010101" pitchFamily="2" charset="-122"/>
              </a:rPr>
              <a:t>点分十进制 </a:t>
            </a:r>
            <a:r>
              <a:rPr lang="en-US" altLang="zh-CN" dirty="0" smtClean="0">
                <a:ea typeface="黑体" panose="02010609060101010101" pitchFamily="2" charset="-122"/>
              </a:rPr>
              <a:t>IP </a:t>
            </a:r>
            <a:r>
              <a:rPr lang="zh-CN" altLang="en-US" dirty="0" smtClean="0">
                <a:ea typeface="黑体" panose="02010609060101010101" pitchFamily="2" charset="-122"/>
              </a:rPr>
              <a:t>地址中一定是包含三个“点”，但每一个域名中“点”的数目则不一定正好是三个。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96800" y="188640"/>
            <a:ext cx="8704672" cy="792000"/>
          </a:xfrm>
        </p:spPr>
        <p:txBody>
          <a:bodyPr/>
          <a:lstStyle/>
          <a:p>
            <a:pPr algn="ctr" eaLnBrk="1" hangingPunct="1">
              <a:defRPr/>
            </a:pPr>
            <a:r>
              <a:rPr lang="zh-CN" altLang="en-US" sz="4000" dirty="0"/>
              <a:t>顶级域名 </a:t>
            </a:r>
            <a:r>
              <a:rPr lang="en-US" altLang="zh-CN" sz="4000" dirty="0" smtClean="0"/>
              <a:t>TLD(Top </a:t>
            </a:r>
            <a:r>
              <a:rPr lang="en-US" altLang="zh-CN" sz="4000" dirty="0"/>
              <a:t>Level Domain)</a:t>
            </a:r>
            <a:endParaRPr lang="en-US" altLang="zh-CN" sz="4000" dirty="0"/>
          </a:p>
        </p:txBody>
      </p:sp>
      <p:sp>
        <p:nvSpPr>
          <p:cNvPr id="131136" name="Rectangle 64"/>
          <p:cNvSpPr>
            <a:spLocks noGrp="1" noChangeArrowheads="1"/>
          </p:cNvSpPr>
          <p:nvPr>
            <p:ph idx="1"/>
          </p:nvPr>
        </p:nvSpPr>
        <p:spPr/>
        <p:txBody>
          <a:bodyPr/>
          <a:lstStyle/>
          <a:p>
            <a:pPr>
              <a:defRPr/>
            </a:pPr>
            <a:r>
              <a:rPr lang="en-US" altLang="zh-CN" dirty="0">
                <a:solidFill>
                  <a:srgbClr val="FF0000"/>
                </a:solidFill>
              </a:rPr>
              <a:t>(1) </a:t>
            </a:r>
            <a:r>
              <a:rPr lang="zh-CN" altLang="en-US" dirty="0">
                <a:solidFill>
                  <a:srgbClr val="FF0000"/>
                </a:solidFill>
              </a:rPr>
              <a:t>国家顶级域名 </a:t>
            </a:r>
            <a:r>
              <a:rPr lang="en-US" altLang="zh-CN" dirty="0" err="1" smtClean="0">
                <a:solidFill>
                  <a:srgbClr val="FF0000"/>
                </a:solidFill>
              </a:rPr>
              <a:t>nTLD</a:t>
            </a:r>
            <a:endParaRPr lang="en-US" altLang="zh-CN" dirty="0">
              <a:solidFill>
                <a:srgbClr val="FF0000"/>
              </a:solidFill>
            </a:endParaRPr>
          </a:p>
          <a:p>
            <a:pPr marL="0" indent="0">
              <a:buNone/>
              <a:defRPr/>
            </a:pPr>
            <a:r>
              <a:rPr lang="en-US" altLang="zh-CN" dirty="0" smtClean="0"/>
              <a:t>	.</a:t>
            </a:r>
            <a:r>
              <a:rPr lang="en-US" altLang="zh-CN" dirty="0" err="1"/>
              <a:t>cn</a:t>
            </a:r>
            <a:r>
              <a:rPr lang="en-US" altLang="zh-CN" dirty="0"/>
              <a:t> </a:t>
            </a:r>
            <a:r>
              <a:rPr lang="zh-CN" altLang="en-US" dirty="0"/>
              <a:t>表示中国</a:t>
            </a:r>
            <a:r>
              <a:rPr lang="zh-CN" altLang="en-US" dirty="0" smtClean="0"/>
              <a:t>，</a:t>
            </a:r>
            <a:endParaRPr lang="en-US" altLang="zh-CN" dirty="0" smtClean="0"/>
          </a:p>
          <a:p>
            <a:pPr marL="0" indent="0">
              <a:buNone/>
              <a:defRPr/>
            </a:pPr>
            <a:r>
              <a:rPr lang="en-US" altLang="zh-CN" dirty="0"/>
              <a:t>	</a:t>
            </a:r>
            <a:r>
              <a:rPr lang="en-US" altLang="zh-CN" dirty="0" smtClean="0"/>
              <a:t>.</a:t>
            </a:r>
            <a:r>
              <a:rPr lang="en-US" altLang="zh-CN" dirty="0"/>
              <a:t>us </a:t>
            </a:r>
            <a:r>
              <a:rPr lang="zh-CN" altLang="en-US" dirty="0"/>
              <a:t>表示美国</a:t>
            </a:r>
            <a:r>
              <a:rPr lang="zh-CN" altLang="en-US" dirty="0" smtClean="0"/>
              <a:t>，</a:t>
            </a:r>
            <a:endParaRPr lang="en-US" altLang="zh-CN" dirty="0" smtClean="0"/>
          </a:p>
          <a:p>
            <a:pPr marL="0" indent="0">
              <a:buNone/>
              <a:defRPr/>
            </a:pPr>
            <a:r>
              <a:rPr lang="en-US" altLang="zh-CN" dirty="0"/>
              <a:t>	</a:t>
            </a:r>
            <a:r>
              <a:rPr lang="en-US" altLang="zh-CN" dirty="0" smtClean="0"/>
              <a:t>.</a:t>
            </a:r>
            <a:r>
              <a:rPr lang="en-US" altLang="zh-CN" dirty="0" err="1"/>
              <a:t>uk</a:t>
            </a:r>
            <a:r>
              <a:rPr lang="en-US" altLang="zh-CN" dirty="0"/>
              <a:t> </a:t>
            </a:r>
            <a:r>
              <a:rPr lang="zh-CN" altLang="en-US" dirty="0"/>
              <a:t>表示英国，等等</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96800" y="188640"/>
            <a:ext cx="8632664" cy="792000"/>
          </a:xfrm>
        </p:spPr>
        <p:txBody>
          <a:bodyPr/>
          <a:lstStyle/>
          <a:p>
            <a:pPr algn="ctr" eaLnBrk="1" hangingPunct="1">
              <a:defRPr/>
            </a:pPr>
            <a:r>
              <a:rPr lang="zh-CN" altLang="en-US" sz="4000" dirty="0"/>
              <a:t>顶级域名 </a:t>
            </a:r>
            <a:r>
              <a:rPr lang="en-US" altLang="zh-CN" sz="4000" dirty="0" smtClean="0"/>
              <a:t>TLD (Top </a:t>
            </a:r>
            <a:r>
              <a:rPr lang="en-US" altLang="zh-CN" sz="4000" dirty="0"/>
              <a:t>Level Domain)</a:t>
            </a:r>
            <a:endParaRPr lang="en-US" altLang="zh-CN" sz="4000" dirty="0"/>
          </a:p>
        </p:txBody>
      </p:sp>
      <p:sp>
        <p:nvSpPr>
          <p:cNvPr id="131136" name="Rectangle 64"/>
          <p:cNvSpPr>
            <a:spLocks noGrp="1" noChangeArrowheads="1"/>
          </p:cNvSpPr>
          <p:nvPr>
            <p:ph idx="1"/>
          </p:nvPr>
        </p:nvSpPr>
        <p:spPr/>
        <p:txBody>
          <a:bodyPr/>
          <a:lstStyle/>
          <a:p>
            <a:pPr>
              <a:defRPr/>
            </a:pPr>
            <a:r>
              <a:rPr lang="en-US" altLang="zh-CN" dirty="0" smtClean="0">
                <a:solidFill>
                  <a:srgbClr val="FF0000"/>
                </a:solidFill>
              </a:rPr>
              <a:t>(</a:t>
            </a:r>
            <a:r>
              <a:rPr lang="en-US" altLang="zh-CN" dirty="0">
                <a:solidFill>
                  <a:srgbClr val="FF0000"/>
                </a:solidFill>
              </a:rPr>
              <a:t>2) </a:t>
            </a:r>
            <a:r>
              <a:rPr lang="zh-CN" altLang="en-US" dirty="0">
                <a:solidFill>
                  <a:srgbClr val="FF0000"/>
                </a:solidFill>
              </a:rPr>
              <a:t>通用顶级域名 </a:t>
            </a:r>
            <a:r>
              <a:rPr lang="en-US" altLang="zh-CN" dirty="0" err="1" smtClean="0">
                <a:solidFill>
                  <a:srgbClr val="FF0000"/>
                </a:solidFill>
              </a:rPr>
              <a:t>gTLD</a:t>
            </a:r>
            <a:endParaRPr lang="en-US" altLang="zh-CN" dirty="0" smtClean="0">
              <a:solidFill>
                <a:srgbClr val="FF0000"/>
              </a:solidFill>
            </a:endParaRPr>
          </a:p>
          <a:p>
            <a:pPr marL="0" indent="0">
              <a:lnSpc>
                <a:spcPct val="100000"/>
              </a:lnSpc>
              <a:buNone/>
              <a:defRPr/>
            </a:pPr>
            <a:r>
              <a:rPr lang="en-US" altLang="zh-CN" dirty="0"/>
              <a:t>	</a:t>
            </a:r>
            <a:r>
              <a:rPr lang="zh-CN" altLang="en-US" dirty="0" smtClean="0"/>
              <a:t>最早</a:t>
            </a:r>
            <a:r>
              <a:rPr lang="zh-CN" altLang="en-US" dirty="0"/>
              <a:t>的顶级域名是</a:t>
            </a:r>
            <a:r>
              <a:rPr lang="zh-CN" altLang="en-US" dirty="0" smtClean="0"/>
              <a:t>：</a:t>
            </a:r>
            <a:endParaRPr lang="en-US" altLang="zh-CN" dirty="0" smtClean="0"/>
          </a:p>
          <a:p>
            <a:pPr marL="0" indent="0">
              <a:lnSpc>
                <a:spcPct val="100000"/>
              </a:lnSpc>
              <a:buNone/>
              <a:defRPr/>
            </a:pPr>
            <a:r>
              <a:rPr lang="en-US" altLang="zh-CN" dirty="0"/>
              <a:t>	</a:t>
            </a:r>
            <a:r>
              <a:rPr lang="en-US" altLang="zh-CN" sz="3600" dirty="0" smtClean="0"/>
              <a:t>.</a:t>
            </a:r>
            <a:r>
              <a:rPr lang="en-US" altLang="zh-CN" sz="2800" dirty="0" smtClean="0"/>
              <a:t>com	</a:t>
            </a:r>
            <a:r>
              <a:rPr lang="zh-CN" altLang="en-US" sz="2800" dirty="0" smtClean="0"/>
              <a:t>（</a:t>
            </a:r>
            <a:r>
              <a:rPr lang="zh-CN" altLang="en-US" sz="2800" dirty="0"/>
              <a:t>公司和企业</a:t>
            </a:r>
            <a:r>
              <a:rPr lang="zh-CN" altLang="en-US" sz="2800" dirty="0" smtClean="0"/>
              <a:t>）</a:t>
            </a:r>
            <a:endParaRPr lang="en-US" altLang="zh-CN" sz="2800" dirty="0" smtClean="0"/>
          </a:p>
          <a:p>
            <a:pPr marL="0" indent="0">
              <a:lnSpc>
                <a:spcPct val="100000"/>
              </a:lnSpc>
              <a:buNone/>
              <a:defRPr/>
            </a:pPr>
            <a:r>
              <a:rPr lang="en-US" altLang="zh-CN" sz="2800" dirty="0"/>
              <a:t>	</a:t>
            </a:r>
            <a:r>
              <a:rPr lang="en-US" altLang="zh-CN" sz="2800" dirty="0" err="1" smtClean="0"/>
              <a:t>.net</a:t>
            </a:r>
            <a:r>
              <a:rPr lang="en-US" altLang="zh-CN" sz="2800" dirty="0" smtClean="0"/>
              <a:t>	</a:t>
            </a:r>
            <a:r>
              <a:rPr lang="zh-CN" altLang="en-US" sz="2800" dirty="0" smtClean="0"/>
              <a:t>（</a:t>
            </a:r>
            <a:r>
              <a:rPr lang="zh-CN" altLang="en-US" sz="2800" dirty="0"/>
              <a:t>网络服务</a:t>
            </a:r>
            <a:r>
              <a:rPr lang="zh-CN" altLang="en-US" sz="2800" dirty="0" smtClean="0"/>
              <a:t>机构）</a:t>
            </a:r>
            <a:endParaRPr lang="en-US" altLang="zh-CN" sz="2800" dirty="0"/>
          </a:p>
          <a:p>
            <a:pPr marL="0" indent="0">
              <a:lnSpc>
                <a:spcPct val="100000"/>
              </a:lnSpc>
              <a:buNone/>
              <a:defRPr/>
            </a:pPr>
            <a:r>
              <a:rPr lang="en-US" altLang="zh-CN" sz="2800" dirty="0" smtClean="0"/>
              <a:t>	.org	</a:t>
            </a:r>
            <a:r>
              <a:rPr lang="zh-CN" altLang="en-US" sz="2800" dirty="0" smtClean="0"/>
              <a:t>（</a:t>
            </a:r>
            <a:r>
              <a:rPr lang="zh-CN" altLang="en-US" sz="2800" dirty="0"/>
              <a:t>非赢利性组织</a:t>
            </a:r>
            <a:r>
              <a:rPr lang="zh-CN" altLang="en-US" sz="2800" dirty="0" smtClean="0"/>
              <a:t>）</a:t>
            </a:r>
            <a:endParaRPr lang="en-US" altLang="zh-CN" sz="2800" dirty="0" smtClean="0"/>
          </a:p>
          <a:p>
            <a:pPr marL="0" indent="0">
              <a:lnSpc>
                <a:spcPct val="100000"/>
              </a:lnSpc>
              <a:buNone/>
              <a:defRPr/>
            </a:pPr>
            <a:r>
              <a:rPr lang="en-US" altLang="zh-CN" sz="2800" dirty="0" smtClean="0"/>
              <a:t>	.</a:t>
            </a:r>
            <a:r>
              <a:rPr lang="en-US" altLang="zh-CN" sz="2800" dirty="0" err="1" smtClean="0"/>
              <a:t>edu</a:t>
            </a:r>
            <a:r>
              <a:rPr lang="en-US" altLang="zh-CN" sz="2800" dirty="0" smtClean="0"/>
              <a:t>	</a:t>
            </a:r>
            <a:r>
              <a:rPr lang="zh-CN" altLang="en-US" sz="2800" dirty="0" smtClean="0"/>
              <a:t>（</a:t>
            </a:r>
            <a:r>
              <a:rPr lang="zh-CN" altLang="en-US" sz="2800" dirty="0"/>
              <a:t>美国专用的教育</a:t>
            </a:r>
            <a:r>
              <a:rPr lang="zh-CN" altLang="en-US" sz="2800" dirty="0" smtClean="0"/>
              <a:t>机构）</a:t>
            </a:r>
            <a:endParaRPr lang="en-US" altLang="zh-CN" sz="2800" dirty="0" smtClean="0"/>
          </a:p>
          <a:p>
            <a:pPr marL="0" indent="0">
              <a:lnSpc>
                <a:spcPct val="100000"/>
              </a:lnSpc>
              <a:buNone/>
              <a:defRPr/>
            </a:pPr>
            <a:r>
              <a:rPr lang="en-US" altLang="zh-CN" sz="2800" dirty="0"/>
              <a:t>	</a:t>
            </a:r>
            <a:r>
              <a:rPr lang="en-US" altLang="zh-CN" sz="2800" dirty="0" smtClean="0"/>
              <a:t>.</a:t>
            </a:r>
            <a:r>
              <a:rPr lang="en-US" altLang="zh-CN" sz="2800" dirty="0" err="1" smtClean="0"/>
              <a:t>gov</a:t>
            </a:r>
            <a:r>
              <a:rPr lang="en-US" altLang="zh-CN" sz="2800" dirty="0" smtClean="0"/>
              <a:t>	</a:t>
            </a:r>
            <a:r>
              <a:rPr lang="zh-CN" altLang="en-US" sz="2800" dirty="0" smtClean="0"/>
              <a:t>（</a:t>
            </a:r>
            <a:r>
              <a:rPr lang="zh-CN" altLang="en-US" sz="2800" dirty="0"/>
              <a:t>美国专用的政府部门</a:t>
            </a:r>
            <a:r>
              <a:rPr lang="zh-CN" altLang="en-US" sz="2800" dirty="0" smtClean="0"/>
              <a:t>）</a:t>
            </a:r>
            <a:endParaRPr lang="en-US" altLang="zh-CN" sz="2800" dirty="0" smtClean="0"/>
          </a:p>
          <a:p>
            <a:pPr marL="0" indent="0">
              <a:lnSpc>
                <a:spcPct val="100000"/>
              </a:lnSpc>
              <a:buNone/>
              <a:defRPr/>
            </a:pPr>
            <a:r>
              <a:rPr lang="en-US" altLang="zh-CN" sz="2800" dirty="0"/>
              <a:t>	</a:t>
            </a:r>
            <a:r>
              <a:rPr lang="en-US" altLang="zh-CN" sz="2800" dirty="0" smtClean="0"/>
              <a:t>.mil	</a:t>
            </a:r>
            <a:r>
              <a:rPr lang="zh-CN" altLang="en-US" sz="2800" dirty="0" smtClean="0"/>
              <a:t>（</a:t>
            </a:r>
            <a:r>
              <a:rPr lang="zh-CN" altLang="en-US" sz="2800" dirty="0"/>
              <a:t>美国专用的军事部门</a:t>
            </a:r>
            <a:r>
              <a:rPr lang="zh-CN" altLang="en-US" sz="2800" dirty="0" smtClean="0"/>
              <a:t>）</a:t>
            </a:r>
            <a:endParaRPr lang="en-US" altLang="zh-CN" sz="2800" dirty="0" smtClean="0"/>
          </a:p>
          <a:p>
            <a:pPr marL="0" indent="0">
              <a:lnSpc>
                <a:spcPct val="100000"/>
              </a:lnSpc>
              <a:buNone/>
              <a:defRPr/>
            </a:pPr>
            <a:r>
              <a:rPr lang="en-US" altLang="zh-CN" sz="2800" dirty="0"/>
              <a:t>	</a:t>
            </a:r>
            <a:r>
              <a:rPr lang="en-US" altLang="zh-CN" sz="2800" dirty="0" smtClean="0"/>
              <a:t>.</a:t>
            </a:r>
            <a:r>
              <a:rPr lang="en-US" altLang="zh-CN" sz="2800" dirty="0" err="1" smtClean="0"/>
              <a:t>int</a:t>
            </a:r>
            <a:r>
              <a:rPr lang="en-US" altLang="zh-CN" sz="2800" dirty="0" smtClean="0"/>
              <a:t>	</a:t>
            </a:r>
            <a:r>
              <a:rPr lang="zh-CN" altLang="en-US" sz="2800" dirty="0" smtClean="0"/>
              <a:t>（</a:t>
            </a:r>
            <a:r>
              <a:rPr lang="zh-CN" altLang="en-US" sz="2800" dirty="0"/>
              <a:t>国际组织）</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11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11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11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11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11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113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113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11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p:txBody>
          <a:bodyPr/>
          <a:lstStyle/>
          <a:p>
            <a:pPr algn="ctr" eaLnBrk="1" hangingPunct="1">
              <a:defRPr/>
            </a:pPr>
            <a:r>
              <a:rPr lang="zh-CN" altLang="en-US" dirty="0"/>
              <a:t>顶级域名 </a:t>
            </a:r>
            <a:r>
              <a:rPr lang="en-US" altLang="zh-CN" dirty="0"/>
              <a:t>TLD </a:t>
            </a:r>
            <a:r>
              <a:rPr lang="zh-CN" altLang="en-US" dirty="0"/>
              <a:t>（续）</a:t>
            </a:r>
            <a:endParaRPr lang="zh-CN" altLang="en-US" sz="4000" dirty="0"/>
          </a:p>
        </p:txBody>
      </p:sp>
      <p:sp>
        <p:nvSpPr>
          <p:cNvPr id="1062915" name="Rectangle 3"/>
          <p:cNvSpPr>
            <a:spLocks noGrp="1" noChangeArrowheads="1"/>
          </p:cNvSpPr>
          <p:nvPr>
            <p:ph idx="1"/>
          </p:nvPr>
        </p:nvSpPr>
        <p:spPr/>
        <p:txBody>
          <a:bodyPr/>
          <a:lstStyle/>
          <a:p>
            <a:pPr>
              <a:spcBef>
                <a:spcPts val="555"/>
              </a:spcBef>
              <a:defRPr/>
            </a:pPr>
            <a:r>
              <a:rPr lang="en-US" altLang="zh-CN" dirty="0">
                <a:solidFill>
                  <a:srgbClr val="FF0000"/>
                </a:solidFill>
              </a:rPr>
              <a:t>(3) </a:t>
            </a:r>
            <a:r>
              <a:rPr lang="zh-CN" altLang="en-US" dirty="0">
                <a:solidFill>
                  <a:srgbClr val="FF0000"/>
                </a:solidFill>
              </a:rPr>
              <a:t>基础结构</a:t>
            </a:r>
            <a:r>
              <a:rPr lang="zh-CN" altLang="en-US" dirty="0" smtClean="0">
                <a:solidFill>
                  <a:srgbClr val="FF0000"/>
                </a:solidFill>
              </a:rPr>
              <a:t>域名 </a:t>
            </a:r>
            <a:r>
              <a:rPr lang="en-US" altLang="zh-CN" dirty="0" smtClean="0">
                <a:solidFill>
                  <a:srgbClr val="FF0000"/>
                </a:solidFill>
              </a:rPr>
              <a:t>(</a:t>
            </a:r>
            <a:r>
              <a:rPr lang="en-US" altLang="zh-CN" dirty="0">
                <a:solidFill>
                  <a:srgbClr val="FF0000"/>
                </a:solidFill>
              </a:rPr>
              <a:t>infrastructure domain</a:t>
            </a:r>
            <a:r>
              <a:rPr lang="en-US" altLang="zh-CN" dirty="0" smtClean="0">
                <a:solidFill>
                  <a:srgbClr val="FF0000"/>
                </a:solidFill>
              </a:rPr>
              <a:t>)</a:t>
            </a:r>
            <a:endParaRPr lang="en-US" altLang="zh-CN" dirty="0" smtClean="0">
              <a:solidFill>
                <a:srgbClr val="FF0000"/>
              </a:solidFill>
            </a:endParaRPr>
          </a:p>
          <a:p>
            <a:pPr marL="0" indent="0">
              <a:spcBef>
                <a:spcPts val="555"/>
              </a:spcBef>
              <a:buNone/>
              <a:defRPr/>
            </a:pPr>
            <a:r>
              <a:rPr lang="en-US" altLang="zh-CN" dirty="0" smtClean="0"/>
              <a:t>	</a:t>
            </a:r>
            <a:r>
              <a:rPr lang="zh-CN" altLang="en-US" dirty="0" smtClean="0"/>
              <a:t>这种</a:t>
            </a:r>
            <a:r>
              <a:rPr lang="zh-CN" altLang="en-US" dirty="0"/>
              <a:t>顶级域名只有一个，即 </a:t>
            </a:r>
            <a:r>
              <a:rPr lang="en-US" altLang="zh-CN" dirty="0" err="1">
                <a:solidFill>
                  <a:srgbClr val="FF0000"/>
                </a:solidFill>
              </a:rPr>
              <a:t>arpa</a:t>
            </a:r>
            <a:r>
              <a:rPr lang="zh-CN" altLang="en-US" dirty="0" smtClean="0">
                <a:solidFill>
                  <a:srgbClr val="FF0000"/>
                </a:solidFill>
              </a:rPr>
              <a:t>，</a:t>
            </a:r>
            <a:endParaRPr lang="en-US" altLang="zh-CN" dirty="0" smtClean="0">
              <a:solidFill>
                <a:srgbClr val="FF0000"/>
              </a:solidFill>
            </a:endParaRPr>
          </a:p>
          <a:p>
            <a:pPr marL="0" indent="0">
              <a:spcBef>
                <a:spcPts val="555"/>
              </a:spcBef>
              <a:buNone/>
              <a:defRPr/>
            </a:pPr>
            <a:r>
              <a:rPr lang="en-US" altLang="zh-CN" dirty="0">
                <a:solidFill>
                  <a:srgbClr val="FF0000"/>
                </a:solidFill>
              </a:rPr>
              <a:t>	</a:t>
            </a:r>
            <a:r>
              <a:rPr lang="zh-CN" altLang="en-US" dirty="0" smtClean="0"/>
              <a:t>用于</a:t>
            </a:r>
            <a:r>
              <a:rPr lang="zh-CN" altLang="en-US" dirty="0"/>
              <a:t>反向域名解析，因此又称为</a:t>
            </a:r>
            <a:r>
              <a:rPr lang="zh-CN" altLang="en-US" dirty="0">
                <a:solidFill>
                  <a:srgbClr val="FF0000"/>
                </a:solidFill>
              </a:rPr>
              <a:t>反向域名。</a:t>
            </a: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95300" y="188913"/>
            <a:ext cx="9066742" cy="792162"/>
          </a:xfrm>
        </p:spPr>
        <p:txBody>
          <a:bodyPr/>
          <a:lstStyle/>
          <a:p>
            <a:pPr algn="ctr" eaLnBrk="1" hangingPunct="1"/>
            <a:r>
              <a:rPr lang="zh-CN" altLang="en-US" dirty="0" smtClean="0">
                <a:ea typeface="黑体" panose="02010609060101010101" pitchFamily="2" charset="-122"/>
              </a:rPr>
              <a:t>新增加了下列的通用顶级域名 </a:t>
            </a:r>
            <a:endParaRPr lang="zh-CN" altLang="en-US" dirty="0" smtClean="0">
              <a:ea typeface="黑体" panose="02010609060101010101" pitchFamily="2" charset="-122"/>
            </a:endParaRPr>
          </a:p>
        </p:txBody>
      </p:sp>
      <p:sp>
        <p:nvSpPr>
          <p:cNvPr id="39939" name="Rectangle 3"/>
          <p:cNvSpPr>
            <a:spLocks noGrp="1" noChangeArrowheads="1"/>
          </p:cNvSpPr>
          <p:nvPr>
            <p:ph idx="1"/>
          </p:nvPr>
        </p:nvSpPr>
        <p:spPr>
          <a:xfrm>
            <a:off x="495300" y="1196975"/>
            <a:ext cx="9066742" cy="4933950"/>
          </a:xfrm>
        </p:spPr>
        <p:txBody>
          <a:bodyPr/>
          <a:lstStyle/>
          <a:p>
            <a:pPr marL="400050" lvl="1" indent="0">
              <a:lnSpc>
                <a:spcPct val="90000"/>
              </a:lnSpc>
              <a:buNone/>
            </a:pPr>
            <a:r>
              <a:rPr lang="en-US" altLang="zh-CN" dirty="0" smtClean="0">
                <a:ea typeface="黑体" panose="02010609060101010101" pitchFamily="2" charset="-122"/>
              </a:rPr>
              <a:t>.aero 	</a:t>
            </a:r>
            <a:r>
              <a:rPr lang="zh-CN" altLang="en-US" dirty="0" smtClean="0">
                <a:ea typeface="黑体" panose="02010609060101010101" pitchFamily="2" charset="-122"/>
              </a:rPr>
              <a:t>（航空运输企业）</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.biz	</a:t>
            </a:r>
            <a:r>
              <a:rPr lang="zh-CN" altLang="en-US" dirty="0" smtClean="0">
                <a:ea typeface="黑体" panose="02010609060101010101" pitchFamily="2" charset="-122"/>
              </a:rPr>
              <a:t>（公司和企业）</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.cat	</a:t>
            </a:r>
            <a:r>
              <a:rPr lang="zh-CN" altLang="en-US" dirty="0" smtClean="0">
                <a:ea typeface="黑体" panose="02010609060101010101" pitchFamily="2" charset="-122"/>
              </a:rPr>
              <a:t>（加泰隆人的语言和文化团体）</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.coop	</a:t>
            </a:r>
            <a:r>
              <a:rPr lang="zh-CN" altLang="en-US" dirty="0" smtClean="0">
                <a:ea typeface="黑体" panose="02010609060101010101" pitchFamily="2" charset="-122"/>
              </a:rPr>
              <a:t>（合作团体）</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.info	</a:t>
            </a:r>
            <a:r>
              <a:rPr lang="zh-CN" altLang="en-US" dirty="0" smtClean="0">
                <a:ea typeface="黑体" panose="02010609060101010101" pitchFamily="2" charset="-122"/>
              </a:rPr>
              <a:t>（各种情况）</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.jobs	</a:t>
            </a:r>
            <a:r>
              <a:rPr lang="zh-CN" altLang="en-US" dirty="0" smtClean="0">
                <a:ea typeface="黑体" panose="02010609060101010101" pitchFamily="2" charset="-122"/>
              </a:rPr>
              <a:t>（人力资源管理者）</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a:t>
            </a:r>
            <a:r>
              <a:rPr lang="en-US" altLang="zh-CN" dirty="0" err="1" smtClean="0">
                <a:ea typeface="黑体" panose="02010609060101010101" pitchFamily="2" charset="-122"/>
              </a:rPr>
              <a:t>mobi</a:t>
            </a:r>
            <a:r>
              <a:rPr lang="en-US" altLang="zh-CN" dirty="0" smtClean="0">
                <a:ea typeface="黑体" panose="02010609060101010101" pitchFamily="2" charset="-122"/>
              </a:rPr>
              <a:t>	</a:t>
            </a:r>
            <a:r>
              <a:rPr lang="zh-CN" altLang="en-US" dirty="0" smtClean="0">
                <a:ea typeface="黑体" panose="02010609060101010101" pitchFamily="2" charset="-122"/>
              </a:rPr>
              <a:t>（移动产品与服务的用户和提供者）</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.museum </a:t>
            </a:r>
            <a:r>
              <a:rPr lang="zh-CN" altLang="en-US" dirty="0" smtClean="0">
                <a:ea typeface="黑体" panose="02010609060101010101" pitchFamily="2" charset="-122"/>
              </a:rPr>
              <a:t>（博物馆）</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.name	</a:t>
            </a:r>
            <a:r>
              <a:rPr lang="zh-CN" altLang="en-US" dirty="0" smtClean="0">
                <a:ea typeface="黑体" panose="02010609060101010101" pitchFamily="2" charset="-122"/>
              </a:rPr>
              <a:t>（个人）</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.pro	</a:t>
            </a:r>
            <a:r>
              <a:rPr lang="zh-CN" altLang="en-US" dirty="0" smtClean="0">
                <a:ea typeface="黑体" panose="02010609060101010101" pitchFamily="2" charset="-122"/>
              </a:rPr>
              <a:t>（有证书的专业人员）</a:t>
            </a:r>
            <a:endParaRPr lang="zh-CN" altLang="en-US" dirty="0" smtClean="0">
              <a:ea typeface="黑体" panose="02010609060101010101" pitchFamily="2" charset="-122"/>
            </a:endParaRPr>
          </a:p>
          <a:p>
            <a:pPr marL="400050" lvl="1" indent="0">
              <a:lnSpc>
                <a:spcPct val="90000"/>
              </a:lnSpc>
              <a:buNone/>
            </a:pPr>
            <a:r>
              <a:rPr lang="en-US" altLang="zh-CN" dirty="0" smtClean="0">
                <a:ea typeface="黑体" panose="02010609060101010101" pitchFamily="2" charset="-122"/>
              </a:rPr>
              <a:t>.travel	</a:t>
            </a:r>
            <a:r>
              <a:rPr lang="zh-CN" altLang="en-US" dirty="0" smtClean="0">
                <a:ea typeface="黑体" panose="02010609060101010101" pitchFamily="2" charset="-122"/>
              </a:rPr>
              <a:t>（旅游业） </a:t>
            </a:r>
            <a:endParaRPr lang="zh-CN" altLang="en-US" sz="24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p:txBody>
          <a:bodyPr/>
          <a:lstStyle/>
          <a:p>
            <a:pPr algn="ctr"/>
            <a:r>
              <a:rPr lang="zh-CN" altLang="en-US" dirty="0" smtClean="0"/>
              <a:t>互联网的域名空间 </a:t>
            </a:r>
            <a:endParaRPr lang="zh-CN" altLang="en-US" dirty="0" smtClean="0"/>
          </a:p>
        </p:txBody>
      </p:sp>
      <p:sp>
        <p:nvSpPr>
          <p:cNvPr id="41987" name="Rectangle 122"/>
          <p:cNvSpPr>
            <a:spLocks noChangeArrowheads="1"/>
          </p:cNvSpPr>
          <p:nvPr/>
        </p:nvSpPr>
        <p:spPr bwMode="auto">
          <a:xfrm>
            <a:off x="5423247" y="1196752"/>
            <a:ext cx="553773" cy="4381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800" b="1" dirty="0">
                <a:solidFill>
                  <a:srgbClr val="000099"/>
                </a:solidFill>
                <a:latin typeface="+mn-lt"/>
                <a:ea typeface="+mn-ea"/>
              </a:rPr>
              <a:t>根</a:t>
            </a:r>
            <a:endParaRPr kumimoji="1" lang="zh-CN" altLang="en-US" sz="2800" b="1" dirty="0">
              <a:solidFill>
                <a:srgbClr val="000099"/>
              </a:solidFill>
              <a:latin typeface="+mn-lt"/>
              <a:ea typeface="+mn-ea"/>
            </a:endParaRPr>
          </a:p>
        </p:txBody>
      </p:sp>
      <p:grpSp>
        <p:nvGrpSpPr>
          <p:cNvPr id="576728" name="Group 216"/>
          <p:cNvGrpSpPr/>
          <p:nvPr/>
        </p:nvGrpSpPr>
        <p:grpSpPr bwMode="auto">
          <a:xfrm>
            <a:off x="293108" y="4432969"/>
            <a:ext cx="8521567" cy="1084263"/>
            <a:chOff x="113" y="2435"/>
            <a:chExt cx="4955" cy="683"/>
          </a:xfrm>
        </p:grpSpPr>
        <p:sp>
          <p:nvSpPr>
            <p:cNvPr id="42091" name="Rectangle 211"/>
            <p:cNvSpPr>
              <a:spLocks noChangeArrowheads="1"/>
            </p:cNvSpPr>
            <p:nvPr/>
          </p:nvSpPr>
          <p:spPr bwMode="auto">
            <a:xfrm>
              <a:off x="1020" y="2822"/>
              <a:ext cx="106" cy="289"/>
            </a:xfrm>
            <a:prstGeom prst="rect">
              <a:avLst/>
            </a:prstGeom>
            <a:solidFill>
              <a:srgbClr val="CCCC00"/>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92" name="Rectangle 130"/>
            <p:cNvSpPr>
              <a:spLocks noChangeArrowheads="1"/>
            </p:cNvSpPr>
            <p:nvPr/>
          </p:nvSpPr>
          <p:spPr bwMode="auto">
            <a:xfrm>
              <a:off x="113" y="2819"/>
              <a:ext cx="703" cy="250"/>
            </a:xfrm>
            <a:prstGeom prst="rect">
              <a:avLst/>
            </a:prstGeom>
            <a:solidFill>
              <a:srgbClr val="CCCC00"/>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四级域名</a:t>
              </a:r>
              <a:endParaRPr kumimoji="1" lang="zh-CN" altLang="en-US" sz="2000" b="1">
                <a:solidFill>
                  <a:srgbClr val="000099"/>
                </a:solidFill>
                <a:latin typeface="+mn-lt"/>
                <a:ea typeface="+mn-ea"/>
              </a:endParaRPr>
            </a:p>
          </p:txBody>
        </p:sp>
        <p:sp>
          <p:nvSpPr>
            <p:cNvPr id="42093" name="Text Box 131"/>
            <p:cNvSpPr txBox="1">
              <a:spLocks noChangeArrowheads="1"/>
            </p:cNvSpPr>
            <p:nvPr/>
          </p:nvSpPr>
          <p:spPr bwMode="auto">
            <a:xfrm>
              <a:off x="3556" y="2817"/>
              <a:ext cx="405"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mail</a:t>
              </a:r>
              <a:endParaRPr kumimoji="1" lang="en-US" altLang="zh-CN" sz="2000" b="1">
                <a:solidFill>
                  <a:srgbClr val="000099"/>
                </a:solidFill>
                <a:latin typeface="+mn-lt"/>
                <a:ea typeface="+mn-ea"/>
              </a:endParaRPr>
            </a:p>
          </p:txBody>
        </p:sp>
        <p:sp>
          <p:nvSpPr>
            <p:cNvPr id="42094" name="Text Box 132"/>
            <p:cNvSpPr txBox="1">
              <a:spLocks noChangeArrowheads="1"/>
            </p:cNvSpPr>
            <p:nvPr/>
          </p:nvSpPr>
          <p:spPr bwMode="auto">
            <a:xfrm>
              <a:off x="4060" y="2633"/>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sp>
          <p:nvSpPr>
            <p:cNvPr id="42095" name="Text Box 151"/>
            <p:cNvSpPr txBox="1">
              <a:spLocks noChangeArrowheads="1"/>
            </p:cNvSpPr>
            <p:nvPr/>
          </p:nvSpPr>
          <p:spPr bwMode="auto">
            <a:xfrm>
              <a:off x="4614" y="2817"/>
              <a:ext cx="454"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www</a:t>
              </a:r>
              <a:endParaRPr kumimoji="1" lang="en-US" altLang="zh-CN" sz="2000" b="1">
                <a:solidFill>
                  <a:srgbClr val="000099"/>
                </a:solidFill>
                <a:latin typeface="+mn-lt"/>
                <a:ea typeface="+mn-ea"/>
              </a:endParaRPr>
            </a:p>
          </p:txBody>
        </p:sp>
        <p:sp>
          <p:nvSpPr>
            <p:cNvPr id="42096" name="Line 155"/>
            <p:cNvSpPr>
              <a:spLocks noChangeShapeType="1"/>
            </p:cNvSpPr>
            <p:nvPr/>
          </p:nvSpPr>
          <p:spPr bwMode="auto">
            <a:xfrm>
              <a:off x="4381" y="2435"/>
              <a:ext cx="437" cy="47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97" name="Line 156"/>
            <p:cNvSpPr>
              <a:spLocks noChangeShapeType="1"/>
            </p:cNvSpPr>
            <p:nvPr/>
          </p:nvSpPr>
          <p:spPr bwMode="auto">
            <a:xfrm flipH="1">
              <a:off x="3819" y="2440"/>
              <a:ext cx="560" cy="44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576726" name="Group 214"/>
          <p:cNvGrpSpPr/>
          <p:nvPr/>
        </p:nvGrpSpPr>
        <p:grpSpPr bwMode="auto">
          <a:xfrm>
            <a:off x="293108" y="2497804"/>
            <a:ext cx="9283435" cy="1093788"/>
            <a:chOff x="113" y="1216"/>
            <a:chExt cx="5398" cy="689"/>
          </a:xfrm>
        </p:grpSpPr>
        <p:sp>
          <p:nvSpPr>
            <p:cNvPr id="42045" name="Rectangle 210"/>
            <p:cNvSpPr>
              <a:spLocks noChangeArrowheads="1"/>
            </p:cNvSpPr>
            <p:nvPr/>
          </p:nvSpPr>
          <p:spPr bwMode="auto">
            <a:xfrm>
              <a:off x="1020" y="1616"/>
              <a:ext cx="106" cy="289"/>
            </a:xfrm>
            <a:prstGeom prst="rect">
              <a:avLst/>
            </a:prstGeom>
            <a:solidFill>
              <a:srgbClr val="FFC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46" name="Text Box 105"/>
            <p:cNvSpPr txBox="1">
              <a:spLocks noChangeArrowheads="1"/>
            </p:cNvSpPr>
            <p:nvPr/>
          </p:nvSpPr>
          <p:spPr bwMode="auto">
            <a:xfrm>
              <a:off x="1777" y="140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sp>
          <p:nvSpPr>
            <p:cNvPr id="42047" name="Text Box 115"/>
            <p:cNvSpPr txBox="1">
              <a:spLocks noChangeArrowheads="1"/>
            </p:cNvSpPr>
            <p:nvPr/>
          </p:nvSpPr>
          <p:spPr bwMode="auto">
            <a:xfrm>
              <a:off x="3956" y="1593"/>
              <a:ext cx="24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bj</a:t>
              </a:r>
              <a:endParaRPr kumimoji="1" lang="en-US" altLang="zh-CN" sz="2000" b="1">
                <a:solidFill>
                  <a:srgbClr val="000099"/>
                </a:solidFill>
                <a:latin typeface="+mn-lt"/>
                <a:ea typeface="+mn-ea"/>
              </a:endParaRPr>
            </a:p>
          </p:txBody>
        </p:sp>
        <p:sp>
          <p:nvSpPr>
            <p:cNvPr id="42048" name="Text Box 116"/>
            <p:cNvSpPr txBox="1">
              <a:spLocks noChangeArrowheads="1"/>
            </p:cNvSpPr>
            <p:nvPr/>
          </p:nvSpPr>
          <p:spPr bwMode="auto">
            <a:xfrm>
              <a:off x="4554" y="1592"/>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edu</a:t>
              </a:r>
              <a:endParaRPr kumimoji="1" lang="en-US" altLang="zh-CN" sz="2000" b="1">
                <a:solidFill>
                  <a:srgbClr val="000099"/>
                </a:solidFill>
                <a:latin typeface="+mn-lt"/>
                <a:ea typeface="+mn-ea"/>
              </a:endParaRPr>
            </a:p>
          </p:txBody>
        </p:sp>
        <p:sp>
          <p:nvSpPr>
            <p:cNvPr id="42049" name="Text Box 117"/>
            <p:cNvSpPr txBox="1">
              <a:spLocks noChangeArrowheads="1"/>
            </p:cNvSpPr>
            <p:nvPr/>
          </p:nvSpPr>
          <p:spPr bwMode="auto">
            <a:xfrm>
              <a:off x="5097" y="1592"/>
              <a:ext cx="4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com</a:t>
              </a:r>
              <a:endParaRPr kumimoji="1" lang="en-US" altLang="zh-CN" sz="2000" b="1">
                <a:solidFill>
                  <a:srgbClr val="000099"/>
                </a:solidFill>
                <a:latin typeface="+mn-lt"/>
                <a:ea typeface="+mn-ea"/>
              </a:endParaRPr>
            </a:p>
          </p:txBody>
        </p:sp>
        <p:sp>
          <p:nvSpPr>
            <p:cNvPr id="42050" name="Text Box 118"/>
            <p:cNvSpPr txBox="1">
              <a:spLocks noChangeArrowheads="1"/>
            </p:cNvSpPr>
            <p:nvPr/>
          </p:nvSpPr>
          <p:spPr bwMode="auto">
            <a:xfrm>
              <a:off x="4172" y="140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sp>
          <p:nvSpPr>
            <p:cNvPr id="42051" name="Text Box 123"/>
            <p:cNvSpPr txBox="1">
              <a:spLocks noChangeArrowheads="1"/>
            </p:cNvSpPr>
            <p:nvPr/>
          </p:nvSpPr>
          <p:spPr bwMode="auto">
            <a:xfrm>
              <a:off x="1437" y="1592"/>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cctv</a:t>
              </a:r>
              <a:endParaRPr kumimoji="1" lang="en-US" altLang="zh-CN" sz="2000" b="1">
                <a:solidFill>
                  <a:srgbClr val="000099"/>
                </a:solidFill>
                <a:latin typeface="+mn-lt"/>
                <a:ea typeface="+mn-ea"/>
              </a:endParaRPr>
            </a:p>
          </p:txBody>
        </p:sp>
        <p:sp>
          <p:nvSpPr>
            <p:cNvPr id="42052" name="Text Box 124"/>
            <p:cNvSpPr txBox="1">
              <a:spLocks noChangeArrowheads="1"/>
            </p:cNvSpPr>
            <p:nvPr/>
          </p:nvSpPr>
          <p:spPr bwMode="auto">
            <a:xfrm>
              <a:off x="2185" y="1591"/>
              <a:ext cx="37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ibm</a:t>
              </a:r>
              <a:endParaRPr kumimoji="1" lang="en-US" altLang="zh-CN" sz="2000" b="1">
                <a:solidFill>
                  <a:srgbClr val="000099"/>
                </a:solidFill>
                <a:latin typeface="+mn-lt"/>
                <a:ea typeface="+mn-ea"/>
              </a:endParaRPr>
            </a:p>
          </p:txBody>
        </p:sp>
        <p:sp>
          <p:nvSpPr>
            <p:cNvPr id="42053" name="Text Box 125"/>
            <p:cNvSpPr txBox="1">
              <a:spLocks noChangeArrowheads="1"/>
            </p:cNvSpPr>
            <p:nvPr/>
          </p:nvSpPr>
          <p:spPr bwMode="auto">
            <a:xfrm>
              <a:off x="2595" y="1592"/>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hp</a:t>
              </a:r>
              <a:endParaRPr kumimoji="1" lang="en-US" altLang="zh-CN" sz="2000" b="1">
                <a:solidFill>
                  <a:srgbClr val="000099"/>
                </a:solidFill>
                <a:latin typeface="+mn-lt"/>
                <a:ea typeface="+mn-ea"/>
              </a:endParaRPr>
            </a:p>
          </p:txBody>
        </p:sp>
        <p:sp>
          <p:nvSpPr>
            <p:cNvPr id="42054" name="Rectangle 127"/>
            <p:cNvSpPr>
              <a:spLocks noChangeArrowheads="1"/>
            </p:cNvSpPr>
            <p:nvPr/>
          </p:nvSpPr>
          <p:spPr bwMode="auto">
            <a:xfrm>
              <a:off x="113" y="1608"/>
              <a:ext cx="703" cy="250"/>
            </a:xfrm>
            <a:prstGeom prst="rect">
              <a:avLst/>
            </a:prstGeom>
            <a:solidFill>
              <a:srgbClr val="FFC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二级域名</a:t>
              </a:r>
              <a:endParaRPr kumimoji="1" lang="zh-CN" altLang="en-US" sz="2000" b="1">
                <a:solidFill>
                  <a:srgbClr val="000099"/>
                </a:solidFill>
                <a:latin typeface="+mn-lt"/>
                <a:ea typeface="+mn-ea"/>
              </a:endParaRPr>
            </a:p>
          </p:txBody>
        </p:sp>
        <p:sp>
          <p:nvSpPr>
            <p:cNvPr id="42055" name="Line 142"/>
            <p:cNvSpPr>
              <a:spLocks noChangeShapeType="1"/>
            </p:cNvSpPr>
            <p:nvPr/>
          </p:nvSpPr>
          <p:spPr bwMode="auto">
            <a:xfrm>
              <a:off x="2173" y="1258"/>
              <a:ext cx="213" cy="373"/>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6" name="Line 143"/>
            <p:cNvSpPr>
              <a:spLocks noChangeShapeType="1"/>
            </p:cNvSpPr>
            <p:nvPr/>
          </p:nvSpPr>
          <p:spPr bwMode="auto">
            <a:xfrm>
              <a:off x="2173" y="1269"/>
              <a:ext cx="546" cy="34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7" name="Line 144"/>
            <p:cNvSpPr>
              <a:spLocks noChangeShapeType="1"/>
            </p:cNvSpPr>
            <p:nvPr/>
          </p:nvSpPr>
          <p:spPr bwMode="auto">
            <a:xfrm flipV="1">
              <a:off x="1672" y="1279"/>
              <a:ext cx="501" cy="348"/>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8" name="Line 145"/>
            <p:cNvSpPr>
              <a:spLocks noChangeShapeType="1"/>
            </p:cNvSpPr>
            <p:nvPr/>
          </p:nvSpPr>
          <p:spPr bwMode="auto">
            <a:xfrm>
              <a:off x="4662" y="1216"/>
              <a:ext cx="111" cy="431"/>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9" name="Line 146"/>
            <p:cNvSpPr>
              <a:spLocks noChangeShapeType="1"/>
            </p:cNvSpPr>
            <p:nvPr/>
          </p:nvSpPr>
          <p:spPr bwMode="auto">
            <a:xfrm>
              <a:off x="4665" y="1224"/>
              <a:ext cx="626" cy="40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0" name="Line 147"/>
            <p:cNvSpPr>
              <a:spLocks noChangeShapeType="1"/>
            </p:cNvSpPr>
            <p:nvPr/>
          </p:nvSpPr>
          <p:spPr bwMode="auto">
            <a:xfrm flipH="1">
              <a:off x="4090" y="1224"/>
              <a:ext cx="572" cy="39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2061" name="Group 157"/>
            <p:cNvGrpSpPr/>
            <p:nvPr/>
          </p:nvGrpSpPr>
          <p:grpSpPr bwMode="auto">
            <a:xfrm>
              <a:off x="1168" y="1244"/>
              <a:ext cx="268" cy="101"/>
              <a:chOff x="2875" y="1143"/>
              <a:chExt cx="330" cy="132"/>
            </a:xfrm>
          </p:grpSpPr>
          <p:sp>
            <p:nvSpPr>
              <p:cNvPr id="42087" name="Line 15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8" name="Line 15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9" name="Line 16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90" name="Line 16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2" name="Group 162"/>
            <p:cNvGrpSpPr/>
            <p:nvPr/>
          </p:nvGrpSpPr>
          <p:grpSpPr bwMode="auto">
            <a:xfrm>
              <a:off x="2507" y="1244"/>
              <a:ext cx="268" cy="101"/>
              <a:chOff x="2875" y="1143"/>
              <a:chExt cx="330" cy="132"/>
            </a:xfrm>
          </p:grpSpPr>
          <p:sp>
            <p:nvSpPr>
              <p:cNvPr id="42083" name="Line 16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4" name="Line 16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5" name="Line 16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6" name="Line 16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3" name="Group 167"/>
            <p:cNvGrpSpPr/>
            <p:nvPr/>
          </p:nvGrpSpPr>
          <p:grpSpPr bwMode="auto">
            <a:xfrm>
              <a:off x="2936" y="1244"/>
              <a:ext cx="268" cy="101"/>
              <a:chOff x="2875" y="1143"/>
              <a:chExt cx="330" cy="132"/>
            </a:xfrm>
          </p:grpSpPr>
          <p:sp>
            <p:nvSpPr>
              <p:cNvPr id="42079" name="Line 16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0" name="Line 16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1" name="Line 17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2" name="Line 17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4" name="Group 172"/>
            <p:cNvGrpSpPr/>
            <p:nvPr/>
          </p:nvGrpSpPr>
          <p:grpSpPr bwMode="auto">
            <a:xfrm>
              <a:off x="3363" y="1244"/>
              <a:ext cx="268" cy="101"/>
              <a:chOff x="2875" y="1143"/>
              <a:chExt cx="330" cy="132"/>
            </a:xfrm>
          </p:grpSpPr>
          <p:sp>
            <p:nvSpPr>
              <p:cNvPr id="42075" name="Line 17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6" name="Line 17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7" name="Line 17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8" name="Line 17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5" name="Group 177"/>
            <p:cNvGrpSpPr/>
            <p:nvPr/>
          </p:nvGrpSpPr>
          <p:grpSpPr bwMode="auto">
            <a:xfrm>
              <a:off x="3792" y="1244"/>
              <a:ext cx="268" cy="101"/>
              <a:chOff x="2875" y="1143"/>
              <a:chExt cx="330" cy="132"/>
            </a:xfrm>
          </p:grpSpPr>
          <p:sp>
            <p:nvSpPr>
              <p:cNvPr id="42071" name="Line 17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2" name="Line 17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3" name="Line 18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4" name="Line 18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6" name="Group 182"/>
            <p:cNvGrpSpPr/>
            <p:nvPr/>
          </p:nvGrpSpPr>
          <p:grpSpPr bwMode="auto">
            <a:xfrm>
              <a:off x="4935" y="1244"/>
              <a:ext cx="268" cy="101"/>
              <a:chOff x="2875" y="1143"/>
              <a:chExt cx="330" cy="132"/>
            </a:xfrm>
          </p:grpSpPr>
          <p:sp>
            <p:nvSpPr>
              <p:cNvPr id="42067" name="Line 18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8" name="Line 18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9" name="Line 18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0" name="Line 18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grpSp>
        <p:nvGrpSpPr>
          <p:cNvPr id="576727" name="Group 215"/>
          <p:cNvGrpSpPr/>
          <p:nvPr/>
        </p:nvGrpSpPr>
        <p:grpSpPr bwMode="auto">
          <a:xfrm>
            <a:off x="293108" y="3382042"/>
            <a:ext cx="9304073" cy="1144587"/>
            <a:chOff x="113" y="1773"/>
            <a:chExt cx="5410" cy="721"/>
          </a:xfrm>
        </p:grpSpPr>
        <p:sp>
          <p:nvSpPr>
            <p:cNvPr id="42013" name="Rectangle 212"/>
            <p:cNvSpPr>
              <a:spLocks noChangeArrowheads="1"/>
            </p:cNvSpPr>
            <p:nvPr/>
          </p:nvSpPr>
          <p:spPr bwMode="auto">
            <a:xfrm>
              <a:off x="1020" y="2205"/>
              <a:ext cx="106" cy="289"/>
            </a:xfrm>
            <a:prstGeom prst="rect">
              <a:avLst/>
            </a:prstGeom>
            <a:solidFill>
              <a:srgbClr val="CCFF99"/>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14" name="Text Box 119"/>
            <p:cNvSpPr txBox="1">
              <a:spLocks noChangeArrowheads="1"/>
            </p:cNvSpPr>
            <p:nvPr/>
          </p:nvSpPr>
          <p:spPr bwMode="auto">
            <a:xfrm>
              <a:off x="5150" y="2205"/>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pku</a:t>
              </a:r>
              <a:endParaRPr kumimoji="1" lang="en-US" altLang="zh-CN" sz="2000" b="1">
                <a:solidFill>
                  <a:srgbClr val="000099"/>
                </a:solidFill>
                <a:latin typeface="+mn-lt"/>
                <a:ea typeface="+mn-ea"/>
              </a:endParaRPr>
            </a:p>
          </p:txBody>
        </p:sp>
        <p:sp>
          <p:nvSpPr>
            <p:cNvPr id="42015" name="Text Box 120"/>
            <p:cNvSpPr txBox="1">
              <a:spLocks noChangeArrowheads="1"/>
            </p:cNvSpPr>
            <p:nvPr/>
          </p:nvSpPr>
          <p:spPr bwMode="auto">
            <a:xfrm>
              <a:off x="3924" y="2205"/>
              <a:ext cx="7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tsinghua</a:t>
              </a:r>
              <a:endParaRPr kumimoji="1" lang="en-US" altLang="zh-CN" sz="2000" b="1">
                <a:solidFill>
                  <a:srgbClr val="000099"/>
                </a:solidFill>
                <a:latin typeface="+mn-lt"/>
                <a:ea typeface="+mn-ea"/>
              </a:endParaRPr>
            </a:p>
          </p:txBody>
        </p:sp>
        <p:sp>
          <p:nvSpPr>
            <p:cNvPr id="42016" name="Text Box 121"/>
            <p:cNvSpPr txBox="1">
              <a:spLocks noChangeArrowheads="1"/>
            </p:cNvSpPr>
            <p:nvPr/>
          </p:nvSpPr>
          <p:spPr bwMode="auto">
            <a:xfrm>
              <a:off x="4649" y="199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sp>
          <p:nvSpPr>
            <p:cNvPr id="42017" name="Rectangle 128"/>
            <p:cNvSpPr>
              <a:spLocks noChangeArrowheads="1"/>
            </p:cNvSpPr>
            <p:nvPr/>
          </p:nvSpPr>
          <p:spPr bwMode="auto">
            <a:xfrm>
              <a:off x="113" y="2182"/>
              <a:ext cx="703" cy="250"/>
            </a:xfrm>
            <a:prstGeom prst="rect">
              <a:avLst/>
            </a:prstGeom>
            <a:solidFill>
              <a:srgbClr val="CCFF99"/>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三级域名</a:t>
              </a:r>
              <a:endParaRPr kumimoji="1" lang="zh-CN" altLang="en-US" sz="2000" b="1">
                <a:solidFill>
                  <a:srgbClr val="000099"/>
                </a:solidFill>
                <a:latin typeface="+mn-lt"/>
                <a:ea typeface="+mn-ea"/>
              </a:endParaRPr>
            </a:p>
          </p:txBody>
        </p:sp>
        <p:sp>
          <p:nvSpPr>
            <p:cNvPr id="42018" name="Text Box 129"/>
            <p:cNvSpPr txBox="1">
              <a:spLocks noChangeArrowheads="1"/>
            </p:cNvSpPr>
            <p:nvPr/>
          </p:nvSpPr>
          <p:spPr bwMode="auto">
            <a:xfrm>
              <a:off x="1064" y="2205"/>
              <a:ext cx="405"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mail</a:t>
              </a:r>
              <a:endParaRPr kumimoji="1" lang="en-US" altLang="zh-CN" sz="2000" b="1">
                <a:solidFill>
                  <a:srgbClr val="000099"/>
                </a:solidFill>
                <a:latin typeface="+mn-lt"/>
                <a:ea typeface="+mn-ea"/>
              </a:endParaRPr>
            </a:p>
          </p:txBody>
        </p:sp>
        <p:sp>
          <p:nvSpPr>
            <p:cNvPr id="42019" name="Line 148"/>
            <p:cNvSpPr>
              <a:spLocks noChangeShapeType="1"/>
            </p:cNvSpPr>
            <p:nvPr/>
          </p:nvSpPr>
          <p:spPr bwMode="auto">
            <a:xfrm flipH="1">
              <a:off x="4386" y="1773"/>
              <a:ext cx="387" cy="42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0" name="Line 149"/>
            <p:cNvSpPr>
              <a:spLocks noChangeShapeType="1"/>
            </p:cNvSpPr>
            <p:nvPr/>
          </p:nvSpPr>
          <p:spPr bwMode="auto">
            <a:xfrm>
              <a:off x="4792" y="1784"/>
              <a:ext cx="548" cy="43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1" name="Text Box 150"/>
            <p:cNvSpPr txBox="1">
              <a:spLocks noChangeArrowheads="1"/>
            </p:cNvSpPr>
            <p:nvPr/>
          </p:nvSpPr>
          <p:spPr bwMode="auto">
            <a:xfrm>
              <a:off x="1826" y="2205"/>
              <a:ext cx="454"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www</a:t>
              </a:r>
              <a:endParaRPr kumimoji="1" lang="en-US" altLang="zh-CN" sz="2000" b="1">
                <a:solidFill>
                  <a:srgbClr val="000099"/>
                </a:solidFill>
                <a:latin typeface="+mn-lt"/>
                <a:ea typeface="+mn-ea"/>
              </a:endParaRPr>
            </a:p>
          </p:txBody>
        </p:sp>
        <p:sp>
          <p:nvSpPr>
            <p:cNvPr id="42022" name="Text Box 152"/>
            <p:cNvSpPr txBox="1">
              <a:spLocks noChangeArrowheads="1"/>
            </p:cNvSpPr>
            <p:nvPr/>
          </p:nvSpPr>
          <p:spPr bwMode="auto">
            <a:xfrm>
              <a:off x="1414" y="199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sp>
          <p:nvSpPr>
            <p:cNvPr id="42023" name="Line 153"/>
            <p:cNvSpPr>
              <a:spLocks noChangeShapeType="1"/>
            </p:cNvSpPr>
            <p:nvPr/>
          </p:nvSpPr>
          <p:spPr bwMode="auto">
            <a:xfrm flipV="1">
              <a:off x="1274" y="1794"/>
              <a:ext cx="383" cy="44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4" name="Line 154"/>
            <p:cNvSpPr>
              <a:spLocks noChangeShapeType="1"/>
            </p:cNvSpPr>
            <p:nvPr/>
          </p:nvSpPr>
          <p:spPr bwMode="auto">
            <a:xfrm>
              <a:off x="1657" y="1794"/>
              <a:ext cx="361" cy="473"/>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2025" name="Group 187"/>
            <p:cNvGrpSpPr/>
            <p:nvPr/>
          </p:nvGrpSpPr>
          <p:grpSpPr bwMode="auto">
            <a:xfrm>
              <a:off x="2613" y="1797"/>
              <a:ext cx="269" cy="101"/>
              <a:chOff x="2875" y="1143"/>
              <a:chExt cx="330" cy="132"/>
            </a:xfrm>
          </p:grpSpPr>
          <p:sp>
            <p:nvSpPr>
              <p:cNvPr id="42041" name="Line 18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2" name="Line 18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3" name="Line 19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4" name="Line 19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6" name="Group 192"/>
            <p:cNvGrpSpPr/>
            <p:nvPr/>
          </p:nvGrpSpPr>
          <p:grpSpPr bwMode="auto">
            <a:xfrm>
              <a:off x="5131" y="1797"/>
              <a:ext cx="268" cy="101"/>
              <a:chOff x="2875" y="1143"/>
              <a:chExt cx="330" cy="132"/>
            </a:xfrm>
          </p:grpSpPr>
          <p:sp>
            <p:nvSpPr>
              <p:cNvPr id="42037" name="Line 19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8" name="Line 19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9" name="Line 19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0" name="Line 19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7" name="Group 197"/>
            <p:cNvGrpSpPr/>
            <p:nvPr/>
          </p:nvGrpSpPr>
          <p:grpSpPr bwMode="auto">
            <a:xfrm>
              <a:off x="2239" y="1797"/>
              <a:ext cx="268" cy="101"/>
              <a:chOff x="2875" y="1143"/>
              <a:chExt cx="330" cy="132"/>
            </a:xfrm>
          </p:grpSpPr>
          <p:sp>
            <p:nvSpPr>
              <p:cNvPr id="42033" name="Line 19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4" name="Line 19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5" name="Line 20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6" name="Line 20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8" name="Group 202"/>
            <p:cNvGrpSpPr/>
            <p:nvPr/>
          </p:nvGrpSpPr>
          <p:grpSpPr bwMode="auto">
            <a:xfrm>
              <a:off x="3953" y="1797"/>
              <a:ext cx="268" cy="101"/>
              <a:chOff x="2875" y="1143"/>
              <a:chExt cx="330" cy="132"/>
            </a:xfrm>
          </p:grpSpPr>
          <p:sp>
            <p:nvSpPr>
              <p:cNvPr id="42029" name="Line 20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0" name="Line 20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1" name="Line 20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2" name="Line 20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grpSp>
        <p:nvGrpSpPr>
          <p:cNvPr id="576725" name="Group 213"/>
          <p:cNvGrpSpPr/>
          <p:nvPr/>
        </p:nvGrpSpPr>
        <p:grpSpPr bwMode="auto">
          <a:xfrm>
            <a:off x="293108" y="1689765"/>
            <a:ext cx="9412420" cy="965199"/>
            <a:chOff x="113" y="707"/>
            <a:chExt cx="5473" cy="608"/>
          </a:xfrm>
        </p:grpSpPr>
        <p:sp>
          <p:nvSpPr>
            <p:cNvPr id="41992" name="Rectangle 209"/>
            <p:cNvSpPr>
              <a:spLocks noChangeArrowheads="1"/>
            </p:cNvSpPr>
            <p:nvPr/>
          </p:nvSpPr>
          <p:spPr bwMode="auto">
            <a:xfrm>
              <a:off x="1020" y="1026"/>
              <a:ext cx="106" cy="289"/>
            </a:xfrm>
            <a:prstGeom prst="rect">
              <a:avLst/>
            </a:prstGeom>
            <a:solidFill>
              <a:srgbClr val="CCE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1993" name="Text Box 106"/>
            <p:cNvSpPr txBox="1">
              <a:spLocks noChangeArrowheads="1"/>
            </p:cNvSpPr>
            <p:nvPr/>
          </p:nvSpPr>
          <p:spPr bwMode="auto">
            <a:xfrm>
              <a:off x="1975" y="1026"/>
              <a:ext cx="4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com</a:t>
              </a:r>
              <a:endParaRPr kumimoji="1" lang="en-US" altLang="zh-CN" sz="2000" b="1">
                <a:solidFill>
                  <a:srgbClr val="000099"/>
                </a:solidFill>
                <a:latin typeface="+mn-lt"/>
                <a:ea typeface="+mn-ea"/>
              </a:endParaRPr>
            </a:p>
          </p:txBody>
        </p:sp>
        <p:sp>
          <p:nvSpPr>
            <p:cNvPr id="41994" name="Text Box 107"/>
            <p:cNvSpPr txBox="1">
              <a:spLocks noChangeArrowheads="1"/>
            </p:cNvSpPr>
            <p:nvPr/>
          </p:nvSpPr>
          <p:spPr bwMode="auto">
            <a:xfrm>
              <a:off x="2472" y="1026"/>
              <a:ext cx="3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net</a:t>
              </a:r>
              <a:endParaRPr kumimoji="1" lang="en-US" altLang="zh-CN" sz="2000" b="1">
                <a:solidFill>
                  <a:srgbClr val="000099"/>
                </a:solidFill>
                <a:latin typeface="+mn-lt"/>
                <a:ea typeface="+mn-ea"/>
              </a:endParaRPr>
            </a:p>
          </p:txBody>
        </p:sp>
        <p:sp>
          <p:nvSpPr>
            <p:cNvPr id="41995" name="Text Box 108"/>
            <p:cNvSpPr txBox="1">
              <a:spLocks noChangeArrowheads="1"/>
            </p:cNvSpPr>
            <p:nvPr/>
          </p:nvSpPr>
          <p:spPr bwMode="auto">
            <a:xfrm>
              <a:off x="2900" y="1026"/>
              <a:ext cx="34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org</a:t>
              </a:r>
              <a:endParaRPr kumimoji="1" lang="en-US" altLang="zh-CN" sz="2000" b="1">
                <a:solidFill>
                  <a:srgbClr val="000099"/>
                </a:solidFill>
                <a:latin typeface="+mn-lt"/>
                <a:ea typeface="+mn-ea"/>
              </a:endParaRPr>
            </a:p>
          </p:txBody>
        </p:sp>
        <p:sp>
          <p:nvSpPr>
            <p:cNvPr id="41996" name="Text Box 109"/>
            <p:cNvSpPr txBox="1">
              <a:spLocks noChangeArrowheads="1"/>
            </p:cNvSpPr>
            <p:nvPr/>
          </p:nvSpPr>
          <p:spPr bwMode="auto">
            <a:xfrm>
              <a:off x="3329" y="1026"/>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edu</a:t>
              </a:r>
              <a:endParaRPr kumimoji="1" lang="en-US" altLang="zh-CN" sz="2000" b="1">
                <a:solidFill>
                  <a:srgbClr val="000099"/>
                </a:solidFill>
                <a:latin typeface="+mn-lt"/>
                <a:ea typeface="+mn-ea"/>
              </a:endParaRPr>
            </a:p>
          </p:txBody>
        </p:sp>
        <p:sp>
          <p:nvSpPr>
            <p:cNvPr id="41997" name="Text Box 110"/>
            <p:cNvSpPr txBox="1">
              <a:spLocks noChangeArrowheads="1"/>
            </p:cNvSpPr>
            <p:nvPr/>
          </p:nvSpPr>
          <p:spPr bwMode="auto">
            <a:xfrm>
              <a:off x="3758" y="1026"/>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gov</a:t>
              </a:r>
              <a:endParaRPr kumimoji="1" lang="en-US" altLang="zh-CN" sz="2000" b="1">
                <a:solidFill>
                  <a:srgbClr val="000099"/>
                </a:solidFill>
                <a:latin typeface="+mn-lt"/>
                <a:ea typeface="+mn-ea"/>
              </a:endParaRPr>
            </a:p>
          </p:txBody>
        </p:sp>
        <p:sp>
          <p:nvSpPr>
            <p:cNvPr id="41998" name="Text Box 111"/>
            <p:cNvSpPr txBox="1">
              <a:spLocks noChangeArrowheads="1"/>
            </p:cNvSpPr>
            <p:nvPr/>
          </p:nvSpPr>
          <p:spPr bwMode="auto">
            <a:xfrm>
              <a:off x="1114" y="1026"/>
              <a:ext cx="42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aero</a:t>
              </a:r>
              <a:endParaRPr kumimoji="1" lang="en-US" altLang="zh-CN" sz="2000" b="1">
                <a:solidFill>
                  <a:srgbClr val="000099"/>
                </a:solidFill>
                <a:latin typeface="+mn-lt"/>
                <a:ea typeface="+mn-ea"/>
              </a:endParaRPr>
            </a:p>
          </p:txBody>
        </p:sp>
        <p:sp>
          <p:nvSpPr>
            <p:cNvPr id="41999" name="Text Box 112"/>
            <p:cNvSpPr txBox="1">
              <a:spLocks noChangeArrowheads="1"/>
            </p:cNvSpPr>
            <p:nvPr/>
          </p:nvSpPr>
          <p:spPr bwMode="auto">
            <a:xfrm>
              <a:off x="4489" y="1026"/>
              <a:ext cx="2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cn</a:t>
              </a:r>
              <a:endParaRPr kumimoji="1" lang="en-US" altLang="zh-CN" sz="2000" b="1">
                <a:solidFill>
                  <a:srgbClr val="000099"/>
                </a:solidFill>
                <a:latin typeface="+mn-lt"/>
                <a:ea typeface="+mn-ea"/>
              </a:endParaRPr>
            </a:p>
          </p:txBody>
        </p:sp>
        <p:sp>
          <p:nvSpPr>
            <p:cNvPr id="42000" name="Text Box 113"/>
            <p:cNvSpPr txBox="1">
              <a:spLocks noChangeArrowheads="1"/>
            </p:cNvSpPr>
            <p:nvPr/>
          </p:nvSpPr>
          <p:spPr bwMode="auto">
            <a:xfrm>
              <a:off x="4918" y="1026"/>
              <a:ext cx="2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uk</a:t>
              </a:r>
              <a:endParaRPr kumimoji="1" lang="en-US" altLang="zh-CN" sz="2000" b="1">
                <a:solidFill>
                  <a:srgbClr val="000099"/>
                </a:solidFill>
                <a:latin typeface="+mn-lt"/>
                <a:ea typeface="+mn-ea"/>
              </a:endParaRPr>
            </a:p>
          </p:txBody>
        </p:sp>
        <p:sp>
          <p:nvSpPr>
            <p:cNvPr id="42001" name="Text Box 114"/>
            <p:cNvSpPr txBox="1">
              <a:spLocks noChangeArrowheads="1"/>
            </p:cNvSpPr>
            <p:nvPr/>
          </p:nvSpPr>
          <p:spPr bwMode="auto">
            <a:xfrm>
              <a:off x="5151" y="819"/>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sp>
          <p:nvSpPr>
            <p:cNvPr id="42002" name="Rectangle 126"/>
            <p:cNvSpPr>
              <a:spLocks noChangeArrowheads="1"/>
            </p:cNvSpPr>
            <p:nvPr/>
          </p:nvSpPr>
          <p:spPr bwMode="auto">
            <a:xfrm>
              <a:off x="113" y="1005"/>
              <a:ext cx="703" cy="250"/>
            </a:xfrm>
            <a:prstGeom prst="rect">
              <a:avLst/>
            </a:prstGeom>
            <a:solidFill>
              <a:srgbClr val="CCE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顶级域名</a:t>
              </a:r>
              <a:endParaRPr kumimoji="1" lang="zh-CN" altLang="en-US" sz="2000" b="1">
                <a:solidFill>
                  <a:srgbClr val="000099"/>
                </a:solidFill>
                <a:latin typeface="+mn-lt"/>
                <a:ea typeface="+mn-ea"/>
              </a:endParaRPr>
            </a:p>
          </p:txBody>
        </p:sp>
        <p:sp>
          <p:nvSpPr>
            <p:cNvPr id="42003" name="Line 133"/>
            <p:cNvSpPr>
              <a:spLocks noChangeShapeType="1"/>
            </p:cNvSpPr>
            <p:nvPr/>
          </p:nvSpPr>
          <p:spPr bwMode="auto">
            <a:xfrm flipH="1">
              <a:off x="2201" y="712"/>
              <a:ext cx="1068" cy="38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4" name="Line 134"/>
            <p:cNvSpPr>
              <a:spLocks noChangeShapeType="1"/>
            </p:cNvSpPr>
            <p:nvPr/>
          </p:nvSpPr>
          <p:spPr bwMode="auto">
            <a:xfrm flipH="1">
              <a:off x="2681" y="730"/>
              <a:ext cx="575" cy="35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5" name="Line 135"/>
            <p:cNvSpPr>
              <a:spLocks noChangeShapeType="1"/>
            </p:cNvSpPr>
            <p:nvPr/>
          </p:nvSpPr>
          <p:spPr bwMode="auto">
            <a:xfrm flipH="1">
              <a:off x="3134" y="730"/>
              <a:ext cx="131" cy="344"/>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6" name="Line 136"/>
            <p:cNvSpPr>
              <a:spLocks noChangeShapeType="1"/>
            </p:cNvSpPr>
            <p:nvPr/>
          </p:nvSpPr>
          <p:spPr bwMode="auto">
            <a:xfrm>
              <a:off x="3277" y="723"/>
              <a:ext cx="249" cy="365"/>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7" name="Line 137"/>
            <p:cNvSpPr>
              <a:spLocks noChangeShapeType="1"/>
            </p:cNvSpPr>
            <p:nvPr/>
          </p:nvSpPr>
          <p:spPr bwMode="auto">
            <a:xfrm>
              <a:off x="3275" y="715"/>
              <a:ext cx="681" cy="375"/>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8" name="Line 138"/>
            <p:cNvSpPr>
              <a:spLocks noChangeShapeType="1"/>
            </p:cNvSpPr>
            <p:nvPr/>
          </p:nvSpPr>
          <p:spPr bwMode="auto">
            <a:xfrm>
              <a:off x="3288" y="708"/>
              <a:ext cx="1353" cy="377"/>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9" name="Line 139"/>
            <p:cNvSpPr>
              <a:spLocks noChangeShapeType="1"/>
            </p:cNvSpPr>
            <p:nvPr/>
          </p:nvSpPr>
          <p:spPr bwMode="auto">
            <a:xfrm flipH="1">
              <a:off x="1358" y="707"/>
              <a:ext cx="1933" cy="37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10" name="Line 140"/>
            <p:cNvSpPr>
              <a:spLocks noChangeShapeType="1"/>
            </p:cNvSpPr>
            <p:nvPr/>
          </p:nvSpPr>
          <p:spPr bwMode="auto">
            <a:xfrm>
              <a:off x="3250" y="709"/>
              <a:ext cx="1777" cy="351"/>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11" name="Text Box 141"/>
            <p:cNvSpPr txBox="1">
              <a:spLocks noChangeArrowheads="1"/>
            </p:cNvSpPr>
            <p:nvPr/>
          </p:nvSpPr>
          <p:spPr bwMode="auto">
            <a:xfrm>
              <a:off x="1542" y="81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sp>
          <p:nvSpPr>
            <p:cNvPr id="42012" name="Text Box 207"/>
            <p:cNvSpPr txBox="1">
              <a:spLocks noChangeArrowheads="1"/>
            </p:cNvSpPr>
            <p:nvPr/>
          </p:nvSpPr>
          <p:spPr bwMode="auto">
            <a:xfrm>
              <a:off x="4042" y="817"/>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576725"/>
                                        </p:tgtEl>
                                        <p:attrNameLst>
                                          <p:attrName>style.visibility</p:attrName>
                                        </p:attrNameLst>
                                      </p:cBhvr>
                                      <p:to>
                                        <p:strVal val="visible"/>
                                      </p:to>
                                    </p:set>
                                    <p:animEffect transition="in" filter="wipe(up)">
                                      <p:cBhvr>
                                        <p:cTn id="7" dur="1000"/>
                                        <p:tgtEl>
                                          <p:spTgt spid="576725"/>
                                        </p:tgtEl>
                                      </p:cBhvr>
                                    </p:animEffect>
                                  </p:childTnLst>
                                </p:cTn>
                              </p:par>
                            </p:childTnLst>
                          </p:cTn>
                        </p:par>
                        <p:par>
                          <p:cTn id="8" fill="hold">
                            <p:stCondLst>
                              <p:cond delay="1500"/>
                            </p:stCondLst>
                            <p:childTnLst>
                              <p:par>
                                <p:cTn id="9" presetID="22" presetClass="entr" presetSubtype="1" fill="hold" nodeType="afterEffect">
                                  <p:stCondLst>
                                    <p:cond delay="500"/>
                                  </p:stCondLst>
                                  <p:childTnLst>
                                    <p:set>
                                      <p:cBhvr>
                                        <p:cTn id="10" dur="1" fill="hold">
                                          <p:stCondLst>
                                            <p:cond delay="0"/>
                                          </p:stCondLst>
                                        </p:cTn>
                                        <p:tgtEl>
                                          <p:spTgt spid="576726"/>
                                        </p:tgtEl>
                                        <p:attrNameLst>
                                          <p:attrName>style.visibility</p:attrName>
                                        </p:attrNameLst>
                                      </p:cBhvr>
                                      <p:to>
                                        <p:strVal val="visible"/>
                                      </p:to>
                                    </p:set>
                                    <p:animEffect transition="in" filter="wipe(up)">
                                      <p:cBhvr>
                                        <p:cTn id="11" dur="1000"/>
                                        <p:tgtEl>
                                          <p:spTgt spid="576726"/>
                                        </p:tgtEl>
                                      </p:cBhvr>
                                    </p:animEffect>
                                  </p:childTnLst>
                                </p:cTn>
                              </p:par>
                            </p:childTnLst>
                          </p:cTn>
                        </p:par>
                        <p:par>
                          <p:cTn id="12" fill="hold">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76727"/>
                                        </p:tgtEl>
                                        <p:attrNameLst>
                                          <p:attrName>style.visibility</p:attrName>
                                        </p:attrNameLst>
                                      </p:cBhvr>
                                      <p:to>
                                        <p:strVal val="visible"/>
                                      </p:to>
                                    </p:set>
                                    <p:animEffect transition="in" filter="wipe(up)">
                                      <p:cBhvr>
                                        <p:cTn id="15" dur="1000"/>
                                        <p:tgtEl>
                                          <p:spTgt spid="576727"/>
                                        </p:tgtEl>
                                      </p:cBhvr>
                                    </p:animEffect>
                                  </p:childTnLst>
                                </p:cTn>
                              </p:par>
                            </p:childTnLst>
                          </p:cTn>
                        </p:par>
                        <p:par>
                          <p:cTn id="16" fill="hold">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76728"/>
                                        </p:tgtEl>
                                        <p:attrNameLst>
                                          <p:attrName>style.visibility</p:attrName>
                                        </p:attrNameLst>
                                      </p:cBhvr>
                                      <p:to>
                                        <p:strVal val="visible"/>
                                      </p:to>
                                    </p:set>
                                    <p:animEffect transition="in" filter="wipe(up)">
                                      <p:cBhvr>
                                        <p:cTn id="19" dur="1000"/>
                                        <p:tgtEl>
                                          <p:spTgt spid="576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pPr eaLnBrk="1" hangingPunct="1">
              <a:defRPr/>
            </a:pPr>
            <a:r>
              <a:rPr lang="en-US" altLang="zh-CN" dirty="0"/>
              <a:t>6.1.3  </a:t>
            </a:r>
            <a:r>
              <a:rPr lang="zh-CN" altLang="en-US" dirty="0"/>
              <a:t>域名服务器 </a:t>
            </a:r>
            <a:endParaRPr lang="zh-CN" altLang="en-US" dirty="0"/>
          </a:p>
        </p:txBody>
      </p:sp>
      <p:sp>
        <p:nvSpPr>
          <p:cNvPr id="44035" name="Rectangle 3"/>
          <p:cNvSpPr>
            <a:spLocks noGrp="1" noChangeArrowheads="1"/>
          </p:cNvSpPr>
          <p:nvPr>
            <p:ph idx="1"/>
          </p:nvPr>
        </p:nvSpPr>
        <p:spPr/>
        <p:txBody>
          <a:bodyPr/>
          <a:lstStyle/>
          <a:p>
            <a:pPr eaLnBrk="1" hangingPunct="1"/>
            <a:r>
              <a:rPr lang="zh-CN" altLang="en-US" dirty="0" smtClean="0">
                <a:ea typeface="黑体" panose="02010609060101010101" pitchFamily="2" charset="-122"/>
              </a:rPr>
              <a:t>一个服务器所负责管辖的（或有权限的）范围叫做</a:t>
            </a:r>
            <a:r>
              <a:rPr lang="zh-CN" altLang="en-US" dirty="0" smtClean="0">
                <a:solidFill>
                  <a:srgbClr val="FF0000"/>
                </a:solidFill>
                <a:ea typeface="黑体" panose="02010609060101010101" pitchFamily="2" charset="-122"/>
              </a:rPr>
              <a:t>区 </a:t>
            </a:r>
            <a:r>
              <a:rPr lang="en-US" altLang="zh-CN" dirty="0" smtClean="0">
                <a:ea typeface="黑体" panose="02010609060101010101" pitchFamily="2" charset="-122"/>
              </a:rPr>
              <a:t>(zone)</a:t>
            </a:r>
            <a:r>
              <a:rPr lang="zh-CN" altLang="en-US" dirty="0" smtClean="0">
                <a:ea typeface="黑体" panose="02010609060101010101" pitchFamily="2" charset="-122"/>
              </a:rPr>
              <a:t>。</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各单位根据具体情况来划分自己管辖范围的区。但在一个区中的所有节点必须是能够连通的。</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每一个区设置相应的</a:t>
            </a:r>
            <a:r>
              <a:rPr lang="zh-CN" altLang="en-US" dirty="0" smtClean="0">
                <a:solidFill>
                  <a:srgbClr val="FF0000"/>
                </a:solidFill>
                <a:ea typeface="黑体" panose="02010609060101010101" pitchFamily="2" charset="-122"/>
              </a:rPr>
              <a:t>权限域名服务器</a:t>
            </a:r>
            <a:r>
              <a:rPr lang="zh-CN" altLang="en-US" dirty="0" smtClean="0">
                <a:ea typeface="黑体" panose="02010609060101010101" pitchFamily="2" charset="-122"/>
              </a:rPr>
              <a:t>，用来保存该区中的所有主机的域名到 </a:t>
            </a:r>
            <a:r>
              <a:rPr lang="en-US" altLang="zh-CN" dirty="0" smtClean="0">
                <a:ea typeface="黑体" panose="02010609060101010101" pitchFamily="2" charset="-122"/>
              </a:rPr>
              <a:t>IP </a:t>
            </a:r>
            <a:r>
              <a:rPr lang="zh-CN" altLang="en-US" dirty="0" smtClean="0">
                <a:ea typeface="黑体" panose="02010609060101010101" pitchFamily="2" charset="-122"/>
              </a:rPr>
              <a:t>地址的映射。</a:t>
            </a:r>
            <a:endParaRPr lang="zh-CN" altLang="en-US" dirty="0" smtClean="0">
              <a:ea typeface="黑体" panose="02010609060101010101" pitchFamily="2" charset="-122"/>
            </a:endParaRPr>
          </a:p>
          <a:p>
            <a:pPr eaLnBrk="1" hangingPunct="1"/>
            <a:r>
              <a:rPr lang="en-US" altLang="zh-CN" dirty="0" smtClean="0">
                <a:ea typeface="黑体" panose="02010609060101010101" pitchFamily="2" charset="-122"/>
              </a:rPr>
              <a:t>DNS </a:t>
            </a:r>
            <a:r>
              <a:rPr lang="zh-CN" altLang="en-US" dirty="0" smtClean="0">
                <a:ea typeface="黑体" panose="02010609060101010101" pitchFamily="2" charset="-122"/>
              </a:rPr>
              <a:t>服务器的管辖范围不是以“域”为单位，而是以“区”为单位。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8" name="Rectangle 4"/>
          <p:cNvSpPr>
            <a:spLocks noGrp="1" noChangeArrowheads="1"/>
          </p:cNvSpPr>
          <p:nvPr>
            <p:ph type="title"/>
          </p:nvPr>
        </p:nvSpPr>
        <p:spPr/>
        <p:txBody>
          <a:bodyPr/>
          <a:lstStyle/>
          <a:p>
            <a:pPr algn="ctr" eaLnBrk="1" hangingPunct="1">
              <a:defRPr/>
            </a:pPr>
            <a:r>
              <a:rPr dirty="0"/>
              <a:t>区的不同划分方法举例 </a:t>
            </a:r>
            <a:endParaRPr dirty="0"/>
          </a:p>
        </p:txBody>
      </p:sp>
      <p:sp>
        <p:nvSpPr>
          <p:cNvPr id="45059" name="Line 92"/>
          <p:cNvSpPr>
            <a:spLocks noChangeShapeType="1"/>
          </p:cNvSpPr>
          <p:nvPr/>
        </p:nvSpPr>
        <p:spPr bwMode="auto">
          <a:xfrm>
            <a:off x="2660815" y="2515072"/>
            <a:ext cx="10319" cy="8001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060" name="Text Box 93"/>
          <p:cNvSpPr txBox="1">
            <a:spLocks noChangeArrowheads="1"/>
          </p:cNvSpPr>
          <p:nvPr/>
        </p:nvSpPr>
        <p:spPr bwMode="auto">
          <a:xfrm>
            <a:off x="409608" y="2902422"/>
            <a:ext cx="18277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mn-lt"/>
                <a:ea typeface="+mn-ea"/>
              </a:rPr>
              <a:t>域 </a:t>
            </a:r>
            <a:r>
              <a:rPr kumimoji="1" lang="en-US" altLang="zh-CN" sz="2400" b="1">
                <a:solidFill>
                  <a:srgbClr val="000099"/>
                </a:solidFill>
                <a:latin typeface="+mn-lt"/>
                <a:ea typeface="+mn-ea"/>
              </a:rPr>
              <a:t>abc.com</a:t>
            </a:r>
            <a:endParaRPr kumimoji="1" lang="en-US" altLang="zh-CN" sz="2400" b="1">
              <a:solidFill>
                <a:srgbClr val="000099"/>
              </a:solidFill>
              <a:latin typeface="+mn-lt"/>
              <a:ea typeface="+mn-ea"/>
            </a:endParaRPr>
          </a:p>
        </p:txBody>
      </p:sp>
      <p:sp>
        <p:nvSpPr>
          <p:cNvPr id="45061" name="Freeform 94"/>
          <p:cNvSpPr/>
          <p:nvPr/>
        </p:nvSpPr>
        <p:spPr bwMode="auto">
          <a:xfrm>
            <a:off x="736368" y="3092923"/>
            <a:ext cx="3719910" cy="2295525"/>
          </a:xfrm>
          <a:custGeom>
            <a:avLst/>
            <a:gdLst>
              <a:gd name="T0" fmla="*/ 2147483646 w 1917"/>
              <a:gd name="T1" fmla="*/ 2147483646 h 1143"/>
              <a:gd name="T2" fmla="*/ 2147483646 w 1917"/>
              <a:gd name="T3" fmla="*/ 2147483646 h 1143"/>
              <a:gd name="T4" fmla="*/ 2147483646 w 1917"/>
              <a:gd name="T5" fmla="*/ 2147483646 h 1143"/>
              <a:gd name="T6" fmla="*/ 2147483646 w 1917"/>
              <a:gd name="T7" fmla="*/ 2147483646 h 1143"/>
              <a:gd name="T8" fmla="*/ 2147483646 w 1917"/>
              <a:gd name="T9" fmla="*/ 2147483646 h 1143"/>
              <a:gd name="T10" fmla="*/ 2147483646 w 1917"/>
              <a:gd name="T11" fmla="*/ 2147483646 h 1143"/>
              <a:gd name="T12" fmla="*/ 2147483646 w 1917"/>
              <a:gd name="T13" fmla="*/ 2147483646 h 1143"/>
              <a:gd name="T14" fmla="*/ 2147483646 w 1917"/>
              <a:gd name="T15" fmla="*/ 2147483646 h 1143"/>
              <a:gd name="T16" fmla="*/ 2147483646 w 1917"/>
              <a:gd name="T17" fmla="*/ 2147483646 h 1143"/>
              <a:gd name="T18" fmla="*/ 2147483646 w 1917"/>
              <a:gd name="T19" fmla="*/ 2147483646 h 1143"/>
              <a:gd name="T20" fmla="*/ 2147483646 w 1917"/>
              <a:gd name="T21" fmla="*/ 2147483646 h 1143"/>
              <a:gd name="T22" fmla="*/ 2147483646 w 1917"/>
              <a:gd name="T23" fmla="*/ 2147483646 h 1143"/>
              <a:gd name="T24" fmla="*/ 2147483646 w 1917"/>
              <a:gd name="T25" fmla="*/ 2147483646 h 1143"/>
              <a:gd name="T26" fmla="*/ 2147483646 w 1917"/>
              <a:gd name="T27" fmla="*/ 2147483646 h 1143"/>
              <a:gd name="T28" fmla="*/ 2147483646 w 1917"/>
              <a:gd name="T29" fmla="*/ 2147483646 h 1143"/>
              <a:gd name="T30" fmla="*/ 2147483646 w 1917"/>
              <a:gd name="T31" fmla="*/ 2147483646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ffectLst/>
          <a:extLst>
            <a:ext uri="{91240B29-F687-4F45-9708-019B960494DF}">
              <a14:hiddenLine xmlns:a14="http://schemas.microsoft.com/office/drawing/2010/main" w="38100">
                <a:solidFill>
                  <a:srgbClr val="5F5F5F"/>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2" name="AutoShape 95"/>
          <p:cNvSpPr>
            <a:spLocks noChangeArrowheads="1"/>
          </p:cNvSpPr>
          <p:nvPr/>
        </p:nvSpPr>
        <p:spPr bwMode="auto">
          <a:xfrm>
            <a:off x="277184" y="2970684"/>
            <a:ext cx="4579805" cy="2641600"/>
          </a:xfrm>
          <a:prstGeom prst="roundRect">
            <a:avLst>
              <a:gd name="adj" fmla="val 9319"/>
            </a:avLst>
          </a:prstGeom>
          <a:noFill/>
          <a:ln w="28575">
            <a:solidFill>
              <a:schemeClr val="tx1"/>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45063" name="Text Box 96"/>
          <p:cNvSpPr txBox="1">
            <a:spLocks noChangeArrowheads="1"/>
          </p:cNvSpPr>
          <p:nvPr/>
        </p:nvSpPr>
        <p:spPr bwMode="auto">
          <a:xfrm>
            <a:off x="262155" y="3502497"/>
            <a:ext cx="1433406"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70000"/>
              </a:lnSpc>
            </a:pPr>
            <a:r>
              <a:rPr kumimoji="1" lang="zh-CN" altLang="zh-CN" sz="2400" b="1">
                <a:solidFill>
                  <a:srgbClr val="000099"/>
                </a:solidFill>
                <a:latin typeface="+mn-lt"/>
                <a:ea typeface="+mn-ea"/>
              </a:rPr>
              <a:t> 区</a:t>
            </a:r>
            <a:endParaRPr kumimoji="1" lang="zh-CN" altLang="en-US" sz="2400" b="1">
              <a:solidFill>
                <a:srgbClr val="000099"/>
              </a:solidFill>
              <a:latin typeface="+mn-lt"/>
              <a:ea typeface="+mn-ea"/>
            </a:endParaRPr>
          </a:p>
          <a:p>
            <a:pPr algn="ctr" eaLnBrk="1" hangingPunct="1">
              <a:lnSpc>
                <a:spcPct val="70000"/>
              </a:lnSpc>
            </a:pPr>
            <a:r>
              <a:rPr kumimoji="1" lang="en-US" altLang="zh-CN" sz="2400" b="1">
                <a:solidFill>
                  <a:srgbClr val="000099"/>
                </a:solidFill>
                <a:latin typeface="+mn-lt"/>
                <a:ea typeface="+mn-ea"/>
              </a:rPr>
              <a:t>abc.com</a:t>
            </a:r>
            <a:endParaRPr kumimoji="1" lang="en-US" altLang="zh-CN" sz="2400" b="1">
              <a:solidFill>
                <a:srgbClr val="000099"/>
              </a:solidFill>
              <a:latin typeface="+mn-lt"/>
              <a:ea typeface="+mn-ea"/>
            </a:endParaRPr>
          </a:p>
        </p:txBody>
      </p:sp>
      <p:sp>
        <p:nvSpPr>
          <p:cNvPr id="45064" name="Freeform 97"/>
          <p:cNvSpPr/>
          <p:nvPr/>
        </p:nvSpPr>
        <p:spPr bwMode="auto">
          <a:xfrm>
            <a:off x="953062" y="4026372"/>
            <a:ext cx="142743" cy="582612"/>
          </a:xfrm>
          <a:custGeom>
            <a:avLst/>
            <a:gdLst>
              <a:gd name="T0" fmla="*/ 0 w 172"/>
              <a:gd name="T1" fmla="*/ 0 h 244"/>
              <a:gd name="T2" fmla="*/ 2147483646 w 172"/>
              <a:gd name="T3" fmla="*/ 2147483646 h 244"/>
              <a:gd name="T4" fmla="*/ 0 60000 65536"/>
              <a:gd name="T5" fmla="*/ 0 60000 65536"/>
            </a:gdLst>
            <a:ahLst/>
            <a:cxnLst>
              <a:cxn ang="T4">
                <a:pos x="T0" y="T1"/>
              </a:cxn>
              <a:cxn ang="T5">
                <a:pos x="T2" y="T3"/>
              </a:cxn>
            </a:cxnLst>
            <a:rect l="0" t="0" r="r" b="b"/>
            <a:pathLst>
              <a:path w="172" h="244">
                <a:moveTo>
                  <a:pt x="0" y="0"/>
                </a:moveTo>
                <a:lnTo>
                  <a:pt x="172" y="244"/>
                </a:lnTo>
              </a:path>
            </a:pathLst>
          </a:custGeom>
          <a:noFill/>
          <a:ln w="9525">
            <a:solidFill>
              <a:schemeClr val="tx1"/>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065" name="Line 98"/>
          <p:cNvSpPr>
            <a:spLocks noChangeShapeType="1"/>
          </p:cNvSpPr>
          <p:nvPr/>
        </p:nvSpPr>
        <p:spPr bwMode="auto">
          <a:xfrm flipH="1">
            <a:off x="2177554" y="3485034"/>
            <a:ext cx="390393" cy="66198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6" name="Line 99"/>
          <p:cNvSpPr>
            <a:spLocks noChangeShapeType="1"/>
          </p:cNvSpPr>
          <p:nvPr/>
        </p:nvSpPr>
        <p:spPr bwMode="auto">
          <a:xfrm>
            <a:off x="2784640" y="3515198"/>
            <a:ext cx="510778" cy="61753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7" name="Line 100"/>
          <p:cNvSpPr>
            <a:spLocks noChangeShapeType="1"/>
          </p:cNvSpPr>
          <p:nvPr/>
        </p:nvSpPr>
        <p:spPr bwMode="auto">
          <a:xfrm>
            <a:off x="3383128" y="4256560"/>
            <a:ext cx="546894" cy="79216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8" name="Line 101"/>
          <p:cNvSpPr>
            <a:spLocks noChangeShapeType="1"/>
          </p:cNvSpPr>
          <p:nvPr/>
        </p:nvSpPr>
        <p:spPr bwMode="auto">
          <a:xfrm>
            <a:off x="2203350" y="4275609"/>
            <a:ext cx="667279" cy="70485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9" name="Line 102"/>
          <p:cNvSpPr>
            <a:spLocks noChangeShapeType="1"/>
          </p:cNvSpPr>
          <p:nvPr/>
        </p:nvSpPr>
        <p:spPr bwMode="auto">
          <a:xfrm flipH="1">
            <a:off x="2088124" y="4286722"/>
            <a:ext cx="18918" cy="60325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70" name="Line 103"/>
          <p:cNvSpPr>
            <a:spLocks noChangeShapeType="1"/>
          </p:cNvSpPr>
          <p:nvPr/>
        </p:nvSpPr>
        <p:spPr bwMode="auto">
          <a:xfrm flipH="1">
            <a:off x="1272943" y="4205759"/>
            <a:ext cx="810022" cy="77470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71" name="Oval 104"/>
          <p:cNvSpPr>
            <a:spLocks noChangeArrowheads="1"/>
          </p:cNvSpPr>
          <p:nvPr/>
        </p:nvSpPr>
        <p:spPr bwMode="auto">
          <a:xfrm>
            <a:off x="2294499" y="3259610"/>
            <a:ext cx="703395" cy="3841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abc</a:t>
            </a:r>
            <a:endParaRPr kumimoji="1" lang="en-US" altLang="zh-CN" sz="2400" b="1">
              <a:solidFill>
                <a:srgbClr val="000099"/>
              </a:solidFill>
              <a:latin typeface="+mn-lt"/>
              <a:ea typeface="+mn-ea"/>
            </a:endParaRPr>
          </a:p>
        </p:txBody>
      </p:sp>
      <p:sp>
        <p:nvSpPr>
          <p:cNvPr id="45072" name="Oval 105"/>
          <p:cNvSpPr>
            <a:spLocks noChangeArrowheads="1"/>
          </p:cNvSpPr>
          <p:nvPr/>
        </p:nvSpPr>
        <p:spPr bwMode="auto">
          <a:xfrm>
            <a:off x="1816397" y="4051773"/>
            <a:ext cx="617406" cy="306387"/>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x</a:t>
            </a:r>
            <a:endParaRPr kumimoji="1" lang="en-US" altLang="zh-CN" sz="2400" b="1">
              <a:solidFill>
                <a:srgbClr val="000099"/>
              </a:solidFill>
              <a:latin typeface="+mn-lt"/>
              <a:ea typeface="+mn-ea"/>
            </a:endParaRPr>
          </a:p>
        </p:txBody>
      </p:sp>
      <p:sp>
        <p:nvSpPr>
          <p:cNvPr id="45073" name="Oval 106"/>
          <p:cNvSpPr>
            <a:spLocks noChangeArrowheads="1"/>
          </p:cNvSpPr>
          <p:nvPr/>
        </p:nvSpPr>
        <p:spPr bwMode="auto">
          <a:xfrm>
            <a:off x="937584" y="4894735"/>
            <a:ext cx="617405"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u</a:t>
            </a:r>
            <a:endParaRPr kumimoji="1" lang="en-US" altLang="zh-CN" sz="2400" b="1">
              <a:solidFill>
                <a:srgbClr val="000099"/>
              </a:solidFill>
              <a:latin typeface="+mn-lt"/>
              <a:ea typeface="+mn-ea"/>
            </a:endParaRPr>
          </a:p>
        </p:txBody>
      </p:sp>
      <p:sp>
        <p:nvSpPr>
          <p:cNvPr id="45074" name="Oval 107"/>
          <p:cNvSpPr>
            <a:spLocks noChangeArrowheads="1"/>
          </p:cNvSpPr>
          <p:nvPr/>
        </p:nvSpPr>
        <p:spPr bwMode="auto">
          <a:xfrm>
            <a:off x="1757924" y="4894735"/>
            <a:ext cx="617406"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v</a:t>
            </a:r>
            <a:endParaRPr kumimoji="1" lang="en-US" altLang="zh-CN" sz="2400" b="1">
              <a:solidFill>
                <a:srgbClr val="000099"/>
              </a:solidFill>
              <a:latin typeface="+mn-lt"/>
              <a:ea typeface="+mn-ea"/>
            </a:endParaRPr>
          </a:p>
        </p:txBody>
      </p:sp>
      <p:sp>
        <p:nvSpPr>
          <p:cNvPr id="45075" name="Oval 108"/>
          <p:cNvSpPr>
            <a:spLocks noChangeArrowheads="1"/>
          </p:cNvSpPr>
          <p:nvPr/>
        </p:nvSpPr>
        <p:spPr bwMode="auto">
          <a:xfrm>
            <a:off x="2579985" y="4894735"/>
            <a:ext cx="617406"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w</a:t>
            </a:r>
            <a:endParaRPr kumimoji="1" lang="en-US" altLang="zh-CN" sz="2400" b="1">
              <a:solidFill>
                <a:srgbClr val="000099"/>
              </a:solidFill>
              <a:latin typeface="+mn-lt"/>
              <a:ea typeface="+mn-ea"/>
            </a:endParaRPr>
          </a:p>
        </p:txBody>
      </p:sp>
      <p:sp>
        <p:nvSpPr>
          <p:cNvPr id="45076" name="Oval 109"/>
          <p:cNvSpPr>
            <a:spLocks noChangeArrowheads="1"/>
          </p:cNvSpPr>
          <p:nvPr/>
        </p:nvSpPr>
        <p:spPr bwMode="auto">
          <a:xfrm>
            <a:off x="3577464" y="4894735"/>
            <a:ext cx="617406"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t</a:t>
            </a:r>
            <a:endParaRPr kumimoji="1" lang="en-US" altLang="zh-CN" sz="2400" b="1">
              <a:solidFill>
                <a:srgbClr val="000099"/>
              </a:solidFill>
              <a:latin typeface="+mn-lt"/>
              <a:ea typeface="+mn-ea"/>
            </a:endParaRPr>
          </a:p>
        </p:txBody>
      </p:sp>
      <p:sp>
        <p:nvSpPr>
          <p:cNvPr id="45077" name="Oval 110"/>
          <p:cNvSpPr>
            <a:spLocks noChangeArrowheads="1"/>
          </p:cNvSpPr>
          <p:nvPr/>
        </p:nvSpPr>
        <p:spPr bwMode="auto">
          <a:xfrm>
            <a:off x="3049488" y="4051773"/>
            <a:ext cx="617405" cy="306387"/>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y</a:t>
            </a:r>
            <a:endParaRPr kumimoji="1" lang="en-US" altLang="zh-CN" sz="2400" b="1">
              <a:solidFill>
                <a:srgbClr val="000099"/>
              </a:solidFill>
              <a:latin typeface="+mn-lt"/>
              <a:ea typeface="+mn-ea"/>
            </a:endParaRPr>
          </a:p>
        </p:txBody>
      </p:sp>
      <p:sp>
        <p:nvSpPr>
          <p:cNvPr id="1066095" name="Text Box 111"/>
          <p:cNvSpPr txBox="1">
            <a:spLocks noChangeArrowheads="1"/>
          </p:cNvSpPr>
          <p:nvPr/>
        </p:nvSpPr>
        <p:spPr bwMode="auto">
          <a:xfrm>
            <a:off x="1658177" y="5631334"/>
            <a:ext cx="16145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mn-lt"/>
                <a:ea typeface="+mn-ea"/>
              </a:rPr>
              <a:t>(a) </a:t>
            </a:r>
            <a:r>
              <a:rPr kumimoji="1" lang="zh-CN" altLang="en-US" sz="2400" b="1">
                <a:solidFill>
                  <a:srgbClr val="000099"/>
                </a:solidFill>
                <a:latin typeface="+mn-lt"/>
                <a:ea typeface="+mn-ea"/>
              </a:rPr>
              <a:t>区 </a:t>
            </a:r>
            <a:r>
              <a:rPr kumimoji="1" lang="en-US" altLang="zh-CN" sz="2400" b="1">
                <a:solidFill>
                  <a:srgbClr val="000099"/>
                </a:solidFill>
                <a:latin typeface="+mn-lt"/>
                <a:ea typeface="+mn-ea"/>
              </a:rPr>
              <a:t>= </a:t>
            </a:r>
            <a:r>
              <a:rPr kumimoji="1" lang="zh-CN" altLang="en-US" sz="2400" b="1">
                <a:solidFill>
                  <a:srgbClr val="000099"/>
                </a:solidFill>
                <a:latin typeface="+mn-lt"/>
                <a:ea typeface="+mn-ea"/>
              </a:rPr>
              <a:t>域</a:t>
            </a:r>
            <a:endParaRPr kumimoji="1" lang="zh-CN" altLang="en-US" sz="2400" b="1">
              <a:solidFill>
                <a:srgbClr val="000099"/>
              </a:solidFill>
              <a:latin typeface="+mn-lt"/>
              <a:ea typeface="+mn-ea"/>
            </a:endParaRPr>
          </a:p>
        </p:txBody>
      </p:sp>
      <p:grpSp>
        <p:nvGrpSpPr>
          <p:cNvPr id="1066157" name="Group 173"/>
          <p:cNvGrpSpPr/>
          <p:nvPr/>
        </p:nvGrpSpPr>
        <p:grpSpPr bwMode="auto">
          <a:xfrm>
            <a:off x="5247381" y="1238722"/>
            <a:ext cx="4602163" cy="4854574"/>
            <a:chOff x="2971" y="709"/>
            <a:chExt cx="2676" cy="3058"/>
          </a:xfrm>
        </p:grpSpPr>
        <p:grpSp>
          <p:nvGrpSpPr>
            <p:cNvPr id="45100" name="Group 89"/>
            <p:cNvGrpSpPr/>
            <p:nvPr/>
          </p:nvGrpSpPr>
          <p:grpSpPr bwMode="auto">
            <a:xfrm>
              <a:off x="4196" y="1530"/>
              <a:ext cx="256" cy="98"/>
              <a:chOff x="1519" y="813"/>
              <a:chExt cx="227" cy="77"/>
            </a:xfrm>
          </p:grpSpPr>
          <p:sp>
            <p:nvSpPr>
              <p:cNvPr id="45141" name="Line 90"/>
              <p:cNvSpPr>
                <a:spLocks noChangeShapeType="1"/>
              </p:cNvSpPr>
              <p:nvPr/>
            </p:nvSpPr>
            <p:spPr bwMode="auto">
              <a:xfrm>
                <a:off x="1647"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42" name="Line 91"/>
              <p:cNvSpPr>
                <a:spLocks noChangeShapeType="1"/>
              </p:cNvSpPr>
              <p:nvPr/>
            </p:nvSpPr>
            <p:spPr bwMode="auto">
              <a:xfrm flipH="1">
                <a:off x="1519"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101" name="Text Box 112"/>
            <p:cNvSpPr txBox="1">
              <a:spLocks noChangeArrowheads="1"/>
            </p:cNvSpPr>
            <p:nvPr/>
          </p:nvSpPr>
          <p:spPr bwMode="auto">
            <a:xfrm>
              <a:off x="3742" y="3476"/>
              <a:ext cx="9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mn-lt"/>
                  <a:ea typeface="+mn-ea"/>
                </a:rPr>
                <a:t>(b) </a:t>
              </a:r>
              <a:r>
                <a:rPr kumimoji="1" lang="zh-CN" altLang="en-US" sz="2400" b="1">
                  <a:solidFill>
                    <a:srgbClr val="000099"/>
                  </a:solidFill>
                  <a:latin typeface="+mn-lt"/>
                  <a:ea typeface="+mn-ea"/>
                </a:rPr>
                <a:t>区 </a:t>
              </a:r>
              <a:r>
                <a:rPr kumimoji="1" lang="en-US" altLang="zh-CN" sz="2400" b="1">
                  <a:solidFill>
                    <a:srgbClr val="000099"/>
                  </a:solidFill>
                  <a:latin typeface="+mn-lt"/>
                  <a:ea typeface="+mn-ea"/>
                </a:rPr>
                <a:t>&lt; </a:t>
              </a:r>
              <a:r>
                <a:rPr kumimoji="1" lang="zh-CN" altLang="en-US" sz="2400" b="1">
                  <a:solidFill>
                    <a:srgbClr val="000099"/>
                  </a:solidFill>
                  <a:latin typeface="+mn-lt"/>
                  <a:ea typeface="+mn-ea"/>
                </a:rPr>
                <a:t>域</a:t>
              </a:r>
              <a:endParaRPr kumimoji="1" lang="zh-CN" altLang="en-US" sz="2400" b="1">
                <a:solidFill>
                  <a:srgbClr val="000099"/>
                </a:solidFill>
                <a:latin typeface="+mn-lt"/>
                <a:ea typeface="+mn-ea"/>
              </a:endParaRPr>
            </a:p>
          </p:txBody>
        </p:sp>
        <p:sp>
          <p:nvSpPr>
            <p:cNvPr id="45102" name="Line 113"/>
            <p:cNvSpPr>
              <a:spLocks noChangeShapeType="1"/>
            </p:cNvSpPr>
            <p:nvPr/>
          </p:nvSpPr>
          <p:spPr bwMode="auto">
            <a:xfrm>
              <a:off x="4328" y="1523"/>
              <a:ext cx="5" cy="505"/>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03" name="Text Box 114"/>
            <p:cNvSpPr txBox="1">
              <a:spLocks noChangeArrowheads="1"/>
            </p:cNvSpPr>
            <p:nvPr/>
          </p:nvSpPr>
          <p:spPr bwMode="auto">
            <a:xfrm>
              <a:off x="3061" y="1757"/>
              <a:ext cx="106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mn-lt"/>
                  <a:ea typeface="+mn-ea"/>
                </a:rPr>
                <a:t>域 </a:t>
              </a:r>
              <a:r>
                <a:rPr kumimoji="1" lang="en-US" altLang="zh-CN" sz="2400" b="1">
                  <a:solidFill>
                    <a:srgbClr val="000099"/>
                  </a:solidFill>
                  <a:latin typeface="+mn-lt"/>
                  <a:ea typeface="+mn-ea"/>
                </a:rPr>
                <a:t>abc.com</a:t>
              </a:r>
              <a:endParaRPr kumimoji="1" lang="en-US" altLang="zh-CN" sz="2400" b="1">
                <a:solidFill>
                  <a:srgbClr val="000099"/>
                </a:solidFill>
                <a:latin typeface="+mn-lt"/>
                <a:ea typeface="+mn-ea"/>
              </a:endParaRPr>
            </a:p>
          </p:txBody>
        </p:sp>
        <p:sp>
          <p:nvSpPr>
            <p:cNvPr id="45104" name="Freeform 115"/>
            <p:cNvSpPr/>
            <p:nvPr/>
          </p:nvSpPr>
          <p:spPr bwMode="auto">
            <a:xfrm>
              <a:off x="4458" y="2341"/>
              <a:ext cx="849" cy="958"/>
            </a:xfrm>
            <a:custGeom>
              <a:avLst/>
              <a:gdLst>
                <a:gd name="T0" fmla="*/ 627 w 753"/>
                <a:gd name="T1" fmla="*/ 43 h 900"/>
                <a:gd name="T2" fmla="*/ 149 w 753"/>
                <a:gd name="T3" fmla="*/ 90 h 900"/>
                <a:gd name="T4" fmla="*/ 1 w 753"/>
                <a:gd name="T5" fmla="*/ 345 h 900"/>
                <a:gd name="T6" fmla="*/ 167 w 753"/>
                <a:gd name="T7" fmla="*/ 532 h 900"/>
                <a:gd name="T8" fmla="*/ 472 w 753"/>
                <a:gd name="T9" fmla="*/ 854 h 900"/>
                <a:gd name="T10" fmla="*/ 745 w 753"/>
                <a:gd name="T11" fmla="*/ 1193 h 900"/>
                <a:gd name="T12" fmla="*/ 1103 w 753"/>
                <a:gd name="T13" fmla="*/ 1300 h 900"/>
                <a:gd name="T14" fmla="*/ 1416 w 753"/>
                <a:gd name="T15" fmla="*/ 1242 h 900"/>
                <a:gd name="T16" fmla="*/ 1547 w 753"/>
                <a:gd name="T17" fmla="*/ 1114 h 900"/>
                <a:gd name="T18" fmla="*/ 1413 w 753"/>
                <a:gd name="T19" fmla="*/ 843 h 900"/>
                <a:gd name="T20" fmla="*/ 1235 w 753"/>
                <a:gd name="T21" fmla="*/ 626 h 900"/>
                <a:gd name="T22" fmla="*/ 991 w 753"/>
                <a:gd name="T23" fmla="*/ 356 h 900"/>
                <a:gd name="T24" fmla="*/ 627 w 753"/>
                <a:gd name="T25" fmla="*/ 43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ffectLst/>
            <a:extLst>
              <a:ext uri="{91240B29-F687-4F45-9708-019B960494DF}">
                <a14:hiddenLine xmlns:a14="http://schemas.microsoft.com/office/drawing/2010/main" w="38100">
                  <a:solidFill>
                    <a:srgbClr val="5F5F5F"/>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05" name="Freeform 116"/>
            <p:cNvSpPr/>
            <p:nvPr/>
          </p:nvSpPr>
          <p:spPr bwMode="auto">
            <a:xfrm>
              <a:off x="3215" y="1882"/>
              <a:ext cx="1535" cy="1436"/>
            </a:xfrm>
            <a:custGeom>
              <a:avLst/>
              <a:gdLst>
                <a:gd name="T0" fmla="*/ 2481 w 1360"/>
                <a:gd name="T1" fmla="*/ 85 h 1349"/>
                <a:gd name="T2" fmla="*/ 1823 w 1360"/>
                <a:gd name="T3" fmla="*/ 67 h 1349"/>
                <a:gd name="T4" fmla="*/ 1248 w 1360"/>
                <a:gd name="T5" fmla="*/ 490 h 1349"/>
                <a:gd name="T6" fmla="*/ 247 w 1360"/>
                <a:gd name="T7" fmla="*/ 1427 h 1349"/>
                <a:gd name="T8" fmla="*/ 27 w 1360"/>
                <a:gd name="T9" fmla="*/ 1809 h 1349"/>
                <a:gd name="T10" fmla="*/ 403 w 1360"/>
                <a:gd name="T11" fmla="*/ 1943 h 1349"/>
                <a:gd name="T12" fmla="*/ 1265 w 1360"/>
                <a:gd name="T13" fmla="*/ 1945 h 1349"/>
                <a:gd name="T14" fmla="*/ 2380 w 1360"/>
                <a:gd name="T15" fmla="*/ 1934 h 1349"/>
                <a:gd name="T16" fmla="*/ 2764 w 1360"/>
                <a:gd name="T17" fmla="*/ 1796 h 1349"/>
                <a:gd name="T18" fmla="*/ 2651 w 1360"/>
                <a:gd name="T19" fmla="*/ 1546 h 1349"/>
                <a:gd name="T20" fmla="*/ 2169 w 1360"/>
                <a:gd name="T21" fmla="*/ 1123 h 1349"/>
                <a:gd name="T22" fmla="*/ 2090 w 1360"/>
                <a:gd name="T23" fmla="*/ 884 h 1349"/>
                <a:gd name="T24" fmla="*/ 2368 w 1360"/>
                <a:gd name="T25" fmla="*/ 557 h 1349"/>
                <a:gd name="T26" fmla="*/ 2617 w 1360"/>
                <a:gd name="T27" fmla="*/ 381 h 1349"/>
                <a:gd name="T28" fmla="*/ 2652 w 1360"/>
                <a:gd name="T29" fmla="*/ 242 h 1349"/>
                <a:gd name="T30" fmla="*/ 2481 w 1360"/>
                <a:gd name="T31" fmla="*/ 85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ffectLst/>
            <a:extLst>
              <a:ext uri="{91240B29-F687-4F45-9708-019B960494DF}">
                <a14:hiddenLine xmlns:a14="http://schemas.microsoft.com/office/drawing/2010/main" w="38100">
                  <a:solidFill>
                    <a:srgbClr val="5F5F5F"/>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06" name="AutoShape 117"/>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45107" name="Text Box 118"/>
            <p:cNvSpPr txBox="1">
              <a:spLocks noChangeArrowheads="1"/>
            </p:cNvSpPr>
            <p:nvPr/>
          </p:nvSpPr>
          <p:spPr bwMode="auto">
            <a:xfrm>
              <a:off x="2974" y="2131"/>
              <a:ext cx="83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70000"/>
                </a:lnSpc>
              </a:pPr>
              <a:r>
                <a:rPr kumimoji="1" lang="zh-CN" altLang="zh-CN" sz="2400" b="1">
                  <a:solidFill>
                    <a:srgbClr val="000099"/>
                  </a:solidFill>
                  <a:latin typeface="+mn-lt"/>
                  <a:ea typeface="+mn-ea"/>
                </a:rPr>
                <a:t> 区</a:t>
              </a:r>
              <a:endParaRPr kumimoji="1" lang="zh-CN" altLang="en-US" sz="2400" b="1">
                <a:solidFill>
                  <a:srgbClr val="000099"/>
                </a:solidFill>
                <a:latin typeface="+mn-lt"/>
                <a:ea typeface="+mn-ea"/>
              </a:endParaRPr>
            </a:p>
            <a:p>
              <a:pPr algn="ctr" eaLnBrk="1" hangingPunct="1">
                <a:lnSpc>
                  <a:spcPct val="70000"/>
                </a:lnSpc>
              </a:pPr>
              <a:r>
                <a:rPr kumimoji="1" lang="en-US" altLang="zh-CN" sz="2400" b="1">
                  <a:solidFill>
                    <a:srgbClr val="000099"/>
                  </a:solidFill>
                  <a:latin typeface="+mn-lt"/>
                  <a:ea typeface="+mn-ea"/>
                </a:rPr>
                <a:t>abc.com</a:t>
              </a:r>
              <a:endParaRPr kumimoji="1" lang="en-US" altLang="zh-CN" sz="2400" b="1">
                <a:solidFill>
                  <a:srgbClr val="000099"/>
                </a:solidFill>
                <a:latin typeface="+mn-lt"/>
                <a:ea typeface="+mn-ea"/>
              </a:endParaRPr>
            </a:p>
          </p:txBody>
        </p:sp>
        <p:sp>
          <p:nvSpPr>
            <p:cNvPr id="45108" name="Text Box 119"/>
            <p:cNvSpPr txBox="1">
              <a:spLocks noChangeArrowheads="1"/>
            </p:cNvSpPr>
            <p:nvPr/>
          </p:nvSpPr>
          <p:spPr bwMode="auto">
            <a:xfrm>
              <a:off x="4649" y="1950"/>
              <a:ext cx="998"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75000"/>
                </a:lnSpc>
              </a:pPr>
              <a:r>
                <a:rPr kumimoji="1" lang="zh-CN" altLang="en-US" sz="2400" b="1">
                  <a:solidFill>
                    <a:srgbClr val="000099"/>
                  </a:solidFill>
                  <a:latin typeface="+mn-lt"/>
                  <a:ea typeface="+mn-ea"/>
                </a:rPr>
                <a:t>区</a:t>
              </a:r>
              <a:endParaRPr kumimoji="1" lang="zh-CN" altLang="en-US" sz="2400" b="1">
                <a:solidFill>
                  <a:srgbClr val="000099"/>
                </a:solidFill>
                <a:latin typeface="+mn-lt"/>
                <a:ea typeface="+mn-ea"/>
              </a:endParaRPr>
            </a:p>
            <a:p>
              <a:pPr algn="ctr" eaLnBrk="1" hangingPunct="1">
                <a:lnSpc>
                  <a:spcPct val="75000"/>
                </a:lnSpc>
              </a:pPr>
              <a:r>
                <a:rPr kumimoji="1" lang="en-US" altLang="zh-CN" sz="2400" b="1">
                  <a:solidFill>
                    <a:srgbClr val="000099"/>
                  </a:solidFill>
                  <a:latin typeface="+mn-lt"/>
                  <a:ea typeface="+mn-ea"/>
                </a:rPr>
                <a:t>y.abc.com</a:t>
              </a:r>
              <a:endParaRPr kumimoji="1" lang="en-US" altLang="zh-CN" sz="2400" b="1">
                <a:solidFill>
                  <a:srgbClr val="000099"/>
                </a:solidFill>
                <a:latin typeface="+mn-lt"/>
                <a:ea typeface="+mn-ea"/>
              </a:endParaRPr>
            </a:p>
          </p:txBody>
        </p:sp>
        <p:sp>
          <p:nvSpPr>
            <p:cNvPr id="45109" name="Line 120"/>
            <p:cNvSpPr>
              <a:spLocks noChangeShapeType="1"/>
            </p:cNvSpPr>
            <p:nvPr/>
          </p:nvSpPr>
          <p:spPr bwMode="auto">
            <a:xfrm>
              <a:off x="3382" y="2491"/>
              <a:ext cx="156" cy="227"/>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10" name="Line 121"/>
            <p:cNvSpPr>
              <a:spLocks noChangeShapeType="1"/>
            </p:cNvSpPr>
            <p:nvPr/>
          </p:nvSpPr>
          <p:spPr bwMode="auto">
            <a:xfrm rot="10800000" flipV="1">
              <a:off x="5103" y="2316"/>
              <a:ext cx="124" cy="426"/>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11" name="Line 122"/>
            <p:cNvSpPr>
              <a:spLocks noChangeShapeType="1"/>
            </p:cNvSpPr>
            <p:nvPr/>
          </p:nvSpPr>
          <p:spPr bwMode="auto">
            <a:xfrm flipH="1">
              <a:off x="4054" y="2124"/>
              <a:ext cx="226" cy="41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2" name="Line 123"/>
            <p:cNvSpPr>
              <a:spLocks noChangeShapeType="1"/>
            </p:cNvSpPr>
            <p:nvPr/>
          </p:nvSpPr>
          <p:spPr bwMode="auto">
            <a:xfrm>
              <a:off x="4407" y="2143"/>
              <a:ext cx="297" cy="38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3" name="Line 124"/>
            <p:cNvSpPr>
              <a:spLocks noChangeShapeType="1"/>
            </p:cNvSpPr>
            <p:nvPr/>
          </p:nvSpPr>
          <p:spPr bwMode="auto">
            <a:xfrm>
              <a:off x="4754" y="2610"/>
              <a:ext cx="319" cy="49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4" name="Line 125"/>
            <p:cNvSpPr>
              <a:spLocks noChangeShapeType="1"/>
            </p:cNvSpPr>
            <p:nvPr/>
          </p:nvSpPr>
          <p:spPr bwMode="auto">
            <a:xfrm>
              <a:off x="4068" y="2622"/>
              <a:ext cx="388" cy="444"/>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5" name="Line 126"/>
            <p:cNvSpPr>
              <a:spLocks noChangeShapeType="1"/>
            </p:cNvSpPr>
            <p:nvPr/>
          </p:nvSpPr>
          <p:spPr bwMode="auto">
            <a:xfrm flipH="1">
              <a:off x="4002" y="2629"/>
              <a:ext cx="11" cy="38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6" name="Line 127"/>
            <p:cNvSpPr>
              <a:spLocks noChangeShapeType="1"/>
            </p:cNvSpPr>
            <p:nvPr/>
          </p:nvSpPr>
          <p:spPr bwMode="auto">
            <a:xfrm flipH="1">
              <a:off x="3528" y="2578"/>
              <a:ext cx="470" cy="48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7" name="Oval 128"/>
            <p:cNvSpPr>
              <a:spLocks noChangeArrowheads="1"/>
            </p:cNvSpPr>
            <p:nvPr/>
          </p:nvSpPr>
          <p:spPr bwMode="auto">
            <a:xfrm>
              <a:off x="4121" y="1982"/>
              <a:ext cx="410" cy="242"/>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abc</a:t>
              </a:r>
              <a:endParaRPr kumimoji="1" lang="en-US" altLang="zh-CN" sz="2400" b="1">
                <a:solidFill>
                  <a:srgbClr val="000099"/>
                </a:solidFill>
                <a:latin typeface="+mn-lt"/>
                <a:ea typeface="+mn-ea"/>
              </a:endParaRPr>
            </a:p>
          </p:txBody>
        </p:sp>
        <p:sp>
          <p:nvSpPr>
            <p:cNvPr id="45118" name="Oval 129"/>
            <p:cNvSpPr>
              <a:spLocks noChangeArrowheads="1"/>
            </p:cNvSpPr>
            <p:nvPr/>
          </p:nvSpPr>
          <p:spPr bwMode="auto">
            <a:xfrm>
              <a:off x="3844" y="2481"/>
              <a:ext cx="359" cy="19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x</a:t>
              </a:r>
              <a:endParaRPr kumimoji="1" lang="en-US" altLang="zh-CN" sz="2400" b="1">
                <a:solidFill>
                  <a:srgbClr val="000099"/>
                </a:solidFill>
                <a:latin typeface="+mn-lt"/>
                <a:ea typeface="+mn-ea"/>
              </a:endParaRPr>
            </a:p>
          </p:txBody>
        </p:sp>
        <p:sp>
          <p:nvSpPr>
            <p:cNvPr id="45119" name="Oval 130"/>
            <p:cNvSpPr>
              <a:spLocks noChangeArrowheads="1"/>
            </p:cNvSpPr>
            <p:nvPr/>
          </p:nvSpPr>
          <p:spPr bwMode="auto">
            <a:xfrm>
              <a:off x="3332"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u</a:t>
              </a:r>
              <a:endParaRPr kumimoji="1" lang="en-US" altLang="zh-CN" sz="2400" b="1">
                <a:solidFill>
                  <a:srgbClr val="000099"/>
                </a:solidFill>
                <a:latin typeface="+mn-lt"/>
                <a:ea typeface="+mn-ea"/>
              </a:endParaRPr>
            </a:p>
          </p:txBody>
        </p:sp>
        <p:sp>
          <p:nvSpPr>
            <p:cNvPr id="45120" name="Oval 131"/>
            <p:cNvSpPr>
              <a:spLocks noChangeArrowheads="1"/>
            </p:cNvSpPr>
            <p:nvPr/>
          </p:nvSpPr>
          <p:spPr bwMode="auto">
            <a:xfrm>
              <a:off x="3810"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v</a:t>
              </a:r>
              <a:endParaRPr kumimoji="1" lang="en-US" altLang="zh-CN" sz="2400" b="1">
                <a:solidFill>
                  <a:srgbClr val="000099"/>
                </a:solidFill>
                <a:latin typeface="+mn-lt"/>
                <a:ea typeface="+mn-ea"/>
              </a:endParaRPr>
            </a:p>
          </p:txBody>
        </p:sp>
        <p:sp>
          <p:nvSpPr>
            <p:cNvPr id="45121" name="Oval 132"/>
            <p:cNvSpPr>
              <a:spLocks noChangeArrowheads="1"/>
            </p:cNvSpPr>
            <p:nvPr/>
          </p:nvSpPr>
          <p:spPr bwMode="auto">
            <a:xfrm>
              <a:off x="4287"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w</a:t>
              </a:r>
              <a:endParaRPr kumimoji="1" lang="en-US" altLang="zh-CN" sz="2400" b="1">
                <a:solidFill>
                  <a:srgbClr val="000099"/>
                </a:solidFill>
                <a:latin typeface="+mn-lt"/>
                <a:ea typeface="+mn-ea"/>
              </a:endParaRPr>
            </a:p>
          </p:txBody>
        </p:sp>
        <p:sp>
          <p:nvSpPr>
            <p:cNvPr id="45122" name="Oval 133"/>
            <p:cNvSpPr>
              <a:spLocks noChangeArrowheads="1"/>
            </p:cNvSpPr>
            <p:nvPr/>
          </p:nvSpPr>
          <p:spPr bwMode="auto">
            <a:xfrm>
              <a:off x="4867"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t</a:t>
              </a:r>
              <a:endParaRPr kumimoji="1" lang="en-US" altLang="zh-CN" sz="2400" b="1">
                <a:solidFill>
                  <a:srgbClr val="000099"/>
                </a:solidFill>
                <a:latin typeface="+mn-lt"/>
                <a:ea typeface="+mn-ea"/>
              </a:endParaRPr>
            </a:p>
          </p:txBody>
        </p:sp>
        <p:sp>
          <p:nvSpPr>
            <p:cNvPr id="45123" name="Oval 134"/>
            <p:cNvSpPr>
              <a:spLocks noChangeArrowheads="1"/>
            </p:cNvSpPr>
            <p:nvPr/>
          </p:nvSpPr>
          <p:spPr bwMode="auto">
            <a:xfrm>
              <a:off x="4560" y="2481"/>
              <a:ext cx="359" cy="19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y</a:t>
              </a:r>
              <a:endParaRPr kumimoji="1" lang="en-US" altLang="zh-CN" sz="2400" b="1">
                <a:solidFill>
                  <a:srgbClr val="000099"/>
                </a:solidFill>
                <a:latin typeface="+mn-lt"/>
                <a:ea typeface="+mn-ea"/>
              </a:endParaRPr>
            </a:p>
          </p:txBody>
        </p:sp>
        <p:sp>
          <p:nvSpPr>
            <p:cNvPr id="45124" name="AutoShape 135"/>
            <p:cNvSpPr>
              <a:spLocks noChangeArrowheads="1"/>
            </p:cNvSpPr>
            <p:nvPr/>
          </p:nvSpPr>
          <p:spPr bwMode="auto">
            <a:xfrm>
              <a:off x="4063" y="1232"/>
              <a:ext cx="522" cy="303"/>
            </a:xfrm>
            <a:prstGeom prst="roundRect">
              <a:avLst>
                <a:gd name="adj" fmla="val 34167"/>
              </a:avLst>
            </a:prstGeom>
            <a:solidFill>
              <a:srgbClr val="CCE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com</a:t>
              </a:r>
              <a:endParaRPr kumimoji="1" lang="en-US" altLang="zh-CN" sz="2400" b="1">
                <a:solidFill>
                  <a:srgbClr val="000099"/>
                </a:solidFill>
                <a:latin typeface="+mn-lt"/>
                <a:ea typeface="+mn-ea"/>
              </a:endParaRPr>
            </a:p>
          </p:txBody>
        </p:sp>
        <p:sp>
          <p:nvSpPr>
            <p:cNvPr id="45125" name="AutoShape 136"/>
            <p:cNvSpPr>
              <a:spLocks noChangeArrowheads="1"/>
            </p:cNvSpPr>
            <p:nvPr/>
          </p:nvSpPr>
          <p:spPr bwMode="auto">
            <a:xfrm>
              <a:off x="4909" y="1225"/>
              <a:ext cx="522" cy="304"/>
            </a:xfrm>
            <a:prstGeom prst="roundRect">
              <a:avLst>
                <a:gd name="adj" fmla="val 34167"/>
              </a:avLst>
            </a:prstGeom>
            <a:solidFill>
              <a:srgbClr val="FF99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edu</a:t>
              </a:r>
              <a:endParaRPr kumimoji="1" lang="en-US" altLang="zh-CN" sz="2400" b="1">
                <a:solidFill>
                  <a:srgbClr val="000099"/>
                </a:solidFill>
                <a:latin typeface="+mn-lt"/>
                <a:ea typeface="+mn-ea"/>
              </a:endParaRPr>
            </a:p>
          </p:txBody>
        </p:sp>
        <p:sp>
          <p:nvSpPr>
            <p:cNvPr id="45126" name="AutoShape 137"/>
            <p:cNvSpPr>
              <a:spLocks noChangeArrowheads="1"/>
            </p:cNvSpPr>
            <p:nvPr/>
          </p:nvSpPr>
          <p:spPr bwMode="auto">
            <a:xfrm>
              <a:off x="3220" y="1225"/>
              <a:ext cx="522" cy="304"/>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org</a:t>
              </a:r>
              <a:endParaRPr kumimoji="1" lang="en-US" altLang="zh-CN" sz="2400" b="1">
                <a:solidFill>
                  <a:srgbClr val="000099"/>
                </a:solidFill>
                <a:latin typeface="+mn-lt"/>
                <a:ea typeface="+mn-ea"/>
              </a:endParaRPr>
            </a:p>
          </p:txBody>
        </p:sp>
        <p:grpSp>
          <p:nvGrpSpPr>
            <p:cNvPr id="45127" name="Group 138"/>
            <p:cNvGrpSpPr/>
            <p:nvPr/>
          </p:nvGrpSpPr>
          <p:grpSpPr bwMode="auto">
            <a:xfrm>
              <a:off x="5042" y="1530"/>
              <a:ext cx="256" cy="98"/>
              <a:chOff x="2875" y="1143"/>
              <a:chExt cx="330" cy="132"/>
            </a:xfrm>
          </p:grpSpPr>
          <p:sp>
            <p:nvSpPr>
              <p:cNvPr id="45137" name="Line 139"/>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8" name="Line 140"/>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9" name="Line 141"/>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40" name="Line 142"/>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5128" name="Group 143"/>
            <p:cNvGrpSpPr/>
            <p:nvPr/>
          </p:nvGrpSpPr>
          <p:grpSpPr bwMode="auto">
            <a:xfrm>
              <a:off x="3353" y="1530"/>
              <a:ext cx="256" cy="98"/>
              <a:chOff x="2875" y="1143"/>
              <a:chExt cx="330" cy="132"/>
            </a:xfrm>
          </p:grpSpPr>
          <p:sp>
            <p:nvSpPr>
              <p:cNvPr id="45133" name="Line 144"/>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4" name="Line 145"/>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5" name="Line 146"/>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6" name="Line 147"/>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129" name="AutoShape 148"/>
            <p:cNvSpPr>
              <a:spLocks noChangeArrowheads="1"/>
            </p:cNvSpPr>
            <p:nvPr/>
          </p:nvSpPr>
          <p:spPr bwMode="auto">
            <a:xfrm>
              <a:off x="4049" y="709"/>
              <a:ext cx="523" cy="304"/>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000099"/>
                  </a:solidFill>
                  <a:latin typeface="+mn-lt"/>
                  <a:ea typeface="+mn-ea"/>
                </a:rPr>
                <a:t>根</a:t>
              </a:r>
              <a:endParaRPr kumimoji="1" lang="zh-CN" altLang="en-US" sz="2400" b="1">
                <a:solidFill>
                  <a:srgbClr val="000099"/>
                </a:solidFill>
                <a:latin typeface="+mn-lt"/>
                <a:ea typeface="+mn-ea"/>
              </a:endParaRPr>
            </a:p>
          </p:txBody>
        </p:sp>
        <p:sp>
          <p:nvSpPr>
            <p:cNvPr id="45130" name="Line 149"/>
            <p:cNvSpPr>
              <a:spLocks noChangeShapeType="1"/>
            </p:cNvSpPr>
            <p:nvPr/>
          </p:nvSpPr>
          <p:spPr bwMode="auto">
            <a:xfrm>
              <a:off x="4375" y="1010"/>
              <a:ext cx="792" cy="21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1" name="Line 150"/>
            <p:cNvSpPr>
              <a:spLocks noChangeShapeType="1"/>
            </p:cNvSpPr>
            <p:nvPr/>
          </p:nvSpPr>
          <p:spPr bwMode="auto">
            <a:xfrm flipV="1">
              <a:off x="3481" y="1010"/>
              <a:ext cx="779" cy="21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2" name="Line 151"/>
            <p:cNvSpPr>
              <a:spLocks noChangeShapeType="1"/>
            </p:cNvSpPr>
            <p:nvPr/>
          </p:nvSpPr>
          <p:spPr bwMode="auto">
            <a:xfrm>
              <a:off x="4321" y="1010"/>
              <a:ext cx="0" cy="21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080" name="AutoShape 152"/>
          <p:cNvSpPr>
            <a:spLocks noChangeArrowheads="1"/>
          </p:cNvSpPr>
          <p:nvPr/>
        </p:nvSpPr>
        <p:spPr bwMode="auto">
          <a:xfrm>
            <a:off x="2211949" y="2068985"/>
            <a:ext cx="899452" cy="481013"/>
          </a:xfrm>
          <a:prstGeom prst="roundRect">
            <a:avLst>
              <a:gd name="adj" fmla="val 34167"/>
            </a:avLst>
          </a:prstGeom>
          <a:solidFill>
            <a:srgbClr val="CCE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com</a:t>
            </a:r>
            <a:endParaRPr kumimoji="1" lang="en-US" altLang="zh-CN" sz="2400" b="1">
              <a:solidFill>
                <a:srgbClr val="000099"/>
              </a:solidFill>
              <a:latin typeface="+mn-lt"/>
              <a:ea typeface="+mn-ea"/>
            </a:endParaRPr>
          </a:p>
        </p:txBody>
      </p:sp>
      <p:sp>
        <p:nvSpPr>
          <p:cNvPr id="45081" name="AutoShape 153"/>
          <p:cNvSpPr>
            <a:spLocks noChangeArrowheads="1"/>
          </p:cNvSpPr>
          <p:nvPr/>
        </p:nvSpPr>
        <p:spPr bwMode="auto">
          <a:xfrm>
            <a:off x="3668614" y="2057872"/>
            <a:ext cx="897731" cy="482600"/>
          </a:xfrm>
          <a:prstGeom prst="roundRect">
            <a:avLst>
              <a:gd name="adj" fmla="val 34167"/>
            </a:avLst>
          </a:prstGeom>
          <a:solidFill>
            <a:srgbClr val="FF99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edu</a:t>
            </a:r>
            <a:endParaRPr kumimoji="1" lang="en-US" altLang="zh-CN" sz="2400" b="1">
              <a:solidFill>
                <a:srgbClr val="000099"/>
              </a:solidFill>
              <a:latin typeface="+mn-lt"/>
              <a:ea typeface="+mn-ea"/>
            </a:endParaRPr>
          </a:p>
        </p:txBody>
      </p:sp>
      <p:sp>
        <p:nvSpPr>
          <p:cNvPr id="45082" name="AutoShape 154"/>
          <p:cNvSpPr>
            <a:spLocks noChangeArrowheads="1"/>
          </p:cNvSpPr>
          <p:nvPr/>
        </p:nvSpPr>
        <p:spPr bwMode="auto">
          <a:xfrm>
            <a:off x="762165" y="2057872"/>
            <a:ext cx="899451" cy="482600"/>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org</a:t>
            </a:r>
            <a:endParaRPr kumimoji="1" lang="en-US" altLang="zh-CN" sz="2400" b="1">
              <a:solidFill>
                <a:srgbClr val="000099"/>
              </a:solidFill>
              <a:latin typeface="+mn-lt"/>
              <a:ea typeface="+mn-ea"/>
            </a:endParaRPr>
          </a:p>
        </p:txBody>
      </p:sp>
      <p:grpSp>
        <p:nvGrpSpPr>
          <p:cNvPr id="45083" name="Group 155"/>
          <p:cNvGrpSpPr/>
          <p:nvPr/>
        </p:nvGrpSpPr>
        <p:grpSpPr bwMode="auto">
          <a:xfrm>
            <a:off x="3897344" y="2542060"/>
            <a:ext cx="440267" cy="155575"/>
            <a:chOff x="2875" y="1143"/>
            <a:chExt cx="330" cy="132"/>
          </a:xfrm>
        </p:grpSpPr>
        <p:sp>
          <p:nvSpPr>
            <p:cNvPr id="45096" name="Line 156"/>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7" name="Line 157"/>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8" name="Line 158"/>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9" name="Line 159"/>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5084" name="Group 160"/>
          <p:cNvGrpSpPr/>
          <p:nvPr/>
        </p:nvGrpSpPr>
        <p:grpSpPr bwMode="auto">
          <a:xfrm>
            <a:off x="992617" y="2542060"/>
            <a:ext cx="440267" cy="155575"/>
            <a:chOff x="2875" y="1143"/>
            <a:chExt cx="330" cy="132"/>
          </a:xfrm>
        </p:grpSpPr>
        <p:sp>
          <p:nvSpPr>
            <p:cNvPr id="45092" name="Line 161"/>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3" name="Line 162"/>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4" name="Line 163"/>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5" name="Line 164"/>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085" name="AutoShape 165"/>
          <p:cNvSpPr>
            <a:spLocks noChangeArrowheads="1"/>
          </p:cNvSpPr>
          <p:nvPr/>
        </p:nvSpPr>
        <p:spPr bwMode="auto">
          <a:xfrm>
            <a:off x="2189593" y="1238722"/>
            <a:ext cx="897731" cy="482600"/>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000099"/>
                </a:solidFill>
                <a:latin typeface="+mn-lt"/>
                <a:ea typeface="+mn-ea"/>
              </a:rPr>
              <a:t>根</a:t>
            </a:r>
            <a:endParaRPr kumimoji="1" lang="zh-CN" altLang="en-US" sz="2400" b="1">
              <a:solidFill>
                <a:srgbClr val="000099"/>
              </a:solidFill>
              <a:latin typeface="+mn-lt"/>
              <a:ea typeface="+mn-ea"/>
            </a:endParaRPr>
          </a:p>
        </p:txBody>
      </p:sp>
      <p:sp>
        <p:nvSpPr>
          <p:cNvPr id="45086" name="Line 166"/>
          <p:cNvSpPr>
            <a:spLocks noChangeShapeType="1"/>
          </p:cNvSpPr>
          <p:nvPr/>
        </p:nvSpPr>
        <p:spPr bwMode="auto">
          <a:xfrm>
            <a:off x="2750244" y="1716559"/>
            <a:ext cx="1362075" cy="3381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87" name="Line 167"/>
          <p:cNvSpPr>
            <a:spLocks noChangeShapeType="1"/>
          </p:cNvSpPr>
          <p:nvPr/>
        </p:nvSpPr>
        <p:spPr bwMode="auto">
          <a:xfrm flipV="1">
            <a:off x="1212750" y="1716559"/>
            <a:ext cx="1339717" cy="3381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88" name="Line 168"/>
          <p:cNvSpPr>
            <a:spLocks noChangeShapeType="1"/>
          </p:cNvSpPr>
          <p:nvPr/>
        </p:nvSpPr>
        <p:spPr bwMode="auto">
          <a:xfrm>
            <a:off x="2657375" y="1716559"/>
            <a:ext cx="0" cy="3381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5089" name="Group 169"/>
          <p:cNvGrpSpPr/>
          <p:nvPr/>
        </p:nvGrpSpPr>
        <p:grpSpPr bwMode="auto">
          <a:xfrm>
            <a:off x="2435522" y="2542060"/>
            <a:ext cx="440267" cy="155575"/>
            <a:chOff x="1519" y="813"/>
            <a:chExt cx="227" cy="77"/>
          </a:xfrm>
        </p:grpSpPr>
        <p:sp>
          <p:nvSpPr>
            <p:cNvPr id="45090" name="Line 170"/>
            <p:cNvSpPr>
              <a:spLocks noChangeShapeType="1"/>
            </p:cNvSpPr>
            <p:nvPr/>
          </p:nvSpPr>
          <p:spPr bwMode="auto">
            <a:xfrm>
              <a:off x="1647"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1" name="Line 171"/>
            <p:cNvSpPr>
              <a:spLocks noChangeShapeType="1"/>
            </p:cNvSpPr>
            <p:nvPr/>
          </p:nvSpPr>
          <p:spPr bwMode="auto">
            <a:xfrm flipH="1">
              <a:off x="1519"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10660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066157"/>
                                        </p:tgtEl>
                                        <p:attrNameLst>
                                          <p:attrName>style.visibility</p:attrName>
                                        </p:attrNameLst>
                                      </p:cBhvr>
                                      <p:to>
                                        <p:strVal val="visible"/>
                                      </p:to>
                                    </p:set>
                                    <p:animEffect transition="in" filter="wipe(up)">
                                      <p:cBhvr>
                                        <p:cTn id="11" dur="1000"/>
                                        <p:tgtEl>
                                          <p:spTgt spid="106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09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31"/>
          <p:cNvSpPr>
            <a:spLocks noChangeArrowheads="1"/>
          </p:cNvSpPr>
          <p:nvPr/>
        </p:nvSpPr>
        <p:spPr bwMode="auto">
          <a:xfrm>
            <a:off x="4154498" y="3455442"/>
            <a:ext cx="2858294" cy="2084388"/>
          </a:xfrm>
          <a:prstGeom prst="roundRect">
            <a:avLst>
              <a:gd name="adj" fmla="val 16667"/>
            </a:avLst>
          </a:prstGeom>
          <a:solidFill>
            <a:srgbClr val="33CCFF"/>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1068036" name="Rectangle 4"/>
          <p:cNvSpPr>
            <a:spLocks noGrp="1" noChangeArrowheads="1"/>
          </p:cNvSpPr>
          <p:nvPr>
            <p:ph type="title"/>
          </p:nvPr>
        </p:nvSpPr>
        <p:spPr/>
        <p:txBody>
          <a:bodyPr/>
          <a:lstStyle/>
          <a:p>
            <a:pPr algn="ctr" eaLnBrk="1" hangingPunct="1">
              <a:defRPr/>
            </a:pPr>
            <a:r>
              <a:rPr dirty="0"/>
              <a:t>树状结构的 </a:t>
            </a:r>
            <a:r>
              <a:rPr lang="en-US" altLang="zh-CN" dirty="0"/>
              <a:t>DNS </a:t>
            </a:r>
            <a:r>
              <a:rPr dirty="0"/>
              <a:t>域名服务器 </a:t>
            </a:r>
            <a:endParaRPr dirty="0"/>
          </a:p>
        </p:txBody>
      </p:sp>
      <p:grpSp>
        <p:nvGrpSpPr>
          <p:cNvPr id="46084" name="Group 5"/>
          <p:cNvGrpSpPr/>
          <p:nvPr/>
        </p:nvGrpSpPr>
        <p:grpSpPr bwMode="auto">
          <a:xfrm>
            <a:off x="3540531" y="2160043"/>
            <a:ext cx="4677833" cy="392113"/>
            <a:chOff x="2294" y="572"/>
            <a:chExt cx="2450" cy="318"/>
          </a:xfrm>
        </p:grpSpPr>
        <p:sp>
          <p:nvSpPr>
            <p:cNvPr id="46117" name="Line 6"/>
            <p:cNvSpPr>
              <a:spLocks noChangeShapeType="1"/>
            </p:cNvSpPr>
            <p:nvPr/>
          </p:nvSpPr>
          <p:spPr bwMode="auto">
            <a:xfrm flipV="1">
              <a:off x="2294" y="572"/>
              <a:ext cx="1089" cy="31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8" name="Line 7"/>
            <p:cNvSpPr>
              <a:spLocks noChangeShapeType="1"/>
            </p:cNvSpPr>
            <p:nvPr/>
          </p:nvSpPr>
          <p:spPr bwMode="auto">
            <a:xfrm>
              <a:off x="3474" y="572"/>
              <a:ext cx="0" cy="31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9" name="Line 8"/>
            <p:cNvSpPr>
              <a:spLocks noChangeShapeType="1"/>
            </p:cNvSpPr>
            <p:nvPr/>
          </p:nvSpPr>
          <p:spPr bwMode="auto">
            <a:xfrm flipH="1" flipV="1">
              <a:off x="3565" y="572"/>
              <a:ext cx="1179" cy="31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85" name="Rectangle 9"/>
          <p:cNvSpPr>
            <a:spLocks noChangeArrowheads="1"/>
          </p:cNvSpPr>
          <p:nvPr/>
        </p:nvSpPr>
        <p:spPr bwMode="auto">
          <a:xfrm>
            <a:off x="4847573" y="1639342"/>
            <a:ext cx="1905529" cy="496888"/>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kumimoji="1" lang="zh-CN" altLang="en-US" sz="2000" b="1">
                <a:solidFill>
                  <a:srgbClr val="000099"/>
                </a:solidFill>
                <a:latin typeface="+mn-lt"/>
                <a:ea typeface="+mn-ea"/>
              </a:rPr>
              <a:t>根域名服务器</a:t>
            </a:r>
            <a:endParaRPr kumimoji="1" lang="zh-CN" altLang="en-US" sz="2000" b="1">
              <a:solidFill>
                <a:srgbClr val="000099"/>
              </a:solidFill>
              <a:latin typeface="+mn-lt"/>
              <a:ea typeface="+mn-ea"/>
            </a:endParaRPr>
          </a:p>
        </p:txBody>
      </p:sp>
      <p:sp>
        <p:nvSpPr>
          <p:cNvPr id="46086" name="Rectangle 10"/>
          <p:cNvSpPr>
            <a:spLocks noChangeArrowheads="1"/>
          </p:cNvSpPr>
          <p:nvPr/>
        </p:nvSpPr>
        <p:spPr bwMode="auto">
          <a:xfrm>
            <a:off x="2508656" y="2552156"/>
            <a:ext cx="1905529" cy="496887"/>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kumimoji="1" lang="en-US" altLang="zh-CN" sz="2000" b="1">
                <a:solidFill>
                  <a:srgbClr val="000099"/>
                </a:solidFill>
                <a:latin typeface="+mn-lt"/>
                <a:ea typeface="+mn-ea"/>
              </a:rPr>
              <a:t>org </a:t>
            </a:r>
            <a:r>
              <a:rPr kumimoji="1" lang="zh-CN" altLang="en-US" sz="2000" b="1">
                <a:solidFill>
                  <a:srgbClr val="000099"/>
                </a:solidFill>
                <a:latin typeface="+mn-lt"/>
                <a:ea typeface="+mn-ea"/>
              </a:rPr>
              <a:t>域名服务器</a:t>
            </a:r>
            <a:endParaRPr kumimoji="1" lang="zh-CN" altLang="en-US" sz="2000" b="1">
              <a:solidFill>
                <a:srgbClr val="000099"/>
              </a:solidFill>
              <a:latin typeface="+mn-lt"/>
              <a:ea typeface="+mn-ea"/>
            </a:endParaRPr>
          </a:p>
        </p:txBody>
      </p:sp>
      <p:sp>
        <p:nvSpPr>
          <p:cNvPr id="46087" name="Rectangle 11"/>
          <p:cNvSpPr>
            <a:spLocks noChangeArrowheads="1"/>
          </p:cNvSpPr>
          <p:nvPr/>
        </p:nvSpPr>
        <p:spPr bwMode="auto">
          <a:xfrm>
            <a:off x="4847573" y="2552156"/>
            <a:ext cx="1905529" cy="496887"/>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kumimoji="1" lang="en-US" altLang="zh-CN" sz="2000" b="1">
                <a:solidFill>
                  <a:srgbClr val="000099"/>
                </a:solidFill>
                <a:latin typeface="+mn-lt"/>
                <a:ea typeface="+mn-ea"/>
              </a:rPr>
              <a:t>com </a:t>
            </a:r>
            <a:r>
              <a:rPr kumimoji="1" lang="zh-CN" altLang="en-US" sz="2000" b="1">
                <a:solidFill>
                  <a:srgbClr val="000099"/>
                </a:solidFill>
                <a:latin typeface="+mn-lt"/>
                <a:ea typeface="+mn-ea"/>
              </a:rPr>
              <a:t>域名服务器</a:t>
            </a:r>
            <a:endParaRPr kumimoji="1" lang="zh-CN" altLang="en-US" sz="2000" b="1">
              <a:solidFill>
                <a:srgbClr val="000099"/>
              </a:solidFill>
              <a:latin typeface="+mn-lt"/>
              <a:ea typeface="+mn-ea"/>
            </a:endParaRPr>
          </a:p>
        </p:txBody>
      </p:sp>
      <p:sp>
        <p:nvSpPr>
          <p:cNvPr id="46088" name="Rectangle 12"/>
          <p:cNvSpPr>
            <a:spLocks noChangeArrowheads="1"/>
          </p:cNvSpPr>
          <p:nvPr/>
        </p:nvSpPr>
        <p:spPr bwMode="auto">
          <a:xfrm>
            <a:off x="7188210" y="2552156"/>
            <a:ext cx="1905529" cy="496887"/>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mn-lt"/>
                <a:ea typeface="+mn-ea"/>
              </a:rPr>
              <a:t>edu </a:t>
            </a:r>
            <a:r>
              <a:rPr kumimoji="1" lang="zh-CN" altLang="en-US" sz="2000" b="1">
                <a:solidFill>
                  <a:srgbClr val="000099"/>
                </a:solidFill>
                <a:latin typeface="+mn-lt"/>
                <a:ea typeface="+mn-ea"/>
              </a:rPr>
              <a:t>域名服务器</a:t>
            </a:r>
            <a:endParaRPr kumimoji="1" lang="zh-CN" altLang="en-US" sz="2000" b="1">
              <a:solidFill>
                <a:srgbClr val="000099"/>
              </a:solidFill>
              <a:latin typeface="+mn-lt"/>
              <a:ea typeface="+mn-ea"/>
            </a:endParaRPr>
          </a:p>
        </p:txBody>
      </p:sp>
      <p:grpSp>
        <p:nvGrpSpPr>
          <p:cNvPr id="46089" name="Group 13"/>
          <p:cNvGrpSpPr/>
          <p:nvPr/>
        </p:nvGrpSpPr>
        <p:grpSpPr bwMode="auto">
          <a:xfrm>
            <a:off x="7704147" y="3049042"/>
            <a:ext cx="866775" cy="249238"/>
            <a:chOff x="2875" y="1143"/>
            <a:chExt cx="330" cy="132"/>
          </a:xfrm>
        </p:grpSpPr>
        <p:sp>
          <p:nvSpPr>
            <p:cNvPr id="46113" name="Line 14"/>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4" name="Line 15"/>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5" name="Line 16"/>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6" name="Line 17"/>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90" name="Text Box 18"/>
          <p:cNvSpPr txBox="1">
            <a:spLocks noChangeArrowheads="1"/>
          </p:cNvSpPr>
          <p:nvPr/>
        </p:nvSpPr>
        <p:spPr bwMode="auto">
          <a:xfrm>
            <a:off x="9263998" y="2209256"/>
            <a:ext cx="7489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endParaRPr kumimoji="1" lang="en-US" altLang="zh-CN" sz="4400" b="1">
              <a:solidFill>
                <a:srgbClr val="000099"/>
              </a:solidFill>
              <a:latin typeface="+mn-lt"/>
              <a:ea typeface="+mn-ea"/>
            </a:endParaRPr>
          </a:p>
        </p:txBody>
      </p:sp>
      <p:grpSp>
        <p:nvGrpSpPr>
          <p:cNvPr id="46091" name="Group 19"/>
          <p:cNvGrpSpPr/>
          <p:nvPr/>
        </p:nvGrpSpPr>
        <p:grpSpPr bwMode="auto">
          <a:xfrm>
            <a:off x="3028033" y="3049042"/>
            <a:ext cx="866775" cy="249238"/>
            <a:chOff x="2875" y="1143"/>
            <a:chExt cx="330" cy="132"/>
          </a:xfrm>
        </p:grpSpPr>
        <p:sp>
          <p:nvSpPr>
            <p:cNvPr id="46109" name="Line 20"/>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0" name="Line 21"/>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1" name="Line 22"/>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2" name="Line 23"/>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92" name="Line 24"/>
          <p:cNvSpPr>
            <a:spLocks noChangeShapeType="1"/>
          </p:cNvSpPr>
          <p:nvPr/>
        </p:nvSpPr>
        <p:spPr bwMode="auto">
          <a:xfrm>
            <a:off x="5943081" y="3049042"/>
            <a:ext cx="376634" cy="2492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3" name="Line 25"/>
          <p:cNvSpPr>
            <a:spLocks noChangeShapeType="1"/>
          </p:cNvSpPr>
          <p:nvPr/>
        </p:nvSpPr>
        <p:spPr bwMode="auto">
          <a:xfrm>
            <a:off x="5913843" y="3049043"/>
            <a:ext cx="98029" cy="244475"/>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4" name="Line 26"/>
          <p:cNvSpPr>
            <a:spLocks noChangeShapeType="1"/>
          </p:cNvSpPr>
          <p:nvPr/>
        </p:nvSpPr>
        <p:spPr bwMode="auto">
          <a:xfrm flipH="1">
            <a:off x="5452940" y="3049042"/>
            <a:ext cx="378354" cy="2492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5" name="Line 27"/>
          <p:cNvSpPr>
            <a:spLocks noChangeShapeType="1"/>
          </p:cNvSpPr>
          <p:nvPr/>
        </p:nvSpPr>
        <p:spPr bwMode="auto">
          <a:xfrm flipH="1">
            <a:off x="5590523" y="3049042"/>
            <a:ext cx="282046" cy="6683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6" name="Rectangle 29"/>
          <p:cNvSpPr>
            <a:spLocks noChangeArrowheads="1"/>
          </p:cNvSpPr>
          <p:nvPr/>
        </p:nvSpPr>
        <p:spPr bwMode="auto">
          <a:xfrm>
            <a:off x="4587886" y="4711156"/>
            <a:ext cx="1907248"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lang="en-US" altLang="zh-CN" sz="2000" b="1">
                <a:solidFill>
                  <a:srgbClr val="000099"/>
                </a:solidFill>
                <a:latin typeface="+mn-lt"/>
                <a:ea typeface="+mn-ea"/>
              </a:rPr>
              <a:t>y.abc.com</a:t>
            </a:r>
            <a:endParaRPr lang="en-US" altLang="zh-CN" sz="2000" b="1">
              <a:solidFill>
                <a:srgbClr val="000099"/>
              </a:solidFill>
              <a:latin typeface="+mn-lt"/>
              <a:ea typeface="+mn-ea"/>
            </a:endParaRPr>
          </a:p>
          <a:p>
            <a:pPr algn="ctr" eaLnBrk="1" hangingPunct="1"/>
            <a:r>
              <a:rPr lang="zh-CN" altLang="en-US" sz="2000" b="1">
                <a:solidFill>
                  <a:srgbClr val="000099"/>
                </a:solidFill>
                <a:latin typeface="+mn-lt"/>
                <a:ea typeface="+mn-ea"/>
              </a:rPr>
              <a:t>域名服务器</a:t>
            </a:r>
            <a:endParaRPr lang="zh-CN" altLang="en-US" sz="2000" b="1">
              <a:solidFill>
                <a:srgbClr val="000099"/>
              </a:solidFill>
              <a:latin typeface="+mn-lt"/>
              <a:ea typeface="+mn-ea"/>
            </a:endParaRPr>
          </a:p>
        </p:txBody>
      </p:sp>
      <p:sp>
        <p:nvSpPr>
          <p:cNvPr id="46097" name="Line 30"/>
          <p:cNvSpPr>
            <a:spLocks noChangeShapeType="1"/>
          </p:cNvSpPr>
          <p:nvPr/>
        </p:nvSpPr>
        <p:spPr bwMode="auto">
          <a:xfrm>
            <a:off x="5538929" y="4211093"/>
            <a:ext cx="0" cy="498475"/>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8" name="Line 32"/>
          <p:cNvSpPr>
            <a:spLocks noChangeShapeType="1"/>
          </p:cNvSpPr>
          <p:nvPr/>
        </p:nvSpPr>
        <p:spPr bwMode="auto">
          <a:xfrm flipH="1" flipV="1">
            <a:off x="6557046" y="3918993"/>
            <a:ext cx="1394752" cy="180975"/>
          </a:xfrm>
          <a:prstGeom prst="line">
            <a:avLst/>
          </a:prstGeom>
          <a:noFill/>
          <a:ln w="2857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9" name="Text Box 33"/>
          <p:cNvSpPr txBox="1">
            <a:spLocks noChangeArrowheads="1"/>
          </p:cNvSpPr>
          <p:nvPr/>
        </p:nvSpPr>
        <p:spPr bwMode="auto">
          <a:xfrm>
            <a:off x="7909387" y="3831681"/>
            <a:ext cx="198002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000" b="1">
                <a:solidFill>
                  <a:srgbClr val="000099"/>
                </a:solidFill>
                <a:latin typeface="+mn-lt"/>
                <a:ea typeface="+mn-ea"/>
              </a:rPr>
              <a:t>abc </a:t>
            </a:r>
            <a:r>
              <a:rPr lang="zh-CN" altLang="en-US" sz="2000" b="1">
                <a:solidFill>
                  <a:srgbClr val="000099"/>
                </a:solidFill>
                <a:latin typeface="+mn-lt"/>
                <a:ea typeface="+mn-ea"/>
              </a:rPr>
              <a:t>公司有两个</a:t>
            </a:r>
            <a:endParaRPr lang="zh-CN" altLang="en-US" sz="2000" b="1">
              <a:solidFill>
                <a:srgbClr val="000099"/>
              </a:solidFill>
              <a:latin typeface="+mn-lt"/>
              <a:ea typeface="+mn-ea"/>
            </a:endParaRPr>
          </a:p>
          <a:p>
            <a:pPr algn="ctr" eaLnBrk="1" hangingPunct="1"/>
            <a:r>
              <a:rPr lang="zh-CN" altLang="en-US" sz="2000" b="1">
                <a:solidFill>
                  <a:srgbClr val="000099"/>
                </a:solidFill>
                <a:latin typeface="+mn-lt"/>
                <a:ea typeface="+mn-ea"/>
              </a:rPr>
              <a:t>权限域名服务器</a:t>
            </a:r>
            <a:endParaRPr lang="zh-CN" altLang="en-US" sz="2000" b="1">
              <a:solidFill>
                <a:srgbClr val="000099"/>
              </a:solidFill>
              <a:latin typeface="+mn-lt"/>
              <a:ea typeface="+mn-ea"/>
            </a:endParaRPr>
          </a:p>
        </p:txBody>
      </p:sp>
      <p:grpSp>
        <p:nvGrpSpPr>
          <p:cNvPr id="46100" name="Group 34"/>
          <p:cNvGrpSpPr/>
          <p:nvPr/>
        </p:nvGrpSpPr>
        <p:grpSpPr bwMode="auto">
          <a:xfrm>
            <a:off x="128464" y="2385468"/>
            <a:ext cx="9873325" cy="830263"/>
            <a:chOff x="158" y="799"/>
            <a:chExt cx="5444" cy="454"/>
          </a:xfrm>
        </p:grpSpPr>
        <p:sp>
          <p:nvSpPr>
            <p:cNvPr id="46107" name="Line 35"/>
            <p:cNvSpPr>
              <a:spLocks noChangeShapeType="1"/>
            </p:cNvSpPr>
            <p:nvPr/>
          </p:nvSpPr>
          <p:spPr bwMode="auto">
            <a:xfrm>
              <a:off x="158" y="799"/>
              <a:ext cx="5444" cy="0"/>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8" name="Line 36"/>
            <p:cNvSpPr>
              <a:spLocks noChangeShapeType="1"/>
            </p:cNvSpPr>
            <p:nvPr/>
          </p:nvSpPr>
          <p:spPr bwMode="auto">
            <a:xfrm>
              <a:off x="158" y="1253"/>
              <a:ext cx="5444" cy="0"/>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101" name="Text Box 37"/>
          <p:cNvSpPr txBox="1">
            <a:spLocks noChangeArrowheads="1"/>
          </p:cNvSpPr>
          <p:nvPr/>
        </p:nvSpPr>
        <p:spPr bwMode="auto">
          <a:xfrm>
            <a:off x="198702" y="4063456"/>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b="1">
                <a:solidFill>
                  <a:srgbClr val="000099"/>
                </a:solidFill>
                <a:latin typeface="+mn-lt"/>
                <a:ea typeface="+mn-ea"/>
              </a:rPr>
              <a:t>权限域名服务器</a:t>
            </a:r>
            <a:endParaRPr lang="zh-CN" altLang="en-US" sz="2000" b="1">
              <a:solidFill>
                <a:srgbClr val="000099"/>
              </a:solidFill>
              <a:latin typeface="+mn-lt"/>
              <a:ea typeface="+mn-ea"/>
            </a:endParaRPr>
          </a:p>
        </p:txBody>
      </p:sp>
      <p:sp>
        <p:nvSpPr>
          <p:cNvPr id="46102" name="Text Box 38"/>
          <p:cNvSpPr txBox="1">
            <a:spLocks noChangeArrowheads="1"/>
          </p:cNvSpPr>
          <p:nvPr/>
        </p:nvSpPr>
        <p:spPr bwMode="auto">
          <a:xfrm>
            <a:off x="315762" y="1696493"/>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b="1">
                <a:solidFill>
                  <a:srgbClr val="000099"/>
                </a:solidFill>
                <a:latin typeface="+mn-lt"/>
                <a:ea typeface="+mn-ea"/>
              </a:rPr>
              <a:t>根域名服务器</a:t>
            </a:r>
            <a:endParaRPr lang="zh-CN" altLang="en-US" sz="2000" b="1">
              <a:solidFill>
                <a:srgbClr val="000099"/>
              </a:solidFill>
              <a:latin typeface="+mn-lt"/>
              <a:ea typeface="+mn-ea"/>
            </a:endParaRPr>
          </a:p>
        </p:txBody>
      </p:sp>
      <p:sp>
        <p:nvSpPr>
          <p:cNvPr id="46103" name="Text Box 39"/>
          <p:cNvSpPr txBox="1">
            <a:spLocks noChangeArrowheads="1"/>
          </p:cNvSpPr>
          <p:nvPr/>
        </p:nvSpPr>
        <p:spPr bwMode="auto">
          <a:xfrm>
            <a:off x="197842" y="2583906"/>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b="1">
                <a:solidFill>
                  <a:srgbClr val="000099"/>
                </a:solidFill>
                <a:latin typeface="+mn-lt"/>
                <a:ea typeface="+mn-ea"/>
              </a:rPr>
              <a:t>顶级域名服务器</a:t>
            </a:r>
            <a:endParaRPr lang="zh-CN" altLang="en-US" sz="2000" b="1">
              <a:solidFill>
                <a:srgbClr val="000099"/>
              </a:solidFill>
              <a:latin typeface="+mn-lt"/>
              <a:ea typeface="+mn-ea"/>
            </a:endParaRPr>
          </a:p>
        </p:txBody>
      </p:sp>
      <p:sp>
        <p:nvSpPr>
          <p:cNvPr id="46104" name="Line 40"/>
          <p:cNvSpPr>
            <a:spLocks noChangeShapeType="1"/>
          </p:cNvSpPr>
          <p:nvPr/>
        </p:nvSpPr>
        <p:spPr bwMode="auto">
          <a:xfrm>
            <a:off x="2242089" y="1556792"/>
            <a:ext cx="0" cy="3900488"/>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5" name="Line 41"/>
          <p:cNvSpPr>
            <a:spLocks noChangeShapeType="1"/>
          </p:cNvSpPr>
          <p:nvPr/>
        </p:nvSpPr>
        <p:spPr bwMode="auto">
          <a:xfrm flipH="1">
            <a:off x="6531250" y="4377780"/>
            <a:ext cx="1427427" cy="658812"/>
          </a:xfrm>
          <a:prstGeom prst="line">
            <a:avLst/>
          </a:prstGeom>
          <a:noFill/>
          <a:ln w="2857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6" name="Rectangle 43"/>
          <p:cNvSpPr>
            <a:spLocks noChangeArrowheads="1"/>
          </p:cNvSpPr>
          <p:nvPr/>
        </p:nvSpPr>
        <p:spPr bwMode="auto">
          <a:xfrm>
            <a:off x="4575845" y="3714206"/>
            <a:ext cx="1907250"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lang="en-US" altLang="zh-CN" sz="2000" b="1">
                <a:solidFill>
                  <a:srgbClr val="000099"/>
                </a:solidFill>
                <a:latin typeface="+mn-lt"/>
                <a:ea typeface="+mn-ea"/>
              </a:rPr>
              <a:t>abc.com</a:t>
            </a:r>
            <a:endParaRPr lang="en-US" altLang="zh-CN" sz="2000" b="1">
              <a:solidFill>
                <a:srgbClr val="000099"/>
              </a:solidFill>
              <a:latin typeface="+mn-lt"/>
              <a:ea typeface="+mn-ea"/>
            </a:endParaRPr>
          </a:p>
          <a:p>
            <a:pPr algn="ctr" eaLnBrk="1" hangingPunct="1"/>
            <a:r>
              <a:rPr lang="zh-CN" altLang="en-US" sz="2000" b="1">
                <a:solidFill>
                  <a:srgbClr val="000099"/>
                </a:solidFill>
                <a:latin typeface="+mn-lt"/>
                <a:ea typeface="+mn-ea"/>
              </a:rPr>
              <a:t>域名服务器</a:t>
            </a:r>
            <a:endParaRPr lang="zh-CN" altLang="en-US" sz="2000" b="1">
              <a:solidFill>
                <a:srgbClr val="000099"/>
              </a:solidFill>
              <a:latin typeface="+mn-lt"/>
              <a:ea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pPr algn="ctr" eaLnBrk="1" hangingPunct="1">
              <a:defRPr/>
            </a:pPr>
            <a:r>
              <a:rPr lang="zh-CN" altLang="en-US" dirty="0"/>
              <a:t>域名服务器有以下四种类型 </a:t>
            </a:r>
            <a:endParaRPr lang="zh-CN" altLang="en-US" dirty="0"/>
          </a:p>
        </p:txBody>
      </p:sp>
      <p:sp>
        <p:nvSpPr>
          <p:cNvPr id="1071107" name="Rectangle 3"/>
          <p:cNvSpPr>
            <a:spLocks noGrp="1" noChangeArrowheads="1"/>
          </p:cNvSpPr>
          <p:nvPr>
            <p:ph idx="1"/>
          </p:nvPr>
        </p:nvSpPr>
        <p:spPr/>
        <p:txBody>
          <a:bodyPr/>
          <a:lstStyle/>
          <a:p>
            <a:pPr marL="316230" indent="-316230" eaLnBrk="1" hangingPunct="1">
              <a:spcBef>
                <a:spcPts val="555"/>
              </a:spcBef>
              <a:defRPr/>
            </a:pPr>
            <a:r>
              <a:rPr lang="zh-CN" altLang="en-US" dirty="0"/>
              <a:t>根域名服务器 </a:t>
            </a:r>
            <a:endParaRPr lang="zh-CN" altLang="en-US" dirty="0"/>
          </a:p>
          <a:p>
            <a:pPr marL="316230" indent="-316230" eaLnBrk="1" hangingPunct="1">
              <a:spcBef>
                <a:spcPts val="555"/>
              </a:spcBef>
              <a:defRPr/>
            </a:pPr>
            <a:r>
              <a:rPr lang="zh-CN" altLang="en-US" dirty="0"/>
              <a:t>顶级域名服务器 </a:t>
            </a:r>
            <a:endParaRPr lang="zh-CN" altLang="en-US" dirty="0"/>
          </a:p>
          <a:p>
            <a:pPr marL="316230" indent="-316230" eaLnBrk="1" hangingPunct="1">
              <a:spcBef>
                <a:spcPts val="555"/>
              </a:spcBef>
              <a:defRPr/>
            </a:pPr>
            <a:r>
              <a:rPr lang="zh-CN" altLang="en-US" dirty="0"/>
              <a:t>权限域名服务器 </a:t>
            </a:r>
            <a:endParaRPr lang="zh-CN" altLang="en-US" dirty="0"/>
          </a:p>
          <a:p>
            <a:pPr marL="316230" indent="-316230" eaLnBrk="1" hangingPunct="1">
              <a:spcBef>
                <a:spcPts val="555"/>
              </a:spcBef>
              <a:defRPr/>
            </a:pPr>
            <a:r>
              <a:rPr lang="zh-CN" altLang="en-US" dirty="0"/>
              <a:t>本地域名服务器 </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根域名服务器</a:t>
            </a:r>
            <a:endParaRPr lang="en-US" altLang="zh-CN" sz="3200" dirty="0" smtClean="0">
              <a:ea typeface="黑体" panose="02010609060101010101" pitchFamily="2" charset="-122"/>
            </a:endParaRPr>
          </a:p>
        </p:txBody>
      </p:sp>
      <p:sp>
        <p:nvSpPr>
          <p:cNvPr id="48131" name="Rectangle 3"/>
          <p:cNvSpPr>
            <a:spLocks noGrp="1" noChangeArrowheads="1"/>
          </p:cNvSpPr>
          <p:nvPr>
            <p:ph idx="1"/>
          </p:nvPr>
        </p:nvSpPr>
        <p:spPr/>
        <p:txBody>
          <a:bodyPr/>
          <a:lstStyle/>
          <a:p>
            <a:r>
              <a:rPr lang="zh-CN" altLang="en-US" dirty="0" smtClean="0">
                <a:ea typeface="黑体" panose="02010609060101010101" pitchFamily="2" charset="-122"/>
              </a:rPr>
              <a:t>根域名服务器是</a:t>
            </a:r>
            <a:r>
              <a:rPr lang="zh-CN" altLang="en-US" dirty="0">
                <a:solidFill>
                  <a:srgbClr val="FF0000"/>
                </a:solidFill>
                <a:ea typeface="黑体" panose="02010609060101010101" pitchFamily="2" charset="-122"/>
              </a:rPr>
              <a:t>最高层次</a:t>
            </a:r>
            <a:r>
              <a:rPr lang="zh-CN" altLang="en-US" dirty="0">
                <a:ea typeface="黑体" panose="02010609060101010101" pitchFamily="2" charset="-122"/>
              </a:rPr>
              <a:t>的域名</a:t>
            </a:r>
            <a:r>
              <a:rPr lang="zh-CN" altLang="en-US" dirty="0" smtClean="0">
                <a:ea typeface="黑体" panose="02010609060101010101" pitchFamily="2" charset="-122"/>
              </a:rPr>
              <a:t>服务器，也是</a:t>
            </a:r>
            <a:r>
              <a:rPr lang="zh-CN" altLang="en-US" dirty="0" smtClean="0">
                <a:solidFill>
                  <a:srgbClr val="FF0000"/>
                </a:solidFill>
                <a:ea typeface="黑体" panose="02010609060101010101" pitchFamily="2" charset="-122"/>
              </a:rPr>
              <a:t>最重要</a:t>
            </a:r>
            <a:r>
              <a:rPr lang="zh-CN" altLang="en-US" dirty="0" smtClean="0">
                <a:ea typeface="黑体" panose="02010609060101010101" pitchFamily="2" charset="-122"/>
              </a:rPr>
              <a:t>的域名服务器。所有的根域名服务器都知道所有的顶级域名服务器的域名和 </a:t>
            </a:r>
            <a:r>
              <a:rPr lang="en-US" altLang="zh-CN" dirty="0" smtClean="0">
                <a:ea typeface="黑体" panose="02010609060101010101" pitchFamily="2" charset="-122"/>
              </a:rPr>
              <a:t>IP </a:t>
            </a:r>
            <a:r>
              <a:rPr lang="zh-CN" altLang="en-US" dirty="0" smtClean="0">
                <a:ea typeface="黑体" panose="02010609060101010101" pitchFamily="2" charset="-122"/>
              </a:rPr>
              <a:t>地址。</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不管是哪一个本地域名服务器，若要对互联网上任何一个域名进行解析，只要自己无法解析，就首先求助于根域名服务器。</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在互联网上共有 </a:t>
            </a:r>
            <a:r>
              <a:rPr lang="en-US" altLang="zh-CN" dirty="0" smtClean="0">
                <a:ea typeface="黑体" panose="02010609060101010101" pitchFamily="2" charset="-122"/>
              </a:rPr>
              <a:t>13 </a:t>
            </a:r>
            <a:r>
              <a:rPr lang="zh-CN" altLang="en-US" dirty="0" smtClean="0">
                <a:ea typeface="黑体" panose="02010609060101010101" pitchFamily="2" charset="-122"/>
              </a:rPr>
              <a:t>个不同 </a:t>
            </a:r>
            <a:r>
              <a:rPr lang="en-US" altLang="zh-CN" dirty="0" smtClean="0">
                <a:ea typeface="黑体" panose="02010609060101010101" pitchFamily="2" charset="-122"/>
              </a:rPr>
              <a:t>IP </a:t>
            </a:r>
            <a:r>
              <a:rPr lang="zh-CN" altLang="en-US" dirty="0" smtClean="0">
                <a:ea typeface="黑体" panose="02010609060101010101" pitchFamily="2" charset="-122"/>
              </a:rPr>
              <a:t>地址的根域名服务器，它们的名字是用一个英文字母命名，从 </a:t>
            </a:r>
            <a:r>
              <a:rPr lang="en-US" altLang="zh-CN" dirty="0" smtClean="0">
                <a:ea typeface="黑体" panose="02010609060101010101" pitchFamily="2" charset="-122"/>
              </a:rPr>
              <a:t>a  </a:t>
            </a:r>
            <a:r>
              <a:rPr lang="zh-CN" altLang="en-US" dirty="0" smtClean="0">
                <a:ea typeface="黑体" panose="02010609060101010101" pitchFamily="2" charset="-122"/>
              </a:rPr>
              <a:t>一直到 </a:t>
            </a:r>
            <a:r>
              <a:rPr lang="en-US" altLang="zh-CN" dirty="0" smtClean="0">
                <a:ea typeface="黑体" panose="02010609060101010101" pitchFamily="2" charset="-122"/>
              </a:rPr>
              <a:t>m</a:t>
            </a:r>
            <a:r>
              <a:rPr lang="zh-CN" altLang="en-US" dirty="0" smtClean="0">
                <a:ea typeface="黑体" panose="02010609060101010101" pitchFamily="2" charset="-122"/>
              </a:rPr>
              <a:t>（前 </a:t>
            </a:r>
            <a:r>
              <a:rPr lang="en-US" altLang="zh-CN" dirty="0" smtClean="0">
                <a:ea typeface="黑体" panose="02010609060101010101" pitchFamily="2" charset="-122"/>
              </a:rPr>
              <a:t>13 </a:t>
            </a:r>
            <a:r>
              <a:rPr lang="zh-CN" altLang="en-US" dirty="0" smtClean="0">
                <a:ea typeface="黑体" panose="02010609060101010101" pitchFamily="2" charset="-122"/>
              </a:rPr>
              <a:t>个字母）。</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根域名服务器共有 </a:t>
            </a:r>
            <a:r>
              <a:rPr lang="en-US" altLang="zh-CN" dirty="0" smtClean="0">
                <a:ea typeface="黑体" panose="02010609060101010101" pitchFamily="2" charset="-122"/>
              </a:rPr>
              <a:t>13 </a:t>
            </a:r>
            <a:r>
              <a:rPr lang="zh-CN" altLang="en-US" dirty="0" smtClean="0">
                <a:ea typeface="黑体" panose="02010609060101010101" pitchFamily="2" charset="-122"/>
              </a:rPr>
              <a:t>套装置</a:t>
            </a:r>
            <a:endParaRPr lang="zh-CN" altLang="en-US" dirty="0" smtClean="0">
              <a:ea typeface="黑体" panose="02010609060101010101" pitchFamily="2" charset="-122"/>
            </a:endParaRPr>
          </a:p>
        </p:txBody>
      </p:sp>
      <p:sp>
        <p:nvSpPr>
          <p:cNvPr id="49155" name="Rectangle 3"/>
          <p:cNvSpPr>
            <a:spLocks noGrp="1" noChangeArrowheads="1"/>
          </p:cNvSpPr>
          <p:nvPr>
            <p:ph idx="1"/>
          </p:nvPr>
        </p:nvSpPr>
        <p:spPr/>
        <p:txBody>
          <a:bodyPr/>
          <a:lstStyle/>
          <a:p>
            <a:r>
              <a:rPr lang="zh-CN" altLang="en-US" sz="2800" dirty="0" smtClean="0">
                <a:solidFill>
                  <a:srgbClr val="FF0000"/>
                </a:solidFill>
                <a:ea typeface="黑体" panose="02010609060101010101" pitchFamily="2" charset="-122"/>
              </a:rPr>
              <a:t>根</a:t>
            </a:r>
            <a:r>
              <a:rPr lang="zh-CN" altLang="en-US" sz="2800" dirty="0">
                <a:solidFill>
                  <a:srgbClr val="FF0000"/>
                </a:solidFill>
                <a:ea typeface="黑体" panose="02010609060101010101" pitchFamily="2" charset="-122"/>
              </a:rPr>
              <a:t>域名服务器共有 </a:t>
            </a:r>
            <a:r>
              <a:rPr lang="en-US" altLang="zh-CN" sz="2800" dirty="0">
                <a:solidFill>
                  <a:srgbClr val="FF0000"/>
                </a:solidFill>
                <a:ea typeface="黑体" panose="02010609060101010101" pitchFamily="2" charset="-122"/>
              </a:rPr>
              <a:t>13 </a:t>
            </a:r>
            <a:r>
              <a:rPr lang="zh-CN" altLang="en-US" sz="2800" dirty="0">
                <a:solidFill>
                  <a:srgbClr val="FF0000"/>
                </a:solidFill>
                <a:ea typeface="黑体" panose="02010609060101010101" pitchFamily="2" charset="-122"/>
              </a:rPr>
              <a:t>套</a:t>
            </a:r>
            <a:r>
              <a:rPr lang="zh-CN" altLang="en-US" sz="2800" dirty="0" smtClean="0">
                <a:solidFill>
                  <a:srgbClr val="FF0000"/>
                </a:solidFill>
                <a:ea typeface="黑体" panose="02010609060101010101" pitchFamily="2" charset="-122"/>
              </a:rPr>
              <a:t>装置，不是 </a:t>
            </a:r>
            <a:r>
              <a:rPr lang="en-US" altLang="zh-CN" sz="2800" dirty="0">
                <a:solidFill>
                  <a:srgbClr val="FF0000"/>
                </a:solidFill>
                <a:ea typeface="黑体" panose="02010609060101010101" pitchFamily="2" charset="-122"/>
              </a:rPr>
              <a:t>13 </a:t>
            </a:r>
            <a:r>
              <a:rPr lang="zh-CN" altLang="en-US" sz="2800" dirty="0">
                <a:solidFill>
                  <a:srgbClr val="FF0000"/>
                </a:solidFill>
                <a:ea typeface="黑体" panose="02010609060101010101" pitchFamily="2" charset="-122"/>
              </a:rPr>
              <a:t>个</a:t>
            </a:r>
            <a:r>
              <a:rPr lang="zh-CN" altLang="en-US" sz="2800" dirty="0" smtClean="0">
                <a:solidFill>
                  <a:srgbClr val="FF0000"/>
                </a:solidFill>
                <a:ea typeface="黑体" panose="02010609060101010101" pitchFamily="2" charset="-122"/>
              </a:rPr>
              <a:t>机器。</a:t>
            </a:r>
            <a:endParaRPr lang="en-US" altLang="zh-CN" sz="2800" dirty="0">
              <a:solidFill>
                <a:srgbClr val="FF0000"/>
              </a:solidFill>
              <a:ea typeface="黑体" panose="02010609060101010101" pitchFamily="2" charset="-122"/>
            </a:endParaRPr>
          </a:p>
          <a:p>
            <a:pPr eaLnBrk="1" hangingPunct="1"/>
            <a:r>
              <a:rPr lang="zh-CN" altLang="en-US" sz="2800" dirty="0" smtClean="0">
                <a:ea typeface="黑体" panose="02010609060101010101" pitchFamily="2" charset="-122"/>
              </a:rPr>
              <a:t>这些根域名服务器相应的</a:t>
            </a:r>
            <a:r>
              <a:rPr lang="zh-CN" altLang="en-US" sz="2800" dirty="0" smtClean="0">
                <a:solidFill>
                  <a:srgbClr val="FF0000"/>
                </a:solidFill>
                <a:ea typeface="黑体" panose="02010609060101010101" pitchFamily="2" charset="-122"/>
              </a:rPr>
              <a:t>域名</a:t>
            </a:r>
            <a:r>
              <a:rPr lang="zh-CN" altLang="en-US" sz="2800" dirty="0" smtClean="0">
                <a:ea typeface="黑体" panose="02010609060101010101" pitchFamily="2" charset="-122"/>
              </a:rPr>
              <a:t>分别是：</a:t>
            </a:r>
            <a:endParaRPr lang="zh-CN" altLang="en-US" sz="2800" dirty="0" smtClean="0">
              <a:ea typeface="黑体" panose="02010609060101010101" pitchFamily="2" charset="-122"/>
            </a:endParaRPr>
          </a:p>
          <a:p>
            <a:pPr eaLnBrk="1" hangingPunct="1">
              <a:buFont typeface="Wingdings" panose="05000000000000000000" pitchFamily="2" charset="2"/>
              <a:buNone/>
            </a:pPr>
            <a:r>
              <a:rPr lang="zh-CN" altLang="en-US" sz="2800" dirty="0" smtClean="0">
                <a:ea typeface="黑体" panose="02010609060101010101" pitchFamily="2" charset="-122"/>
              </a:rPr>
              <a:t>    </a:t>
            </a:r>
            <a:r>
              <a:rPr lang="en-US" altLang="zh-CN" sz="2800" dirty="0" smtClean="0">
                <a:ea typeface="黑体" panose="02010609060101010101" pitchFamily="2" charset="-122"/>
              </a:rPr>
              <a:t>a.rootservers.net</a:t>
            </a:r>
            <a:endParaRPr lang="en-US" altLang="zh-CN" sz="2800" dirty="0" smtClean="0">
              <a:ea typeface="黑体" panose="02010609060101010101" pitchFamily="2" charset="-122"/>
            </a:endParaRPr>
          </a:p>
          <a:p>
            <a:pPr eaLnBrk="1" hangingPunct="1">
              <a:buFont typeface="Wingdings" panose="05000000000000000000" pitchFamily="2" charset="2"/>
              <a:buNone/>
            </a:pPr>
            <a:r>
              <a:rPr lang="en-US" altLang="zh-CN" sz="2800" dirty="0" smtClean="0">
                <a:ea typeface="黑体" panose="02010609060101010101" pitchFamily="2" charset="-122"/>
              </a:rPr>
              <a:t>    b.rootservers.net</a:t>
            </a:r>
            <a:endParaRPr lang="en-US" altLang="zh-CN" sz="2800" dirty="0" smtClean="0">
              <a:ea typeface="黑体" panose="02010609060101010101" pitchFamily="2" charset="-122"/>
            </a:endParaRPr>
          </a:p>
          <a:p>
            <a:pPr eaLnBrk="1" hangingPunct="1">
              <a:buFont typeface="Wingdings" panose="05000000000000000000" pitchFamily="2" charset="2"/>
              <a:buNone/>
            </a:pPr>
            <a:r>
              <a:rPr lang="en-US" altLang="zh-CN" sz="2800" dirty="0" smtClean="0">
                <a:ea typeface="黑体" panose="02010609060101010101" pitchFamily="2" charset="-122"/>
              </a:rPr>
              <a:t>    … </a:t>
            </a:r>
            <a:endParaRPr lang="en-US" altLang="zh-CN" sz="2800" dirty="0" smtClean="0">
              <a:ea typeface="黑体" panose="02010609060101010101" pitchFamily="2" charset="-122"/>
            </a:endParaRPr>
          </a:p>
          <a:p>
            <a:pPr eaLnBrk="1" hangingPunct="1">
              <a:buFont typeface="Wingdings" panose="05000000000000000000" pitchFamily="2" charset="2"/>
              <a:buNone/>
            </a:pPr>
            <a:r>
              <a:rPr lang="en-US" altLang="zh-CN" sz="2800" dirty="0" smtClean="0">
                <a:ea typeface="黑体" panose="02010609060101010101" pitchFamily="2" charset="-122"/>
              </a:rPr>
              <a:t>    m.rootservers.net</a:t>
            </a:r>
            <a:endParaRPr lang="en-US" altLang="zh-CN" sz="2800" dirty="0" smtClean="0">
              <a:ea typeface="黑体" panose="02010609060101010101" pitchFamily="2" charset="-122"/>
            </a:endParaRPr>
          </a:p>
          <a:p>
            <a:r>
              <a:rPr lang="zh-CN" altLang="zh-CN" sz="2800" dirty="0"/>
              <a:t>到</a:t>
            </a:r>
            <a:r>
              <a:rPr lang="en-US" altLang="zh-CN" sz="2800" dirty="0"/>
              <a:t>2022</a:t>
            </a:r>
            <a:r>
              <a:rPr lang="zh-CN" altLang="zh-CN" sz="2800" dirty="0"/>
              <a:t>年，全世界已经</a:t>
            </a:r>
            <a:r>
              <a:rPr lang="zh-CN" altLang="zh-CN" sz="2800" dirty="0" smtClean="0"/>
              <a:t>在</a:t>
            </a:r>
            <a:r>
              <a:rPr lang="en-US" altLang="zh-CN" sz="2800" dirty="0" smtClean="0"/>
              <a:t> 1089 </a:t>
            </a:r>
            <a:r>
              <a:rPr lang="zh-CN" altLang="zh-CN" sz="2800" dirty="0" smtClean="0"/>
              <a:t>个地点安装</a:t>
            </a:r>
            <a:r>
              <a:rPr lang="zh-CN" altLang="zh-CN" sz="2800" dirty="0"/>
              <a:t>了根域名</a:t>
            </a:r>
            <a:r>
              <a:rPr lang="zh-CN" altLang="zh-CN" sz="2800" dirty="0" smtClean="0"/>
              <a:t>服务器</a:t>
            </a:r>
            <a:r>
              <a:rPr lang="zh-CN" altLang="en-US" sz="2800" dirty="0" smtClean="0"/>
              <a:t>，</a:t>
            </a:r>
            <a:r>
              <a:rPr lang="zh-CN" altLang="en-US" sz="2800" dirty="0" smtClean="0">
                <a:ea typeface="黑体" panose="02010609060101010101" pitchFamily="2" charset="-122"/>
              </a:rPr>
              <a:t>使世界上大部分 </a:t>
            </a:r>
            <a:r>
              <a:rPr lang="en-US" altLang="zh-CN" sz="2800" dirty="0" smtClean="0">
                <a:ea typeface="黑体" panose="02010609060101010101" pitchFamily="2" charset="-122"/>
              </a:rPr>
              <a:t>DNS </a:t>
            </a:r>
            <a:r>
              <a:rPr lang="zh-CN" altLang="en-US" sz="2800" dirty="0" smtClean="0">
                <a:ea typeface="黑体" panose="02010609060101010101" pitchFamily="2" charset="-122"/>
              </a:rPr>
              <a:t>域名服务器都能</a:t>
            </a:r>
            <a:r>
              <a:rPr lang="zh-CN" altLang="en-US" sz="2800" dirty="0" smtClean="0">
                <a:solidFill>
                  <a:srgbClr val="FF0000"/>
                </a:solidFill>
                <a:ea typeface="黑体" panose="02010609060101010101" pitchFamily="2" charset="-122"/>
              </a:rPr>
              <a:t>就近</a:t>
            </a:r>
            <a:r>
              <a:rPr lang="zh-CN" altLang="en-US" sz="2800" dirty="0" smtClean="0">
                <a:ea typeface="黑体" panose="02010609060101010101" pitchFamily="2" charset="-122"/>
              </a:rPr>
              <a:t>找到一个根域名服务器。 </a:t>
            </a:r>
            <a:endParaRPr lang="zh-CN" altLang="en-US" sz="2800" dirty="0" smtClean="0">
              <a:ea typeface="黑体" panose="02010609060101010101" pitchFamily="2" charset="-122"/>
            </a:endParaRPr>
          </a:p>
          <a:p>
            <a:pPr eaLnBrk="1" hangingPunct="1"/>
            <a:endParaRPr lang="en-US" altLang="zh-CN" sz="28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p:txBody>
          <a:bodyPr/>
          <a:lstStyle/>
          <a:p>
            <a:pPr algn="ctr" eaLnBrk="1" hangingPunct="1"/>
            <a:r>
              <a:rPr sz="3600" dirty="0" smtClean="0"/>
              <a:t>举例：根域名服务器 </a:t>
            </a:r>
            <a:r>
              <a:rPr lang="en-US" altLang="zh-CN" sz="3600" dirty="0" smtClean="0"/>
              <a:t>L </a:t>
            </a:r>
            <a:r>
              <a:rPr sz="3600" dirty="0" smtClean="0"/>
              <a:t>的地点分布图</a:t>
            </a:r>
            <a:endParaRPr sz="3600" dirty="0" smtClean="0"/>
          </a:p>
        </p:txBody>
      </p:sp>
      <p:sp>
        <p:nvSpPr>
          <p:cNvPr id="50179" name="Text Box 6"/>
          <p:cNvSpPr txBox="1">
            <a:spLocks noChangeArrowheads="1"/>
          </p:cNvSpPr>
          <p:nvPr/>
        </p:nvSpPr>
        <p:spPr bwMode="auto">
          <a:xfrm>
            <a:off x="705371" y="4792663"/>
            <a:ext cx="8579528" cy="1384995"/>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buFontTx/>
              <a:buChar char="•"/>
            </a:pPr>
            <a:r>
              <a:rPr lang="en-US" altLang="zh-CN" sz="2800" b="1">
                <a:solidFill>
                  <a:srgbClr val="000099"/>
                </a:solidFill>
                <a:latin typeface="Arial" panose="020B0604020202020204" pitchFamily="34" charset="0"/>
                <a:ea typeface="黑体" panose="02010609060101010101" pitchFamily="2" charset="-122"/>
              </a:rPr>
              <a:t>  </a:t>
            </a:r>
            <a:r>
              <a:rPr lang="zh-CN" altLang="en-US" sz="2800" b="1">
                <a:solidFill>
                  <a:srgbClr val="000099"/>
                </a:solidFill>
                <a:latin typeface="Arial" panose="020B0604020202020204" pitchFamily="34" charset="0"/>
                <a:ea typeface="黑体" panose="02010609060101010101" pitchFamily="2" charset="-122"/>
              </a:rPr>
              <a:t>根域名服务器并不直接把域名直接转换成 </a:t>
            </a:r>
            <a:r>
              <a:rPr lang="en-US" altLang="zh-CN" sz="2800" b="1">
                <a:solidFill>
                  <a:srgbClr val="000099"/>
                </a:solidFill>
                <a:latin typeface="Arial" panose="020B0604020202020204" pitchFamily="34" charset="0"/>
                <a:ea typeface="黑体" panose="02010609060101010101" pitchFamily="2" charset="-122"/>
              </a:rPr>
              <a:t>IP </a:t>
            </a:r>
            <a:r>
              <a:rPr lang="zh-CN" altLang="en-US" sz="2800" b="1">
                <a:solidFill>
                  <a:srgbClr val="000099"/>
                </a:solidFill>
                <a:latin typeface="Arial" panose="020B0604020202020204" pitchFamily="34" charset="0"/>
                <a:ea typeface="黑体" panose="02010609060101010101" pitchFamily="2" charset="-122"/>
              </a:rPr>
              <a:t>地址。</a:t>
            </a:r>
            <a:endParaRPr lang="zh-CN" altLang="en-US" sz="2800" b="1">
              <a:solidFill>
                <a:srgbClr val="000099"/>
              </a:solidFill>
              <a:latin typeface="Arial" panose="020B0604020202020204" pitchFamily="34" charset="0"/>
              <a:ea typeface="黑体" panose="02010609060101010101" pitchFamily="2" charset="-122"/>
            </a:endParaRPr>
          </a:p>
          <a:p>
            <a:pPr algn="just" eaLnBrk="1" hangingPunct="1">
              <a:buFontTx/>
              <a:buChar char="•"/>
            </a:pPr>
            <a:r>
              <a:rPr lang="zh-CN" altLang="en-US" sz="2800" b="1">
                <a:solidFill>
                  <a:srgbClr val="000099"/>
                </a:solidFill>
                <a:latin typeface="Arial" panose="020B0604020202020204" pitchFamily="34" charset="0"/>
                <a:ea typeface="黑体" panose="02010609060101010101" pitchFamily="2" charset="-122"/>
              </a:rPr>
              <a:t>  在使用迭代查询时，根域名服务器把下一步应当找</a:t>
            </a:r>
            <a:endParaRPr lang="zh-CN" altLang="en-US" sz="2800" b="1">
              <a:solidFill>
                <a:srgbClr val="000099"/>
              </a:solidFill>
              <a:latin typeface="Arial" panose="020B0604020202020204" pitchFamily="34" charset="0"/>
              <a:ea typeface="黑体" panose="02010609060101010101" pitchFamily="2" charset="-122"/>
            </a:endParaRPr>
          </a:p>
          <a:p>
            <a:pPr algn="just" eaLnBrk="1" hangingPunct="1"/>
            <a:r>
              <a:rPr lang="zh-CN" altLang="en-US" sz="2800" b="1">
                <a:solidFill>
                  <a:srgbClr val="000099"/>
                </a:solidFill>
                <a:latin typeface="Arial" panose="020B0604020202020204" pitchFamily="34" charset="0"/>
                <a:ea typeface="黑体" panose="02010609060101010101" pitchFamily="2" charset="-122"/>
              </a:rPr>
              <a:t>   的顶级域名服务器的 </a:t>
            </a:r>
            <a:r>
              <a:rPr lang="en-US" altLang="zh-CN" sz="2800" b="1">
                <a:solidFill>
                  <a:srgbClr val="000099"/>
                </a:solidFill>
                <a:latin typeface="Arial" panose="020B0604020202020204" pitchFamily="34" charset="0"/>
                <a:ea typeface="黑体" panose="02010609060101010101" pitchFamily="2" charset="-122"/>
              </a:rPr>
              <a:t>IP </a:t>
            </a:r>
            <a:r>
              <a:rPr lang="zh-CN" altLang="en-US" sz="2800" b="1">
                <a:solidFill>
                  <a:srgbClr val="000099"/>
                </a:solidFill>
                <a:latin typeface="Arial" panose="020B0604020202020204" pitchFamily="34" charset="0"/>
                <a:ea typeface="黑体" panose="02010609060101010101" pitchFamily="2" charset="-122"/>
              </a:rPr>
              <a:t>地址告诉本地域名服务器。</a:t>
            </a:r>
            <a:endParaRPr lang="zh-CN" altLang="en-US" sz="2800" b="1">
              <a:solidFill>
                <a:srgbClr val="000099"/>
              </a:solidFill>
              <a:latin typeface="Arial" panose="020B0604020202020204" pitchFamily="34" charset="0"/>
              <a:ea typeface="黑体" panose="02010609060101010101" pitchFamily="2" charset="-122"/>
            </a:endParaRPr>
          </a:p>
        </p:txBody>
      </p:sp>
      <p:sp>
        <p:nvSpPr>
          <p:cNvPr id="50180" name="Text Box 7"/>
          <p:cNvSpPr txBox="1">
            <a:spLocks noChangeArrowheads="1"/>
          </p:cNvSpPr>
          <p:nvPr/>
        </p:nvSpPr>
        <p:spPr bwMode="auto">
          <a:xfrm>
            <a:off x="2144688" y="4149725"/>
            <a:ext cx="6445932" cy="523220"/>
          </a:xfrm>
          <a:prstGeom prst="rect">
            <a:avLst/>
          </a:prstGeom>
          <a:solidFill>
            <a:schemeClr val="bg1"/>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根域名服务器 </a:t>
            </a:r>
            <a:r>
              <a:rPr lang="en-US" altLang="zh-CN" sz="2800" b="1" dirty="0" smtClean="0">
                <a:solidFill>
                  <a:srgbClr val="000099"/>
                </a:solidFill>
                <a:latin typeface="Arial" panose="020B0604020202020204" pitchFamily="34" charset="0"/>
                <a:ea typeface="黑体" panose="02010609060101010101" pitchFamily="2" charset="-122"/>
              </a:rPr>
              <a:t>L </a:t>
            </a:r>
            <a:r>
              <a:rPr lang="zh-CN" altLang="zh-CN" sz="2800" b="1" dirty="0" smtClean="0">
                <a:solidFill>
                  <a:srgbClr val="000099"/>
                </a:solidFill>
                <a:latin typeface="Arial" panose="020B0604020202020204" pitchFamily="34" charset="0"/>
                <a:ea typeface="黑体" panose="02010609060101010101" pitchFamily="2" charset="-122"/>
              </a:rPr>
              <a:t>分布</a:t>
            </a:r>
            <a:r>
              <a:rPr lang="zh-CN" altLang="en-US" sz="2800" b="1" dirty="0">
                <a:solidFill>
                  <a:srgbClr val="000099"/>
                </a:solidFill>
                <a:latin typeface="Arial" panose="020B0604020202020204" pitchFamily="34" charset="0"/>
                <a:ea typeface="黑体" panose="02010609060101010101" pitchFamily="2" charset="-122"/>
              </a:rPr>
              <a:t>在</a:t>
            </a:r>
            <a:r>
              <a:rPr lang="zh-CN" altLang="en-US" sz="2800" b="1" dirty="0" smtClean="0">
                <a:solidFill>
                  <a:srgbClr val="000099"/>
                </a:solidFill>
                <a:latin typeface="Arial" panose="020B0604020202020204" pitchFamily="34" charset="0"/>
                <a:ea typeface="黑体" panose="02010609060101010101" pitchFamily="2" charset="-122"/>
              </a:rPr>
              <a:t>世界 </a:t>
            </a:r>
            <a:r>
              <a:rPr lang="en-US" altLang="zh-CN" sz="2800" b="1" dirty="0" smtClean="0">
                <a:solidFill>
                  <a:srgbClr val="000099"/>
                </a:solidFill>
                <a:latin typeface="Arial" panose="020B0604020202020204" pitchFamily="34" charset="0"/>
                <a:ea typeface="黑体" panose="02010609060101010101" pitchFamily="2" charset="-122"/>
              </a:rPr>
              <a:t>150 </a:t>
            </a:r>
            <a:r>
              <a:rPr lang="zh-CN" altLang="zh-CN" sz="2800" b="1" dirty="0" smtClean="0">
                <a:solidFill>
                  <a:srgbClr val="000099"/>
                </a:solidFill>
                <a:latin typeface="Arial" panose="020B0604020202020204" pitchFamily="34" charset="0"/>
                <a:ea typeface="黑体" panose="02010609060101010101" pitchFamily="2" charset="-122"/>
              </a:rPr>
              <a:t>个地点</a:t>
            </a:r>
            <a:endParaRPr lang="zh-CN" altLang="en-US" sz="2800" b="1" dirty="0">
              <a:solidFill>
                <a:srgbClr val="000099"/>
              </a:solidFill>
              <a:latin typeface="Arial" panose="020B0604020202020204" pitchFamily="34" charset="0"/>
              <a:ea typeface="黑体" panose="02010609060101010101" pitchFamily="2" charset="-122"/>
            </a:endParaRPr>
          </a:p>
        </p:txBody>
      </p:sp>
      <p:pic>
        <p:nvPicPr>
          <p:cNvPr id="6" name="图片 5" descr="L-rootserver.jpg"/>
          <p:cNvPicPr/>
          <p:nvPr/>
        </p:nvPicPr>
        <p:blipFill>
          <a:blip r:embed="rId1" cstate="print"/>
          <a:stretch>
            <a:fillRect/>
          </a:stretch>
        </p:blipFill>
        <p:spPr>
          <a:xfrm>
            <a:off x="777379" y="1167026"/>
            <a:ext cx="8424093" cy="283803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p:cNvSpPr>
            <a:spLocks noGrp="1" noChangeArrowheads="1"/>
          </p:cNvSpPr>
          <p:nvPr>
            <p:ph type="title"/>
          </p:nvPr>
        </p:nvSpPr>
        <p:spPr/>
        <p:txBody>
          <a:bodyPr/>
          <a:lstStyle/>
          <a:p>
            <a:pPr algn="ctr" eaLnBrk="1" hangingPunct="1">
              <a:defRPr/>
            </a:pPr>
            <a:r>
              <a:rPr lang="zh-CN" altLang="en-US" dirty="0"/>
              <a:t>顶级域名</a:t>
            </a:r>
            <a:r>
              <a:rPr lang="zh-CN" altLang="en-US" dirty="0" smtClean="0"/>
              <a:t>服务器</a:t>
            </a:r>
            <a:endParaRPr lang="zh-CN" altLang="en-US" dirty="0"/>
          </a:p>
        </p:txBody>
      </p:sp>
      <p:sp>
        <p:nvSpPr>
          <p:cNvPr id="1077251" name="Rectangle 3"/>
          <p:cNvSpPr>
            <a:spLocks noGrp="1" noChangeArrowheads="1"/>
          </p:cNvSpPr>
          <p:nvPr>
            <p:ph idx="1"/>
          </p:nvPr>
        </p:nvSpPr>
        <p:spPr/>
        <p:txBody>
          <a:bodyPr/>
          <a:lstStyle/>
          <a:p>
            <a:pPr marL="316230" indent="-316230">
              <a:defRPr/>
            </a:pPr>
            <a:r>
              <a:rPr lang="zh-CN" altLang="en-US" dirty="0"/>
              <a:t>顶级域名</a:t>
            </a:r>
            <a:r>
              <a:rPr lang="zh-CN" altLang="en-US" dirty="0" smtClean="0"/>
              <a:t>服务器</a:t>
            </a:r>
            <a:r>
              <a:rPr lang="zh-CN" altLang="en-US" dirty="0"/>
              <a:t>（</a:t>
            </a:r>
            <a:r>
              <a:rPr lang="zh-CN" altLang="en-US" dirty="0" smtClean="0"/>
              <a:t>即 </a:t>
            </a:r>
            <a:r>
              <a:rPr lang="en-US" altLang="zh-CN" dirty="0">
                <a:solidFill>
                  <a:srgbClr val="FF0000"/>
                </a:solidFill>
              </a:rPr>
              <a:t>TLD </a:t>
            </a:r>
            <a:r>
              <a:rPr lang="zh-CN" altLang="en-US" dirty="0">
                <a:solidFill>
                  <a:srgbClr val="FF0000"/>
                </a:solidFill>
              </a:rPr>
              <a:t>服务器</a:t>
            </a:r>
            <a:r>
              <a:rPr lang="zh-CN" altLang="en-US" dirty="0"/>
              <a:t>）</a:t>
            </a:r>
            <a:r>
              <a:rPr lang="zh-CN" altLang="en-US" dirty="0" smtClean="0"/>
              <a:t>负责</a:t>
            </a:r>
            <a:r>
              <a:rPr lang="zh-CN" altLang="en-US" dirty="0"/>
              <a:t>管理在该顶级域名服务器注册的</a:t>
            </a:r>
            <a:r>
              <a:rPr lang="zh-CN" altLang="en-US" dirty="0">
                <a:solidFill>
                  <a:srgbClr val="FF0000"/>
                </a:solidFill>
              </a:rPr>
              <a:t>所有二级域名。</a:t>
            </a:r>
            <a:endParaRPr lang="zh-CN" altLang="en-US" dirty="0">
              <a:solidFill>
                <a:srgbClr val="FF0000"/>
              </a:solidFill>
            </a:endParaRPr>
          </a:p>
          <a:p>
            <a:pPr marL="316230" indent="-316230" eaLnBrk="1" hangingPunct="1">
              <a:defRPr/>
            </a:pPr>
            <a:r>
              <a:rPr lang="zh-CN" altLang="en-US" dirty="0"/>
              <a:t>当收到 </a:t>
            </a:r>
            <a:r>
              <a:rPr lang="en-US" altLang="zh-CN" dirty="0"/>
              <a:t>DNS </a:t>
            </a:r>
            <a:r>
              <a:rPr lang="zh-CN" altLang="en-US" dirty="0"/>
              <a:t>查询请求时，就给出相应的回答（可能是最后的结果，也可能是下一步应当找的域名服务器的 </a:t>
            </a:r>
            <a:r>
              <a:rPr lang="en-US" altLang="zh-CN" dirty="0"/>
              <a:t>IP </a:t>
            </a:r>
            <a:r>
              <a:rPr lang="zh-CN" altLang="en-US" dirty="0"/>
              <a:t>地址）。 </a:t>
            </a:r>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Rectangle 2"/>
          <p:cNvSpPr>
            <a:spLocks noGrp="1" noChangeArrowheads="1"/>
          </p:cNvSpPr>
          <p:nvPr>
            <p:ph type="title"/>
          </p:nvPr>
        </p:nvSpPr>
        <p:spPr/>
        <p:txBody>
          <a:bodyPr/>
          <a:lstStyle/>
          <a:p>
            <a:pPr algn="ctr" eaLnBrk="1" hangingPunct="1">
              <a:defRPr/>
            </a:pPr>
            <a:r>
              <a:rPr lang="zh-CN" altLang="en-US" dirty="0"/>
              <a:t>权限域名服务器 </a:t>
            </a:r>
            <a:endParaRPr lang="zh-CN" altLang="en-US" dirty="0"/>
          </a:p>
        </p:txBody>
      </p:sp>
      <p:sp>
        <p:nvSpPr>
          <p:cNvPr id="1078275" name="Rectangle 3"/>
          <p:cNvSpPr>
            <a:spLocks noGrp="1" noChangeArrowheads="1"/>
          </p:cNvSpPr>
          <p:nvPr>
            <p:ph idx="1"/>
          </p:nvPr>
        </p:nvSpPr>
        <p:spPr/>
        <p:txBody>
          <a:bodyPr/>
          <a:lstStyle/>
          <a:p>
            <a:pPr marL="316230" indent="-316230" eaLnBrk="1" hangingPunct="1">
              <a:spcBef>
                <a:spcPts val="555"/>
              </a:spcBef>
              <a:defRPr/>
            </a:pPr>
            <a:r>
              <a:rPr lang="zh-CN" altLang="en-US" dirty="0" smtClean="0"/>
              <a:t>负责</a:t>
            </a:r>
            <a:r>
              <a:rPr lang="zh-CN" altLang="en-US" dirty="0"/>
              <a:t>一个区的域名服务器。</a:t>
            </a:r>
            <a:endParaRPr lang="zh-CN" altLang="en-US" dirty="0"/>
          </a:p>
          <a:p>
            <a:pPr marL="316230" indent="-316230" eaLnBrk="1" hangingPunct="1">
              <a:spcBef>
                <a:spcPts val="555"/>
              </a:spcBef>
              <a:defRPr/>
            </a:pPr>
            <a:r>
              <a:rPr lang="zh-CN" altLang="en-US" dirty="0"/>
              <a:t>当一个权限域名服务器还不能给出最后的查询回答时，就会告诉发出查询请求的 </a:t>
            </a:r>
            <a:r>
              <a:rPr lang="en-US" altLang="zh-CN" dirty="0"/>
              <a:t>DNS </a:t>
            </a:r>
            <a:r>
              <a:rPr lang="zh-CN" altLang="en-US" dirty="0"/>
              <a:t>客户，下一步应当找哪一个权限域名服务器。 </a:t>
            </a:r>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p:cNvSpPr>
            <a:spLocks noGrp="1" noChangeArrowheads="1"/>
          </p:cNvSpPr>
          <p:nvPr>
            <p:ph type="title"/>
          </p:nvPr>
        </p:nvSpPr>
        <p:spPr/>
        <p:txBody>
          <a:bodyPr/>
          <a:lstStyle/>
          <a:p>
            <a:pPr algn="ctr" eaLnBrk="1" hangingPunct="1">
              <a:defRPr/>
            </a:pPr>
            <a:r>
              <a:rPr lang="zh-CN" altLang="en-US" dirty="0"/>
              <a:t>本地域名服务器 </a:t>
            </a:r>
            <a:endParaRPr lang="zh-CN" altLang="en-US" dirty="0"/>
          </a:p>
        </p:txBody>
      </p:sp>
      <p:sp>
        <p:nvSpPr>
          <p:cNvPr id="107929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16230" indent="-316230">
              <a:spcBef>
                <a:spcPts val="555"/>
              </a:spcBef>
            </a:pPr>
            <a:r>
              <a:rPr lang="zh-CN" altLang="en-US" dirty="0"/>
              <a:t>本地域名服务器对域名系统非常重要。</a:t>
            </a:r>
            <a:endParaRPr lang="zh-CN" altLang="en-US" dirty="0"/>
          </a:p>
          <a:p>
            <a:pPr marL="316230" indent="-316230">
              <a:spcBef>
                <a:spcPts val="555"/>
              </a:spcBef>
            </a:pPr>
            <a:r>
              <a:rPr lang="zh-CN" altLang="en-US" dirty="0"/>
              <a:t>当一个主机发出 </a:t>
            </a:r>
            <a:r>
              <a:rPr lang="en-US" altLang="zh-CN" dirty="0"/>
              <a:t>DNS </a:t>
            </a:r>
            <a:r>
              <a:rPr lang="zh-CN" altLang="en-US" dirty="0"/>
              <a:t>查询请求时，这个查询请求报文就发送给本地域名服务器。</a:t>
            </a:r>
            <a:endParaRPr lang="zh-CN" altLang="en-US" dirty="0"/>
          </a:p>
          <a:p>
            <a:pPr marL="316230" indent="-316230">
              <a:spcBef>
                <a:spcPts val="555"/>
              </a:spcBef>
            </a:pPr>
            <a:r>
              <a:rPr lang="zh-CN" altLang="en-US" dirty="0"/>
              <a:t>每一个互联网服务提供者 </a:t>
            </a:r>
            <a:r>
              <a:rPr lang="en-US" altLang="zh-CN" dirty="0"/>
              <a:t>ISP</a:t>
            </a:r>
            <a:r>
              <a:rPr lang="zh-CN" altLang="en-US" dirty="0"/>
              <a:t>，或一个大学，甚至一个大学里的系，都可以拥有一个本地域名服务器，</a:t>
            </a:r>
            <a:endParaRPr lang="zh-CN" altLang="en-US" dirty="0"/>
          </a:p>
          <a:p>
            <a:pPr marL="316230" indent="-316230">
              <a:spcBef>
                <a:spcPts val="555"/>
              </a:spcBef>
            </a:pPr>
            <a:r>
              <a:rPr lang="zh-CN" altLang="en-US" dirty="0"/>
              <a:t>这种域名服务器有时也称为</a:t>
            </a:r>
            <a:r>
              <a:rPr lang="zh-CN" altLang="en-US" dirty="0">
                <a:solidFill>
                  <a:srgbClr val="FF0000"/>
                </a:solidFill>
              </a:rPr>
              <a:t>默认域名服务器。</a:t>
            </a: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Grp="1" noChangeArrowheads="1"/>
          </p:cNvSpPr>
          <p:nvPr>
            <p:ph type="title"/>
          </p:nvPr>
        </p:nvSpPr>
        <p:spPr/>
        <p:txBody>
          <a:bodyPr/>
          <a:lstStyle/>
          <a:p>
            <a:pPr algn="ctr" eaLnBrk="1" hangingPunct="1">
              <a:defRPr/>
            </a:pPr>
            <a:r>
              <a:rPr lang="zh-CN" altLang="en-US" dirty="0"/>
              <a:t>提高域名服务器的可靠性</a:t>
            </a:r>
            <a:endParaRPr lang="zh-CN" altLang="en-US" dirty="0"/>
          </a:p>
        </p:txBody>
      </p:sp>
      <p:sp>
        <p:nvSpPr>
          <p:cNvPr id="54275" name="Rectangle 3"/>
          <p:cNvSpPr>
            <a:spLocks noGrp="1" noChangeArrowheads="1"/>
          </p:cNvSpPr>
          <p:nvPr>
            <p:ph idx="1"/>
          </p:nvPr>
        </p:nvSpPr>
        <p:spPr/>
        <p:txBody>
          <a:bodyPr/>
          <a:lstStyle/>
          <a:p>
            <a:pPr eaLnBrk="1" hangingPunct="1"/>
            <a:r>
              <a:rPr lang="en-US" altLang="zh-CN" dirty="0" smtClean="0">
                <a:ea typeface="黑体" panose="02010609060101010101" pitchFamily="2" charset="-122"/>
              </a:rPr>
              <a:t>DNS </a:t>
            </a:r>
            <a:r>
              <a:rPr lang="zh-CN" altLang="en-US" dirty="0" smtClean="0">
                <a:ea typeface="黑体" panose="02010609060101010101" pitchFamily="2" charset="-122"/>
              </a:rPr>
              <a:t>域名服务器都把数据复制到几个域名服务器来保存，其中的一个是</a:t>
            </a:r>
            <a:r>
              <a:rPr lang="zh-CN" altLang="en-US" dirty="0" smtClean="0">
                <a:solidFill>
                  <a:srgbClr val="FF0000"/>
                </a:solidFill>
                <a:ea typeface="黑体" panose="02010609060101010101" pitchFamily="2" charset="-122"/>
              </a:rPr>
              <a:t>主域名服务器</a:t>
            </a:r>
            <a:r>
              <a:rPr lang="zh-CN" altLang="en-US" dirty="0" smtClean="0">
                <a:ea typeface="黑体" panose="02010609060101010101" pitchFamily="2" charset="-122"/>
              </a:rPr>
              <a:t>，其他的是</a:t>
            </a:r>
            <a:r>
              <a:rPr lang="zh-CN" altLang="en-US" dirty="0" smtClean="0">
                <a:solidFill>
                  <a:srgbClr val="FF0000"/>
                </a:solidFill>
                <a:ea typeface="黑体" panose="02010609060101010101" pitchFamily="2" charset="-122"/>
              </a:rPr>
              <a:t>辅助域名服务器</a:t>
            </a:r>
            <a:r>
              <a:rPr lang="zh-CN" altLang="en-US" dirty="0" smtClean="0">
                <a:ea typeface="黑体" panose="02010609060101010101" pitchFamily="2" charset="-122"/>
              </a:rPr>
              <a:t>。</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当主域名服务器出故障时，辅助域名服务器可以保证 </a:t>
            </a:r>
            <a:r>
              <a:rPr lang="en-US" altLang="zh-CN" dirty="0" smtClean="0">
                <a:ea typeface="黑体" panose="02010609060101010101" pitchFamily="2" charset="-122"/>
              </a:rPr>
              <a:t>DNS </a:t>
            </a:r>
            <a:r>
              <a:rPr lang="zh-CN" altLang="en-US" dirty="0" smtClean="0">
                <a:ea typeface="黑体" panose="02010609060101010101" pitchFamily="2" charset="-122"/>
              </a:rPr>
              <a:t>的查询工作不会中断。</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主域名服务器定期把数据复制到辅助域名服务器中，而更改数据只能在主域名服务器中进行。这样就保证了数据的一致性。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346" name="Rectangle 2"/>
          <p:cNvSpPr>
            <a:spLocks noGrp="1" noChangeArrowheads="1"/>
          </p:cNvSpPr>
          <p:nvPr>
            <p:ph type="title"/>
          </p:nvPr>
        </p:nvSpPr>
        <p:spPr/>
        <p:txBody>
          <a:bodyPr/>
          <a:lstStyle/>
          <a:p>
            <a:pPr algn="ctr" eaLnBrk="1" hangingPunct="1">
              <a:defRPr/>
            </a:pPr>
            <a:r>
              <a:rPr lang="zh-CN" altLang="en-US" dirty="0"/>
              <a:t>域名的解析过程 </a:t>
            </a:r>
            <a:endParaRPr lang="zh-CN" altLang="en-US" dirty="0"/>
          </a:p>
        </p:txBody>
      </p:sp>
      <p:sp>
        <p:nvSpPr>
          <p:cNvPr id="55299" name="Rectangle 3"/>
          <p:cNvSpPr>
            <a:spLocks noGrp="1" noChangeArrowheads="1"/>
          </p:cNvSpPr>
          <p:nvPr>
            <p:ph idx="1"/>
          </p:nvPr>
        </p:nvSpPr>
        <p:spPr/>
        <p:txBody>
          <a:bodyPr/>
          <a:lstStyle/>
          <a:p>
            <a:pPr eaLnBrk="1" hangingPunct="1"/>
            <a:r>
              <a:rPr lang="zh-CN" altLang="en-US" sz="2800" dirty="0" smtClean="0">
                <a:solidFill>
                  <a:srgbClr val="FF0000"/>
                </a:solidFill>
                <a:ea typeface="黑体" panose="02010609060101010101" pitchFamily="2" charset="-122"/>
              </a:rPr>
              <a:t>主机向本地域名服务器的查询一般都是采用</a:t>
            </a:r>
            <a:r>
              <a:rPr lang="zh-CN" altLang="en-US" sz="2800" dirty="0" smtClean="0">
                <a:solidFill>
                  <a:srgbClr val="0000FF"/>
                </a:solidFill>
                <a:ea typeface="黑体" panose="02010609060101010101" pitchFamily="2" charset="-122"/>
              </a:rPr>
              <a:t>递归查询。</a:t>
            </a:r>
            <a:r>
              <a:rPr lang="zh-CN" altLang="en-US" sz="2800" dirty="0" smtClean="0">
                <a:ea typeface="黑体" panose="02010609060101010101" pitchFamily="2" charset="-122"/>
              </a:rPr>
              <a:t>如果主机所询问的本地域名服务器不知道被查询域名的 </a:t>
            </a:r>
            <a:r>
              <a:rPr lang="en-US" altLang="zh-CN" sz="2800" dirty="0" smtClean="0">
                <a:ea typeface="黑体" panose="02010609060101010101" pitchFamily="2" charset="-122"/>
              </a:rPr>
              <a:t>IP </a:t>
            </a:r>
            <a:r>
              <a:rPr lang="zh-CN" altLang="en-US" sz="2800" dirty="0" smtClean="0">
                <a:ea typeface="黑体" panose="02010609060101010101" pitchFamily="2" charset="-122"/>
              </a:rPr>
              <a:t>地址，那么本地域名服务器就以 </a:t>
            </a:r>
            <a:r>
              <a:rPr lang="en-US" altLang="zh-CN" sz="2800" dirty="0" smtClean="0">
                <a:ea typeface="黑体" panose="02010609060101010101" pitchFamily="2" charset="-122"/>
              </a:rPr>
              <a:t>DNS </a:t>
            </a:r>
            <a:r>
              <a:rPr lang="zh-CN" altLang="en-US" sz="2800" dirty="0" smtClean="0">
                <a:ea typeface="黑体" panose="02010609060101010101" pitchFamily="2" charset="-122"/>
              </a:rPr>
              <a:t>客户的身份，向其他根域名服务器继续发出查询请求报文。</a:t>
            </a:r>
            <a:endParaRPr lang="zh-CN" altLang="en-US" sz="2800" dirty="0" smtClean="0">
              <a:ea typeface="黑体" panose="02010609060101010101" pitchFamily="2" charset="-122"/>
            </a:endParaRPr>
          </a:p>
          <a:p>
            <a:pPr eaLnBrk="1" hangingPunct="1"/>
            <a:r>
              <a:rPr lang="zh-CN" altLang="en-US" sz="2800" dirty="0" smtClean="0">
                <a:solidFill>
                  <a:srgbClr val="FF0000"/>
                </a:solidFill>
                <a:ea typeface="黑体" panose="02010609060101010101" pitchFamily="2" charset="-122"/>
              </a:rPr>
              <a:t>本地域名服务器向根域名服务器的查询通常是采用</a:t>
            </a:r>
            <a:r>
              <a:rPr lang="zh-CN" altLang="en-US" sz="2800" dirty="0" smtClean="0">
                <a:solidFill>
                  <a:srgbClr val="0000FF"/>
                </a:solidFill>
                <a:ea typeface="黑体" panose="02010609060101010101" pitchFamily="2" charset="-122"/>
              </a:rPr>
              <a:t>迭代查询。</a:t>
            </a:r>
            <a:r>
              <a:rPr lang="zh-CN" altLang="en-US" sz="2800" dirty="0" smtClean="0">
                <a:ea typeface="黑体" panose="02010609060101010101" pitchFamily="2" charset="-122"/>
              </a:rPr>
              <a:t>当根域名服务器收到本地域名服务器的迭代查询请求报文时，要么给出所要查询的 </a:t>
            </a:r>
            <a:r>
              <a:rPr lang="en-US" altLang="zh-CN" sz="2800" dirty="0" smtClean="0">
                <a:ea typeface="黑体" panose="02010609060101010101" pitchFamily="2" charset="-122"/>
              </a:rPr>
              <a:t>IP </a:t>
            </a:r>
            <a:r>
              <a:rPr lang="zh-CN" altLang="en-US" sz="2800" dirty="0" smtClean="0">
                <a:ea typeface="黑体" panose="02010609060101010101" pitchFamily="2" charset="-122"/>
              </a:rPr>
              <a:t>地址，要么告诉本地域名服务器：“你下一步应当向哪一个域名服务器进行查询”。然后让本地域名服务器进行后续的查询。</a:t>
            </a:r>
            <a:endParaRPr lang="zh-CN" altLang="en-US" sz="28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72" name="Rectangle 4"/>
          <p:cNvSpPr>
            <a:spLocks noGrp="1" noChangeArrowheads="1"/>
          </p:cNvSpPr>
          <p:nvPr>
            <p:ph type="title"/>
          </p:nvPr>
        </p:nvSpPr>
        <p:spPr/>
        <p:txBody>
          <a:bodyPr/>
          <a:lstStyle/>
          <a:p>
            <a:pPr algn="ctr" eaLnBrk="1" hangingPunct="1">
              <a:defRPr/>
            </a:pPr>
            <a:r>
              <a:rPr dirty="0"/>
              <a:t>本地域名服务器采用迭代查询 </a:t>
            </a:r>
            <a:endParaRPr dirty="0"/>
          </a:p>
        </p:txBody>
      </p:sp>
      <p:sp>
        <p:nvSpPr>
          <p:cNvPr id="56323" name="Rectangle 5"/>
          <p:cNvSpPr>
            <a:spLocks noChangeArrowheads="1"/>
          </p:cNvSpPr>
          <p:nvPr/>
        </p:nvSpPr>
        <p:spPr bwMode="auto">
          <a:xfrm flipH="1">
            <a:off x="2997598" y="1519709"/>
            <a:ext cx="3326077" cy="3024188"/>
          </a:xfrm>
          <a:prstGeom prst="rect">
            <a:avLst/>
          </a:prstGeom>
          <a:solidFill>
            <a:srgbClr val="FFFF99"/>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56324" name="Text Box 7"/>
          <p:cNvSpPr txBox="1">
            <a:spLocks noChangeArrowheads="1"/>
          </p:cNvSpPr>
          <p:nvPr/>
        </p:nvSpPr>
        <p:spPr bwMode="auto">
          <a:xfrm flipH="1">
            <a:off x="6422626" y="1634009"/>
            <a:ext cx="1800493" cy="56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5000"/>
              </a:lnSpc>
            </a:pPr>
            <a:r>
              <a:rPr kumimoji="1" lang="zh-CN" altLang="en-US" sz="1800" b="1">
                <a:solidFill>
                  <a:srgbClr val="000099"/>
                </a:solidFill>
                <a:latin typeface="Arial" panose="020B0604020202020204" pitchFamily="34" charset="0"/>
                <a:ea typeface="黑体" panose="02010609060101010101" pitchFamily="2" charset="-122"/>
              </a:rPr>
              <a:t>顶级域名服务器</a:t>
            </a:r>
            <a:endParaRPr kumimoji="1" lang="zh-CN" altLang="en-US" sz="1800" b="1">
              <a:solidFill>
                <a:srgbClr val="000099"/>
              </a:solidFill>
              <a:latin typeface="Arial" panose="020B0604020202020204" pitchFamily="34" charset="0"/>
              <a:ea typeface="黑体" panose="02010609060101010101" pitchFamily="2" charset="-122"/>
            </a:endParaRPr>
          </a:p>
          <a:p>
            <a:pPr algn="ctr" eaLnBrk="1" hangingPunct="1">
              <a:lnSpc>
                <a:spcPct val="85000"/>
              </a:lnSpc>
            </a:pPr>
            <a:r>
              <a:rPr kumimoji="1" lang="en-US" altLang="zh-CN" sz="1800" b="1">
                <a:solidFill>
                  <a:srgbClr val="000099"/>
                </a:solidFill>
                <a:latin typeface="Arial" panose="020B0604020202020204" pitchFamily="34" charset="0"/>
                <a:ea typeface="黑体" panose="02010609060101010101" pitchFamily="2" charset="-122"/>
              </a:rPr>
              <a:t>dns.com</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56325" name="Text Box 8"/>
          <p:cNvSpPr txBox="1">
            <a:spLocks noChangeArrowheads="1"/>
          </p:cNvSpPr>
          <p:nvPr/>
        </p:nvSpPr>
        <p:spPr bwMode="auto">
          <a:xfrm flipH="1">
            <a:off x="6045069" y="3723160"/>
            <a:ext cx="234235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rgbClr val="000099"/>
                </a:solidFill>
                <a:latin typeface="Arial" panose="020B0604020202020204" pitchFamily="34" charset="0"/>
                <a:ea typeface="黑体" panose="02010609060101010101" pitchFamily="2" charset="-122"/>
              </a:rPr>
              <a:t>权限</a:t>
            </a:r>
            <a:r>
              <a:rPr kumimoji="1" lang="zh-CN" altLang="zh-CN" sz="1800" b="1">
                <a:solidFill>
                  <a:srgbClr val="000099"/>
                </a:solidFill>
                <a:latin typeface="Arial" panose="020B0604020202020204" pitchFamily="34" charset="0"/>
                <a:ea typeface="黑体" panose="02010609060101010101" pitchFamily="2" charset="-122"/>
              </a:rPr>
              <a:t>域名服务</a:t>
            </a:r>
            <a:r>
              <a:rPr kumimoji="1" lang="en-US" altLang="zh-CN" sz="1800" b="1">
                <a:solidFill>
                  <a:srgbClr val="000099"/>
                </a:solidFill>
                <a:latin typeface="Arial" panose="020B0604020202020204" pitchFamily="34" charset="0"/>
                <a:ea typeface="黑体" panose="02010609060101010101" pitchFamily="2" charset="-122"/>
              </a:rPr>
              <a:t>dns.abc.com</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56326" name="Text Box 9"/>
          <p:cNvSpPr txBox="1">
            <a:spLocks noChangeArrowheads="1"/>
          </p:cNvSpPr>
          <p:nvPr/>
        </p:nvSpPr>
        <p:spPr bwMode="auto">
          <a:xfrm flipH="1">
            <a:off x="1058596" y="3691409"/>
            <a:ext cx="180049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dirty="0">
                <a:solidFill>
                  <a:srgbClr val="FF0000"/>
                </a:solidFill>
                <a:latin typeface="Arial" panose="020B0604020202020204" pitchFamily="34" charset="0"/>
                <a:ea typeface="黑体" panose="02010609060101010101" pitchFamily="2" charset="-122"/>
              </a:rPr>
              <a:t>本地域名服务器</a:t>
            </a:r>
            <a:endParaRPr kumimoji="1" lang="zh-CN" altLang="en-US" sz="1800" b="1" dirty="0">
              <a:solidFill>
                <a:srgbClr val="FF0000"/>
              </a:solidFill>
              <a:latin typeface="Arial" panose="020B0604020202020204" pitchFamily="34" charset="0"/>
              <a:ea typeface="黑体" panose="02010609060101010101" pitchFamily="2" charset="-122"/>
            </a:endParaRPr>
          </a:p>
          <a:p>
            <a:pPr algn="ctr" eaLnBrk="1" hangingPunct="1">
              <a:lnSpc>
                <a:spcPct val="80000"/>
              </a:lnSpc>
            </a:pPr>
            <a:r>
              <a:rPr kumimoji="1" lang="en-US" altLang="zh-CN" sz="1800" b="1" dirty="0">
                <a:solidFill>
                  <a:srgbClr val="FF0000"/>
                </a:solidFill>
                <a:latin typeface="Arial" panose="020B0604020202020204" pitchFamily="34" charset="0"/>
                <a:ea typeface="黑体" panose="02010609060101010101" pitchFamily="2" charset="-122"/>
              </a:rPr>
              <a:t>dns.xyz.com</a:t>
            </a:r>
            <a:endParaRPr kumimoji="1" lang="en-US" altLang="zh-CN" sz="1800" b="1" dirty="0">
              <a:solidFill>
                <a:srgbClr val="FF0000"/>
              </a:solidFill>
              <a:latin typeface="Arial" panose="020B0604020202020204" pitchFamily="34" charset="0"/>
              <a:ea typeface="黑体" panose="02010609060101010101" pitchFamily="2" charset="-122"/>
            </a:endParaRPr>
          </a:p>
        </p:txBody>
      </p:sp>
      <p:sp>
        <p:nvSpPr>
          <p:cNvPr id="56327" name="Text Box 12"/>
          <p:cNvSpPr txBox="1">
            <a:spLocks noChangeArrowheads="1"/>
          </p:cNvSpPr>
          <p:nvPr/>
        </p:nvSpPr>
        <p:spPr bwMode="auto">
          <a:xfrm flipH="1">
            <a:off x="1375228" y="1646710"/>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rgbClr val="000099"/>
                </a:solidFill>
                <a:latin typeface="Arial" panose="020B0604020202020204" pitchFamily="34" charset="0"/>
                <a:ea typeface="黑体" panose="02010609060101010101" pitchFamily="2" charset="-122"/>
              </a:rPr>
              <a:t>根域名服务器</a:t>
            </a:r>
            <a:endParaRPr kumimoji="1" lang="zh-CN" altLang="en-US" sz="1800" b="1">
              <a:solidFill>
                <a:srgbClr val="000099"/>
              </a:solidFill>
              <a:latin typeface="Arial" panose="020B0604020202020204" pitchFamily="34" charset="0"/>
              <a:ea typeface="黑体" panose="02010609060101010101" pitchFamily="2" charset="-122"/>
            </a:endParaRPr>
          </a:p>
        </p:txBody>
      </p:sp>
      <p:pic>
        <p:nvPicPr>
          <p:cNvPr id="56328" name="Picture 15"/>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3092185" y="3397723"/>
            <a:ext cx="736071"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9" name="Picture 16"/>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3092185" y="1484784"/>
            <a:ext cx="736071"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0" name="Picture 17"/>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5434542" y="1484784"/>
            <a:ext cx="737791"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08" name="Group 40"/>
          <p:cNvGrpSpPr/>
          <p:nvPr/>
        </p:nvGrpSpPr>
        <p:grpSpPr bwMode="auto">
          <a:xfrm>
            <a:off x="2976959" y="2645247"/>
            <a:ext cx="459184" cy="901700"/>
            <a:chOff x="1731" y="1927"/>
            <a:chExt cx="267" cy="568"/>
          </a:xfrm>
        </p:grpSpPr>
        <p:sp>
          <p:nvSpPr>
            <p:cNvPr id="56363" name="Text Box 18"/>
            <p:cNvSpPr txBox="1">
              <a:spLocks noChangeArrowheads="1"/>
            </p:cNvSpPr>
            <p:nvPr/>
          </p:nvSpPr>
          <p:spPr bwMode="auto">
            <a:xfrm flipH="1">
              <a:off x="1731" y="219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56364" name="Line 20"/>
            <p:cNvSpPr>
              <a:spLocks noChangeShapeType="1"/>
            </p:cNvSpPr>
            <p:nvPr/>
          </p:nvSpPr>
          <p:spPr bwMode="auto">
            <a:xfrm rot="10800000" flipH="1">
              <a:off x="1996" y="1927"/>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09" name="Group 41"/>
          <p:cNvGrpSpPr/>
          <p:nvPr/>
        </p:nvGrpSpPr>
        <p:grpSpPr bwMode="auto">
          <a:xfrm>
            <a:off x="3499775" y="2492847"/>
            <a:ext cx="459184" cy="1054100"/>
            <a:chOff x="2035" y="1831"/>
            <a:chExt cx="267" cy="664"/>
          </a:xfrm>
        </p:grpSpPr>
        <p:sp>
          <p:nvSpPr>
            <p:cNvPr id="56361" name="Text Box 19"/>
            <p:cNvSpPr txBox="1">
              <a:spLocks noChangeArrowheads="1"/>
            </p:cNvSpPr>
            <p:nvPr/>
          </p:nvSpPr>
          <p:spPr bwMode="auto">
            <a:xfrm flipH="1">
              <a:off x="2035" y="183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56362" name="Line 21"/>
            <p:cNvSpPr>
              <a:spLocks noChangeShapeType="1"/>
            </p:cNvSpPr>
            <p:nvPr/>
          </p:nvSpPr>
          <p:spPr bwMode="auto">
            <a:xfrm rot="10800000" flipH="1" flipV="1">
              <a:off x="2089" y="1927"/>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0" name="Group 42"/>
          <p:cNvGrpSpPr/>
          <p:nvPr/>
        </p:nvGrpSpPr>
        <p:grpSpPr bwMode="auto">
          <a:xfrm>
            <a:off x="3704432" y="2464273"/>
            <a:ext cx="1936485" cy="1112837"/>
            <a:chOff x="2154" y="1813"/>
            <a:chExt cx="1126" cy="701"/>
          </a:xfrm>
        </p:grpSpPr>
        <p:sp>
          <p:nvSpPr>
            <p:cNvPr id="56359" name="Text Box 14"/>
            <p:cNvSpPr txBox="1">
              <a:spLocks noChangeArrowheads="1"/>
            </p:cNvSpPr>
            <p:nvPr/>
          </p:nvSpPr>
          <p:spPr bwMode="auto">
            <a:xfrm flipH="1">
              <a:off x="2154" y="220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56360" name="Line 22"/>
            <p:cNvSpPr>
              <a:spLocks noChangeShapeType="1"/>
            </p:cNvSpPr>
            <p:nvPr/>
          </p:nvSpPr>
          <p:spPr bwMode="auto">
            <a:xfrm rot="10800000" flipH="1">
              <a:off x="2245" y="1813"/>
              <a:ext cx="1035" cy="701"/>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1" name="Group 43"/>
          <p:cNvGrpSpPr/>
          <p:nvPr/>
        </p:nvGrpSpPr>
        <p:grpSpPr bwMode="auto">
          <a:xfrm>
            <a:off x="3842015" y="2492847"/>
            <a:ext cx="2084387" cy="1268412"/>
            <a:chOff x="2234" y="1831"/>
            <a:chExt cx="1212" cy="799"/>
          </a:xfrm>
        </p:grpSpPr>
        <p:sp>
          <p:nvSpPr>
            <p:cNvPr id="56357" name="Text Box 13"/>
            <p:cNvSpPr txBox="1">
              <a:spLocks noChangeArrowheads="1"/>
            </p:cNvSpPr>
            <p:nvPr/>
          </p:nvSpPr>
          <p:spPr bwMode="auto">
            <a:xfrm flipH="1">
              <a:off x="3179" y="183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56358" name="Line 23"/>
            <p:cNvSpPr>
              <a:spLocks noChangeShapeType="1"/>
            </p:cNvSpPr>
            <p:nvPr/>
          </p:nvSpPr>
          <p:spPr bwMode="auto">
            <a:xfrm flipH="1">
              <a:off x="2234" y="1870"/>
              <a:ext cx="1100" cy="760"/>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pic>
        <p:nvPicPr>
          <p:cNvPr id="56335" name="Picture 24"/>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5527411" y="3397723"/>
            <a:ext cx="737791"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13" name="Group 45"/>
          <p:cNvGrpSpPr/>
          <p:nvPr/>
        </p:nvGrpSpPr>
        <p:grpSpPr bwMode="auto">
          <a:xfrm>
            <a:off x="3842015" y="3637438"/>
            <a:ext cx="1733550" cy="461963"/>
            <a:chOff x="2234" y="2552"/>
            <a:chExt cx="1008" cy="291"/>
          </a:xfrm>
        </p:grpSpPr>
        <p:sp>
          <p:nvSpPr>
            <p:cNvPr id="56355" name="Text Box 25"/>
            <p:cNvSpPr txBox="1">
              <a:spLocks noChangeArrowheads="1"/>
            </p:cNvSpPr>
            <p:nvPr/>
          </p:nvSpPr>
          <p:spPr bwMode="auto">
            <a:xfrm flipH="1">
              <a:off x="2275" y="255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56356" name="Line 27"/>
            <p:cNvSpPr>
              <a:spLocks noChangeShapeType="1"/>
            </p:cNvSpPr>
            <p:nvPr/>
          </p:nvSpPr>
          <p:spPr bwMode="auto">
            <a:xfrm rot="16200000" flipH="1">
              <a:off x="2738" y="2283"/>
              <a:ext cx="0" cy="100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4" name="Group 46"/>
          <p:cNvGrpSpPr/>
          <p:nvPr/>
        </p:nvGrpSpPr>
        <p:grpSpPr bwMode="auto">
          <a:xfrm>
            <a:off x="3842013" y="4094639"/>
            <a:ext cx="1733550" cy="461963"/>
            <a:chOff x="2234" y="2840"/>
            <a:chExt cx="1008" cy="291"/>
          </a:xfrm>
        </p:grpSpPr>
        <p:sp>
          <p:nvSpPr>
            <p:cNvPr id="56353" name="Line 28"/>
            <p:cNvSpPr>
              <a:spLocks noChangeShapeType="1"/>
            </p:cNvSpPr>
            <p:nvPr/>
          </p:nvSpPr>
          <p:spPr bwMode="auto">
            <a:xfrm rot="5400000">
              <a:off x="2738" y="2379"/>
              <a:ext cx="0" cy="100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6354" name="Text Box 29"/>
            <p:cNvSpPr txBox="1">
              <a:spLocks noChangeArrowheads="1"/>
            </p:cNvSpPr>
            <p:nvPr/>
          </p:nvSpPr>
          <p:spPr bwMode="auto">
            <a:xfrm flipH="1">
              <a:off x="2971" y="284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sp>
        <p:nvSpPr>
          <p:cNvPr id="1082398" name="Text Box 30"/>
          <p:cNvSpPr txBox="1">
            <a:spLocks noChangeArrowheads="1"/>
          </p:cNvSpPr>
          <p:nvPr/>
        </p:nvSpPr>
        <p:spPr bwMode="auto">
          <a:xfrm flipH="1">
            <a:off x="4137594" y="1568922"/>
            <a:ext cx="1107996"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rgbClr val="000099"/>
                </a:solidFill>
                <a:latin typeface="Arial" panose="020B0604020202020204" pitchFamily="34" charset="0"/>
                <a:ea typeface="黑体" panose="02010609060101010101" pitchFamily="2" charset="-122"/>
              </a:rPr>
              <a:t>迭代查询</a:t>
            </a:r>
            <a:endParaRPr kumimoji="1" lang="zh-CN" altLang="en-US" sz="1800" b="1">
              <a:solidFill>
                <a:srgbClr val="000099"/>
              </a:solidFill>
              <a:latin typeface="Arial" panose="020B0604020202020204" pitchFamily="34" charset="0"/>
              <a:ea typeface="黑体" panose="02010609060101010101" pitchFamily="2" charset="-122"/>
            </a:endParaRPr>
          </a:p>
        </p:txBody>
      </p:sp>
      <p:grpSp>
        <p:nvGrpSpPr>
          <p:cNvPr id="1082417" name="Group 49"/>
          <p:cNvGrpSpPr/>
          <p:nvPr/>
        </p:nvGrpSpPr>
        <p:grpSpPr bwMode="auto">
          <a:xfrm>
            <a:off x="3530733" y="4502623"/>
            <a:ext cx="2748227" cy="1011237"/>
            <a:chOff x="2053" y="3097"/>
            <a:chExt cx="1598" cy="637"/>
          </a:xfrm>
        </p:grpSpPr>
        <p:grpSp>
          <p:nvGrpSpPr>
            <p:cNvPr id="56347" name="Group 48"/>
            <p:cNvGrpSpPr/>
            <p:nvPr/>
          </p:nvGrpSpPr>
          <p:grpSpPr bwMode="auto">
            <a:xfrm>
              <a:off x="2053" y="3097"/>
              <a:ext cx="1598" cy="637"/>
              <a:chOff x="2053" y="3097"/>
              <a:chExt cx="1598" cy="637"/>
            </a:xfrm>
          </p:grpSpPr>
          <p:sp>
            <p:nvSpPr>
              <p:cNvPr id="56349" name="Rectangle 36"/>
              <p:cNvSpPr>
                <a:spLocks noChangeArrowheads="1"/>
              </p:cNvSpPr>
              <p:nvPr/>
            </p:nvSpPr>
            <p:spPr bwMode="auto">
              <a:xfrm>
                <a:off x="2135" y="3356"/>
                <a:ext cx="1516" cy="263"/>
              </a:xfrm>
              <a:prstGeom prst="rect">
                <a:avLst/>
              </a:prstGeom>
              <a:solidFill>
                <a:srgbClr val="CCECFF"/>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56350" name="Group 47"/>
              <p:cNvGrpSpPr/>
              <p:nvPr/>
            </p:nvGrpSpPr>
            <p:grpSpPr bwMode="auto">
              <a:xfrm>
                <a:off x="2053" y="3097"/>
                <a:ext cx="267" cy="637"/>
                <a:chOff x="2053" y="3097"/>
                <a:chExt cx="267" cy="637"/>
              </a:xfrm>
            </p:grpSpPr>
            <p:sp>
              <p:nvSpPr>
                <p:cNvPr id="56351" name="Text Box 33"/>
                <p:cNvSpPr txBox="1">
                  <a:spLocks noChangeArrowheads="1"/>
                </p:cNvSpPr>
                <p:nvPr/>
              </p:nvSpPr>
              <p:spPr bwMode="auto">
                <a:xfrm flipH="1">
                  <a:off x="2053" y="3097"/>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56352" name="Line 35"/>
                <p:cNvSpPr>
                  <a:spLocks noChangeShapeType="1"/>
                </p:cNvSpPr>
                <p:nvPr/>
              </p:nvSpPr>
              <p:spPr bwMode="auto">
                <a:xfrm rot="10800000" flipH="1" flipV="1">
                  <a:off x="2089" y="3166"/>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sp>
          <p:nvSpPr>
            <p:cNvPr id="56348" name="Text Box 6"/>
            <p:cNvSpPr txBox="1">
              <a:spLocks noChangeArrowheads="1"/>
            </p:cNvSpPr>
            <p:nvPr/>
          </p:nvSpPr>
          <p:spPr bwMode="auto">
            <a:xfrm flipH="1">
              <a:off x="2104" y="3417"/>
              <a:ext cx="1437"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a:solidFill>
                    <a:srgbClr val="000099"/>
                  </a:solidFill>
                  <a:latin typeface="Arial" panose="020B0604020202020204" pitchFamily="34" charset="0"/>
                  <a:ea typeface="黑体" panose="02010609060101010101" pitchFamily="2" charset="-122"/>
                </a:rPr>
                <a:t> y.abc.com</a:t>
              </a:r>
              <a:r>
                <a:rPr kumimoji="1" lang="en-US" altLang="zh-CN" sz="9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的</a:t>
              </a:r>
              <a:r>
                <a:rPr kumimoji="1" lang="zh-CN" altLang="en-US" sz="1400" b="1">
                  <a:solidFill>
                    <a:srgbClr val="000099"/>
                  </a:solidFill>
                  <a:latin typeface="Arial" panose="020B0604020202020204" pitchFamily="34" charset="0"/>
                  <a:ea typeface="黑体" panose="02010609060101010101" pitchFamily="2" charset="-122"/>
                </a:rPr>
                <a:t> </a:t>
              </a:r>
              <a:r>
                <a:rPr kumimoji="1" lang="en-US" altLang="zh-CN" sz="1800" b="1">
                  <a:solidFill>
                    <a:srgbClr val="000099"/>
                  </a:solidFill>
                  <a:latin typeface="Arial" panose="020B0604020202020204" pitchFamily="34" charset="0"/>
                  <a:ea typeface="黑体" panose="02010609060101010101" pitchFamily="2" charset="-122"/>
                </a:rPr>
                <a:t>IP</a:t>
              </a:r>
              <a:r>
                <a:rPr kumimoji="1" lang="en-US" altLang="zh-CN" sz="14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地址 </a:t>
              </a:r>
              <a:endParaRPr kumimoji="1" lang="zh-CN" altLang="en-US" sz="1800" b="1">
                <a:solidFill>
                  <a:srgbClr val="000099"/>
                </a:solidFill>
                <a:latin typeface="Arial" panose="020B0604020202020204" pitchFamily="34" charset="0"/>
                <a:ea typeface="黑体" panose="02010609060101010101" pitchFamily="2" charset="-122"/>
              </a:endParaRPr>
            </a:p>
          </p:txBody>
        </p:sp>
      </p:grpSp>
      <p:pic>
        <p:nvPicPr>
          <p:cNvPr id="56340"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229769" y="5604347"/>
            <a:ext cx="517658"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41" name="Text Box 11"/>
          <p:cNvSpPr txBox="1">
            <a:spLocks noChangeArrowheads="1"/>
          </p:cNvSpPr>
          <p:nvPr/>
        </p:nvSpPr>
        <p:spPr bwMode="auto">
          <a:xfrm flipH="1">
            <a:off x="2925366" y="6112347"/>
            <a:ext cx="14285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a:solidFill>
                  <a:srgbClr val="000099"/>
                </a:solidFill>
                <a:latin typeface="Arial" panose="020B0604020202020204" pitchFamily="34" charset="0"/>
                <a:ea typeface="黑体" panose="02010609060101010101" pitchFamily="2" charset="-122"/>
              </a:rPr>
              <a:t>m.xyz.com </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1082399" name="Text Box 31"/>
          <p:cNvSpPr txBox="1">
            <a:spLocks noChangeArrowheads="1"/>
          </p:cNvSpPr>
          <p:nvPr/>
        </p:nvSpPr>
        <p:spPr bwMode="auto">
          <a:xfrm flipH="1">
            <a:off x="2714846" y="4743923"/>
            <a:ext cx="646331" cy="61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rgbClr val="000099"/>
                </a:solidFill>
                <a:latin typeface="Arial" panose="020B0604020202020204" pitchFamily="34" charset="0"/>
                <a:ea typeface="黑体" panose="02010609060101010101" pitchFamily="2" charset="-122"/>
              </a:rPr>
              <a:t>递归</a:t>
            </a:r>
            <a:endParaRPr kumimoji="1" lang="zh-CN" altLang="en-US" sz="1800" b="1">
              <a:solidFill>
                <a:srgbClr val="000099"/>
              </a:solidFill>
              <a:latin typeface="Arial" panose="020B0604020202020204" pitchFamily="34" charset="0"/>
              <a:ea typeface="黑体" panose="02010609060101010101" pitchFamily="2" charset="-122"/>
            </a:endParaRPr>
          </a:p>
          <a:p>
            <a:pPr algn="ctr" eaLnBrk="1" hangingPunct="1">
              <a:lnSpc>
                <a:spcPct val="90000"/>
              </a:lnSpc>
            </a:pPr>
            <a:r>
              <a:rPr kumimoji="1" lang="zh-CN" altLang="en-US" sz="1800" b="1">
                <a:solidFill>
                  <a:srgbClr val="000099"/>
                </a:solidFill>
                <a:latin typeface="Arial" panose="020B0604020202020204" pitchFamily="34" charset="0"/>
                <a:ea typeface="黑体" panose="02010609060101010101" pitchFamily="2" charset="-122"/>
              </a:rPr>
              <a:t>查询</a:t>
            </a:r>
            <a:endParaRPr kumimoji="1" lang="zh-CN" altLang="en-US" sz="1800" b="1">
              <a:solidFill>
                <a:srgbClr val="000099"/>
              </a:solidFill>
              <a:latin typeface="Arial" panose="020B0604020202020204" pitchFamily="34" charset="0"/>
              <a:ea typeface="黑体" panose="02010609060101010101" pitchFamily="2" charset="-122"/>
            </a:endParaRPr>
          </a:p>
        </p:txBody>
      </p:sp>
      <p:grpSp>
        <p:nvGrpSpPr>
          <p:cNvPr id="1082407" name="Group 39"/>
          <p:cNvGrpSpPr/>
          <p:nvPr/>
        </p:nvGrpSpPr>
        <p:grpSpPr bwMode="auto">
          <a:xfrm>
            <a:off x="3002756" y="4612161"/>
            <a:ext cx="459185" cy="1071563"/>
            <a:chOff x="1746" y="3166"/>
            <a:chExt cx="267" cy="675"/>
          </a:xfrm>
        </p:grpSpPr>
        <p:sp>
          <p:nvSpPr>
            <p:cNvPr id="56345" name="Text Box 32"/>
            <p:cNvSpPr txBox="1">
              <a:spLocks noChangeArrowheads="1"/>
            </p:cNvSpPr>
            <p:nvPr/>
          </p:nvSpPr>
          <p:spPr bwMode="auto">
            <a:xfrm flipH="1">
              <a:off x="1746" y="355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56346" name="Line 34"/>
            <p:cNvSpPr>
              <a:spLocks noChangeShapeType="1"/>
            </p:cNvSpPr>
            <p:nvPr/>
          </p:nvSpPr>
          <p:spPr bwMode="auto">
            <a:xfrm rot="10800000" flipH="1">
              <a:off x="1996" y="3166"/>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56344" name="Text Box 50"/>
          <p:cNvSpPr txBox="1">
            <a:spLocks noChangeArrowheads="1"/>
          </p:cNvSpPr>
          <p:nvPr/>
        </p:nvSpPr>
        <p:spPr bwMode="auto">
          <a:xfrm flipH="1">
            <a:off x="3549651" y="5751984"/>
            <a:ext cx="3821377"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rgbClr val="000099"/>
                </a:solidFill>
                <a:latin typeface="Arial" panose="020B0604020202020204" pitchFamily="34" charset="0"/>
                <a:ea typeface="黑体" panose="02010609060101010101" pitchFamily="2" charset="-122"/>
              </a:rPr>
              <a:t>需要查找 </a:t>
            </a:r>
            <a:r>
              <a:rPr kumimoji="1" lang="en-US" altLang="zh-CN" sz="1800" b="1">
                <a:solidFill>
                  <a:srgbClr val="000099"/>
                </a:solidFill>
                <a:latin typeface="Arial" panose="020B0604020202020204" pitchFamily="34" charset="0"/>
                <a:ea typeface="黑体" panose="02010609060101010101" pitchFamily="2" charset="-122"/>
              </a:rPr>
              <a:t>y.abc.com </a:t>
            </a:r>
            <a:r>
              <a:rPr kumimoji="1" lang="zh-CN" altLang="en-US" sz="1800" b="1">
                <a:solidFill>
                  <a:srgbClr val="000099"/>
                </a:solidFill>
                <a:latin typeface="Arial" panose="020B0604020202020204" pitchFamily="34" charset="0"/>
                <a:ea typeface="黑体" panose="02010609060101010101" pitchFamily="2" charset="-122"/>
              </a:rPr>
              <a:t>的 </a:t>
            </a:r>
            <a:r>
              <a:rPr kumimoji="1" lang="en-US" altLang="zh-CN" sz="1800" b="1">
                <a:solidFill>
                  <a:srgbClr val="000099"/>
                </a:solidFill>
                <a:latin typeface="Arial" panose="020B0604020202020204" pitchFamily="34" charset="0"/>
                <a:ea typeface="黑体" panose="02010609060101010101" pitchFamily="2" charset="-122"/>
              </a:rPr>
              <a:t>IP </a:t>
            </a:r>
            <a:r>
              <a:rPr kumimoji="1" lang="zh-CN" altLang="en-US" sz="1800" b="1">
                <a:solidFill>
                  <a:srgbClr val="000099"/>
                </a:solidFill>
                <a:latin typeface="Arial" panose="020B0604020202020204" pitchFamily="34" charset="0"/>
                <a:ea typeface="黑体" panose="02010609060101010101" pitchFamily="2" charset="-122"/>
              </a:rPr>
              <a:t>地址</a:t>
            </a:r>
            <a:endParaRPr kumimoji="1" lang="zh-CN" altLang="en-US" sz="1800"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82407"/>
                                        </p:tgtEl>
                                        <p:attrNameLst>
                                          <p:attrName>style.visibility</p:attrName>
                                        </p:attrNameLst>
                                      </p:cBhvr>
                                      <p:to>
                                        <p:strVal val="visible"/>
                                      </p:to>
                                    </p:set>
                                    <p:animEffect transition="in" filter="wipe(down)">
                                      <p:cBhvr>
                                        <p:cTn id="7" dur="1000"/>
                                        <p:tgtEl>
                                          <p:spTgt spid="1082407"/>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082399"/>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082408"/>
                                        </p:tgtEl>
                                        <p:attrNameLst>
                                          <p:attrName>style.visibility</p:attrName>
                                        </p:attrNameLst>
                                      </p:cBhvr>
                                      <p:to>
                                        <p:strVal val="visible"/>
                                      </p:to>
                                    </p:set>
                                    <p:animEffect transition="in" filter="wipe(down)">
                                      <p:cBhvr>
                                        <p:cTn id="14" dur="1000"/>
                                        <p:tgtEl>
                                          <p:spTgt spid="1082408"/>
                                        </p:tgtEl>
                                      </p:cBhvr>
                                    </p:animEffect>
                                  </p:childTnLst>
                                </p:cTn>
                              </p:par>
                            </p:childTnLst>
                          </p:cTn>
                        </p:par>
                        <p:par>
                          <p:cTn id="15" fill="hold">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1082398"/>
                                        </p:tgtEl>
                                        <p:attrNameLst>
                                          <p:attrName>style.visibility</p:attrName>
                                        </p:attrNameLst>
                                      </p:cBhvr>
                                      <p:to>
                                        <p:strVal val="visible"/>
                                      </p:to>
                                    </p:set>
                                  </p:childTnLst>
                                </p:cTn>
                              </p:par>
                            </p:childTnLst>
                          </p:cTn>
                        </p:par>
                        <p:par>
                          <p:cTn id="18" fill="hold">
                            <p:stCondLst>
                              <p:cond delay="2500"/>
                            </p:stCondLst>
                            <p:childTnLst>
                              <p:par>
                                <p:cTn id="19" presetID="22" presetClass="entr" presetSubtype="1" fill="hold" nodeType="afterEffect">
                                  <p:stCondLst>
                                    <p:cond delay="500"/>
                                  </p:stCondLst>
                                  <p:childTnLst>
                                    <p:set>
                                      <p:cBhvr>
                                        <p:cTn id="20" dur="1" fill="hold">
                                          <p:stCondLst>
                                            <p:cond delay="0"/>
                                          </p:stCondLst>
                                        </p:cTn>
                                        <p:tgtEl>
                                          <p:spTgt spid="1082409"/>
                                        </p:tgtEl>
                                        <p:attrNameLst>
                                          <p:attrName>style.visibility</p:attrName>
                                        </p:attrNameLst>
                                      </p:cBhvr>
                                      <p:to>
                                        <p:strVal val="visible"/>
                                      </p:to>
                                    </p:set>
                                    <p:animEffect transition="in" filter="wipe(up)">
                                      <p:cBhvr>
                                        <p:cTn id="21" dur="500"/>
                                        <p:tgtEl>
                                          <p:spTgt spid="1082409"/>
                                        </p:tgtEl>
                                      </p:cBhvr>
                                    </p:animEffect>
                                  </p:childTnLst>
                                </p:cTn>
                              </p:par>
                            </p:childTnLst>
                          </p:cTn>
                        </p:par>
                        <p:par>
                          <p:cTn id="22" fill="hold">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082410"/>
                                        </p:tgtEl>
                                        <p:attrNameLst>
                                          <p:attrName>style.visibility</p:attrName>
                                        </p:attrNameLst>
                                      </p:cBhvr>
                                      <p:to>
                                        <p:strVal val="visible"/>
                                      </p:to>
                                    </p:set>
                                    <p:animEffect transition="in" filter="wipe(left)">
                                      <p:cBhvr>
                                        <p:cTn id="25" dur="500"/>
                                        <p:tgtEl>
                                          <p:spTgt spid="1082410"/>
                                        </p:tgtEl>
                                      </p:cBhvr>
                                    </p:animEffect>
                                  </p:childTnLst>
                                </p:cTn>
                              </p:par>
                            </p:childTnLst>
                          </p:cTn>
                        </p:par>
                        <p:par>
                          <p:cTn id="26" fill="hold">
                            <p:stCondLst>
                              <p:cond delay="4500"/>
                            </p:stCondLst>
                            <p:childTnLst>
                              <p:par>
                                <p:cTn id="27" presetID="22" presetClass="entr" presetSubtype="2" fill="hold" nodeType="afterEffect">
                                  <p:stCondLst>
                                    <p:cond delay="500"/>
                                  </p:stCondLst>
                                  <p:childTnLst>
                                    <p:set>
                                      <p:cBhvr>
                                        <p:cTn id="28" dur="1" fill="hold">
                                          <p:stCondLst>
                                            <p:cond delay="0"/>
                                          </p:stCondLst>
                                        </p:cTn>
                                        <p:tgtEl>
                                          <p:spTgt spid="1082411"/>
                                        </p:tgtEl>
                                        <p:attrNameLst>
                                          <p:attrName>style.visibility</p:attrName>
                                        </p:attrNameLst>
                                      </p:cBhvr>
                                      <p:to>
                                        <p:strVal val="visible"/>
                                      </p:to>
                                    </p:set>
                                    <p:animEffect transition="in" filter="wipe(right)">
                                      <p:cBhvr>
                                        <p:cTn id="29" dur="1000"/>
                                        <p:tgtEl>
                                          <p:spTgt spid="1082411"/>
                                        </p:tgtEl>
                                      </p:cBhvr>
                                    </p:animEffect>
                                  </p:childTnLst>
                                </p:cTn>
                              </p:par>
                            </p:childTnLst>
                          </p:cTn>
                        </p:par>
                        <p:par>
                          <p:cTn id="30" fill="hold">
                            <p:stCondLst>
                              <p:cond delay="6000"/>
                            </p:stCondLst>
                            <p:childTnLst>
                              <p:par>
                                <p:cTn id="31" presetID="22" presetClass="entr" presetSubtype="8" fill="hold" nodeType="afterEffect">
                                  <p:stCondLst>
                                    <p:cond delay="500"/>
                                  </p:stCondLst>
                                  <p:childTnLst>
                                    <p:set>
                                      <p:cBhvr>
                                        <p:cTn id="32" dur="1" fill="hold">
                                          <p:stCondLst>
                                            <p:cond delay="0"/>
                                          </p:stCondLst>
                                        </p:cTn>
                                        <p:tgtEl>
                                          <p:spTgt spid="1082413"/>
                                        </p:tgtEl>
                                        <p:attrNameLst>
                                          <p:attrName>style.visibility</p:attrName>
                                        </p:attrNameLst>
                                      </p:cBhvr>
                                      <p:to>
                                        <p:strVal val="visible"/>
                                      </p:to>
                                    </p:set>
                                    <p:animEffect transition="in" filter="wipe(left)">
                                      <p:cBhvr>
                                        <p:cTn id="33" dur="500"/>
                                        <p:tgtEl>
                                          <p:spTgt spid="1082413"/>
                                        </p:tgtEl>
                                      </p:cBhvr>
                                    </p:animEffect>
                                  </p:childTnLst>
                                </p:cTn>
                              </p:par>
                            </p:childTnLst>
                          </p:cTn>
                        </p:par>
                        <p:par>
                          <p:cTn id="34" fill="hold">
                            <p:stCondLst>
                              <p:cond delay="7000"/>
                            </p:stCondLst>
                            <p:childTnLst>
                              <p:par>
                                <p:cTn id="35" presetID="22" presetClass="entr" presetSubtype="2" fill="hold" nodeType="afterEffect">
                                  <p:stCondLst>
                                    <p:cond delay="500"/>
                                  </p:stCondLst>
                                  <p:childTnLst>
                                    <p:set>
                                      <p:cBhvr>
                                        <p:cTn id="36" dur="1" fill="hold">
                                          <p:stCondLst>
                                            <p:cond delay="0"/>
                                          </p:stCondLst>
                                        </p:cTn>
                                        <p:tgtEl>
                                          <p:spTgt spid="1082414"/>
                                        </p:tgtEl>
                                        <p:attrNameLst>
                                          <p:attrName>style.visibility</p:attrName>
                                        </p:attrNameLst>
                                      </p:cBhvr>
                                      <p:to>
                                        <p:strVal val="visible"/>
                                      </p:to>
                                    </p:set>
                                    <p:animEffect transition="in" filter="wipe(right)">
                                      <p:cBhvr>
                                        <p:cTn id="37" dur="1000"/>
                                        <p:tgtEl>
                                          <p:spTgt spid="1082414"/>
                                        </p:tgtEl>
                                      </p:cBhvr>
                                    </p:animEffect>
                                  </p:childTnLst>
                                </p:cTn>
                              </p:par>
                            </p:childTnLst>
                          </p:cTn>
                        </p:par>
                        <p:par>
                          <p:cTn id="38" fill="hold">
                            <p:stCondLst>
                              <p:cond delay="8500"/>
                            </p:stCondLst>
                            <p:childTnLst>
                              <p:par>
                                <p:cTn id="39" presetID="22" presetClass="entr" presetSubtype="1" fill="hold" nodeType="afterEffect">
                                  <p:stCondLst>
                                    <p:cond delay="500"/>
                                  </p:stCondLst>
                                  <p:childTnLst>
                                    <p:set>
                                      <p:cBhvr>
                                        <p:cTn id="40" dur="1" fill="hold">
                                          <p:stCondLst>
                                            <p:cond delay="0"/>
                                          </p:stCondLst>
                                        </p:cTn>
                                        <p:tgtEl>
                                          <p:spTgt spid="1082417"/>
                                        </p:tgtEl>
                                        <p:attrNameLst>
                                          <p:attrName>style.visibility</p:attrName>
                                        </p:attrNameLst>
                                      </p:cBhvr>
                                      <p:to>
                                        <p:strVal val="visible"/>
                                      </p:to>
                                    </p:set>
                                    <p:animEffect transition="in" filter="wipe(up)">
                                      <p:cBhvr>
                                        <p:cTn id="41" dur="1000"/>
                                        <p:tgtEl>
                                          <p:spTgt spid="108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98" grpId="0" animBg="1"/>
      <p:bldP spid="108239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8" name="Rectangle 2"/>
          <p:cNvSpPr>
            <a:spLocks noGrp="1" noChangeArrowheads="1"/>
          </p:cNvSpPr>
          <p:nvPr>
            <p:ph type="title"/>
          </p:nvPr>
        </p:nvSpPr>
        <p:spPr>
          <a:xfrm>
            <a:off x="506507" y="188640"/>
            <a:ext cx="9049005" cy="1512168"/>
          </a:xfrm>
        </p:spPr>
        <p:txBody>
          <a:bodyPr/>
          <a:lstStyle/>
          <a:p>
            <a:pPr algn="ctr" eaLnBrk="1" hangingPunct="1">
              <a:defRPr/>
            </a:pPr>
            <a:r>
              <a:rPr dirty="0"/>
              <a:t>本地域名服务器采用递归查询</a:t>
            </a:r>
            <a:br>
              <a:rPr dirty="0"/>
            </a:br>
            <a:r>
              <a:rPr dirty="0"/>
              <a:t>（比较少用） </a:t>
            </a:r>
            <a:endParaRPr dirty="0"/>
          </a:p>
        </p:txBody>
      </p:sp>
      <p:sp>
        <p:nvSpPr>
          <p:cNvPr id="57347" name="Rectangle 4"/>
          <p:cNvSpPr>
            <a:spLocks noChangeArrowheads="1"/>
          </p:cNvSpPr>
          <p:nvPr/>
        </p:nvSpPr>
        <p:spPr bwMode="auto">
          <a:xfrm flipH="1">
            <a:off x="3369072" y="1878161"/>
            <a:ext cx="3288242" cy="2865438"/>
          </a:xfrm>
          <a:prstGeom prst="rect">
            <a:avLst/>
          </a:prstGeom>
          <a:solidFill>
            <a:srgbClr val="FFFF99"/>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57348" name="Text Box 6"/>
          <p:cNvSpPr txBox="1">
            <a:spLocks noChangeArrowheads="1"/>
          </p:cNvSpPr>
          <p:nvPr/>
        </p:nvSpPr>
        <p:spPr bwMode="auto">
          <a:xfrm flipH="1">
            <a:off x="6658238" y="2063899"/>
            <a:ext cx="1800493" cy="56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5000"/>
              </a:lnSpc>
            </a:pPr>
            <a:r>
              <a:rPr kumimoji="1" lang="zh-CN" altLang="en-US" sz="1800" b="1">
                <a:solidFill>
                  <a:schemeClr val="folHlink"/>
                </a:solidFill>
                <a:latin typeface="Arial" panose="020B0604020202020204" pitchFamily="34" charset="0"/>
                <a:ea typeface="黑体" panose="02010609060101010101" pitchFamily="2" charset="-122"/>
              </a:rPr>
              <a:t>顶级域名服务器</a:t>
            </a:r>
            <a:endParaRPr kumimoji="1" lang="zh-CN" altLang="en-US" sz="1800" b="1">
              <a:solidFill>
                <a:schemeClr val="folHlink"/>
              </a:solidFill>
              <a:latin typeface="Arial" panose="020B0604020202020204" pitchFamily="34" charset="0"/>
              <a:ea typeface="黑体" panose="02010609060101010101" pitchFamily="2" charset="-122"/>
            </a:endParaRPr>
          </a:p>
          <a:p>
            <a:pPr algn="ctr" eaLnBrk="1" hangingPunct="1">
              <a:lnSpc>
                <a:spcPct val="85000"/>
              </a:lnSpc>
            </a:pPr>
            <a:r>
              <a:rPr kumimoji="1" lang="en-US" altLang="zh-CN" sz="1800" b="1">
                <a:solidFill>
                  <a:schemeClr val="folHlink"/>
                </a:solidFill>
                <a:latin typeface="Arial" panose="020B0604020202020204" pitchFamily="34" charset="0"/>
                <a:ea typeface="黑体" panose="02010609060101010101" pitchFamily="2" charset="-122"/>
              </a:rPr>
              <a:t>dns.com</a:t>
            </a:r>
            <a:endParaRPr kumimoji="1" lang="en-US" altLang="zh-CN" sz="1800" b="1">
              <a:solidFill>
                <a:schemeClr val="folHlink"/>
              </a:solidFill>
              <a:latin typeface="Arial" panose="020B0604020202020204" pitchFamily="34" charset="0"/>
              <a:ea typeface="黑体" panose="02010609060101010101" pitchFamily="2" charset="-122"/>
            </a:endParaRPr>
          </a:p>
        </p:txBody>
      </p:sp>
      <p:sp>
        <p:nvSpPr>
          <p:cNvPr id="57349" name="Text Box 7"/>
          <p:cNvSpPr txBox="1">
            <a:spLocks noChangeArrowheads="1"/>
          </p:cNvSpPr>
          <p:nvPr/>
        </p:nvSpPr>
        <p:spPr bwMode="auto">
          <a:xfrm flipH="1">
            <a:off x="6356351" y="3935562"/>
            <a:ext cx="231656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chemeClr val="folHlink"/>
                </a:solidFill>
                <a:latin typeface="Arial" panose="020B0604020202020204" pitchFamily="34" charset="0"/>
                <a:ea typeface="黑体" panose="02010609060101010101" pitchFamily="2" charset="-122"/>
              </a:rPr>
              <a:t>权限</a:t>
            </a:r>
            <a:r>
              <a:rPr kumimoji="1" lang="zh-CN" altLang="zh-CN" sz="1800" b="1">
                <a:solidFill>
                  <a:schemeClr val="folHlink"/>
                </a:solidFill>
                <a:latin typeface="Arial" panose="020B0604020202020204" pitchFamily="34" charset="0"/>
                <a:ea typeface="黑体" panose="02010609060101010101" pitchFamily="2" charset="-122"/>
              </a:rPr>
              <a:t>域名服务</a:t>
            </a:r>
            <a:r>
              <a:rPr kumimoji="1" lang="en-US" altLang="zh-CN" sz="1800" b="1">
                <a:solidFill>
                  <a:schemeClr val="folHlink"/>
                </a:solidFill>
                <a:latin typeface="Arial" panose="020B0604020202020204" pitchFamily="34" charset="0"/>
                <a:ea typeface="黑体" panose="02010609060101010101" pitchFamily="2" charset="-122"/>
              </a:rPr>
              <a:t>dns.abc.com</a:t>
            </a:r>
            <a:endParaRPr kumimoji="1" lang="en-US" altLang="zh-CN" sz="1800" b="1">
              <a:solidFill>
                <a:schemeClr val="folHlink"/>
              </a:solidFill>
              <a:latin typeface="Arial" panose="020B0604020202020204" pitchFamily="34" charset="0"/>
              <a:ea typeface="黑体" panose="02010609060101010101" pitchFamily="2" charset="-122"/>
            </a:endParaRPr>
          </a:p>
        </p:txBody>
      </p:sp>
      <p:sp>
        <p:nvSpPr>
          <p:cNvPr id="57350" name="Text Box 8"/>
          <p:cNvSpPr txBox="1">
            <a:spLocks noChangeArrowheads="1"/>
          </p:cNvSpPr>
          <p:nvPr/>
        </p:nvSpPr>
        <p:spPr bwMode="auto">
          <a:xfrm flipH="1">
            <a:off x="1603770" y="3864124"/>
            <a:ext cx="180049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chemeClr val="hlink"/>
                </a:solidFill>
                <a:latin typeface="Arial" panose="020B0604020202020204" pitchFamily="34" charset="0"/>
                <a:ea typeface="黑体" panose="02010609060101010101" pitchFamily="2" charset="-122"/>
              </a:rPr>
              <a:t>本地域名服务器</a:t>
            </a:r>
            <a:endParaRPr kumimoji="1" lang="zh-CN" altLang="en-US" sz="1800" b="1">
              <a:solidFill>
                <a:schemeClr val="hlink"/>
              </a:solidFill>
              <a:latin typeface="Arial" panose="020B0604020202020204" pitchFamily="34" charset="0"/>
              <a:ea typeface="黑体" panose="02010609060101010101" pitchFamily="2" charset="-122"/>
            </a:endParaRPr>
          </a:p>
          <a:p>
            <a:pPr algn="ctr" eaLnBrk="1" hangingPunct="1">
              <a:lnSpc>
                <a:spcPct val="80000"/>
              </a:lnSpc>
            </a:pPr>
            <a:r>
              <a:rPr kumimoji="1" lang="en-US" altLang="zh-CN" sz="1800" b="1">
                <a:solidFill>
                  <a:schemeClr val="hlink"/>
                </a:solidFill>
                <a:latin typeface="Arial" panose="020B0604020202020204" pitchFamily="34" charset="0"/>
                <a:ea typeface="黑体" panose="02010609060101010101" pitchFamily="2" charset="-122"/>
              </a:rPr>
              <a:t>dns.xyz.com</a:t>
            </a:r>
            <a:endParaRPr kumimoji="1" lang="en-US" altLang="zh-CN" sz="1800" b="1">
              <a:solidFill>
                <a:schemeClr val="hlink"/>
              </a:solidFill>
              <a:latin typeface="Arial" panose="020B0604020202020204" pitchFamily="34" charset="0"/>
              <a:ea typeface="黑体" panose="02010609060101010101" pitchFamily="2" charset="-122"/>
            </a:endParaRPr>
          </a:p>
        </p:txBody>
      </p:sp>
      <p:pic>
        <p:nvPicPr>
          <p:cNvPr id="57351" name="Picture 9"/>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3597805" y="5734200"/>
            <a:ext cx="51249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52" name="Text Box 10"/>
          <p:cNvSpPr txBox="1">
            <a:spLocks noChangeArrowheads="1"/>
          </p:cNvSpPr>
          <p:nvPr/>
        </p:nvSpPr>
        <p:spPr bwMode="auto">
          <a:xfrm flipH="1">
            <a:off x="3293402" y="6216799"/>
            <a:ext cx="14285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a:solidFill>
                  <a:schemeClr val="folHlink"/>
                </a:solidFill>
                <a:latin typeface="Arial" panose="020B0604020202020204" pitchFamily="34" charset="0"/>
                <a:ea typeface="黑体" panose="02010609060101010101" pitchFamily="2" charset="-122"/>
              </a:rPr>
              <a:t>m.xyz.com </a:t>
            </a:r>
            <a:endParaRPr kumimoji="1" lang="en-US" altLang="zh-CN" sz="1800" b="1">
              <a:solidFill>
                <a:schemeClr val="folHlink"/>
              </a:solidFill>
              <a:latin typeface="Arial" panose="020B0604020202020204" pitchFamily="34" charset="0"/>
              <a:ea typeface="黑体" panose="02010609060101010101" pitchFamily="2" charset="-122"/>
            </a:endParaRPr>
          </a:p>
        </p:txBody>
      </p:sp>
      <p:sp>
        <p:nvSpPr>
          <p:cNvPr id="57353" name="Text Box 11"/>
          <p:cNvSpPr txBox="1">
            <a:spLocks noChangeArrowheads="1"/>
          </p:cNvSpPr>
          <p:nvPr/>
        </p:nvSpPr>
        <p:spPr bwMode="auto">
          <a:xfrm flipH="1">
            <a:off x="1843012" y="2063900"/>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chemeClr val="folHlink"/>
                </a:solidFill>
                <a:latin typeface="Arial" panose="020B0604020202020204" pitchFamily="34" charset="0"/>
                <a:ea typeface="黑体" panose="02010609060101010101" pitchFamily="2" charset="-122"/>
              </a:rPr>
              <a:t>根域名服务器</a:t>
            </a:r>
            <a:endParaRPr kumimoji="1" lang="zh-CN" altLang="en-US" sz="1800" b="1">
              <a:solidFill>
                <a:schemeClr val="folHlink"/>
              </a:solidFill>
              <a:latin typeface="Arial" panose="020B0604020202020204" pitchFamily="34" charset="0"/>
              <a:ea typeface="黑体" panose="02010609060101010101" pitchFamily="2" charset="-122"/>
            </a:endParaRPr>
          </a:p>
        </p:txBody>
      </p:sp>
      <p:pic>
        <p:nvPicPr>
          <p:cNvPr id="57354" name="Picture 1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461941" y="3657749"/>
            <a:ext cx="727471"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5" name="Picture 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461941" y="1844824"/>
            <a:ext cx="727471"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6" name="Picture 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778500" y="1844824"/>
            <a:ext cx="72919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4453" name="Group 37"/>
          <p:cNvGrpSpPr/>
          <p:nvPr/>
        </p:nvGrpSpPr>
        <p:grpSpPr bwMode="auto">
          <a:xfrm>
            <a:off x="3367351" y="2944962"/>
            <a:ext cx="459185" cy="925513"/>
            <a:chOff x="1958" y="1944"/>
            <a:chExt cx="267" cy="583"/>
          </a:xfrm>
        </p:grpSpPr>
        <p:sp>
          <p:nvSpPr>
            <p:cNvPr id="57385" name="Text Box 17"/>
            <p:cNvSpPr txBox="1">
              <a:spLocks noChangeArrowheads="1"/>
            </p:cNvSpPr>
            <p:nvPr/>
          </p:nvSpPr>
          <p:spPr bwMode="auto">
            <a:xfrm flipH="1">
              <a:off x="1958" y="2236"/>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86" name="Line 19"/>
            <p:cNvSpPr>
              <a:spLocks noChangeShapeType="1"/>
            </p:cNvSpPr>
            <p:nvPr/>
          </p:nvSpPr>
          <p:spPr bwMode="auto">
            <a:xfrm rot="10800000" flipH="1">
              <a:off x="2209" y="1944"/>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8" name="Group 42"/>
          <p:cNvGrpSpPr/>
          <p:nvPr/>
        </p:nvGrpSpPr>
        <p:grpSpPr bwMode="auto">
          <a:xfrm>
            <a:off x="3866091" y="2830662"/>
            <a:ext cx="459185" cy="969963"/>
            <a:chOff x="2248" y="1872"/>
            <a:chExt cx="267" cy="611"/>
          </a:xfrm>
        </p:grpSpPr>
        <p:sp>
          <p:nvSpPr>
            <p:cNvPr id="57383" name="Text Box 18"/>
            <p:cNvSpPr txBox="1">
              <a:spLocks noChangeArrowheads="1"/>
            </p:cNvSpPr>
            <p:nvPr/>
          </p:nvSpPr>
          <p:spPr bwMode="auto">
            <a:xfrm flipH="1">
              <a:off x="2248" y="187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84" name="Line 20"/>
            <p:cNvSpPr>
              <a:spLocks noChangeShapeType="1"/>
            </p:cNvSpPr>
            <p:nvPr/>
          </p:nvSpPr>
          <p:spPr bwMode="auto">
            <a:xfrm rot="10800000" flipH="1" flipV="1">
              <a:off x="2301" y="1944"/>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4" name="Group 38"/>
          <p:cNvGrpSpPr/>
          <p:nvPr/>
        </p:nvGrpSpPr>
        <p:grpSpPr bwMode="auto">
          <a:xfrm>
            <a:off x="4048390" y="2184549"/>
            <a:ext cx="1821260" cy="461962"/>
            <a:chOff x="2354" y="1465"/>
            <a:chExt cx="1059" cy="291"/>
          </a:xfrm>
        </p:grpSpPr>
        <p:sp>
          <p:nvSpPr>
            <p:cNvPr id="57381" name="Text Box 13"/>
            <p:cNvSpPr txBox="1">
              <a:spLocks noChangeArrowheads="1"/>
            </p:cNvSpPr>
            <p:nvPr/>
          </p:nvSpPr>
          <p:spPr bwMode="auto">
            <a:xfrm flipH="1">
              <a:off x="2354" y="146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82" name="Line 21"/>
            <p:cNvSpPr>
              <a:spLocks noChangeShapeType="1"/>
            </p:cNvSpPr>
            <p:nvPr/>
          </p:nvSpPr>
          <p:spPr bwMode="auto">
            <a:xfrm rot="10800000" flipH="1">
              <a:off x="2444" y="1728"/>
              <a:ext cx="969" cy="0"/>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pic>
        <p:nvPicPr>
          <p:cNvPr id="57360" name="Picture 2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869649" y="3657749"/>
            <a:ext cx="72919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4439" name="Text Box 23"/>
          <p:cNvSpPr txBox="1">
            <a:spLocks noChangeArrowheads="1"/>
          </p:cNvSpPr>
          <p:nvPr/>
        </p:nvSpPr>
        <p:spPr bwMode="auto">
          <a:xfrm flipH="1">
            <a:off x="4505629" y="1913087"/>
            <a:ext cx="1107996"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chemeClr val="folHlink"/>
                </a:solidFill>
                <a:latin typeface="Arial" panose="020B0604020202020204" pitchFamily="34" charset="0"/>
                <a:ea typeface="黑体" panose="02010609060101010101" pitchFamily="2" charset="-122"/>
              </a:rPr>
              <a:t>递归查询</a:t>
            </a:r>
            <a:endParaRPr kumimoji="1" lang="zh-CN" altLang="en-US" sz="1800" b="1">
              <a:solidFill>
                <a:schemeClr val="folHlink"/>
              </a:solidFill>
              <a:latin typeface="Arial" panose="020B0604020202020204" pitchFamily="34" charset="0"/>
              <a:ea typeface="黑体" panose="02010609060101010101" pitchFamily="2" charset="-122"/>
            </a:endParaRPr>
          </a:p>
        </p:txBody>
      </p:sp>
      <p:sp>
        <p:nvSpPr>
          <p:cNvPr id="1084440" name="Text Box 24"/>
          <p:cNvSpPr txBox="1">
            <a:spLocks noChangeArrowheads="1"/>
          </p:cNvSpPr>
          <p:nvPr/>
        </p:nvSpPr>
        <p:spPr bwMode="auto">
          <a:xfrm flipH="1">
            <a:off x="3112978" y="4800749"/>
            <a:ext cx="646331" cy="61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chemeClr val="folHlink"/>
                </a:solidFill>
                <a:latin typeface="Arial" panose="020B0604020202020204" pitchFamily="34" charset="0"/>
                <a:ea typeface="黑体" panose="02010609060101010101" pitchFamily="2" charset="-122"/>
              </a:rPr>
              <a:t>递归</a:t>
            </a:r>
            <a:endParaRPr kumimoji="1" lang="zh-CN" altLang="en-US" sz="1800" b="1">
              <a:solidFill>
                <a:schemeClr val="folHlink"/>
              </a:solidFill>
              <a:latin typeface="Arial" panose="020B0604020202020204" pitchFamily="34" charset="0"/>
              <a:ea typeface="黑体" panose="02010609060101010101" pitchFamily="2" charset="-122"/>
            </a:endParaRPr>
          </a:p>
          <a:p>
            <a:pPr algn="ctr" eaLnBrk="1" hangingPunct="1">
              <a:lnSpc>
                <a:spcPct val="90000"/>
              </a:lnSpc>
            </a:pPr>
            <a:r>
              <a:rPr kumimoji="1" lang="zh-CN" altLang="en-US" sz="1800" b="1">
                <a:solidFill>
                  <a:schemeClr val="folHlink"/>
                </a:solidFill>
                <a:latin typeface="Arial" panose="020B0604020202020204" pitchFamily="34" charset="0"/>
                <a:ea typeface="黑体" panose="02010609060101010101" pitchFamily="2" charset="-122"/>
              </a:rPr>
              <a:t>查询</a:t>
            </a:r>
            <a:endParaRPr kumimoji="1" lang="zh-CN" altLang="en-US" sz="1800" b="1">
              <a:solidFill>
                <a:schemeClr val="folHlink"/>
              </a:solidFill>
              <a:latin typeface="Arial" panose="020B0604020202020204" pitchFamily="34" charset="0"/>
              <a:ea typeface="黑体" panose="02010609060101010101" pitchFamily="2" charset="-122"/>
            </a:endParaRPr>
          </a:p>
        </p:txBody>
      </p:sp>
      <p:grpSp>
        <p:nvGrpSpPr>
          <p:cNvPr id="1084452" name="Group 36"/>
          <p:cNvGrpSpPr/>
          <p:nvPr/>
        </p:nvGrpSpPr>
        <p:grpSpPr bwMode="auto">
          <a:xfrm>
            <a:off x="3367351" y="4792814"/>
            <a:ext cx="459185" cy="957263"/>
            <a:chOff x="1958" y="3108"/>
            <a:chExt cx="267" cy="603"/>
          </a:xfrm>
        </p:grpSpPr>
        <p:sp>
          <p:nvSpPr>
            <p:cNvPr id="57379" name="Text Box 25"/>
            <p:cNvSpPr txBox="1">
              <a:spLocks noChangeArrowheads="1"/>
            </p:cNvSpPr>
            <p:nvPr/>
          </p:nvSpPr>
          <p:spPr bwMode="auto">
            <a:xfrm flipH="1">
              <a:off x="1958" y="342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80" name="Line 27"/>
            <p:cNvSpPr>
              <a:spLocks noChangeShapeType="1"/>
            </p:cNvSpPr>
            <p:nvPr/>
          </p:nvSpPr>
          <p:spPr bwMode="auto">
            <a:xfrm rot="10800000" flipH="1">
              <a:off x="2209" y="3108"/>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9" name="Group 43"/>
          <p:cNvGrpSpPr/>
          <p:nvPr/>
        </p:nvGrpSpPr>
        <p:grpSpPr bwMode="auto">
          <a:xfrm>
            <a:off x="3895328" y="4703912"/>
            <a:ext cx="2624402" cy="944563"/>
            <a:chOff x="2265" y="3052"/>
            <a:chExt cx="1526" cy="595"/>
          </a:xfrm>
        </p:grpSpPr>
        <p:sp>
          <p:nvSpPr>
            <p:cNvPr id="57375" name="Text Box 5"/>
            <p:cNvSpPr txBox="1">
              <a:spLocks noChangeArrowheads="1"/>
            </p:cNvSpPr>
            <p:nvPr/>
          </p:nvSpPr>
          <p:spPr bwMode="auto">
            <a:xfrm flipH="1">
              <a:off x="2339" y="3327"/>
              <a:ext cx="1437"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a:solidFill>
                    <a:schemeClr val="folHlink"/>
                  </a:solidFill>
                  <a:latin typeface="Arial" panose="020B0604020202020204" pitchFamily="34" charset="0"/>
                  <a:ea typeface="黑体" panose="02010609060101010101" pitchFamily="2" charset="-122"/>
                </a:rPr>
                <a:t> y.abc.com</a:t>
              </a:r>
              <a:r>
                <a:rPr kumimoji="1" lang="en-US" altLang="zh-CN" sz="900" b="1">
                  <a:solidFill>
                    <a:schemeClr val="folHlink"/>
                  </a:solidFill>
                  <a:latin typeface="Arial" panose="020B0604020202020204" pitchFamily="34" charset="0"/>
                  <a:ea typeface="黑体" panose="02010609060101010101" pitchFamily="2" charset="-122"/>
                </a:rPr>
                <a:t> </a:t>
              </a:r>
              <a:r>
                <a:rPr kumimoji="1" lang="zh-CN" altLang="en-US" sz="1800" b="1">
                  <a:solidFill>
                    <a:schemeClr val="folHlink"/>
                  </a:solidFill>
                  <a:latin typeface="Arial" panose="020B0604020202020204" pitchFamily="34" charset="0"/>
                  <a:ea typeface="黑体" panose="02010609060101010101" pitchFamily="2" charset="-122"/>
                </a:rPr>
                <a:t>的</a:t>
              </a:r>
              <a:r>
                <a:rPr kumimoji="1" lang="zh-CN" altLang="en-US" sz="1400" b="1">
                  <a:solidFill>
                    <a:schemeClr val="folHlink"/>
                  </a:solidFill>
                  <a:latin typeface="Arial" panose="020B0604020202020204" pitchFamily="34" charset="0"/>
                  <a:ea typeface="黑体" panose="02010609060101010101" pitchFamily="2" charset="-122"/>
                </a:rPr>
                <a:t> </a:t>
              </a:r>
              <a:r>
                <a:rPr kumimoji="1" lang="en-US" altLang="zh-CN" sz="1800" b="1">
                  <a:solidFill>
                    <a:schemeClr val="folHlink"/>
                  </a:solidFill>
                  <a:latin typeface="Arial" panose="020B0604020202020204" pitchFamily="34" charset="0"/>
                  <a:ea typeface="黑体" panose="02010609060101010101" pitchFamily="2" charset="-122"/>
                </a:rPr>
                <a:t>IP</a:t>
              </a:r>
              <a:r>
                <a:rPr kumimoji="1" lang="en-US" altLang="zh-CN" sz="1400" b="1">
                  <a:solidFill>
                    <a:schemeClr val="folHlink"/>
                  </a:solidFill>
                  <a:latin typeface="Arial" panose="020B0604020202020204" pitchFamily="34" charset="0"/>
                  <a:ea typeface="黑体" panose="02010609060101010101" pitchFamily="2" charset="-122"/>
                </a:rPr>
                <a:t> </a:t>
              </a:r>
              <a:r>
                <a:rPr kumimoji="1" lang="zh-CN" altLang="en-US" sz="1800" b="1">
                  <a:solidFill>
                    <a:schemeClr val="folHlink"/>
                  </a:solidFill>
                  <a:latin typeface="Arial" panose="020B0604020202020204" pitchFamily="34" charset="0"/>
                  <a:ea typeface="黑体" panose="02010609060101010101" pitchFamily="2" charset="-122"/>
                </a:rPr>
                <a:t>地址 </a:t>
              </a:r>
              <a:endParaRPr kumimoji="1" lang="zh-CN" altLang="en-US" sz="1800" b="1">
                <a:solidFill>
                  <a:schemeClr val="folHlink"/>
                </a:solidFill>
                <a:latin typeface="Arial" panose="020B0604020202020204" pitchFamily="34" charset="0"/>
                <a:ea typeface="黑体" panose="02010609060101010101" pitchFamily="2" charset="-122"/>
              </a:endParaRPr>
            </a:p>
          </p:txBody>
        </p:sp>
        <p:sp>
          <p:nvSpPr>
            <p:cNvPr id="57376" name="Text Box 26"/>
            <p:cNvSpPr txBox="1">
              <a:spLocks noChangeArrowheads="1"/>
            </p:cNvSpPr>
            <p:nvPr/>
          </p:nvSpPr>
          <p:spPr bwMode="auto">
            <a:xfrm flipH="1">
              <a:off x="2265" y="305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77" name="Line 28"/>
            <p:cNvSpPr>
              <a:spLocks noChangeShapeType="1"/>
            </p:cNvSpPr>
            <p:nvPr/>
          </p:nvSpPr>
          <p:spPr bwMode="auto">
            <a:xfrm rot="10800000" flipH="1" flipV="1">
              <a:off x="2301" y="3108"/>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7378" name="Rectangle 29"/>
            <p:cNvSpPr>
              <a:spLocks noChangeArrowheads="1"/>
            </p:cNvSpPr>
            <p:nvPr/>
          </p:nvSpPr>
          <p:spPr bwMode="auto">
            <a:xfrm>
              <a:off x="2393" y="3321"/>
              <a:ext cx="1398" cy="24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grpSp>
      <p:grpSp>
        <p:nvGrpSpPr>
          <p:cNvPr id="1084457" name="Group 41"/>
          <p:cNvGrpSpPr/>
          <p:nvPr/>
        </p:nvGrpSpPr>
        <p:grpSpPr bwMode="auto">
          <a:xfrm>
            <a:off x="4203171" y="2686202"/>
            <a:ext cx="1786864" cy="461963"/>
            <a:chOff x="2444" y="1781"/>
            <a:chExt cx="1039" cy="291"/>
          </a:xfrm>
        </p:grpSpPr>
        <p:sp>
          <p:nvSpPr>
            <p:cNvPr id="57373" name="Text Box 12"/>
            <p:cNvSpPr txBox="1">
              <a:spLocks noChangeArrowheads="1"/>
            </p:cNvSpPr>
            <p:nvPr/>
          </p:nvSpPr>
          <p:spPr bwMode="auto">
            <a:xfrm flipH="1">
              <a:off x="3216" y="178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74" name="Line 30"/>
            <p:cNvSpPr>
              <a:spLocks noChangeShapeType="1"/>
            </p:cNvSpPr>
            <p:nvPr/>
          </p:nvSpPr>
          <p:spPr bwMode="auto">
            <a:xfrm rot="10800000">
              <a:off x="2444" y="1836"/>
              <a:ext cx="969" cy="0"/>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6" name="Group 40"/>
          <p:cNvGrpSpPr/>
          <p:nvPr/>
        </p:nvGrpSpPr>
        <p:grpSpPr bwMode="auto">
          <a:xfrm>
            <a:off x="5707987" y="2867175"/>
            <a:ext cx="459184" cy="954087"/>
            <a:chOff x="3319" y="1895"/>
            <a:chExt cx="267" cy="601"/>
          </a:xfrm>
        </p:grpSpPr>
        <p:sp>
          <p:nvSpPr>
            <p:cNvPr id="57371" name="Text Box 31"/>
            <p:cNvSpPr txBox="1">
              <a:spLocks noChangeArrowheads="1"/>
            </p:cNvSpPr>
            <p:nvPr/>
          </p:nvSpPr>
          <p:spPr bwMode="auto">
            <a:xfrm flipH="1">
              <a:off x="3319" y="220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72" name="Line 33"/>
            <p:cNvSpPr>
              <a:spLocks noChangeShapeType="1"/>
            </p:cNvSpPr>
            <p:nvPr/>
          </p:nvSpPr>
          <p:spPr bwMode="auto">
            <a:xfrm rot="10800000" flipH="1">
              <a:off x="3586" y="1895"/>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5" name="Group 39"/>
          <p:cNvGrpSpPr/>
          <p:nvPr/>
        </p:nvGrpSpPr>
        <p:grpSpPr bwMode="auto">
          <a:xfrm>
            <a:off x="6244562" y="2800500"/>
            <a:ext cx="459184" cy="922337"/>
            <a:chOff x="3631" y="1853"/>
            <a:chExt cx="267" cy="581"/>
          </a:xfrm>
        </p:grpSpPr>
        <p:sp>
          <p:nvSpPr>
            <p:cNvPr id="57369" name="Text Box 32"/>
            <p:cNvSpPr txBox="1">
              <a:spLocks noChangeArrowheads="1"/>
            </p:cNvSpPr>
            <p:nvPr/>
          </p:nvSpPr>
          <p:spPr bwMode="auto">
            <a:xfrm flipH="1">
              <a:off x="3631" y="1853"/>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endParaRPr>
            </a:p>
          </p:txBody>
        </p:sp>
        <p:sp>
          <p:nvSpPr>
            <p:cNvPr id="57370" name="Line 34"/>
            <p:cNvSpPr>
              <a:spLocks noChangeShapeType="1"/>
            </p:cNvSpPr>
            <p:nvPr/>
          </p:nvSpPr>
          <p:spPr bwMode="auto">
            <a:xfrm rot="10800000" flipH="1" flipV="1">
              <a:off x="3677" y="1895"/>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57368" name="Text Box 44"/>
          <p:cNvSpPr txBox="1">
            <a:spLocks noChangeArrowheads="1"/>
          </p:cNvSpPr>
          <p:nvPr/>
        </p:nvSpPr>
        <p:spPr bwMode="auto">
          <a:xfrm flipH="1">
            <a:off x="3940044" y="5808811"/>
            <a:ext cx="3821377"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chemeClr val="folHlink"/>
                </a:solidFill>
                <a:latin typeface="Arial" panose="020B0604020202020204" pitchFamily="34" charset="0"/>
                <a:ea typeface="黑体" panose="02010609060101010101" pitchFamily="2" charset="-122"/>
              </a:rPr>
              <a:t>需要查找 </a:t>
            </a:r>
            <a:r>
              <a:rPr kumimoji="1" lang="en-US" altLang="zh-CN" sz="1800" b="1">
                <a:solidFill>
                  <a:schemeClr val="folHlink"/>
                </a:solidFill>
                <a:latin typeface="Arial" panose="020B0604020202020204" pitchFamily="34" charset="0"/>
                <a:ea typeface="黑体" panose="02010609060101010101" pitchFamily="2" charset="-122"/>
              </a:rPr>
              <a:t>y.abc.com </a:t>
            </a:r>
            <a:r>
              <a:rPr kumimoji="1" lang="zh-CN" altLang="en-US" sz="1800" b="1">
                <a:solidFill>
                  <a:schemeClr val="folHlink"/>
                </a:solidFill>
                <a:latin typeface="Arial" panose="020B0604020202020204" pitchFamily="34" charset="0"/>
                <a:ea typeface="黑体" panose="02010609060101010101" pitchFamily="2" charset="-122"/>
              </a:rPr>
              <a:t>的 </a:t>
            </a:r>
            <a:r>
              <a:rPr kumimoji="1" lang="en-US" altLang="zh-CN" sz="1800" b="1">
                <a:solidFill>
                  <a:schemeClr val="folHlink"/>
                </a:solidFill>
                <a:latin typeface="Arial" panose="020B0604020202020204" pitchFamily="34" charset="0"/>
                <a:ea typeface="黑体" panose="02010609060101010101" pitchFamily="2" charset="-122"/>
              </a:rPr>
              <a:t>IP </a:t>
            </a:r>
            <a:r>
              <a:rPr kumimoji="1" lang="zh-CN" altLang="en-US" sz="1800" b="1">
                <a:solidFill>
                  <a:schemeClr val="folHlink"/>
                </a:solidFill>
                <a:latin typeface="Arial" panose="020B0604020202020204" pitchFamily="34" charset="0"/>
                <a:ea typeface="黑体" panose="02010609060101010101" pitchFamily="2" charset="-122"/>
              </a:rPr>
              <a:t>地址</a:t>
            </a:r>
            <a:endParaRPr kumimoji="1" lang="zh-CN" altLang="en-US" sz="1800" b="1">
              <a:solidFill>
                <a:schemeClr val="folHlink"/>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84452"/>
                                        </p:tgtEl>
                                        <p:attrNameLst>
                                          <p:attrName>style.visibility</p:attrName>
                                        </p:attrNameLst>
                                      </p:cBhvr>
                                      <p:to>
                                        <p:strVal val="visible"/>
                                      </p:to>
                                    </p:set>
                                    <p:animEffect transition="in" filter="wipe(down)">
                                      <p:cBhvr>
                                        <p:cTn id="7" dur="1000"/>
                                        <p:tgtEl>
                                          <p:spTgt spid="1084452"/>
                                        </p:tgtEl>
                                      </p:cBhvr>
                                    </p:animEffect>
                                  </p:childTnLst>
                                </p:cTn>
                              </p:par>
                            </p:childTnLst>
                          </p:cTn>
                        </p:par>
                        <p:par>
                          <p:cTn id="8" fill="hold">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1084440"/>
                                        </p:tgtEl>
                                        <p:attrNameLst>
                                          <p:attrName>style.visibility</p:attrName>
                                        </p:attrNameLst>
                                      </p:cBhvr>
                                      <p:to>
                                        <p:strVal val="visible"/>
                                      </p:to>
                                    </p:set>
                                  </p:childTnLst>
                                </p:cTn>
                              </p:par>
                            </p:childTnLst>
                          </p:cTn>
                        </p:par>
                        <p:par>
                          <p:cTn id="11" fill="hold">
                            <p:stCondLst>
                              <p:cond delay="1500"/>
                            </p:stCondLst>
                            <p:childTnLst>
                              <p:par>
                                <p:cTn id="12" presetID="22" presetClass="entr" presetSubtype="4" fill="hold" nodeType="afterEffect">
                                  <p:stCondLst>
                                    <p:cond delay="500"/>
                                  </p:stCondLst>
                                  <p:childTnLst>
                                    <p:set>
                                      <p:cBhvr>
                                        <p:cTn id="13" dur="1" fill="hold">
                                          <p:stCondLst>
                                            <p:cond delay="0"/>
                                          </p:stCondLst>
                                        </p:cTn>
                                        <p:tgtEl>
                                          <p:spTgt spid="1084453"/>
                                        </p:tgtEl>
                                        <p:attrNameLst>
                                          <p:attrName>style.visibility</p:attrName>
                                        </p:attrNameLst>
                                      </p:cBhvr>
                                      <p:to>
                                        <p:strVal val="visible"/>
                                      </p:to>
                                    </p:set>
                                    <p:animEffect transition="in" filter="wipe(down)">
                                      <p:cBhvr>
                                        <p:cTn id="14" dur="1000"/>
                                        <p:tgtEl>
                                          <p:spTgt spid="1084453"/>
                                        </p:tgtEl>
                                      </p:cBhvr>
                                    </p:animEffect>
                                  </p:childTnLst>
                                </p:cTn>
                              </p:par>
                            </p:childTnLst>
                          </p:cTn>
                        </p:par>
                        <p:par>
                          <p:cTn id="15" fill="hold">
                            <p:stCondLst>
                              <p:cond delay="3000"/>
                            </p:stCondLst>
                            <p:childTnLst>
                              <p:par>
                                <p:cTn id="16" presetID="1" presetClass="entr" presetSubtype="0" fill="hold" grpId="0" nodeType="afterEffect">
                                  <p:stCondLst>
                                    <p:cond delay="500"/>
                                  </p:stCondLst>
                                  <p:childTnLst>
                                    <p:set>
                                      <p:cBhvr>
                                        <p:cTn id="17" dur="1" fill="hold">
                                          <p:stCondLst>
                                            <p:cond delay="0"/>
                                          </p:stCondLst>
                                        </p:cTn>
                                        <p:tgtEl>
                                          <p:spTgt spid="1084439"/>
                                        </p:tgtEl>
                                        <p:attrNameLst>
                                          <p:attrName>style.visibility</p:attrName>
                                        </p:attrNameLst>
                                      </p:cBhvr>
                                      <p:to>
                                        <p:strVal val="visible"/>
                                      </p:to>
                                    </p:set>
                                  </p:childTnLst>
                                </p:cTn>
                              </p:par>
                            </p:childTnLst>
                          </p:cTn>
                        </p:par>
                        <p:par>
                          <p:cTn id="18" fill="hold">
                            <p:stCondLst>
                              <p:cond delay="3500"/>
                            </p:stCondLst>
                            <p:childTnLst>
                              <p:par>
                                <p:cTn id="19" presetID="22" presetClass="entr" presetSubtype="8" fill="hold" nodeType="afterEffect">
                                  <p:stCondLst>
                                    <p:cond delay="500"/>
                                  </p:stCondLst>
                                  <p:childTnLst>
                                    <p:set>
                                      <p:cBhvr>
                                        <p:cTn id="20" dur="1" fill="hold">
                                          <p:stCondLst>
                                            <p:cond delay="0"/>
                                          </p:stCondLst>
                                        </p:cTn>
                                        <p:tgtEl>
                                          <p:spTgt spid="1084454"/>
                                        </p:tgtEl>
                                        <p:attrNameLst>
                                          <p:attrName>style.visibility</p:attrName>
                                        </p:attrNameLst>
                                      </p:cBhvr>
                                      <p:to>
                                        <p:strVal val="visible"/>
                                      </p:to>
                                    </p:set>
                                    <p:animEffect transition="in" filter="wipe(left)">
                                      <p:cBhvr>
                                        <p:cTn id="21" dur="1000"/>
                                        <p:tgtEl>
                                          <p:spTgt spid="1084454"/>
                                        </p:tgtEl>
                                      </p:cBhvr>
                                    </p:animEffect>
                                  </p:childTnLst>
                                </p:cTn>
                              </p:par>
                            </p:childTnLst>
                          </p:cTn>
                        </p:par>
                        <p:par>
                          <p:cTn id="22" fill="hold">
                            <p:stCondLst>
                              <p:cond delay="5000"/>
                            </p:stCondLst>
                            <p:childTnLst>
                              <p:par>
                                <p:cTn id="23" presetID="22" presetClass="entr" presetSubtype="1" fill="hold" nodeType="afterEffect">
                                  <p:stCondLst>
                                    <p:cond delay="500"/>
                                  </p:stCondLst>
                                  <p:childTnLst>
                                    <p:set>
                                      <p:cBhvr>
                                        <p:cTn id="24" dur="1" fill="hold">
                                          <p:stCondLst>
                                            <p:cond delay="0"/>
                                          </p:stCondLst>
                                        </p:cTn>
                                        <p:tgtEl>
                                          <p:spTgt spid="1084455"/>
                                        </p:tgtEl>
                                        <p:attrNameLst>
                                          <p:attrName>style.visibility</p:attrName>
                                        </p:attrNameLst>
                                      </p:cBhvr>
                                      <p:to>
                                        <p:strVal val="visible"/>
                                      </p:to>
                                    </p:set>
                                    <p:animEffect transition="in" filter="wipe(up)">
                                      <p:cBhvr>
                                        <p:cTn id="25" dur="1000"/>
                                        <p:tgtEl>
                                          <p:spTgt spid="1084455"/>
                                        </p:tgtEl>
                                      </p:cBhvr>
                                    </p:animEffect>
                                  </p:childTnLst>
                                </p:cTn>
                              </p:par>
                            </p:childTnLst>
                          </p:cTn>
                        </p:par>
                        <p:par>
                          <p:cTn id="26" fill="hold">
                            <p:stCondLst>
                              <p:cond delay="6500"/>
                            </p:stCondLst>
                            <p:childTnLst>
                              <p:par>
                                <p:cTn id="27" presetID="22" presetClass="entr" presetSubtype="4" fill="hold" nodeType="afterEffect">
                                  <p:stCondLst>
                                    <p:cond delay="500"/>
                                  </p:stCondLst>
                                  <p:childTnLst>
                                    <p:set>
                                      <p:cBhvr>
                                        <p:cTn id="28" dur="1" fill="hold">
                                          <p:stCondLst>
                                            <p:cond delay="0"/>
                                          </p:stCondLst>
                                        </p:cTn>
                                        <p:tgtEl>
                                          <p:spTgt spid="1084456"/>
                                        </p:tgtEl>
                                        <p:attrNameLst>
                                          <p:attrName>style.visibility</p:attrName>
                                        </p:attrNameLst>
                                      </p:cBhvr>
                                      <p:to>
                                        <p:strVal val="visible"/>
                                      </p:to>
                                    </p:set>
                                    <p:animEffect transition="in" filter="wipe(down)">
                                      <p:cBhvr>
                                        <p:cTn id="29" dur="1000"/>
                                        <p:tgtEl>
                                          <p:spTgt spid="1084456"/>
                                        </p:tgtEl>
                                      </p:cBhvr>
                                    </p:animEffect>
                                  </p:childTnLst>
                                </p:cTn>
                              </p:par>
                            </p:childTnLst>
                          </p:cTn>
                        </p:par>
                        <p:par>
                          <p:cTn id="30" fill="hold">
                            <p:stCondLst>
                              <p:cond delay="8000"/>
                            </p:stCondLst>
                            <p:childTnLst>
                              <p:par>
                                <p:cTn id="31" presetID="22" presetClass="entr" presetSubtype="2" fill="hold" nodeType="afterEffect">
                                  <p:stCondLst>
                                    <p:cond delay="500"/>
                                  </p:stCondLst>
                                  <p:childTnLst>
                                    <p:set>
                                      <p:cBhvr>
                                        <p:cTn id="32" dur="1" fill="hold">
                                          <p:stCondLst>
                                            <p:cond delay="0"/>
                                          </p:stCondLst>
                                        </p:cTn>
                                        <p:tgtEl>
                                          <p:spTgt spid="1084457"/>
                                        </p:tgtEl>
                                        <p:attrNameLst>
                                          <p:attrName>style.visibility</p:attrName>
                                        </p:attrNameLst>
                                      </p:cBhvr>
                                      <p:to>
                                        <p:strVal val="visible"/>
                                      </p:to>
                                    </p:set>
                                    <p:animEffect transition="in" filter="wipe(right)">
                                      <p:cBhvr>
                                        <p:cTn id="33" dur="1000"/>
                                        <p:tgtEl>
                                          <p:spTgt spid="1084457"/>
                                        </p:tgtEl>
                                      </p:cBhvr>
                                    </p:animEffect>
                                  </p:childTnLst>
                                </p:cTn>
                              </p:par>
                            </p:childTnLst>
                          </p:cTn>
                        </p:par>
                        <p:par>
                          <p:cTn id="34" fill="hold">
                            <p:stCondLst>
                              <p:cond delay="9500"/>
                            </p:stCondLst>
                            <p:childTnLst>
                              <p:par>
                                <p:cTn id="35" presetID="22" presetClass="entr" presetSubtype="1" fill="hold" nodeType="afterEffect">
                                  <p:stCondLst>
                                    <p:cond delay="500"/>
                                  </p:stCondLst>
                                  <p:childTnLst>
                                    <p:set>
                                      <p:cBhvr>
                                        <p:cTn id="36" dur="1" fill="hold">
                                          <p:stCondLst>
                                            <p:cond delay="0"/>
                                          </p:stCondLst>
                                        </p:cTn>
                                        <p:tgtEl>
                                          <p:spTgt spid="1084458"/>
                                        </p:tgtEl>
                                        <p:attrNameLst>
                                          <p:attrName>style.visibility</p:attrName>
                                        </p:attrNameLst>
                                      </p:cBhvr>
                                      <p:to>
                                        <p:strVal val="visible"/>
                                      </p:to>
                                    </p:set>
                                    <p:animEffect transition="in" filter="wipe(up)">
                                      <p:cBhvr>
                                        <p:cTn id="37" dur="500"/>
                                        <p:tgtEl>
                                          <p:spTgt spid="1084458"/>
                                        </p:tgtEl>
                                      </p:cBhvr>
                                    </p:animEffect>
                                  </p:childTnLst>
                                </p:cTn>
                              </p:par>
                            </p:childTnLst>
                          </p:cTn>
                        </p:par>
                        <p:par>
                          <p:cTn id="38" fill="hold">
                            <p:stCondLst>
                              <p:cond delay="10500"/>
                            </p:stCondLst>
                            <p:childTnLst>
                              <p:par>
                                <p:cTn id="39" presetID="22" presetClass="entr" presetSubtype="1" fill="hold" nodeType="afterEffect">
                                  <p:stCondLst>
                                    <p:cond delay="500"/>
                                  </p:stCondLst>
                                  <p:childTnLst>
                                    <p:set>
                                      <p:cBhvr>
                                        <p:cTn id="40" dur="1" fill="hold">
                                          <p:stCondLst>
                                            <p:cond delay="0"/>
                                          </p:stCondLst>
                                        </p:cTn>
                                        <p:tgtEl>
                                          <p:spTgt spid="1084459"/>
                                        </p:tgtEl>
                                        <p:attrNameLst>
                                          <p:attrName>style.visibility</p:attrName>
                                        </p:attrNameLst>
                                      </p:cBhvr>
                                      <p:to>
                                        <p:strVal val="visible"/>
                                      </p:to>
                                    </p:set>
                                    <p:animEffect transition="in" filter="wipe(up)">
                                      <p:cBhvr>
                                        <p:cTn id="41" dur="1000"/>
                                        <p:tgtEl>
                                          <p:spTgt spid="108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439" grpId="0" animBg="1"/>
      <p:bldP spid="108444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algn="ctr" eaLnBrk="1" hangingPunct="1">
              <a:defRPr/>
            </a:pPr>
            <a:r>
              <a:rPr lang="zh-CN" altLang="en-US" dirty="0"/>
              <a:t>名字的高速缓存 </a:t>
            </a:r>
            <a:endParaRPr lang="zh-CN" altLang="en-US" dirty="0"/>
          </a:p>
        </p:txBody>
      </p:sp>
      <p:sp>
        <p:nvSpPr>
          <p:cNvPr id="58371" name="Rectangle 3"/>
          <p:cNvSpPr>
            <a:spLocks noGrp="1" noChangeArrowheads="1"/>
          </p:cNvSpPr>
          <p:nvPr>
            <p:ph idx="1"/>
          </p:nvPr>
        </p:nvSpPr>
        <p:spPr/>
        <p:txBody>
          <a:bodyPr/>
          <a:lstStyle/>
          <a:p>
            <a:pPr eaLnBrk="1" hangingPunct="1"/>
            <a:r>
              <a:rPr lang="zh-CN" altLang="en-US" sz="2800" dirty="0" smtClean="0">
                <a:solidFill>
                  <a:srgbClr val="FF0000"/>
                </a:solidFill>
                <a:ea typeface="黑体" panose="02010609060101010101" pitchFamily="2" charset="-122"/>
              </a:rPr>
              <a:t>每个域名服务器都维护一个高速缓存，</a:t>
            </a:r>
            <a:r>
              <a:rPr lang="zh-CN" altLang="en-US" sz="2800" dirty="0" smtClean="0">
                <a:ea typeface="黑体" panose="02010609060101010101" pitchFamily="2" charset="-122"/>
              </a:rPr>
              <a:t>存放最近用过的名字以及从何处获得名字映射信息的记录。</a:t>
            </a:r>
            <a:endParaRPr lang="zh-CN" altLang="en-US" sz="2800" dirty="0" smtClean="0">
              <a:ea typeface="黑体" panose="02010609060101010101" pitchFamily="2" charset="-122"/>
            </a:endParaRPr>
          </a:p>
          <a:p>
            <a:pPr eaLnBrk="1" hangingPunct="1"/>
            <a:r>
              <a:rPr lang="zh-CN" altLang="en-US" sz="2800" dirty="0" smtClean="0">
                <a:ea typeface="黑体" panose="02010609060101010101" pitchFamily="2" charset="-122"/>
              </a:rPr>
              <a:t>可大大减轻根域名服务器的负荷，使互联网上的 </a:t>
            </a:r>
            <a:r>
              <a:rPr lang="en-US" altLang="zh-CN" sz="2800" dirty="0" smtClean="0">
                <a:ea typeface="黑体" panose="02010609060101010101" pitchFamily="2" charset="-122"/>
              </a:rPr>
              <a:t>DNS </a:t>
            </a:r>
            <a:r>
              <a:rPr lang="zh-CN" altLang="en-US" sz="2800" dirty="0" smtClean="0">
                <a:ea typeface="黑体" panose="02010609060101010101" pitchFamily="2" charset="-122"/>
              </a:rPr>
              <a:t>查询请求和回答报文的数量大为减少。 </a:t>
            </a:r>
            <a:endParaRPr lang="zh-CN" altLang="en-US" sz="2800" dirty="0" smtClean="0">
              <a:ea typeface="黑体" panose="02010609060101010101" pitchFamily="2" charset="-122"/>
            </a:endParaRPr>
          </a:p>
          <a:p>
            <a:pPr eaLnBrk="1" hangingPunct="1"/>
            <a:r>
              <a:rPr lang="zh-CN" altLang="en-US" sz="2800" dirty="0" smtClean="0">
                <a:ea typeface="黑体" panose="02010609060101010101" pitchFamily="2" charset="-122"/>
              </a:rPr>
              <a:t>为保持高速缓存中的内容正确，域名服务器应为每项内容设置计时器，并处理超过合理时间的项（例如，每个项目只存放两天）。</a:t>
            </a:r>
            <a:endParaRPr lang="zh-CN" altLang="en-US" sz="2800" dirty="0" smtClean="0">
              <a:ea typeface="黑体" panose="02010609060101010101" pitchFamily="2" charset="-122"/>
            </a:endParaRPr>
          </a:p>
          <a:p>
            <a:pPr eaLnBrk="1" hangingPunct="1"/>
            <a:r>
              <a:rPr lang="zh-CN" altLang="en-US" sz="2800" dirty="0" smtClean="0">
                <a:ea typeface="黑体" panose="02010609060101010101" pitchFamily="2" charset="-122"/>
              </a:rPr>
              <a:t>当权限域名服务器回答一个查询请求时，在响应中都指明绑定有效存在的时间值。增加此时间值可减少网络开销，而减少此时间值可提高域名转换的准确性。 </a:t>
            </a:r>
            <a:endParaRPr lang="zh-CN" altLang="en-US" sz="28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smtClean="0">
                <a:ea typeface="黑体" panose="02010609060101010101" pitchFamily="2" charset="-122"/>
              </a:rPr>
              <a:t>6.4  </a:t>
            </a:r>
            <a:r>
              <a:rPr lang="zh-CN" altLang="en-US" dirty="0" smtClean="0">
                <a:ea typeface="黑体" panose="02010609060101010101" pitchFamily="2" charset="-122"/>
              </a:rPr>
              <a:t>万维网 </a:t>
            </a:r>
            <a:r>
              <a:rPr lang="en-US" altLang="zh-CN" dirty="0" smtClean="0">
                <a:ea typeface="黑体" panose="02010609060101010101" pitchFamily="2" charset="-122"/>
              </a:rPr>
              <a:t>WWW</a:t>
            </a:r>
            <a:endParaRPr lang="zh-CN" altLang="en-US" dirty="0" smtClean="0">
              <a:ea typeface="黑体" panose="02010609060101010101" pitchFamily="2" charset="-122"/>
            </a:endParaRPr>
          </a:p>
        </p:txBody>
      </p:sp>
      <p:sp>
        <p:nvSpPr>
          <p:cNvPr id="3" name="内容占位符 2"/>
          <p:cNvSpPr>
            <a:spLocks noGrp="1"/>
          </p:cNvSpPr>
          <p:nvPr>
            <p:ph idx="1"/>
          </p:nvPr>
        </p:nvSpPr>
        <p:spPr/>
        <p:txBody>
          <a:bodyPr/>
          <a:lstStyle/>
          <a:p>
            <a:pPr eaLnBrk="1" hangingPunct="1">
              <a:defRPr/>
            </a:pPr>
            <a:r>
              <a:rPr lang="en-US" altLang="zh-CN" sz="3200" dirty="0">
                <a:ea typeface="黑体" panose="02010609060101010101" pitchFamily="2" charset="-122"/>
              </a:rPr>
              <a:t>6.4.1  </a:t>
            </a:r>
            <a:r>
              <a:rPr lang="zh-CN" altLang="en-US" sz="3200" dirty="0" smtClean="0">
                <a:ea typeface="黑体" panose="02010609060101010101" pitchFamily="2" charset="-122"/>
              </a:rPr>
              <a:t>万维网概述</a:t>
            </a:r>
            <a:endParaRPr lang="en-US" altLang="zh-CN" sz="3200" dirty="0" smtClean="0">
              <a:ea typeface="黑体" panose="02010609060101010101" pitchFamily="2" charset="-122"/>
            </a:endParaRPr>
          </a:p>
          <a:p>
            <a:pPr eaLnBrk="1" hangingPunct="1">
              <a:defRPr/>
            </a:pPr>
            <a:r>
              <a:rPr lang="en-US" altLang="zh-CN" sz="3200" dirty="0">
                <a:ea typeface="黑体" panose="02010609060101010101" pitchFamily="2" charset="-122"/>
              </a:rPr>
              <a:t>6.4.2  </a:t>
            </a:r>
            <a:r>
              <a:rPr lang="zh-CN" altLang="en-US" sz="3200" dirty="0">
                <a:ea typeface="黑体" panose="02010609060101010101" pitchFamily="2" charset="-122"/>
              </a:rPr>
              <a:t>统一资源定位符 </a:t>
            </a:r>
            <a:r>
              <a:rPr lang="en-US" altLang="zh-CN" sz="3200" dirty="0" smtClean="0">
                <a:ea typeface="黑体" panose="02010609060101010101" pitchFamily="2" charset="-122"/>
              </a:rPr>
              <a:t>URL</a:t>
            </a:r>
            <a:endParaRPr lang="en-US" altLang="zh-CN" sz="3200" dirty="0" smtClean="0">
              <a:ea typeface="黑体" panose="02010609060101010101" pitchFamily="2" charset="-122"/>
            </a:endParaRPr>
          </a:p>
          <a:p>
            <a:pPr eaLnBrk="1" hangingPunct="1">
              <a:defRPr/>
            </a:pPr>
            <a:r>
              <a:rPr lang="en-US" altLang="zh-CN" sz="3200" dirty="0">
                <a:ea typeface="黑体" panose="02010609060101010101" pitchFamily="2" charset="-122"/>
              </a:rPr>
              <a:t>6.4.3  </a:t>
            </a:r>
            <a:r>
              <a:rPr lang="zh-CN" altLang="en-US" sz="3200" dirty="0">
                <a:ea typeface="黑体" panose="02010609060101010101" pitchFamily="2" charset="-122"/>
              </a:rPr>
              <a:t>超文本传送协议 </a:t>
            </a:r>
            <a:r>
              <a:rPr lang="en-US" altLang="zh-CN" sz="3200" dirty="0" smtClean="0">
                <a:ea typeface="黑体" panose="02010609060101010101" pitchFamily="2" charset="-122"/>
              </a:rPr>
              <a:t>HTTP</a:t>
            </a:r>
            <a:endParaRPr lang="en-US" altLang="zh-CN" sz="3200" dirty="0" smtClean="0">
              <a:ea typeface="黑体" panose="02010609060101010101" pitchFamily="2" charset="-122"/>
            </a:endParaRPr>
          </a:p>
          <a:p>
            <a:pPr eaLnBrk="1" hangingPunct="1">
              <a:defRPr/>
            </a:pPr>
            <a:r>
              <a:rPr lang="en-US" altLang="zh-CN" sz="3200" dirty="0">
                <a:ea typeface="黑体" panose="02010609060101010101" pitchFamily="2" charset="-122"/>
              </a:rPr>
              <a:t>6.4.4  </a:t>
            </a:r>
            <a:r>
              <a:rPr lang="zh-CN" altLang="en-US" sz="3200" dirty="0">
                <a:ea typeface="黑体" panose="02010609060101010101" pitchFamily="2" charset="-122"/>
              </a:rPr>
              <a:t>万维网的</a:t>
            </a:r>
            <a:r>
              <a:rPr lang="zh-CN" altLang="en-US" sz="3200" dirty="0" smtClean="0">
                <a:ea typeface="黑体" panose="02010609060101010101" pitchFamily="2" charset="-122"/>
              </a:rPr>
              <a:t>文档</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eaLnBrk="1" hangingPunct="1">
              <a:defRPr/>
            </a:pPr>
            <a:br>
              <a:rPr lang="en-US" altLang="zh-CN" dirty="0"/>
            </a:br>
            <a:r>
              <a:rPr lang="en-US" altLang="zh-CN" sz="4800" dirty="0"/>
              <a:t>6.4.1  </a:t>
            </a:r>
            <a:r>
              <a:rPr lang="zh-CN" altLang="en-US" sz="4800" dirty="0"/>
              <a:t>万维网概述</a:t>
            </a:r>
            <a:endParaRPr lang="zh-CN" altLang="en-US" sz="4800" dirty="0"/>
          </a:p>
        </p:txBody>
      </p:sp>
      <p:sp>
        <p:nvSpPr>
          <p:cNvPr id="543747" name="Rectangle 3"/>
          <p:cNvSpPr>
            <a:spLocks noGrp="1" noChangeArrowheads="1"/>
          </p:cNvSpPr>
          <p:nvPr>
            <p:ph idx="1"/>
          </p:nvPr>
        </p:nvSpPr>
        <p:spPr/>
        <p:txBody>
          <a:bodyPr/>
          <a:lstStyle/>
          <a:p>
            <a:pPr algn="just" eaLnBrk="1" hangingPunct="1"/>
            <a:r>
              <a:rPr lang="zh-CN" altLang="en-US" dirty="0" smtClean="0">
                <a:solidFill>
                  <a:srgbClr val="FF0000"/>
                </a:solidFill>
                <a:ea typeface="黑体" panose="02010609060101010101" pitchFamily="2" charset="-122"/>
              </a:rPr>
              <a:t>万维网</a:t>
            </a:r>
            <a:r>
              <a:rPr lang="zh-CN" altLang="en-US" dirty="0" smtClean="0">
                <a:ea typeface="黑体" panose="02010609060101010101" pitchFamily="2" charset="-122"/>
              </a:rPr>
              <a:t> </a:t>
            </a:r>
            <a:r>
              <a:rPr lang="en-US" altLang="zh-CN" dirty="0" smtClean="0">
                <a:ea typeface="黑体" panose="02010609060101010101" pitchFamily="2" charset="-122"/>
              </a:rPr>
              <a:t>WWW (World Wide Web) </a:t>
            </a:r>
            <a:r>
              <a:rPr lang="zh-CN" altLang="en-US" dirty="0" smtClean="0">
                <a:ea typeface="黑体" panose="02010609060101010101" pitchFamily="2" charset="-122"/>
              </a:rPr>
              <a:t>并非某种特殊的计算机网络。</a:t>
            </a:r>
            <a:endParaRPr lang="zh-CN" altLang="en-US" dirty="0" smtClean="0">
              <a:ea typeface="黑体" panose="02010609060101010101" pitchFamily="2" charset="-122"/>
            </a:endParaRPr>
          </a:p>
          <a:p>
            <a:pPr algn="just" eaLnBrk="1" hangingPunct="1"/>
            <a:r>
              <a:rPr lang="zh-CN" altLang="en-US" dirty="0" smtClean="0">
                <a:ea typeface="黑体" panose="02010609060101010101" pitchFamily="2" charset="-122"/>
              </a:rPr>
              <a:t>万维网是一个大规模的、联机式的</a:t>
            </a:r>
            <a:r>
              <a:rPr lang="zh-CN" altLang="en-US" dirty="0" smtClean="0">
                <a:solidFill>
                  <a:srgbClr val="FF0000"/>
                </a:solidFill>
                <a:ea typeface="黑体" panose="02010609060101010101" pitchFamily="2" charset="-122"/>
              </a:rPr>
              <a:t>信息储藏所。</a:t>
            </a:r>
            <a:endParaRPr lang="zh-CN" altLang="en-US" dirty="0" smtClean="0">
              <a:solidFill>
                <a:srgbClr val="FF0000"/>
              </a:solidFill>
              <a:ea typeface="黑体" panose="02010609060101010101" pitchFamily="2" charset="-122"/>
            </a:endParaRPr>
          </a:p>
          <a:p>
            <a:pPr algn="just" eaLnBrk="1" hangingPunct="1"/>
            <a:r>
              <a:rPr lang="zh-CN" altLang="en-US" dirty="0" smtClean="0">
                <a:ea typeface="黑体" panose="02010609060101010101" pitchFamily="2" charset="-122"/>
              </a:rPr>
              <a:t>万维网用链接的方法能非常方便地从互联网上的一个站点访问另一个站点，从而主动地按需获取丰富的信息。</a:t>
            </a:r>
            <a:endParaRPr lang="zh-CN" altLang="en-US" dirty="0" smtClean="0">
              <a:ea typeface="黑体" panose="02010609060101010101" pitchFamily="2" charset="-122"/>
            </a:endParaRPr>
          </a:p>
          <a:p>
            <a:pPr algn="just" eaLnBrk="1" hangingPunct="1"/>
            <a:r>
              <a:rPr lang="zh-CN" altLang="en-US" dirty="0" smtClean="0">
                <a:ea typeface="黑体" panose="02010609060101010101" pitchFamily="2" charset="-122"/>
              </a:rPr>
              <a:t>这种访问方式称为“</a:t>
            </a:r>
            <a:r>
              <a:rPr lang="zh-CN" altLang="en-US" dirty="0" smtClean="0">
                <a:solidFill>
                  <a:srgbClr val="FF0000"/>
                </a:solidFill>
                <a:ea typeface="黑体" panose="02010609060101010101" pitchFamily="2" charset="-122"/>
              </a:rPr>
              <a:t>链接</a:t>
            </a:r>
            <a:r>
              <a:rPr lang="zh-CN" altLang="en-US" dirty="0" smtClean="0">
                <a:ea typeface="黑体" panose="02010609060101010101" pitchFamily="2" charset="-122"/>
              </a:rPr>
              <a:t>”。</a:t>
            </a:r>
            <a:endParaRPr lang="zh-CN" altLang="en-US"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pPr algn="ctr" eaLnBrk="1" hangingPunct="1">
              <a:defRPr/>
            </a:pPr>
            <a:r>
              <a:rPr dirty="0"/>
              <a:t>万维网提供分布式服务 </a:t>
            </a:r>
            <a:endParaRPr dirty="0"/>
          </a:p>
        </p:txBody>
      </p:sp>
      <p:sp>
        <p:nvSpPr>
          <p:cNvPr id="100355" name="Text Box 5"/>
          <p:cNvSpPr txBox="1">
            <a:spLocks noChangeArrowheads="1"/>
          </p:cNvSpPr>
          <p:nvPr/>
        </p:nvSpPr>
        <p:spPr bwMode="auto">
          <a:xfrm>
            <a:off x="2993402" y="3631084"/>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00356" name="Text Box 6"/>
          <p:cNvSpPr txBox="1">
            <a:spLocks noChangeArrowheads="1"/>
          </p:cNvSpPr>
          <p:nvPr/>
        </p:nvSpPr>
        <p:spPr bwMode="auto">
          <a:xfrm>
            <a:off x="876337" y="1603847"/>
            <a:ext cx="104547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9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9600" b="1">
              <a:solidFill>
                <a:srgbClr val="000099"/>
              </a:solidFill>
              <a:latin typeface="Arial" panose="020B0604020202020204" pitchFamily="34" charset="0"/>
              <a:ea typeface="黑体" panose="02010609060101010101" pitchFamily="2" charset="-122"/>
            </a:endParaRPr>
          </a:p>
        </p:txBody>
      </p:sp>
      <p:sp>
        <p:nvSpPr>
          <p:cNvPr id="100357" name="Text Box 7"/>
          <p:cNvSpPr txBox="1">
            <a:spLocks noChangeArrowheads="1"/>
          </p:cNvSpPr>
          <p:nvPr/>
        </p:nvSpPr>
        <p:spPr bwMode="auto">
          <a:xfrm>
            <a:off x="4355477" y="1484784"/>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00358" name="Text Box 8"/>
          <p:cNvSpPr txBox="1">
            <a:spLocks noChangeArrowheads="1"/>
          </p:cNvSpPr>
          <p:nvPr/>
        </p:nvSpPr>
        <p:spPr bwMode="auto">
          <a:xfrm>
            <a:off x="6321197" y="3558059"/>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00359" name="Text Box 9"/>
          <p:cNvSpPr txBox="1">
            <a:spLocks noChangeArrowheads="1"/>
          </p:cNvSpPr>
          <p:nvPr/>
        </p:nvSpPr>
        <p:spPr bwMode="auto">
          <a:xfrm>
            <a:off x="8083985" y="1646709"/>
            <a:ext cx="104547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9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9600" b="1">
              <a:solidFill>
                <a:srgbClr val="000099"/>
              </a:solidFill>
              <a:latin typeface="Arial" panose="020B0604020202020204" pitchFamily="34" charset="0"/>
              <a:ea typeface="黑体" panose="02010609060101010101" pitchFamily="2" charset="-122"/>
            </a:endParaRPr>
          </a:p>
        </p:txBody>
      </p:sp>
      <p:pic>
        <p:nvPicPr>
          <p:cNvPr id="100360" name="Picture 10"/>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15389" y="2880196"/>
            <a:ext cx="711994"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1" name="Text Box 11"/>
          <p:cNvSpPr txBox="1">
            <a:spLocks noChangeArrowheads="1"/>
          </p:cNvSpPr>
          <p:nvPr/>
        </p:nvSpPr>
        <p:spPr bwMode="auto">
          <a:xfrm>
            <a:off x="995003" y="3438997"/>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a:t>
            </a:r>
            <a:endParaRPr kumimoji="1" lang="zh-CN" altLang="en-US" sz="2000" b="1">
              <a:solidFill>
                <a:srgbClr val="000099"/>
              </a:solidFill>
              <a:latin typeface="Arial" panose="020B0604020202020204" pitchFamily="34" charset="0"/>
              <a:ea typeface="黑体" panose="02010609060101010101" pitchFamily="2" charset="-122"/>
            </a:endParaRPr>
          </a:p>
          <a:p>
            <a:pPr eaLnBrk="1" hangingPunct="1"/>
            <a:r>
              <a:rPr kumimoji="1" lang="zh-CN" altLang="en-US" sz="2000" b="1">
                <a:solidFill>
                  <a:srgbClr val="000099"/>
                </a:solidFill>
                <a:latin typeface="Arial" panose="020B0604020202020204" pitchFamily="34" charset="0"/>
                <a:ea typeface="黑体" panose="02010609060101010101" pitchFamily="2" charset="-122"/>
              </a:rPr>
              <a:t>站点 </a:t>
            </a:r>
            <a:r>
              <a:rPr kumimoji="1" lang="en-US" altLang="zh-CN" sz="2000" b="1">
                <a:solidFill>
                  <a:srgbClr val="000099"/>
                </a:solidFill>
                <a:latin typeface="Arial" panose="020B0604020202020204" pitchFamily="34" charset="0"/>
                <a:ea typeface="黑体" panose="02010609060101010101" pitchFamily="2" charset="-122"/>
              </a:rPr>
              <a:t>A</a:t>
            </a:r>
            <a:endParaRPr kumimoji="1" lang="en-US" altLang="zh-CN" sz="2000" b="1">
              <a:solidFill>
                <a:srgbClr val="000099"/>
              </a:solidFill>
              <a:latin typeface="Arial" panose="020B0604020202020204" pitchFamily="34" charset="0"/>
              <a:ea typeface="黑体" panose="02010609060101010101" pitchFamily="2" charset="-122"/>
            </a:endParaRPr>
          </a:p>
        </p:txBody>
      </p:sp>
      <p:pic>
        <p:nvPicPr>
          <p:cNvPr id="100362" name="Picture 12"/>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73890" y="2892896"/>
            <a:ext cx="713714"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3" name="Picture 1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266282" y="2880196"/>
            <a:ext cx="713713"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4" name="Picture 14"/>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65408" y="4936010"/>
            <a:ext cx="711994"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5" name="Picture 1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59969" y="4936010"/>
            <a:ext cx="713714"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6" name="Text Box 16"/>
          <p:cNvSpPr txBox="1">
            <a:spLocks noChangeArrowheads="1"/>
          </p:cNvSpPr>
          <p:nvPr/>
        </p:nvSpPr>
        <p:spPr bwMode="auto">
          <a:xfrm>
            <a:off x="8094303" y="3469160"/>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a:t>
            </a:r>
            <a:endParaRPr kumimoji="1" lang="zh-CN" altLang="en-US" sz="2000" b="1">
              <a:solidFill>
                <a:srgbClr val="000099"/>
              </a:solidFill>
              <a:latin typeface="Arial" panose="020B0604020202020204" pitchFamily="34" charset="0"/>
              <a:ea typeface="黑体" panose="02010609060101010101" pitchFamily="2" charset="-122"/>
            </a:endParaRPr>
          </a:p>
          <a:p>
            <a:pPr eaLnBrk="1" hangingPunct="1"/>
            <a:r>
              <a:rPr kumimoji="1" lang="zh-CN" altLang="en-US" sz="2000" b="1">
                <a:solidFill>
                  <a:srgbClr val="000099"/>
                </a:solidFill>
                <a:latin typeface="Arial" panose="020B0604020202020204" pitchFamily="34" charset="0"/>
                <a:ea typeface="黑体" panose="02010609060101010101" pitchFamily="2" charset="-122"/>
              </a:rPr>
              <a:t>站点 </a:t>
            </a:r>
            <a:r>
              <a:rPr kumimoji="1" lang="en-US" altLang="zh-CN" sz="2000" b="1">
                <a:solidFill>
                  <a:srgbClr val="000099"/>
                </a:solidFill>
                <a:latin typeface="Arial" panose="020B0604020202020204" pitchFamily="34" charset="0"/>
                <a:ea typeface="黑体" panose="02010609060101010101" pitchFamily="2" charset="-122"/>
              </a:rPr>
              <a:t>C</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100367" name="Text Box 17"/>
          <p:cNvSpPr txBox="1">
            <a:spLocks noChangeArrowheads="1"/>
          </p:cNvSpPr>
          <p:nvPr/>
        </p:nvSpPr>
        <p:spPr bwMode="auto">
          <a:xfrm>
            <a:off x="5997877" y="5537672"/>
            <a:ext cx="1709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万维网站点 </a:t>
            </a:r>
            <a:r>
              <a:rPr kumimoji="1" lang="en-US" altLang="zh-CN" sz="2000" b="1">
                <a:solidFill>
                  <a:srgbClr val="000099"/>
                </a:solidFill>
                <a:latin typeface="Arial" panose="020B0604020202020204" pitchFamily="34" charset="0"/>
                <a:ea typeface="黑体" panose="02010609060101010101" pitchFamily="2" charset="-122"/>
              </a:rPr>
              <a:t>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100368" name="Text Box 18"/>
          <p:cNvSpPr txBox="1">
            <a:spLocks noChangeArrowheads="1"/>
          </p:cNvSpPr>
          <p:nvPr/>
        </p:nvSpPr>
        <p:spPr bwMode="auto">
          <a:xfrm>
            <a:off x="2721674" y="5540846"/>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万维网站点 </a:t>
            </a:r>
            <a:r>
              <a:rPr kumimoji="1" lang="en-US" altLang="zh-CN" sz="2000" b="1">
                <a:solidFill>
                  <a:srgbClr val="000099"/>
                </a:solidFill>
                <a:latin typeface="Arial" panose="020B0604020202020204" pitchFamily="34" charset="0"/>
                <a:ea typeface="黑体" panose="02010609060101010101" pitchFamily="2" charset="-122"/>
              </a:rPr>
              <a:t>D</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100369" name="Text Box 19"/>
          <p:cNvSpPr txBox="1">
            <a:spLocks noChangeArrowheads="1"/>
          </p:cNvSpPr>
          <p:nvPr/>
        </p:nvSpPr>
        <p:spPr bwMode="auto">
          <a:xfrm>
            <a:off x="4047634" y="3486622"/>
            <a:ext cx="17315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万维网站点 </a:t>
            </a:r>
            <a:r>
              <a:rPr kumimoji="1" lang="en-US" altLang="zh-CN" sz="2000" b="1">
                <a:solidFill>
                  <a:srgbClr val="000099"/>
                </a:solidFill>
                <a:latin typeface="Arial" panose="020B0604020202020204" pitchFamily="34" charset="0"/>
                <a:ea typeface="黑体" panose="02010609060101010101" pitchFamily="2" charset="-122"/>
              </a:rPr>
              <a:t>B</a:t>
            </a:r>
            <a:endParaRPr kumimoji="1" lang="en-US" altLang="zh-CN" sz="2000" b="1">
              <a:solidFill>
                <a:srgbClr val="000099"/>
              </a:solidFill>
              <a:latin typeface="Arial" panose="020B0604020202020204" pitchFamily="34" charset="0"/>
              <a:ea typeface="黑体" panose="02010609060101010101" pitchFamily="2" charset="-122"/>
            </a:endParaRPr>
          </a:p>
        </p:txBody>
      </p:sp>
      <p:grpSp>
        <p:nvGrpSpPr>
          <p:cNvPr id="544821" name="Group 53"/>
          <p:cNvGrpSpPr/>
          <p:nvPr/>
        </p:nvGrpSpPr>
        <p:grpSpPr bwMode="auto">
          <a:xfrm>
            <a:off x="1541897" y="1900710"/>
            <a:ext cx="3272763" cy="582612"/>
            <a:chOff x="833" y="1365"/>
            <a:chExt cx="1903" cy="367"/>
          </a:xfrm>
        </p:grpSpPr>
        <p:sp>
          <p:nvSpPr>
            <p:cNvPr id="100404" name="Line 25"/>
            <p:cNvSpPr>
              <a:spLocks noChangeShapeType="1"/>
            </p:cNvSpPr>
            <p:nvPr/>
          </p:nvSpPr>
          <p:spPr bwMode="auto">
            <a:xfrm flipV="1">
              <a:off x="833" y="1564"/>
              <a:ext cx="1903" cy="168"/>
            </a:xfrm>
            <a:prstGeom prst="line">
              <a:avLst/>
            </a:prstGeom>
            <a:noFill/>
            <a:ln w="76200">
              <a:solidFill>
                <a:schemeClr val="hlink"/>
              </a:solidFill>
              <a:prstDash val="sysDot"/>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5" name="Text Box 26"/>
            <p:cNvSpPr txBox="1">
              <a:spLocks noChangeArrowheads="1"/>
            </p:cNvSpPr>
            <p:nvPr/>
          </p:nvSpPr>
          <p:spPr bwMode="auto">
            <a:xfrm rot="21377422">
              <a:off x="1520" y="1365"/>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endParaRPr kumimoji="1" lang="zh-CN" altLang="en-US" sz="2000" b="1">
                <a:solidFill>
                  <a:srgbClr val="000099"/>
                </a:solidFill>
                <a:latin typeface="Arial" panose="020B0604020202020204" pitchFamily="34" charset="0"/>
                <a:ea typeface="黑体" panose="02010609060101010101" pitchFamily="2" charset="-122"/>
              </a:endParaRPr>
            </a:p>
          </p:txBody>
        </p:sp>
      </p:grpSp>
      <p:grpSp>
        <p:nvGrpSpPr>
          <p:cNvPr id="544823" name="Group 55"/>
          <p:cNvGrpSpPr/>
          <p:nvPr/>
        </p:nvGrpSpPr>
        <p:grpSpPr bwMode="auto">
          <a:xfrm>
            <a:off x="3507619" y="2508721"/>
            <a:ext cx="1179777" cy="1862138"/>
            <a:chOff x="1976" y="1748"/>
            <a:chExt cx="686" cy="1173"/>
          </a:xfrm>
        </p:grpSpPr>
        <p:sp>
          <p:nvSpPr>
            <p:cNvPr id="100402" name="Line 22"/>
            <p:cNvSpPr>
              <a:spLocks noChangeShapeType="1"/>
            </p:cNvSpPr>
            <p:nvPr/>
          </p:nvSpPr>
          <p:spPr bwMode="auto">
            <a:xfrm flipH="1">
              <a:off x="1976" y="1778"/>
              <a:ext cx="686" cy="1143"/>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3" name="Text Box 27"/>
            <p:cNvSpPr txBox="1">
              <a:spLocks noChangeArrowheads="1"/>
            </p:cNvSpPr>
            <p:nvPr/>
          </p:nvSpPr>
          <p:spPr bwMode="auto">
            <a:xfrm rot="18143965">
              <a:off x="2024" y="1932"/>
              <a:ext cx="6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endParaRPr kumimoji="1" lang="zh-CN" altLang="en-US" sz="2000" b="1">
                <a:solidFill>
                  <a:srgbClr val="000099"/>
                </a:solidFill>
                <a:latin typeface="Arial" panose="020B0604020202020204" pitchFamily="34" charset="0"/>
                <a:ea typeface="黑体" panose="02010609060101010101" pitchFamily="2" charset="-122"/>
              </a:endParaRPr>
            </a:p>
          </p:txBody>
        </p:sp>
      </p:grpSp>
      <p:grpSp>
        <p:nvGrpSpPr>
          <p:cNvPr id="544822" name="Group 54"/>
          <p:cNvGrpSpPr/>
          <p:nvPr/>
        </p:nvGrpSpPr>
        <p:grpSpPr bwMode="auto">
          <a:xfrm>
            <a:off x="1602090" y="2727797"/>
            <a:ext cx="5217848" cy="2035175"/>
            <a:chOff x="868" y="1886"/>
            <a:chExt cx="3034" cy="1282"/>
          </a:xfrm>
        </p:grpSpPr>
        <p:sp>
          <p:nvSpPr>
            <p:cNvPr id="100400" name="Line 20"/>
            <p:cNvSpPr>
              <a:spLocks noChangeShapeType="1"/>
            </p:cNvSpPr>
            <p:nvPr/>
          </p:nvSpPr>
          <p:spPr bwMode="auto">
            <a:xfrm>
              <a:off x="868" y="1886"/>
              <a:ext cx="3034" cy="1282"/>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1" name="Text Box 28"/>
            <p:cNvSpPr txBox="1">
              <a:spLocks noChangeArrowheads="1"/>
            </p:cNvSpPr>
            <p:nvPr/>
          </p:nvSpPr>
          <p:spPr bwMode="auto">
            <a:xfrm rot="1357240">
              <a:off x="1479" y="1972"/>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endParaRPr kumimoji="1" lang="zh-CN" altLang="en-US" sz="2000" b="1">
                <a:solidFill>
                  <a:srgbClr val="000099"/>
                </a:solidFill>
                <a:latin typeface="Arial" panose="020B0604020202020204" pitchFamily="34" charset="0"/>
                <a:ea typeface="黑体" panose="02010609060101010101" pitchFamily="2" charset="-122"/>
              </a:endParaRPr>
            </a:p>
          </p:txBody>
        </p:sp>
      </p:grpSp>
      <p:grpSp>
        <p:nvGrpSpPr>
          <p:cNvPr id="544826" name="Group 58"/>
          <p:cNvGrpSpPr/>
          <p:nvPr/>
        </p:nvGrpSpPr>
        <p:grpSpPr bwMode="auto">
          <a:xfrm>
            <a:off x="3781066" y="2727797"/>
            <a:ext cx="4717388" cy="2074863"/>
            <a:chOff x="2135" y="1886"/>
            <a:chExt cx="2743" cy="1307"/>
          </a:xfrm>
        </p:grpSpPr>
        <p:sp>
          <p:nvSpPr>
            <p:cNvPr id="100398" name="Line 21"/>
            <p:cNvSpPr>
              <a:spLocks noChangeShapeType="1"/>
            </p:cNvSpPr>
            <p:nvPr/>
          </p:nvSpPr>
          <p:spPr bwMode="auto">
            <a:xfrm flipV="1">
              <a:off x="2135" y="1886"/>
              <a:ext cx="2743" cy="1307"/>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9" name="Text Box 29"/>
            <p:cNvSpPr txBox="1">
              <a:spLocks noChangeArrowheads="1"/>
            </p:cNvSpPr>
            <p:nvPr/>
          </p:nvSpPr>
          <p:spPr bwMode="auto">
            <a:xfrm rot="20118828">
              <a:off x="3724" y="2008"/>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endParaRPr kumimoji="1" lang="zh-CN" altLang="en-US" sz="2000" b="1">
                <a:solidFill>
                  <a:srgbClr val="000099"/>
                </a:solidFill>
                <a:latin typeface="Arial" panose="020B0604020202020204" pitchFamily="34" charset="0"/>
                <a:ea typeface="黑体" panose="02010609060101010101" pitchFamily="2" charset="-122"/>
              </a:endParaRPr>
            </a:p>
          </p:txBody>
        </p:sp>
      </p:grpSp>
      <p:grpSp>
        <p:nvGrpSpPr>
          <p:cNvPr id="544825" name="Group 57"/>
          <p:cNvGrpSpPr/>
          <p:nvPr/>
        </p:nvGrpSpPr>
        <p:grpSpPr bwMode="auto">
          <a:xfrm>
            <a:off x="1330363" y="2815109"/>
            <a:ext cx="2087827" cy="1814512"/>
            <a:chOff x="710" y="1941"/>
            <a:chExt cx="1214" cy="1143"/>
          </a:xfrm>
        </p:grpSpPr>
        <p:sp>
          <p:nvSpPr>
            <p:cNvPr id="100396" name="Line 24"/>
            <p:cNvSpPr>
              <a:spLocks noChangeShapeType="1"/>
            </p:cNvSpPr>
            <p:nvPr/>
          </p:nvSpPr>
          <p:spPr bwMode="auto">
            <a:xfrm flipH="1" flipV="1">
              <a:off x="710" y="1941"/>
              <a:ext cx="1214" cy="1143"/>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7" name="Text Box 30"/>
            <p:cNvSpPr txBox="1">
              <a:spLocks noChangeArrowheads="1"/>
            </p:cNvSpPr>
            <p:nvPr/>
          </p:nvSpPr>
          <p:spPr bwMode="auto">
            <a:xfrm rot="2570439">
              <a:off x="1222" y="2355"/>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endParaRPr kumimoji="1" lang="zh-CN" altLang="en-US" sz="2000" b="1">
                <a:solidFill>
                  <a:srgbClr val="000099"/>
                </a:solidFill>
                <a:latin typeface="Arial" panose="020B0604020202020204" pitchFamily="34" charset="0"/>
                <a:ea typeface="黑体" panose="02010609060101010101" pitchFamily="2" charset="-122"/>
              </a:endParaRPr>
            </a:p>
          </p:txBody>
        </p:sp>
      </p:grpSp>
      <p:grpSp>
        <p:nvGrpSpPr>
          <p:cNvPr id="544824" name="Group 56"/>
          <p:cNvGrpSpPr/>
          <p:nvPr/>
        </p:nvGrpSpPr>
        <p:grpSpPr bwMode="auto">
          <a:xfrm>
            <a:off x="5050273" y="2815109"/>
            <a:ext cx="1633802" cy="1555750"/>
            <a:chOff x="2873" y="1941"/>
            <a:chExt cx="950" cy="980"/>
          </a:xfrm>
        </p:grpSpPr>
        <p:sp>
          <p:nvSpPr>
            <p:cNvPr id="100394" name="Line 23"/>
            <p:cNvSpPr>
              <a:spLocks noChangeShapeType="1"/>
            </p:cNvSpPr>
            <p:nvPr/>
          </p:nvSpPr>
          <p:spPr bwMode="auto">
            <a:xfrm>
              <a:off x="2873" y="1941"/>
              <a:ext cx="950" cy="980"/>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5" name="Text Box 31"/>
            <p:cNvSpPr txBox="1">
              <a:spLocks noChangeArrowheads="1"/>
            </p:cNvSpPr>
            <p:nvPr/>
          </p:nvSpPr>
          <p:spPr bwMode="auto">
            <a:xfrm rot="2686426">
              <a:off x="3109" y="2112"/>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endParaRPr kumimoji="1" lang="zh-CN" altLang="en-US" sz="2000" b="1">
                <a:solidFill>
                  <a:srgbClr val="000099"/>
                </a:solidFill>
                <a:latin typeface="Arial" panose="020B0604020202020204" pitchFamily="34" charset="0"/>
                <a:ea typeface="黑体" panose="02010609060101010101" pitchFamily="2" charset="-122"/>
              </a:endParaRPr>
            </a:p>
          </p:txBody>
        </p:sp>
      </p:grpSp>
      <p:grpSp>
        <p:nvGrpSpPr>
          <p:cNvPr id="100376" name="Group 34"/>
          <p:cNvGrpSpPr/>
          <p:nvPr/>
        </p:nvGrpSpPr>
        <p:grpSpPr bwMode="auto">
          <a:xfrm>
            <a:off x="4532613" y="2143602"/>
            <a:ext cx="505450" cy="522731"/>
            <a:chOff x="806" y="3124"/>
            <a:chExt cx="266" cy="289"/>
          </a:xfrm>
        </p:grpSpPr>
        <p:sp>
          <p:nvSpPr>
            <p:cNvPr id="100392" name="Oval 35"/>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93" name="Text Box 36"/>
            <p:cNvSpPr txBox="1">
              <a:spLocks noChangeArrowheads="1"/>
            </p:cNvSpPr>
            <p:nvPr/>
          </p:nvSpPr>
          <p:spPr bwMode="auto">
            <a:xfrm>
              <a:off x="806" y="3124"/>
              <a:ext cx="266"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grpSp>
        <p:nvGrpSpPr>
          <p:cNvPr id="100377" name="Group 37"/>
          <p:cNvGrpSpPr/>
          <p:nvPr/>
        </p:nvGrpSpPr>
        <p:grpSpPr bwMode="auto">
          <a:xfrm>
            <a:off x="3492141" y="4534377"/>
            <a:ext cx="505870" cy="522731"/>
            <a:chOff x="805" y="3123"/>
            <a:chExt cx="268" cy="289"/>
          </a:xfrm>
        </p:grpSpPr>
        <p:sp>
          <p:nvSpPr>
            <p:cNvPr id="100390" name="Oval 38"/>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91" name="Text Box 39"/>
            <p:cNvSpPr txBox="1">
              <a:spLocks noChangeArrowheads="1"/>
            </p:cNvSpPr>
            <p:nvPr/>
          </p:nvSpPr>
          <p:spPr bwMode="auto">
            <a:xfrm>
              <a:off x="805" y="3123"/>
              <a:ext cx="2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grpSp>
        <p:nvGrpSpPr>
          <p:cNvPr id="100378" name="Group 40"/>
          <p:cNvGrpSpPr/>
          <p:nvPr/>
        </p:nvGrpSpPr>
        <p:grpSpPr bwMode="auto">
          <a:xfrm>
            <a:off x="1285648" y="2159477"/>
            <a:ext cx="505871" cy="522731"/>
            <a:chOff x="806" y="3124"/>
            <a:chExt cx="268" cy="289"/>
          </a:xfrm>
        </p:grpSpPr>
        <p:sp>
          <p:nvSpPr>
            <p:cNvPr id="100388" name="Oval 41"/>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9" name="Text Box 42"/>
            <p:cNvSpPr txBox="1">
              <a:spLocks noChangeArrowheads="1"/>
            </p:cNvSpPr>
            <p:nvPr/>
          </p:nvSpPr>
          <p:spPr bwMode="auto">
            <a:xfrm>
              <a:off x="806" y="3124"/>
              <a:ext cx="2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grpSp>
        <p:nvGrpSpPr>
          <p:cNvPr id="100379" name="Group 43"/>
          <p:cNvGrpSpPr/>
          <p:nvPr/>
        </p:nvGrpSpPr>
        <p:grpSpPr bwMode="auto">
          <a:xfrm>
            <a:off x="1330361" y="2405535"/>
            <a:ext cx="505450" cy="522717"/>
            <a:chOff x="806" y="3124"/>
            <a:chExt cx="266" cy="290"/>
          </a:xfrm>
        </p:grpSpPr>
        <p:sp>
          <p:nvSpPr>
            <p:cNvPr id="100386" name="Oval 44"/>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7" name="Text Box 45"/>
            <p:cNvSpPr txBox="1">
              <a:spLocks noChangeArrowheads="1"/>
            </p:cNvSpPr>
            <p:nvPr/>
          </p:nvSpPr>
          <p:spPr bwMode="auto">
            <a:xfrm>
              <a:off x="806" y="3124"/>
              <a:ext cx="26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grpSp>
        <p:nvGrpSpPr>
          <p:cNvPr id="100380" name="Group 46"/>
          <p:cNvGrpSpPr/>
          <p:nvPr/>
        </p:nvGrpSpPr>
        <p:grpSpPr bwMode="auto">
          <a:xfrm>
            <a:off x="4732111" y="2405535"/>
            <a:ext cx="505871" cy="522717"/>
            <a:chOff x="805" y="3124"/>
            <a:chExt cx="268" cy="290"/>
          </a:xfrm>
        </p:grpSpPr>
        <p:sp>
          <p:nvSpPr>
            <p:cNvPr id="100384" name="Oval 47"/>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5" name="Text Box 48"/>
            <p:cNvSpPr txBox="1">
              <a:spLocks noChangeArrowheads="1"/>
            </p:cNvSpPr>
            <p:nvPr/>
          </p:nvSpPr>
          <p:spPr bwMode="auto">
            <a:xfrm>
              <a:off x="805" y="3124"/>
              <a:ext cx="26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grpSp>
        <p:nvGrpSpPr>
          <p:cNvPr id="100381" name="Group 49"/>
          <p:cNvGrpSpPr/>
          <p:nvPr/>
        </p:nvGrpSpPr>
        <p:grpSpPr bwMode="auto">
          <a:xfrm>
            <a:off x="3251369" y="4362927"/>
            <a:ext cx="505450" cy="522731"/>
            <a:chOff x="806" y="3124"/>
            <a:chExt cx="266" cy="289"/>
          </a:xfrm>
        </p:grpSpPr>
        <p:sp>
          <p:nvSpPr>
            <p:cNvPr id="100382" name="Oval 50"/>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3" name="Text Box 51"/>
            <p:cNvSpPr txBox="1">
              <a:spLocks noChangeArrowheads="1"/>
            </p:cNvSpPr>
            <p:nvPr/>
          </p:nvSpPr>
          <p:spPr bwMode="auto">
            <a:xfrm>
              <a:off x="806" y="3124"/>
              <a:ext cx="266"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500"/>
                                  </p:stCondLst>
                                  <p:childTnLst>
                                    <p:set>
                                      <p:cBhvr>
                                        <p:cTn id="6" dur="1" fill="hold">
                                          <p:stCondLst>
                                            <p:cond delay="0"/>
                                          </p:stCondLst>
                                        </p:cTn>
                                        <p:tgtEl>
                                          <p:spTgt spid="544821"/>
                                        </p:tgtEl>
                                        <p:attrNameLst>
                                          <p:attrName>style.visibility</p:attrName>
                                        </p:attrNameLst>
                                      </p:cBhvr>
                                      <p:to>
                                        <p:strVal val="visible"/>
                                      </p:to>
                                    </p:set>
                                    <p:animEffect transition="in" filter="wipe(left)">
                                      <p:cBhvr>
                                        <p:cTn id="7" dur="1000"/>
                                        <p:tgtEl>
                                          <p:spTgt spid="544821"/>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544822"/>
                                        </p:tgtEl>
                                        <p:attrNameLst>
                                          <p:attrName>style.visibility</p:attrName>
                                        </p:attrNameLst>
                                      </p:cBhvr>
                                      <p:to>
                                        <p:strVal val="visible"/>
                                      </p:to>
                                    </p:set>
                                    <p:animEffect transition="in" filter="wipe(left)">
                                      <p:cBhvr>
                                        <p:cTn id="11" dur="1000"/>
                                        <p:tgtEl>
                                          <p:spTgt spid="544822"/>
                                        </p:tgtEl>
                                      </p:cBhvr>
                                    </p:animEffect>
                                  </p:childTnLst>
                                </p:cTn>
                              </p:par>
                            </p:childTnLst>
                          </p:cTn>
                        </p:par>
                        <p:par>
                          <p:cTn id="12" fill="hold">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44823"/>
                                        </p:tgtEl>
                                        <p:attrNameLst>
                                          <p:attrName>style.visibility</p:attrName>
                                        </p:attrNameLst>
                                      </p:cBhvr>
                                      <p:to>
                                        <p:strVal val="visible"/>
                                      </p:to>
                                    </p:set>
                                    <p:animEffect transition="in" filter="wipe(up)">
                                      <p:cBhvr>
                                        <p:cTn id="15" dur="1000"/>
                                        <p:tgtEl>
                                          <p:spTgt spid="544823"/>
                                        </p:tgtEl>
                                      </p:cBhvr>
                                    </p:animEffect>
                                  </p:childTnLst>
                                </p:cTn>
                              </p:par>
                            </p:childTnLst>
                          </p:cTn>
                        </p:par>
                        <p:par>
                          <p:cTn id="16" fill="hold">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44824"/>
                                        </p:tgtEl>
                                        <p:attrNameLst>
                                          <p:attrName>style.visibility</p:attrName>
                                        </p:attrNameLst>
                                      </p:cBhvr>
                                      <p:to>
                                        <p:strVal val="visible"/>
                                      </p:to>
                                    </p:set>
                                    <p:animEffect transition="in" filter="wipe(up)">
                                      <p:cBhvr>
                                        <p:cTn id="19" dur="1000"/>
                                        <p:tgtEl>
                                          <p:spTgt spid="544824"/>
                                        </p:tgtEl>
                                      </p:cBhvr>
                                    </p:animEffect>
                                  </p:childTnLst>
                                </p:cTn>
                              </p:par>
                            </p:childTnLst>
                          </p:cTn>
                        </p:par>
                        <p:par>
                          <p:cTn id="20" fill="hold">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544825"/>
                                        </p:tgtEl>
                                        <p:attrNameLst>
                                          <p:attrName>style.visibility</p:attrName>
                                        </p:attrNameLst>
                                      </p:cBhvr>
                                      <p:to>
                                        <p:strVal val="visible"/>
                                      </p:to>
                                    </p:set>
                                    <p:animEffect transition="in" filter="wipe(down)">
                                      <p:cBhvr>
                                        <p:cTn id="23" dur="1000"/>
                                        <p:tgtEl>
                                          <p:spTgt spid="544825"/>
                                        </p:tgtEl>
                                      </p:cBhvr>
                                    </p:animEffect>
                                  </p:childTnLst>
                                </p:cTn>
                              </p:par>
                            </p:childTnLst>
                          </p:cTn>
                        </p:par>
                        <p:par>
                          <p:cTn id="24" fill="hold">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544826"/>
                                        </p:tgtEl>
                                        <p:attrNameLst>
                                          <p:attrName>style.visibility</p:attrName>
                                        </p:attrNameLst>
                                      </p:cBhvr>
                                      <p:to>
                                        <p:strVal val="visible"/>
                                      </p:to>
                                    </p:set>
                                    <p:animEffect transition="in" filter="wipe(left)">
                                      <p:cBhvr>
                                        <p:cTn id="27" dur="1000"/>
                                        <p:tgtEl>
                                          <p:spTgt spid="54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pPr algn="ctr" eaLnBrk="1" hangingPunct="1">
              <a:defRPr/>
            </a:pPr>
            <a:r>
              <a:rPr lang="zh-CN" altLang="en-US" dirty="0"/>
              <a:t>超媒体与超文本</a:t>
            </a:r>
            <a:endParaRPr lang="zh-CN" altLang="en-US" dirty="0"/>
          </a:p>
        </p:txBody>
      </p:sp>
      <p:sp>
        <p:nvSpPr>
          <p:cNvPr id="545795" name="Rectangle 3"/>
          <p:cNvSpPr>
            <a:spLocks noGrp="1" noChangeArrowheads="1"/>
          </p:cNvSpPr>
          <p:nvPr>
            <p:ph idx="1"/>
          </p:nvPr>
        </p:nvSpPr>
        <p:spPr/>
        <p:txBody>
          <a:bodyPr/>
          <a:lstStyle/>
          <a:p>
            <a:pPr eaLnBrk="1" hangingPunct="1"/>
            <a:r>
              <a:rPr lang="zh-CN" altLang="en-US" sz="2800" dirty="0" smtClean="0">
                <a:ea typeface="黑体" panose="02010609060101010101" pitchFamily="2" charset="-122"/>
              </a:rPr>
              <a:t>万维网是</a:t>
            </a:r>
            <a:r>
              <a:rPr lang="zh-CN" altLang="en-US" sz="2800" dirty="0" smtClean="0">
                <a:solidFill>
                  <a:srgbClr val="FF0000"/>
                </a:solidFill>
                <a:ea typeface="黑体" panose="02010609060101010101" pitchFamily="2" charset="-122"/>
              </a:rPr>
              <a:t>分布式超媒体 </a:t>
            </a:r>
            <a:r>
              <a:rPr lang="en-US" altLang="zh-CN" sz="2800" dirty="0" smtClean="0">
                <a:ea typeface="黑体" panose="02010609060101010101" pitchFamily="2" charset="-122"/>
              </a:rPr>
              <a:t>(hypermedia) </a:t>
            </a:r>
            <a:r>
              <a:rPr lang="zh-CN" altLang="en-US" sz="2800" dirty="0" smtClean="0">
                <a:ea typeface="黑体" panose="02010609060101010101" pitchFamily="2" charset="-122"/>
              </a:rPr>
              <a:t>系统，它是</a:t>
            </a:r>
            <a:r>
              <a:rPr lang="zh-CN" altLang="en-US" sz="2800" dirty="0" smtClean="0">
                <a:solidFill>
                  <a:srgbClr val="FF0000"/>
                </a:solidFill>
                <a:ea typeface="黑体" panose="02010609060101010101" pitchFamily="2" charset="-122"/>
              </a:rPr>
              <a:t>超文本 </a:t>
            </a:r>
            <a:r>
              <a:rPr lang="en-US" altLang="zh-CN" sz="2800" dirty="0" smtClean="0">
                <a:ea typeface="黑体" panose="02010609060101010101" pitchFamily="2" charset="-122"/>
              </a:rPr>
              <a:t>(hypertext) </a:t>
            </a:r>
            <a:r>
              <a:rPr lang="zh-CN" altLang="en-US" sz="2800" dirty="0" smtClean="0">
                <a:ea typeface="黑体" panose="02010609060101010101" pitchFamily="2" charset="-122"/>
              </a:rPr>
              <a:t>系统的扩充。</a:t>
            </a:r>
            <a:endParaRPr lang="zh-CN" altLang="en-US" sz="2800" dirty="0" smtClean="0">
              <a:ea typeface="黑体" panose="02010609060101010101" pitchFamily="2" charset="-122"/>
            </a:endParaRPr>
          </a:p>
          <a:p>
            <a:pPr eaLnBrk="1" hangingPunct="1"/>
            <a:r>
              <a:rPr lang="zh-CN" altLang="en-US" sz="2800" dirty="0" smtClean="0">
                <a:solidFill>
                  <a:srgbClr val="FF0000"/>
                </a:solidFill>
                <a:ea typeface="黑体" panose="02010609060101010101" pitchFamily="2" charset="-122"/>
              </a:rPr>
              <a:t>一个超文本由多个信息源链接成。</a:t>
            </a:r>
            <a:r>
              <a:rPr lang="zh-CN" altLang="en-US" sz="2800" dirty="0" smtClean="0">
                <a:ea typeface="黑体" panose="02010609060101010101" pitchFamily="2" charset="-122"/>
              </a:rPr>
              <a:t>利用一个链接可使用户找到另一个文档。这些文档可以位于世界上任何一个接在互联网上的超文本系统中。超文本是万维网的基础。</a:t>
            </a:r>
            <a:endParaRPr lang="zh-CN" altLang="en-US" sz="2800" dirty="0" smtClean="0">
              <a:ea typeface="黑体" panose="02010609060101010101" pitchFamily="2" charset="-122"/>
            </a:endParaRPr>
          </a:p>
          <a:p>
            <a:pPr eaLnBrk="1" hangingPunct="1"/>
            <a:r>
              <a:rPr lang="zh-CN" altLang="en-US" sz="2800" dirty="0" smtClean="0">
                <a:solidFill>
                  <a:srgbClr val="FF0000"/>
                </a:solidFill>
                <a:ea typeface="黑体" panose="02010609060101010101" pitchFamily="2" charset="-122"/>
              </a:rPr>
              <a:t>超媒体与超文本的区别是文档内容不同。</a:t>
            </a:r>
            <a:r>
              <a:rPr lang="zh-CN" altLang="en-US" sz="2800" dirty="0" smtClean="0">
                <a:ea typeface="黑体" panose="02010609060101010101" pitchFamily="2" charset="-122"/>
              </a:rPr>
              <a:t>超文本文档仅包含文本信息，而超媒体文档还包含其他表示方式的信息，如图形、图像、声音、动画，甚至活动视频图像。</a:t>
            </a:r>
            <a:endParaRPr lang="zh-CN" altLang="en-US" sz="2800"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algn="ctr" eaLnBrk="1" hangingPunct="1"/>
            <a:br>
              <a:rPr lang="en-US" altLang="zh-CN" sz="4000" dirty="0" smtClean="0">
                <a:ea typeface="黑体" panose="02010609060101010101" pitchFamily="2" charset="-122"/>
              </a:rPr>
            </a:br>
            <a:r>
              <a:rPr lang="en-US" altLang="zh-CN" sz="4000" dirty="0" smtClean="0">
                <a:ea typeface="黑体" panose="02010609060101010101" pitchFamily="2" charset="-122"/>
              </a:rPr>
              <a:t>   </a:t>
            </a:r>
            <a:r>
              <a:rPr lang="en-US" altLang="zh-CN" sz="4800" dirty="0" smtClean="0">
                <a:ea typeface="黑体" panose="02010609060101010101" pitchFamily="2" charset="-122"/>
              </a:rPr>
              <a:t> </a:t>
            </a:r>
            <a:r>
              <a:rPr lang="zh-CN" altLang="en-US" sz="4800" dirty="0" smtClean="0">
                <a:ea typeface="黑体" panose="02010609060101010101" pitchFamily="2" charset="-122"/>
              </a:rPr>
              <a:t>万维网的工作方式</a:t>
            </a:r>
            <a:r>
              <a:rPr lang="zh-CN" altLang="en-US" sz="4000" dirty="0" smtClean="0">
                <a:ea typeface="黑体" panose="02010609060101010101" pitchFamily="2" charset="-122"/>
              </a:rPr>
              <a:t> </a:t>
            </a:r>
            <a:endParaRPr lang="zh-CN" altLang="en-US" sz="4000" dirty="0" smtClean="0">
              <a:ea typeface="黑体" panose="02010609060101010101" pitchFamily="2" charset="-122"/>
            </a:endParaRPr>
          </a:p>
        </p:txBody>
      </p:sp>
      <p:sp>
        <p:nvSpPr>
          <p:cNvPr id="546819" name="Rectangle 3"/>
          <p:cNvSpPr>
            <a:spLocks noGrp="1" noChangeArrowheads="1"/>
          </p:cNvSpPr>
          <p:nvPr>
            <p:ph idx="1"/>
          </p:nvPr>
        </p:nvSpPr>
        <p:spPr/>
        <p:txBody>
          <a:bodyPr/>
          <a:lstStyle/>
          <a:p>
            <a:pPr eaLnBrk="1" hangingPunct="1"/>
            <a:r>
              <a:rPr lang="zh-CN" altLang="en-US" dirty="0" smtClean="0">
                <a:ea typeface="黑体" panose="02010609060101010101" pitchFamily="2" charset="-122"/>
              </a:rPr>
              <a:t>万维网以</a:t>
            </a:r>
            <a:r>
              <a:rPr lang="zh-CN" altLang="en-US" dirty="0" smtClean="0">
                <a:solidFill>
                  <a:srgbClr val="FF0000"/>
                </a:solidFill>
                <a:ea typeface="黑体" panose="02010609060101010101" pitchFamily="2" charset="-122"/>
              </a:rPr>
              <a:t>客户</a:t>
            </a:r>
            <a:r>
              <a:rPr lang="zh-CN" altLang="en-US" dirty="0" smtClean="0">
                <a:solidFill>
                  <a:srgbClr val="FF0000"/>
                </a:solidFill>
                <a:ea typeface="黑体" panose="02010609060101010101" pitchFamily="2" charset="-122"/>
                <a:sym typeface="Symbol" panose="05050102010706020507" pitchFamily="18" charset="2"/>
              </a:rPr>
              <a:t></a:t>
            </a:r>
            <a:r>
              <a:rPr lang="zh-CN" altLang="en-US" dirty="0" smtClean="0">
                <a:solidFill>
                  <a:srgbClr val="FF0000"/>
                </a:solidFill>
                <a:ea typeface="黑体" panose="02010609060101010101" pitchFamily="2" charset="-122"/>
              </a:rPr>
              <a:t>服务器</a:t>
            </a:r>
            <a:r>
              <a:rPr lang="zh-CN" altLang="en-US" dirty="0" smtClean="0">
                <a:ea typeface="黑体" panose="02010609060101010101" pitchFamily="2" charset="-122"/>
              </a:rPr>
              <a:t>方式工作。</a:t>
            </a:r>
            <a:endParaRPr lang="zh-CN" altLang="en-US" dirty="0" smtClean="0">
              <a:ea typeface="黑体" panose="02010609060101010101" pitchFamily="2" charset="-122"/>
            </a:endParaRPr>
          </a:p>
          <a:p>
            <a:pPr eaLnBrk="1" hangingPunct="1"/>
            <a:r>
              <a:rPr lang="zh-CN" altLang="en-US" dirty="0" smtClean="0">
                <a:solidFill>
                  <a:srgbClr val="FF0000"/>
                </a:solidFill>
                <a:ea typeface="黑体" panose="02010609060101010101" pitchFamily="2" charset="-122"/>
              </a:rPr>
              <a:t>浏览器</a:t>
            </a:r>
            <a:r>
              <a:rPr lang="zh-CN" altLang="en-US" dirty="0" smtClean="0">
                <a:ea typeface="黑体" panose="02010609060101010101" pitchFamily="2" charset="-122"/>
              </a:rPr>
              <a:t>就是在用户计算机上的万维网</a:t>
            </a:r>
            <a:r>
              <a:rPr lang="zh-CN" altLang="en-US" dirty="0" smtClean="0">
                <a:solidFill>
                  <a:srgbClr val="FF0000"/>
                </a:solidFill>
                <a:ea typeface="黑体" panose="02010609060101010101" pitchFamily="2" charset="-122"/>
              </a:rPr>
              <a:t>客户程序</a:t>
            </a:r>
            <a:r>
              <a:rPr lang="zh-CN" altLang="en-US" dirty="0" smtClean="0">
                <a:ea typeface="黑体" panose="02010609060101010101" pitchFamily="2" charset="-122"/>
              </a:rPr>
              <a:t>。万维网文档所驻留的计算机则运行</a:t>
            </a:r>
            <a:r>
              <a:rPr lang="zh-CN" altLang="en-US" dirty="0" smtClean="0">
                <a:solidFill>
                  <a:srgbClr val="FF0000"/>
                </a:solidFill>
                <a:ea typeface="黑体" panose="02010609060101010101" pitchFamily="2" charset="-122"/>
              </a:rPr>
              <a:t>服务器程序</a:t>
            </a:r>
            <a:r>
              <a:rPr lang="zh-CN" altLang="en-US" dirty="0" smtClean="0">
                <a:ea typeface="黑体" panose="02010609060101010101" pitchFamily="2" charset="-122"/>
              </a:rPr>
              <a:t>，因此这个计算机也称为</a:t>
            </a:r>
            <a:r>
              <a:rPr lang="zh-CN" altLang="en-US" dirty="0" smtClean="0">
                <a:solidFill>
                  <a:srgbClr val="FF0000"/>
                </a:solidFill>
                <a:ea typeface="黑体" panose="02010609060101010101" pitchFamily="2" charset="-122"/>
              </a:rPr>
              <a:t>万维网服务器</a:t>
            </a:r>
            <a:r>
              <a:rPr lang="zh-CN" altLang="en-US" dirty="0" smtClean="0">
                <a:ea typeface="黑体" panose="02010609060101010101" pitchFamily="2" charset="-122"/>
              </a:rPr>
              <a:t>。</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客户程序向服务器程序发出请求，服务器程序向客户程序送回客户所要的</a:t>
            </a:r>
            <a:r>
              <a:rPr lang="zh-CN" altLang="en-US" dirty="0" smtClean="0">
                <a:solidFill>
                  <a:srgbClr val="FF0000"/>
                </a:solidFill>
                <a:ea typeface="黑体" panose="02010609060101010101" pitchFamily="2" charset="-122"/>
              </a:rPr>
              <a:t>万维网文档。</a:t>
            </a:r>
            <a:endParaRPr lang="zh-CN" altLang="en-US" dirty="0" smtClean="0">
              <a:solidFill>
                <a:srgbClr val="FF0000"/>
              </a:solidFill>
              <a:ea typeface="黑体" panose="02010609060101010101" pitchFamily="2" charset="-122"/>
            </a:endParaRPr>
          </a:p>
          <a:p>
            <a:pPr eaLnBrk="1" hangingPunct="1"/>
            <a:r>
              <a:rPr lang="zh-CN" altLang="en-US" dirty="0" smtClean="0">
                <a:ea typeface="黑体" panose="02010609060101010101" pitchFamily="2" charset="-122"/>
              </a:rPr>
              <a:t>在一个客户程序主窗口上显示出的万维网文档称为</a:t>
            </a:r>
            <a:r>
              <a:rPr lang="zh-CN" altLang="en-US" dirty="0" smtClean="0">
                <a:solidFill>
                  <a:srgbClr val="FF0000"/>
                </a:solidFill>
                <a:ea typeface="黑体" panose="02010609060101010101" pitchFamily="2" charset="-122"/>
              </a:rPr>
              <a:t>页面 </a:t>
            </a:r>
            <a:r>
              <a:rPr lang="en-US" altLang="zh-CN" dirty="0" smtClean="0">
                <a:ea typeface="黑体" panose="02010609060101010101" pitchFamily="2" charset="-122"/>
              </a:rPr>
              <a:t>(page)</a:t>
            </a:r>
            <a:r>
              <a:rPr lang="zh-CN" altLang="en-US" dirty="0" smtClean="0">
                <a:ea typeface="黑体" panose="02010609060101010101" pitchFamily="2" charset="-122"/>
              </a:rPr>
              <a:t>。</a:t>
            </a:r>
            <a:endParaRPr lang="zh-CN" altLang="en-US"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pPr algn="ctr" eaLnBrk="1" hangingPunct="1">
              <a:defRPr/>
            </a:pPr>
            <a:r>
              <a:rPr lang="zh-CN" altLang="en-US" dirty="0"/>
              <a:t>万维网必须解决的问题 </a:t>
            </a:r>
            <a:endParaRPr lang="zh-CN" altLang="en-US" dirty="0"/>
          </a:p>
        </p:txBody>
      </p:sp>
      <p:sp>
        <p:nvSpPr>
          <p:cNvPr id="547843" name="Rectangle 3"/>
          <p:cNvSpPr>
            <a:spLocks noGrp="1" noChangeArrowheads="1"/>
          </p:cNvSpPr>
          <p:nvPr>
            <p:ph idx="1"/>
          </p:nvPr>
        </p:nvSpPr>
        <p:spPr/>
        <p:txBody>
          <a:bodyPr/>
          <a:lstStyle/>
          <a:p>
            <a:pPr marL="316230" indent="-316230" eaLnBrk="1" hangingPunct="1">
              <a:spcBef>
                <a:spcPts val="555"/>
              </a:spcBef>
              <a:buFont typeface="Wingdings" panose="05000000000000000000" pitchFamily="2" charset="2"/>
              <a:buNone/>
              <a:defRPr/>
            </a:pPr>
            <a:r>
              <a:rPr lang="en-US" altLang="zh-CN" dirty="0"/>
              <a:t>(1) </a:t>
            </a:r>
            <a:r>
              <a:rPr lang="zh-CN" altLang="en-US" dirty="0"/>
              <a:t>怎样标志分布在</a:t>
            </a:r>
            <a:r>
              <a:rPr lang="zh-CN" altLang="en-US" dirty="0" smtClean="0"/>
              <a:t>整个互联网</a:t>
            </a:r>
            <a:r>
              <a:rPr lang="zh-CN" altLang="en-US" dirty="0"/>
              <a:t>上的万维网文档？</a:t>
            </a:r>
            <a:r>
              <a:rPr lang="zh-CN" altLang="en-US" sz="3600" dirty="0"/>
              <a:t> </a:t>
            </a:r>
            <a:endParaRPr lang="zh-CN" altLang="en-US" dirty="0"/>
          </a:p>
          <a:p>
            <a:pPr marL="316230" indent="-316230" eaLnBrk="1" hangingPunct="1">
              <a:spcBef>
                <a:spcPts val="555"/>
              </a:spcBef>
              <a:defRPr/>
            </a:pPr>
            <a:r>
              <a:rPr lang="zh-CN" altLang="en-US" dirty="0"/>
              <a:t>使用</a:t>
            </a:r>
            <a:r>
              <a:rPr lang="zh-CN" altLang="en-US" dirty="0">
                <a:solidFill>
                  <a:srgbClr val="FF0000"/>
                </a:solidFill>
              </a:rPr>
              <a:t>统一资源定位符</a:t>
            </a:r>
            <a:r>
              <a:rPr lang="zh-CN" altLang="en-US" dirty="0"/>
              <a:t> </a:t>
            </a:r>
            <a:r>
              <a:rPr lang="en-US" altLang="zh-CN" dirty="0"/>
              <a:t>URL (Uniform Resource Locator</a:t>
            </a:r>
            <a:r>
              <a:rPr lang="en-US" altLang="zh-CN" dirty="0" smtClean="0"/>
              <a:t>) </a:t>
            </a:r>
            <a:r>
              <a:rPr lang="zh-CN" altLang="en-US" dirty="0" smtClean="0"/>
              <a:t>来</a:t>
            </a:r>
            <a:r>
              <a:rPr lang="zh-CN" altLang="en-US" dirty="0"/>
              <a:t>标志万维网上的各种文档。</a:t>
            </a:r>
            <a:endParaRPr lang="zh-CN" altLang="en-US" dirty="0"/>
          </a:p>
          <a:p>
            <a:pPr marL="316230" indent="-316230" eaLnBrk="1" hangingPunct="1">
              <a:spcBef>
                <a:spcPts val="555"/>
              </a:spcBef>
              <a:defRPr/>
            </a:pPr>
            <a:r>
              <a:rPr lang="zh-CN" altLang="en-US" dirty="0"/>
              <a:t>使每一个文档在</a:t>
            </a:r>
            <a:r>
              <a:rPr lang="zh-CN" altLang="en-US" dirty="0" smtClean="0"/>
              <a:t>整个互联网</a:t>
            </a:r>
            <a:r>
              <a:rPr lang="zh-CN" altLang="en-US" dirty="0"/>
              <a:t>的范围内具有唯一的标识符 </a:t>
            </a:r>
            <a:r>
              <a:rPr lang="en-US" altLang="zh-CN" dirty="0"/>
              <a:t>URL</a:t>
            </a:r>
            <a:r>
              <a:rPr lang="zh-CN" altLang="en-US" dirty="0"/>
              <a:t>。</a:t>
            </a:r>
            <a:r>
              <a:rPr lang="zh-CN" altLang="en-US" sz="3600" dirty="0"/>
              <a:t> </a:t>
            </a:r>
            <a:endParaRPr lang="zh-CN" alt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78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7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p:cNvSpPr>
            <a:spLocks noGrp="1" noChangeArrowheads="1"/>
          </p:cNvSpPr>
          <p:nvPr>
            <p:ph type="title"/>
          </p:nvPr>
        </p:nvSpPr>
        <p:spPr/>
        <p:txBody>
          <a:bodyPr/>
          <a:lstStyle/>
          <a:p>
            <a:pPr algn="ctr" eaLnBrk="1" hangingPunct="1">
              <a:defRPr/>
            </a:pPr>
            <a:r>
              <a:rPr lang="zh-CN" altLang="en-US" dirty="0"/>
              <a:t>万维网必须解决的问题 </a:t>
            </a:r>
            <a:endParaRPr lang="zh-CN" altLang="en-US" dirty="0"/>
          </a:p>
        </p:txBody>
      </p:sp>
      <p:sp>
        <p:nvSpPr>
          <p:cNvPr id="631811" name="Rectangle 3"/>
          <p:cNvSpPr>
            <a:spLocks noGrp="1" noChangeArrowheads="1"/>
          </p:cNvSpPr>
          <p:nvPr>
            <p:ph idx="1"/>
          </p:nvPr>
        </p:nvSpPr>
        <p:spPr/>
        <p:txBody>
          <a:bodyPr/>
          <a:lstStyle/>
          <a:p>
            <a:pPr marL="316230" indent="-316230" algn="just" eaLnBrk="1" hangingPunct="1">
              <a:spcBef>
                <a:spcPts val="555"/>
              </a:spcBef>
              <a:buFont typeface="Wingdings" panose="05000000000000000000" pitchFamily="2" charset="2"/>
              <a:buNone/>
              <a:defRPr/>
            </a:pPr>
            <a:r>
              <a:rPr lang="en-US" altLang="zh-CN" dirty="0"/>
              <a:t>(2) </a:t>
            </a:r>
            <a:r>
              <a:rPr lang="zh-CN" altLang="en-US" dirty="0"/>
              <a:t>用何协议实现万维网上各种超链的链接？</a:t>
            </a:r>
            <a:r>
              <a:rPr lang="zh-CN" altLang="en-US" sz="3600" dirty="0"/>
              <a:t> </a:t>
            </a:r>
            <a:endParaRPr lang="zh-CN" altLang="en-US" dirty="0"/>
          </a:p>
          <a:p>
            <a:pPr marL="316230" indent="-316230" algn="just" eaLnBrk="1" hangingPunct="1">
              <a:spcBef>
                <a:spcPts val="555"/>
              </a:spcBef>
              <a:defRPr/>
            </a:pPr>
            <a:r>
              <a:rPr lang="zh-CN" altLang="en-US" dirty="0"/>
              <a:t>在万维网客户程序与万维网服务器程序之间进行交互所使用的协议，是</a:t>
            </a:r>
            <a:r>
              <a:rPr lang="zh-CN" altLang="en-US" dirty="0">
                <a:solidFill>
                  <a:srgbClr val="FF0000"/>
                </a:solidFill>
              </a:rPr>
              <a:t>超文本传送协议</a:t>
            </a:r>
            <a:r>
              <a:rPr lang="zh-CN" altLang="en-US" dirty="0"/>
              <a:t> </a:t>
            </a:r>
            <a:r>
              <a:rPr lang="en-US" altLang="zh-CN" dirty="0"/>
              <a:t>HTTP (</a:t>
            </a:r>
            <a:r>
              <a:rPr lang="en-US" altLang="zh-CN" dirty="0" err="1"/>
              <a:t>HyperText</a:t>
            </a:r>
            <a:r>
              <a:rPr lang="en-US" altLang="zh-CN" dirty="0"/>
              <a:t> Transfer Protocol)</a:t>
            </a:r>
            <a:r>
              <a:rPr lang="zh-CN" altLang="en-US" dirty="0"/>
              <a:t>。</a:t>
            </a:r>
            <a:endParaRPr lang="zh-CN" altLang="en-US" dirty="0"/>
          </a:p>
          <a:p>
            <a:pPr marL="316230" indent="-316230" algn="just" eaLnBrk="1" hangingPunct="1">
              <a:spcBef>
                <a:spcPts val="555"/>
              </a:spcBef>
              <a:defRPr/>
            </a:pPr>
            <a:r>
              <a:rPr lang="en-US" altLang="zh-CN" dirty="0"/>
              <a:t>HTTP </a:t>
            </a:r>
            <a:r>
              <a:rPr lang="zh-CN" altLang="en-US" dirty="0"/>
              <a:t>是一个应用层协议，它使用 </a:t>
            </a:r>
            <a:r>
              <a:rPr lang="en-US" altLang="zh-CN" dirty="0"/>
              <a:t>TCP </a:t>
            </a:r>
            <a:r>
              <a:rPr lang="zh-CN" altLang="en-US" dirty="0"/>
              <a:t>连接进行可靠的传送。</a:t>
            </a:r>
            <a:r>
              <a:rPr lang="zh-CN" altLang="en-US" sz="3600"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18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18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p:txBody>
          <a:bodyPr/>
          <a:lstStyle/>
          <a:p>
            <a:pPr algn="ctr" eaLnBrk="1" hangingPunct="1">
              <a:defRPr/>
            </a:pPr>
            <a:r>
              <a:rPr lang="zh-CN" altLang="en-US" dirty="0"/>
              <a:t>万维网必须解决的问题 </a:t>
            </a:r>
            <a:endParaRPr lang="zh-CN" altLang="en-US" dirty="0"/>
          </a:p>
        </p:txBody>
      </p:sp>
      <p:sp>
        <p:nvSpPr>
          <p:cNvPr id="632835" name="Rectangle 3"/>
          <p:cNvSpPr>
            <a:spLocks noGrp="1" noChangeArrowheads="1"/>
          </p:cNvSpPr>
          <p:nvPr>
            <p:ph idx="1"/>
          </p:nvPr>
        </p:nvSpPr>
        <p:spPr/>
        <p:txBody>
          <a:bodyPr/>
          <a:lstStyle/>
          <a:p>
            <a:pPr marL="316230" indent="-316230" algn="just" eaLnBrk="1" hangingPunct="1">
              <a:spcBef>
                <a:spcPts val="555"/>
              </a:spcBef>
              <a:buFont typeface="Wingdings" panose="05000000000000000000" pitchFamily="2" charset="2"/>
              <a:buNone/>
              <a:defRPr/>
            </a:pPr>
            <a:r>
              <a:rPr lang="en-US" altLang="zh-CN" dirty="0"/>
              <a:t>(3) </a:t>
            </a:r>
            <a:r>
              <a:rPr lang="zh-CN" altLang="en-US" dirty="0"/>
              <a:t>怎样使各种万维网文档都能</a:t>
            </a:r>
            <a:r>
              <a:rPr lang="zh-CN" altLang="en-US" dirty="0" smtClean="0"/>
              <a:t>在互联网</a:t>
            </a:r>
            <a:r>
              <a:rPr lang="zh-CN" altLang="en-US" dirty="0"/>
              <a:t>上的各种计算机上显示出来，同时使用户清楚地知道在什么地方存在着超链？ </a:t>
            </a:r>
            <a:endParaRPr lang="zh-CN" altLang="en-US" dirty="0"/>
          </a:p>
          <a:p>
            <a:pPr marL="316230" indent="-316230" algn="just" eaLnBrk="1" hangingPunct="1">
              <a:spcBef>
                <a:spcPts val="555"/>
              </a:spcBef>
              <a:defRPr/>
            </a:pPr>
            <a:r>
              <a:rPr lang="zh-CN" altLang="en-US" dirty="0">
                <a:solidFill>
                  <a:srgbClr val="FF0000"/>
                </a:solidFill>
              </a:rPr>
              <a:t>超文本标记语言</a:t>
            </a:r>
            <a:r>
              <a:rPr lang="zh-CN" altLang="en-US" dirty="0"/>
              <a:t> </a:t>
            </a:r>
            <a:r>
              <a:rPr lang="en-US" altLang="zh-CN" dirty="0"/>
              <a:t>HTML (</a:t>
            </a:r>
            <a:r>
              <a:rPr lang="en-US" altLang="zh-CN" dirty="0" err="1"/>
              <a:t>HyperText</a:t>
            </a:r>
            <a:r>
              <a:rPr lang="en-US" altLang="zh-CN" dirty="0"/>
              <a:t> Markup Language</a:t>
            </a:r>
            <a:r>
              <a:rPr lang="en-US" altLang="zh-CN" dirty="0" smtClean="0"/>
              <a:t>) </a:t>
            </a:r>
            <a:r>
              <a:rPr lang="zh-CN" altLang="en-US" dirty="0" smtClean="0"/>
              <a:t>使得</a:t>
            </a:r>
            <a:r>
              <a:rPr lang="zh-CN" altLang="en-US" dirty="0"/>
              <a:t>万维网页面的设计者可以很方便地用一个超链从本页面的某处</a:t>
            </a:r>
            <a:r>
              <a:rPr lang="zh-CN" altLang="en-US" dirty="0" smtClean="0"/>
              <a:t>链接到互联网</a:t>
            </a:r>
            <a:r>
              <a:rPr lang="zh-CN" altLang="en-US" dirty="0"/>
              <a:t>上的任何一个万维网页面，并且能够在自己的计算机屏幕上将这些页面显示出来。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28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Rectangle 2"/>
          <p:cNvSpPr>
            <a:spLocks noGrp="1" noChangeArrowheads="1"/>
          </p:cNvSpPr>
          <p:nvPr>
            <p:ph type="title"/>
          </p:nvPr>
        </p:nvSpPr>
        <p:spPr/>
        <p:txBody>
          <a:bodyPr/>
          <a:lstStyle/>
          <a:p>
            <a:pPr algn="ctr" eaLnBrk="1" hangingPunct="1">
              <a:defRPr/>
            </a:pPr>
            <a:r>
              <a:rPr lang="zh-CN" altLang="en-US" dirty="0"/>
              <a:t>万维网必须解决的问题 </a:t>
            </a:r>
            <a:endParaRPr lang="zh-CN" altLang="en-US" dirty="0"/>
          </a:p>
        </p:txBody>
      </p:sp>
      <p:sp>
        <p:nvSpPr>
          <p:cNvPr id="633859" name="Rectangle 3"/>
          <p:cNvSpPr>
            <a:spLocks noGrp="1" noChangeArrowheads="1"/>
          </p:cNvSpPr>
          <p:nvPr>
            <p:ph idx="1"/>
          </p:nvPr>
        </p:nvSpPr>
        <p:spPr/>
        <p:txBody>
          <a:bodyPr/>
          <a:lstStyle/>
          <a:p>
            <a:pPr marL="316230" indent="-316230" algn="just" eaLnBrk="1" hangingPunct="1">
              <a:spcBef>
                <a:spcPts val="555"/>
              </a:spcBef>
              <a:buFont typeface="Wingdings" panose="05000000000000000000" pitchFamily="2" charset="2"/>
              <a:buNone/>
              <a:defRPr/>
            </a:pPr>
            <a:r>
              <a:rPr lang="en-US" altLang="zh-CN" dirty="0"/>
              <a:t>(4) </a:t>
            </a:r>
            <a:r>
              <a:rPr lang="zh-CN" altLang="en-US" dirty="0"/>
              <a:t>怎样使用户能够很方便地找到所需的信息？ </a:t>
            </a:r>
            <a:endParaRPr lang="zh-CN" altLang="en-US" dirty="0"/>
          </a:p>
          <a:p>
            <a:pPr marL="316230" indent="-316230" algn="just" eaLnBrk="1" hangingPunct="1">
              <a:spcBef>
                <a:spcPts val="555"/>
              </a:spcBef>
              <a:defRPr/>
            </a:pPr>
            <a:r>
              <a:rPr lang="zh-CN" altLang="en-US" dirty="0"/>
              <a:t>为了在万维网上方便地查找信息，用户可使用各种的</a:t>
            </a:r>
            <a:r>
              <a:rPr lang="zh-CN" altLang="en-US" dirty="0">
                <a:solidFill>
                  <a:srgbClr val="FF0000"/>
                </a:solidFill>
              </a:rPr>
              <a:t>搜索工具</a:t>
            </a:r>
            <a:r>
              <a:rPr lang="zh-CN" altLang="en-US" dirty="0"/>
              <a:t>（即</a:t>
            </a:r>
            <a:r>
              <a:rPr lang="zh-CN" altLang="en-US" dirty="0">
                <a:solidFill>
                  <a:srgbClr val="FF0000"/>
                </a:solidFill>
              </a:rPr>
              <a:t>搜索引擎</a:t>
            </a:r>
            <a:r>
              <a:rPr lang="zh-CN" altLang="en-US"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3859">
                                            <p:txEl>
                                              <p:pRg st="1" end="1"/>
                                            </p:txEl>
                                          </p:spTgt>
                                        </p:tgtEl>
                                        <p:attrNameLst>
                                          <p:attrName>style.visibility</p:attrName>
                                        </p:attrNameLst>
                                      </p:cBhvr>
                                      <p:to>
                                        <p:strVal val="visible"/>
                                      </p:to>
                                    </p:set>
                                    <p:animEffect transition="in" filter="fade">
                                      <p:cBhvr>
                                        <p:cTn id="7" dur="500"/>
                                        <p:tgtEl>
                                          <p:spTgt spid="6338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pPr eaLnBrk="1" hangingPunct="1">
              <a:defRPr/>
            </a:pPr>
            <a:r>
              <a:rPr lang="en-US" altLang="zh-CN" dirty="0"/>
              <a:t>6.4.2  </a:t>
            </a:r>
            <a:r>
              <a:rPr lang="zh-CN" altLang="en-US" dirty="0"/>
              <a:t>统一资源定位符 </a:t>
            </a:r>
            <a:r>
              <a:rPr lang="en-US" altLang="zh-CN" dirty="0" smtClean="0"/>
              <a:t>URL</a:t>
            </a:r>
            <a:endParaRPr lang="zh-CN" altLang="en-US" sz="4800" dirty="0"/>
          </a:p>
        </p:txBody>
      </p:sp>
      <p:sp>
        <p:nvSpPr>
          <p:cNvPr id="548867" name="Rectangle 3"/>
          <p:cNvSpPr>
            <a:spLocks noGrp="1" noChangeArrowheads="1"/>
          </p:cNvSpPr>
          <p:nvPr>
            <p:ph idx="1"/>
          </p:nvPr>
        </p:nvSpPr>
        <p:spPr/>
        <p:txBody>
          <a:bodyPr/>
          <a:lstStyle/>
          <a:p>
            <a:pPr marL="0" indent="0">
              <a:spcBef>
                <a:spcPts val="555"/>
              </a:spcBef>
              <a:buNone/>
              <a:defRPr/>
            </a:pPr>
            <a:r>
              <a:rPr lang="en-US" altLang="zh-CN" sz="4000" dirty="0">
                <a:solidFill>
                  <a:srgbClr val="333399"/>
                </a:solidFill>
                <a:latin typeface="+mj-lt"/>
                <a:ea typeface="+mj-ea"/>
                <a:cs typeface="+mj-cs"/>
              </a:rPr>
              <a:t>1. URL</a:t>
            </a:r>
            <a:r>
              <a:rPr lang="zh-CN" altLang="en-US" sz="4000" dirty="0">
                <a:solidFill>
                  <a:srgbClr val="333399"/>
                </a:solidFill>
                <a:latin typeface="+mj-lt"/>
                <a:ea typeface="+mj-ea"/>
                <a:cs typeface="+mj-cs"/>
              </a:rPr>
              <a:t>的格式</a:t>
            </a:r>
            <a:endParaRPr lang="en-US" altLang="zh-CN" sz="4000" dirty="0">
              <a:solidFill>
                <a:srgbClr val="333399"/>
              </a:solidFill>
              <a:latin typeface="+mj-lt"/>
              <a:ea typeface="+mj-ea"/>
              <a:cs typeface="+mj-cs"/>
            </a:endParaRPr>
          </a:p>
          <a:p>
            <a:pPr marL="316230" indent="-316230" eaLnBrk="1" hangingPunct="1">
              <a:spcBef>
                <a:spcPts val="555"/>
              </a:spcBef>
              <a:defRPr/>
            </a:pPr>
            <a:r>
              <a:rPr lang="zh-CN" altLang="en-US" sz="2700" dirty="0" smtClean="0"/>
              <a:t>资源</a:t>
            </a:r>
            <a:r>
              <a:rPr lang="zh-CN" altLang="en-US" sz="2700" dirty="0"/>
              <a:t>定位符 </a:t>
            </a:r>
            <a:r>
              <a:rPr lang="en-US" altLang="zh-CN" sz="2700" dirty="0"/>
              <a:t>URL </a:t>
            </a:r>
            <a:r>
              <a:rPr lang="zh-CN" altLang="en-US" sz="2700" dirty="0"/>
              <a:t>是对可以</a:t>
            </a:r>
            <a:r>
              <a:rPr lang="zh-CN" altLang="en-US" sz="2700" dirty="0" smtClean="0"/>
              <a:t>从互联网</a:t>
            </a:r>
            <a:r>
              <a:rPr lang="zh-CN" altLang="en-US" sz="2700" dirty="0"/>
              <a:t>上得到的资源的位置和访问方法的一种</a:t>
            </a:r>
            <a:r>
              <a:rPr lang="zh-CN" altLang="en-US" sz="2700" dirty="0" smtClean="0"/>
              <a:t>简洁表示</a:t>
            </a:r>
            <a:r>
              <a:rPr lang="zh-CN" altLang="en-US" sz="2700" dirty="0"/>
              <a:t>。</a:t>
            </a:r>
            <a:endParaRPr lang="zh-CN" altLang="en-US" sz="2700" dirty="0"/>
          </a:p>
          <a:p>
            <a:pPr marL="316230" indent="-316230" eaLnBrk="1" hangingPunct="1">
              <a:spcBef>
                <a:spcPts val="555"/>
              </a:spcBef>
              <a:defRPr/>
            </a:pPr>
            <a:r>
              <a:rPr lang="en-US" altLang="zh-CN" sz="2700" dirty="0"/>
              <a:t>URL </a:t>
            </a:r>
            <a:r>
              <a:rPr lang="zh-CN" altLang="en-US" sz="2700" dirty="0"/>
              <a:t>给资源的位置提供一种抽象的识别方法，并用这种方法给资源定位。</a:t>
            </a:r>
            <a:endParaRPr lang="zh-CN" altLang="en-US" sz="2700" dirty="0"/>
          </a:p>
          <a:p>
            <a:pPr marL="316230" indent="-316230" eaLnBrk="1" hangingPunct="1">
              <a:spcBef>
                <a:spcPts val="555"/>
              </a:spcBef>
              <a:defRPr/>
            </a:pPr>
            <a:r>
              <a:rPr lang="zh-CN" altLang="en-US" sz="2700" dirty="0"/>
              <a:t>只要能够对资源定位，系统就可以对资源进行各种操作，如存取、更新、替换和查找其属性。</a:t>
            </a:r>
            <a:endParaRPr lang="zh-CN" altLang="en-US" sz="2700" dirty="0"/>
          </a:p>
          <a:p>
            <a:pPr marL="316230" indent="-316230" eaLnBrk="1" hangingPunct="1">
              <a:spcBef>
                <a:spcPts val="555"/>
              </a:spcBef>
              <a:defRPr/>
            </a:pPr>
            <a:r>
              <a:rPr lang="en-US" altLang="zh-CN" sz="2700" dirty="0"/>
              <a:t>URL </a:t>
            </a:r>
            <a:r>
              <a:rPr lang="zh-CN" altLang="en-US" sz="2700" dirty="0"/>
              <a:t>相当于一个文件名在网络范围的扩展。因此 </a:t>
            </a:r>
            <a:r>
              <a:rPr lang="en-US" altLang="zh-CN" sz="2700" dirty="0"/>
              <a:t>URL </a:t>
            </a:r>
            <a:r>
              <a:rPr lang="zh-CN" altLang="en-US" sz="2700" dirty="0"/>
              <a:t>是</a:t>
            </a:r>
            <a:r>
              <a:rPr lang="zh-CN" altLang="en-US" sz="2700" dirty="0" smtClean="0"/>
              <a:t>与互联网</a:t>
            </a:r>
            <a:r>
              <a:rPr lang="zh-CN" altLang="en-US" sz="2700" dirty="0"/>
              <a:t>相连的机器上的任何可访问对象的一个指针。 </a:t>
            </a:r>
            <a:r>
              <a:rPr lang="zh-CN" altLang="en-US" sz="2800" dirty="0"/>
              <a:t> </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8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algn="ctr" eaLnBrk="1" hangingPunct="1">
              <a:defRPr/>
            </a:pPr>
            <a:r>
              <a:rPr lang="en-US" altLang="zh-CN" dirty="0"/>
              <a:t>URL </a:t>
            </a:r>
            <a:r>
              <a:rPr dirty="0"/>
              <a:t>的一般形式 </a:t>
            </a:r>
            <a:endParaRPr dirty="0"/>
          </a:p>
        </p:txBody>
      </p:sp>
      <p:sp>
        <p:nvSpPr>
          <p:cNvPr id="116739" name="Rectangle 3"/>
          <p:cNvSpPr>
            <a:spLocks noGrp="1" noChangeArrowheads="1"/>
          </p:cNvSpPr>
          <p:nvPr>
            <p:ph idx="1"/>
          </p:nvPr>
        </p:nvSpPr>
        <p:spPr/>
        <p:txBody>
          <a:bodyPr/>
          <a:lstStyle/>
          <a:p>
            <a:pPr eaLnBrk="1" hangingPunct="1"/>
            <a:r>
              <a:rPr lang="zh-CN" altLang="en-US" dirty="0" smtClean="0"/>
              <a:t>由以冒号隔开的两大部分组成，并且在 </a:t>
            </a:r>
            <a:r>
              <a:rPr lang="en-US" altLang="zh-CN" dirty="0" smtClean="0"/>
              <a:t>URL </a:t>
            </a:r>
            <a:r>
              <a:rPr lang="zh-CN" altLang="en-US" dirty="0" smtClean="0"/>
              <a:t>中的字符对大写或小写没有要求。</a:t>
            </a:r>
            <a:endParaRPr lang="zh-CN" altLang="en-US" dirty="0" smtClean="0"/>
          </a:p>
          <a:p>
            <a:pPr eaLnBrk="1" hangingPunct="1"/>
            <a:r>
              <a:rPr lang="en-US" altLang="zh-CN" dirty="0" smtClean="0"/>
              <a:t>URL </a:t>
            </a:r>
            <a:r>
              <a:rPr lang="zh-CN" altLang="en-US" dirty="0" smtClean="0"/>
              <a:t>的一般形式是：</a:t>
            </a:r>
            <a:endParaRPr lang="zh-CN" altLang="en-US" dirty="0" smtClean="0"/>
          </a:p>
        </p:txBody>
      </p:sp>
      <p:sp>
        <p:nvSpPr>
          <p:cNvPr id="116740" name="Text Box 25"/>
          <p:cNvSpPr txBox="1">
            <a:spLocks noChangeArrowheads="1"/>
          </p:cNvSpPr>
          <p:nvPr/>
        </p:nvSpPr>
        <p:spPr bwMode="auto">
          <a:xfrm>
            <a:off x="2299362"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 </a:t>
            </a:r>
            <a:endParaRPr lang="en-US" altLang="zh-CN" sz="2800" b="1">
              <a:solidFill>
                <a:srgbClr val="000099"/>
              </a:solidFill>
              <a:latin typeface="Arial" panose="020B0604020202020204" pitchFamily="34" charset="0"/>
              <a:ea typeface="黑体" panose="02010609060101010101" pitchFamily="2" charset="-122"/>
            </a:endParaRPr>
          </a:p>
        </p:txBody>
      </p:sp>
      <p:grpSp>
        <p:nvGrpSpPr>
          <p:cNvPr id="549919" name="Group 31"/>
          <p:cNvGrpSpPr/>
          <p:nvPr/>
        </p:nvGrpSpPr>
        <p:grpSpPr bwMode="auto">
          <a:xfrm>
            <a:off x="2612365" y="4076700"/>
            <a:ext cx="6734704" cy="2038350"/>
            <a:chOff x="1519" y="2568"/>
            <a:chExt cx="3916" cy="1284"/>
          </a:xfrm>
        </p:grpSpPr>
        <p:sp>
          <p:nvSpPr>
            <p:cNvPr id="116742" name="Line 26"/>
            <p:cNvSpPr>
              <a:spLocks noChangeShapeType="1"/>
            </p:cNvSpPr>
            <p:nvPr/>
          </p:nvSpPr>
          <p:spPr bwMode="auto">
            <a:xfrm>
              <a:off x="1519" y="2568"/>
              <a:ext cx="657"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3" name="Freeform 27"/>
            <p:cNvSpPr/>
            <p:nvPr/>
          </p:nvSpPr>
          <p:spPr bwMode="auto">
            <a:xfrm>
              <a:off x="1791" y="2568"/>
              <a:ext cx="385"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4" name="AutoShape 28"/>
            <p:cNvSpPr/>
            <p:nvPr/>
          </p:nvSpPr>
          <p:spPr bwMode="auto">
            <a:xfrm>
              <a:off x="2176" y="2841"/>
              <a:ext cx="82" cy="907"/>
            </a:xfrm>
            <a:prstGeom prst="leftBrace">
              <a:avLst>
                <a:gd name="adj1" fmla="val 92175"/>
                <a:gd name="adj2" fmla="val 50000"/>
              </a:avLst>
            </a:prstGeom>
            <a:noFill/>
            <a:ln w="28575">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16745" name="Text Box 29"/>
            <p:cNvSpPr txBox="1">
              <a:spLocks noChangeArrowheads="1"/>
            </p:cNvSpPr>
            <p:nvPr/>
          </p:nvSpPr>
          <p:spPr bwMode="auto">
            <a:xfrm>
              <a:off x="2328" y="2625"/>
              <a:ext cx="3107" cy="1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en-US" altLang="zh-CN" sz="2800" b="1">
                  <a:solidFill>
                    <a:srgbClr val="000099"/>
                  </a:solidFill>
                  <a:latin typeface="Arial" panose="020B0604020202020204" pitchFamily="34" charset="0"/>
                  <a:ea typeface="黑体" panose="02010609060101010101" pitchFamily="2" charset="-122"/>
                </a:rPr>
                <a:t>ftp —— </a:t>
              </a:r>
              <a:r>
                <a:rPr lang="zh-CN" altLang="en-US" sz="2800" b="1">
                  <a:solidFill>
                    <a:srgbClr val="000099"/>
                  </a:solidFill>
                  <a:latin typeface="Arial" panose="020B0604020202020204" pitchFamily="34" charset="0"/>
                  <a:ea typeface="黑体" panose="02010609060101010101" pitchFamily="2" charset="-122"/>
                </a:rPr>
                <a:t>文件传送协议 </a:t>
              </a:r>
              <a:r>
                <a:rPr lang="en-US" altLang="zh-CN" sz="2800" b="1">
                  <a:solidFill>
                    <a:srgbClr val="000099"/>
                  </a:solidFill>
                  <a:latin typeface="Arial" panose="020B0604020202020204" pitchFamily="34" charset="0"/>
                  <a:ea typeface="黑体" panose="02010609060101010101" pitchFamily="2" charset="-122"/>
                </a:rPr>
                <a:t>FTP</a:t>
              </a:r>
              <a:endParaRPr lang="en-US" altLang="zh-CN" sz="2800" b="1">
                <a:solidFill>
                  <a:srgbClr val="000099"/>
                </a:solidFill>
                <a:latin typeface="Arial" panose="020B0604020202020204" pitchFamily="34" charset="0"/>
                <a:ea typeface="黑体" panose="02010609060101010101" pitchFamily="2" charset="-122"/>
              </a:endParaRPr>
            </a:p>
            <a:p>
              <a:pPr eaLnBrk="1" hangingPunct="1">
                <a:lnSpc>
                  <a:spcPct val="150000"/>
                </a:lnSpc>
              </a:pPr>
              <a:r>
                <a:rPr lang="en-US" altLang="zh-CN" sz="2800" b="1">
                  <a:solidFill>
                    <a:srgbClr val="000099"/>
                  </a:solidFill>
                  <a:latin typeface="Arial" panose="020B0604020202020204" pitchFamily="34" charset="0"/>
                  <a:ea typeface="黑体" panose="02010609060101010101" pitchFamily="2" charset="-122"/>
                </a:rPr>
                <a:t>http —— </a:t>
              </a:r>
              <a:r>
                <a:rPr lang="zh-CN" altLang="en-US" sz="2800" b="1">
                  <a:solidFill>
                    <a:srgbClr val="000099"/>
                  </a:solidFill>
                  <a:latin typeface="Arial" panose="020B0604020202020204" pitchFamily="34" charset="0"/>
                  <a:ea typeface="黑体" panose="02010609060101010101" pitchFamily="2" charset="-122"/>
                </a:rPr>
                <a:t>超文本传送协议 </a:t>
              </a:r>
              <a:r>
                <a:rPr lang="en-US" altLang="zh-CN" sz="2800" b="1">
                  <a:solidFill>
                    <a:srgbClr val="000099"/>
                  </a:solidFill>
                  <a:latin typeface="Arial" panose="020B0604020202020204" pitchFamily="34" charset="0"/>
                  <a:ea typeface="黑体" panose="02010609060101010101" pitchFamily="2" charset="-122"/>
                </a:rPr>
                <a:t>HTTP</a:t>
              </a:r>
              <a:endParaRPr lang="en-US" altLang="zh-CN" sz="2800" b="1">
                <a:solidFill>
                  <a:srgbClr val="000099"/>
                </a:solidFill>
                <a:latin typeface="Arial" panose="020B0604020202020204" pitchFamily="34" charset="0"/>
                <a:ea typeface="黑体" panose="02010609060101010101" pitchFamily="2" charset="-122"/>
              </a:endParaRPr>
            </a:p>
            <a:p>
              <a:pPr eaLnBrk="1" hangingPunct="1">
                <a:lnSpc>
                  <a:spcPct val="150000"/>
                </a:lnSpc>
              </a:pPr>
              <a:r>
                <a:rPr lang="en-US" altLang="zh-CN" sz="2800" b="1">
                  <a:solidFill>
                    <a:srgbClr val="000099"/>
                  </a:solidFill>
                  <a:latin typeface="Arial" panose="020B0604020202020204" pitchFamily="34" charset="0"/>
                  <a:ea typeface="黑体" panose="02010609060101010101" pitchFamily="2" charset="-122"/>
                </a:rPr>
                <a:t>News —— USENET </a:t>
              </a:r>
              <a:r>
                <a:rPr lang="zh-CN" altLang="en-US" sz="2800" b="1">
                  <a:solidFill>
                    <a:srgbClr val="000099"/>
                  </a:solidFill>
                  <a:latin typeface="Arial" panose="020B0604020202020204" pitchFamily="34" charset="0"/>
                  <a:ea typeface="黑体" panose="02010609060101010101" pitchFamily="2" charset="-122"/>
                </a:rPr>
                <a:t>新闻</a:t>
              </a:r>
              <a:endParaRPr lang="zh-CN" altLang="en-US" sz="2800" b="1">
                <a:solidFill>
                  <a:srgbClr val="000099"/>
                </a:solidFill>
                <a:latin typeface="Arial" panose="020B0604020202020204" pitchFamily="34" charset="0"/>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549919"/>
                                        </p:tgtEl>
                                        <p:attrNameLst>
                                          <p:attrName>style.visibility</p:attrName>
                                        </p:attrNameLst>
                                      </p:cBhvr>
                                      <p:to>
                                        <p:strVal val="visible"/>
                                      </p:to>
                                    </p:set>
                                    <p:animEffect transition="in" filter="wipe(up)">
                                      <p:cBhvr>
                                        <p:cTn id="7" dur="1000"/>
                                        <p:tgtEl>
                                          <p:spTgt spid="54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algn="ctr" eaLnBrk="1" hangingPunct="1">
              <a:defRPr/>
            </a:pPr>
            <a:r>
              <a:rPr lang="en-US" altLang="zh-CN" dirty="0"/>
              <a:t>URL </a:t>
            </a:r>
            <a:r>
              <a:rPr dirty="0"/>
              <a:t>的一般形式 </a:t>
            </a:r>
            <a:endParaRPr dirty="0"/>
          </a:p>
        </p:txBody>
      </p:sp>
      <p:sp>
        <p:nvSpPr>
          <p:cNvPr id="116739" name="Rectangle 3"/>
          <p:cNvSpPr>
            <a:spLocks noGrp="1" noChangeArrowheads="1"/>
          </p:cNvSpPr>
          <p:nvPr>
            <p:ph idx="1"/>
          </p:nvPr>
        </p:nvSpPr>
        <p:spPr/>
        <p:txBody>
          <a:bodyPr/>
          <a:lstStyle/>
          <a:p>
            <a:pPr eaLnBrk="1" hangingPunct="1"/>
            <a:r>
              <a:rPr lang="zh-CN" altLang="en-US" dirty="0" smtClean="0"/>
              <a:t>由以冒号隔开的两大部分组成，并且在 </a:t>
            </a:r>
            <a:r>
              <a:rPr lang="en-US" altLang="zh-CN" dirty="0" smtClean="0"/>
              <a:t>URL </a:t>
            </a:r>
            <a:r>
              <a:rPr lang="zh-CN" altLang="en-US" dirty="0" smtClean="0"/>
              <a:t>中的字符对大写或小写没有要求。</a:t>
            </a:r>
            <a:endParaRPr lang="zh-CN" altLang="en-US" dirty="0" smtClean="0"/>
          </a:p>
          <a:p>
            <a:pPr eaLnBrk="1" hangingPunct="1"/>
            <a:r>
              <a:rPr lang="en-US" altLang="zh-CN" dirty="0" smtClean="0"/>
              <a:t>URL </a:t>
            </a:r>
            <a:r>
              <a:rPr lang="zh-CN" altLang="en-US" dirty="0" smtClean="0"/>
              <a:t>的一般形式是：</a:t>
            </a:r>
            <a:endParaRPr lang="zh-CN" altLang="en-US" dirty="0" smtClean="0"/>
          </a:p>
        </p:txBody>
      </p:sp>
      <p:sp>
        <p:nvSpPr>
          <p:cNvPr id="116740" name="Text Box 25"/>
          <p:cNvSpPr txBox="1">
            <a:spLocks noChangeArrowheads="1"/>
          </p:cNvSpPr>
          <p:nvPr/>
        </p:nvSpPr>
        <p:spPr bwMode="auto">
          <a:xfrm>
            <a:off x="2299362"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 </a:t>
            </a:r>
            <a:endParaRPr lang="en-US" altLang="zh-CN" sz="2800" b="1">
              <a:solidFill>
                <a:srgbClr val="000099"/>
              </a:solidFill>
              <a:latin typeface="Arial" panose="020B0604020202020204" pitchFamily="34" charset="0"/>
              <a:ea typeface="黑体" panose="02010609060101010101" pitchFamily="2" charset="-122"/>
            </a:endParaRPr>
          </a:p>
        </p:txBody>
      </p:sp>
      <p:sp>
        <p:nvSpPr>
          <p:cNvPr id="116742" name="Line 26"/>
          <p:cNvSpPr>
            <a:spLocks noChangeShapeType="1"/>
          </p:cNvSpPr>
          <p:nvPr/>
        </p:nvSpPr>
        <p:spPr bwMode="auto">
          <a:xfrm>
            <a:off x="3728864" y="4076700"/>
            <a:ext cx="429088"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3" name="Freeform 27"/>
          <p:cNvSpPr/>
          <p:nvPr/>
        </p:nvSpPr>
        <p:spPr bwMode="auto">
          <a:xfrm>
            <a:off x="3944888" y="4076701"/>
            <a:ext cx="515879" cy="576262"/>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5" name="Text Box 29"/>
          <p:cNvSpPr txBox="1">
            <a:spLocks noChangeArrowheads="1"/>
          </p:cNvSpPr>
          <p:nvPr/>
        </p:nvSpPr>
        <p:spPr bwMode="auto">
          <a:xfrm>
            <a:off x="4460767" y="4167188"/>
            <a:ext cx="481271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zh-CN" sz="2800" b="1" dirty="0" smtClean="0">
                <a:solidFill>
                  <a:srgbClr val="000099"/>
                </a:solidFill>
                <a:latin typeface="Arial" panose="020B0604020202020204" pitchFamily="34" charset="0"/>
                <a:ea typeface="黑体" panose="02010609060101010101" pitchFamily="2" charset="-122"/>
              </a:rPr>
              <a:t>规定</a:t>
            </a:r>
            <a:r>
              <a:rPr lang="zh-CN" altLang="zh-CN" sz="2800" b="1" dirty="0">
                <a:solidFill>
                  <a:srgbClr val="000099"/>
                </a:solidFill>
                <a:latin typeface="Arial" panose="020B0604020202020204" pitchFamily="34" charset="0"/>
                <a:ea typeface="黑体" panose="02010609060101010101" pitchFamily="2" charset="-122"/>
              </a:rPr>
              <a:t>的</a:t>
            </a:r>
            <a:r>
              <a:rPr lang="zh-CN" altLang="zh-CN" sz="2800" b="1" dirty="0" smtClean="0">
                <a:solidFill>
                  <a:srgbClr val="000099"/>
                </a:solidFill>
                <a:latin typeface="Arial" panose="020B0604020202020204" pitchFamily="34" charset="0"/>
                <a:ea typeface="黑体" panose="02010609060101010101" pitchFamily="2" charset="-122"/>
              </a:rPr>
              <a:t>格式</a:t>
            </a:r>
            <a:endParaRPr lang="en-US" altLang="zh-CN" sz="2800" b="1" dirty="0">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2"/>
          <p:cNvSpPr>
            <a:spLocks noGrp="1" noChangeArrowheads="1"/>
          </p:cNvSpPr>
          <p:nvPr>
            <p:ph type="title"/>
          </p:nvPr>
        </p:nvSpPr>
        <p:spPr>
          <a:xfrm>
            <a:off x="497021" y="188913"/>
            <a:ext cx="9065021" cy="792162"/>
          </a:xfrm>
        </p:spPr>
        <p:txBody>
          <a:bodyPr/>
          <a:lstStyle/>
          <a:p>
            <a:pPr algn="ctr" eaLnBrk="1" hangingPunct="1">
              <a:defRPr/>
            </a:pPr>
            <a:r>
              <a:rPr lang="en-US" altLang="zh-CN" dirty="0"/>
              <a:t>URL </a:t>
            </a:r>
            <a:r>
              <a:rPr dirty="0"/>
              <a:t>的一般形式（续） </a:t>
            </a:r>
            <a:endParaRPr dirty="0"/>
          </a:p>
        </p:txBody>
      </p:sp>
      <p:sp>
        <p:nvSpPr>
          <p:cNvPr id="118787" name="Rectangle 3"/>
          <p:cNvSpPr>
            <a:spLocks noGrp="1" noChangeArrowheads="1"/>
          </p:cNvSpPr>
          <p:nvPr>
            <p:ph idx="1"/>
          </p:nvPr>
        </p:nvSpPr>
        <p:spPr>
          <a:xfrm>
            <a:off x="497021" y="1195389"/>
            <a:ext cx="9065021" cy="4935537"/>
          </a:xfrm>
        </p:spPr>
        <p:txBody>
          <a:bodyPr/>
          <a:lstStyle/>
          <a:p>
            <a:pPr eaLnBrk="1" hangingPunct="1"/>
            <a:r>
              <a:rPr lang="zh-CN" altLang="en-US" dirty="0" smtClean="0"/>
              <a:t>由以冒号隔开的两大部分组成，并且在 </a:t>
            </a:r>
            <a:r>
              <a:rPr lang="en-US" altLang="zh-CN" dirty="0" smtClean="0"/>
              <a:t>URL </a:t>
            </a:r>
            <a:r>
              <a:rPr lang="zh-CN" altLang="en-US" dirty="0" smtClean="0"/>
              <a:t>中的字符对大写或小写没有要求。</a:t>
            </a:r>
            <a:endParaRPr lang="zh-CN" altLang="en-US" dirty="0" smtClean="0"/>
          </a:p>
          <a:p>
            <a:pPr eaLnBrk="1" hangingPunct="1"/>
            <a:r>
              <a:rPr lang="en-US" altLang="zh-CN" dirty="0" smtClean="0"/>
              <a:t>URL </a:t>
            </a:r>
            <a:r>
              <a:rPr lang="zh-CN" altLang="en-US" dirty="0" smtClean="0"/>
              <a:t>的一般形式是：</a:t>
            </a:r>
            <a:endParaRPr lang="zh-CN" altLang="en-US" dirty="0" smtClean="0"/>
          </a:p>
        </p:txBody>
      </p:sp>
      <p:sp>
        <p:nvSpPr>
          <p:cNvPr id="9" name="Text Box 25"/>
          <p:cNvSpPr txBox="1">
            <a:spLocks noChangeArrowheads="1"/>
          </p:cNvSpPr>
          <p:nvPr/>
        </p:nvSpPr>
        <p:spPr bwMode="auto">
          <a:xfrm>
            <a:off x="2299362"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 </a:t>
            </a:r>
            <a:endParaRPr lang="en-US" altLang="zh-CN" sz="2800" b="1">
              <a:solidFill>
                <a:srgbClr val="000099"/>
              </a:solidFill>
              <a:latin typeface="Arial" panose="020B0604020202020204" pitchFamily="34" charset="0"/>
              <a:ea typeface="黑体" panose="02010609060101010101" pitchFamily="2" charset="-122"/>
            </a:endParaRPr>
          </a:p>
        </p:txBody>
      </p:sp>
      <p:grpSp>
        <p:nvGrpSpPr>
          <p:cNvPr id="118789" name="Group 9"/>
          <p:cNvGrpSpPr/>
          <p:nvPr/>
        </p:nvGrpSpPr>
        <p:grpSpPr bwMode="auto">
          <a:xfrm>
            <a:off x="4103116" y="4076702"/>
            <a:ext cx="5386388" cy="1376363"/>
            <a:chOff x="2381" y="2568"/>
            <a:chExt cx="3132" cy="867"/>
          </a:xfrm>
        </p:grpSpPr>
        <p:sp>
          <p:nvSpPr>
            <p:cNvPr id="118790" name="Line 5"/>
            <p:cNvSpPr>
              <a:spLocks noChangeShapeType="1"/>
            </p:cNvSpPr>
            <p:nvPr/>
          </p:nvSpPr>
          <p:spPr bwMode="auto">
            <a:xfrm>
              <a:off x="2381" y="2568"/>
              <a:ext cx="635"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8791" name="Freeform 6"/>
            <p:cNvSpPr/>
            <p:nvPr/>
          </p:nvSpPr>
          <p:spPr bwMode="auto">
            <a:xfrm>
              <a:off x="2653" y="2568"/>
              <a:ext cx="408" cy="408"/>
            </a:xfrm>
            <a:custGeom>
              <a:avLst/>
              <a:gdLst>
                <a:gd name="T0" fmla="*/ 0 w 771"/>
                <a:gd name="T1" fmla="*/ 0 h 726"/>
                <a:gd name="T2" fmla="*/ 0 w 771"/>
                <a:gd name="T3" fmla="*/ 22 h 726"/>
                <a:gd name="T4" fmla="*/ 17 w 771"/>
                <a:gd name="T5" fmla="*/ 22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8792" name="Text Box 8"/>
            <p:cNvSpPr txBox="1">
              <a:spLocks noChangeArrowheads="1"/>
            </p:cNvSpPr>
            <p:nvPr/>
          </p:nvSpPr>
          <p:spPr bwMode="auto">
            <a:xfrm>
              <a:off x="3016" y="2834"/>
              <a:ext cx="2497"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99"/>
                  </a:solidFill>
                  <a:latin typeface="Arial" panose="020B0604020202020204" pitchFamily="34" charset="0"/>
                  <a:ea typeface="黑体" panose="02010609060101010101" pitchFamily="2" charset="-122"/>
                </a:rPr>
                <a:t>&lt;</a:t>
              </a:r>
              <a:r>
                <a:rPr lang="zh-CN" altLang="en-US" sz="2800" b="1" dirty="0">
                  <a:solidFill>
                    <a:srgbClr val="000099"/>
                  </a:solidFill>
                  <a:latin typeface="Arial" panose="020B0604020202020204" pitchFamily="34" charset="0"/>
                  <a:ea typeface="黑体" panose="02010609060101010101" pitchFamily="2" charset="-122"/>
                </a:rPr>
                <a:t>主机</a:t>
              </a:r>
              <a:r>
                <a:rPr lang="en-US" altLang="zh-CN" sz="2800" b="1" dirty="0">
                  <a:solidFill>
                    <a:srgbClr val="000099"/>
                  </a:solidFill>
                  <a:latin typeface="Arial" panose="020B0604020202020204" pitchFamily="34" charset="0"/>
                  <a:ea typeface="黑体" panose="02010609060101010101" pitchFamily="2" charset="-122"/>
                </a:rPr>
                <a:t>&gt; </a:t>
              </a:r>
              <a:r>
                <a:rPr lang="zh-CN" altLang="en-US" sz="2800" b="1" dirty="0">
                  <a:solidFill>
                    <a:srgbClr val="000099"/>
                  </a:solidFill>
                  <a:latin typeface="Arial" panose="020B0604020202020204" pitchFamily="34" charset="0"/>
                  <a:ea typeface="黑体" panose="02010609060101010101" pitchFamily="2" charset="-122"/>
                </a:rPr>
                <a:t>是存放资源的主机</a:t>
              </a:r>
              <a:endParaRPr lang="zh-CN" altLang="en-US" sz="2800" b="1" dirty="0">
                <a:solidFill>
                  <a:srgbClr val="000099"/>
                </a:solidFill>
                <a:latin typeface="Arial" panose="020B0604020202020204" pitchFamily="34" charset="0"/>
                <a:ea typeface="黑体" panose="02010609060101010101" pitchFamily="2" charset="-122"/>
              </a:endParaRPr>
            </a:p>
            <a:p>
              <a:pPr eaLnBrk="1" hangingPunct="1"/>
              <a:r>
                <a:rPr lang="zh-CN" altLang="en-US" sz="2800" b="1" dirty="0">
                  <a:solidFill>
                    <a:srgbClr val="000099"/>
                  </a:solidFill>
                  <a:latin typeface="Arial" panose="020B0604020202020204" pitchFamily="34" charset="0"/>
                  <a:ea typeface="黑体" panose="02010609060101010101" pitchFamily="2" charset="-122"/>
                </a:rPr>
                <a:t>在互联网中的域名</a:t>
              </a:r>
              <a:endParaRPr lang="zh-CN" altLang="en-US" sz="2800" b="1" dirty="0">
                <a:solidFill>
                  <a:srgbClr val="000099"/>
                </a:solidFill>
                <a:latin typeface="Arial" panose="020B0604020202020204" pitchFamily="34" charset="0"/>
                <a:ea typeface="黑体" panose="02010609060101010101" pitchFamily="2" charset="-122"/>
              </a:endParaRPr>
            </a:p>
          </p:txBody>
        </p: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p:txBody>
          <a:bodyPr/>
          <a:lstStyle/>
          <a:p>
            <a:pPr algn="ctr" eaLnBrk="1" hangingPunct="1">
              <a:defRPr/>
            </a:pPr>
            <a:r>
              <a:rPr lang="en-US" altLang="zh-CN" dirty="0"/>
              <a:t>URL </a:t>
            </a:r>
            <a:r>
              <a:rPr dirty="0"/>
              <a:t>的一般形式（续） </a:t>
            </a:r>
            <a:endParaRPr dirty="0"/>
          </a:p>
        </p:txBody>
      </p:sp>
      <p:sp>
        <p:nvSpPr>
          <p:cNvPr id="120835" name="Rectangle 3"/>
          <p:cNvSpPr>
            <a:spLocks noGrp="1" noChangeArrowheads="1"/>
          </p:cNvSpPr>
          <p:nvPr>
            <p:ph idx="1"/>
          </p:nvPr>
        </p:nvSpPr>
        <p:spPr/>
        <p:txBody>
          <a:bodyPr/>
          <a:lstStyle/>
          <a:p>
            <a:pPr eaLnBrk="1" hangingPunct="1"/>
            <a:r>
              <a:rPr lang="zh-CN" altLang="en-US" dirty="0" smtClean="0"/>
              <a:t>由以冒号隔开的两大部分组成，并且在 </a:t>
            </a:r>
            <a:r>
              <a:rPr lang="en-US" altLang="zh-CN" dirty="0" smtClean="0"/>
              <a:t>URL </a:t>
            </a:r>
            <a:r>
              <a:rPr lang="zh-CN" altLang="en-US" dirty="0" smtClean="0"/>
              <a:t>中的字符对大写或小写没有要求。</a:t>
            </a:r>
            <a:endParaRPr lang="zh-CN" altLang="en-US" dirty="0" smtClean="0"/>
          </a:p>
          <a:p>
            <a:pPr eaLnBrk="1" hangingPunct="1"/>
            <a:r>
              <a:rPr lang="en-US" altLang="zh-CN" dirty="0" smtClean="0"/>
              <a:t>URL </a:t>
            </a:r>
            <a:r>
              <a:rPr lang="zh-CN" altLang="en-US" dirty="0" smtClean="0"/>
              <a:t>的一般形式是：</a:t>
            </a:r>
            <a:endParaRPr lang="zh-CN" altLang="en-US" dirty="0" smtClean="0"/>
          </a:p>
        </p:txBody>
      </p:sp>
      <p:sp>
        <p:nvSpPr>
          <p:cNvPr id="120836" name="Text Box 4"/>
          <p:cNvSpPr txBox="1">
            <a:spLocks noChangeArrowheads="1"/>
          </p:cNvSpPr>
          <p:nvPr/>
        </p:nvSpPr>
        <p:spPr bwMode="auto">
          <a:xfrm>
            <a:off x="2301081"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a:t>
            </a:r>
            <a:endParaRPr lang="en-US" altLang="zh-CN" sz="2800" b="1">
              <a:solidFill>
                <a:srgbClr val="000099"/>
              </a:solidFill>
              <a:latin typeface="Arial" panose="020B0604020202020204" pitchFamily="34" charset="0"/>
              <a:ea typeface="黑体" panose="02010609060101010101" pitchFamily="2" charset="-122"/>
            </a:endParaRPr>
          </a:p>
        </p:txBody>
      </p:sp>
      <p:grpSp>
        <p:nvGrpSpPr>
          <p:cNvPr id="120837" name="Group 8"/>
          <p:cNvGrpSpPr/>
          <p:nvPr/>
        </p:nvGrpSpPr>
        <p:grpSpPr bwMode="auto">
          <a:xfrm>
            <a:off x="5343393" y="4076702"/>
            <a:ext cx="3988197" cy="925513"/>
            <a:chOff x="3107" y="2568"/>
            <a:chExt cx="2319" cy="583"/>
          </a:xfrm>
        </p:grpSpPr>
        <p:sp>
          <p:nvSpPr>
            <p:cNvPr id="120838" name="Line 5"/>
            <p:cNvSpPr>
              <a:spLocks noChangeShapeType="1"/>
            </p:cNvSpPr>
            <p:nvPr/>
          </p:nvSpPr>
          <p:spPr bwMode="auto">
            <a:xfrm>
              <a:off x="3107" y="2568"/>
              <a:ext cx="1406"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20839" name="Freeform 6"/>
            <p:cNvSpPr/>
            <p:nvPr/>
          </p:nvSpPr>
          <p:spPr bwMode="auto">
            <a:xfrm>
              <a:off x="3833" y="2568"/>
              <a:ext cx="408" cy="408"/>
            </a:xfrm>
            <a:custGeom>
              <a:avLst/>
              <a:gdLst>
                <a:gd name="T0" fmla="*/ 0 w 771"/>
                <a:gd name="T1" fmla="*/ 0 h 726"/>
                <a:gd name="T2" fmla="*/ 0 w 771"/>
                <a:gd name="T3" fmla="*/ 22 h 726"/>
                <a:gd name="T4" fmla="*/ 17 w 771"/>
                <a:gd name="T5" fmla="*/ 22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20840" name="Text Box 7"/>
            <p:cNvSpPr txBox="1">
              <a:spLocks noChangeArrowheads="1"/>
            </p:cNvSpPr>
            <p:nvPr/>
          </p:nvSpPr>
          <p:spPr bwMode="auto">
            <a:xfrm>
              <a:off x="4275" y="2821"/>
              <a:ext cx="115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000099"/>
                  </a:solidFill>
                  <a:latin typeface="Arial" panose="020B0604020202020204" pitchFamily="34" charset="0"/>
                  <a:ea typeface="黑体" panose="02010609060101010101" pitchFamily="2" charset="-122"/>
                </a:rPr>
                <a:t>有时可省略</a:t>
              </a:r>
              <a:endParaRPr lang="zh-CN" altLang="en-US" sz="2800" b="1">
                <a:solidFill>
                  <a:srgbClr val="000099"/>
                </a:solidFill>
                <a:latin typeface="Arial" panose="020B0604020202020204" pitchFamily="34" charset="0"/>
                <a:ea typeface="黑体" panose="02010609060101010101" pitchFamily="2" charset="-122"/>
              </a:endParaRPr>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URL </a:t>
            </a:r>
            <a:r>
              <a:rPr lang="zh-CN" altLang="en-US" dirty="0"/>
              <a:t>的一般形式（续） </a:t>
            </a:r>
            <a:endParaRPr lang="zh-CN" altLang="en-US" dirty="0"/>
          </a:p>
        </p:txBody>
      </p:sp>
      <p:sp>
        <p:nvSpPr>
          <p:cNvPr id="3" name="内容占位符 2"/>
          <p:cNvSpPr>
            <a:spLocks noGrp="1"/>
          </p:cNvSpPr>
          <p:nvPr>
            <p:ph idx="1"/>
          </p:nvPr>
        </p:nvSpPr>
        <p:spPr/>
        <p:txBody>
          <a:bodyPr/>
          <a:lstStyle/>
          <a:p>
            <a:r>
              <a:rPr lang="zh-CN" altLang="zh-CN" dirty="0"/>
              <a:t>现在有些浏览器为了方便用户，在输入</a:t>
            </a:r>
            <a:r>
              <a:rPr lang="en-US" altLang="zh-CN" dirty="0"/>
              <a:t>URL</a:t>
            </a:r>
            <a:r>
              <a:rPr lang="zh-CN" altLang="zh-CN" dirty="0"/>
              <a:t>时，可以把最前面的“</a:t>
            </a:r>
            <a:r>
              <a:rPr lang="en-US" altLang="zh-CN" dirty="0"/>
              <a:t>http://</a:t>
            </a:r>
            <a:r>
              <a:rPr lang="zh-CN" altLang="zh-CN" dirty="0"/>
              <a:t>”甚至把主机名最前面的“</a:t>
            </a:r>
            <a:r>
              <a:rPr lang="en-US" altLang="zh-CN" dirty="0"/>
              <a:t>www</a:t>
            </a:r>
            <a:r>
              <a:rPr lang="zh-CN" altLang="zh-CN" dirty="0"/>
              <a:t>”省略，然后浏览器替用户把省略的字符添上</a:t>
            </a:r>
            <a:r>
              <a:rPr lang="zh-CN" altLang="zh-CN" dirty="0" smtClean="0"/>
              <a:t>。</a:t>
            </a:r>
            <a:endParaRPr lang="en-US" altLang="zh-CN" dirty="0" smtClean="0"/>
          </a:p>
          <a:p>
            <a:r>
              <a:rPr lang="zh-CN" altLang="zh-CN" dirty="0" smtClean="0"/>
              <a:t>例如</a:t>
            </a:r>
            <a:r>
              <a:rPr lang="zh-CN" altLang="zh-CN" dirty="0"/>
              <a:t>，用户只要键入</a:t>
            </a:r>
            <a:r>
              <a:rPr lang="en-US" altLang="zh-CN" dirty="0"/>
              <a:t>ctrip.com</a:t>
            </a:r>
            <a:r>
              <a:rPr lang="zh-CN" altLang="zh-CN" dirty="0"/>
              <a:t>，浏览器就自动把未键入的字符补齐，变成</a:t>
            </a:r>
            <a:r>
              <a:rPr lang="en-US" altLang="zh-CN" dirty="0"/>
              <a:t>http://www.ctrip.com</a:t>
            </a:r>
            <a:r>
              <a:rPr lang="zh-CN" altLang="zh-CN" dirty="0" smtClean="0"/>
              <a:t>。</a:t>
            </a:r>
            <a:endParaRPr lang="zh-CN" altLang="zh-CN"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1052513" y="1844824"/>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1027" name="Rectangle 3"/>
          <p:cNvSpPr>
            <a:spLocks noGrp="1" noChangeArrowheads="1"/>
          </p:cNvSpPr>
          <p:nvPr>
            <p:ph type="title"/>
          </p:nvPr>
        </p:nvSpPr>
        <p:spPr/>
        <p:txBody>
          <a:bodyPr/>
          <a:lstStyle/>
          <a:p>
            <a:pPr eaLnBrk="1" hangingPunct="1">
              <a:defRPr/>
            </a:pPr>
            <a:r>
              <a:rPr lang="en-US" dirty="0" smtClean="0"/>
              <a:t>2. </a:t>
            </a:r>
            <a:r>
              <a:rPr dirty="0" smtClean="0"/>
              <a:t>使用 </a:t>
            </a:r>
            <a:r>
              <a:rPr lang="en-US" altLang="zh-CN" dirty="0"/>
              <a:t>HTTP </a:t>
            </a:r>
            <a:r>
              <a:rPr dirty="0"/>
              <a:t>的 </a:t>
            </a:r>
            <a:r>
              <a:rPr lang="en-US" altLang="zh-CN" dirty="0"/>
              <a:t>URL</a:t>
            </a:r>
            <a:endParaRPr lang="en-US" altLang="zh-CN" dirty="0"/>
          </a:p>
        </p:txBody>
      </p:sp>
      <p:sp>
        <p:nvSpPr>
          <p:cNvPr id="641028" name="Rectangle 4"/>
          <p:cNvSpPr>
            <a:spLocks noGrp="1" noChangeArrowheads="1"/>
          </p:cNvSpPr>
          <p:nvPr>
            <p:ph idx="1"/>
          </p:nvPr>
        </p:nvSpPr>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endParaRPr lang="zh-CN" altLang="en-US" dirty="0"/>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endParaRPr lang="en-US" altLang="zh-CN" dirty="0"/>
          </a:p>
        </p:txBody>
      </p:sp>
      <p:grpSp>
        <p:nvGrpSpPr>
          <p:cNvPr id="641033" name="Group 9"/>
          <p:cNvGrpSpPr/>
          <p:nvPr/>
        </p:nvGrpSpPr>
        <p:grpSpPr bwMode="auto">
          <a:xfrm>
            <a:off x="908046" y="1987698"/>
            <a:ext cx="3828257" cy="1527174"/>
            <a:chOff x="891" y="1664"/>
            <a:chExt cx="2226" cy="962"/>
          </a:xfrm>
        </p:grpSpPr>
        <p:grpSp>
          <p:nvGrpSpPr>
            <p:cNvPr id="122886" name="Group 5"/>
            <p:cNvGrpSpPr/>
            <p:nvPr/>
          </p:nvGrpSpPr>
          <p:grpSpPr bwMode="auto">
            <a:xfrm>
              <a:off x="1156" y="1664"/>
              <a:ext cx="457" cy="681"/>
              <a:chOff x="1156" y="1570"/>
              <a:chExt cx="335" cy="681"/>
            </a:xfrm>
          </p:grpSpPr>
          <p:sp>
            <p:nvSpPr>
              <p:cNvPr id="122888"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2889"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887" name="Text Box 8"/>
            <p:cNvSpPr txBox="1">
              <a:spLocks noChangeArrowheads="1"/>
            </p:cNvSpPr>
            <p:nvPr/>
          </p:nvSpPr>
          <p:spPr bwMode="auto">
            <a:xfrm>
              <a:off x="891" y="2296"/>
              <a:ext cx="22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这表示使用 </a:t>
              </a:r>
              <a:r>
                <a:rPr lang="en-US" altLang="zh-CN" sz="2800" b="1" dirty="0">
                  <a:solidFill>
                    <a:srgbClr val="000099"/>
                  </a:solidFill>
                  <a:latin typeface="Arial" panose="020B0604020202020204" pitchFamily="34" charset="0"/>
                  <a:ea typeface="黑体" panose="02010609060101010101" pitchFamily="2" charset="-122"/>
                </a:rPr>
                <a:t>HTTP </a:t>
              </a:r>
              <a:r>
                <a:rPr lang="zh-CN" altLang="en-US" sz="2800" b="1" dirty="0">
                  <a:solidFill>
                    <a:srgbClr val="000099"/>
                  </a:solidFill>
                  <a:latin typeface="Arial" panose="020B0604020202020204" pitchFamily="34" charset="0"/>
                  <a:ea typeface="黑体" panose="02010609060101010101" pitchFamily="2" charset="-122"/>
                </a:rPr>
                <a:t>协议</a:t>
              </a:r>
              <a:endParaRPr lang="zh-CN" altLang="en-US" sz="2800" b="1" dirty="0">
                <a:solidFill>
                  <a:srgbClr val="000099"/>
                </a:solidFill>
                <a:latin typeface="Arial" panose="020B0604020202020204" pitchFamily="34" charset="0"/>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1129904" y="1844824"/>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2051" name="Rectangle 3"/>
          <p:cNvSpPr>
            <a:spLocks noGrp="1" noChangeArrowheads="1"/>
          </p:cNvSpPr>
          <p:nvPr>
            <p:ph type="title"/>
          </p:nvPr>
        </p:nvSpPr>
        <p:spPr>
          <a:xfrm>
            <a:off x="497021" y="188913"/>
            <a:ext cx="9065021" cy="792162"/>
          </a:xfrm>
        </p:spPr>
        <p:txBody>
          <a:bodyPr/>
          <a:lstStyle/>
          <a:p>
            <a:pPr eaLnBrk="1" hangingPunct="1">
              <a:defRPr/>
            </a:pPr>
            <a:r>
              <a:rPr lang="en-US" dirty="0" smtClean="0"/>
              <a:t>2. </a:t>
            </a:r>
            <a:r>
              <a:rPr dirty="0" smtClean="0"/>
              <a:t>使用 </a:t>
            </a:r>
            <a:r>
              <a:rPr lang="en-US" altLang="zh-CN" dirty="0"/>
              <a:t>HTTP </a:t>
            </a:r>
            <a:r>
              <a:rPr dirty="0"/>
              <a:t>的 </a:t>
            </a:r>
            <a:r>
              <a:rPr lang="en-US" altLang="zh-CN" dirty="0"/>
              <a:t>URL</a:t>
            </a:r>
            <a:endParaRPr lang="en-US" altLang="zh-CN" dirty="0"/>
          </a:p>
        </p:txBody>
      </p:sp>
      <p:sp>
        <p:nvSpPr>
          <p:cNvPr id="642052"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endParaRPr lang="zh-CN" altLang="en-US" dirty="0"/>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endParaRPr lang="en-US" altLang="zh-CN" dirty="0"/>
          </a:p>
        </p:txBody>
      </p:sp>
      <p:grpSp>
        <p:nvGrpSpPr>
          <p:cNvPr id="124933" name="Group 6"/>
          <p:cNvGrpSpPr/>
          <p:nvPr/>
        </p:nvGrpSpPr>
        <p:grpSpPr bwMode="auto">
          <a:xfrm>
            <a:off x="2139421" y="1998811"/>
            <a:ext cx="404152" cy="1081088"/>
            <a:chOff x="1156" y="1570"/>
            <a:chExt cx="335" cy="681"/>
          </a:xfrm>
        </p:grpSpPr>
        <p:sp>
          <p:nvSpPr>
            <p:cNvPr id="124935" name="Rectangle 7"/>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4936" name="Line 8"/>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4934" name="Text Box 9"/>
          <p:cNvSpPr txBox="1">
            <a:spLocks noChangeArrowheads="1"/>
          </p:cNvSpPr>
          <p:nvPr/>
        </p:nvSpPr>
        <p:spPr bwMode="auto">
          <a:xfrm>
            <a:off x="1108502" y="2981474"/>
            <a:ext cx="48526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ea typeface="黑体" panose="02010609060101010101" pitchFamily="2" charset="-122"/>
              </a:rPr>
              <a:t>冒号和两个斜线是规定的格式</a:t>
            </a:r>
            <a:endParaRPr lang="zh-CN" altLang="en-US" sz="2800" b="1" dirty="0">
              <a:solidFill>
                <a:srgbClr val="000099"/>
              </a:solidFill>
              <a:ea typeface="黑体" panose="0201060906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1052513" y="1844824"/>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3075" name="Rectangle 3"/>
          <p:cNvSpPr>
            <a:spLocks noGrp="1" noChangeArrowheads="1"/>
          </p:cNvSpPr>
          <p:nvPr>
            <p:ph type="title"/>
          </p:nvPr>
        </p:nvSpPr>
        <p:spPr>
          <a:xfrm>
            <a:off x="497021" y="188913"/>
            <a:ext cx="9065021" cy="792162"/>
          </a:xfrm>
        </p:spPr>
        <p:txBody>
          <a:bodyPr/>
          <a:lstStyle/>
          <a:p>
            <a:pPr eaLnBrk="1" hangingPunct="1">
              <a:defRPr/>
            </a:pPr>
            <a:r>
              <a:rPr lang="en-US" dirty="0" smtClean="0"/>
              <a:t>2. </a:t>
            </a:r>
            <a:r>
              <a:rPr dirty="0" smtClean="0"/>
              <a:t>使用 </a:t>
            </a:r>
            <a:r>
              <a:rPr lang="en-US" altLang="zh-CN" dirty="0"/>
              <a:t>HTTP </a:t>
            </a:r>
            <a:r>
              <a:rPr dirty="0"/>
              <a:t>的 </a:t>
            </a:r>
            <a:r>
              <a:rPr lang="en-US" altLang="zh-CN" dirty="0"/>
              <a:t>URL</a:t>
            </a:r>
            <a:endParaRPr lang="en-US" altLang="zh-CN" dirty="0"/>
          </a:p>
        </p:txBody>
      </p:sp>
      <p:sp>
        <p:nvSpPr>
          <p:cNvPr id="643076"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endParaRPr lang="zh-CN" altLang="en-US" dirty="0"/>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endParaRPr lang="en-US" altLang="zh-CN" dirty="0"/>
          </a:p>
        </p:txBody>
      </p:sp>
      <p:grpSp>
        <p:nvGrpSpPr>
          <p:cNvPr id="126981" name="Group 5"/>
          <p:cNvGrpSpPr/>
          <p:nvPr/>
        </p:nvGrpSpPr>
        <p:grpSpPr bwMode="auto">
          <a:xfrm>
            <a:off x="2447265" y="1998811"/>
            <a:ext cx="1262327" cy="1081088"/>
            <a:chOff x="1156" y="1570"/>
            <a:chExt cx="335" cy="681"/>
          </a:xfrm>
        </p:grpSpPr>
        <p:sp>
          <p:nvSpPr>
            <p:cNvPr id="126983"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6984"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6982" name="Text Box 8"/>
          <p:cNvSpPr txBox="1">
            <a:spLocks noChangeArrowheads="1"/>
          </p:cNvSpPr>
          <p:nvPr/>
        </p:nvSpPr>
        <p:spPr bwMode="auto">
          <a:xfrm>
            <a:off x="1520296" y="3049796"/>
            <a:ext cx="30572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ea typeface="黑体" panose="02010609060101010101" pitchFamily="2" charset="-122"/>
              </a:rPr>
              <a:t>这里写主机的域名</a:t>
            </a:r>
            <a:endParaRPr lang="zh-CN" altLang="en-US" sz="2800" b="1" dirty="0">
              <a:solidFill>
                <a:srgbClr val="000099"/>
              </a:solidFill>
              <a:ea typeface="黑体" panose="02010609060101010101" pitchFamily="2"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1154765" y="1916435"/>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4099" name="Rectangle 3"/>
          <p:cNvSpPr>
            <a:spLocks noGrp="1" noChangeArrowheads="1"/>
          </p:cNvSpPr>
          <p:nvPr>
            <p:ph type="title"/>
          </p:nvPr>
        </p:nvSpPr>
        <p:spPr>
          <a:xfrm>
            <a:off x="497021" y="188913"/>
            <a:ext cx="9065021" cy="792162"/>
          </a:xfrm>
        </p:spPr>
        <p:txBody>
          <a:bodyPr/>
          <a:lstStyle/>
          <a:p>
            <a:pPr eaLnBrk="1" hangingPunct="1">
              <a:defRPr/>
            </a:pPr>
            <a:r>
              <a:rPr lang="en-US" dirty="0" smtClean="0"/>
              <a:t>2. </a:t>
            </a:r>
            <a:r>
              <a:rPr dirty="0" smtClean="0"/>
              <a:t>使用 </a:t>
            </a:r>
            <a:r>
              <a:rPr lang="en-US" altLang="zh-CN" dirty="0"/>
              <a:t>HTTP </a:t>
            </a:r>
            <a:r>
              <a:rPr dirty="0"/>
              <a:t>的 </a:t>
            </a:r>
            <a:r>
              <a:rPr lang="en-US" altLang="zh-CN" dirty="0"/>
              <a:t>URL</a:t>
            </a:r>
            <a:endParaRPr lang="en-US" altLang="zh-CN" dirty="0"/>
          </a:p>
        </p:txBody>
      </p:sp>
      <p:sp>
        <p:nvSpPr>
          <p:cNvPr id="644100"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endParaRPr lang="zh-CN" altLang="en-US" dirty="0"/>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endParaRPr lang="en-US" altLang="zh-CN" dirty="0"/>
          </a:p>
        </p:txBody>
      </p:sp>
      <p:grpSp>
        <p:nvGrpSpPr>
          <p:cNvPr id="129029" name="Group 5"/>
          <p:cNvGrpSpPr/>
          <p:nvPr/>
        </p:nvGrpSpPr>
        <p:grpSpPr bwMode="auto">
          <a:xfrm>
            <a:off x="3792925" y="1987872"/>
            <a:ext cx="1394752" cy="1081088"/>
            <a:chOff x="1156" y="1570"/>
            <a:chExt cx="335" cy="681"/>
          </a:xfrm>
        </p:grpSpPr>
        <p:sp>
          <p:nvSpPr>
            <p:cNvPr id="129031"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9032"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9030" name="Text Box 8"/>
          <p:cNvSpPr txBox="1">
            <a:spLocks noChangeArrowheads="1"/>
          </p:cNvSpPr>
          <p:nvPr/>
        </p:nvSpPr>
        <p:spPr bwMode="auto">
          <a:xfrm>
            <a:off x="1363795" y="2977788"/>
            <a:ext cx="649248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99"/>
                </a:solidFill>
                <a:ea typeface="黑体" panose="02010609060101010101" pitchFamily="2" charset="-122"/>
              </a:rPr>
              <a:t>HTTP </a:t>
            </a:r>
            <a:r>
              <a:rPr lang="zh-CN" altLang="en-US" sz="2800" b="1" dirty="0">
                <a:solidFill>
                  <a:srgbClr val="000099"/>
                </a:solidFill>
                <a:ea typeface="黑体" panose="02010609060101010101" pitchFamily="2" charset="-122"/>
              </a:rPr>
              <a:t>的默认端口号是 </a:t>
            </a:r>
            <a:r>
              <a:rPr lang="en-US" altLang="zh-CN" sz="2800" b="1" dirty="0">
                <a:solidFill>
                  <a:srgbClr val="000099"/>
                </a:solidFill>
                <a:ea typeface="黑体" panose="02010609060101010101" pitchFamily="2" charset="-122"/>
              </a:rPr>
              <a:t>80</a:t>
            </a:r>
            <a:r>
              <a:rPr lang="zh-CN" altLang="en-US" sz="2800" b="1" dirty="0">
                <a:solidFill>
                  <a:srgbClr val="000099"/>
                </a:solidFill>
                <a:ea typeface="黑体" panose="02010609060101010101" pitchFamily="2" charset="-122"/>
              </a:rPr>
              <a:t>，通常可省略</a:t>
            </a:r>
            <a:endParaRPr lang="zh-CN" altLang="en-US" sz="2800" b="1" dirty="0">
              <a:solidFill>
                <a:srgbClr val="000099"/>
              </a:solidFill>
              <a:ea typeface="黑体" panose="02010609060101010101" pitchFamily="2"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1136576" y="1841822"/>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5123" name="Rectangle 3"/>
          <p:cNvSpPr>
            <a:spLocks noGrp="1" noChangeArrowheads="1"/>
          </p:cNvSpPr>
          <p:nvPr>
            <p:ph type="title"/>
          </p:nvPr>
        </p:nvSpPr>
        <p:spPr>
          <a:xfrm>
            <a:off x="497021" y="188913"/>
            <a:ext cx="9065021" cy="792162"/>
          </a:xfrm>
        </p:spPr>
        <p:txBody>
          <a:bodyPr/>
          <a:lstStyle/>
          <a:p>
            <a:pPr eaLnBrk="1" hangingPunct="1">
              <a:defRPr/>
            </a:pPr>
            <a:r>
              <a:rPr lang="en-US" dirty="0" smtClean="0"/>
              <a:t>2. </a:t>
            </a:r>
            <a:r>
              <a:rPr dirty="0" smtClean="0"/>
              <a:t>使用 </a:t>
            </a:r>
            <a:r>
              <a:rPr lang="en-US" altLang="zh-CN" dirty="0"/>
              <a:t>HTTP </a:t>
            </a:r>
            <a:r>
              <a:rPr dirty="0"/>
              <a:t>的 </a:t>
            </a:r>
            <a:r>
              <a:rPr lang="en-US" altLang="zh-CN" dirty="0"/>
              <a:t>URL</a:t>
            </a:r>
            <a:endParaRPr lang="en-US" altLang="zh-CN" dirty="0"/>
          </a:p>
        </p:txBody>
      </p:sp>
      <p:sp>
        <p:nvSpPr>
          <p:cNvPr id="645124"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endParaRPr lang="zh-CN" altLang="en-US" dirty="0"/>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endParaRPr lang="en-US" altLang="zh-CN" dirty="0"/>
          </a:p>
        </p:txBody>
      </p:sp>
      <p:grpSp>
        <p:nvGrpSpPr>
          <p:cNvPr id="131077" name="Group 5"/>
          <p:cNvGrpSpPr/>
          <p:nvPr/>
        </p:nvGrpSpPr>
        <p:grpSpPr bwMode="auto">
          <a:xfrm>
            <a:off x="5202162" y="1987873"/>
            <a:ext cx="1471353" cy="1081087"/>
            <a:chOff x="1156" y="1570"/>
            <a:chExt cx="335" cy="681"/>
          </a:xfrm>
        </p:grpSpPr>
        <p:sp>
          <p:nvSpPr>
            <p:cNvPr id="131079"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31080"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1078" name="Text Box 8"/>
          <p:cNvSpPr txBox="1">
            <a:spLocks noChangeArrowheads="1"/>
          </p:cNvSpPr>
          <p:nvPr/>
        </p:nvSpPr>
        <p:spPr bwMode="auto">
          <a:xfrm>
            <a:off x="1286404" y="2914650"/>
            <a:ext cx="741058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若再省略文件的</a:t>
            </a:r>
            <a:r>
              <a:rPr lang="en-US" altLang="zh-CN" sz="2800" b="1" dirty="0">
                <a:solidFill>
                  <a:srgbClr val="000099"/>
                </a:solidFill>
                <a:latin typeface="Arial" panose="020B0604020202020204" pitchFamily="34" charset="0"/>
                <a:ea typeface="黑体" panose="02010609060101010101" pitchFamily="2" charset="-122"/>
              </a:rPr>
              <a:t>&lt;</a:t>
            </a:r>
            <a:r>
              <a:rPr lang="zh-CN" altLang="en-US" sz="2800" b="1" dirty="0">
                <a:solidFill>
                  <a:srgbClr val="000099"/>
                </a:solidFill>
                <a:latin typeface="Arial" panose="020B0604020202020204" pitchFamily="34" charset="0"/>
                <a:ea typeface="黑体" panose="02010609060101010101" pitchFamily="2" charset="-122"/>
              </a:rPr>
              <a:t>路径</a:t>
            </a:r>
            <a:r>
              <a:rPr lang="en-US" altLang="zh-CN" sz="2800" b="1" dirty="0">
                <a:solidFill>
                  <a:srgbClr val="000099"/>
                </a:solidFill>
                <a:latin typeface="Arial" panose="020B0604020202020204" pitchFamily="34" charset="0"/>
                <a:ea typeface="黑体" panose="02010609060101010101" pitchFamily="2" charset="-122"/>
              </a:rPr>
              <a:t>&gt;</a:t>
            </a:r>
            <a:r>
              <a:rPr lang="zh-CN" altLang="en-US" sz="2800" b="1" dirty="0">
                <a:solidFill>
                  <a:srgbClr val="000099"/>
                </a:solidFill>
                <a:latin typeface="Arial" panose="020B0604020202020204" pitchFamily="34" charset="0"/>
                <a:ea typeface="黑体" panose="02010609060101010101" pitchFamily="2" charset="-122"/>
              </a:rPr>
              <a:t>项，则 </a:t>
            </a:r>
            <a:r>
              <a:rPr lang="en-US" altLang="zh-CN" sz="2800" b="1" dirty="0">
                <a:solidFill>
                  <a:srgbClr val="000099"/>
                </a:solidFill>
                <a:latin typeface="Arial" panose="020B0604020202020204" pitchFamily="34" charset="0"/>
                <a:ea typeface="黑体" panose="02010609060101010101" pitchFamily="2" charset="-122"/>
              </a:rPr>
              <a:t>URL </a:t>
            </a:r>
            <a:r>
              <a:rPr lang="zh-CN" altLang="en-US" sz="2800" b="1" dirty="0">
                <a:solidFill>
                  <a:srgbClr val="000099"/>
                </a:solidFill>
                <a:latin typeface="Arial" panose="020B0604020202020204" pitchFamily="34" charset="0"/>
                <a:ea typeface="黑体" panose="02010609060101010101" pitchFamily="2" charset="-122"/>
              </a:rPr>
              <a:t>就指到互联网上的某个</a:t>
            </a:r>
            <a:r>
              <a:rPr lang="zh-CN" altLang="en-US" sz="2800" b="1" dirty="0" smtClean="0">
                <a:solidFill>
                  <a:srgbClr val="000099"/>
                </a:solidFill>
                <a:latin typeface="Arial" panose="020B0604020202020204" pitchFamily="34" charset="0"/>
                <a:ea typeface="黑体" panose="02010609060101010101" pitchFamily="2" charset="-122"/>
              </a:rPr>
              <a:t>主页 </a:t>
            </a:r>
            <a:r>
              <a:rPr lang="en-US" altLang="zh-CN" sz="2800" b="1" dirty="0" smtClean="0">
                <a:solidFill>
                  <a:srgbClr val="000099"/>
                </a:solidFill>
                <a:latin typeface="Arial" panose="020B0604020202020204" pitchFamily="34" charset="0"/>
                <a:ea typeface="黑体" panose="02010609060101010101" pitchFamily="2" charset="-122"/>
              </a:rPr>
              <a:t>(</a:t>
            </a:r>
            <a:r>
              <a:rPr lang="en-US" altLang="zh-CN" sz="2800" b="1" dirty="0">
                <a:solidFill>
                  <a:srgbClr val="000099"/>
                </a:solidFill>
                <a:latin typeface="Arial" panose="020B0604020202020204" pitchFamily="34" charset="0"/>
                <a:ea typeface="黑体" panose="02010609060101010101" pitchFamily="2" charset="-122"/>
              </a:rPr>
              <a:t>home page)</a:t>
            </a:r>
            <a:r>
              <a:rPr lang="zh-CN" altLang="en-US" sz="2800" b="1" dirty="0">
                <a:solidFill>
                  <a:srgbClr val="000099"/>
                </a:solidFill>
                <a:latin typeface="Arial" panose="020B0604020202020204" pitchFamily="34" charset="0"/>
                <a:ea typeface="黑体" panose="02010609060101010101" pitchFamily="2" charset="-122"/>
              </a:rPr>
              <a:t>。 </a:t>
            </a:r>
            <a:endParaRPr lang="zh-CN" altLang="en-US" sz="2800" b="1" dirty="0">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6.4.3  </a:t>
            </a:r>
            <a:r>
              <a:rPr lang="zh-CN" altLang="en-US" dirty="0" smtClean="0">
                <a:ea typeface="黑体" panose="02010609060101010101" pitchFamily="2" charset="-122"/>
              </a:rPr>
              <a:t>超文本传送协议 </a:t>
            </a:r>
            <a:r>
              <a:rPr lang="en-US" altLang="zh-CN" dirty="0" smtClean="0">
                <a:ea typeface="黑体" panose="02010609060101010101" pitchFamily="2" charset="-122"/>
              </a:rPr>
              <a:t>HTTP</a:t>
            </a:r>
            <a:r>
              <a:rPr lang="zh-CN" altLang="en-US" dirty="0" smtClean="0">
                <a:ea typeface="黑体" panose="02010609060101010101" pitchFamily="2" charset="-122"/>
              </a:rPr>
              <a:t> </a:t>
            </a:r>
            <a:endParaRPr lang="zh-CN" altLang="en-US" dirty="0" smtClean="0">
              <a:ea typeface="黑体" panose="02010609060101010101" pitchFamily="2" charset="-122"/>
            </a:endParaRPr>
          </a:p>
        </p:txBody>
      </p:sp>
      <p:sp>
        <p:nvSpPr>
          <p:cNvPr id="551939" name="Rectangle 3"/>
          <p:cNvSpPr>
            <a:spLocks noGrp="1" noChangeArrowheads="1"/>
          </p:cNvSpPr>
          <p:nvPr>
            <p:ph idx="1"/>
          </p:nvPr>
        </p:nvSpPr>
        <p:spPr/>
        <p:txBody>
          <a:bodyPr/>
          <a:lstStyle/>
          <a:p>
            <a:pPr marL="0" indent="0" algn="just">
              <a:buNone/>
            </a:pPr>
            <a:r>
              <a:rPr lang="en-US" altLang="zh-CN" sz="4000" dirty="0">
                <a:solidFill>
                  <a:srgbClr val="333399"/>
                </a:solidFill>
                <a:latin typeface="+mj-lt"/>
                <a:ea typeface="黑体" panose="02010609060101010101" pitchFamily="2" charset="-122"/>
                <a:cs typeface="+mj-cs"/>
              </a:rPr>
              <a:t>1.  HTTP </a:t>
            </a:r>
            <a:r>
              <a:rPr lang="zh-CN" altLang="en-US" sz="4000" dirty="0">
                <a:solidFill>
                  <a:srgbClr val="333399"/>
                </a:solidFill>
                <a:latin typeface="+mj-lt"/>
                <a:ea typeface="黑体" panose="02010609060101010101" pitchFamily="2" charset="-122"/>
                <a:cs typeface="+mj-cs"/>
              </a:rPr>
              <a:t>的操作过程</a:t>
            </a:r>
            <a:endParaRPr lang="en-US" altLang="zh-CN" sz="4000" dirty="0">
              <a:solidFill>
                <a:srgbClr val="333399"/>
              </a:solidFill>
              <a:latin typeface="+mj-lt"/>
              <a:ea typeface="黑体" panose="02010609060101010101" pitchFamily="2" charset="-122"/>
              <a:cs typeface="+mj-cs"/>
            </a:endParaRPr>
          </a:p>
          <a:p>
            <a:pPr algn="just" eaLnBrk="1" hangingPunct="1"/>
            <a:r>
              <a:rPr lang="zh-CN" altLang="en-US" dirty="0" smtClean="0">
                <a:ea typeface="黑体" panose="02010609060101010101" pitchFamily="2" charset="-122"/>
              </a:rPr>
              <a:t>为了使超文本的链接能够高效率地完成，需要用 </a:t>
            </a:r>
            <a:r>
              <a:rPr lang="en-US" altLang="zh-CN" dirty="0" smtClean="0">
                <a:ea typeface="黑体" panose="02010609060101010101" pitchFamily="2" charset="-122"/>
              </a:rPr>
              <a:t>HTTP </a:t>
            </a:r>
            <a:r>
              <a:rPr lang="zh-CN" altLang="en-US" dirty="0" smtClean="0">
                <a:ea typeface="黑体" panose="02010609060101010101" pitchFamily="2" charset="-122"/>
              </a:rPr>
              <a:t>协议来传送一切必须的信息。</a:t>
            </a:r>
            <a:endParaRPr lang="zh-CN" altLang="en-US" dirty="0" smtClean="0">
              <a:ea typeface="黑体" panose="02010609060101010101" pitchFamily="2" charset="-122"/>
            </a:endParaRPr>
          </a:p>
          <a:p>
            <a:pPr algn="just" eaLnBrk="1" hangingPunct="1"/>
            <a:r>
              <a:rPr lang="zh-CN" altLang="en-US" dirty="0" smtClean="0">
                <a:ea typeface="黑体" panose="02010609060101010101" pitchFamily="2" charset="-122"/>
              </a:rPr>
              <a:t>从层次的角度看，</a:t>
            </a:r>
            <a:r>
              <a:rPr lang="en-US" altLang="zh-CN" dirty="0" smtClean="0">
                <a:ea typeface="黑体" panose="02010609060101010101" pitchFamily="2" charset="-122"/>
              </a:rPr>
              <a:t>HTTP </a:t>
            </a:r>
            <a:r>
              <a:rPr lang="zh-CN" altLang="en-US" dirty="0" smtClean="0">
                <a:ea typeface="黑体" panose="02010609060101010101" pitchFamily="2" charset="-122"/>
              </a:rPr>
              <a:t>是</a:t>
            </a:r>
            <a:r>
              <a:rPr lang="zh-CN" altLang="en-US" dirty="0" smtClean="0">
                <a:solidFill>
                  <a:srgbClr val="FF0000"/>
                </a:solidFill>
                <a:ea typeface="黑体" panose="02010609060101010101" pitchFamily="2" charset="-122"/>
              </a:rPr>
              <a:t>面向事务的</a:t>
            </a:r>
            <a:r>
              <a:rPr lang="en-US" altLang="zh-CN" dirty="0" smtClean="0">
                <a:ea typeface="黑体" panose="02010609060101010101" pitchFamily="2" charset="-122"/>
              </a:rPr>
              <a:t>(transaction-oriented)</a:t>
            </a:r>
            <a:r>
              <a:rPr lang="zh-CN" altLang="en-US" dirty="0" smtClean="0">
                <a:ea typeface="黑体" panose="02010609060101010101" pitchFamily="2" charset="-122"/>
              </a:rPr>
              <a:t>应用层协议，它是万维网上能够可靠地交换文件（包括文本、声音、图像等各种多媒体文件）的重要基础。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19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488504" y="44624"/>
            <a:ext cx="8442457" cy="695325"/>
          </a:xfrm>
        </p:spPr>
        <p:txBody>
          <a:bodyPr/>
          <a:lstStyle/>
          <a:p>
            <a:pPr algn="ctr" eaLnBrk="1" hangingPunct="1">
              <a:lnSpc>
                <a:spcPct val="80000"/>
              </a:lnSpc>
            </a:pPr>
            <a:r>
              <a:rPr lang="zh-CN" altLang="en-US" dirty="0" smtClean="0">
                <a:ea typeface="黑体" panose="02010609060101010101" pitchFamily="2" charset="-122"/>
              </a:rPr>
              <a:t>万维网的工作过程 </a:t>
            </a:r>
            <a:endParaRPr lang="zh-CN" altLang="en-US" dirty="0" smtClean="0">
              <a:ea typeface="黑体" panose="02010609060101010101" pitchFamily="2" charset="-122"/>
            </a:endParaRPr>
          </a:p>
        </p:txBody>
      </p:sp>
      <p:graphicFrame>
        <p:nvGraphicFramePr>
          <p:cNvPr id="135171" name="Object 66"/>
          <p:cNvGraphicFramePr>
            <a:graphicFrameLocks noChangeAspect="1"/>
          </p:cNvGraphicFramePr>
          <p:nvPr/>
        </p:nvGraphicFramePr>
        <p:xfrm>
          <a:off x="2734470" y="2608264"/>
          <a:ext cx="4165335" cy="1692275"/>
        </p:xfrm>
        <a:graphic>
          <a:graphicData uri="http://schemas.openxmlformats.org/presentationml/2006/ole">
            <mc:AlternateContent xmlns:mc="http://schemas.openxmlformats.org/markup-compatibility/2006">
              <mc:Choice xmlns:v="urn:schemas-microsoft-com:vml" Requires="v">
                <p:oleObj spid="_x0000_s18457" name="VISIO" r:id="rId1" imgW="1687195" imgH="964565" progId="Visio.Drawing.6">
                  <p:embed/>
                </p:oleObj>
              </mc:Choice>
              <mc:Fallback>
                <p:oleObj name="VISIO" r:id="rId1" imgW="1687195" imgH="964565" progId="Visio.Drawing.6">
                  <p:embed/>
                  <p:pic>
                    <p:nvPicPr>
                      <p:cNvPr id="0" name="图片 184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4470" y="2608264"/>
                        <a:ext cx="4165335" cy="169227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35172" name="Picture 6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1073" y="1122364"/>
            <a:ext cx="1804061" cy="241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73" name="Freeform 68"/>
          <p:cNvSpPr/>
          <p:nvPr/>
        </p:nvSpPr>
        <p:spPr bwMode="auto">
          <a:xfrm>
            <a:off x="3915966" y="2935288"/>
            <a:ext cx="486701" cy="266700"/>
          </a:xfrm>
          <a:custGeom>
            <a:avLst/>
            <a:gdLst>
              <a:gd name="T0" fmla="*/ 2147483646 w 117"/>
              <a:gd name="T1" fmla="*/ 2147483646 h 118"/>
              <a:gd name="T2" fmla="*/ 0 w 117"/>
              <a:gd name="T3" fmla="*/ 2147483646 h 118"/>
              <a:gd name="T4" fmla="*/ 0 w 117"/>
              <a:gd name="T5" fmla="*/ 2147483646 h 118"/>
              <a:gd name="T6" fmla="*/ 2147483646 w 117"/>
              <a:gd name="T7" fmla="*/ 2147483646 h 118"/>
              <a:gd name="T8" fmla="*/ 2147483646 w 117"/>
              <a:gd name="T9" fmla="*/ 2147483646 h 118"/>
              <a:gd name="T10" fmla="*/ 2147483646 w 117"/>
              <a:gd name="T11" fmla="*/ 0 h 118"/>
              <a:gd name="T12" fmla="*/ 2147483646 w 117"/>
              <a:gd name="T13" fmla="*/ 0 h 118"/>
              <a:gd name="T14" fmla="*/ 2147483646 w 117"/>
              <a:gd name="T15" fmla="*/ 0 h 118"/>
              <a:gd name="T16" fmla="*/ 2147483646 w 117"/>
              <a:gd name="T17" fmla="*/ 2147483646 h 118"/>
              <a:gd name="T18" fmla="*/ 2147483646 w 117"/>
              <a:gd name="T19" fmla="*/ 2147483646 h 118"/>
              <a:gd name="T20" fmla="*/ 2147483646 w 117"/>
              <a:gd name="T21" fmla="*/ 2147483646 h 118"/>
              <a:gd name="T22" fmla="*/ 2147483646 w 117"/>
              <a:gd name="T23" fmla="*/ 2147483646 h 118"/>
              <a:gd name="T24" fmla="*/ 2147483646 w 117"/>
              <a:gd name="T25" fmla="*/ 2147483646 h 118"/>
              <a:gd name="T26" fmla="*/ 2147483646 w 117"/>
              <a:gd name="T27" fmla="*/ 2147483646 h 118"/>
              <a:gd name="T28" fmla="*/ 2147483646 w 117"/>
              <a:gd name="T29" fmla="*/ 2147483646 h 118"/>
              <a:gd name="T30" fmla="*/ 2147483646 w 117"/>
              <a:gd name="T31" fmla="*/ 2147483646 h 118"/>
              <a:gd name="T32" fmla="*/ 2147483646 w 117"/>
              <a:gd name="T33" fmla="*/ 2147483646 h 118"/>
              <a:gd name="T34" fmla="*/ 2147483646 w 117"/>
              <a:gd name="T35" fmla="*/ 2147483646 h 118"/>
              <a:gd name="T36" fmla="*/ 2147483646 w 117"/>
              <a:gd name="T37" fmla="*/ 2147483646 h 118"/>
              <a:gd name="T38" fmla="*/ 2147483646 w 117"/>
              <a:gd name="T39" fmla="*/ 2147483646 h 118"/>
              <a:gd name="T40" fmla="*/ 2147483646 w 117"/>
              <a:gd name="T41" fmla="*/ 2147483646 h 118"/>
              <a:gd name="T42" fmla="*/ 2147483646 w 117"/>
              <a:gd name="T43" fmla="*/ 2147483646 h 118"/>
              <a:gd name="T44" fmla="*/ 2147483646 w 117"/>
              <a:gd name="T45" fmla="*/ 2147483646 h 118"/>
              <a:gd name="T46" fmla="*/ 2147483646 w 117"/>
              <a:gd name="T47" fmla="*/ 214748364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4" name="Freeform 69"/>
          <p:cNvSpPr/>
          <p:nvPr/>
        </p:nvSpPr>
        <p:spPr bwMode="auto">
          <a:xfrm>
            <a:off x="5061347" y="2865438"/>
            <a:ext cx="342238" cy="196850"/>
          </a:xfrm>
          <a:custGeom>
            <a:avLst/>
            <a:gdLst>
              <a:gd name="T0" fmla="*/ 0 w 82"/>
              <a:gd name="T1" fmla="*/ 0 h 87"/>
              <a:gd name="T2" fmla="*/ 2147483646 w 82"/>
              <a:gd name="T3" fmla="*/ 2147483646 h 87"/>
              <a:gd name="T4" fmla="*/ 2147483646 w 82"/>
              <a:gd name="T5" fmla="*/ 2147483646 h 87"/>
              <a:gd name="T6" fmla="*/ 2147483646 w 82"/>
              <a:gd name="T7" fmla="*/ 2147483646 h 87"/>
              <a:gd name="T8" fmla="*/ 2147483646 w 82"/>
              <a:gd name="T9" fmla="*/ 2147483646 h 87"/>
              <a:gd name="T10" fmla="*/ 2147483646 w 82"/>
              <a:gd name="T11" fmla="*/ 2147483646 h 87"/>
              <a:gd name="T12" fmla="*/ 2147483646 w 82"/>
              <a:gd name="T13" fmla="*/ 2147483646 h 87"/>
              <a:gd name="T14" fmla="*/ 2147483646 w 82"/>
              <a:gd name="T15" fmla="*/ 2147483646 h 87"/>
              <a:gd name="T16" fmla="*/ 2147483646 w 82"/>
              <a:gd name="T17" fmla="*/ 2147483646 h 87"/>
              <a:gd name="T18" fmla="*/ 2147483646 w 82"/>
              <a:gd name="T19" fmla="*/ 2147483646 h 87"/>
              <a:gd name="T20" fmla="*/ 2147483646 w 82"/>
              <a:gd name="T21" fmla="*/ 2147483646 h 87"/>
              <a:gd name="T22" fmla="*/ 2147483646 w 82"/>
              <a:gd name="T23" fmla="*/ 2147483646 h 87"/>
              <a:gd name="T24" fmla="*/ 2147483646 w 82"/>
              <a:gd name="T25" fmla="*/ 2147483646 h 87"/>
              <a:gd name="T26" fmla="*/ 0 w 82"/>
              <a:gd name="T27" fmla="*/ 2147483646 h 87"/>
              <a:gd name="T28" fmla="*/ 0 w 82"/>
              <a:gd name="T29" fmla="*/ 2147483646 h 87"/>
              <a:gd name="T30" fmla="*/ 2147483646 w 82"/>
              <a:gd name="T31" fmla="*/ 214748364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5" name="Freeform 70"/>
          <p:cNvSpPr/>
          <p:nvPr/>
        </p:nvSpPr>
        <p:spPr bwMode="auto">
          <a:xfrm>
            <a:off x="6409664" y="2965450"/>
            <a:ext cx="1100667" cy="744538"/>
          </a:xfrm>
          <a:custGeom>
            <a:avLst/>
            <a:gdLst>
              <a:gd name="T0" fmla="*/ 2147483646 w 567"/>
              <a:gd name="T1" fmla="*/ 0 h 371"/>
              <a:gd name="T2" fmla="*/ 2147483646 w 567"/>
              <a:gd name="T3" fmla="*/ 2147483646 h 371"/>
              <a:gd name="T4" fmla="*/ 2147483646 w 567"/>
              <a:gd name="T5" fmla="*/ 2147483646 h 371"/>
              <a:gd name="T6" fmla="*/ 2147483646 w 567"/>
              <a:gd name="T7" fmla="*/ 2147483646 h 371"/>
              <a:gd name="T8" fmla="*/ 0 w 567"/>
              <a:gd name="T9" fmla="*/ 2147483646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76" name="Freeform 71"/>
          <p:cNvSpPr/>
          <p:nvPr/>
        </p:nvSpPr>
        <p:spPr bwMode="auto">
          <a:xfrm>
            <a:off x="2067189" y="2614614"/>
            <a:ext cx="1135063" cy="1081087"/>
          </a:xfrm>
          <a:custGeom>
            <a:avLst/>
            <a:gdLst>
              <a:gd name="T0" fmla="*/ 2147483646 w 759"/>
              <a:gd name="T1" fmla="*/ 0 h 664"/>
              <a:gd name="T2" fmla="*/ 2147483646 w 759"/>
              <a:gd name="T3" fmla="*/ 2147483646 h 664"/>
              <a:gd name="T4" fmla="*/ 2147483646 w 759"/>
              <a:gd name="T5" fmla="*/ 2147483646 h 664"/>
              <a:gd name="T6" fmla="*/ 2147483646 w 759"/>
              <a:gd name="T7" fmla="*/ 2147483646 h 664"/>
              <a:gd name="T8" fmla="*/ 2147483646 w 759"/>
              <a:gd name="T9" fmla="*/ 2147483646 h 664"/>
              <a:gd name="T10" fmla="*/ 2147483646 w 759"/>
              <a:gd name="T11" fmla="*/ 2147483646 h 664"/>
              <a:gd name="T12" fmla="*/ 2147483646 w 759"/>
              <a:gd name="T13" fmla="*/ 2147483646 h 664"/>
              <a:gd name="T14" fmla="*/ 2147483646 w 759"/>
              <a:gd name="T15" fmla="*/ 2147483646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7" name="Rectangle 72"/>
          <p:cNvSpPr>
            <a:spLocks noChangeArrowheads="1"/>
          </p:cNvSpPr>
          <p:nvPr/>
        </p:nvSpPr>
        <p:spPr bwMode="auto">
          <a:xfrm>
            <a:off x="4332156" y="3548064"/>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panose="020B0604020202020204" pitchFamily="34" charset="0"/>
                <a:ea typeface="黑体" panose="02010609060101010101" pitchFamily="2" charset="-122"/>
              </a:rPr>
              <a:t>互联网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35178" name="Rectangle 73"/>
          <p:cNvSpPr>
            <a:spLocks noChangeArrowheads="1"/>
          </p:cNvSpPr>
          <p:nvPr/>
        </p:nvSpPr>
        <p:spPr bwMode="auto">
          <a:xfrm>
            <a:off x="6221482" y="620713"/>
            <a:ext cx="3329246" cy="680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kumimoji="1" lang="zh-CN" altLang="en-US" sz="2400" b="1">
                <a:solidFill>
                  <a:srgbClr val="000099"/>
                </a:solidFill>
                <a:latin typeface="Arial" panose="020B0604020202020204" pitchFamily="34" charset="0"/>
                <a:ea typeface="黑体" panose="02010609060101010101" pitchFamily="2" charset="-122"/>
              </a:rPr>
              <a:t>服务器</a:t>
            </a:r>
            <a:endParaRPr kumimoji="1" lang="zh-CN" altLang="en-US" sz="2400" b="1">
              <a:solidFill>
                <a:srgbClr val="000099"/>
              </a:solidFill>
              <a:latin typeface="Arial" panose="020B0604020202020204" pitchFamily="34" charset="0"/>
              <a:ea typeface="黑体" panose="02010609060101010101" pitchFamily="2" charset="-122"/>
            </a:endParaRPr>
          </a:p>
          <a:p>
            <a:pPr algn="ctr">
              <a:lnSpc>
                <a:spcPct val="80000"/>
              </a:lnSpc>
            </a:pPr>
            <a:r>
              <a:rPr kumimoji="1" lang="en-US" altLang="zh-CN" sz="2400" b="1">
                <a:solidFill>
                  <a:srgbClr val="000099"/>
                </a:solidFill>
                <a:latin typeface="Arial" panose="020B0604020202020204" pitchFamily="34" charset="0"/>
                <a:ea typeface="黑体" panose="02010609060101010101" pitchFamily="2" charset="-122"/>
              </a:rPr>
              <a:t>www.tsinghua.edu.cn</a:t>
            </a:r>
            <a:endParaRPr kumimoji="1" lang="en-US" altLang="zh-CN" sz="2400" b="1">
              <a:solidFill>
                <a:srgbClr val="000099"/>
              </a:solidFill>
              <a:latin typeface="Arial" panose="020B0604020202020204" pitchFamily="34" charset="0"/>
              <a:ea typeface="黑体" panose="02010609060101010101" pitchFamily="2" charset="-122"/>
            </a:endParaRPr>
          </a:p>
        </p:txBody>
      </p:sp>
      <p:sp>
        <p:nvSpPr>
          <p:cNvPr id="135179" name="Rectangle 74"/>
          <p:cNvSpPr>
            <a:spLocks noChangeArrowheads="1"/>
          </p:cNvSpPr>
          <p:nvPr/>
        </p:nvSpPr>
        <p:spPr bwMode="auto">
          <a:xfrm>
            <a:off x="3393149" y="836614"/>
            <a:ext cx="264655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zh-CN" sz="2400" b="1">
                <a:solidFill>
                  <a:srgbClr val="000099"/>
                </a:solidFill>
                <a:latin typeface="Arial" panose="020B0604020202020204" pitchFamily="34" charset="0"/>
                <a:ea typeface="黑体" panose="02010609060101010101" pitchFamily="2" charset="-122"/>
              </a:rPr>
              <a:t>链接到</a:t>
            </a:r>
            <a:r>
              <a:rPr kumimoji="1" lang="en-US" altLang="zh-CN" sz="2400" b="1">
                <a:solidFill>
                  <a:srgbClr val="000099"/>
                </a:solidFill>
                <a:latin typeface="Arial" panose="020B0604020202020204" pitchFamily="34" charset="0"/>
                <a:ea typeface="黑体" panose="02010609060101010101" pitchFamily="2" charset="-122"/>
              </a:rPr>
              <a:t>URL</a:t>
            </a:r>
            <a:r>
              <a:rPr kumimoji="1" lang="zh-CN" altLang="en-US" sz="2400" b="1">
                <a:solidFill>
                  <a:srgbClr val="000099"/>
                </a:solidFill>
                <a:latin typeface="Arial" panose="020B0604020202020204" pitchFamily="34" charset="0"/>
                <a:ea typeface="黑体" panose="02010609060101010101" pitchFamily="2" charset="-122"/>
              </a:rPr>
              <a:t>的超链</a:t>
            </a:r>
            <a:endParaRPr kumimoji="1" lang="zh-CN" altLang="en-US" sz="2400" b="1">
              <a:solidFill>
                <a:srgbClr val="000099"/>
              </a:solidFill>
              <a:latin typeface="Arial" panose="020B0604020202020204" pitchFamily="34" charset="0"/>
              <a:ea typeface="黑体" panose="02010609060101010101" pitchFamily="2" charset="-122"/>
            </a:endParaRPr>
          </a:p>
        </p:txBody>
      </p:sp>
      <p:sp>
        <p:nvSpPr>
          <p:cNvPr id="135180" name="Rectangle 75"/>
          <p:cNvSpPr>
            <a:spLocks noChangeArrowheads="1"/>
          </p:cNvSpPr>
          <p:nvPr/>
        </p:nvSpPr>
        <p:spPr bwMode="auto">
          <a:xfrm>
            <a:off x="3329517" y="3021013"/>
            <a:ext cx="2849114" cy="397545"/>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使用此 </a:t>
            </a:r>
            <a:r>
              <a:rPr kumimoji="1" lang="en-US" altLang="zh-CN" sz="2000" b="1">
                <a:solidFill>
                  <a:srgbClr val="000099"/>
                </a:solidFill>
                <a:latin typeface="Arial" panose="020B0604020202020204" pitchFamily="34" charset="0"/>
                <a:ea typeface="黑体" panose="02010609060101010101" pitchFamily="2" charset="-122"/>
              </a:rPr>
              <a:t>TCP </a:t>
            </a:r>
            <a:r>
              <a:rPr kumimoji="1" lang="zh-CN" altLang="en-US" sz="2000" b="1">
                <a:solidFill>
                  <a:srgbClr val="000099"/>
                </a:solidFill>
                <a:latin typeface="Arial" panose="020B0604020202020204" pitchFamily="34" charset="0"/>
                <a:ea typeface="黑体" panose="02010609060101010101" pitchFamily="2" charset="-122"/>
              </a:rPr>
              <a:t>连接</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35181" name="Rectangle 76"/>
          <p:cNvSpPr>
            <a:spLocks noChangeArrowheads="1"/>
          </p:cNvSpPr>
          <p:nvPr/>
        </p:nvSpPr>
        <p:spPr bwMode="auto">
          <a:xfrm>
            <a:off x="2896130" y="1757364"/>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浏览器</a:t>
            </a:r>
            <a:endParaRPr kumimoji="1" lang="zh-CN" altLang="en-US" sz="2000" b="1">
              <a:solidFill>
                <a:srgbClr val="000099"/>
              </a:solidFill>
              <a:latin typeface="Arial" panose="020B0604020202020204" pitchFamily="34" charset="0"/>
              <a:ea typeface="黑体" panose="02010609060101010101" pitchFamily="2" charset="-122"/>
            </a:endParaRPr>
          </a:p>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 程序</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35182" name="Rectangle 77"/>
          <p:cNvSpPr>
            <a:spLocks noChangeArrowheads="1"/>
          </p:cNvSpPr>
          <p:nvPr/>
        </p:nvSpPr>
        <p:spPr bwMode="auto">
          <a:xfrm>
            <a:off x="5472377" y="1757364"/>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 程序</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35183" name="Rectangle 78"/>
          <p:cNvSpPr>
            <a:spLocks noChangeArrowheads="1"/>
          </p:cNvSpPr>
          <p:nvPr/>
        </p:nvSpPr>
        <p:spPr bwMode="auto">
          <a:xfrm>
            <a:off x="4275402" y="2130425"/>
            <a:ext cx="854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panose="020B0604020202020204" pitchFamily="34" charset="0"/>
                <a:ea typeface="黑体" panose="02010609060101010101" pitchFamily="2" charset="-122"/>
              </a:rPr>
              <a:t>HTTP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135184" name="Rectangle 79"/>
          <p:cNvSpPr>
            <a:spLocks noChangeArrowheads="1"/>
          </p:cNvSpPr>
          <p:nvPr/>
        </p:nvSpPr>
        <p:spPr bwMode="auto">
          <a:xfrm>
            <a:off x="1520297" y="1052514"/>
            <a:ext cx="79829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400" b="1">
                <a:solidFill>
                  <a:srgbClr val="000099"/>
                </a:solidFill>
                <a:latin typeface="Arial" panose="020B0604020202020204" pitchFamily="34" charset="0"/>
                <a:ea typeface="黑体" panose="02010609060101010101" pitchFamily="2" charset="-122"/>
              </a:rPr>
              <a:t>客户</a:t>
            </a:r>
            <a:endParaRPr kumimoji="1" lang="zh-CN" altLang="en-US" sz="2400" b="1">
              <a:solidFill>
                <a:srgbClr val="000099"/>
              </a:solidFill>
              <a:latin typeface="Arial" panose="020B0604020202020204" pitchFamily="34" charset="0"/>
              <a:ea typeface="黑体" panose="02010609060101010101" pitchFamily="2" charset="-122"/>
            </a:endParaRPr>
          </a:p>
        </p:txBody>
      </p:sp>
      <p:pic>
        <p:nvPicPr>
          <p:cNvPr id="135185" name="Picture 8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9971" y="1503363"/>
            <a:ext cx="1551252" cy="143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86" name="Freeform 81"/>
          <p:cNvSpPr/>
          <p:nvPr/>
        </p:nvSpPr>
        <p:spPr bwMode="auto">
          <a:xfrm>
            <a:off x="1608006" y="1735138"/>
            <a:ext cx="803142" cy="555625"/>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87" name="Rectangle 82"/>
          <p:cNvSpPr>
            <a:spLocks noChangeArrowheads="1"/>
          </p:cNvSpPr>
          <p:nvPr/>
        </p:nvSpPr>
        <p:spPr bwMode="auto">
          <a:xfrm>
            <a:off x="1530615" y="1628775"/>
            <a:ext cx="90088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1400" b="1">
                <a:solidFill>
                  <a:srgbClr val="000099"/>
                </a:solidFill>
                <a:latin typeface="Arial" panose="020B0604020202020204" pitchFamily="34" charset="0"/>
                <a:ea typeface="黑体" panose="02010609060101010101" pitchFamily="2" charset="-122"/>
              </a:rPr>
              <a:t>清华大学</a:t>
            </a:r>
            <a:endParaRPr kumimoji="1" lang="zh-CN" altLang="en-US" sz="1400" b="1">
              <a:solidFill>
                <a:srgbClr val="000099"/>
              </a:solidFill>
              <a:latin typeface="Arial" panose="020B0604020202020204" pitchFamily="34" charset="0"/>
              <a:ea typeface="黑体" panose="02010609060101010101" pitchFamily="2" charset="-122"/>
            </a:endParaRPr>
          </a:p>
          <a:p>
            <a:r>
              <a:rPr kumimoji="1" lang="zh-CN" altLang="en-US" sz="1400" b="1">
                <a:solidFill>
                  <a:srgbClr val="000099"/>
                </a:solidFill>
                <a:latin typeface="Arial" panose="020B0604020202020204" pitchFamily="34" charset="0"/>
                <a:ea typeface="黑体" panose="02010609060101010101" pitchFamily="2" charset="-122"/>
              </a:rPr>
              <a:t>院系设置</a:t>
            </a:r>
            <a:endParaRPr kumimoji="1" lang="zh-CN" altLang="en-US" sz="1400" b="1">
              <a:solidFill>
                <a:srgbClr val="000099"/>
              </a:solidFill>
              <a:latin typeface="Arial" panose="020B0604020202020204" pitchFamily="34" charset="0"/>
              <a:ea typeface="黑体" panose="02010609060101010101" pitchFamily="2" charset="-122"/>
            </a:endParaRPr>
          </a:p>
        </p:txBody>
      </p:sp>
      <p:sp>
        <p:nvSpPr>
          <p:cNvPr id="135188" name="Line 83"/>
          <p:cNvSpPr>
            <a:spLocks noChangeShapeType="1"/>
          </p:cNvSpPr>
          <p:nvPr/>
        </p:nvSpPr>
        <p:spPr bwMode="auto">
          <a:xfrm>
            <a:off x="1678517" y="2093913"/>
            <a:ext cx="6346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89" name="Oval 84"/>
          <p:cNvSpPr>
            <a:spLocks noChangeArrowheads="1"/>
          </p:cNvSpPr>
          <p:nvPr/>
        </p:nvSpPr>
        <p:spPr bwMode="auto">
          <a:xfrm>
            <a:off x="1976042" y="2432051"/>
            <a:ext cx="643202" cy="25241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190" name="Line 85"/>
          <p:cNvSpPr>
            <a:spLocks noChangeShapeType="1"/>
          </p:cNvSpPr>
          <p:nvPr/>
        </p:nvSpPr>
        <p:spPr bwMode="auto">
          <a:xfrm>
            <a:off x="6299598" y="2262188"/>
            <a:ext cx="552053" cy="254000"/>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1" name="Line 86"/>
          <p:cNvSpPr>
            <a:spLocks noChangeShapeType="1"/>
          </p:cNvSpPr>
          <p:nvPr/>
        </p:nvSpPr>
        <p:spPr bwMode="auto">
          <a:xfrm flipH="1">
            <a:off x="2528094" y="2178050"/>
            <a:ext cx="552054" cy="338138"/>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2" name="Oval 87"/>
          <p:cNvSpPr>
            <a:spLocks noChangeArrowheads="1"/>
          </p:cNvSpPr>
          <p:nvPr/>
        </p:nvSpPr>
        <p:spPr bwMode="auto">
          <a:xfrm>
            <a:off x="6758782" y="2432051"/>
            <a:ext cx="644922" cy="25241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193" name="Freeform 88"/>
          <p:cNvSpPr/>
          <p:nvPr/>
        </p:nvSpPr>
        <p:spPr bwMode="auto">
          <a:xfrm>
            <a:off x="2344076" y="2622550"/>
            <a:ext cx="4691592" cy="820738"/>
          </a:xfrm>
          <a:custGeom>
            <a:avLst/>
            <a:gdLst>
              <a:gd name="T0" fmla="*/ 0 w 2448"/>
              <a:gd name="T1" fmla="*/ 0 h 852"/>
              <a:gd name="T2" fmla="*/ 0 w 2448"/>
              <a:gd name="T3" fmla="*/ 2147483646 h 852"/>
              <a:gd name="T4" fmla="*/ 2147483646 w 2448"/>
              <a:gd name="T5" fmla="*/ 2147483646 h 852"/>
              <a:gd name="T6" fmla="*/ 2147483646 w 2448"/>
              <a:gd name="T7" fmla="*/ 2147483646 h 852"/>
              <a:gd name="T8" fmla="*/ 2147483646 w 2448"/>
              <a:gd name="T9" fmla="*/ 2147483646 h 852"/>
              <a:gd name="T10" fmla="*/ 2147483646 w 2448"/>
              <a:gd name="T11" fmla="*/ 2147483646 h 852"/>
              <a:gd name="T12" fmla="*/ 2147483646 w 2448"/>
              <a:gd name="T13" fmla="*/ 2147483646 h 852"/>
              <a:gd name="T14" fmla="*/ 2147483646 w 2448"/>
              <a:gd name="T15" fmla="*/ 2147483646 h 852"/>
              <a:gd name="T16" fmla="*/ 2147483646 w 2448"/>
              <a:gd name="T17" fmla="*/ 2147483646 h 852"/>
              <a:gd name="T18" fmla="*/ 2147483646 w 2448"/>
              <a:gd name="T19" fmla="*/ 2147483646 h 852"/>
              <a:gd name="T20" fmla="*/ 2147483646 w 2448"/>
              <a:gd name="T21" fmla="*/ 2147483646 h 852"/>
              <a:gd name="T22" fmla="*/ 2147483646 w 2448"/>
              <a:gd name="T23" fmla="*/ 2147483646 h 852"/>
              <a:gd name="T24" fmla="*/ 2147483646 w 2448"/>
              <a:gd name="T25" fmla="*/ 2147483646 h 852"/>
              <a:gd name="T26" fmla="*/ 2147483646 w 2448"/>
              <a:gd name="T27" fmla="*/ 2147483646 h 852"/>
              <a:gd name="T28" fmla="*/ 2147483646 w 2448"/>
              <a:gd name="T29" fmla="*/ 2147483646 h 852"/>
              <a:gd name="T30" fmla="*/ 2147483646 w 2448"/>
              <a:gd name="T31" fmla="*/ 2147483646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4" name="Line 89"/>
          <p:cNvSpPr>
            <a:spLocks noChangeShapeType="1"/>
          </p:cNvSpPr>
          <p:nvPr/>
        </p:nvSpPr>
        <p:spPr bwMode="auto">
          <a:xfrm flipV="1">
            <a:off x="2619244" y="2571750"/>
            <a:ext cx="4232407" cy="0"/>
          </a:xfrm>
          <a:prstGeom prst="line">
            <a:avLst/>
          </a:prstGeom>
          <a:noFill/>
          <a:ln w="76200">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5" name="Line 90"/>
          <p:cNvSpPr>
            <a:spLocks noChangeShapeType="1"/>
          </p:cNvSpPr>
          <p:nvPr/>
        </p:nvSpPr>
        <p:spPr bwMode="auto">
          <a:xfrm rot="16200000" flipH="1">
            <a:off x="7298797" y="2616069"/>
            <a:ext cx="288925" cy="209815"/>
          </a:xfrm>
          <a:prstGeom prst="line">
            <a:avLst/>
          </a:prstGeom>
          <a:noFill/>
          <a:ln w="2857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6" name="Freeform 91"/>
          <p:cNvSpPr/>
          <p:nvPr/>
        </p:nvSpPr>
        <p:spPr bwMode="auto">
          <a:xfrm>
            <a:off x="2027635" y="1250950"/>
            <a:ext cx="5376069" cy="666750"/>
          </a:xfrm>
          <a:custGeom>
            <a:avLst/>
            <a:gdLst>
              <a:gd name="T0" fmla="*/ 0 w 2454"/>
              <a:gd name="T1" fmla="*/ 2147483646 h 332"/>
              <a:gd name="T2" fmla="*/ 2147483646 w 2454"/>
              <a:gd name="T3" fmla="*/ 2147483646 h 332"/>
              <a:gd name="T4" fmla="*/ 2147483646 w 2454"/>
              <a:gd name="T5" fmla="*/ 2147483646 h 332"/>
              <a:gd name="T6" fmla="*/ 2147483646 w 2454"/>
              <a:gd name="T7" fmla="*/ 2147483646 h 332"/>
              <a:gd name="T8" fmla="*/ 2147483646 w 2454"/>
              <a:gd name="T9" fmla="*/ 2147483646 h 332"/>
              <a:gd name="T10" fmla="*/ 2147483646 w 2454"/>
              <a:gd name="T11" fmla="*/ 2147483646 h 332"/>
              <a:gd name="T12" fmla="*/ 2147483646 w 2454"/>
              <a:gd name="T13" fmla="*/ 214748364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53052" name="Line 92"/>
          <p:cNvSpPr>
            <a:spLocks noChangeShapeType="1"/>
          </p:cNvSpPr>
          <p:nvPr/>
        </p:nvSpPr>
        <p:spPr bwMode="auto">
          <a:xfrm>
            <a:off x="1976041" y="3829050"/>
            <a:ext cx="0" cy="29860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53053" name="Line 93"/>
          <p:cNvSpPr>
            <a:spLocks noChangeShapeType="1"/>
          </p:cNvSpPr>
          <p:nvPr/>
        </p:nvSpPr>
        <p:spPr bwMode="auto">
          <a:xfrm>
            <a:off x="7548166" y="3829050"/>
            <a:ext cx="0" cy="29860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553076" name="Group 116"/>
          <p:cNvGrpSpPr/>
          <p:nvPr/>
        </p:nvGrpSpPr>
        <p:grpSpPr bwMode="auto">
          <a:xfrm>
            <a:off x="1976041" y="4292601"/>
            <a:ext cx="5572125" cy="400050"/>
            <a:chOff x="1149" y="2704"/>
            <a:chExt cx="3240" cy="252"/>
          </a:xfrm>
        </p:grpSpPr>
        <p:sp>
          <p:nvSpPr>
            <p:cNvPr id="135222" name="Line 103"/>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23" name="Text Box 104"/>
            <p:cNvSpPr txBox="1">
              <a:spLocks noChangeArrowheads="1"/>
            </p:cNvSpPr>
            <p:nvPr/>
          </p:nvSpPr>
          <p:spPr bwMode="auto">
            <a:xfrm>
              <a:off x="2176" y="270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建立 </a:t>
              </a:r>
              <a:r>
                <a:rPr kumimoji="1" lang="en-US" altLang="zh-CN" sz="2000" b="1">
                  <a:solidFill>
                    <a:srgbClr val="000099"/>
                  </a:solidFill>
                  <a:latin typeface="Arial" panose="020B0604020202020204" pitchFamily="34" charset="0"/>
                  <a:ea typeface="黑体" panose="02010609060101010101" pitchFamily="2" charset="-122"/>
                </a:rPr>
                <a:t>TCP </a:t>
              </a:r>
              <a:r>
                <a:rPr kumimoji="1" lang="zh-CN" altLang="en-US" sz="2000" b="1">
                  <a:solidFill>
                    <a:srgbClr val="000099"/>
                  </a:solidFill>
                  <a:latin typeface="Arial" panose="020B0604020202020204" pitchFamily="34" charset="0"/>
                  <a:ea typeface="黑体" panose="02010609060101010101" pitchFamily="2" charset="-122"/>
                </a:rPr>
                <a:t>连接</a:t>
              </a:r>
              <a:endParaRPr kumimoji="1" lang="zh-CN" altLang="en-US" sz="2000" b="1">
                <a:solidFill>
                  <a:srgbClr val="000099"/>
                </a:solidFill>
                <a:latin typeface="Arial" panose="020B0604020202020204" pitchFamily="34" charset="0"/>
                <a:ea typeface="黑体" panose="02010609060101010101" pitchFamily="2" charset="-122"/>
              </a:endParaRPr>
            </a:p>
          </p:txBody>
        </p:sp>
      </p:grpSp>
      <p:sp>
        <p:nvSpPr>
          <p:cNvPr id="135201" name="Line 108"/>
          <p:cNvSpPr>
            <a:spLocks noChangeShapeType="1"/>
          </p:cNvSpPr>
          <p:nvPr/>
        </p:nvSpPr>
        <p:spPr bwMode="auto">
          <a:xfrm>
            <a:off x="7811294" y="2995614"/>
            <a:ext cx="560652" cy="160337"/>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02" name="Text Box 110"/>
          <p:cNvSpPr txBox="1">
            <a:spLocks noChangeArrowheads="1"/>
          </p:cNvSpPr>
          <p:nvPr/>
        </p:nvSpPr>
        <p:spPr bwMode="auto">
          <a:xfrm>
            <a:off x="8120856" y="2225675"/>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35203" name="AutoShape 111"/>
          <p:cNvSpPr>
            <a:spLocks noChangeArrowheads="1"/>
          </p:cNvSpPr>
          <p:nvPr/>
        </p:nvSpPr>
        <p:spPr bwMode="auto">
          <a:xfrm>
            <a:off x="7231725" y="2805113"/>
            <a:ext cx="644921" cy="252412"/>
          </a:xfrm>
          <a:prstGeom prst="can">
            <a:avLst>
              <a:gd name="adj" fmla="val 39583"/>
            </a:avLst>
          </a:prstGeom>
          <a:solidFill>
            <a:srgbClr val="99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04" name="Rectangle 112"/>
          <p:cNvSpPr>
            <a:spLocks noChangeArrowheads="1"/>
          </p:cNvSpPr>
          <p:nvPr/>
        </p:nvSpPr>
        <p:spPr bwMode="auto">
          <a:xfrm>
            <a:off x="6180931" y="5851526"/>
            <a:ext cx="840979" cy="176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553077" name="Group 117"/>
          <p:cNvGrpSpPr/>
          <p:nvPr/>
        </p:nvGrpSpPr>
        <p:grpSpPr bwMode="auto">
          <a:xfrm>
            <a:off x="639766" y="4776793"/>
            <a:ext cx="6908398" cy="708025"/>
            <a:chOff x="372" y="3009"/>
            <a:chExt cx="4017" cy="446"/>
          </a:xfrm>
        </p:grpSpPr>
        <p:sp>
          <p:nvSpPr>
            <p:cNvPr id="135207" name="Line 94"/>
            <p:cNvSpPr>
              <a:spLocks noChangeShapeType="1"/>
            </p:cNvSpPr>
            <p:nvPr/>
          </p:nvSpPr>
          <p:spPr bwMode="auto">
            <a:xfrm>
              <a:off x="1149" y="3218"/>
              <a:ext cx="3240" cy="0"/>
            </a:xfrm>
            <a:prstGeom prst="line">
              <a:avLst/>
            </a:prstGeom>
            <a:noFill/>
            <a:ln w="38100">
              <a:solidFill>
                <a:srgbClr val="333399"/>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135208" name="Group 95"/>
            <p:cNvGrpSpPr/>
            <p:nvPr/>
          </p:nvGrpSpPr>
          <p:grpSpPr bwMode="auto">
            <a:xfrm>
              <a:off x="1373" y="3067"/>
              <a:ext cx="1651" cy="303"/>
              <a:chOff x="513" y="1824"/>
              <a:chExt cx="1296" cy="240"/>
            </a:xfrm>
          </p:grpSpPr>
          <p:sp>
            <p:nvSpPr>
              <p:cNvPr id="135210" name="AutoShape 96"/>
              <p:cNvSpPr>
                <a:spLocks noChangeArrowheads="1"/>
              </p:cNvSpPr>
              <p:nvPr/>
            </p:nvSpPr>
            <p:spPr bwMode="auto">
              <a:xfrm>
                <a:off x="1521" y="1872"/>
                <a:ext cx="288" cy="144"/>
              </a:xfrm>
              <a:prstGeom prst="rightArrow">
                <a:avLst>
                  <a:gd name="adj1" fmla="val 50000"/>
                  <a:gd name="adj2" fmla="val 5000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11" name="Rectangle 97"/>
              <p:cNvSpPr>
                <a:spLocks noChangeArrowheads="1"/>
              </p:cNvSpPr>
              <p:nvPr/>
            </p:nvSpPr>
            <p:spPr bwMode="auto">
              <a:xfrm>
                <a:off x="513" y="1824"/>
                <a:ext cx="1008" cy="24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请求报文</a:t>
                </a:r>
                <a:endParaRPr kumimoji="1" lang="zh-CN" altLang="en-US" sz="2000" b="1">
                  <a:solidFill>
                    <a:srgbClr val="000099"/>
                  </a:solidFill>
                  <a:latin typeface="Arial" panose="020B0604020202020204" pitchFamily="34" charset="0"/>
                  <a:ea typeface="黑体" panose="02010609060101010101" pitchFamily="2" charset="-122"/>
                </a:endParaRPr>
              </a:p>
            </p:txBody>
          </p:sp>
        </p:grpSp>
        <p:sp>
          <p:nvSpPr>
            <p:cNvPr id="135209" name="Text Box 114"/>
            <p:cNvSpPr txBox="1">
              <a:spLocks noChangeArrowheads="1"/>
            </p:cNvSpPr>
            <p:nvPr/>
          </p:nvSpPr>
          <p:spPr bwMode="auto">
            <a:xfrm>
              <a:off x="372" y="3009"/>
              <a:ext cx="70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dirty="0" smtClean="0">
                  <a:solidFill>
                    <a:srgbClr val="000099"/>
                  </a:solidFill>
                  <a:latin typeface="Arial" panose="020B0604020202020204" pitchFamily="34" charset="0"/>
                  <a:ea typeface="黑体" panose="02010609060101010101" pitchFamily="2" charset="-122"/>
                  <a:sym typeface="Wingdings" panose="05000000000000000000" pitchFamily="2" charset="2"/>
                </a:rPr>
                <a:t>浏览器</a:t>
              </a:r>
              <a:endParaRPr kumimoji="1" lang="en-US" altLang="zh-CN" sz="2000" b="1" dirty="0" smtClean="0">
                <a:solidFill>
                  <a:srgbClr val="000099"/>
                </a:solidFill>
                <a:latin typeface="Arial" panose="020B0604020202020204" pitchFamily="34" charset="0"/>
                <a:ea typeface="黑体" panose="02010609060101010101" pitchFamily="2" charset="-122"/>
                <a:sym typeface="Wingdings" panose="05000000000000000000" pitchFamily="2" charset="2"/>
              </a:endParaRPr>
            </a:p>
            <a:p>
              <a:pPr algn="ctr" eaLnBrk="1" hangingPunct="1"/>
              <a:r>
                <a:rPr kumimoji="1" lang="zh-CN" altLang="en-US" sz="2000" b="1" dirty="0" smtClean="0">
                  <a:solidFill>
                    <a:srgbClr val="000099"/>
                  </a:solidFill>
                  <a:latin typeface="Arial" panose="020B0604020202020204" pitchFamily="34" charset="0"/>
                  <a:ea typeface="黑体" panose="02010609060101010101" pitchFamily="2" charset="-122"/>
                  <a:sym typeface="Wingdings" panose="05000000000000000000" pitchFamily="2" charset="2"/>
                </a:rPr>
                <a:t>发出</a:t>
              </a:r>
              <a:r>
                <a:rPr kumimoji="1" lang="zh-CN" altLang="en-US" sz="2000" b="1" dirty="0" smtClean="0">
                  <a:solidFill>
                    <a:srgbClr val="000099"/>
                  </a:solidFill>
                  <a:latin typeface="Arial" panose="020B0604020202020204" pitchFamily="34" charset="0"/>
                  <a:ea typeface="黑体" panose="02010609060101010101" pitchFamily="2" charset="-122"/>
                </a:rPr>
                <a:t>请求</a:t>
              </a:r>
              <a:endParaRPr kumimoji="1" lang="zh-CN" altLang="en-US" sz="2000" b="1" dirty="0">
                <a:solidFill>
                  <a:srgbClr val="000099"/>
                </a:solidFill>
                <a:latin typeface="Arial" panose="020B0604020202020204" pitchFamily="34" charset="0"/>
                <a:ea typeface="黑体" panose="02010609060101010101" pitchFamily="2" charset="-122"/>
              </a:endParaRPr>
            </a:p>
          </p:txBody>
        </p:sp>
      </p:grpSp>
      <p:grpSp>
        <p:nvGrpSpPr>
          <p:cNvPr id="553080" name="Group 120"/>
          <p:cNvGrpSpPr/>
          <p:nvPr/>
        </p:nvGrpSpPr>
        <p:grpSpPr bwMode="auto">
          <a:xfrm>
            <a:off x="1976041" y="6165858"/>
            <a:ext cx="5572125" cy="400051"/>
            <a:chOff x="1149" y="3884"/>
            <a:chExt cx="3240" cy="252"/>
          </a:xfrm>
        </p:grpSpPr>
        <p:sp>
          <p:nvSpPr>
            <p:cNvPr id="135220" name="Line 106"/>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21" name="Text Box 107"/>
            <p:cNvSpPr txBox="1">
              <a:spLocks noChangeArrowheads="1"/>
            </p:cNvSpPr>
            <p:nvPr/>
          </p:nvSpPr>
          <p:spPr bwMode="auto">
            <a:xfrm>
              <a:off x="2176" y="388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释放 </a:t>
              </a:r>
              <a:r>
                <a:rPr kumimoji="1" lang="en-US" altLang="zh-CN" sz="2000" b="1">
                  <a:solidFill>
                    <a:srgbClr val="000099"/>
                  </a:solidFill>
                  <a:latin typeface="Arial" panose="020B0604020202020204" pitchFamily="34" charset="0"/>
                  <a:ea typeface="黑体" panose="02010609060101010101" pitchFamily="2" charset="-122"/>
                </a:rPr>
                <a:t>TCP </a:t>
              </a:r>
              <a:r>
                <a:rPr kumimoji="1" lang="zh-CN" altLang="en-US" sz="2000" b="1">
                  <a:solidFill>
                    <a:srgbClr val="000099"/>
                  </a:solidFill>
                  <a:latin typeface="Arial" panose="020B0604020202020204" pitchFamily="34" charset="0"/>
                  <a:ea typeface="黑体" panose="02010609060101010101" pitchFamily="2" charset="-122"/>
                </a:rPr>
                <a:t>连接</a:t>
              </a:r>
              <a:endParaRPr kumimoji="1" lang="zh-CN" altLang="en-US" sz="2000" b="1">
                <a:solidFill>
                  <a:srgbClr val="000099"/>
                </a:solidFill>
                <a:latin typeface="Arial" panose="020B0604020202020204" pitchFamily="34" charset="0"/>
                <a:ea typeface="黑体" panose="02010609060101010101" pitchFamily="2" charset="-122"/>
              </a:endParaRPr>
            </a:p>
          </p:txBody>
        </p:sp>
      </p:grpSp>
      <p:grpSp>
        <p:nvGrpSpPr>
          <p:cNvPr id="5" name="组合 4"/>
          <p:cNvGrpSpPr/>
          <p:nvPr/>
        </p:nvGrpSpPr>
        <p:grpSpPr>
          <a:xfrm>
            <a:off x="2000672" y="5157192"/>
            <a:ext cx="6816700" cy="1200329"/>
            <a:chOff x="2000672" y="5157192"/>
            <a:chExt cx="6816700" cy="1200329"/>
          </a:xfrm>
        </p:grpSpPr>
        <p:sp>
          <p:nvSpPr>
            <p:cNvPr id="135215" name="Text Box 109"/>
            <p:cNvSpPr txBox="1">
              <a:spLocks noChangeArrowheads="1"/>
            </p:cNvSpPr>
            <p:nvPr/>
          </p:nvSpPr>
          <p:spPr bwMode="auto">
            <a:xfrm>
              <a:off x="7599760" y="5497514"/>
              <a:ext cx="121761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dirty="0" smtClean="0">
                  <a:solidFill>
                    <a:srgbClr val="000099"/>
                  </a:solidFill>
                  <a:latin typeface="Arial" panose="020B0604020202020204" pitchFamily="34" charset="0"/>
                  <a:ea typeface="黑体" panose="02010609060101010101" pitchFamily="2" charset="-122"/>
                  <a:sym typeface="Wingdings" panose="05000000000000000000" pitchFamily="2" charset="2"/>
                </a:rPr>
                <a:t>服务器</a:t>
              </a:r>
              <a:endParaRPr kumimoji="1" lang="en-US" altLang="zh-CN" sz="2000" b="1" dirty="0" smtClean="0">
                <a:solidFill>
                  <a:srgbClr val="000099"/>
                </a:solidFill>
                <a:latin typeface="Arial" panose="020B0604020202020204" pitchFamily="34" charset="0"/>
                <a:ea typeface="黑体" panose="02010609060101010101" pitchFamily="2" charset="-122"/>
                <a:sym typeface="Wingdings" panose="05000000000000000000" pitchFamily="2" charset="2"/>
              </a:endParaRP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sym typeface="Wingdings" panose="05000000000000000000" pitchFamily="2" charset="2"/>
                </a:rPr>
                <a:t>返回</a:t>
              </a:r>
              <a:r>
                <a:rPr kumimoji="1" lang="zh-CN" altLang="en-US" sz="2000" b="1" dirty="0" smtClean="0">
                  <a:solidFill>
                    <a:srgbClr val="000099"/>
                  </a:solidFill>
                  <a:latin typeface="Arial" panose="020B0604020202020204" pitchFamily="34" charset="0"/>
                  <a:ea typeface="黑体" panose="02010609060101010101" pitchFamily="2" charset="-122"/>
                </a:rPr>
                <a:t>响应</a:t>
              </a:r>
              <a:endParaRPr kumimoji="1" lang="zh-CN" altLang="en-US" sz="2000" b="1" dirty="0">
                <a:solidFill>
                  <a:srgbClr val="000099"/>
                </a:solidFill>
                <a:latin typeface="Arial" panose="020B0604020202020204" pitchFamily="34" charset="0"/>
                <a:ea typeface="黑体" panose="02010609060101010101" pitchFamily="2" charset="-122"/>
              </a:endParaRPr>
            </a:p>
          </p:txBody>
        </p:sp>
        <p:grpSp>
          <p:nvGrpSpPr>
            <p:cNvPr id="4" name="组合 3"/>
            <p:cNvGrpSpPr/>
            <p:nvPr/>
          </p:nvGrpSpPr>
          <p:grpSpPr>
            <a:xfrm>
              <a:off x="2000672" y="5157192"/>
              <a:ext cx="5572124" cy="1200329"/>
              <a:chOff x="2005278" y="5157192"/>
              <a:chExt cx="5572124" cy="1200329"/>
            </a:xfrm>
          </p:grpSpPr>
          <p:sp>
            <p:nvSpPr>
              <p:cNvPr id="135216" name="Line 98"/>
              <p:cNvSpPr>
                <a:spLocks noChangeShapeType="1"/>
              </p:cNvSpPr>
              <p:nvPr/>
            </p:nvSpPr>
            <p:spPr bwMode="auto">
              <a:xfrm flipH="1">
                <a:off x="2005278" y="5756277"/>
                <a:ext cx="5572124" cy="0"/>
              </a:xfrm>
              <a:prstGeom prst="line">
                <a:avLst/>
              </a:prstGeom>
              <a:noFill/>
              <a:ln w="38100">
                <a:solidFill>
                  <a:schemeClr val="hlink"/>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 name="TextBox 2"/>
              <p:cNvSpPr txBox="1"/>
              <p:nvPr/>
            </p:nvSpPr>
            <p:spPr>
              <a:xfrm>
                <a:off x="6644009" y="5157192"/>
                <a:ext cx="761869" cy="1200329"/>
              </a:xfrm>
              <a:prstGeom prst="rect">
                <a:avLst/>
              </a:prstGeom>
              <a:solidFill>
                <a:schemeClr val="bg1"/>
              </a:solidFill>
            </p:spPr>
            <p:txBody>
              <a:bodyPr wrap="square" rtlCol="0" anchor="ctr">
                <a:spAutoFit/>
              </a:bodyPr>
              <a:lstStyle/>
              <a:p>
                <a:pPr algn="ctr"/>
                <a:r>
                  <a:rPr kumimoji="1" lang="en-US" altLang="zh-CN" sz="7200" b="1" dirty="0">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lang="zh-CN" altLang="en-US" sz="1600" dirty="0"/>
              </a:p>
            </p:txBody>
          </p:sp>
          <p:grpSp>
            <p:nvGrpSpPr>
              <p:cNvPr id="135217" name="Group 99"/>
              <p:cNvGrpSpPr/>
              <p:nvPr/>
            </p:nvGrpSpPr>
            <p:grpSpPr bwMode="auto">
              <a:xfrm flipH="1">
                <a:off x="3893940" y="5516564"/>
                <a:ext cx="2863885" cy="481013"/>
                <a:chOff x="903" y="1824"/>
                <a:chExt cx="1308" cy="240"/>
              </a:xfrm>
            </p:grpSpPr>
            <p:sp>
              <p:nvSpPr>
                <p:cNvPr id="135218" name="AutoShape 100"/>
                <p:cNvSpPr>
                  <a:spLocks noChangeArrowheads="1"/>
                </p:cNvSpPr>
                <p:nvPr/>
              </p:nvSpPr>
              <p:spPr bwMode="auto">
                <a:xfrm>
                  <a:off x="1923" y="1872"/>
                  <a:ext cx="288" cy="144"/>
                </a:xfrm>
                <a:prstGeom prst="rightArrow">
                  <a:avLst>
                    <a:gd name="adj1" fmla="val 50000"/>
                    <a:gd name="adj2" fmla="val 50000"/>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19" name="Rectangle 101"/>
                <p:cNvSpPr>
                  <a:spLocks noChangeArrowheads="1"/>
                </p:cNvSpPr>
                <p:nvPr/>
              </p:nvSpPr>
              <p:spPr bwMode="auto">
                <a:xfrm>
                  <a:off x="903" y="1824"/>
                  <a:ext cx="1008" cy="24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HTTP </a:t>
                  </a:r>
                  <a:r>
                    <a:rPr kumimoji="1" lang="zh-CN" altLang="en-US" sz="2000" b="1" dirty="0">
                      <a:solidFill>
                        <a:srgbClr val="000099"/>
                      </a:solidFill>
                      <a:latin typeface="Arial" panose="020B0604020202020204" pitchFamily="34" charset="0"/>
                      <a:ea typeface="黑体" panose="02010609060101010101" pitchFamily="2" charset="-122"/>
                    </a:rPr>
                    <a:t>响应报文</a:t>
                  </a:r>
                  <a:endParaRPr kumimoji="1" lang="zh-CN" altLang="en-US" sz="2000" b="1" dirty="0">
                    <a:solidFill>
                      <a:srgbClr val="000099"/>
                    </a:solidFill>
                    <a:latin typeface="Arial" panose="020B0604020202020204" pitchFamily="34" charset="0"/>
                    <a:ea typeface="黑体" panose="02010609060101010101" pitchFamily="2" charset="-122"/>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30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30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76"/>
                                        </p:tgtEl>
                                        <p:attrNameLst>
                                          <p:attrName>style.visibility</p:attrName>
                                        </p:attrNameLst>
                                      </p:cBhvr>
                                      <p:to>
                                        <p:strVal val="visible"/>
                                      </p:to>
                                    </p:set>
                                  </p:childTnLst>
                                </p:cTn>
                              </p:par>
                            </p:childTnLst>
                          </p:cTn>
                        </p:par>
                        <p:par>
                          <p:cTn id="11" fill="hold">
                            <p:stCondLst>
                              <p:cond delay="0"/>
                            </p:stCondLst>
                            <p:childTnLst>
                              <p:par>
                                <p:cTn id="12" presetID="35" presetClass="emph" presetSubtype="0" repeatCount="3000" fill="hold" nodeType="afterEffect">
                                  <p:stCondLst>
                                    <p:cond delay="500"/>
                                  </p:stCondLst>
                                  <p:childTnLst>
                                    <p:anim calcmode="discrete" valueType="str">
                                      <p:cBhvr>
                                        <p:cTn id="13" dur="1000" fill="hold"/>
                                        <p:tgtEl>
                                          <p:spTgt spid="553076"/>
                                        </p:tgtEl>
                                        <p:attrNameLst>
                                          <p:attrName>style.visibility</p:attrName>
                                        </p:attrNameLst>
                                      </p:cBhvr>
                                      <p:tavLst>
                                        <p:tav tm="0">
                                          <p:val>
                                            <p:strVal val="hidden"/>
                                          </p:val>
                                        </p:tav>
                                        <p:tav tm="50000">
                                          <p:val>
                                            <p:strVal val="visible"/>
                                          </p:val>
                                        </p:tav>
                                      </p:tavLst>
                                    </p:anim>
                                  </p:childTnLst>
                                </p:cTn>
                              </p:par>
                            </p:childTnLst>
                          </p:cTn>
                        </p:par>
                        <p:par>
                          <p:cTn id="14" fill="hold">
                            <p:stCondLst>
                              <p:cond delay="1500"/>
                            </p:stCondLst>
                            <p:childTnLst>
                              <p:par>
                                <p:cTn id="15" presetID="22" presetClass="entr" presetSubtype="8" fill="hold" nodeType="afterEffect">
                                  <p:stCondLst>
                                    <p:cond delay="500"/>
                                  </p:stCondLst>
                                  <p:childTnLst>
                                    <p:set>
                                      <p:cBhvr>
                                        <p:cTn id="16" dur="1" fill="hold">
                                          <p:stCondLst>
                                            <p:cond delay="0"/>
                                          </p:stCondLst>
                                        </p:cTn>
                                        <p:tgtEl>
                                          <p:spTgt spid="553077"/>
                                        </p:tgtEl>
                                        <p:attrNameLst>
                                          <p:attrName>style.visibility</p:attrName>
                                        </p:attrNameLst>
                                      </p:cBhvr>
                                      <p:to>
                                        <p:strVal val="visible"/>
                                      </p:to>
                                    </p:set>
                                    <p:animEffect transition="in" filter="wipe(left)">
                                      <p:cBhvr>
                                        <p:cTn id="17" dur="1000"/>
                                        <p:tgtEl>
                                          <p:spTgt spid="553077"/>
                                        </p:tgtEl>
                                      </p:cBhvr>
                                    </p:animEffect>
                                  </p:childTnLst>
                                </p:cTn>
                              </p:par>
                            </p:childTnLst>
                          </p:cTn>
                        </p:par>
                        <p:par>
                          <p:cTn id="18" fill="hold">
                            <p:stCondLst>
                              <p:cond delay="3000"/>
                            </p:stCondLst>
                            <p:childTnLst>
                              <p:par>
                                <p:cTn id="19" presetID="22" presetClass="entr" presetSubtype="2" fill="hold" nodeType="afterEffect">
                                  <p:stCondLst>
                                    <p:cond delay="500"/>
                                  </p:stCondLst>
                                  <p:childTnLst>
                                    <p:set>
                                      <p:cBhvr>
                                        <p:cTn id="20" dur="1" fill="hold">
                                          <p:stCondLst>
                                            <p:cond delay="0"/>
                                          </p:stCondLst>
                                        </p:cTn>
                                        <p:tgtEl>
                                          <p:spTgt spid="5"/>
                                        </p:tgtEl>
                                        <p:attrNameLst>
                                          <p:attrName>style.visibility</p:attrName>
                                        </p:attrNameLst>
                                      </p:cBhvr>
                                      <p:to>
                                        <p:strVal val="visible"/>
                                      </p:to>
                                    </p:set>
                                    <p:animEffect transition="in" filter="wipe(right)">
                                      <p:cBhvr>
                                        <p:cTn id="21" dur="1000"/>
                                        <p:tgtEl>
                                          <p:spTgt spid="5"/>
                                        </p:tgtEl>
                                      </p:cBhvr>
                                    </p:animEffect>
                                  </p:childTnLst>
                                </p:cTn>
                              </p:par>
                            </p:childTnLst>
                          </p:cTn>
                        </p:par>
                        <p:par>
                          <p:cTn id="22" fill="hold">
                            <p:stCondLst>
                              <p:cond delay="4500"/>
                            </p:stCondLst>
                            <p:childTnLst>
                              <p:par>
                                <p:cTn id="23" presetID="1" presetClass="entr" presetSubtype="0" fill="hold" nodeType="afterEffect">
                                  <p:stCondLst>
                                    <p:cond delay="500"/>
                                  </p:stCondLst>
                                  <p:childTnLst>
                                    <p:set>
                                      <p:cBhvr>
                                        <p:cTn id="24" dur="1" fill="hold">
                                          <p:stCondLst>
                                            <p:cond delay="0"/>
                                          </p:stCondLst>
                                        </p:cTn>
                                        <p:tgtEl>
                                          <p:spTgt spid="553080"/>
                                        </p:tgtEl>
                                        <p:attrNameLst>
                                          <p:attrName>style.visibility</p:attrName>
                                        </p:attrNameLst>
                                      </p:cBhvr>
                                      <p:to>
                                        <p:strVal val="visible"/>
                                      </p:to>
                                    </p:set>
                                  </p:childTnLst>
                                </p:cTn>
                              </p:par>
                            </p:childTnLst>
                          </p:cTn>
                        </p:par>
                        <p:par>
                          <p:cTn id="25" fill="hold">
                            <p:stCondLst>
                              <p:cond delay="5000"/>
                            </p:stCondLst>
                            <p:childTnLst>
                              <p:par>
                                <p:cTn id="26" presetID="35" presetClass="emph" presetSubtype="0" repeatCount="3000" fill="hold" nodeType="afterEffect">
                                  <p:stCondLst>
                                    <p:cond delay="500"/>
                                  </p:stCondLst>
                                  <p:childTnLst>
                                    <p:anim calcmode="discrete" valueType="str">
                                      <p:cBhvr>
                                        <p:cTn id="27" dur="1000" fill="hold"/>
                                        <p:tgtEl>
                                          <p:spTgt spid="5530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52" grpId="0" animBg="1"/>
      <p:bldP spid="55305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290264" y="411063"/>
            <a:ext cx="8839200" cy="1001713"/>
          </a:xfrm>
        </p:spPr>
        <p:txBody>
          <a:bodyPr/>
          <a:lstStyle/>
          <a:p>
            <a:pPr algn="ctr"/>
            <a:r>
              <a:rPr lang="zh-CN" altLang="en-US" sz="3200" dirty="0" smtClean="0">
                <a:ea typeface="黑体" panose="02010609060101010101" pitchFamily="2" charset="-122"/>
              </a:rPr>
              <a:t>用户点击 </a:t>
            </a:r>
            <a:r>
              <a:rPr lang="en-US" altLang="zh-CN" sz="3200" dirty="0" smtClean="0">
                <a:ea typeface="黑体" panose="02010609060101010101" pitchFamily="2" charset="-122"/>
              </a:rPr>
              <a:t>URL </a:t>
            </a:r>
            <a:br>
              <a:rPr lang="en-US" altLang="zh-CN" sz="3200" dirty="0" smtClean="0">
                <a:ea typeface="黑体" panose="02010609060101010101" pitchFamily="2" charset="-122"/>
              </a:rPr>
            </a:br>
            <a:r>
              <a:rPr lang="en-US" altLang="zh-CN" sz="2800" dirty="0" smtClean="0"/>
              <a:t>http</a:t>
            </a:r>
            <a:r>
              <a:rPr lang="en-US" altLang="zh-CN" sz="2800" dirty="0"/>
              <a:t>://</a:t>
            </a:r>
            <a:r>
              <a:rPr lang="en-US" altLang="zh-CN" sz="2800" dirty="0" smtClean="0"/>
              <a:t>www.tsinghua.edu.cn/chn/yxsz/index.htm</a:t>
            </a:r>
            <a:br>
              <a:rPr lang="en-US" altLang="zh-CN" sz="2800" dirty="0" smtClean="0"/>
            </a:br>
            <a:r>
              <a:rPr lang="zh-CN" altLang="en-US" sz="3200" dirty="0" smtClean="0">
                <a:ea typeface="黑体" panose="02010609060101010101" pitchFamily="2" charset="-122"/>
              </a:rPr>
              <a:t>后所发生的事件 </a:t>
            </a:r>
            <a:endParaRPr lang="zh-CN" altLang="en-US" sz="3200" dirty="0" smtClean="0">
              <a:ea typeface="黑体" panose="02010609060101010101" pitchFamily="2" charset="-122"/>
            </a:endParaRPr>
          </a:p>
        </p:txBody>
      </p:sp>
      <p:sp>
        <p:nvSpPr>
          <p:cNvPr id="137219" name="Rectangle 20"/>
          <p:cNvSpPr>
            <a:spLocks noGrp="1" noChangeArrowheads="1"/>
          </p:cNvSpPr>
          <p:nvPr>
            <p:ph type="body" idx="4294967295"/>
          </p:nvPr>
        </p:nvSpPr>
        <p:spPr>
          <a:xfrm>
            <a:off x="377949" y="1483568"/>
            <a:ext cx="9399587" cy="4897760"/>
          </a:xfrm>
          <a:noFill/>
          <a:ln>
            <a:solidFill>
              <a:schemeClr val="tx1"/>
            </a:solidFill>
            <a:miter lim="800000"/>
          </a:ln>
        </p:spPr>
        <p:txBody>
          <a:bodyPr/>
          <a:lstStyle/>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(1) </a:t>
            </a:r>
            <a:r>
              <a:rPr lang="zh-CN" altLang="en-US" sz="2800" dirty="0" smtClean="0">
                <a:ea typeface="黑体" panose="02010609060101010101" pitchFamily="2" charset="-122"/>
              </a:rPr>
              <a:t>浏览器分析超链指向页面的 </a:t>
            </a:r>
            <a:r>
              <a:rPr lang="en-US" altLang="zh-CN" sz="2800" dirty="0" smtClean="0">
                <a:ea typeface="黑体" panose="02010609060101010101" pitchFamily="2" charset="-122"/>
              </a:rPr>
              <a:t>URL</a:t>
            </a:r>
            <a:r>
              <a:rPr lang="zh-CN" altLang="en-US" sz="2800" dirty="0" smtClean="0">
                <a:ea typeface="黑体" panose="02010609060101010101" pitchFamily="2" charset="-122"/>
              </a:rPr>
              <a:t>。</a:t>
            </a:r>
            <a:endParaRPr lang="zh-CN" altLang="en-US" sz="2800" dirty="0" smtClean="0">
              <a:ea typeface="黑体" panose="02010609060101010101" pitchFamily="2" charset="-122"/>
            </a:endParaRPr>
          </a:p>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(2) </a:t>
            </a:r>
            <a:r>
              <a:rPr lang="zh-CN" altLang="en-US" sz="2800" dirty="0" smtClean="0">
                <a:ea typeface="黑体" panose="02010609060101010101" pitchFamily="2" charset="-122"/>
              </a:rPr>
              <a:t>浏览器向 </a:t>
            </a:r>
            <a:r>
              <a:rPr lang="en-US" altLang="zh-CN" sz="2800" dirty="0" smtClean="0">
                <a:ea typeface="黑体" panose="02010609060101010101" pitchFamily="2" charset="-122"/>
              </a:rPr>
              <a:t>DNS </a:t>
            </a:r>
            <a:r>
              <a:rPr lang="zh-CN" altLang="en-US" sz="2800" dirty="0" smtClean="0">
                <a:ea typeface="黑体" panose="02010609060101010101" pitchFamily="2" charset="-122"/>
              </a:rPr>
              <a:t>请求解析 </a:t>
            </a:r>
            <a:r>
              <a:rPr lang="en-US" altLang="zh-CN" sz="2800" dirty="0" smtClean="0">
                <a:ea typeface="黑体" panose="02010609060101010101" pitchFamily="2" charset="-122"/>
              </a:rPr>
              <a:t>www.tsinghua.edu.cn </a:t>
            </a:r>
            <a:r>
              <a:rPr lang="zh-CN" altLang="en-US" sz="2800" dirty="0" smtClean="0">
                <a:ea typeface="黑体" panose="02010609060101010101" pitchFamily="2" charset="-122"/>
              </a:rPr>
              <a:t>的 </a:t>
            </a:r>
            <a:r>
              <a:rPr lang="en-US" altLang="zh-CN" sz="2800" dirty="0" smtClean="0">
                <a:ea typeface="黑体" panose="02010609060101010101" pitchFamily="2" charset="-122"/>
              </a:rPr>
              <a:t>IP </a:t>
            </a:r>
            <a:r>
              <a:rPr lang="zh-CN" altLang="en-US" sz="2800" dirty="0" smtClean="0">
                <a:ea typeface="黑体" panose="02010609060101010101" pitchFamily="2" charset="-122"/>
              </a:rPr>
              <a:t>地址。</a:t>
            </a:r>
            <a:endParaRPr lang="zh-CN" altLang="en-US" sz="2800" dirty="0" smtClean="0">
              <a:ea typeface="黑体" panose="02010609060101010101" pitchFamily="2" charset="-122"/>
            </a:endParaRPr>
          </a:p>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(3) </a:t>
            </a:r>
            <a:r>
              <a:rPr lang="zh-CN" altLang="en-US" sz="2800" dirty="0" smtClean="0">
                <a:ea typeface="黑体" panose="02010609060101010101" pitchFamily="2" charset="-122"/>
              </a:rPr>
              <a:t>域名系统 </a:t>
            </a:r>
            <a:r>
              <a:rPr lang="en-US" altLang="zh-CN" sz="2800" dirty="0" smtClean="0">
                <a:ea typeface="黑体" panose="02010609060101010101" pitchFamily="2" charset="-122"/>
              </a:rPr>
              <a:t>DNS </a:t>
            </a:r>
            <a:r>
              <a:rPr lang="zh-CN" altLang="en-US" sz="2800" dirty="0" smtClean="0">
                <a:ea typeface="黑体" panose="02010609060101010101" pitchFamily="2" charset="-122"/>
              </a:rPr>
              <a:t>解析出清华大学服务器的 </a:t>
            </a:r>
            <a:r>
              <a:rPr lang="en-US" altLang="zh-CN" sz="2800" dirty="0" smtClean="0">
                <a:ea typeface="黑体" panose="02010609060101010101" pitchFamily="2" charset="-122"/>
              </a:rPr>
              <a:t>IP </a:t>
            </a:r>
            <a:r>
              <a:rPr lang="zh-CN" altLang="en-US" sz="2800" dirty="0" smtClean="0">
                <a:ea typeface="黑体" panose="02010609060101010101" pitchFamily="2" charset="-122"/>
              </a:rPr>
              <a:t>地址。</a:t>
            </a:r>
            <a:endParaRPr lang="zh-CN" altLang="en-US" sz="2800" dirty="0" smtClean="0">
              <a:ea typeface="黑体" panose="02010609060101010101" pitchFamily="2" charset="-122"/>
            </a:endParaRPr>
          </a:p>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(4) </a:t>
            </a:r>
            <a:r>
              <a:rPr lang="zh-CN" altLang="en-US" sz="2800" dirty="0" smtClean="0">
                <a:ea typeface="黑体" panose="02010609060101010101" pitchFamily="2" charset="-122"/>
              </a:rPr>
              <a:t>浏览器与服务器建立 </a:t>
            </a:r>
            <a:r>
              <a:rPr lang="en-US" altLang="zh-CN" sz="2800" dirty="0" smtClean="0">
                <a:ea typeface="黑体" panose="02010609060101010101" pitchFamily="2" charset="-122"/>
              </a:rPr>
              <a:t>TCP </a:t>
            </a:r>
            <a:r>
              <a:rPr lang="zh-CN" altLang="en-US" sz="2800" dirty="0" smtClean="0">
                <a:ea typeface="黑体" panose="02010609060101010101" pitchFamily="2" charset="-122"/>
              </a:rPr>
              <a:t>连接。</a:t>
            </a:r>
            <a:endParaRPr lang="zh-CN" altLang="en-US" sz="2800" dirty="0" smtClean="0">
              <a:ea typeface="黑体" panose="02010609060101010101" pitchFamily="2" charset="-122"/>
            </a:endParaRPr>
          </a:p>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(5) </a:t>
            </a:r>
            <a:r>
              <a:rPr lang="zh-CN" altLang="en-US" sz="2800" dirty="0" smtClean="0">
                <a:ea typeface="黑体" panose="02010609060101010101" pitchFamily="2" charset="-122"/>
              </a:rPr>
              <a:t>浏览器发出取文件命令：</a:t>
            </a:r>
            <a:r>
              <a:rPr lang="en-US" altLang="zh-CN" sz="2800" dirty="0" smtClean="0">
                <a:ea typeface="黑体" panose="02010609060101010101" pitchFamily="2" charset="-122"/>
              </a:rPr>
              <a:t>GET /</a:t>
            </a:r>
            <a:r>
              <a:rPr lang="en-US" altLang="zh-CN" sz="2800" dirty="0" err="1" smtClean="0">
                <a:ea typeface="黑体" panose="02010609060101010101" pitchFamily="2" charset="-122"/>
              </a:rPr>
              <a:t>chn</a:t>
            </a:r>
            <a:r>
              <a:rPr lang="en-US" altLang="zh-CN" sz="2800" dirty="0" smtClean="0">
                <a:ea typeface="黑体" panose="02010609060101010101" pitchFamily="2" charset="-122"/>
              </a:rPr>
              <a:t>/</a:t>
            </a:r>
            <a:r>
              <a:rPr lang="en-US" altLang="zh-CN" sz="2800" dirty="0" err="1" smtClean="0">
                <a:ea typeface="黑体" panose="02010609060101010101" pitchFamily="2" charset="-122"/>
              </a:rPr>
              <a:t>yxsz</a:t>
            </a:r>
            <a:r>
              <a:rPr lang="en-US" altLang="zh-CN" sz="2800" dirty="0" smtClean="0">
                <a:ea typeface="黑体" panose="02010609060101010101" pitchFamily="2" charset="-122"/>
              </a:rPr>
              <a:t>/index.htm</a:t>
            </a:r>
            <a:r>
              <a:rPr lang="zh-CN" altLang="en-US" sz="2800" dirty="0" smtClean="0">
                <a:ea typeface="黑体" panose="02010609060101010101" pitchFamily="2" charset="-122"/>
              </a:rPr>
              <a:t>。</a:t>
            </a:r>
            <a:endParaRPr lang="zh-CN" altLang="en-US" sz="2800" dirty="0" smtClean="0">
              <a:ea typeface="黑体" panose="02010609060101010101" pitchFamily="2" charset="-122"/>
            </a:endParaRPr>
          </a:p>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(6) </a:t>
            </a:r>
            <a:r>
              <a:rPr lang="zh-CN" altLang="en-US" sz="2800" dirty="0" smtClean="0">
                <a:ea typeface="黑体" panose="02010609060101010101" pitchFamily="2" charset="-122"/>
              </a:rPr>
              <a:t>服务器给出响应，把文件 </a:t>
            </a:r>
            <a:r>
              <a:rPr lang="en-US" altLang="zh-CN" sz="2800" dirty="0" smtClean="0">
                <a:ea typeface="黑体" panose="02010609060101010101" pitchFamily="2" charset="-122"/>
              </a:rPr>
              <a:t>index.htm </a:t>
            </a:r>
            <a:r>
              <a:rPr lang="zh-CN" altLang="en-US" sz="2800" dirty="0" smtClean="0">
                <a:ea typeface="黑体" panose="02010609060101010101" pitchFamily="2" charset="-122"/>
              </a:rPr>
              <a:t>发给浏览器。</a:t>
            </a:r>
            <a:endParaRPr lang="zh-CN" altLang="en-US" sz="2800" dirty="0" smtClean="0">
              <a:ea typeface="黑体" panose="02010609060101010101" pitchFamily="2" charset="-122"/>
            </a:endParaRPr>
          </a:p>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(7) TCP </a:t>
            </a:r>
            <a:r>
              <a:rPr lang="zh-CN" altLang="en-US" sz="2800" dirty="0" smtClean="0">
                <a:ea typeface="黑体" panose="02010609060101010101" pitchFamily="2" charset="-122"/>
              </a:rPr>
              <a:t>连接释放。</a:t>
            </a:r>
            <a:endParaRPr lang="zh-CN" altLang="en-US" sz="2800" dirty="0" smtClean="0">
              <a:ea typeface="黑体" panose="02010609060101010101" pitchFamily="2" charset="-122"/>
            </a:endParaRPr>
          </a:p>
          <a:p>
            <a:pPr eaLnBrk="1" hangingPunct="1">
              <a:lnSpc>
                <a:spcPct val="100000"/>
              </a:lnSpc>
              <a:buFont typeface="Wingdings" panose="05000000000000000000" pitchFamily="2" charset="2"/>
              <a:buNone/>
            </a:pPr>
            <a:r>
              <a:rPr lang="en-US" altLang="zh-CN" sz="2800" dirty="0" smtClean="0">
                <a:ea typeface="黑体" panose="02010609060101010101" pitchFamily="2" charset="-122"/>
              </a:rPr>
              <a:t>(8) </a:t>
            </a:r>
            <a:r>
              <a:rPr lang="zh-CN" altLang="en-US" sz="2800" dirty="0" smtClean="0">
                <a:ea typeface="黑体" panose="02010609060101010101" pitchFamily="2" charset="-122"/>
              </a:rPr>
              <a:t>浏览器显示“清华大学院系设置”文件 </a:t>
            </a:r>
            <a:r>
              <a:rPr lang="en-US" altLang="zh-CN" sz="2800" dirty="0" smtClean="0">
                <a:ea typeface="黑体" panose="02010609060101010101" pitchFamily="2" charset="-122"/>
              </a:rPr>
              <a:t>index.htm </a:t>
            </a:r>
            <a:r>
              <a:rPr lang="zh-CN" altLang="en-US" sz="2800" dirty="0" smtClean="0">
                <a:ea typeface="黑体" panose="02010609060101010101" pitchFamily="2" charset="-122"/>
              </a:rPr>
              <a:t>中的所有文本。</a:t>
            </a:r>
            <a:endParaRPr lang="zh-CN" altLang="en-US" sz="28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Line 20"/>
          <p:cNvSpPr>
            <a:spLocks noChangeShapeType="1"/>
          </p:cNvSpPr>
          <p:nvPr/>
        </p:nvSpPr>
        <p:spPr bwMode="auto">
          <a:xfrm flipH="1">
            <a:off x="3149051" y="3932139"/>
            <a:ext cx="5159" cy="97155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15" name="Rectangle 25"/>
          <p:cNvSpPr>
            <a:spLocks noChangeArrowheads="1"/>
          </p:cNvSpPr>
          <p:nvPr/>
        </p:nvSpPr>
        <p:spPr bwMode="auto">
          <a:xfrm>
            <a:off x="2860126" y="4284564"/>
            <a:ext cx="560652" cy="2730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16" name="Text Box 26"/>
          <p:cNvSpPr txBox="1">
            <a:spLocks noChangeArrowheads="1"/>
          </p:cNvSpPr>
          <p:nvPr/>
        </p:nvSpPr>
        <p:spPr bwMode="auto">
          <a:xfrm>
            <a:off x="2767257" y="4270277"/>
            <a:ext cx="68480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RTT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141317" name="Line 19"/>
          <p:cNvSpPr>
            <a:spLocks noChangeShapeType="1"/>
          </p:cNvSpPr>
          <p:nvPr/>
        </p:nvSpPr>
        <p:spPr bwMode="auto">
          <a:xfrm flipH="1">
            <a:off x="3154210" y="2955827"/>
            <a:ext cx="6879" cy="969963"/>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18" name="Rectangle 22"/>
          <p:cNvSpPr>
            <a:spLocks noChangeArrowheads="1"/>
          </p:cNvSpPr>
          <p:nvPr/>
        </p:nvSpPr>
        <p:spPr bwMode="auto">
          <a:xfrm>
            <a:off x="2860126" y="3333651"/>
            <a:ext cx="560652"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19" name="Text Box 23"/>
          <p:cNvSpPr txBox="1">
            <a:spLocks noChangeArrowheads="1"/>
          </p:cNvSpPr>
          <p:nvPr/>
        </p:nvSpPr>
        <p:spPr bwMode="auto">
          <a:xfrm>
            <a:off x="2793053" y="3297139"/>
            <a:ext cx="68480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RTT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130056" name="Rectangle 2"/>
          <p:cNvSpPr>
            <a:spLocks noGrp="1" noChangeArrowheads="1"/>
          </p:cNvSpPr>
          <p:nvPr>
            <p:ph type="title"/>
          </p:nvPr>
        </p:nvSpPr>
        <p:spPr>
          <a:xfrm>
            <a:off x="506507" y="188640"/>
            <a:ext cx="8525683" cy="812453"/>
          </a:xfrm>
        </p:spPr>
        <p:txBody>
          <a:bodyPr/>
          <a:lstStyle/>
          <a:p>
            <a:pPr algn="ctr" eaLnBrk="1" hangingPunct="1">
              <a:defRPr/>
            </a:pPr>
            <a:r>
              <a:rPr dirty="0"/>
              <a:t>请求一个万维网文档所需的时间 </a:t>
            </a:r>
            <a:endParaRPr dirty="0"/>
          </a:p>
        </p:txBody>
      </p:sp>
      <p:sp>
        <p:nvSpPr>
          <p:cNvPr id="141321" name="Freeform 4"/>
          <p:cNvSpPr/>
          <p:nvPr/>
        </p:nvSpPr>
        <p:spPr bwMode="auto">
          <a:xfrm>
            <a:off x="3439696" y="4432201"/>
            <a:ext cx="3465381" cy="819150"/>
          </a:xfrm>
          <a:custGeom>
            <a:avLst/>
            <a:gdLst>
              <a:gd name="T0" fmla="*/ 0 w 1679"/>
              <a:gd name="T1" fmla="*/ 2147483646 h 408"/>
              <a:gd name="T2" fmla="*/ 0 w 1679"/>
              <a:gd name="T3" fmla="*/ 2147483646 h 408"/>
              <a:gd name="T4" fmla="*/ 2147483646 w 1679"/>
              <a:gd name="T5" fmla="*/ 0 h 408"/>
              <a:gd name="T6" fmla="*/ 2147483646 w 1679"/>
              <a:gd name="T7" fmla="*/ 2147483646 h 408"/>
              <a:gd name="T8" fmla="*/ 0 w 1679"/>
              <a:gd name="T9" fmla="*/ 2147483646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408">
                <a:moveTo>
                  <a:pt x="0" y="408"/>
                </a:moveTo>
                <a:lnTo>
                  <a:pt x="0" y="227"/>
                </a:lnTo>
                <a:lnTo>
                  <a:pt x="1679" y="0"/>
                </a:lnTo>
                <a:lnTo>
                  <a:pt x="1679" y="181"/>
                </a:lnTo>
                <a:lnTo>
                  <a:pt x="0" y="408"/>
                </a:lnTo>
                <a:close/>
              </a:path>
            </a:pathLst>
          </a:custGeom>
          <a:solidFill>
            <a:srgbClr val="99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pic>
        <p:nvPicPr>
          <p:cNvPr id="141322" name="Picture 5"/>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99205" y="1689002"/>
            <a:ext cx="969963" cy="135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23" name="Rectangle 6"/>
          <p:cNvSpPr>
            <a:spLocks noChangeArrowheads="1"/>
          </p:cNvSpPr>
          <p:nvPr/>
        </p:nvSpPr>
        <p:spPr bwMode="auto">
          <a:xfrm>
            <a:off x="6201114" y="1412776"/>
            <a:ext cx="173124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kumimoji="1" lang="zh-CN" altLang="en-US" sz="2000" b="1">
                <a:solidFill>
                  <a:srgbClr val="000099"/>
                </a:solidFill>
                <a:latin typeface="Arial" panose="020B0604020202020204" pitchFamily="34" charset="0"/>
                <a:ea typeface="黑体" panose="02010609060101010101" pitchFamily="2" charset="-122"/>
              </a:rPr>
              <a:t>万维网服务器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1324" name="Rectangle 7"/>
          <p:cNvSpPr>
            <a:spLocks noChangeArrowheads="1"/>
          </p:cNvSpPr>
          <p:nvPr/>
        </p:nvSpPr>
        <p:spPr bwMode="auto">
          <a:xfrm>
            <a:off x="2729422" y="1488976"/>
            <a:ext cx="147316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panose="020B0604020202020204" pitchFamily="34" charset="0"/>
                <a:ea typeface="黑体" panose="02010609060101010101" pitchFamily="2" charset="-122"/>
              </a:rPr>
              <a:t>万维网客户</a:t>
            </a:r>
            <a:endParaRPr kumimoji="1" lang="zh-CN" altLang="en-US" sz="2000" b="1">
              <a:solidFill>
                <a:srgbClr val="000099"/>
              </a:solidFill>
              <a:latin typeface="Arial" panose="020B0604020202020204" pitchFamily="34" charset="0"/>
              <a:ea typeface="黑体" panose="02010609060101010101" pitchFamily="2" charset="-122"/>
            </a:endParaRPr>
          </a:p>
        </p:txBody>
      </p:sp>
      <p:pic>
        <p:nvPicPr>
          <p:cNvPr id="141325" name="Picture 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61090" y="1981102"/>
            <a:ext cx="65696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26" name="Line 9"/>
          <p:cNvSpPr>
            <a:spLocks noChangeShapeType="1"/>
          </p:cNvSpPr>
          <p:nvPr/>
        </p:nvSpPr>
        <p:spPr bwMode="auto">
          <a:xfrm>
            <a:off x="3441415" y="2878040"/>
            <a:ext cx="0" cy="2987675"/>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27" name="Text Box 10"/>
          <p:cNvSpPr txBox="1">
            <a:spLocks noChangeArrowheads="1"/>
          </p:cNvSpPr>
          <p:nvPr/>
        </p:nvSpPr>
        <p:spPr bwMode="auto">
          <a:xfrm>
            <a:off x="1079346" y="2752627"/>
            <a:ext cx="1868012"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dirty="0">
                <a:solidFill>
                  <a:srgbClr val="000099"/>
                </a:solidFill>
                <a:latin typeface="Arial" panose="020B0604020202020204" pitchFamily="34" charset="0"/>
                <a:ea typeface="黑体" panose="02010609060101010101" pitchFamily="2" charset="-122"/>
              </a:rPr>
              <a:t>发起 </a:t>
            </a:r>
            <a:r>
              <a:rPr kumimoji="1" lang="en-US" altLang="zh-CN" sz="2000" b="1" dirty="0">
                <a:solidFill>
                  <a:srgbClr val="000099"/>
                </a:solidFill>
                <a:latin typeface="Arial" panose="020B0604020202020204" pitchFamily="34" charset="0"/>
                <a:ea typeface="黑体" panose="02010609060101010101" pitchFamily="2" charset="-122"/>
              </a:rPr>
              <a:t>TCP </a:t>
            </a:r>
            <a:r>
              <a:rPr kumimoji="1" lang="zh-CN" altLang="en-US" sz="2000" b="1" dirty="0">
                <a:solidFill>
                  <a:srgbClr val="000099"/>
                </a:solidFill>
                <a:latin typeface="Arial" panose="020B0604020202020204" pitchFamily="34" charset="0"/>
                <a:ea typeface="黑体" panose="02010609060101010101" pitchFamily="2" charset="-122"/>
              </a:rPr>
              <a:t>连接</a:t>
            </a:r>
            <a:endParaRPr kumimoji="1" lang="zh-CN" altLang="en-US" sz="2000" b="1" dirty="0">
              <a:solidFill>
                <a:srgbClr val="000099"/>
              </a:solidFill>
              <a:latin typeface="Arial" panose="020B0604020202020204" pitchFamily="34" charset="0"/>
              <a:ea typeface="黑体" panose="02010609060101010101" pitchFamily="2" charset="-122"/>
            </a:endParaRPr>
          </a:p>
        </p:txBody>
      </p:sp>
      <p:sp>
        <p:nvSpPr>
          <p:cNvPr id="141328" name="Text Box 11"/>
          <p:cNvSpPr txBox="1">
            <a:spLocks noChangeArrowheads="1"/>
          </p:cNvSpPr>
          <p:nvPr/>
        </p:nvSpPr>
        <p:spPr bwMode="auto">
          <a:xfrm>
            <a:off x="992784" y="3694014"/>
            <a:ext cx="19545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请求报文</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1329" name="Line 12"/>
          <p:cNvSpPr>
            <a:spLocks noChangeShapeType="1"/>
          </p:cNvSpPr>
          <p:nvPr/>
        </p:nvSpPr>
        <p:spPr bwMode="auto">
          <a:xfrm>
            <a:off x="3441415" y="2955826"/>
            <a:ext cx="3465380" cy="454025"/>
          </a:xfrm>
          <a:prstGeom prst="line">
            <a:avLst/>
          </a:prstGeom>
          <a:noFill/>
          <a:ln w="381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0" name="Line 13"/>
          <p:cNvSpPr>
            <a:spLocks noChangeShapeType="1"/>
          </p:cNvSpPr>
          <p:nvPr/>
        </p:nvSpPr>
        <p:spPr bwMode="auto">
          <a:xfrm flipH="1">
            <a:off x="3429377" y="3452714"/>
            <a:ext cx="3465381" cy="455612"/>
          </a:xfrm>
          <a:prstGeom prst="line">
            <a:avLst/>
          </a:prstGeom>
          <a:noFill/>
          <a:ln w="381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1" name="Line 14"/>
          <p:cNvSpPr>
            <a:spLocks noChangeShapeType="1"/>
          </p:cNvSpPr>
          <p:nvPr/>
        </p:nvSpPr>
        <p:spPr bwMode="auto">
          <a:xfrm>
            <a:off x="3441415" y="3951190"/>
            <a:ext cx="3465380" cy="454025"/>
          </a:xfrm>
          <a:prstGeom prst="line">
            <a:avLst/>
          </a:prstGeom>
          <a:noFill/>
          <a:ln w="381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2" name="Line 15"/>
          <p:cNvSpPr>
            <a:spLocks noChangeShapeType="1"/>
          </p:cNvSpPr>
          <p:nvPr/>
        </p:nvSpPr>
        <p:spPr bwMode="auto">
          <a:xfrm>
            <a:off x="2975352" y="2955826"/>
            <a:ext cx="466064"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3" name="Line 16"/>
          <p:cNvSpPr>
            <a:spLocks noChangeShapeType="1"/>
          </p:cNvSpPr>
          <p:nvPr/>
        </p:nvSpPr>
        <p:spPr bwMode="auto">
          <a:xfrm>
            <a:off x="2982231" y="3925789"/>
            <a:ext cx="466064"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4" name="Line 17"/>
          <p:cNvSpPr>
            <a:spLocks noChangeShapeType="1"/>
          </p:cNvSpPr>
          <p:nvPr/>
        </p:nvSpPr>
        <p:spPr bwMode="auto">
          <a:xfrm>
            <a:off x="2963313" y="5254526"/>
            <a:ext cx="466063"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5" name="Line 18"/>
          <p:cNvSpPr>
            <a:spLocks noChangeShapeType="1"/>
          </p:cNvSpPr>
          <p:nvPr/>
        </p:nvSpPr>
        <p:spPr bwMode="auto">
          <a:xfrm>
            <a:off x="2963313" y="4890989"/>
            <a:ext cx="466063"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6" name="Text Box 27"/>
          <p:cNvSpPr txBox="1">
            <a:spLocks noChangeArrowheads="1"/>
          </p:cNvSpPr>
          <p:nvPr/>
        </p:nvSpPr>
        <p:spPr bwMode="auto">
          <a:xfrm>
            <a:off x="7040939" y="4317902"/>
            <a:ext cx="1991251"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传输文档的时间</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1337" name="Text Box 28"/>
          <p:cNvSpPr txBox="1">
            <a:spLocks noChangeArrowheads="1"/>
          </p:cNvSpPr>
          <p:nvPr/>
        </p:nvSpPr>
        <p:spPr bwMode="auto">
          <a:xfrm>
            <a:off x="1214191" y="5056089"/>
            <a:ext cx="173316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整个文档收到</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1338" name="AutoShape 29"/>
          <p:cNvSpPr>
            <a:spLocks noChangeArrowheads="1"/>
          </p:cNvSpPr>
          <p:nvPr/>
        </p:nvSpPr>
        <p:spPr bwMode="auto">
          <a:xfrm rot="-445727">
            <a:off x="4726100" y="4700489"/>
            <a:ext cx="1030156" cy="273050"/>
          </a:xfrm>
          <a:prstGeom prst="leftArrow">
            <a:avLst>
              <a:gd name="adj1" fmla="val 50000"/>
              <a:gd name="adj2" fmla="val 87064"/>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39" name="Line 30"/>
          <p:cNvSpPr>
            <a:spLocks noChangeShapeType="1"/>
          </p:cNvSpPr>
          <p:nvPr/>
        </p:nvSpPr>
        <p:spPr bwMode="auto">
          <a:xfrm>
            <a:off x="6896476" y="2873276"/>
            <a:ext cx="0" cy="2986088"/>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40" name="Text Box 31"/>
          <p:cNvSpPr txBox="1">
            <a:spLocks noChangeArrowheads="1"/>
          </p:cNvSpPr>
          <p:nvPr/>
        </p:nvSpPr>
        <p:spPr bwMode="auto">
          <a:xfrm>
            <a:off x="3107776" y="5745064"/>
            <a:ext cx="70083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时间</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1341" name="Text Box 32"/>
          <p:cNvSpPr txBox="1">
            <a:spLocks noChangeArrowheads="1"/>
          </p:cNvSpPr>
          <p:nvPr/>
        </p:nvSpPr>
        <p:spPr bwMode="auto">
          <a:xfrm>
            <a:off x="6554238" y="5745064"/>
            <a:ext cx="70083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时间</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1342" name="Text Box 33"/>
          <p:cNvSpPr txBox="1">
            <a:spLocks noChangeArrowheads="1"/>
          </p:cNvSpPr>
          <p:nvPr/>
        </p:nvSpPr>
        <p:spPr bwMode="auto">
          <a:xfrm rot="-440849">
            <a:off x="3954328" y="4268660"/>
            <a:ext cx="19545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响应报文</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1343" name="AutoShape 34"/>
          <p:cNvSpPr/>
          <p:nvPr/>
        </p:nvSpPr>
        <p:spPr bwMode="auto">
          <a:xfrm>
            <a:off x="6946351" y="4411565"/>
            <a:ext cx="94588" cy="365125"/>
          </a:xfrm>
          <a:prstGeom prst="rightBracket">
            <a:avLst>
              <a:gd name="adj" fmla="val 34849"/>
            </a:avLst>
          </a:prstGeom>
          <a:noFill/>
          <a:ln w="9525">
            <a:solidFill>
              <a:schemeClr val="fo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44" name="Line 35"/>
          <p:cNvSpPr>
            <a:spLocks noChangeShapeType="1"/>
          </p:cNvSpPr>
          <p:nvPr/>
        </p:nvSpPr>
        <p:spPr bwMode="auto">
          <a:xfrm>
            <a:off x="7040939" y="4594126"/>
            <a:ext cx="9286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持续连接</a:t>
            </a:r>
            <a:endParaRPr lang="en-US" altLang="zh-CN" dirty="0" smtClean="0">
              <a:ea typeface="黑体" panose="02010609060101010101" pitchFamily="2" charset="-122"/>
            </a:endParaRPr>
          </a:p>
        </p:txBody>
      </p:sp>
      <p:sp>
        <p:nvSpPr>
          <p:cNvPr id="142339" name="Rectangle 3"/>
          <p:cNvSpPr>
            <a:spLocks noGrp="1" noChangeArrowheads="1"/>
          </p:cNvSpPr>
          <p:nvPr>
            <p:ph idx="1"/>
          </p:nvPr>
        </p:nvSpPr>
        <p:spPr/>
        <p:txBody>
          <a:bodyPr/>
          <a:lstStyle/>
          <a:p>
            <a:r>
              <a:rPr lang="en-US" altLang="zh-CN" sz="3000" dirty="0" smtClean="0">
                <a:solidFill>
                  <a:srgbClr val="FF0000"/>
                </a:solidFill>
                <a:ea typeface="黑体" panose="02010609060101010101" pitchFamily="2" charset="-122"/>
              </a:rPr>
              <a:t>HTTP/1.1 </a:t>
            </a:r>
            <a:r>
              <a:rPr lang="zh-CN" altLang="en-US" sz="3000" dirty="0" smtClean="0">
                <a:solidFill>
                  <a:srgbClr val="FF0000"/>
                </a:solidFill>
                <a:ea typeface="黑体" panose="02010609060101010101" pitchFamily="2" charset="-122"/>
              </a:rPr>
              <a:t>协议使用持续连接 </a:t>
            </a:r>
            <a:r>
              <a:rPr lang="en-US" altLang="zh-CN" sz="3000" dirty="0">
                <a:solidFill>
                  <a:srgbClr val="FF0000"/>
                </a:solidFill>
                <a:ea typeface="黑体" panose="02010609060101010101" pitchFamily="2" charset="-122"/>
              </a:rPr>
              <a:t>(persistent connection)</a:t>
            </a:r>
            <a:r>
              <a:rPr lang="zh-CN" altLang="en-US" sz="3000" dirty="0" smtClean="0">
                <a:solidFill>
                  <a:srgbClr val="FF0000"/>
                </a:solidFill>
                <a:ea typeface="黑体" panose="02010609060101010101" pitchFamily="2" charset="-122"/>
              </a:rPr>
              <a:t>。</a:t>
            </a:r>
            <a:endParaRPr lang="zh-CN" altLang="en-US" sz="3000" dirty="0" smtClean="0">
              <a:solidFill>
                <a:srgbClr val="FF0000"/>
              </a:solidFill>
              <a:ea typeface="黑体" panose="02010609060101010101" pitchFamily="2" charset="-122"/>
            </a:endParaRPr>
          </a:p>
          <a:p>
            <a:pPr eaLnBrk="1" hangingPunct="1"/>
            <a:r>
              <a:rPr lang="zh-CN" altLang="en-US" sz="3000" dirty="0" smtClean="0">
                <a:ea typeface="黑体" panose="02010609060101010101" pitchFamily="2" charset="-122"/>
              </a:rPr>
              <a:t>万维网服务器在发送响应后仍然在一段时间内保持这条连接，使同一个客户（浏览器）和该服务器可以继续在这条连接上传送后续的 </a:t>
            </a:r>
            <a:r>
              <a:rPr lang="en-US" altLang="zh-CN" sz="3000" dirty="0" smtClean="0">
                <a:ea typeface="黑体" panose="02010609060101010101" pitchFamily="2" charset="-122"/>
              </a:rPr>
              <a:t>HTTP </a:t>
            </a:r>
            <a:r>
              <a:rPr lang="zh-CN" altLang="en-US" sz="3000" dirty="0" smtClean="0">
                <a:ea typeface="黑体" panose="02010609060101010101" pitchFamily="2" charset="-122"/>
              </a:rPr>
              <a:t>请求报文和响应报文。</a:t>
            </a:r>
            <a:endParaRPr lang="zh-CN" altLang="en-US" sz="3000" dirty="0" smtClean="0">
              <a:ea typeface="黑体" panose="02010609060101010101" pitchFamily="2" charset="-122"/>
            </a:endParaRPr>
          </a:p>
          <a:p>
            <a:pPr eaLnBrk="1" hangingPunct="1"/>
            <a:r>
              <a:rPr lang="zh-CN" altLang="en-US" sz="3000" dirty="0" smtClean="0">
                <a:ea typeface="黑体" panose="02010609060101010101" pitchFamily="2" charset="-122"/>
              </a:rPr>
              <a:t>这并不局限于传送同一个页面上链接的文档，而是只要这些文档都在同一个服务器上就行。</a:t>
            </a:r>
            <a:endParaRPr lang="zh-CN" altLang="en-US" sz="30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2. </a:t>
            </a:r>
            <a:r>
              <a:rPr lang="zh-CN" altLang="en-US" dirty="0" smtClean="0">
                <a:ea typeface="黑体" panose="02010609060101010101" pitchFamily="2" charset="-122"/>
              </a:rPr>
              <a:t>代理服务器</a:t>
            </a:r>
            <a:endParaRPr lang="en-US" altLang="zh-CN" dirty="0" smtClean="0">
              <a:ea typeface="黑体" panose="02010609060101010101" pitchFamily="2" charset="-122"/>
            </a:endParaRPr>
          </a:p>
        </p:txBody>
      </p:sp>
      <p:sp>
        <p:nvSpPr>
          <p:cNvPr id="144387" name="Rectangle 3"/>
          <p:cNvSpPr>
            <a:spLocks noGrp="1" noChangeArrowheads="1"/>
          </p:cNvSpPr>
          <p:nvPr>
            <p:ph idx="1"/>
          </p:nvPr>
        </p:nvSpPr>
        <p:spPr/>
        <p:txBody>
          <a:bodyPr/>
          <a:lstStyle/>
          <a:p>
            <a:pPr eaLnBrk="1" hangingPunct="1">
              <a:spcAft>
                <a:spcPct val="20000"/>
              </a:spcAft>
            </a:pPr>
            <a:r>
              <a:rPr lang="zh-CN" altLang="en-US" dirty="0" smtClean="0">
                <a:solidFill>
                  <a:srgbClr val="FF0000"/>
                </a:solidFill>
                <a:ea typeface="黑体" panose="02010609060101010101" pitchFamily="2" charset="-122"/>
              </a:rPr>
              <a:t>代理服务器 </a:t>
            </a:r>
            <a:r>
              <a:rPr lang="en-US" altLang="zh-CN" dirty="0" smtClean="0">
                <a:ea typeface="黑体" panose="02010609060101010101" pitchFamily="2" charset="-122"/>
              </a:rPr>
              <a:t>(proxy server) </a:t>
            </a:r>
            <a:r>
              <a:rPr lang="zh-CN" altLang="en-US" dirty="0" smtClean="0">
                <a:ea typeface="黑体" panose="02010609060101010101" pitchFamily="2" charset="-122"/>
              </a:rPr>
              <a:t>又称为</a:t>
            </a:r>
            <a:r>
              <a:rPr lang="zh-CN" altLang="en-US" dirty="0" smtClean="0">
                <a:solidFill>
                  <a:srgbClr val="FF0000"/>
                </a:solidFill>
                <a:ea typeface="黑体" panose="02010609060101010101" pitchFamily="2" charset="-122"/>
              </a:rPr>
              <a:t>万维网高速缓存 </a:t>
            </a:r>
            <a:r>
              <a:rPr lang="en-US" altLang="zh-CN" dirty="0" smtClean="0">
                <a:ea typeface="黑体" panose="02010609060101010101" pitchFamily="2" charset="-122"/>
              </a:rPr>
              <a:t>(Web cache)</a:t>
            </a:r>
            <a:r>
              <a:rPr lang="zh-CN" altLang="en-US" dirty="0" smtClean="0">
                <a:ea typeface="黑体" panose="02010609060101010101" pitchFamily="2" charset="-122"/>
              </a:rPr>
              <a:t>，它代表浏览器发出 </a:t>
            </a:r>
            <a:r>
              <a:rPr lang="en-US" altLang="zh-CN" dirty="0" smtClean="0">
                <a:ea typeface="黑体" panose="02010609060101010101" pitchFamily="2" charset="-122"/>
              </a:rPr>
              <a:t>HTTP </a:t>
            </a:r>
            <a:r>
              <a:rPr lang="zh-CN" altLang="en-US" dirty="0" smtClean="0">
                <a:ea typeface="黑体" panose="02010609060101010101" pitchFamily="2" charset="-122"/>
              </a:rPr>
              <a:t>请求。</a:t>
            </a:r>
            <a:endParaRPr lang="zh-CN" altLang="en-US" dirty="0" smtClean="0">
              <a:ea typeface="黑体" panose="02010609060101010101" pitchFamily="2" charset="-122"/>
            </a:endParaRPr>
          </a:p>
          <a:p>
            <a:pPr eaLnBrk="1" hangingPunct="1">
              <a:spcAft>
                <a:spcPct val="20000"/>
              </a:spcAft>
            </a:pPr>
            <a:r>
              <a:rPr lang="zh-CN" altLang="en-US" dirty="0" smtClean="0">
                <a:ea typeface="黑体" panose="02010609060101010101" pitchFamily="2" charset="-122"/>
              </a:rPr>
              <a:t>万维网高速缓存把最近的一些请求和响应暂存在本地磁盘中。</a:t>
            </a:r>
            <a:endParaRPr lang="zh-CN" altLang="en-US" dirty="0" smtClean="0">
              <a:ea typeface="黑体" panose="02010609060101010101" pitchFamily="2" charset="-122"/>
            </a:endParaRPr>
          </a:p>
          <a:p>
            <a:pPr eaLnBrk="1" hangingPunct="1">
              <a:spcAft>
                <a:spcPct val="20000"/>
              </a:spcAft>
            </a:pPr>
            <a:r>
              <a:rPr lang="zh-CN" altLang="en-US" dirty="0" smtClean="0">
                <a:ea typeface="黑体" panose="02010609060101010101" pitchFamily="2" charset="-122"/>
              </a:rPr>
              <a:t>当与暂时存放的请求相同的新请求到达时，万维网高速缓存就把暂存的响应发送出去，而不需要按 </a:t>
            </a:r>
            <a:r>
              <a:rPr lang="en-US" altLang="zh-CN" dirty="0" smtClean="0">
                <a:ea typeface="黑体" panose="02010609060101010101" pitchFamily="2" charset="-122"/>
              </a:rPr>
              <a:t>URL </a:t>
            </a:r>
            <a:r>
              <a:rPr lang="zh-CN" altLang="en-US" dirty="0" smtClean="0">
                <a:ea typeface="黑体" panose="02010609060101010101" pitchFamily="2" charset="-122"/>
              </a:rPr>
              <a:t>的地址再去互联网访问该资源。 </a:t>
            </a:r>
            <a:r>
              <a:rPr lang="zh-CN" altLang="en-US" sz="2800" dirty="0" smtClean="0">
                <a:ea typeface="黑体" panose="02010609060101010101" pitchFamily="2" charset="-122"/>
              </a:rPr>
              <a:t> </a:t>
            </a:r>
            <a:endParaRPr lang="zh-CN" altLang="en-US" sz="28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4"/>
          <p:cNvSpPr>
            <a:spLocks noGrp="1" noChangeArrowheads="1"/>
          </p:cNvSpPr>
          <p:nvPr>
            <p:ph type="title" idx="4294967295"/>
          </p:nvPr>
        </p:nvSpPr>
        <p:spPr>
          <a:xfrm>
            <a:off x="416496" y="599976"/>
            <a:ext cx="9047162" cy="812800"/>
          </a:xfrm>
        </p:spPr>
        <p:txBody>
          <a:bodyPr/>
          <a:lstStyle/>
          <a:p>
            <a:pPr algn="ctr" eaLnBrk="1" hangingPunct="1">
              <a:defRPr/>
            </a:pPr>
            <a:r>
              <a:rPr sz="4060" dirty="0"/>
              <a:t>使用高速缓存可</a:t>
            </a:r>
            <a:r>
              <a:rPr sz="4060" dirty="0">
                <a:solidFill>
                  <a:srgbClr val="FF0000"/>
                </a:solidFill>
              </a:rPr>
              <a:t>减少</a:t>
            </a:r>
            <a:br>
              <a:rPr sz="4060" dirty="0"/>
            </a:br>
            <a:r>
              <a:rPr sz="4060" dirty="0" smtClean="0"/>
              <a:t>访问互联网服务器的时延 </a:t>
            </a:r>
            <a:endParaRPr sz="4060" dirty="0"/>
          </a:p>
        </p:txBody>
      </p:sp>
      <p:grpSp>
        <p:nvGrpSpPr>
          <p:cNvPr id="146435" name="Group 24"/>
          <p:cNvGrpSpPr/>
          <p:nvPr/>
        </p:nvGrpSpPr>
        <p:grpSpPr bwMode="auto">
          <a:xfrm>
            <a:off x="215271" y="2908003"/>
            <a:ext cx="3897048" cy="2803525"/>
            <a:chOff x="912" y="768"/>
            <a:chExt cx="2400" cy="1584"/>
          </a:xfrm>
        </p:grpSpPr>
        <p:sp>
          <p:nvSpPr>
            <p:cNvPr id="146717" name="Oval 25"/>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18" name="Oval 26"/>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19" name="Oval 27"/>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0" name="Oval 28"/>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1" name="Oval 29"/>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2" name="Oval 30"/>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3" name="Oval 31"/>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4" name="Oval 32"/>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5" name="Oval 33"/>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46726" name="Group 34"/>
            <p:cNvGrpSpPr/>
            <p:nvPr/>
          </p:nvGrpSpPr>
          <p:grpSpPr bwMode="auto">
            <a:xfrm>
              <a:off x="912" y="768"/>
              <a:ext cx="2386" cy="1553"/>
              <a:chOff x="912" y="768"/>
              <a:chExt cx="2386" cy="1553"/>
            </a:xfrm>
          </p:grpSpPr>
          <p:sp>
            <p:nvSpPr>
              <p:cNvPr id="146727" name="Oval 35"/>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8" name="Oval 36"/>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9" name="Oval 37"/>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0" name="Oval 38"/>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1" name="Oval 39"/>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2" name="Oval 40"/>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3" name="Oval 41"/>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4" name="Oval 42"/>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5" name="Oval 43"/>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46436" name="Object 44"/>
          <p:cNvGraphicFramePr>
            <a:graphicFrameLocks noChangeAspect="1"/>
          </p:cNvGraphicFramePr>
          <p:nvPr/>
        </p:nvGraphicFramePr>
        <p:xfrm>
          <a:off x="7311131" y="3712865"/>
          <a:ext cx="1994958" cy="1257300"/>
        </p:xfrm>
        <a:graphic>
          <a:graphicData uri="http://schemas.openxmlformats.org/presentationml/2006/ole">
            <mc:AlternateContent xmlns:mc="http://schemas.openxmlformats.org/markup-compatibility/2006">
              <mc:Choice xmlns:v="urn:schemas-microsoft-com:vml" Requires="v">
                <p:oleObj spid="_x0000_s19481" name="VISIO" r:id="rId1" imgW="1687195" imgH="964565" progId="Visio.Drawing.6">
                  <p:embed/>
                </p:oleObj>
              </mc:Choice>
              <mc:Fallback>
                <p:oleObj name="VISIO" r:id="rId1" imgW="1687195" imgH="964565" progId="Visio.Drawing.6">
                  <p:embed/>
                  <p:pic>
                    <p:nvPicPr>
                      <p:cNvPr id="0" name="图片 194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1131" y="3712865"/>
                        <a:ext cx="1994958" cy="125730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6437" name="Line 45"/>
          <p:cNvSpPr>
            <a:spLocks noChangeShapeType="1"/>
          </p:cNvSpPr>
          <p:nvPr/>
        </p:nvSpPr>
        <p:spPr bwMode="auto">
          <a:xfrm>
            <a:off x="4144995" y="4327227"/>
            <a:ext cx="2847975"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38" name="Line 46"/>
          <p:cNvSpPr>
            <a:spLocks noChangeShapeType="1"/>
          </p:cNvSpPr>
          <p:nvPr/>
        </p:nvSpPr>
        <p:spPr bwMode="auto">
          <a:xfrm>
            <a:off x="8545942" y="4884441"/>
            <a:ext cx="732631" cy="5937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39" name="Line 47"/>
          <p:cNvSpPr>
            <a:spLocks noChangeShapeType="1"/>
          </p:cNvSpPr>
          <p:nvPr/>
        </p:nvSpPr>
        <p:spPr bwMode="auto">
          <a:xfrm>
            <a:off x="8969011" y="4579640"/>
            <a:ext cx="588169" cy="1254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0" name="Line 48"/>
          <p:cNvSpPr>
            <a:spLocks noChangeShapeType="1"/>
          </p:cNvSpPr>
          <p:nvPr/>
        </p:nvSpPr>
        <p:spPr bwMode="auto">
          <a:xfrm flipV="1">
            <a:off x="9001687" y="3835103"/>
            <a:ext cx="555492" cy="1682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1" name="Line 49"/>
          <p:cNvSpPr>
            <a:spLocks noChangeShapeType="1"/>
          </p:cNvSpPr>
          <p:nvPr/>
        </p:nvSpPr>
        <p:spPr bwMode="auto">
          <a:xfrm flipV="1">
            <a:off x="8511546" y="3158828"/>
            <a:ext cx="767027" cy="6508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442" name="Group 51"/>
          <p:cNvGrpSpPr/>
          <p:nvPr/>
        </p:nvGrpSpPr>
        <p:grpSpPr bwMode="auto">
          <a:xfrm>
            <a:off x="9405838" y="3460453"/>
            <a:ext cx="443706" cy="722313"/>
            <a:chOff x="4486" y="2730"/>
            <a:chExt cx="217" cy="339"/>
          </a:xfrm>
        </p:grpSpPr>
        <p:grpSp>
          <p:nvGrpSpPr>
            <p:cNvPr id="146697" name="Group 52"/>
            <p:cNvGrpSpPr/>
            <p:nvPr/>
          </p:nvGrpSpPr>
          <p:grpSpPr bwMode="auto">
            <a:xfrm>
              <a:off x="4491" y="2736"/>
              <a:ext cx="212" cy="333"/>
              <a:chOff x="4491" y="2736"/>
              <a:chExt cx="212" cy="333"/>
            </a:xfrm>
          </p:grpSpPr>
          <p:sp>
            <p:nvSpPr>
              <p:cNvPr id="146708" name="Freeform 53"/>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9" name="Freeform 54"/>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10" name="Freeform 55"/>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11" name="Freeform 56"/>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12" name="Rectangle 57"/>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13" name="Rectangle 58"/>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14" name="Line 59"/>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15" name="Line 60"/>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16" name="Line 61"/>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698" name="Group 62"/>
            <p:cNvGrpSpPr/>
            <p:nvPr/>
          </p:nvGrpSpPr>
          <p:grpSpPr bwMode="auto">
            <a:xfrm>
              <a:off x="4486" y="2730"/>
              <a:ext cx="212" cy="333"/>
              <a:chOff x="4486" y="2730"/>
              <a:chExt cx="212" cy="333"/>
            </a:xfrm>
          </p:grpSpPr>
          <p:sp>
            <p:nvSpPr>
              <p:cNvPr id="146699" name="Freeform 63"/>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0" name="Freeform 64"/>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1" name="Freeform 65"/>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2" name="Freeform 66"/>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3" name="Rectangle 67"/>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04" name="Rectangle 68"/>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05" name="Line 69"/>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06" name="Line 70"/>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07" name="Line 71"/>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6443" name="Group 72"/>
          <p:cNvGrpSpPr/>
          <p:nvPr/>
        </p:nvGrpSpPr>
        <p:grpSpPr bwMode="auto">
          <a:xfrm>
            <a:off x="9405838" y="4398665"/>
            <a:ext cx="443706" cy="722312"/>
            <a:chOff x="4486" y="3170"/>
            <a:chExt cx="217" cy="339"/>
          </a:xfrm>
        </p:grpSpPr>
        <p:grpSp>
          <p:nvGrpSpPr>
            <p:cNvPr id="146677" name="Group 73"/>
            <p:cNvGrpSpPr/>
            <p:nvPr/>
          </p:nvGrpSpPr>
          <p:grpSpPr bwMode="auto">
            <a:xfrm>
              <a:off x="4491" y="3176"/>
              <a:ext cx="212" cy="333"/>
              <a:chOff x="4491" y="3176"/>
              <a:chExt cx="212" cy="333"/>
            </a:xfrm>
          </p:grpSpPr>
          <p:sp>
            <p:nvSpPr>
              <p:cNvPr id="146688" name="Freeform 74"/>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9" name="Freeform 75"/>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90" name="Freeform 76"/>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91" name="Freeform 77"/>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92" name="Rectangle 78"/>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93" name="Rectangle 79"/>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94" name="Line 80"/>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95" name="Line 81"/>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96" name="Line 82"/>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678" name="Group 83"/>
            <p:cNvGrpSpPr/>
            <p:nvPr/>
          </p:nvGrpSpPr>
          <p:grpSpPr bwMode="auto">
            <a:xfrm>
              <a:off x="4486" y="3170"/>
              <a:ext cx="212" cy="332"/>
              <a:chOff x="4486" y="3170"/>
              <a:chExt cx="212" cy="332"/>
            </a:xfrm>
          </p:grpSpPr>
          <p:sp>
            <p:nvSpPr>
              <p:cNvPr id="146679" name="Freeform 84"/>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0" name="Freeform 85"/>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1" name="Freeform 86"/>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2" name="Freeform 87"/>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3" name="Rectangle 88"/>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84" name="Rectangle 89"/>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85" name="Line 90"/>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86" name="Line 91"/>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87" name="Line 92"/>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6444" name="Group 93"/>
          <p:cNvGrpSpPr/>
          <p:nvPr/>
        </p:nvGrpSpPr>
        <p:grpSpPr bwMode="auto">
          <a:xfrm>
            <a:off x="8941494" y="5133677"/>
            <a:ext cx="443706" cy="723900"/>
            <a:chOff x="4260" y="3515"/>
            <a:chExt cx="216" cy="339"/>
          </a:xfrm>
        </p:grpSpPr>
        <p:grpSp>
          <p:nvGrpSpPr>
            <p:cNvPr id="146657" name="Group 94"/>
            <p:cNvGrpSpPr/>
            <p:nvPr/>
          </p:nvGrpSpPr>
          <p:grpSpPr bwMode="auto">
            <a:xfrm>
              <a:off x="4265" y="3521"/>
              <a:ext cx="211" cy="333"/>
              <a:chOff x="4265" y="3521"/>
              <a:chExt cx="211" cy="333"/>
            </a:xfrm>
          </p:grpSpPr>
          <p:sp>
            <p:nvSpPr>
              <p:cNvPr id="146668" name="Freeform 95"/>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9" name="Freeform 96"/>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70" name="Freeform 97"/>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71" name="Freeform 98"/>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72" name="Rectangle 99"/>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73" name="Rectangle 100"/>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74" name="Line 101"/>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75" name="Line 102"/>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76" name="Line 103"/>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658" name="Group 104"/>
            <p:cNvGrpSpPr/>
            <p:nvPr/>
          </p:nvGrpSpPr>
          <p:grpSpPr bwMode="auto">
            <a:xfrm>
              <a:off x="4260" y="3515"/>
              <a:ext cx="211" cy="332"/>
              <a:chOff x="4260" y="3515"/>
              <a:chExt cx="211" cy="332"/>
            </a:xfrm>
          </p:grpSpPr>
          <p:sp>
            <p:nvSpPr>
              <p:cNvPr id="146659" name="Freeform 105"/>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0" name="Freeform 106"/>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1" name="Freeform 107"/>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2" name="Freeform 108"/>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3" name="Rectangle 109"/>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64" name="Rectangle 110"/>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65" name="Line 111"/>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66" name="Line 112"/>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67" name="Line 113"/>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6445" name="Rectangle 114"/>
          <p:cNvSpPr>
            <a:spLocks noChangeArrowheads="1"/>
          </p:cNvSpPr>
          <p:nvPr/>
        </p:nvSpPr>
        <p:spPr bwMode="auto">
          <a:xfrm>
            <a:off x="2311698" y="2871490"/>
            <a:ext cx="36115" cy="2836862"/>
          </a:xfrm>
          <a:prstGeom prst="rect">
            <a:avLst/>
          </a:prstGeom>
          <a:solidFill>
            <a:srgbClr val="000000"/>
          </a:solidFill>
          <a:ln w="38100">
            <a:solidFill>
              <a:srgbClr val="333399"/>
            </a:solidFill>
            <a:miter lim="800000"/>
          </a:ln>
        </p:spPr>
        <p:txBody>
          <a:bodyPr/>
          <a:lstStyle/>
          <a:p>
            <a:pPr eaLnBrk="1" hangingPunct="1"/>
            <a:endParaRPr lang="zh-CN" altLang="en-US" b="1">
              <a:solidFill>
                <a:srgbClr val="000099"/>
              </a:solidFill>
            </a:endParaRPr>
          </a:p>
        </p:txBody>
      </p:sp>
      <p:sp>
        <p:nvSpPr>
          <p:cNvPr id="146446" name="Line 115"/>
          <p:cNvSpPr>
            <a:spLocks noChangeShapeType="1"/>
          </p:cNvSpPr>
          <p:nvPr/>
        </p:nvSpPr>
        <p:spPr bwMode="auto">
          <a:xfrm>
            <a:off x="1420845" y="3295353"/>
            <a:ext cx="92696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7" name="Line 116"/>
          <p:cNvSpPr>
            <a:spLocks noChangeShapeType="1"/>
          </p:cNvSpPr>
          <p:nvPr/>
        </p:nvSpPr>
        <p:spPr bwMode="auto">
          <a:xfrm>
            <a:off x="1697732" y="4070052"/>
            <a:ext cx="650081"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8" name="Line 117"/>
          <p:cNvSpPr>
            <a:spLocks noChangeShapeType="1"/>
          </p:cNvSpPr>
          <p:nvPr/>
        </p:nvSpPr>
        <p:spPr bwMode="auto">
          <a:xfrm>
            <a:off x="935865" y="4608215"/>
            <a:ext cx="1393031" cy="476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9" name="Line 118"/>
          <p:cNvSpPr>
            <a:spLocks noChangeShapeType="1"/>
          </p:cNvSpPr>
          <p:nvPr/>
        </p:nvSpPr>
        <p:spPr bwMode="auto">
          <a:xfrm>
            <a:off x="1513715" y="5325766"/>
            <a:ext cx="835819"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50" name="Line 119"/>
          <p:cNvSpPr>
            <a:spLocks noChangeShapeType="1"/>
          </p:cNvSpPr>
          <p:nvPr/>
        </p:nvSpPr>
        <p:spPr bwMode="auto">
          <a:xfrm>
            <a:off x="2328896" y="4319291"/>
            <a:ext cx="1577048"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451" name="Group 120"/>
          <p:cNvGrpSpPr/>
          <p:nvPr/>
        </p:nvGrpSpPr>
        <p:grpSpPr bwMode="auto">
          <a:xfrm>
            <a:off x="3739125" y="4106566"/>
            <a:ext cx="631163" cy="409575"/>
            <a:chOff x="2154" y="3033"/>
            <a:chExt cx="309" cy="192"/>
          </a:xfrm>
        </p:grpSpPr>
        <p:sp>
          <p:nvSpPr>
            <p:cNvPr id="146632" name="Oval 12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6633" name="Rectangle 12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34" name="Rectangle 12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35" name="Oval 12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6636" name="Group 125"/>
            <p:cNvGrpSpPr/>
            <p:nvPr/>
          </p:nvGrpSpPr>
          <p:grpSpPr bwMode="auto">
            <a:xfrm>
              <a:off x="2201" y="3046"/>
              <a:ext cx="214" cy="86"/>
              <a:chOff x="2201" y="3046"/>
              <a:chExt cx="214" cy="86"/>
            </a:xfrm>
          </p:grpSpPr>
          <p:grpSp>
            <p:nvGrpSpPr>
              <p:cNvPr id="146639" name="Group 126"/>
              <p:cNvGrpSpPr/>
              <p:nvPr/>
            </p:nvGrpSpPr>
            <p:grpSpPr bwMode="auto">
              <a:xfrm>
                <a:off x="2201" y="3046"/>
                <a:ext cx="212" cy="84"/>
                <a:chOff x="2201" y="3046"/>
                <a:chExt cx="212" cy="84"/>
              </a:xfrm>
            </p:grpSpPr>
            <p:sp>
              <p:nvSpPr>
                <p:cNvPr id="146649" name="Freeform 12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0" name="Freeform 12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1" name="Freeform 12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2" name="Freeform 13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3" name="Freeform 13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4" name="Freeform 13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5" name="Freeform 13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6" name="Freeform 13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6640" name="Group 135"/>
              <p:cNvGrpSpPr/>
              <p:nvPr/>
            </p:nvGrpSpPr>
            <p:grpSpPr bwMode="auto">
              <a:xfrm>
                <a:off x="2203" y="3048"/>
                <a:ext cx="212" cy="84"/>
                <a:chOff x="2203" y="3048"/>
                <a:chExt cx="212" cy="84"/>
              </a:xfrm>
            </p:grpSpPr>
            <p:sp>
              <p:nvSpPr>
                <p:cNvPr id="146641" name="Freeform 13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2" name="Freeform 13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3" name="Freeform 13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4" name="Freeform 13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5" name="Freeform 14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6" name="Freeform 14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7" name="Freeform 14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8" name="Freeform 14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6637" name="Line 14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38" name="Line 14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452" name="Group 146"/>
          <p:cNvGrpSpPr/>
          <p:nvPr/>
        </p:nvGrpSpPr>
        <p:grpSpPr bwMode="auto">
          <a:xfrm>
            <a:off x="1217910" y="2782590"/>
            <a:ext cx="581290" cy="563562"/>
            <a:chOff x="921" y="2412"/>
            <a:chExt cx="284" cy="265"/>
          </a:xfrm>
        </p:grpSpPr>
        <p:grpSp>
          <p:nvGrpSpPr>
            <p:cNvPr id="146606" name="Group 147"/>
            <p:cNvGrpSpPr/>
            <p:nvPr/>
          </p:nvGrpSpPr>
          <p:grpSpPr bwMode="auto">
            <a:xfrm>
              <a:off x="928" y="2417"/>
              <a:ext cx="277" cy="260"/>
              <a:chOff x="928" y="2417"/>
              <a:chExt cx="277" cy="260"/>
            </a:xfrm>
          </p:grpSpPr>
          <p:sp>
            <p:nvSpPr>
              <p:cNvPr id="146620" name="Freeform 14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1" name="Freeform 14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2" name="Freeform 15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3" name="Freeform 15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4" name="Rectangle 15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25" name="Rectangle 15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26" name="Rectangle 15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27" name="Line 15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628" name="Group 156"/>
              <p:cNvGrpSpPr/>
              <p:nvPr/>
            </p:nvGrpSpPr>
            <p:grpSpPr bwMode="auto">
              <a:xfrm>
                <a:off x="928" y="2639"/>
                <a:ext cx="277" cy="38"/>
                <a:chOff x="928" y="2639"/>
                <a:chExt cx="277" cy="38"/>
              </a:xfrm>
            </p:grpSpPr>
            <p:sp>
              <p:nvSpPr>
                <p:cNvPr id="146629" name="Freeform 15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30" name="Freeform 15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31" name="Rectangle 15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607" name="Group 160"/>
            <p:cNvGrpSpPr/>
            <p:nvPr/>
          </p:nvGrpSpPr>
          <p:grpSpPr bwMode="auto">
            <a:xfrm>
              <a:off x="921" y="2412"/>
              <a:ext cx="277" cy="261"/>
              <a:chOff x="921" y="2412"/>
              <a:chExt cx="277" cy="261"/>
            </a:xfrm>
          </p:grpSpPr>
          <p:sp>
            <p:nvSpPr>
              <p:cNvPr id="146608" name="Freeform 16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09" name="Freeform 16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0" name="Freeform 16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1" name="Freeform 16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2" name="Rectangle 16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13" name="Rectangle 16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14" name="Rectangle 16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15" name="Line 16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616" name="Group 169"/>
              <p:cNvGrpSpPr/>
              <p:nvPr/>
            </p:nvGrpSpPr>
            <p:grpSpPr bwMode="auto">
              <a:xfrm>
                <a:off x="921" y="2635"/>
                <a:ext cx="277" cy="38"/>
                <a:chOff x="921" y="2635"/>
                <a:chExt cx="277" cy="38"/>
              </a:xfrm>
            </p:grpSpPr>
            <p:sp>
              <p:nvSpPr>
                <p:cNvPr id="146617" name="Freeform 17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8" name="Freeform 17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9" name="Rectangle 17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6453" name="Group 173"/>
          <p:cNvGrpSpPr/>
          <p:nvPr/>
        </p:nvGrpSpPr>
        <p:grpSpPr bwMode="auto">
          <a:xfrm>
            <a:off x="1327976" y="3584277"/>
            <a:ext cx="576130" cy="566738"/>
            <a:chOff x="997" y="2775"/>
            <a:chExt cx="282" cy="265"/>
          </a:xfrm>
        </p:grpSpPr>
        <p:grpSp>
          <p:nvGrpSpPr>
            <p:cNvPr id="146580" name="Group 174"/>
            <p:cNvGrpSpPr/>
            <p:nvPr/>
          </p:nvGrpSpPr>
          <p:grpSpPr bwMode="auto">
            <a:xfrm>
              <a:off x="1004" y="2779"/>
              <a:ext cx="275" cy="261"/>
              <a:chOff x="1004" y="2779"/>
              <a:chExt cx="275" cy="261"/>
            </a:xfrm>
          </p:grpSpPr>
          <p:sp>
            <p:nvSpPr>
              <p:cNvPr id="146594" name="Freeform 17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5" name="Freeform 17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6" name="Freeform 17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7" name="Freeform 17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8" name="Rectangle 17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99" name="Rectangle 18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00" name="Rectangle 18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01" name="Line 18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602" name="Group 183"/>
              <p:cNvGrpSpPr/>
              <p:nvPr/>
            </p:nvGrpSpPr>
            <p:grpSpPr bwMode="auto">
              <a:xfrm>
                <a:off x="1004" y="3002"/>
                <a:ext cx="275" cy="38"/>
                <a:chOff x="1004" y="3002"/>
                <a:chExt cx="275" cy="38"/>
              </a:xfrm>
            </p:grpSpPr>
            <p:sp>
              <p:nvSpPr>
                <p:cNvPr id="146603" name="Freeform 18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04" name="Freeform 18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05" name="Rectangle 18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581" name="Group 187"/>
            <p:cNvGrpSpPr/>
            <p:nvPr/>
          </p:nvGrpSpPr>
          <p:grpSpPr bwMode="auto">
            <a:xfrm>
              <a:off x="997" y="2775"/>
              <a:ext cx="275" cy="260"/>
              <a:chOff x="997" y="2775"/>
              <a:chExt cx="275" cy="260"/>
            </a:xfrm>
          </p:grpSpPr>
          <p:sp>
            <p:nvSpPr>
              <p:cNvPr id="146582" name="Freeform 18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3" name="Freeform 18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4" name="Freeform 19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5" name="Freeform 19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6" name="Rectangle 19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87" name="Rectangle 19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88" name="Rectangle 19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89" name="Line 19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90" name="Group 196"/>
              <p:cNvGrpSpPr/>
              <p:nvPr/>
            </p:nvGrpSpPr>
            <p:grpSpPr bwMode="auto">
              <a:xfrm>
                <a:off x="997" y="2997"/>
                <a:ext cx="275" cy="38"/>
                <a:chOff x="997" y="2997"/>
                <a:chExt cx="275" cy="38"/>
              </a:xfrm>
            </p:grpSpPr>
            <p:sp>
              <p:nvSpPr>
                <p:cNvPr id="146591" name="Freeform 19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2" name="Freeform 19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3" name="Rectangle 19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6454" name="Group 200"/>
          <p:cNvGrpSpPr/>
          <p:nvPr/>
        </p:nvGrpSpPr>
        <p:grpSpPr bwMode="auto">
          <a:xfrm>
            <a:off x="540312" y="4135141"/>
            <a:ext cx="576130" cy="566737"/>
            <a:chOff x="590" y="3047"/>
            <a:chExt cx="282" cy="265"/>
          </a:xfrm>
        </p:grpSpPr>
        <p:grpSp>
          <p:nvGrpSpPr>
            <p:cNvPr id="146554" name="Group 201"/>
            <p:cNvGrpSpPr/>
            <p:nvPr/>
          </p:nvGrpSpPr>
          <p:grpSpPr bwMode="auto">
            <a:xfrm>
              <a:off x="596" y="3051"/>
              <a:ext cx="276" cy="261"/>
              <a:chOff x="596" y="3051"/>
              <a:chExt cx="276" cy="261"/>
            </a:xfrm>
          </p:grpSpPr>
          <p:sp>
            <p:nvSpPr>
              <p:cNvPr id="146568" name="Freeform 20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9" name="Freeform 20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0" name="Freeform 20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1" name="Freeform 20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2" name="Rectangle 20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73" name="Rectangle 20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74" name="Rectangle 20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75" name="Line 20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76" name="Group 210"/>
              <p:cNvGrpSpPr/>
              <p:nvPr/>
            </p:nvGrpSpPr>
            <p:grpSpPr bwMode="auto">
              <a:xfrm>
                <a:off x="596" y="3274"/>
                <a:ext cx="276" cy="38"/>
                <a:chOff x="596" y="3274"/>
                <a:chExt cx="276" cy="38"/>
              </a:xfrm>
            </p:grpSpPr>
            <p:sp>
              <p:nvSpPr>
                <p:cNvPr id="146577" name="Freeform 21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8" name="Freeform 21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9" name="Rectangle 21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555" name="Group 214"/>
            <p:cNvGrpSpPr/>
            <p:nvPr/>
          </p:nvGrpSpPr>
          <p:grpSpPr bwMode="auto">
            <a:xfrm>
              <a:off x="590" y="3047"/>
              <a:ext cx="275" cy="260"/>
              <a:chOff x="590" y="3047"/>
              <a:chExt cx="275" cy="260"/>
            </a:xfrm>
          </p:grpSpPr>
          <p:sp>
            <p:nvSpPr>
              <p:cNvPr id="146556" name="Freeform 21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7" name="Freeform 21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8" name="Freeform 21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9" name="Freeform 21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0" name="Rectangle 21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61" name="Rectangle 22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62" name="Rectangle 22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63" name="Line 22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64" name="Group 223"/>
              <p:cNvGrpSpPr/>
              <p:nvPr/>
            </p:nvGrpSpPr>
            <p:grpSpPr bwMode="auto">
              <a:xfrm>
                <a:off x="590" y="3269"/>
                <a:ext cx="275" cy="38"/>
                <a:chOff x="590" y="3269"/>
                <a:chExt cx="275" cy="38"/>
              </a:xfrm>
            </p:grpSpPr>
            <p:sp>
              <p:nvSpPr>
                <p:cNvPr id="146565" name="Freeform 22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6" name="Freeform 22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7" name="Rectangle 22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6455" name="Group 227"/>
          <p:cNvGrpSpPr/>
          <p:nvPr/>
        </p:nvGrpSpPr>
        <p:grpSpPr bwMode="auto">
          <a:xfrm>
            <a:off x="1186954" y="4814591"/>
            <a:ext cx="576130" cy="566737"/>
            <a:chOff x="906" y="3365"/>
            <a:chExt cx="281" cy="265"/>
          </a:xfrm>
        </p:grpSpPr>
        <p:grpSp>
          <p:nvGrpSpPr>
            <p:cNvPr id="146528" name="Group 228"/>
            <p:cNvGrpSpPr/>
            <p:nvPr/>
          </p:nvGrpSpPr>
          <p:grpSpPr bwMode="auto">
            <a:xfrm>
              <a:off x="912" y="3369"/>
              <a:ext cx="275" cy="261"/>
              <a:chOff x="912" y="3369"/>
              <a:chExt cx="275" cy="261"/>
            </a:xfrm>
          </p:grpSpPr>
          <p:sp>
            <p:nvSpPr>
              <p:cNvPr id="146542" name="Freeform 22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3" name="Freeform 23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4" name="Freeform 23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5" name="Freeform 23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6" name="Rectangle 23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47" name="Rectangle 23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48" name="Rectangle 23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49" name="Line 23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50" name="Group 237"/>
              <p:cNvGrpSpPr/>
              <p:nvPr/>
            </p:nvGrpSpPr>
            <p:grpSpPr bwMode="auto">
              <a:xfrm>
                <a:off x="912" y="3592"/>
                <a:ext cx="275" cy="38"/>
                <a:chOff x="912" y="3592"/>
                <a:chExt cx="275" cy="38"/>
              </a:xfrm>
            </p:grpSpPr>
            <p:sp>
              <p:nvSpPr>
                <p:cNvPr id="146551" name="Freeform 23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2" name="Freeform 23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3" name="Rectangle 24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529" name="Group 241"/>
            <p:cNvGrpSpPr/>
            <p:nvPr/>
          </p:nvGrpSpPr>
          <p:grpSpPr bwMode="auto">
            <a:xfrm>
              <a:off x="906" y="3365"/>
              <a:ext cx="275" cy="261"/>
              <a:chOff x="906" y="3365"/>
              <a:chExt cx="275" cy="261"/>
            </a:xfrm>
          </p:grpSpPr>
          <p:sp>
            <p:nvSpPr>
              <p:cNvPr id="146530" name="Freeform 24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1" name="Freeform 24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2" name="Freeform 24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3" name="Freeform 24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4" name="Rectangle 24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35" name="Rectangle 24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36" name="Rectangle 24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37" name="Line 24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38" name="Group 250"/>
              <p:cNvGrpSpPr/>
              <p:nvPr/>
            </p:nvGrpSpPr>
            <p:grpSpPr bwMode="auto">
              <a:xfrm>
                <a:off x="906" y="3587"/>
                <a:ext cx="275" cy="39"/>
                <a:chOff x="906" y="3587"/>
                <a:chExt cx="275" cy="39"/>
              </a:xfrm>
            </p:grpSpPr>
            <p:sp>
              <p:nvSpPr>
                <p:cNvPr id="146539" name="Freeform 25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0" name="Freeform 25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1" name="Rectangle 25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sp>
        <p:nvSpPr>
          <p:cNvPr id="146456" name="Rectangle 254"/>
          <p:cNvSpPr>
            <a:spLocks noChangeArrowheads="1"/>
          </p:cNvSpPr>
          <p:nvPr/>
        </p:nvSpPr>
        <p:spPr bwMode="auto">
          <a:xfrm>
            <a:off x="2607502" y="3257253"/>
            <a:ext cx="96480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57" name="Rectangle 255"/>
          <p:cNvSpPr>
            <a:spLocks noChangeArrowheads="1"/>
          </p:cNvSpPr>
          <p:nvPr/>
        </p:nvSpPr>
        <p:spPr bwMode="auto">
          <a:xfrm>
            <a:off x="2770881" y="3354090"/>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endParaRPr kumimoji="1" lang="zh-CN" altLang="en-US" sz="2000" b="1">
              <a:solidFill>
                <a:srgbClr val="000099"/>
              </a:solidFill>
              <a:latin typeface="Arial" panose="020B0604020202020204" pitchFamily="34" charset="0"/>
              <a:ea typeface="黑体" panose="02010609060101010101" pitchFamily="2" charset="-122"/>
            </a:endParaRPr>
          </a:p>
        </p:txBody>
      </p:sp>
      <p:grpSp>
        <p:nvGrpSpPr>
          <p:cNvPr id="146458" name="Group 257"/>
          <p:cNvGrpSpPr/>
          <p:nvPr/>
        </p:nvGrpSpPr>
        <p:grpSpPr bwMode="auto">
          <a:xfrm>
            <a:off x="9034363" y="2617490"/>
            <a:ext cx="443706" cy="723900"/>
            <a:chOff x="4305" y="2335"/>
            <a:chExt cx="216" cy="339"/>
          </a:xfrm>
        </p:grpSpPr>
        <p:grpSp>
          <p:nvGrpSpPr>
            <p:cNvPr id="146508" name="Group 258"/>
            <p:cNvGrpSpPr/>
            <p:nvPr/>
          </p:nvGrpSpPr>
          <p:grpSpPr bwMode="auto">
            <a:xfrm>
              <a:off x="4310" y="2341"/>
              <a:ext cx="211" cy="333"/>
              <a:chOff x="4310" y="2341"/>
              <a:chExt cx="211" cy="333"/>
            </a:xfrm>
          </p:grpSpPr>
          <p:sp>
            <p:nvSpPr>
              <p:cNvPr id="146519" name="Freeform 259"/>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0" name="Freeform 260"/>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1" name="Freeform 26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2" name="Freeform 262"/>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3" name="Rectangle 263"/>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24" name="Rectangle 264"/>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25" name="Line 265"/>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26" name="Line 266"/>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27" name="Line 267"/>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509" name="Group 268"/>
            <p:cNvGrpSpPr/>
            <p:nvPr/>
          </p:nvGrpSpPr>
          <p:grpSpPr bwMode="auto">
            <a:xfrm>
              <a:off x="4305" y="2335"/>
              <a:ext cx="211" cy="332"/>
              <a:chOff x="4305" y="2335"/>
              <a:chExt cx="211" cy="332"/>
            </a:xfrm>
          </p:grpSpPr>
          <p:sp>
            <p:nvSpPr>
              <p:cNvPr id="146510" name="Freeform 269"/>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1" name="Freeform 270"/>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2" name="Freeform 27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3" name="Freeform 272"/>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4" name="Rectangle 273"/>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15" name="Rectangle 274"/>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16" name="Line 275"/>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17" name="Line 276"/>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18" name="Line 277"/>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6459" name="Rectangle 279"/>
          <p:cNvSpPr>
            <a:spLocks noChangeArrowheads="1"/>
          </p:cNvSpPr>
          <p:nvPr/>
        </p:nvSpPr>
        <p:spPr bwMode="auto">
          <a:xfrm>
            <a:off x="7581139" y="2792115"/>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6460" name="Rectangle 280"/>
          <p:cNvSpPr>
            <a:spLocks noChangeArrowheads="1"/>
          </p:cNvSpPr>
          <p:nvPr/>
        </p:nvSpPr>
        <p:spPr bwMode="auto">
          <a:xfrm>
            <a:off x="4645454" y="3893840"/>
            <a:ext cx="92180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1" name="Rectangle 281"/>
          <p:cNvSpPr>
            <a:spLocks noChangeArrowheads="1"/>
          </p:cNvSpPr>
          <p:nvPr/>
        </p:nvSpPr>
        <p:spPr bwMode="auto">
          <a:xfrm>
            <a:off x="5385048" y="3965277"/>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a:t>
            </a:r>
            <a:r>
              <a:rPr kumimoji="1" lang="en-US" altLang="zh-CN" sz="2000" b="1" dirty="0" smtClean="0">
                <a:solidFill>
                  <a:srgbClr val="000099"/>
                </a:solidFill>
                <a:latin typeface="Arial" panose="020B0604020202020204" pitchFamily="34" charset="0"/>
                <a:ea typeface="黑体" panose="02010609060101010101" pitchFamily="2" charset="-122"/>
              </a:rPr>
              <a:t>Mbit/s</a:t>
            </a:r>
            <a:endParaRPr kumimoji="1" lang="en-US" altLang="zh-CN" sz="2000" b="1" dirty="0">
              <a:solidFill>
                <a:srgbClr val="000099"/>
              </a:solidFill>
              <a:latin typeface="Arial" panose="020B0604020202020204" pitchFamily="34" charset="0"/>
              <a:ea typeface="黑体" panose="02010609060101010101" pitchFamily="2" charset="-122"/>
            </a:endParaRPr>
          </a:p>
        </p:txBody>
      </p:sp>
      <p:grpSp>
        <p:nvGrpSpPr>
          <p:cNvPr id="146462" name="Group 282"/>
          <p:cNvGrpSpPr/>
          <p:nvPr/>
        </p:nvGrpSpPr>
        <p:grpSpPr bwMode="auto">
          <a:xfrm>
            <a:off x="6779716" y="4106566"/>
            <a:ext cx="631163" cy="409575"/>
            <a:chOff x="3202" y="3033"/>
            <a:chExt cx="309" cy="192"/>
          </a:xfrm>
        </p:grpSpPr>
        <p:sp>
          <p:nvSpPr>
            <p:cNvPr id="146483" name="Oval 283"/>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6484" name="Rectangle 284"/>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85" name="Rectangle 285"/>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86" name="Oval 286"/>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6487" name="Group 287"/>
            <p:cNvGrpSpPr/>
            <p:nvPr/>
          </p:nvGrpSpPr>
          <p:grpSpPr bwMode="auto">
            <a:xfrm>
              <a:off x="3249" y="3046"/>
              <a:ext cx="214" cy="86"/>
              <a:chOff x="3249" y="3046"/>
              <a:chExt cx="214" cy="86"/>
            </a:xfrm>
          </p:grpSpPr>
          <p:grpSp>
            <p:nvGrpSpPr>
              <p:cNvPr id="146490" name="Group 288"/>
              <p:cNvGrpSpPr/>
              <p:nvPr/>
            </p:nvGrpSpPr>
            <p:grpSpPr bwMode="auto">
              <a:xfrm>
                <a:off x="3249" y="3046"/>
                <a:ext cx="212" cy="84"/>
                <a:chOff x="3249" y="3046"/>
                <a:chExt cx="212" cy="84"/>
              </a:xfrm>
            </p:grpSpPr>
            <p:sp>
              <p:nvSpPr>
                <p:cNvPr id="146500" name="Freeform 289"/>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1" name="Freeform 290"/>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2" name="Freeform 29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3" name="Freeform 292"/>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4" name="Freeform 293"/>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5" name="Freeform 294"/>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6" name="Freeform 295"/>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7" name="Freeform 296"/>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6491" name="Group 297"/>
              <p:cNvGrpSpPr/>
              <p:nvPr/>
            </p:nvGrpSpPr>
            <p:grpSpPr bwMode="auto">
              <a:xfrm>
                <a:off x="3251" y="3048"/>
                <a:ext cx="212" cy="84"/>
                <a:chOff x="3251" y="3048"/>
                <a:chExt cx="212" cy="84"/>
              </a:xfrm>
            </p:grpSpPr>
            <p:sp>
              <p:nvSpPr>
                <p:cNvPr id="146492" name="Freeform 298"/>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3" name="Freeform 299"/>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4" name="Freeform 300"/>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5" name="Freeform 30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6" name="Freeform 302"/>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7" name="Freeform 303"/>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8" name="Freeform 304"/>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9" name="Freeform 305"/>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6488" name="Line 306"/>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89" name="Line 307"/>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46463" name="Rectangle 308"/>
          <p:cNvSpPr>
            <a:spLocks noChangeArrowheads="1"/>
          </p:cNvSpPr>
          <p:nvPr/>
        </p:nvSpPr>
        <p:spPr bwMode="auto">
          <a:xfrm>
            <a:off x="7422919" y="3643016"/>
            <a:ext cx="96480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4" name="Rectangle 309"/>
          <p:cNvSpPr>
            <a:spLocks noChangeArrowheads="1"/>
          </p:cNvSpPr>
          <p:nvPr/>
        </p:nvSpPr>
        <p:spPr bwMode="auto">
          <a:xfrm>
            <a:off x="7859745" y="4182766"/>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6465" name="Rectangle 310"/>
          <p:cNvSpPr>
            <a:spLocks noChangeArrowheads="1"/>
          </p:cNvSpPr>
          <p:nvPr/>
        </p:nvSpPr>
        <p:spPr bwMode="auto">
          <a:xfrm>
            <a:off x="4089962" y="3739853"/>
            <a:ext cx="4333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6" name="Rectangle 311"/>
          <p:cNvSpPr>
            <a:spLocks noChangeArrowheads="1"/>
          </p:cNvSpPr>
          <p:nvPr/>
        </p:nvSpPr>
        <p:spPr bwMode="auto">
          <a:xfrm>
            <a:off x="3162994" y="4511377"/>
            <a:ext cx="469504"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7" name="Rectangle 312"/>
          <p:cNvSpPr>
            <a:spLocks noChangeArrowheads="1"/>
          </p:cNvSpPr>
          <p:nvPr/>
        </p:nvSpPr>
        <p:spPr bwMode="auto">
          <a:xfrm>
            <a:off x="1859392" y="4125615"/>
            <a:ext cx="47294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8" name="Rectangle 313"/>
          <p:cNvSpPr>
            <a:spLocks noChangeArrowheads="1"/>
          </p:cNvSpPr>
          <p:nvPr/>
        </p:nvSpPr>
        <p:spPr bwMode="auto">
          <a:xfrm>
            <a:off x="414767" y="3754140"/>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6469" name="Rectangle 314"/>
          <p:cNvSpPr>
            <a:spLocks noChangeArrowheads="1"/>
          </p:cNvSpPr>
          <p:nvPr/>
        </p:nvSpPr>
        <p:spPr bwMode="auto">
          <a:xfrm>
            <a:off x="4084803" y="3766840"/>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46470" name="Rectangle 315"/>
          <p:cNvSpPr>
            <a:spLocks noChangeArrowheads="1"/>
          </p:cNvSpPr>
          <p:nvPr/>
        </p:nvSpPr>
        <p:spPr bwMode="auto">
          <a:xfrm>
            <a:off x="6924179" y="3768427"/>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46471" name="Freeform 316"/>
          <p:cNvSpPr/>
          <p:nvPr/>
        </p:nvSpPr>
        <p:spPr bwMode="auto">
          <a:xfrm>
            <a:off x="4201749" y="3260427"/>
            <a:ext cx="5025231" cy="1162050"/>
          </a:xfrm>
          <a:custGeom>
            <a:avLst/>
            <a:gdLst>
              <a:gd name="T0" fmla="*/ 0 w 2922"/>
              <a:gd name="T1" fmla="*/ 2147483646 h 732"/>
              <a:gd name="T2" fmla="*/ 2147483646 w 2922"/>
              <a:gd name="T3" fmla="*/ 2147483646 h 732"/>
              <a:gd name="T4" fmla="*/ 2147483646 w 2922"/>
              <a:gd name="T5" fmla="*/ 2147483646 h 732"/>
              <a:gd name="T6" fmla="*/ 2147483646 w 2922"/>
              <a:gd name="T7" fmla="*/ 2147483646 h 732"/>
              <a:gd name="T8" fmla="*/ 2147483646 w 2922"/>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558407" name="Group 327"/>
          <p:cNvGrpSpPr/>
          <p:nvPr/>
        </p:nvGrpSpPr>
        <p:grpSpPr bwMode="auto">
          <a:xfrm>
            <a:off x="5225024" y="2904827"/>
            <a:ext cx="1484180" cy="717550"/>
            <a:chOff x="2981" y="1888"/>
            <a:chExt cx="863" cy="452"/>
          </a:xfrm>
        </p:grpSpPr>
        <p:sp>
          <p:nvSpPr>
            <p:cNvPr id="146481" name="AutoShape 318"/>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ln>
            <a:effectLst>
              <a:outerShdw dist="35921" dir="2700000" algn="ctr" rotWithShape="0">
                <a:schemeClr val="bg2"/>
              </a:outerShdw>
            </a:effectLst>
          </p:spPr>
          <p:txBody>
            <a:bodyPr/>
            <a:lstStyle/>
            <a:p>
              <a:pPr algn="ctr" eaLnBrk="1" hangingPunct="1"/>
              <a:endParaRPr kumimoji="1" lang="zh-CN" altLang="zh-CN" sz="3200" b="1">
                <a:solidFill>
                  <a:srgbClr val="000099"/>
                </a:solidFill>
                <a:latin typeface="Arial" panose="020B0604020202020204" pitchFamily="34" charset="0"/>
                <a:ea typeface="黑体" panose="02010609060101010101" pitchFamily="2" charset="-122"/>
              </a:endParaRPr>
            </a:p>
          </p:txBody>
        </p:sp>
        <p:sp>
          <p:nvSpPr>
            <p:cNvPr id="146482" name="Rectangle 319"/>
            <p:cNvSpPr>
              <a:spLocks noChangeArrowheads="1"/>
            </p:cNvSpPr>
            <p:nvPr/>
          </p:nvSpPr>
          <p:spPr bwMode="auto">
            <a:xfrm>
              <a:off x="3016" y="1906"/>
              <a:ext cx="74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这条链路上</a:t>
              </a:r>
              <a:endParaRPr kumimoji="1" lang="zh-CN" altLang="en-US" sz="2000" b="1">
                <a:solidFill>
                  <a:srgbClr val="000099"/>
                </a:solidFill>
                <a:latin typeface="Arial" panose="020B0604020202020204" pitchFamily="34" charset="0"/>
                <a:ea typeface="黑体" panose="02010609060101010101" pitchFamily="2" charset="-122"/>
              </a:endParaRPr>
            </a:p>
            <a:p>
              <a:pPr eaLnBrk="1" hangingPunct="1"/>
              <a:r>
                <a:rPr kumimoji="1" lang="zh-CN" altLang="en-US" sz="2000" b="1">
                  <a:solidFill>
                    <a:srgbClr val="000099"/>
                  </a:solidFill>
                  <a:latin typeface="Arial" panose="020B0604020202020204" pitchFamily="34" charset="0"/>
                  <a:ea typeface="黑体" panose="02010609060101010101" pitchFamily="2" charset="-122"/>
                </a:rPr>
                <a:t>的时延很大</a:t>
              </a:r>
              <a:endParaRPr kumimoji="1" lang="zh-CN" altLang="en-US" sz="2000" b="1">
                <a:solidFill>
                  <a:srgbClr val="000099"/>
                </a:solidFill>
                <a:latin typeface="Arial" panose="020B0604020202020204" pitchFamily="34" charset="0"/>
                <a:ea typeface="黑体" panose="02010609060101010101" pitchFamily="2" charset="-122"/>
              </a:endParaRPr>
            </a:p>
          </p:txBody>
        </p:sp>
      </p:grpSp>
      <p:sp>
        <p:nvSpPr>
          <p:cNvPr id="146473" name="Freeform 320"/>
          <p:cNvSpPr/>
          <p:nvPr/>
        </p:nvSpPr>
        <p:spPr bwMode="auto">
          <a:xfrm>
            <a:off x="1697732" y="3101678"/>
            <a:ext cx="2135981" cy="1160463"/>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4" name="Freeform 321"/>
          <p:cNvSpPr/>
          <p:nvPr/>
        </p:nvSpPr>
        <p:spPr bwMode="auto">
          <a:xfrm>
            <a:off x="1883469" y="3876377"/>
            <a:ext cx="1855656" cy="484188"/>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5" name="Freeform 322"/>
          <p:cNvSpPr/>
          <p:nvPr/>
        </p:nvSpPr>
        <p:spPr bwMode="auto">
          <a:xfrm>
            <a:off x="1035613" y="4416127"/>
            <a:ext cx="2748227" cy="38100"/>
          </a:xfrm>
          <a:custGeom>
            <a:avLst/>
            <a:gdLst>
              <a:gd name="T0" fmla="*/ 0 w 1344"/>
              <a:gd name="T1" fmla="*/ 2147483646 h 17"/>
              <a:gd name="T2" fmla="*/ 2147483646 w 1344"/>
              <a:gd name="T3" fmla="*/ 0 h 17"/>
              <a:gd name="T4" fmla="*/ 0 60000 65536"/>
              <a:gd name="T5" fmla="*/ 0 60000 65536"/>
            </a:gdLst>
            <a:ahLst/>
            <a:cxnLst>
              <a:cxn ang="T4">
                <a:pos x="T0" y="T1"/>
              </a:cxn>
              <a:cxn ang="T5">
                <a:pos x="T2" y="T3"/>
              </a:cxn>
            </a:cxnLst>
            <a:rect l="0" t="0" r="r" b="b"/>
            <a:pathLst>
              <a:path w="1344" h="17">
                <a:moveTo>
                  <a:pt x="0" y="17"/>
                </a:moveTo>
                <a:cubicBezTo>
                  <a:pt x="224" y="14"/>
                  <a:pt x="1064" y="4"/>
                  <a:pt x="1344" y="0"/>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6" name="Freeform 323"/>
          <p:cNvSpPr/>
          <p:nvPr/>
        </p:nvSpPr>
        <p:spPr bwMode="auto">
          <a:xfrm>
            <a:off x="1697731" y="4485977"/>
            <a:ext cx="2153179" cy="647700"/>
          </a:xfrm>
          <a:custGeom>
            <a:avLst/>
            <a:gdLst>
              <a:gd name="T0" fmla="*/ 0 w 1052"/>
              <a:gd name="T1" fmla="*/ 2147483646 h 304"/>
              <a:gd name="T2" fmla="*/ 2147483646 w 1052"/>
              <a:gd name="T3" fmla="*/ 0 h 304"/>
              <a:gd name="T4" fmla="*/ 0 60000 65536"/>
              <a:gd name="T5" fmla="*/ 0 60000 65536"/>
            </a:gdLst>
            <a:ahLst/>
            <a:cxnLst>
              <a:cxn ang="T4">
                <a:pos x="T0" y="T1"/>
              </a:cxn>
              <a:cxn ang="T5">
                <a:pos x="T2" y="T3"/>
              </a:cxn>
            </a:cxnLst>
            <a:rect l="0" t="0" r="r" b="b"/>
            <a:pathLst>
              <a:path w="1052" h="304">
                <a:moveTo>
                  <a:pt x="0" y="304"/>
                </a:moveTo>
                <a:cubicBezTo>
                  <a:pt x="175" y="253"/>
                  <a:pt x="833" y="63"/>
                  <a:pt x="1052" y="0"/>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7" name="Text Box 326"/>
          <p:cNvSpPr txBox="1">
            <a:spLocks noChangeArrowheads="1"/>
          </p:cNvSpPr>
          <p:nvPr/>
        </p:nvSpPr>
        <p:spPr bwMode="auto">
          <a:xfrm>
            <a:off x="2720752" y="1844824"/>
            <a:ext cx="4698722" cy="584775"/>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a:solidFill>
                  <a:srgbClr val="000099"/>
                </a:solidFill>
                <a:ea typeface="黑体" panose="02010609060101010101" pitchFamily="2" charset="-122"/>
              </a:rPr>
              <a:t>没有使用高速缓存的情况</a:t>
            </a:r>
            <a:endParaRPr lang="zh-CN" altLang="en-US" sz="3200" b="1">
              <a:solidFill>
                <a:srgbClr val="000099"/>
              </a:solidFill>
              <a:ea typeface="黑体" panose="02010609060101010101" pitchFamily="2" charset="-122"/>
            </a:endParaRPr>
          </a:p>
        </p:txBody>
      </p:sp>
      <p:grpSp>
        <p:nvGrpSpPr>
          <p:cNvPr id="558410" name="Group 330"/>
          <p:cNvGrpSpPr/>
          <p:nvPr/>
        </p:nvGrpSpPr>
        <p:grpSpPr bwMode="auto">
          <a:xfrm>
            <a:off x="4304935" y="4273254"/>
            <a:ext cx="3057790" cy="1746251"/>
            <a:chOff x="2446" y="2750"/>
            <a:chExt cx="1778" cy="1100"/>
          </a:xfrm>
        </p:grpSpPr>
        <p:sp>
          <p:nvSpPr>
            <p:cNvPr id="146479" name="Text Box 328"/>
            <p:cNvSpPr txBox="1">
              <a:spLocks noChangeArrowheads="1"/>
            </p:cNvSpPr>
            <p:nvPr/>
          </p:nvSpPr>
          <p:spPr bwMode="auto">
            <a:xfrm>
              <a:off x="2446" y="3249"/>
              <a:ext cx="1778"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800" b="1">
                  <a:solidFill>
                    <a:srgbClr val="000099"/>
                  </a:solidFill>
                  <a:ea typeface="黑体" panose="02010609060101010101" pitchFamily="2" charset="-122"/>
                </a:rPr>
                <a:t>所有万维网通信量</a:t>
              </a:r>
              <a:endParaRPr lang="zh-CN" altLang="en-US" sz="2800" b="1">
                <a:solidFill>
                  <a:srgbClr val="000099"/>
                </a:solidFill>
                <a:ea typeface="黑体" panose="02010609060101010101" pitchFamily="2" charset="-122"/>
              </a:endParaRPr>
            </a:p>
            <a:p>
              <a:pPr algn="ctr" eaLnBrk="1" hangingPunct="1"/>
              <a:r>
                <a:rPr lang="zh-CN" altLang="en-US" sz="2800" b="1">
                  <a:solidFill>
                    <a:srgbClr val="000099"/>
                  </a:solidFill>
                  <a:ea typeface="黑体" panose="02010609060101010101" pitchFamily="2" charset="-122"/>
                </a:rPr>
                <a:t>都经过这条链路</a:t>
              </a:r>
              <a:endParaRPr lang="zh-CN" altLang="en-US" sz="2800" b="1">
                <a:solidFill>
                  <a:srgbClr val="000099"/>
                </a:solidFill>
                <a:ea typeface="黑体" panose="02010609060101010101" pitchFamily="2" charset="-122"/>
              </a:endParaRPr>
            </a:p>
          </p:txBody>
        </p:sp>
        <p:sp>
          <p:nvSpPr>
            <p:cNvPr id="146480" name="Line 329"/>
            <p:cNvSpPr>
              <a:spLocks noChangeShapeType="1"/>
            </p:cNvSpPr>
            <p:nvPr/>
          </p:nvSpPr>
          <p:spPr bwMode="auto">
            <a:xfrm flipV="1">
              <a:off x="3334" y="2750"/>
              <a:ext cx="0" cy="589"/>
            </a:xfrm>
            <a:prstGeom prst="line">
              <a:avLst/>
            </a:prstGeom>
            <a:noFill/>
            <a:ln w="76200">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4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558407"/>
                                        </p:tgtEl>
                                        <p:attrNameLst>
                                          <p:attrName>style.visibility</p:attrName>
                                        </p:attrNameLst>
                                      </p:cBhvr>
                                      <p:to>
                                        <p:strVal val="visible"/>
                                      </p:to>
                                    </p:set>
                                  </p:childTnLst>
                                </p:cTn>
                              </p:par>
                            </p:childTnLst>
                          </p:cTn>
                        </p:par>
                        <p:par>
                          <p:cTn id="10" fill="hold">
                            <p:stCondLst>
                              <p:cond delay="1000"/>
                            </p:stCondLst>
                            <p:childTnLst>
                              <p:par>
                                <p:cTn id="11" presetID="35" presetClass="emph" presetSubtype="0" repeatCount="3000" fill="hold" nodeType="afterEffect">
                                  <p:stCondLst>
                                    <p:cond delay="500"/>
                                  </p:stCondLst>
                                  <p:childTnLst>
                                    <p:anim calcmode="discrete" valueType="str">
                                      <p:cBhvr>
                                        <p:cTn id="12" dur="1000" fill="hold"/>
                                        <p:tgtEl>
                                          <p:spTgt spid="5584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algn="ctr" eaLnBrk="1" hangingPunct="1">
              <a:defRPr/>
            </a:pPr>
            <a:r>
              <a:rPr dirty="0"/>
              <a:t>使用高速缓存的情况</a:t>
            </a:r>
            <a:endParaRPr dirty="0"/>
          </a:p>
        </p:txBody>
      </p:sp>
      <p:grpSp>
        <p:nvGrpSpPr>
          <p:cNvPr id="148483" name="Group 6"/>
          <p:cNvGrpSpPr/>
          <p:nvPr/>
        </p:nvGrpSpPr>
        <p:grpSpPr bwMode="auto">
          <a:xfrm>
            <a:off x="271727" y="3205932"/>
            <a:ext cx="3742267" cy="2570162"/>
            <a:chOff x="912" y="768"/>
            <a:chExt cx="2400" cy="1584"/>
          </a:xfrm>
        </p:grpSpPr>
        <p:sp>
          <p:nvSpPr>
            <p:cNvPr id="148786"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87"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88"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89"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0"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1"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2"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3"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4"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48795" name="Group 16"/>
            <p:cNvGrpSpPr/>
            <p:nvPr/>
          </p:nvGrpSpPr>
          <p:grpSpPr bwMode="auto">
            <a:xfrm>
              <a:off x="912" y="768"/>
              <a:ext cx="2386" cy="1553"/>
              <a:chOff x="912" y="768"/>
              <a:chExt cx="2386" cy="1553"/>
            </a:xfrm>
          </p:grpSpPr>
          <p:sp>
            <p:nvSpPr>
              <p:cNvPr id="148796"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7"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8"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9"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0"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1"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2"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3"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4"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48484" name="Object 26"/>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0505" name="VISIO" r:id="rId1" imgW="1687195" imgH="964565" progId="Visio.Drawing.6">
                  <p:embed/>
                </p:oleObj>
              </mc:Choice>
              <mc:Fallback>
                <p:oleObj name="VISIO" r:id="rId1" imgW="1687195" imgH="964565" progId="Visio.Drawing.6">
                  <p:embed/>
                  <p:pic>
                    <p:nvPicPr>
                      <p:cNvPr id="0" name="图片 205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8485" name="Line 27"/>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8486" name="Line 28"/>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87" name="Line 29"/>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88" name="Line 30"/>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89" name="Line 31"/>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490" name="Group 33"/>
          <p:cNvGrpSpPr/>
          <p:nvPr/>
        </p:nvGrpSpPr>
        <p:grpSpPr bwMode="auto">
          <a:xfrm>
            <a:off x="9099418" y="3696469"/>
            <a:ext cx="426508" cy="661988"/>
            <a:chOff x="4486" y="2730"/>
            <a:chExt cx="217" cy="339"/>
          </a:xfrm>
        </p:grpSpPr>
        <p:grpSp>
          <p:nvGrpSpPr>
            <p:cNvPr id="148766" name="Group 34"/>
            <p:cNvGrpSpPr/>
            <p:nvPr/>
          </p:nvGrpSpPr>
          <p:grpSpPr bwMode="auto">
            <a:xfrm>
              <a:off x="4491" y="2736"/>
              <a:ext cx="212" cy="333"/>
              <a:chOff x="4491" y="2736"/>
              <a:chExt cx="212" cy="333"/>
            </a:xfrm>
          </p:grpSpPr>
          <p:sp>
            <p:nvSpPr>
              <p:cNvPr id="148777" name="Freeform 35"/>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8" name="Freeform 36"/>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9" name="Freeform 37"/>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80" name="Freeform 38"/>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81"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82"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83" name="Line 41"/>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84" name="Line 42"/>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85" name="Line 43"/>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767" name="Group 44"/>
            <p:cNvGrpSpPr/>
            <p:nvPr/>
          </p:nvGrpSpPr>
          <p:grpSpPr bwMode="auto">
            <a:xfrm>
              <a:off x="4486" y="2730"/>
              <a:ext cx="212" cy="333"/>
              <a:chOff x="4486" y="2730"/>
              <a:chExt cx="212" cy="333"/>
            </a:xfrm>
          </p:grpSpPr>
          <p:sp>
            <p:nvSpPr>
              <p:cNvPr id="148768" name="Freeform 45"/>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69" name="Freeform 46"/>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0" name="Freeform 47"/>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1" name="Freeform 48"/>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2"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73"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74" name="Line 51"/>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75" name="Line 52"/>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76" name="Line 53"/>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8491" name="Group 54"/>
          <p:cNvGrpSpPr/>
          <p:nvPr/>
        </p:nvGrpSpPr>
        <p:grpSpPr bwMode="auto">
          <a:xfrm>
            <a:off x="9099418" y="4556894"/>
            <a:ext cx="426508" cy="661988"/>
            <a:chOff x="4486" y="3170"/>
            <a:chExt cx="217" cy="339"/>
          </a:xfrm>
        </p:grpSpPr>
        <p:grpSp>
          <p:nvGrpSpPr>
            <p:cNvPr id="148746" name="Group 55"/>
            <p:cNvGrpSpPr/>
            <p:nvPr/>
          </p:nvGrpSpPr>
          <p:grpSpPr bwMode="auto">
            <a:xfrm>
              <a:off x="4491" y="3176"/>
              <a:ext cx="212" cy="333"/>
              <a:chOff x="4491" y="3176"/>
              <a:chExt cx="212" cy="333"/>
            </a:xfrm>
          </p:grpSpPr>
          <p:sp>
            <p:nvSpPr>
              <p:cNvPr id="148757" name="Freeform 56"/>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8" name="Freeform 57"/>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9" name="Freeform 58"/>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60" name="Freeform 59"/>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61"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62"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63" name="Line 62"/>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64" name="Line 63"/>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65" name="Line 64"/>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747" name="Group 65"/>
            <p:cNvGrpSpPr/>
            <p:nvPr/>
          </p:nvGrpSpPr>
          <p:grpSpPr bwMode="auto">
            <a:xfrm>
              <a:off x="4486" y="3170"/>
              <a:ext cx="212" cy="332"/>
              <a:chOff x="4486" y="3170"/>
              <a:chExt cx="212" cy="332"/>
            </a:xfrm>
          </p:grpSpPr>
          <p:sp>
            <p:nvSpPr>
              <p:cNvPr id="148748" name="Freeform 66"/>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49" name="Freeform 67"/>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0" name="Freeform 68"/>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1" name="Freeform 69"/>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2"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53"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54" name="Line 72"/>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55" name="Line 73"/>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56" name="Line 74"/>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8492" name="Group 75"/>
          <p:cNvGrpSpPr/>
          <p:nvPr/>
        </p:nvGrpSpPr>
        <p:grpSpPr bwMode="auto">
          <a:xfrm>
            <a:off x="8655712" y="5229994"/>
            <a:ext cx="423069" cy="661988"/>
            <a:chOff x="4260" y="3515"/>
            <a:chExt cx="216" cy="339"/>
          </a:xfrm>
        </p:grpSpPr>
        <p:grpSp>
          <p:nvGrpSpPr>
            <p:cNvPr id="148726" name="Group 76"/>
            <p:cNvGrpSpPr/>
            <p:nvPr/>
          </p:nvGrpSpPr>
          <p:grpSpPr bwMode="auto">
            <a:xfrm>
              <a:off x="4265" y="3521"/>
              <a:ext cx="211" cy="333"/>
              <a:chOff x="4265" y="3521"/>
              <a:chExt cx="211" cy="333"/>
            </a:xfrm>
          </p:grpSpPr>
          <p:sp>
            <p:nvSpPr>
              <p:cNvPr id="148737" name="Freeform 77"/>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8" name="Freeform 78"/>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9" name="Freeform 79"/>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40" name="Freeform 80"/>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41"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42"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43" name="Line 83"/>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44" name="Line 84"/>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45" name="Line 85"/>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727" name="Group 86"/>
            <p:cNvGrpSpPr/>
            <p:nvPr/>
          </p:nvGrpSpPr>
          <p:grpSpPr bwMode="auto">
            <a:xfrm>
              <a:off x="4260" y="3515"/>
              <a:ext cx="211" cy="332"/>
              <a:chOff x="4260" y="3515"/>
              <a:chExt cx="211" cy="332"/>
            </a:xfrm>
          </p:grpSpPr>
          <p:sp>
            <p:nvSpPr>
              <p:cNvPr id="148728" name="Freeform 87"/>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9" name="Freeform 88"/>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0" name="Freeform 89"/>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1" name="Freeform 90"/>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2"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33"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34" name="Line 93"/>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35" name="Line 94"/>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36" name="Line 95"/>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8493" name="Rectangle 96"/>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48494" name="Line 97"/>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5" name="Line 98"/>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6" name="Line 99"/>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7" name="Line 100"/>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8" name="Line 101"/>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9" name="Line 339"/>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8500" name="Line 102"/>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501" name="Group 103"/>
          <p:cNvGrpSpPr/>
          <p:nvPr/>
        </p:nvGrpSpPr>
        <p:grpSpPr bwMode="auto">
          <a:xfrm>
            <a:off x="3656277" y="4288607"/>
            <a:ext cx="607087" cy="374650"/>
            <a:chOff x="2154" y="3033"/>
            <a:chExt cx="309" cy="192"/>
          </a:xfrm>
        </p:grpSpPr>
        <p:sp>
          <p:nvSpPr>
            <p:cNvPr id="148701" name="Oval 104"/>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8702"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03"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04" name="Oval 107"/>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8705" name="Group 108"/>
            <p:cNvGrpSpPr/>
            <p:nvPr/>
          </p:nvGrpSpPr>
          <p:grpSpPr bwMode="auto">
            <a:xfrm>
              <a:off x="2201" y="3046"/>
              <a:ext cx="214" cy="86"/>
              <a:chOff x="2201" y="3046"/>
              <a:chExt cx="214" cy="86"/>
            </a:xfrm>
          </p:grpSpPr>
          <p:grpSp>
            <p:nvGrpSpPr>
              <p:cNvPr id="148708" name="Group 109"/>
              <p:cNvGrpSpPr/>
              <p:nvPr/>
            </p:nvGrpSpPr>
            <p:grpSpPr bwMode="auto">
              <a:xfrm>
                <a:off x="2201" y="3046"/>
                <a:ext cx="212" cy="84"/>
                <a:chOff x="2201" y="3046"/>
                <a:chExt cx="212" cy="84"/>
              </a:xfrm>
            </p:grpSpPr>
            <p:sp>
              <p:nvSpPr>
                <p:cNvPr id="148718" name="Freeform 110"/>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9" name="Freeform 11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0" name="Freeform 112"/>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1" name="Freeform 113"/>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2" name="Freeform 114"/>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3" name="Freeform 115"/>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4" name="Freeform 116"/>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5" name="Freeform 117"/>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8709" name="Group 118"/>
              <p:cNvGrpSpPr/>
              <p:nvPr/>
            </p:nvGrpSpPr>
            <p:grpSpPr bwMode="auto">
              <a:xfrm>
                <a:off x="2203" y="3048"/>
                <a:ext cx="212" cy="84"/>
                <a:chOff x="2203" y="3048"/>
                <a:chExt cx="212" cy="84"/>
              </a:xfrm>
            </p:grpSpPr>
            <p:sp>
              <p:nvSpPr>
                <p:cNvPr id="148710" name="Freeform 119"/>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1" name="Freeform 120"/>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2" name="Freeform 12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3" name="Freeform 122"/>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4" name="Freeform 123"/>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5" name="Freeform 124"/>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6" name="Freeform 125"/>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7" name="Freeform 126"/>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8706" name="Line 127"/>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07" name="Line 128"/>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502" name="Group 129"/>
          <p:cNvGrpSpPr/>
          <p:nvPr/>
        </p:nvGrpSpPr>
        <p:grpSpPr bwMode="auto">
          <a:xfrm>
            <a:off x="1234810" y="3075758"/>
            <a:ext cx="557213" cy="517525"/>
            <a:chOff x="921" y="2412"/>
            <a:chExt cx="284" cy="265"/>
          </a:xfrm>
        </p:grpSpPr>
        <p:grpSp>
          <p:nvGrpSpPr>
            <p:cNvPr id="148675" name="Group 130"/>
            <p:cNvGrpSpPr/>
            <p:nvPr/>
          </p:nvGrpSpPr>
          <p:grpSpPr bwMode="auto">
            <a:xfrm>
              <a:off x="928" y="2417"/>
              <a:ext cx="277" cy="260"/>
              <a:chOff x="928" y="2417"/>
              <a:chExt cx="277" cy="260"/>
            </a:xfrm>
          </p:grpSpPr>
          <p:sp>
            <p:nvSpPr>
              <p:cNvPr id="148689" name="Freeform 13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0" name="Freeform 132"/>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1" name="Freeform 133"/>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2" name="Freeform 134"/>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3"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94"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95"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96" name="Line 138"/>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97" name="Group 139"/>
              <p:cNvGrpSpPr/>
              <p:nvPr/>
            </p:nvGrpSpPr>
            <p:grpSpPr bwMode="auto">
              <a:xfrm>
                <a:off x="928" y="2639"/>
                <a:ext cx="277" cy="38"/>
                <a:chOff x="928" y="2639"/>
                <a:chExt cx="277" cy="38"/>
              </a:xfrm>
            </p:grpSpPr>
            <p:sp>
              <p:nvSpPr>
                <p:cNvPr id="148698" name="Freeform 140"/>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9" name="Freeform 14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00"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676" name="Group 143"/>
            <p:cNvGrpSpPr/>
            <p:nvPr/>
          </p:nvGrpSpPr>
          <p:grpSpPr bwMode="auto">
            <a:xfrm>
              <a:off x="921" y="2412"/>
              <a:ext cx="277" cy="261"/>
              <a:chOff x="921" y="2412"/>
              <a:chExt cx="277" cy="261"/>
            </a:xfrm>
          </p:grpSpPr>
          <p:sp>
            <p:nvSpPr>
              <p:cNvPr id="148677" name="Freeform 144"/>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8" name="Freeform 145"/>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9" name="Freeform 146"/>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0" name="Freeform 147"/>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1"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82"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83"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84" name="Line 151"/>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85" name="Group 152"/>
              <p:cNvGrpSpPr/>
              <p:nvPr/>
            </p:nvGrpSpPr>
            <p:grpSpPr bwMode="auto">
              <a:xfrm>
                <a:off x="921" y="2635"/>
                <a:ext cx="277" cy="38"/>
                <a:chOff x="921" y="2635"/>
                <a:chExt cx="277" cy="38"/>
              </a:xfrm>
            </p:grpSpPr>
            <p:sp>
              <p:nvSpPr>
                <p:cNvPr id="148686" name="Freeform 153"/>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7" name="Freeform 154"/>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8"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3" name="Group 156"/>
          <p:cNvGrpSpPr/>
          <p:nvPr/>
        </p:nvGrpSpPr>
        <p:grpSpPr bwMode="auto">
          <a:xfrm>
            <a:off x="1384433" y="3785370"/>
            <a:ext cx="553773" cy="517525"/>
            <a:chOff x="997" y="2775"/>
            <a:chExt cx="282" cy="265"/>
          </a:xfrm>
        </p:grpSpPr>
        <p:grpSp>
          <p:nvGrpSpPr>
            <p:cNvPr id="148649" name="Group 157"/>
            <p:cNvGrpSpPr/>
            <p:nvPr/>
          </p:nvGrpSpPr>
          <p:grpSpPr bwMode="auto">
            <a:xfrm>
              <a:off x="1004" y="2779"/>
              <a:ext cx="275" cy="261"/>
              <a:chOff x="1004" y="2779"/>
              <a:chExt cx="275" cy="261"/>
            </a:xfrm>
          </p:grpSpPr>
          <p:sp>
            <p:nvSpPr>
              <p:cNvPr id="148663" name="Freeform 158"/>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4" name="Freeform 159"/>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5" name="Freeform 160"/>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6" name="Freeform 16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7"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68"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69"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70" name="Line 165"/>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71" name="Group 166"/>
              <p:cNvGrpSpPr/>
              <p:nvPr/>
            </p:nvGrpSpPr>
            <p:grpSpPr bwMode="auto">
              <a:xfrm>
                <a:off x="1004" y="3002"/>
                <a:ext cx="275" cy="38"/>
                <a:chOff x="1004" y="3002"/>
                <a:chExt cx="275" cy="38"/>
              </a:xfrm>
            </p:grpSpPr>
            <p:sp>
              <p:nvSpPr>
                <p:cNvPr id="148672" name="Freeform 167"/>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3" name="Freeform 168"/>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4"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650" name="Group 170"/>
            <p:cNvGrpSpPr/>
            <p:nvPr/>
          </p:nvGrpSpPr>
          <p:grpSpPr bwMode="auto">
            <a:xfrm>
              <a:off x="997" y="2775"/>
              <a:ext cx="275" cy="260"/>
              <a:chOff x="997" y="2775"/>
              <a:chExt cx="275" cy="260"/>
            </a:xfrm>
          </p:grpSpPr>
          <p:sp>
            <p:nvSpPr>
              <p:cNvPr id="148651" name="Freeform 17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2" name="Freeform 172"/>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3" name="Freeform 173"/>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4" name="Freeform 174"/>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5"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56"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57"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58" name="Line 178"/>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59" name="Group 179"/>
              <p:cNvGrpSpPr/>
              <p:nvPr/>
            </p:nvGrpSpPr>
            <p:grpSpPr bwMode="auto">
              <a:xfrm>
                <a:off x="997" y="2997"/>
                <a:ext cx="275" cy="38"/>
                <a:chOff x="997" y="2997"/>
                <a:chExt cx="275" cy="38"/>
              </a:xfrm>
            </p:grpSpPr>
            <p:sp>
              <p:nvSpPr>
                <p:cNvPr id="148660" name="Freeform 180"/>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1" name="Freeform 18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2"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4" name="Group 183"/>
          <p:cNvGrpSpPr/>
          <p:nvPr/>
        </p:nvGrpSpPr>
        <p:grpSpPr bwMode="auto">
          <a:xfrm>
            <a:off x="584730" y="4315595"/>
            <a:ext cx="553773" cy="517525"/>
            <a:chOff x="590" y="3047"/>
            <a:chExt cx="282" cy="265"/>
          </a:xfrm>
        </p:grpSpPr>
        <p:grpSp>
          <p:nvGrpSpPr>
            <p:cNvPr id="148623" name="Group 184"/>
            <p:cNvGrpSpPr/>
            <p:nvPr/>
          </p:nvGrpSpPr>
          <p:grpSpPr bwMode="auto">
            <a:xfrm>
              <a:off x="596" y="3051"/>
              <a:ext cx="276" cy="261"/>
              <a:chOff x="596" y="3051"/>
              <a:chExt cx="276" cy="261"/>
            </a:xfrm>
          </p:grpSpPr>
          <p:sp>
            <p:nvSpPr>
              <p:cNvPr id="148637" name="Freeform 185"/>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8" name="Freeform 186"/>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9" name="Freeform 187"/>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0" name="Freeform 188"/>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1"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42"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43"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44" name="Line 192"/>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45" name="Group 193"/>
              <p:cNvGrpSpPr/>
              <p:nvPr/>
            </p:nvGrpSpPr>
            <p:grpSpPr bwMode="auto">
              <a:xfrm>
                <a:off x="596" y="3274"/>
                <a:ext cx="276" cy="38"/>
                <a:chOff x="596" y="3274"/>
                <a:chExt cx="276" cy="38"/>
              </a:xfrm>
            </p:grpSpPr>
            <p:sp>
              <p:nvSpPr>
                <p:cNvPr id="148646" name="Freeform 194"/>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7" name="Freeform 195"/>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8"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624" name="Group 197"/>
            <p:cNvGrpSpPr/>
            <p:nvPr/>
          </p:nvGrpSpPr>
          <p:grpSpPr bwMode="auto">
            <a:xfrm>
              <a:off x="590" y="3047"/>
              <a:ext cx="275" cy="260"/>
              <a:chOff x="590" y="3047"/>
              <a:chExt cx="275" cy="260"/>
            </a:xfrm>
          </p:grpSpPr>
          <p:sp>
            <p:nvSpPr>
              <p:cNvPr id="148625" name="Freeform 198"/>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6" name="Freeform 199"/>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7" name="Freeform 200"/>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8" name="Freeform 20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9"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30"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31"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32" name="Line 205"/>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33" name="Group 206"/>
              <p:cNvGrpSpPr/>
              <p:nvPr/>
            </p:nvGrpSpPr>
            <p:grpSpPr bwMode="auto">
              <a:xfrm>
                <a:off x="590" y="3269"/>
                <a:ext cx="275" cy="38"/>
                <a:chOff x="590" y="3269"/>
                <a:chExt cx="275" cy="38"/>
              </a:xfrm>
            </p:grpSpPr>
            <p:sp>
              <p:nvSpPr>
                <p:cNvPr id="148634" name="Freeform 207"/>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5" name="Freeform 208"/>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6"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5" name="Group 210"/>
          <p:cNvGrpSpPr/>
          <p:nvPr/>
        </p:nvGrpSpPr>
        <p:grpSpPr bwMode="auto">
          <a:xfrm>
            <a:off x="1205575" y="4937895"/>
            <a:ext cx="552053" cy="517525"/>
            <a:chOff x="906" y="3365"/>
            <a:chExt cx="281" cy="265"/>
          </a:xfrm>
        </p:grpSpPr>
        <p:grpSp>
          <p:nvGrpSpPr>
            <p:cNvPr id="148597" name="Group 211"/>
            <p:cNvGrpSpPr/>
            <p:nvPr/>
          </p:nvGrpSpPr>
          <p:grpSpPr bwMode="auto">
            <a:xfrm>
              <a:off x="912" y="3369"/>
              <a:ext cx="275" cy="261"/>
              <a:chOff x="912" y="3369"/>
              <a:chExt cx="275" cy="261"/>
            </a:xfrm>
          </p:grpSpPr>
          <p:sp>
            <p:nvSpPr>
              <p:cNvPr id="148611" name="Freeform 212"/>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2" name="Freeform 213"/>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3" name="Freeform 214"/>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4" name="Freeform 215"/>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5"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16"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17"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18" name="Line 219"/>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19" name="Group 220"/>
              <p:cNvGrpSpPr/>
              <p:nvPr/>
            </p:nvGrpSpPr>
            <p:grpSpPr bwMode="auto">
              <a:xfrm>
                <a:off x="912" y="3592"/>
                <a:ext cx="275" cy="38"/>
                <a:chOff x="912" y="3592"/>
                <a:chExt cx="275" cy="38"/>
              </a:xfrm>
            </p:grpSpPr>
            <p:sp>
              <p:nvSpPr>
                <p:cNvPr id="148620" name="Freeform 22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1" name="Freeform 222"/>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2"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598" name="Group 224"/>
            <p:cNvGrpSpPr/>
            <p:nvPr/>
          </p:nvGrpSpPr>
          <p:grpSpPr bwMode="auto">
            <a:xfrm>
              <a:off x="906" y="3365"/>
              <a:ext cx="275" cy="261"/>
              <a:chOff x="906" y="3365"/>
              <a:chExt cx="275" cy="261"/>
            </a:xfrm>
          </p:grpSpPr>
          <p:sp>
            <p:nvSpPr>
              <p:cNvPr id="148599" name="Freeform 225"/>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0" name="Freeform 226"/>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1" name="Freeform 227"/>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2" name="Freeform 228"/>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3"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04"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05"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06" name="Line 232"/>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07" name="Group 233"/>
              <p:cNvGrpSpPr/>
              <p:nvPr/>
            </p:nvGrpSpPr>
            <p:grpSpPr bwMode="auto">
              <a:xfrm>
                <a:off x="906" y="3587"/>
                <a:ext cx="275" cy="39"/>
                <a:chOff x="906" y="3587"/>
                <a:chExt cx="275" cy="39"/>
              </a:xfrm>
            </p:grpSpPr>
            <p:sp>
              <p:nvSpPr>
                <p:cNvPr id="148608" name="Freeform 234"/>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9" name="Freeform 235"/>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0"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6" name="Group 237"/>
          <p:cNvGrpSpPr/>
          <p:nvPr/>
        </p:nvGrpSpPr>
        <p:grpSpPr bwMode="auto">
          <a:xfrm>
            <a:off x="2820458" y="5058544"/>
            <a:ext cx="481542" cy="839788"/>
            <a:chOff x="1660" y="3427"/>
            <a:chExt cx="217" cy="339"/>
          </a:xfrm>
        </p:grpSpPr>
        <p:grpSp>
          <p:nvGrpSpPr>
            <p:cNvPr id="148577" name="Group 238"/>
            <p:cNvGrpSpPr/>
            <p:nvPr/>
          </p:nvGrpSpPr>
          <p:grpSpPr bwMode="auto">
            <a:xfrm>
              <a:off x="1665" y="3433"/>
              <a:ext cx="212" cy="333"/>
              <a:chOff x="1665" y="3433"/>
              <a:chExt cx="212" cy="333"/>
            </a:xfrm>
          </p:grpSpPr>
          <p:sp>
            <p:nvSpPr>
              <p:cNvPr id="148588" name="Freeform 239"/>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9" name="Freeform 240"/>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90" name="Freeform 24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91" name="Freeform 242"/>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92"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93"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94" name="Line 245"/>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95" name="Line 246"/>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96" name="Line 247"/>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578" name="Group 248"/>
            <p:cNvGrpSpPr/>
            <p:nvPr/>
          </p:nvGrpSpPr>
          <p:grpSpPr bwMode="auto">
            <a:xfrm>
              <a:off x="1660" y="3427"/>
              <a:ext cx="212" cy="333"/>
              <a:chOff x="1660" y="3427"/>
              <a:chExt cx="212" cy="333"/>
            </a:xfrm>
          </p:grpSpPr>
          <p:sp>
            <p:nvSpPr>
              <p:cNvPr id="148579" name="Freeform 249"/>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0" name="Freeform 250"/>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1" name="Freeform 25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2" name="Freeform 252"/>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3"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84"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85" name="Line 255"/>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86" name="Line 256"/>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87" name="Line 257"/>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8507" name="Rectangle 258"/>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08" name="Rectangle 259"/>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8509" name="Rectangle 260"/>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10" name="Rectangle 261"/>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校园网的高速缓存</a:t>
            </a:r>
            <a:endParaRPr kumimoji="1" lang="zh-CN" altLang="en-US" sz="20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（代理服务器）</a:t>
            </a:r>
            <a:endParaRPr kumimoji="1" lang="zh-CN" altLang="en-US" sz="2000" b="1">
              <a:solidFill>
                <a:srgbClr val="000099"/>
              </a:solidFill>
              <a:latin typeface="Arial" panose="020B0604020202020204" pitchFamily="34" charset="0"/>
              <a:ea typeface="黑体" panose="02010609060101010101" pitchFamily="2" charset="-122"/>
            </a:endParaRPr>
          </a:p>
        </p:txBody>
      </p:sp>
      <p:grpSp>
        <p:nvGrpSpPr>
          <p:cNvPr id="148511" name="Group 262"/>
          <p:cNvGrpSpPr/>
          <p:nvPr/>
        </p:nvGrpSpPr>
        <p:grpSpPr bwMode="auto">
          <a:xfrm>
            <a:off x="8743421" y="2924944"/>
            <a:ext cx="424789" cy="661988"/>
            <a:chOff x="4305" y="2335"/>
            <a:chExt cx="216" cy="339"/>
          </a:xfrm>
        </p:grpSpPr>
        <p:grpSp>
          <p:nvGrpSpPr>
            <p:cNvPr id="148557" name="Group 263"/>
            <p:cNvGrpSpPr/>
            <p:nvPr/>
          </p:nvGrpSpPr>
          <p:grpSpPr bwMode="auto">
            <a:xfrm>
              <a:off x="4310" y="2341"/>
              <a:ext cx="211" cy="333"/>
              <a:chOff x="4310" y="2341"/>
              <a:chExt cx="211" cy="333"/>
            </a:xfrm>
          </p:grpSpPr>
          <p:sp>
            <p:nvSpPr>
              <p:cNvPr id="148568" name="Freeform 264"/>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9" name="Freeform 265"/>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70" name="Freeform 266"/>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71" name="Freeform 267"/>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72"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73"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74" name="Line 270"/>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75" name="Line 271"/>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76" name="Line 272"/>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558" name="Group 273"/>
            <p:cNvGrpSpPr/>
            <p:nvPr/>
          </p:nvGrpSpPr>
          <p:grpSpPr bwMode="auto">
            <a:xfrm>
              <a:off x="4305" y="2335"/>
              <a:ext cx="211" cy="332"/>
              <a:chOff x="4305" y="2335"/>
              <a:chExt cx="211" cy="332"/>
            </a:xfrm>
          </p:grpSpPr>
          <p:sp>
            <p:nvSpPr>
              <p:cNvPr id="148559" name="Freeform 274"/>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0" name="Freeform 275"/>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1" name="Freeform 276"/>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2" name="Freeform 277"/>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3"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64"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65" name="Line 280"/>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66" name="Line 281"/>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67" name="Line 282"/>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8512" name="Rectangle 284"/>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8513" name="Rectangle 285"/>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14" name="Rectangle 286"/>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a:t>
            </a:r>
            <a:r>
              <a:rPr kumimoji="1" lang="en-US" altLang="zh-CN" sz="2000" b="1" dirty="0" smtClean="0">
                <a:solidFill>
                  <a:srgbClr val="000099"/>
                </a:solidFill>
                <a:latin typeface="Arial" panose="020B0604020202020204" pitchFamily="34" charset="0"/>
                <a:ea typeface="黑体" panose="02010609060101010101" pitchFamily="2" charset="-122"/>
              </a:rPr>
              <a:t>Mbit/s</a:t>
            </a:r>
            <a:endParaRPr kumimoji="1" lang="en-US" altLang="zh-CN" sz="2000" b="1" dirty="0">
              <a:solidFill>
                <a:srgbClr val="000099"/>
              </a:solidFill>
              <a:latin typeface="Arial" panose="020B0604020202020204" pitchFamily="34" charset="0"/>
              <a:ea typeface="黑体" panose="02010609060101010101" pitchFamily="2" charset="-122"/>
            </a:endParaRPr>
          </a:p>
        </p:txBody>
      </p:sp>
      <p:grpSp>
        <p:nvGrpSpPr>
          <p:cNvPr id="148515" name="Group 287"/>
          <p:cNvGrpSpPr/>
          <p:nvPr/>
        </p:nvGrpSpPr>
        <p:grpSpPr bwMode="auto">
          <a:xfrm>
            <a:off x="3102504" y="5544319"/>
            <a:ext cx="565812" cy="260350"/>
            <a:chOff x="1872" y="3676"/>
            <a:chExt cx="227" cy="136"/>
          </a:xfrm>
        </p:grpSpPr>
        <p:sp>
          <p:nvSpPr>
            <p:cNvPr id="148555" name="Line 288"/>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56" name="Freeform 289"/>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48516" name="Group 290"/>
          <p:cNvGrpSpPr/>
          <p:nvPr/>
        </p:nvGrpSpPr>
        <p:grpSpPr bwMode="auto">
          <a:xfrm>
            <a:off x="6576483" y="4288607"/>
            <a:ext cx="607087" cy="374650"/>
            <a:chOff x="3202" y="3033"/>
            <a:chExt cx="309" cy="192"/>
          </a:xfrm>
        </p:grpSpPr>
        <p:sp>
          <p:nvSpPr>
            <p:cNvPr id="148530" name="Oval 291"/>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8531"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32"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33" name="Oval 294"/>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8534" name="Group 295"/>
            <p:cNvGrpSpPr/>
            <p:nvPr/>
          </p:nvGrpSpPr>
          <p:grpSpPr bwMode="auto">
            <a:xfrm>
              <a:off x="3249" y="3046"/>
              <a:ext cx="214" cy="86"/>
              <a:chOff x="3249" y="3046"/>
              <a:chExt cx="214" cy="86"/>
            </a:xfrm>
          </p:grpSpPr>
          <p:grpSp>
            <p:nvGrpSpPr>
              <p:cNvPr id="148537" name="Group 296"/>
              <p:cNvGrpSpPr/>
              <p:nvPr/>
            </p:nvGrpSpPr>
            <p:grpSpPr bwMode="auto">
              <a:xfrm>
                <a:off x="3249" y="3046"/>
                <a:ext cx="212" cy="84"/>
                <a:chOff x="3249" y="3046"/>
                <a:chExt cx="212" cy="84"/>
              </a:xfrm>
            </p:grpSpPr>
            <p:sp>
              <p:nvSpPr>
                <p:cNvPr id="148547" name="Freeform 297"/>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8" name="Freeform 298"/>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9" name="Freeform 299"/>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0" name="Freeform 300"/>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1" name="Freeform 30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2" name="Freeform 302"/>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3" name="Freeform 303"/>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4" name="Freeform 304"/>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8538" name="Group 305"/>
              <p:cNvGrpSpPr/>
              <p:nvPr/>
            </p:nvGrpSpPr>
            <p:grpSpPr bwMode="auto">
              <a:xfrm>
                <a:off x="3251" y="3048"/>
                <a:ext cx="212" cy="84"/>
                <a:chOff x="3251" y="3048"/>
                <a:chExt cx="212" cy="84"/>
              </a:xfrm>
            </p:grpSpPr>
            <p:sp>
              <p:nvSpPr>
                <p:cNvPr id="148539" name="Freeform 306"/>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0" name="Freeform 307"/>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1" name="Freeform 308"/>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2" name="Freeform 309"/>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3" name="Freeform 310"/>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4" name="Freeform 31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5" name="Freeform 312"/>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6" name="Freeform 313"/>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8535" name="Line 314"/>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36" name="Line 315"/>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48517" name="Rectangle 316"/>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18" name="Rectangle 317"/>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8519" name="Rectangle 318"/>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20" name="Rectangle 319"/>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21" name="Rectangle 321"/>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22" name="Rectangle 323"/>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48523" name="Rectangle 324"/>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48524" name="Rectangle 325"/>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562502" name="Freeform 326"/>
          <p:cNvSpPr/>
          <p:nvPr/>
        </p:nvSpPr>
        <p:spPr bwMode="auto">
          <a:xfrm>
            <a:off x="1836738" y="4269558"/>
            <a:ext cx="990600" cy="1023937"/>
          </a:xfrm>
          <a:custGeom>
            <a:avLst/>
            <a:gdLst>
              <a:gd name="T0" fmla="*/ 0 w 504"/>
              <a:gd name="T1" fmla="*/ 0 h 524"/>
              <a:gd name="T2" fmla="*/ 2147483646 w 504"/>
              <a:gd name="T3" fmla="*/ 2147483646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62506" name="Freeform 330"/>
          <p:cNvSpPr/>
          <p:nvPr/>
        </p:nvSpPr>
        <p:spPr bwMode="auto">
          <a:xfrm>
            <a:off x="1073150" y="4625158"/>
            <a:ext cx="1802342" cy="871537"/>
          </a:xfrm>
          <a:custGeom>
            <a:avLst/>
            <a:gdLst>
              <a:gd name="T0" fmla="*/ 0 w 917"/>
              <a:gd name="T1" fmla="*/ 0 h 446"/>
              <a:gd name="T2" fmla="*/ 2147483646 w 917"/>
              <a:gd name="T3" fmla="*/ 214748364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62507" name="Freeform 331"/>
          <p:cNvSpPr/>
          <p:nvPr/>
        </p:nvSpPr>
        <p:spPr bwMode="auto">
          <a:xfrm>
            <a:off x="1683677" y="5277620"/>
            <a:ext cx="1155700" cy="366713"/>
          </a:xfrm>
          <a:custGeom>
            <a:avLst/>
            <a:gdLst>
              <a:gd name="T0" fmla="*/ 0 w 588"/>
              <a:gd name="T1" fmla="*/ 0 h 188"/>
              <a:gd name="T2" fmla="*/ 2147483646 w 588"/>
              <a:gd name="T3" fmla="*/ 2147483646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62508" name="Freeform 332"/>
          <p:cNvSpPr/>
          <p:nvPr/>
        </p:nvSpPr>
        <p:spPr bwMode="auto">
          <a:xfrm>
            <a:off x="1695715" y="3383732"/>
            <a:ext cx="1219333" cy="1776412"/>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8529" name="Text Box 340"/>
          <p:cNvSpPr txBox="1">
            <a:spLocks noChangeArrowheads="1"/>
          </p:cNvSpPr>
          <p:nvPr/>
        </p:nvSpPr>
        <p:spPr bwMode="auto">
          <a:xfrm>
            <a:off x="575824" y="1263725"/>
            <a:ext cx="8913680" cy="1373187"/>
          </a:xfrm>
          <a:prstGeom prst="rect">
            <a:avLst/>
          </a:prstGeom>
          <a:solidFill>
            <a:srgbClr val="FFFF66"/>
          </a:solidFill>
          <a:ln>
            <a:solidFill>
              <a:srgbClr val="000066"/>
            </a:solidFill>
          </a:ln>
          <a:effec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66"/>
                </a:solidFill>
                <a:latin typeface="Arial" panose="020B0604020202020204" pitchFamily="34" charset="0"/>
                <a:ea typeface="黑体" panose="02010609060101010101" pitchFamily="2" charset="-122"/>
              </a:rPr>
              <a:t>(1) </a:t>
            </a:r>
            <a:r>
              <a:rPr lang="zh-CN" altLang="en-US" sz="2800" b="1" dirty="0">
                <a:solidFill>
                  <a:srgbClr val="000066"/>
                </a:solidFill>
                <a:latin typeface="Arial" panose="020B0604020202020204" pitchFamily="34" charset="0"/>
                <a:ea typeface="黑体" panose="02010609060101010101" pitchFamily="2" charset="-122"/>
              </a:rPr>
              <a:t>浏览器访问互联网的服务器时，要先与校园网的高速缓存建立 </a:t>
            </a:r>
            <a:r>
              <a:rPr lang="en-US" altLang="zh-CN" sz="2800" b="1" dirty="0">
                <a:solidFill>
                  <a:srgbClr val="000066"/>
                </a:solidFill>
                <a:latin typeface="Arial" panose="020B0604020202020204" pitchFamily="34" charset="0"/>
                <a:ea typeface="黑体" panose="02010609060101010101" pitchFamily="2" charset="-122"/>
              </a:rPr>
              <a:t>TCP </a:t>
            </a:r>
            <a:r>
              <a:rPr lang="zh-CN" altLang="en-US" sz="2800" b="1" dirty="0">
                <a:solidFill>
                  <a:srgbClr val="000066"/>
                </a:solidFill>
                <a:latin typeface="Arial" panose="020B0604020202020204" pitchFamily="34" charset="0"/>
                <a:ea typeface="黑体" panose="02010609060101010101" pitchFamily="2" charset="-122"/>
              </a:rPr>
              <a:t>连接，并向高速缓存发出 </a:t>
            </a:r>
            <a:r>
              <a:rPr lang="en-US" altLang="zh-CN" sz="2800" b="1" dirty="0">
                <a:solidFill>
                  <a:srgbClr val="000066"/>
                </a:solidFill>
                <a:latin typeface="Arial" panose="020B0604020202020204" pitchFamily="34" charset="0"/>
                <a:ea typeface="黑体" panose="02010609060101010101" pitchFamily="2" charset="-122"/>
              </a:rPr>
              <a:t>HTTP </a:t>
            </a:r>
            <a:r>
              <a:rPr lang="zh-CN" altLang="en-US" sz="2800" b="1" dirty="0">
                <a:solidFill>
                  <a:srgbClr val="000066"/>
                </a:solidFill>
                <a:latin typeface="Arial" panose="020B0604020202020204" pitchFamily="34" charset="0"/>
                <a:ea typeface="黑体" panose="02010609060101010101" pitchFamily="2" charset="-122"/>
              </a:rPr>
              <a:t>请求</a:t>
            </a:r>
            <a:r>
              <a:rPr lang="zh-CN" altLang="en-US" sz="2800" b="1" dirty="0" smtClean="0">
                <a:solidFill>
                  <a:srgbClr val="000066"/>
                </a:solidFill>
                <a:latin typeface="Arial" panose="020B0604020202020204" pitchFamily="34" charset="0"/>
                <a:ea typeface="黑体" panose="02010609060101010101" pitchFamily="2" charset="-122"/>
              </a:rPr>
              <a:t>报文</a:t>
            </a:r>
            <a:r>
              <a:rPr lang="zh-CN" altLang="en-US" sz="2800" b="1" dirty="0">
                <a:solidFill>
                  <a:srgbClr val="000066"/>
                </a:solidFill>
                <a:latin typeface="Arial" panose="020B0604020202020204" pitchFamily="34" charset="0"/>
                <a:ea typeface="黑体" panose="02010609060101010101" pitchFamily="2" charset="-122"/>
              </a:rPr>
              <a:t>。</a:t>
            </a:r>
            <a:endParaRPr lang="zh-CN" altLang="en-US" sz="2800" b="1" dirty="0">
              <a:solidFill>
                <a:srgbClr val="000066"/>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2508"/>
                                        </p:tgtEl>
                                        <p:attrNameLst>
                                          <p:attrName>style.visibility</p:attrName>
                                        </p:attrNameLst>
                                      </p:cBhvr>
                                      <p:to>
                                        <p:strVal val="visible"/>
                                      </p:to>
                                    </p:set>
                                    <p:animEffect transition="in" filter="wipe(up)">
                                      <p:cBhvr>
                                        <p:cTn id="7" dur="500"/>
                                        <p:tgtEl>
                                          <p:spTgt spid="562508"/>
                                        </p:tgtEl>
                                      </p:cBhvr>
                                    </p:animEffect>
                                  </p:childTnLst>
                                </p:cTn>
                              </p:par>
                            </p:childTnLst>
                          </p:cTn>
                        </p:par>
                        <p:par>
                          <p:cTn id="8" fill="hold">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562502"/>
                                        </p:tgtEl>
                                        <p:attrNameLst>
                                          <p:attrName>style.visibility</p:attrName>
                                        </p:attrNameLst>
                                      </p:cBhvr>
                                      <p:to>
                                        <p:strVal val="visible"/>
                                      </p:to>
                                    </p:set>
                                    <p:animEffect transition="in" filter="wipe(up)">
                                      <p:cBhvr>
                                        <p:cTn id="11" dur="500"/>
                                        <p:tgtEl>
                                          <p:spTgt spid="562502"/>
                                        </p:tgtEl>
                                      </p:cBhvr>
                                    </p:animEffect>
                                  </p:childTnLst>
                                </p:cTn>
                              </p:par>
                            </p:childTnLst>
                          </p:cTn>
                        </p:par>
                        <p:par>
                          <p:cTn id="12" fill="hold">
                            <p:stCondLst>
                              <p:cond delay="1500"/>
                            </p:stCondLst>
                            <p:childTnLst>
                              <p:par>
                                <p:cTn id="13" presetID="22" presetClass="entr" presetSubtype="8" fill="hold" grpId="0" nodeType="afterEffect">
                                  <p:stCondLst>
                                    <p:cond delay="500"/>
                                  </p:stCondLst>
                                  <p:childTnLst>
                                    <p:set>
                                      <p:cBhvr>
                                        <p:cTn id="14" dur="1" fill="hold">
                                          <p:stCondLst>
                                            <p:cond delay="0"/>
                                          </p:stCondLst>
                                        </p:cTn>
                                        <p:tgtEl>
                                          <p:spTgt spid="562506"/>
                                        </p:tgtEl>
                                        <p:attrNameLst>
                                          <p:attrName>style.visibility</p:attrName>
                                        </p:attrNameLst>
                                      </p:cBhvr>
                                      <p:to>
                                        <p:strVal val="visible"/>
                                      </p:to>
                                    </p:set>
                                    <p:animEffect transition="in" filter="wipe(left)">
                                      <p:cBhvr>
                                        <p:cTn id="15" dur="500"/>
                                        <p:tgtEl>
                                          <p:spTgt spid="562506"/>
                                        </p:tgtEl>
                                      </p:cBhvr>
                                    </p:animEffect>
                                  </p:childTnLst>
                                </p:cTn>
                              </p:par>
                            </p:childTnLst>
                          </p:cTn>
                        </p:par>
                        <p:par>
                          <p:cTn id="16" fill="hold">
                            <p:stCondLst>
                              <p:cond delay="2500"/>
                            </p:stCondLst>
                            <p:childTnLst>
                              <p:par>
                                <p:cTn id="17" presetID="22" presetClass="entr" presetSubtype="8" fill="hold" grpId="0" nodeType="afterEffect">
                                  <p:stCondLst>
                                    <p:cond delay="500"/>
                                  </p:stCondLst>
                                  <p:childTnLst>
                                    <p:set>
                                      <p:cBhvr>
                                        <p:cTn id="18" dur="1" fill="hold">
                                          <p:stCondLst>
                                            <p:cond delay="0"/>
                                          </p:stCondLst>
                                        </p:cTn>
                                        <p:tgtEl>
                                          <p:spTgt spid="562507"/>
                                        </p:tgtEl>
                                        <p:attrNameLst>
                                          <p:attrName>style.visibility</p:attrName>
                                        </p:attrNameLst>
                                      </p:cBhvr>
                                      <p:to>
                                        <p:strVal val="visible"/>
                                      </p:to>
                                    </p:set>
                                    <p:animEffect transition="in" filter="wipe(left)">
                                      <p:cBhvr>
                                        <p:cTn id="19" dur="500"/>
                                        <p:tgtEl>
                                          <p:spTgt spid="562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502" grpId="0" animBg="1"/>
      <p:bldP spid="562506" grpId="0" animBg="1"/>
      <p:bldP spid="562507" grpId="0" animBg="1"/>
      <p:bldP spid="56250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algn="ctr" eaLnBrk="1" hangingPunct="1">
              <a:defRPr/>
            </a:pPr>
            <a:r>
              <a:rPr dirty="0"/>
              <a:t>使用高速缓存的情况</a:t>
            </a:r>
            <a:endParaRPr dirty="0"/>
          </a:p>
        </p:txBody>
      </p:sp>
      <p:grpSp>
        <p:nvGrpSpPr>
          <p:cNvPr id="150531" name="Group 3"/>
          <p:cNvGrpSpPr/>
          <p:nvPr/>
        </p:nvGrpSpPr>
        <p:grpSpPr bwMode="auto">
          <a:xfrm>
            <a:off x="271727" y="3205932"/>
            <a:ext cx="3742267" cy="2570162"/>
            <a:chOff x="912" y="768"/>
            <a:chExt cx="2400" cy="1584"/>
          </a:xfrm>
        </p:grpSpPr>
        <p:sp>
          <p:nvSpPr>
            <p:cNvPr id="150834"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5"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6"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7"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8"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9"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0"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1"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2"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0843" name="Group 13"/>
            <p:cNvGrpSpPr/>
            <p:nvPr/>
          </p:nvGrpSpPr>
          <p:grpSpPr bwMode="auto">
            <a:xfrm>
              <a:off x="912" y="768"/>
              <a:ext cx="2386" cy="1553"/>
              <a:chOff x="912" y="768"/>
              <a:chExt cx="2386" cy="1553"/>
            </a:xfrm>
          </p:grpSpPr>
          <p:sp>
            <p:nvSpPr>
              <p:cNvPr id="150844"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5"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6"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7"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8"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9"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50"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51"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52"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0532"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1529" name="VISIO" r:id="rId1" imgW="1687195" imgH="964565" progId="Visio.Drawing.6">
                  <p:embed/>
                </p:oleObj>
              </mc:Choice>
              <mc:Fallback>
                <p:oleObj name="VISIO" r:id="rId1" imgW="1687195" imgH="964565" progId="Visio.Drawing.6">
                  <p:embed/>
                  <p:pic>
                    <p:nvPicPr>
                      <p:cNvPr id="0" name="图片 215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0533"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0534"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35"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36"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37"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538" name="Group 29"/>
          <p:cNvGrpSpPr/>
          <p:nvPr/>
        </p:nvGrpSpPr>
        <p:grpSpPr bwMode="auto">
          <a:xfrm>
            <a:off x="9099418" y="3696469"/>
            <a:ext cx="426508" cy="661988"/>
            <a:chOff x="4486" y="2730"/>
            <a:chExt cx="217" cy="339"/>
          </a:xfrm>
        </p:grpSpPr>
        <p:grpSp>
          <p:nvGrpSpPr>
            <p:cNvPr id="150814" name="Group 30"/>
            <p:cNvGrpSpPr/>
            <p:nvPr/>
          </p:nvGrpSpPr>
          <p:grpSpPr bwMode="auto">
            <a:xfrm>
              <a:off x="4491" y="2736"/>
              <a:ext cx="212" cy="333"/>
              <a:chOff x="4491" y="2736"/>
              <a:chExt cx="212" cy="333"/>
            </a:xfrm>
          </p:grpSpPr>
          <p:sp>
            <p:nvSpPr>
              <p:cNvPr id="150825"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6"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7"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8"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9"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30"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31"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32"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33"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815" name="Group 40"/>
            <p:cNvGrpSpPr/>
            <p:nvPr/>
          </p:nvGrpSpPr>
          <p:grpSpPr bwMode="auto">
            <a:xfrm>
              <a:off x="4486" y="2730"/>
              <a:ext cx="212" cy="333"/>
              <a:chOff x="4486" y="2730"/>
              <a:chExt cx="212" cy="333"/>
            </a:xfrm>
          </p:grpSpPr>
          <p:sp>
            <p:nvSpPr>
              <p:cNvPr id="150816"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17"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18"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19"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0"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21"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22"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23"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24"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0539" name="Group 50"/>
          <p:cNvGrpSpPr/>
          <p:nvPr/>
        </p:nvGrpSpPr>
        <p:grpSpPr bwMode="auto">
          <a:xfrm>
            <a:off x="9099418" y="4556894"/>
            <a:ext cx="426508" cy="661988"/>
            <a:chOff x="4486" y="3170"/>
            <a:chExt cx="217" cy="339"/>
          </a:xfrm>
        </p:grpSpPr>
        <p:grpSp>
          <p:nvGrpSpPr>
            <p:cNvPr id="150794" name="Group 51"/>
            <p:cNvGrpSpPr/>
            <p:nvPr/>
          </p:nvGrpSpPr>
          <p:grpSpPr bwMode="auto">
            <a:xfrm>
              <a:off x="4491" y="3176"/>
              <a:ext cx="212" cy="333"/>
              <a:chOff x="4491" y="3176"/>
              <a:chExt cx="212" cy="333"/>
            </a:xfrm>
          </p:grpSpPr>
          <p:sp>
            <p:nvSpPr>
              <p:cNvPr id="150805"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6"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7"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8"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9"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10"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11"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12"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13"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795" name="Group 61"/>
            <p:cNvGrpSpPr/>
            <p:nvPr/>
          </p:nvGrpSpPr>
          <p:grpSpPr bwMode="auto">
            <a:xfrm>
              <a:off x="4486" y="3170"/>
              <a:ext cx="212" cy="332"/>
              <a:chOff x="4486" y="3170"/>
              <a:chExt cx="212" cy="332"/>
            </a:xfrm>
          </p:grpSpPr>
          <p:sp>
            <p:nvSpPr>
              <p:cNvPr id="150796"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97"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98"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99"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0"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01"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02"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03"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04"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0540" name="Group 71"/>
          <p:cNvGrpSpPr/>
          <p:nvPr/>
        </p:nvGrpSpPr>
        <p:grpSpPr bwMode="auto">
          <a:xfrm>
            <a:off x="8655712" y="5229994"/>
            <a:ext cx="423069" cy="661988"/>
            <a:chOff x="4260" y="3515"/>
            <a:chExt cx="216" cy="339"/>
          </a:xfrm>
        </p:grpSpPr>
        <p:grpSp>
          <p:nvGrpSpPr>
            <p:cNvPr id="150774" name="Group 72"/>
            <p:cNvGrpSpPr/>
            <p:nvPr/>
          </p:nvGrpSpPr>
          <p:grpSpPr bwMode="auto">
            <a:xfrm>
              <a:off x="4265" y="3521"/>
              <a:ext cx="211" cy="333"/>
              <a:chOff x="4265" y="3521"/>
              <a:chExt cx="211" cy="333"/>
            </a:xfrm>
          </p:grpSpPr>
          <p:sp>
            <p:nvSpPr>
              <p:cNvPr id="150785"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6"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7"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8"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9"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90"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91"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92"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93"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775" name="Group 82"/>
            <p:cNvGrpSpPr/>
            <p:nvPr/>
          </p:nvGrpSpPr>
          <p:grpSpPr bwMode="auto">
            <a:xfrm>
              <a:off x="4260" y="3515"/>
              <a:ext cx="211" cy="332"/>
              <a:chOff x="4260" y="3515"/>
              <a:chExt cx="211" cy="332"/>
            </a:xfrm>
          </p:grpSpPr>
          <p:sp>
            <p:nvSpPr>
              <p:cNvPr id="150776"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7"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8"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9"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0"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81"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82"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83"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84"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0541"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0542"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3"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4"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5"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6"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7"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0548" name="Line 99"/>
          <p:cNvSpPr>
            <a:spLocks noChangeShapeType="1"/>
          </p:cNvSpPr>
          <p:nvPr/>
        </p:nvSpPr>
        <p:spPr bwMode="auto">
          <a:xfrm>
            <a:off x="2301081" y="4483869"/>
            <a:ext cx="1515137"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549" name="Group 100"/>
          <p:cNvGrpSpPr/>
          <p:nvPr/>
        </p:nvGrpSpPr>
        <p:grpSpPr bwMode="auto">
          <a:xfrm>
            <a:off x="3656277" y="4288607"/>
            <a:ext cx="607087" cy="374650"/>
            <a:chOff x="2154" y="3033"/>
            <a:chExt cx="309" cy="192"/>
          </a:xfrm>
        </p:grpSpPr>
        <p:sp>
          <p:nvSpPr>
            <p:cNvPr id="150749"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0750"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51"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52"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0753" name="Group 105"/>
            <p:cNvGrpSpPr/>
            <p:nvPr/>
          </p:nvGrpSpPr>
          <p:grpSpPr bwMode="auto">
            <a:xfrm>
              <a:off x="2201" y="3046"/>
              <a:ext cx="214" cy="86"/>
              <a:chOff x="2201" y="3046"/>
              <a:chExt cx="214" cy="86"/>
            </a:xfrm>
          </p:grpSpPr>
          <p:grpSp>
            <p:nvGrpSpPr>
              <p:cNvPr id="150756" name="Group 106"/>
              <p:cNvGrpSpPr/>
              <p:nvPr/>
            </p:nvGrpSpPr>
            <p:grpSpPr bwMode="auto">
              <a:xfrm>
                <a:off x="2201" y="3046"/>
                <a:ext cx="212" cy="84"/>
                <a:chOff x="2201" y="3046"/>
                <a:chExt cx="212" cy="84"/>
              </a:xfrm>
            </p:grpSpPr>
            <p:sp>
              <p:nvSpPr>
                <p:cNvPr id="150766"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7"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8"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9"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0"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1"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2"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3"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0757" name="Group 115"/>
              <p:cNvGrpSpPr/>
              <p:nvPr/>
            </p:nvGrpSpPr>
            <p:grpSpPr bwMode="auto">
              <a:xfrm>
                <a:off x="2203" y="3048"/>
                <a:ext cx="212" cy="84"/>
                <a:chOff x="2203" y="3048"/>
                <a:chExt cx="212" cy="84"/>
              </a:xfrm>
            </p:grpSpPr>
            <p:sp>
              <p:nvSpPr>
                <p:cNvPr id="150758"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59"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0"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1"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2"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3"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4"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5"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0754"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55"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550" name="Group 126"/>
          <p:cNvGrpSpPr/>
          <p:nvPr/>
        </p:nvGrpSpPr>
        <p:grpSpPr bwMode="auto">
          <a:xfrm>
            <a:off x="1234810" y="3075758"/>
            <a:ext cx="557213" cy="517525"/>
            <a:chOff x="921" y="2412"/>
            <a:chExt cx="284" cy="265"/>
          </a:xfrm>
        </p:grpSpPr>
        <p:grpSp>
          <p:nvGrpSpPr>
            <p:cNvPr id="150723" name="Group 127"/>
            <p:cNvGrpSpPr/>
            <p:nvPr/>
          </p:nvGrpSpPr>
          <p:grpSpPr bwMode="auto">
            <a:xfrm>
              <a:off x="928" y="2417"/>
              <a:ext cx="277" cy="260"/>
              <a:chOff x="928" y="2417"/>
              <a:chExt cx="277" cy="260"/>
            </a:xfrm>
          </p:grpSpPr>
          <p:sp>
            <p:nvSpPr>
              <p:cNvPr id="150737"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8"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9"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0"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1"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42"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43"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44"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45" name="Group 136"/>
              <p:cNvGrpSpPr/>
              <p:nvPr/>
            </p:nvGrpSpPr>
            <p:grpSpPr bwMode="auto">
              <a:xfrm>
                <a:off x="928" y="2639"/>
                <a:ext cx="277" cy="38"/>
                <a:chOff x="928" y="2639"/>
                <a:chExt cx="277" cy="38"/>
              </a:xfrm>
            </p:grpSpPr>
            <p:sp>
              <p:nvSpPr>
                <p:cNvPr id="150746"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7"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8"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724" name="Group 140"/>
            <p:cNvGrpSpPr/>
            <p:nvPr/>
          </p:nvGrpSpPr>
          <p:grpSpPr bwMode="auto">
            <a:xfrm>
              <a:off x="921" y="2412"/>
              <a:ext cx="277" cy="261"/>
              <a:chOff x="921" y="2412"/>
              <a:chExt cx="277" cy="261"/>
            </a:xfrm>
          </p:grpSpPr>
          <p:sp>
            <p:nvSpPr>
              <p:cNvPr id="150725"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6"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7"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8"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9"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30"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31"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32"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33" name="Group 149"/>
              <p:cNvGrpSpPr/>
              <p:nvPr/>
            </p:nvGrpSpPr>
            <p:grpSpPr bwMode="auto">
              <a:xfrm>
                <a:off x="921" y="2635"/>
                <a:ext cx="277" cy="38"/>
                <a:chOff x="921" y="2635"/>
                <a:chExt cx="277" cy="38"/>
              </a:xfrm>
            </p:grpSpPr>
            <p:sp>
              <p:nvSpPr>
                <p:cNvPr id="150734"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5"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6"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1" name="Group 153"/>
          <p:cNvGrpSpPr/>
          <p:nvPr/>
        </p:nvGrpSpPr>
        <p:grpSpPr bwMode="auto">
          <a:xfrm>
            <a:off x="1384433" y="3785370"/>
            <a:ext cx="553773" cy="517525"/>
            <a:chOff x="997" y="2775"/>
            <a:chExt cx="282" cy="265"/>
          </a:xfrm>
        </p:grpSpPr>
        <p:grpSp>
          <p:nvGrpSpPr>
            <p:cNvPr id="150697" name="Group 154"/>
            <p:cNvGrpSpPr/>
            <p:nvPr/>
          </p:nvGrpSpPr>
          <p:grpSpPr bwMode="auto">
            <a:xfrm>
              <a:off x="1004" y="2779"/>
              <a:ext cx="275" cy="261"/>
              <a:chOff x="1004" y="2779"/>
              <a:chExt cx="275" cy="261"/>
            </a:xfrm>
          </p:grpSpPr>
          <p:sp>
            <p:nvSpPr>
              <p:cNvPr id="150711"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2"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3"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4"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5"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16"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17"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18"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19" name="Group 163"/>
              <p:cNvGrpSpPr/>
              <p:nvPr/>
            </p:nvGrpSpPr>
            <p:grpSpPr bwMode="auto">
              <a:xfrm>
                <a:off x="1004" y="3002"/>
                <a:ext cx="275" cy="38"/>
                <a:chOff x="1004" y="3002"/>
                <a:chExt cx="275" cy="38"/>
              </a:xfrm>
            </p:grpSpPr>
            <p:sp>
              <p:nvSpPr>
                <p:cNvPr id="150720"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1"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2"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698" name="Group 167"/>
            <p:cNvGrpSpPr/>
            <p:nvPr/>
          </p:nvGrpSpPr>
          <p:grpSpPr bwMode="auto">
            <a:xfrm>
              <a:off x="997" y="2775"/>
              <a:ext cx="275" cy="260"/>
              <a:chOff x="997" y="2775"/>
              <a:chExt cx="275" cy="260"/>
            </a:xfrm>
          </p:grpSpPr>
          <p:sp>
            <p:nvSpPr>
              <p:cNvPr id="150699"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0"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1"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2"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3"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04"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05"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06"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07" name="Group 176"/>
              <p:cNvGrpSpPr/>
              <p:nvPr/>
            </p:nvGrpSpPr>
            <p:grpSpPr bwMode="auto">
              <a:xfrm>
                <a:off x="997" y="2997"/>
                <a:ext cx="275" cy="38"/>
                <a:chOff x="997" y="2997"/>
                <a:chExt cx="275" cy="38"/>
              </a:xfrm>
            </p:grpSpPr>
            <p:sp>
              <p:nvSpPr>
                <p:cNvPr id="150708"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9"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0"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2" name="Group 180"/>
          <p:cNvGrpSpPr/>
          <p:nvPr/>
        </p:nvGrpSpPr>
        <p:grpSpPr bwMode="auto">
          <a:xfrm>
            <a:off x="584730" y="4315595"/>
            <a:ext cx="553773" cy="517525"/>
            <a:chOff x="590" y="3047"/>
            <a:chExt cx="282" cy="265"/>
          </a:xfrm>
        </p:grpSpPr>
        <p:grpSp>
          <p:nvGrpSpPr>
            <p:cNvPr id="150671" name="Group 181"/>
            <p:cNvGrpSpPr/>
            <p:nvPr/>
          </p:nvGrpSpPr>
          <p:grpSpPr bwMode="auto">
            <a:xfrm>
              <a:off x="596" y="3051"/>
              <a:ext cx="276" cy="261"/>
              <a:chOff x="596" y="3051"/>
              <a:chExt cx="276" cy="261"/>
            </a:xfrm>
          </p:grpSpPr>
          <p:sp>
            <p:nvSpPr>
              <p:cNvPr id="150685"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6"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7"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8"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9"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90"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91"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92"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93" name="Group 190"/>
              <p:cNvGrpSpPr/>
              <p:nvPr/>
            </p:nvGrpSpPr>
            <p:grpSpPr bwMode="auto">
              <a:xfrm>
                <a:off x="596" y="3274"/>
                <a:ext cx="276" cy="38"/>
                <a:chOff x="596" y="3274"/>
                <a:chExt cx="276" cy="38"/>
              </a:xfrm>
            </p:grpSpPr>
            <p:sp>
              <p:nvSpPr>
                <p:cNvPr id="150694"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95"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96"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672" name="Group 194"/>
            <p:cNvGrpSpPr/>
            <p:nvPr/>
          </p:nvGrpSpPr>
          <p:grpSpPr bwMode="auto">
            <a:xfrm>
              <a:off x="590" y="3047"/>
              <a:ext cx="275" cy="260"/>
              <a:chOff x="590" y="3047"/>
              <a:chExt cx="275" cy="260"/>
            </a:xfrm>
          </p:grpSpPr>
          <p:sp>
            <p:nvSpPr>
              <p:cNvPr id="150673"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4"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5"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6"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7"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78"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79"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80"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81" name="Group 203"/>
              <p:cNvGrpSpPr/>
              <p:nvPr/>
            </p:nvGrpSpPr>
            <p:grpSpPr bwMode="auto">
              <a:xfrm>
                <a:off x="590" y="3269"/>
                <a:ext cx="275" cy="38"/>
                <a:chOff x="590" y="3269"/>
                <a:chExt cx="275" cy="38"/>
              </a:xfrm>
            </p:grpSpPr>
            <p:sp>
              <p:nvSpPr>
                <p:cNvPr id="150682"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3"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4"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3" name="Group 207"/>
          <p:cNvGrpSpPr/>
          <p:nvPr/>
        </p:nvGrpSpPr>
        <p:grpSpPr bwMode="auto">
          <a:xfrm>
            <a:off x="1205575" y="4937895"/>
            <a:ext cx="552053" cy="517525"/>
            <a:chOff x="906" y="3365"/>
            <a:chExt cx="281" cy="265"/>
          </a:xfrm>
        </p:grpSpPr>
        <p:grpSp>
          <p:nvGrpSpPr>
            <p:cNvPr id="150645" name="Group 208"/>
            <p:cNvGrpSpPr/>
            <p:nvPr/>
          </p:nvGrpSpPr>
          <p:grpSpPr bwMode="auto">
            <a:xfrm>
              <a:off x="912" y="3369"/>
              <a:ext cx="275" cy="261"/>
              <a:chOff x="912" y="3369"/>
              <a:chExt cx="275" cy="261"/>
            </a:xfrm>
          </p:grpSpPr>
          <p:sp>
            <p:nvSpPr>
              <p:cNvPr id="150659"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0"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1"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2"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3"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64"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65"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66"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67" name="Group 217"/>
              <p:cNvGrpSpPr/>
              <p:nvPr/>
            </p:nvGrpSpPr>
            <p:grpSpPr bwMode="auto">
              <a:xfrm>
                <a:off x="912" y="3592"/>
                <a:ext cx="275" cy="38"/>
                <a:chOff x="912" y="3592"/>
                <a:chExt cx="275" cy="38"/>
              </a:xfrm>
            </p:grpSpPr>
            <p:sp>
              <p:nvSpPr>
                <p:cNvPr id="150668"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9"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0"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646" name="Group 221"/>
            <p:cNvGrpSpPr/>
            <p:nvPr/>
          </p:nvGrpSpPr>
          <p:grpSpPr bwMode="auto">
            <a:xfrm>
              <a:off x="906" y="3365"/>
              <a:ext cx="275" cy="261"/>
              <a:chOff x="906" y="3365"/>
              <a:chExt cx="275" cy="261"/>
            </a:xfrm>
          </p:grpSpPr>
          <p:sp>
            <p:nvSpPr>
              <p:cNvPr id="150647"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48"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49"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0"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1"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52"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53"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54"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55" name="Group 230"/>
              <p:cNvGrpSpPr/>
              <p:nvPr/>
            </p:nvGrpSpPr>
            <p:grpSpPr bwMode="auto">
              <a:xfrm>
                <a:off x="906" y="3587"/>
                <a:ext cx="275" cy="39"/>
                <a:chOff x="906" y="3587"/>
                <a:chExt cx="275" cy="39"/>
              </a:xfrm>
            </p:grpSpPr>
            <p:sp>
              <p:nvSpPr>
                <p:cNvPr id="150656"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7"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8"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4" name="Group 234"/>
          <p:cNvGrpSpPr/>
          <p:nvPr/>
        </p:nvGrpSpPr>
        <p:grpSpPr bwMode="auto">
          <a:xfrm>
            <a:off x="2820458" y="5058544"/>
            <a:ext cx="481542" cy="839788"/>
            <a:chOff x="1660" y="3427"/>
            <a:chExt cx="217" cy="339"/>
          </a:xfrm>
        </p:grpSpPr>
        <p:grpSp>
          <p:nvGrpSpPr>
            <p:cNvPr id="150625" name="Group 235"/>
            <p:cNvGrpSpPr/>
            <p:nvPr/>
          </p:nvGrpSpPr>
          <p:grpSpPr bwMode="auto">
            <a:xfrm>
              <a:off x="1665" y="3433"/>
              <a:ext cx="212" cy="333"/>
              <a:chOff x="1665" y="3433"/>
              <a:chExt cx="212" cy="333"/>
            </a:xfrm>
          </p:grpSpPr>
          <p:sp>
            <p:nvSpPr>
              <p:cNvPr id="150636"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7"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8"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9"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40"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41"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42"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43"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44"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626" name="Group 245"/>
            <p:cNvGrpSpPr/>
            <p:nvPr/>
          </p:nvGrpSpPr>
          <p:grpSpPr bwMode="auto">
            <a:xfrm>
              <a:off x="1660" y="3427"/>
              <a:ext cx="212" cy="333"/>
              <a:chOff x="1660" y="3427"/>
              <a:chExt cx="212" cy="333"/>
            </a:xfrm>
          </p:grpSpPr>
          <p:sp>
            <p:nvSpPr>
              <p:cNvPr id="150627"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28"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29"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0"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1"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32"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33"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34"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35"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0555"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56"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0557"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58"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校园网的高速缓存</a:t>
            </a:r>
            <a:endParaRPr kumimoji="1" lang="zh-CN" altLang="en-US" sz="20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（代理服务器）</a:t>
            </a:r>
            <a:endParaRPr kumimoji="1" lang="zh-CN" altLang="en-US" sz="2000" b="1">
              <a:solidFill>
                <a:srgbClr val="000099"/>
              </a:solidFill>
              <a:latin typeface="Arial" panose="020B0604020202020204" pitchFamily="34" charset="0"/>
              <a:ea typeface="黑体" panose="02010609060101010101" pitchFamily="2" charset="-122"/>
            </a:endParaRPr>
          </a:p>
        </p:txBody>
      </p:sp>
      <p:grpSp>
        <p:nvGrpSpPr>
          <p:cNvPr id="150559" name="Group 259"/>
          <p:cNvGrpSpPr/>
          <p:nvPr/>
        </p:nvGrpSpPr>
        <p:grpSpPr bwMode="auto">
          <a:xfrm>
            <a:off x="8743421" y="2924944"/>
            <a:ext cx="424789" cy="661988"/>
            <a:chOff x="4305" y="2335"/>
            <a:chExt cx="216" cy="339"/>
          </a:xfrm>
        </p:grpSpPr>
        <p:grpSp>
          <p:nvGrpSpPr>
            <p:cNvPr id="150605" name="Group 260"/>
            <p:cNvGrpSpPr/>
            <p:nvPr/>
          </p:nvGrpSpPr>
          <p:grpSpPr bwMode="auto">
            <a:xfrm>
              <a:off x="4310" y="2341"/>
              <a:ext cx="211" cy="333"/>
              <a:chOff x="4310" y="2341"/>
              <a:chExt cx="211" cy="333"/>
            </a:xfrm>
          </p:grpSpPr>
          <p:sp>
            <p:nvSpPr>
              <p:cNvPr id="150616"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7"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8"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9"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20"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21"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22"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23"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24"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606" name="Group 270"/>
            <p:cNvGrpSpPr/>
            <p:nvPr/>
          </p:nvGrpSpPr>
          <p:grpSpPr bwMode="auto">
            <a:xfrm>
              <a:off x="4305" y="2335"/>
              <a:ext cx="211" cy="332"/>
              <a:chOff x="4305" y="2335"/>
              <a:chExt cx="211" cy="332"/>
            </a:xfrm>
          </p:grpSpPr>
          <p:sp>
            <p:nvSpPr>
              <p:cNvPr id="150607"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8"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9"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0"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1"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12"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13"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14"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15"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0560"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0561"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2" name="Rectangle 282"/>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a:t>
            </a:r>
            <a:r>
              <a:rPr kumimoji="1" lang="en-US" altLang="zh-CN" sz="2000" b="1" dirty="0" smtClean="0">
                <a:solidFill>
                  <a:srgbClr val="000099"/>
                </a:solidFill>
                <a:latin typeface="Arial" panose="020B0604020202020204" pitchFamily="34" charset="0"/>
                <a:ea typeface="黑体" panose="02010609060101010101" pitchFamily="2" charset="-122"/>
              </a:rPr>
              <a:t>Mbit/s</a:t>
            </a:r>
            <a:endParaRPr kumimoji="1" lang="en-US" altLang="zh-CN" sz="2000" b="1" dirty="0">
              <a:solidFill>
                <a:srgbClr val="000099"/>
              </a:solidFill>
              <a:latin typeface="Arial" panose="020B0604020202020204" pitchFamily="34" charset="0"/>
              <a:ea typeface="黑体" panose="02010609060101010101" pitchFamily="2" charset="-122"/>
            </a:endParaRPr>
          </a:p>
        </p:txBody>
      </p:sp>
      <p:grpSp>
        <p:nvGrpSpPr>
          <p:cNvPr id="150563" name="Group 283"/>
          <p:cNvGrpSpPr/>
          <p:nvPr/>
        </p:nvGrpSpPr>
        <p:grpSpPr bwMode="auto">
          <a:xfrm>
            <a:off x="3102504" y="5544319"/>
            <a:ext cx="565812" cy="260350"/>
            <a:chOff x="1872" y="3676"/>
            <a:chExt cx="227" cy="136"/>
          </a:xfrm>
        </p:grpSpPr>
        <p:sp>
          <p:nvSpPr>
            <p:cNvPr id="150603"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04"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0564" name="Group 286"/>
          <p:cNvGrpSpPr/>
          <p:nvPr/>
        </p:nvGrpSpPr>
        <p:grpSpPr bwMode="auto">
          <a:xfrm>
            <a:off x="6576483" y="4288607"/>
            <a:ext cx="607087" cy="374650"/>
            <a:chOff x="3202" y="3033"/>
            <a:chExt cx="309" cy="192"/>
          </a:xfrm>
        </p:grpSpPr>
        <p:sp>
          <p:nvSpPr>
            <p:cNvPr id="150578"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0579"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80"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81"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0582" name="Group 291"/>
            <p:cNvGrpSpPr/>
            <p:nvPr/>
          </p:nvGrpSpPr>
          <p:grpSpPr bwMode="auto">
            <a:xfrm>
              <a:off x="3249" y="3046"/>
              <a:ext cx="214" cy="86"/>
              <a:chOff x="3249" y="3046"/>
              <a:chExt cx="214" cy="86"/>
            </a:xfrm>
          </p:grpSpPr>
          <p:grpSp>
            <p:nvGrpSpPr>
              <p:cNvPr id="150585" name="Group 292"/>
              <p:cNvGrpSpPr/>
              <p:nvPr/>
            </p:nvGrpSpPr>
            <p:grpSpPr bwMode="auto">
              <a:xfrm>
                <a:off x="3249" y="3046"/>
                <a:ext cx="212" cy="84"/>
                <a:chOff x="3249" y="3046"/>
                <a:chExt cx="212" cy="84"/>
              </a:xfrm>
            </p:grpSpPr>
            <p:sp>
              <p:nvSpPr>
                <p:cNvPr id="150595"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6"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7"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8"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9"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0"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1"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2"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0586" name="Group 301"/>
              <p:cNvGrpSpPr/>
              <p:nvPr/>
            </p:nvGrpSpPr>
            <p:grpSpPr bwMode="auto">
              <a:xfrm>
                <a:off x="3251" y="3048"/>
                <a:ext cx="212" cy="84"/>
                <a:chOff x="3251" y="3048"/>
                <a:chExt cx="212" cy="84"/>
              </a:xfrm>
            </p:grpSpPr>
            <p:sp>
              <p:nvSpPr>
                <p:cNvPr id="150587"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88"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89"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0"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1"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2"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3"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4"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0583"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84"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0565"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6" name="Rectangle 313"/>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0567"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8"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9" name="Rectangle 316"/>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70" name="Rectangle 317"/>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0571" name="Rectangle 318"/>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50572" name="Rectangle 319"/>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649536" name="Freeform 320"/>
          <p:cNvSpPr/>
          <p:nvPr/>
        </p:nvSpPr>
        <p:spPr bwMode="auto">
          <a:xfrm>
            <a:off x="1836738" y="4269558"/>
            <a:ext cx="990600" cy="1023937"/>
          </a:xfrm>
          <a:custGeom>
            <a:avLst/>
            <a:gdLst>
              <a:gd name="T0" fmla="*/ 0 w 504"/>
              <a:gd name="T1" fmla="*/ 0 h 524"/>
              <a:gd name="T2" fmla="*/ 2147483646 w 504"/>
              <a:gd name="T3" fmla="*/ 2147483646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9537" name="Freeform 321"/>
          <p:cNvSpPr/>
          <p:nvPr/>
        </p:nvSpPr>
        <p:spPr bwMode="auto">
          <a:xfrm>
            <a:off x="1073150" y="4625158"/>
            <a:ext cx="1802342" cy="871537"/>
          </a:xfrm>
          <a:custGeom>
            <a:avLst/>
            <a:gdLst>
              <a:gd name="T0" fmla="*/ 0 w 917"/>
              <a:gd name="T1" fmla="*/ 0 h 446"/>
              <a:gd name="T2" fmla="*/ 2147483646 w 917"/>
              <a:gd name="T3" fmla="*/ 214748364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9538" name="Freeform 322"/>
          <p:cNvSpPr/>
          <p:nvPr/>
        </p:nvSpPr>
        <p:spPr bwMode="auto">
          <a:xfrm>
            <a:off x="1683677" y="5277620"/>
            <a:ext cx="1155700" cy="366713"/>
          </a:xfrm>
          <a:custGeom>
            <a:avLst/>
            <a:gdLst>
              <a:gd name="T0" fmla="*/ 0 w 588"/>
              <a:gd name="T1" fmla="*/ 0 h 188"/>
              <a:gd name="T2" fmla="*/ 2147483646 w 588"/>
              <a:gd name="T3" fmla="*/ 2147483646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9539" name="Freeform 323"/>
          <p:cNvSpPr/>
          <p:nvPr/>
        </p:nvSpPr>
        <p:spPr bwMode="auto">
          <a:xfrm>
            <a:off x="1695715" y="3383732"/>
            <a:ext cx="1219333" cy="1776412"/>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0577" name="Text Box 324"/>
          <p:cNvSpPr txBox="1">
            <a:spLocks noChangeArrowheads="1"/>
          </p:cNvSpPr>
          <p:nvPr/>
        </p:nvSpPr>
        <p:spPr bwMode="auto">
          <a:xfrm>
            <a:off x="507339" y="1268760"/>
            <a:ext cx="8913680" cy="946150"/>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(2) </a:t>
            </a:r>
            <a:r>
              <a:rPr lang="zh-CN" altLang="en-US" dirty="0"/>
              <a:t>若高速缓存已经存放了所请求的对象，则将此对象放入 </a:t>
            </a:r>
            <a:r>
              <a:rPr lang="en-US" altLang="zh-CN" dirty="0"/>
              <a:t>HTTP </a:t>
            </a:r>
            <a:r>
              <a:rPr lang="zh-CN" altLang="en-US" dirty="0"/>
              <a:t>响应报文中返回给浏览器。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9539"/>
                                        </p:tgtEl>
                                        <p:attrNameLst>
                                          <p:attrName>style.visibility</p:attrName>
                                        </p:attrNameLst>
                                      </p:cBhvr>
                                      <p:to>
                                        <p:strVal val="visible"/>
                                      </p:to>
                                    </p:set>
                                    <p:animEffect transition="in" filter="wipe(down)">
                                      <p:cBhvr>
                                        <p:cTn id="7" dur="500"/>
                                        <p:tgtEl>
                                          <p:spTgt spid="649539"/>
                                        </p:tgtEl>
                                      </p:cBhvr>
                                    </p:animEffect>
                                  </p:childTnLst>
                                </p:cTn>
                              </p:par>
                            </p:childTnLst>
                          </p:cTn>
                        </p:par>
                        <p:par>
                          <p:cTn id="8" fill="hold">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9536"/>
                                        </p:tgtEl>
                                        <p:attrNameLst>
                                          <p:attrName>style.visibility</p:attrName>
                                        </p:attrNameLst>
                                      </p:cBhvr>
                                      <p:to>
                                        <p:strVal val="visible"/>
                                      </p:to>
                                    </p:set>
                                    <p:animEffect transition="in" filter="wipe(down)">
                                      <p:cBhvr>
                                        <p:cTn id="11" dur="500"/>
                                        <p:tgtEl>
                                          <p:spTgt spid="649536"/>
                                        </p:tgtEl>
                                      </p:cBhvr>
                                    </p:animEffect>
                                  </p:childTnLst>
                                </p:cTn>
                              </p:par>
                            </p:childTnLst>
                          </p:cTn>
                        </p:par>
                        <p:par>
                          <p:cTn id="12" fill="hold">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9537"/>
                                        </p:tgtEl>
                                        <p:attrNameLst>
                                          <p:attrName>style.visibility</p:attrName>
                                        </p:attrNameLst>
                                      </p:cBhvr>
                                      <p:to>
                                        <p:strVal val="visible"/>
                                      </p:to>
                                    </p:set>
                                    <p:animEffect transition="in" filter="wipe(right)">
                                      <p:cBhvr>
                                        <p:cTn id="15" dur="500"/>
                                        <p:tgtEl>
                                          <p:spTgt spid="649537"/>
                                        </p:tgtEl>
                                      </p:cBhvr>
                                    </p:animEffect>
                                  </p:childTnLst>
                                </p:cTn>
                              </p:par>
                            </p:childTnLst>
                          </p:cTn>
                        </p:par>
                        <p:par>
                          <p:cTn id="16" fill="hold">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9538"/>
                                        </p:tgtEl>
                                        <p:attrNameLst>
                                          <p:attrName>style.visibility</p:attrName>
                                        </p:attrNameLst>
                                      </p:cBhvr>
                                      <p:to>
                                        <p:strVal val="visible"/>
                                      </p:to>
                                    </p:set>
                                    <p:animEffect transition="in" filter="wipe(right)">
                                      <p:cBhvr>
                                        <p:cTn id="19" dur="500"/>
                                        <p:tgtEl>
                                          <p:spTgt spid="649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536" grpId="0" animBg="1"/>
      <p:bldP spid="649537" grpId="0" animBg="1"/>
      <p:bldP spid="649538" grpId="0" animBg="1"/>
      <p:bldP spid="64953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algn="ctr" eaLnBrk="1" hangingPunct="1">
              <a:defRPr/>
            </a:pPr>
            <a:r>
              <a:rPr dirty="0"/>
              <a:t>使用高速缓存的情况</a:t>
            </a:r>
            <a:endParaRPr dirty="0"/>
          </a:p>
        </p:txBody>
      </p:sp>
      <p:grpSp>
        <p:nvGrpSpPr>
          <p:cNvPr id="152579" name="Group 3"/>
          <p:cNvGrpSpPr/>
          <p:nvPr/>
        </p:nvGrpSpPr>
        <p:grpSpPr bwMode="auto">
          <a:xfrm>
            <a:off x="271727" y="3205932"/>
            <a:ext cx="3742267" cy="2570162"/>
            <a:chOff x="912" y="768"/>
            <a:chExt cx="2400" cy="1584"/>
          </a:xfrm>
        </p:grpSpPr>
        <p:sp>
          <p:nvSpPr>
            <p:cNvPr id="152879"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0"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1"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2"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3"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4"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5"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6"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7"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2888" name="Group 13"/>
            <p:cNvGrpSpPr/>
            <p:nvPr/>
          </p:nvGrpSpPr>
          <p:grpSpPr bwMode="auto">
            <a:xfrm>
              <a:off x="912" y="768"/>
              <a:ext cx="2386" cy="1553"/>
              <a:chOff x="912" y="768"/>
              <a:chExt cx="2386" cy="1553"/>
            </a:xfrm>
          </p:grpSpPr>
          <p:sp>
            <p:nvSpPr>
              <p:cNvPr id="152889"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0"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1"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2"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3"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4"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5"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6"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7"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2580"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2553" name="VISIO" r:id="rId1" imgW="1687195" imgH="964565" progId="Visio.Drawing.6">
                  <p:embed/>
                </p:oleObj>
              </mc:Choice>
              <mc:Fallback>
                <p:oleObj name="VISIO" r:id="rId1" imgW="1687195" imgH="964565" progId="Visio.Drawing.6">
                  <p:embed/>
                  <p:pic>
                    <p:nvPicPr>
                      <p:cNvPr id="0" name="图片 225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2581"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2582"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83"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84"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85"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586" name="Group 29"/>
          <p:cNvGrpSpPr/>
          <p:nvPr/>
        </p:nvGrpSpPr>
        <p:grpSpPr bwMode="auto">
          <a:xfrm>
            <a:off x="9099418" y="3696469"/>
            <a:ext cx="426508" cy="661988"/>
            <a:chOff x="4486" y="2730"/>
            <a:chExt cx="217" cy="339"/>
          </a:xfrm>
        </p:grpSpPr>
        <p:grpSp>
          <p:nvGrpSpPr>
            <p:cNvPr id="152859" name="Group 30"/>
            <p:cNvGrpSpPr/>
            <p:nvPr/>
          </p:nvGrpSpPr>
          <p:grpSpPr bwMode="auto">
            <a:xfrm>
              <a:off x="4491" y="2736"/>
              <a:ext cx="212" cy="333"/>
              <a:chOff x="4491" y="2736"/>
              <a:chExt cx="212" cy="333"/>
            </a:xfrm>
          </p:grpSpPr>
          <p:sp>
            <p:nvSpPr>
              <p:cNvPr id="152870"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1"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2"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3"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4"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75"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76"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77"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78"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860" name="Group 40"/>
            <p:cNvGrpSpPr/>
            <p:nvPr/>
          </p:nvGrpSpPr>
          <p:grpSpPr bwMode="auto">
            <a:xfrm>
              <a:off x="4486" y="2730"/>
              <a:ext cx="212" cy="333"/>
              <a:chOff x="4486" y="2730"/>
              <a:chExt cx="212" cy="333"/>
            </a:xfrm>
          </p:grpSpPr>
          <p:sp>
            <p:nvSpPr>
              <p:cNvPr id="152861"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2"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3"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4"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5"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66"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67"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68"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69"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2587" name="Group 50"/>
          <p:cNvGrpSpPr/>
          <p:nvPr/>
        </p:nvGrpSpPr>
        <p:grpSpPr bwMode="auto">
          <a:xfrm>
            <a:off x="9099418" y="4556894"/>
            <a:ext cx="426508" cy="661988"/>
            <a:chOff x="4486" y="3170"/>
            <a:chExt cx="217" cy="339"/>
          </a:xfrm>
        </p:grpSpPr>
        <p:grpSp>
          <p:nvGrpSpPr>
            <p:cNvPr id="152839" name="Group 51"/>
            <p:cNvGrpSpPr/>
            <p:nvPr/>
          </p:nvGrpSpPr>
          <p:grpSpPr bwMode="auto">
            <a:xfrm>
              <a:off x="4491" y="3176"/>
              <a:ext cx="212" cy="333"/>
              <a:chOff x="4491" y="3176"/>
              <a:chExt cx="212" cy="333"/>
            </a:xfrm>
          </p:grpSpPr>
          <p:sp>
            <p:nvSpPr>
              <p:cNvPr id="152850"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1"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2"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3"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4"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55"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56"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57"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58"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840" name="Group 61"/>
            <p:cNvGrpSpPr/>
            <p:nvPr/>
          </p:nvGrpSpPr>
          <p:grpSpPr bwMode="auto">
            <a:xfrm>
              <a:off x="4486" y="3170"/>
              <a:ext cx="212" cy="332"/>
              <a:chOff x="4486" y="3170"/>
              <a:chExt cx="212" cy="332"/>
            </a:xfrm>
          </p:grpSpPr>
          <p:sp>
            <p:nvSpPr>
              <p:cNvPr id="152841"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2"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3"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4"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5"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46"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47"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48"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49"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2588" name="Group 71"/>
          <p:cNvGrpSpPr/>
          <p:nvPr/>
        </p:nvGrpSpPr>
        <p:grpSpPr bwMode="auto">
          <a:xfrm>
            <a:off x="8655712" y="5229994"/>
            <a:ext cx="423069" cy="661988"/>
            <a:chOff x="4260" y="3515"/>
            <a:chExt cx="216" cy="339"/>
          </a:xfrm>
        </p:grpSpPr>
        <p:grpSp>
          <p:nvGrpSpPr>
            <p:cNvPr id="152819" name="Group 72"/>
            <p:cNvGrpSpPr/>
            <p:nvPr/>
          </p:nvGrpSpPr>
          <p:grpSpPr bwMode="auto">
            <a:xfrm>
              <a:off x="4265" y="3521"/>
              <a:ext cx="211" cy="333"/>
              <a:chOff x="4265" y="3521"/>
              <a:chExt cx="211" cy="333"/>
            </a:xfrm>
          </p:grpSpPr>
          <p:sp>
            <p:nvSpPr>
              <p:cNvPr id="152830"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1"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2"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3"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4"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35"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36"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37"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38"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820" name="Group 82"/>
            <p:cNvGrpSpPr/>
            <p:nvPr/>
          </p:nvGrpSpPr>
          <p:grpSpPr bwMode="auto">
            <a:xfrm>
              <a:off x="4260" y="3515"/>
              <a:ext cx="211" cy="332"/>
              <a:chOff x="4260" y="3515"/>
              <a:chExt cx="211" cy="332"/>
            </a:xfrm>
          </p:grpSpPr>
          <p:sp>
            <p:nvSpPr>
              <p:cNvPr id="152821"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2"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3"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4"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5"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26"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27"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28"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29"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2589"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2590"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1"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2"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3"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4"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5"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2596" name="Line 99"/>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597" name="Group 100"/>
          <p:cNvGrpSpPr/>
          <p:nvPr/>
        </p:nvGrpSpPr>
        <p:grpSpPr bwMode="auto">
          <a:xfrm>
            <a:off x="3656277" y="4288607"/>
            <a:ext cx="607087" cy="374650"/>
            <a:chOff x="2154" y="3033"/>
            <a:chExt cx="309" cy="192"/>
          </a:xfrm>
        </p:grpSpPr>
        <p:sp>
          <p:nvSpPr>
            <p:cNvPr id="152794"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2795"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96"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97"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2798" name="Group 105"/>
            <p:cNvGrpSpPr/>
            <p:nvPr/>
          </p:nvGrpSpPr>
          <p:grpSpPr bwMode="auto">
            <a:xfrm>
              <a:off x="2201" y="3046"/>
              <a:ext cx="214" cy="86"/>
              <a:chOff x="2201" y="3046"/>
              <a:chExt cx="214" cy="86"/>
            </a:xfrm>
          </p:grpSpPr>
          <p:grpSp>
            <p:nvGrpSpPr>
              <p:cNvPr id="152801" name="Group 106"/>
              <p:cNvGrpSpPr/>
              <p:nvPr/>
            </p:nvGrpSpPr>
            <p:grpSpPr bwMode="auto">
              <a:xfrm>
                <a:off x="2201" y="3046"/>
                <a:ext cx="212" cy="84"/>
                <a:chOff x="2201" y="3046"/>
                <a:chExt cx="212" cy="84"/>
              </a:xfrm>
            </p:grpSpPr>
            <p:sp>
              <p:nvSpPr>
                <p:cNvPr id="152811"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2"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3"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4"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5"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6"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7"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8"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2802" name="Group 115"/>
              <p:cNvGrpSpPr/>
              <p:nvPr/>
            </p:nvGrpSpPr>
            <p:grpSpPr bwMode="auto">
              <a:xfrm>
                <a:off x="2203" y="3048"/>
                <a:ext cx="212" cy="84"/>
                <a:chOff x="2203" y="3048"/>
                <a:chExt cx="212" cy="84"/>
              </a:xfrm>
            </p:grpSpPr>
            <p:sp>
              <p:nvSpPr>
                <p:cNvPr id="152803"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4"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5"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6"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7"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8"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9"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0"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2799"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00"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598" name="Group 126"/>
          <p:cNvGrpSpPr/>
          <p:nvPr/>
        </p:nvGrpSpPr>
        <p:grpSpPr bwMode="auto">
          <a:xfrm>
            <a:off x="1234810" y="3075758"/>
            <a:ext cx="557213" cy="517525"/>
            <a:chOff x="921" y="2412"/>
            <a:chExt cx="284" cy="265"/>
          </a:xfrm>
        </p:grpSpPr>
        <p:grpSp>
          <p:nvGrpSpPr>
            <p:cNvPr id="152768" name="Group 127"/>
            <p:cNvGrpSpPr/>
            <p:nvPr/>
          </p:nvGrpSpPr>
          <p:grpSpPr bwMode="auto">
            <a:xfrm>
              <a:off x="928" y="2417"/>
              <a:ext cx="277" cy="260"/>
              <a:chOff x="928" y="2417"/>
              <a:chExt cx="277" cy="260"/>
            </a:xfrm>
          </p:grpSpPr>
          <p:sp>
            <p:nvSpPr>
              <p:cNvPr id="152782"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3"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4"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5"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6"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87"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88"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89"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90" name="Group 136"/>
              <p:cNvGrpSpPr/>
              <p:nvPr/>
            </p:nvGrpSpPr>
            <p:grpSpPr bwMode="auto">
              <a:xfrm>
                <a:off x="928" y="2639"/>
                <a:ext cx="277" cy="38"/>
                <a:chOff x="928" y="2639"/>
                <a:chExt cx="277" cy="38"/>
              </a:xfrm>
            </p:grpSpPr>
            <p:sp>
              <p:nvSpPr>
                <p:cNvPr id="152791"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92"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93"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769" name="Group 140"/>
            <p:cNvGrpSpPr/>
            <p:nvPr/>
          </p:nvGrpSpPr>
          <p:grpSpPr bwMode="auto">
            <a:xfrm>
              <a:off x="921" y="2412"/>
              <a:ext cx="277" cy="261"/>
              <a:chOff x="921" y="2412"/>
              <a:chExt cx="277" cy="261"/>
            </a:xfrm>
          </p:grpSpPr>
          <p:sp>
            <p:nvSpPr>
              <p:cNvPr id="152770"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1"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2"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3"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4"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75"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76"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77"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78" name="Group 149"/>
              <p:cNvGrpSpPr/>
              <p:nvPr/>
            </p:nvGrpSpPr>
            <p:grpSpPr bwMode="auto">
              <a:xfrm>
                <a:off x="921" y="2635"/>
                <a:ext cx="277" cy="38"/>
                <a:chOff x="921" y="2635"/>
                <a:chExt cx="277" cy="38"/>
              </a:xfrm>
            </p:grpSpPr>
            <p:sp>
              <p:nvSpPr>
                <p:cNvPr id="152779"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0"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1"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599" name="Group 153"/>
          <p:cNvGrpSpPr/>
          <p:nvPr/>
        </p:nvGrpSpPr>
        <p:grpSpPr bwMode="auto">
          <a:xfrm>
            <a:off x="1384433" y="3785370"/>
            <a:ext cx="553773" cy="517525"/>
            <a:chOff x="997" y="2775"/>
            <a:chExt cx="282" cy="265"/>
          </a:xfrm>
        </p:grpSpPr>
        <p:grpSp>
          <p:nvGrpSpPr>
            <p:cNvPr id="152742" name="Group 154"/>
            <p:cNvGrpSpPr/>
            <p:nvPr/>
          </p:nvGrpSpPr>
          <p:grpSpPr bwMode="auto">
            <a:xfrm>
              <a:off x="1004" y="2779"/>
              <a:ext cx="275" cy="261"/>
              <a:chOff x="1004" y="2779"/>
              <a:chExt cx="275" cy="261"/>
            </a:xfrm>
          </p:grpSpPr>
          <p:sp>
            <p:nvSpPr>
              <p:cNvPr id="152756"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7"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8"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9"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60"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61"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62"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63"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64" name="Group 163"/>
              <p:cNvGrpSpPr/>
              <p:nvPr/>
            </p:nvGrpSpPr>
            <p:grpSpPr bwMode="auto">
              <a:xfrm>
                <a:off x="1004" y="3002"/>
                <a:ext cx="275" cy="38"/>
                <a:chOff x="1004" y="3002"/>
                <a:chExt cx="275" cy="38"/>
              </a:xfrm>
            </p:grpSpPr>
            <p:sp>
              <p:nvSpPr>
                <p:cNvPr id="152765"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66"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67"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743" name="Group 167"/>
            <p:cNvGrpSpPr/>
            <p:nvPr/>
          </p:nvGrpSpPr>
          <p:grpSpPr bwMode="auto">
            <a:xfrm>
              <a:off x="997" y="2775"/>
              <a:ext cx="275" cy="260"/>
              <a:chOff x="997" y="2775"/>
              <a:chExt cx="275" cy="260"/>
            </a:xfrm>
          </p:grpSpPr>
          <p:sp>
            <p:nvSpPr>
              <p:cNvPr id="152744"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5"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6"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7"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8"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49"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50"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51"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52" name="Group 176"/>
              <p:cNvGrpSpPr/>
              <p:nvPr/>
            </p:nvGrpSpPr>
            <p:grpSpPr bwMode="auto">
              <a:xfrm>
                <a:off x="997" y="2997"/>
                <a:ext cx="275" cy="38"/>
                <a:chOff x="997" y="2997"/>
                <a:chExt cx="275" cy="38"/>
              </a:xfrm>
            </p:grpSpPr>
            <p:sp>
              <p:nvSpPr>
                <p:cNvPr id="152753"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4"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5"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600" name="Group 180"/>
          <p:cNvGrpSpPr/>
          <p:nvPr/>
        </p:nvGrpSpPr>
        <p:grpSpPr bwMode="auto">
          <a:xfrm>
            <a:off x="584730" y="4315595"/>
            <a:ext cx="553773" cy="517525"/>
            <a:chOff x="590" y="3047"/>
            <a:chExt cx="282" cy="265"/>
          </a:xfrm>
        </p:grpSpPr>
        <p:grpSp>
          <p:nvGrpSpPr>
            <p:cNvPr id="152716" name="Group 181"/>
            <p:cNvGrpSpPr/>
            <p:nvPr/>
          </p:nvGrpSpPr>
          <p:grpSpPr bwMode="auto">
            <a:xfrm>
              <a:off x="596" y="3051"/>
              <a:ext cx="276" cy="261"/>
              <a:chOff x="596" y="3051"/>
              <a:chExt cx="276" cy="261"/>
            </a:xfrm>
          </p:grpSpPr>
          <p:sp>
            <p:nvSpPr>
              <p:cNvPr id="152730"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1"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2"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3"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4"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35"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36"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37"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38" name="Group 190"/>
              <p:cNvGrpSpPr/>
              <p:nvPr/>
            </p:nvGrpSpPr>
            <p:grpSpPr bwMode="auto">
              <a:xfrm>
                <a:off x="596" y="3274"/>
                <a:ext cx="276" cy="38"/>
                <a:chOff x="596" y="3274"/>
                <a:chExt cx="276" cy="38"/>
              </a:xfrm>
            </p:grpSpPr>
            <p:sp>
              <p:nvSpPr>
                <p:cNvPr id="152739"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0"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1"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717" name="Group 194"/>
            <p:cNvGrpSpPr/>
            <p:nvPr/>
          </p:nvGrpSpPr>
          <p:grpSpPr bwMode="auto">
            <a:xfrm>
              <a:off x="590" y="3047"/>
              <a:ext cx="275" cy="260"/>
              <a:chOff x="590" y="3047"/>
              <a:chExt cx="275" cy="260"/>
            </a:xfrm>
          </p:grpSpPr>
          <p:sp>
            <p:nvSpPr>
              <p:cNvPr id="152718"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19"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0"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1"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2"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23"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24"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25"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26" name="Group 203"/>
              <p:cNvGrpSpPr/>
              <p:nvPr/>
            </p:nvGrpSpPr>
            <p:grpSpPr bwMode="auto">
              <a:xfrm>
                <a:off x="590" y="3269"/>
                <a:ext cx="275" cy="38"/>
                <a:chOff x="590" y="3269"/>
                <a:chExt cx="275" cy="38"/>
              </a:xfrm>
            </p:grpSpPr>
            <p:sp>
              <p:nvSpPr>
                <p:cNvPr id="152727"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8"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9"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601" name="Group 207"/>
          <p:cNvGrpSpPr/>
          <p:nvPr/>
        </p:nvGrpSpPr>
        <p:grpSpPr bwMode="auto">
          <a:xfrm>
            <a:off x="1205575" y="4937895"/>
            <a:ext cx="552053" cy="517525"/>
            <a:chOff x="906" y="3365"/>
            <a:chExt cx="281" cy="265"/>
          </a:xfrm>
        </p:grpSpPr>
        <p:grpSp>
          <p:nvGrpSpPr>
            <p:cNvPr id="152690" name="Group 208"/>
            <p:cNvGrpSpPr/>
            <p:nvPr/>
          </p:nvGrpSpPr>
          <p:grpSpPr bwMode="auto">
            <a:xfrm>
              <a:off x="912" y="3369"/>
              <a:ext cx="275" cy="261"/>
              <a:chOff x="912" y="3369"/>
              <a:chExt cx="275" cy="261"/>
            </a:xfrm>
          </p:grpSpPr>
          <p:sp>
            <p:nvSpPr>
              <p:cNvPr id="152704"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5"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6"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7"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8"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09"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10"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11"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12" name="Group 217"/>
              <p:cNvGrpSpPr/>
              <p:nvPr/>
            </p:nvGrpSpPr>
            <p:grpSpPr bwMode="auto">
              <a:xfrm>
                <a:off x="912" y="3592"/>
                <a:ext cx="275" cy="38"/>
                <a:chOff x="912" y="3592"/>
                <a:chExt cx="275" cy="38"/>
              </a:xfrm>
            </p:grpSpPr>
            <p:sp>
              <p:nvSpPr>
                <p:cNvPr id="152713"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14"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15"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691" name="Group 221"/>
            <p:cNvGrpSpPr/>
            <p:nvPr/>
          </p:nvGrpSpPr>
          <p:grpSpPr bwMode="auto">
            <a:xfrm>
              <a:off x="906" y="3365"/>
              <a:ext cx="275" cy="261"/>
              <a:chOff x="906" y="3365"/>
              <a:chExt cx="275" cy="261"/>
            </a:xfrm>
          </p:grpSpPr>
          <p:sp>
            <p:nvSpPr>
              <p:cNvPr id="152692"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3"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4"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5"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6"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97"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98"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99"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00" name="Group 230"/>
              <p:cNvGrpSpPr/>
              <p:nvPr/>
            </p:nvGrpSpPr>
            <p:grpSpPr bwMode="auto">
              <a:xfrm>
                <a:off x="906" y="3587"/>
                <a:ext cx="275" cy="39"/>
                <a:chOff x="906" y="3587"/>
                <a:chExt cx="275" cy="39"/>
              </a:xfrm>
            </p:grpSpPr>
            <p:sp>
              <p:nvSpPr>
                <p:cNvPr id="152701"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2"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3"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602" name="Group 234"/>
          <p:cNvGrpSpPr/>
          <p:nvPr/>
        </p:nvGrpSpPr>
        <p:grpSpPr bwMode="auto">
          <a:xfrm>
            <a:off x="2820458" y="5058544"/>
            <a:ext cx="481542" cy="839788"/>
            <a:chOff x="1660" y="3427"/>
            <a:chExt cx="217" cy="339"/>
          </a:xfrm>
        </p:grpSpPr>
        <p:grpSp>
          <p:nvGrpSpPr>
            <p:cNvPr id="152670" name="Group 235"/>
            <p:cNvGrpSpPr/>
            <p:nvPr/>
          </p:nvGrpSpPr>
          <p:grpSpPr bwMode="auto">
            <a:xfrm>
              <a:off x="1665" y="3433"/>
              <a:ext cx="212" cy="333"/>
              <a:chOff x="1665" y="3433"/>
              <a:chExt cx="212" cy="333"/>
            </a:xfrm>
          </p:grpSpPr>
          <p:sp>
            <p:nvSpPr>
              <p:cNvPr id="152681"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2"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3"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4"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5"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86"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87"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88"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89"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671" name="Group 245"/>
            <p:cNvGrpSpPr/>
            <p:nvPr/>
          </p:nvGrpSpPr>
          <p:grpSpPr bwMode="auto">
            <a:xfrm>
              <a:off x="1660" y="3427"/>
              <a:ext cx="212" cy="333"/>
              <a:chOff x="1660" y="3427"/>
              <a:chExt cx="212" cy="333"/>
            </a:xfrm>
          </p:grpSpPr>
          <p:sp>
            <p:nvSpPr>
              <p:cNvPr id="152672"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3"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4"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5"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6"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77"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78"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79"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80"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2603"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04"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2605"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06"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校园网的高速缓存</a:t>
            </a:r>
            <a:endParaRPr kumimoji="1" lang="zh-CN" altLang="en-US" sz="20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（代理服务器）</a:t>
            </a:r>
            <a:endParaRPr kumimoji="1" lang="zh-CN" altLang="en-US" sz="2000" b="1">
              <a:solidFill>
                <a:srgbClr val="000099"/>
              </a:solidFill>
              <a:latin typeface="Arial" panose="020B0604020202020204" pitchFamily="34" charset="0"/>
              <a:ea typeface="黑体" panose="02010609060101010101" pitchFamily="2" charset="-122"/>
            </a:endParaRPr>
          </a:p>
        </p:txBody>
      </p:sp>
      <p:grpSp>
        <p:nvGrpSpPr>
          <p:cNvPr id="152607" name="Group 259"/>
          <p:cNvGrpSpPr/>
          <p:nvPr/>
        </p:nvGrpSpPr>
        <p:grpSpPr bwMode="auto">
          <a:xfrm>
            <a:off x="8743421" y="2924944"/>
            <a:ext cx="424789" cy="661988"/>
            <a:chOff x="4305" y="2335"/>
            <a:chExt cx="216" cy="339"/>
          </a:xfrm>
        </p:grpSpPr>
        <p:grpSp>
          <p:nvGrpSpPr>
            <p:cNvPr id="152650" name="Group 260"/>
            <p:cNvGrpSpPr/>
            <p:nvPr/>
          </p:nvGrpSpPr>
          <p:grpSpPr bwMode="auto">
            <a:xfrm>
              <a:off x="4310" y="2341"/>
              <a:ext cx="211" cy="333"/>
              <a:chOff x="4310" y="2341"/>
              <a:chExt cx="211" cy="333"/>
            </a:xfrm>
          </p:grpSpPr>
          <p:sp>
            <p:nvSpPr>
              <p:cNvPr id="152661"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2"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3"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4"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5"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66"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67"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68"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69"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651" name="Group 270"/>
            <p:cNvGrpSpPr/>
            <p:nvPr/>
          </p:nvGrpSpPr>
          <p:grpSpPr bwMode="auto">
            <a:xfrm>
              <a:off x="4305" y="2335"/>
              <a:ext cx="211" cy="332"/>
              <a:chOff x="4305" y="2335"/>
              <a:chExt cx="211" cy="332"/>
            </a:xfrm>
          </p:grpSpPr>
          <p:sp>
            <p:nvSpPr>
              <p:cNvPr id="152652"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3"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4"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5"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6"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57"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58"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59"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60"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2608"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2609"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0" name="Rectangle 282"/>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a:t>
            </a:r>
            <a:r>
              <a:rPr kumimoji="1" lang="en-US" altLang="zh-CN" sz="2000" b="1" dirty="0" smtClean="0">
                <a:solidFill>
                  <a:srgbClr val="000099"/>
                </a:solidFill>
                <a:latin typeface="Arial" panose="020B0604020202020204" pitchFamily="34" charset="0"/>
                <a:ea typeface="黑体" panose="02010609060101010101" pitchFamily="2" charset="-122"/>
              </a:rPr>
              <a:t>Mbit/s</a:t>
            </a:r>
            <a:endParaRPr kumimoji="1" lang="en-US" altLang="zh-CN" sz="2000" b="1" dirty="0">
              <a:solidFill>
                <a:srgbClr val="000099"/>
              </a:solidFill>
              <a:latin typeface="Arial" panose="020B0604020202020204" pitchFamily="34" charset="0"/>
              <a:ea typeface="黑体" panose="02010609060101010101" pitchFamily="2" charset="-122"/>
            </a:endParaRPr>
          </a:p>
        </p:txBody>
      </p:sp>
      <p:grpSp>
        <p:nvGrpSpPr>
          <p:cNvPr id="152611" name="Group 283"/>
          <p:cNvGrpSpPr/>
          <p:nvPr/>
        </p:nvGrpSpPr>
        <p:grpSpPr bwMode="auto">
          <a:xfrm>
            <a:off x="3102504" y="5544319"/>
            <a:ext cx="565812" cy="260350"/>
            <a:chOff x="1872" y="3676"/>
            <a:chExt cx="227" cy="136"/>
          </a:xfrm>
        </p:grpSpPr>
        <p:sp>
          <p:nvSpPr>
            <p:cNvPr id="152648"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49"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2612" name="Group 286"/>
          <p:cNvGrpSpPr/>
          <p:nvPr/>
        </p:nvGrpSpPr>
        <p:grpSpPr bwMode="auto">
          <a:xfrm>
            <a:off x="6576483" y="4288607"/>
            <a:ext cx="607087" cy="374650"/>
            <a:chOff x="3202" y="3033"/>
            <a:chExt cx="309" cy="192"/>
          </a:xfrm>
        </p:grpSpPr>
        <p:sp>
          <p:nvSpPr>
            <p:cNvPr id="152623"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2624"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25"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26"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2627" name="Group 291"/>
            <p:cNvGrpSpPr/>
            <p:nvPr/>
          </p:nvGrpSpPr>
          <p:grpSpPr bwMode="auto">
            <a:xfrm>
              <a:off x="3249" y="3046"/>
              <a:ext cx="214" cy="86"/>
              <a:chOff x="3249" y="3046"/>
              <a:chExt cx="214" cy="86"/>
            </a:xfrm>
          </p:grpSpPr>
          <p:grpSp>
            <p:nvGrpSpPr>
              <p:cNvPr id="152630" name="Group 292"/>
              <p:cNvGrpSpPr/>
              <p:nvPr/>
            </p:nvGrpSpPr>
            <p:grpSpPr bwMode="auto">
              <a:xfrm>
                <a:off x="3249" y="3046"/>
                <a:ext cx="212" cy="84"/>
                <a:chOff x="3249" y="3046"/>
                <a:chExt cx="212" cy="84"/>
              </a:xfrm>
            </p:grpSpPr>
            <p:sp>
              <p:nvSpPr>
                <p:cNvPr id="152640"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1"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2"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3"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4"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5"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6"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7"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2631" name="Group 301"/>
              <p:cNvGrpSpPr/>
              <p:nvPr/>
            </p:nvGrpSpPr>
            <p:grpSpPr bwMode="auto">
              <a:xfrm>
                <a:off x="3251" y="3048"/>
                <a:ext cx="212" cy="84"/>
                <a:chOff x="3251" y="3048"/>
                <a:chExt cx="212" cy="84"/>
              </a:xfrm>
            </p:grpSpPr>
            <p:sp>
              <p:nvSpPr>
                <p:cNvPr id="152632"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3"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4"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5"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6"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7"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8"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9"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2628"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29"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2613"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4" name="Rectangle 313"/>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2615"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6"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7" name="Rectangle 316"/>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8" name="Rectangle 317"/>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2619" name="Rectangle 318"/>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52620" name="Rectangle 319"/>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52621" name="Text Box 324"/>
          <p:cNvSpPr txBox="1">
            <a:spLocks noChangeArrowheads="1"/>
          </p:cNvSpPr>
          <p:nvPr/>
        </p:nvSpPr>
        <p:spPr bwMode="auto">
          <a:xfrm>
            <a:off x="507339" y="1196752"/>
            <a:ext cx="8913680" cy="1373187"/>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(3) </a:t>
            </a:r>
            <a:r>
              <a:rPr lang="zh-CN" altLang="en-US" dirty="0"/>
              <a:t>否则，高速缓存就代表发出请求的用户浏览器，与互联网上的源点服务器建立 </a:t>
            </a:r>
            <a:r>
              <a:rPr lang="en-US" altLang="zh-CN" dirty="0"/>
              <a:t>TCP </a:t>
            </a:r>
            <a:r>
              <a:rPr lang="zh-CN" altLang="en-US" dirty="0"/>
              <a:t>连接，并发送 </a:t>
            </a:r>
            <a:r>
              <a:rPr lang="en-US" altLang="zh-CN" dirty="0"/>
              <a:t>HTTP </a:t>
            </a:r>
            <a:r>
              <a:rPr lang="zh-CN" altLang="en-US" dirty="0"/>
              <a:t>请求报文。</a:t>
            </a:r>
            <a:endParaRPr lang="zh-CN" altLang="en-US" dirty="0"/>
          </a:p>
        </p:txBody>
      </p:sp>
      <p:sp>
        <p:nvSpPr>
          <p:cNvPr id="648517" name="Freeform 325"/>
          <p:cNvSpPr/>
          <p:nvPr/>
        </p:nvSpPr>
        <p:spPr bwMode="auto">
          <a:xfrm>
            <a:off x="3159258" y="3356745"/>
            <a:ext cx="5771621" cy="1871663"/>
          </a:xfrm>
          <a:custGeom>
            <a:avLst/>
            <a:gdLst>
              <a:gd name="T0" fmla="*/ 0 w 3356"/>
              <a:gd name="T1" fmla="*/ 2147483646 h 1179"/>
              <a:gd name="T2" fmla="*/ 2147483646 w 3356"/>
              <a:gd name="T3" fmla="*/ 2147483646 h 1179"/>
              <a:gd name="T4" fmla="*/ 2147483646 w 3356"/>
              <a:gd name="T5" fmla="*/ 2147483646 h 1179"/>
              <a:gd name="T6" fmla="*/ 2147483646 w 3356"/>
              <a:gd name="T7" fmla="*/ 2147483646 h 1179"/>
              <a:gd name="T8" fmla="*/ 2147483646 w 3356"/>
              <a:gd name="T9" fmla="*/ 2147483646 h 1179"/>
              <a:gd name="T10" fmla="*/ 2147483646 w 3356"/>
              <a:gd name="T11" fmla="*/ 2147483646 h 1179"/>
              <a:gd name="T12" fmla="*/ 2147483646 w 3356"/>
              <a:gd name="T13" fmla="*/ 2147483646 h 1179"/>
              <a:gd name="T14" fmla="*/ 2147483646 w 3356"/>
              <a:gd name="T15" fmla="*/ 2147483646 h 1179"/>
              <a:gd name="T16" fmla="*/ 2147483646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8517"/>
                                        </p:tgtEl>
                                        <p:attrNameLst>
                                          <p:attrName>style.visibility</p:attrName>
                                        </p:attrNameLst>
                                      </p:cBhvr>
                                      <p:to>
                                        <p:strVal val="visible"/>
                                      </p:to>
                                    </p:set>
                                    <p:animEffect transition="in" filter="wipe(left)">
                                      <p:cBhvr>
                                        <p:cTn id="7" dur="500"/>
                                        <p:tgtEl>
                                          <p:spTgt spid="6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51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algn="ctr" eaLnBrk="1" hangingPunct="1">
              <a:defRPr/>
            </a:pPr>
            <a:r>
              <a:t>使用高速缓存的情况</a:t>
            </a:r>
          </a:p>
        </p:txBody>
      </p:sp>
      <p:grpSp>
        <p:nvGrpSpPr>
          <p:cNvPr id="154627" name="Group 3"/>
          <p:cNvGrpSpPr/>
          <p:nvPr/>
        </p:nvGrpSpPr>
        <p:grpSpPr bwMode="auto">
          <a:xfrm>
            <a:off x="271727" y="3205932"/>
            <a:ext cx="3742267" cy="2570162"/>
            <a:chOff x="912" y="768"/>
            <a:chExt cx="2400" cy="1584"/>
          </a:xfrm>
        </p:grpSpPr>
        <p:sp>
          <p:nvSpPr>
            <p:cNvPr id="154927"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28"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29"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0"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1"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2"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3"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4"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5"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4936" name="Group 13"/>
            <p:cNvGrpSpPr/>
            <p:nvPr/>
          </p:nvGrpSpPr>
          <p:grpSpPr bwMode="auto">
            <a:xfrm>
              <a:off x="912" y="768"/>
              <a:ext cx="2386" cy="1553"/>
              <a:chOff x="912" y="768"/>
              <a:chExt cx="2386" cy="1553"/>
            </a:xfrm>
          </p:grpSpPr>
          <p:sp>
            <p:nvSpPr>
              <p:cNvPr id="154937"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8"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9"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0"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1"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2"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3"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4"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5"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4628"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3577" name="VISIO" r:id="rId1" imgW="1687195" imgH="964565" progId="Visio.Drawing.6">
                  <p:embed/>
                </p:oleObj>
              </mc:Choice>
              <mc:Fallback>
                <p:oleObj name="VISIO" r:id="rId1" imgW="1687195" imgH="964565" progId="Visio.Drawing.6">
                  <p:embed/>
                  <p:pic>
                    <p:nvPicPr>
                      <p:cNvPr id="0" name="图片 235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4629"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4630"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1"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2"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3"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634" name="Group 29"/>
          <p:cNvGrpSpPr/>
          <p:nvPr/>
        </p:nvGrpSpPr>
        <p:grpSpPr bwMode="auto">
          <a:xfrm>
            <a:off x="9099418" y="3696469"/>
            <a:ext cx="426508" cy="661988"/>
            <a:chOff x="4486" y="2730"/>
            <a:chExt cx="217" cy="339"/>
          </a:xfrm>
        </p:grpSpPr>
        <p:grpSp>
          <p:nvGrpSpPr>
            <p:cNvPr id="154907" name="Group 30"/>
            <p:cNvGrpSpPr/>
            <p:nvPr/>
          </p:nvGrpSpPr>
          <p:grpSpPr bwMode="auto">
            <a:xfrm>
              <a:off x="4491" y="2736"/>
              <a:ext cx="212" cy="333"/>
              <a:chOff x="4491" y="2736"/>
              <a:chExt cx="212" cy="333"/>
            </a:xfrm>
          </p:grpSpPr>
          <p:sp>
            <p:nvSpPr>
              <p:cNvPr id="154918"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9"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20"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21"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22"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23"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24"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25"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26"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908" name="Group 40"/>
            <p:cNvGrpSpPr/>
            <p:nvPr/>
          </p:nvGrpSpPr>
          <p:grpSpPr bwMode="auto">
            <a:xfrm>
              <a:off x="4486" y="2730"/>
              <a:ext cx="212" cy="333"/>
              <a:chOff x="4486" y="2730"/>
              <a:chExt cx="212" cy="333"/>
            </a:xfrm>
          </p:grpSpPr>
          <p:sp>
            <p:nvSpPr>
              <p:cNvPr id="154909"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0"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1"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2"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3"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14"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15"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16"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17"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4635" name="Group 50"/>
          <p:cNvGrpSpPr/>
          <p:nvPr/>
        </p:nvGrpSpPr>
        <p:grpSpPr bwMode="auto">
          <a:xfrm>
            <a:off x="9099418" y="4556894"/>
            <a:ext cx="426508" cy="661988"/>
            <a:chOff x="4486" y="3170"/>
            <a:chExt cx="217" cy="339"/>
          </a:xfrm>
        </p:grpSpPr>
        <p:grpSp>
          <p:nvGrpSpPr>
            <p:cNvPr id="154887" name="Group 51"/>
            <p:cNvGrpSpPr/>
            <p:nvPr/>
          </p:nvGrpSpPr>
          <p:grpSpPr bwMode="auto">
            <a:xfrm>
              <a:off x="4491" y="3176"/>
              <a:ext cx="212" cy="333"/>
              <a:chOff x="4491" y="3176"/>
              <a:chExt cx="212" cy="333"/>
            </a:xfrm>
          </p:grpSpPr>
          <p:sp>
            <p:nvSpPr>
              <p:cNvPr id="154898"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9"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00"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01"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02"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03"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04"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05"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06"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888" name="Group 61"/>
            <p:cNvGrpSpPr/>
            <p:nvPr/>
          </p:nvGrpSpPr>
          <p:grpSpPr bwMode="auto">
            <a:xfrm>
              <a:off x="4486" y="3170"/>
              <a:ext cx="212" cy="332"/>
              <a:chOff x="4486" y="3170"/>
              <a:chExt cx="212" cy="332"/>
            </a:xfrm>
          </p:grpSpPr>
          <p:sp>
            <p:nvSpPr>
              <p:cNvPr id="154889"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0"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1"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2"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3"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94"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95"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96"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97"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4636" name="Group 71"/>
          <p:cNvGrpSpPr/>
          <p:nvPr/>
        </p:nvGrpSpPr>
        <p:grpSpPr bwMode="auto">
          <a:xfrm>
            <a:off x="8655712" y="5229994"/>
            <a:ext cx="423069" cy="661988"/>
            <a:chOff x="4260" y="3515"/>
            <a:chExt cx="216" cy="339"/>
          </a:xfrm>
        </p:grpSpPr>
        <p:grpSp>
          <p:nvGrpSpPr>
            <p:cNvPr id="154867" name="Group 72"/>
            <p:cNvGrpSpPr/>
            <p:nvPr/>
          </p:nvGrpSpPr>
          <p:grpSpPr bwMode="auto">
            <a:xfrm>
              <a:off x="4265" y="3521"/>
              <a:ext cx="211" cy="333"/>
              <a:chOff x="4265" y="3521"/>
              <a:chExt cx="211" cy="333"/>
            </a:xfrm>
          </p:grpSpPr>
          <p:sp>
            <p:nvSpPr>
              <p:cNvPr id="154878"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9"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80"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81"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82"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83"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84"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85"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86"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868" name="Group 82"/>
            <p:cNvGrpSpPr/>
            <p:nvPr/>
          </p:nvGrpSpPr>
          <p:grpSpPr bwMode="auto">
            <a:xfrm>
              <a:off x="4260" y="3515"/>
              <a:ext cx="211" cy="332"/>
              <a:chOff x="4260" y="3515"/>
              <a:chExt cx="211" cy="332"/>
            </a:xfrm>
          </p:grpSpPr>
          <p:sp>
            <p:nvSpPr>
              <p:cNvPr id="154869"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0"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1"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2"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3"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74"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75"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76"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77"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4637"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4638"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9"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0"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1"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2"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3"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4644" name="Line 99"/>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645" name="Group 100"/>
          <p:cNvGrpSpPr/>
          <p:nvPr/>
        </p:nvGrpSpPr>
        <p:grpSpPr bwMode="auto">
          <a:xfrm>
            <a:off x="3656277" y="4288607"/>
            <a:ext cx="607087" cy="374650"/>
            <a:chOff x="2154" y="3033"/>
            <a:chExt cx="309" cy="192"/>
          </a:xfrm>
        </p:grpSpPr>
        <p:sp>
          <p:nvSpPr>
            <p:cNvPr id="154842"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4843"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44"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45"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4846" name="Group 105"/>
            <p:cNvGrpSpPr/>
            <p:nvPr/>
          </p:nvGrpSpPr>
          <p:grpSpPr bwMode="auto">
            <a:xfrm>
              <a:off x="2201" y="3046"/>
              <a:ext cx="214" cy="86"/>
              <a:chOff x="2201" y="3046"/>
              <a:chExt cx="214" cy="86"/>
            </a:xfrm>
          </p:grpSpPr>
          <p:grpSp>
            <p:nvGrpSpPr>
              <p:cNvPr id="154849" name="Group 106"/>
              <p:cNvGrpSpPr/>
              <p:nvPr/>
            </p:nvGrpSpPr>
            <p:grpSpPr bwMode="auto">
              <a:xfrm>
                <a:off x="2201" y="3046"/>
                <a:ext cx="212" cy="84"/>
                <a:chOff x="2201" y="3046"/>
                <a:chExt cx="212" cy="84"/>
              </a:xfrm>
            </p:grpSpPr>
            <p:sp>
              <p:nvSpPr>
                <p:cNvPr id="154859"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0"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1"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2"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3"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4"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5"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6"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4850" name="Group 115"/>
              <p:cNvGrpSpPr/>
              <p:nvPr/>
            </p:nvGrpSpPr>
            <p:grpSpPr bwMode="auto">
              <a:xfrm>
                <a:off x="2203" y="3048"/>
                <a:ext cx="212" cy="84"/>
                <a:chOff x="2203" y="3048"/>
                <a:chExt cx="212" cy="84"/>
              </a:xfrm>
            </p:grpSpPr>
            <p:sp>
              <p:nvSpPr>
                <p:cNvPr id="154851"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2"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3"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4"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5"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6"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7"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8"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4847"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48"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646" name="Group 126"/>
          <p:cNvGrpSpPr/>
          <p:nvPr/>
        </p:nvGrpSpPr>
        <p:grpSpPr bwMode="auto">
          <a:xfrm>
            <a:off x="1234810" y="3075758"/>
            <a:ext cx="557213" cy="517525"/>
            <a:chOff x="921" y="2412"/>
            <a:chExt cx="284" cy="265"/>
          </a:xfrm>
        </p:grpSpPr>
        <p:grpSp>
          <p:nvGrpSpPr>
            <p:cNvPr id="154816" name="Group 127"/>
            <p:cNvGrpSpPr/>
            <p:nvPr/>
          </p:nvGrpSpPr>
          <p:grpSpPr bwMode="auto">
            <a:xfrm>
              <a:off x="928" y="2417"/>
              <a:ext cx="277" cy="260"/>
              <a:chOff x="928" y="2417"/>
              <a:chExt cx="277" cy="260"/>
            </a:xfrm>
          </p:grpSpPr>
          <p:sp>
            <p:nvSpPr>
              <p:cNvPr id="154830"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1"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2"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3"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4"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35"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36"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37"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38" name="Group 136"/>
              <p:cNvGrpSpPr/>
              <p:nvPr/>
            </p:nvGrpSpPr>
            <p:grpSpPr bwMode="auto">
              <a:xfrm>
                <a:off x="928" y="2639"/>
                <a:ext cx="277" cy="38"/>
                <a:chOff x="928" y="2639"/>
                <a:chExt cx="277" cy="38"/>
              </a:xfrm>
            </p:grpSpPr>
            <p:sp>
              <p:nvSpPr>
                <p:cNvPr id="154839"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40"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41"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817" name="Group 140"/>
            <p:cNvGrpSpPr/>
            <p:nvPr/>
          </p:nvGrpSpPr>
          <p:grpSpPr bwMode="auto">
            <a:xfrm>
              <a:off x="921" y="2412"/>
              <a:ext cx="277" cy="261"/>
              <a:chOff x="921" y="2412"/>
              <a:chExt cx="277" cy="261"/>
            </a:xfrm>
          </p:grpSpPr>
          <p:sp>
            <p:nvSpPr>
              <p:cNvPr id="154818"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19"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0"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1"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2"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23"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24"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25"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26" name="Group 149"/>
              <p:cNvGrpSpPr/>
              <p:nvPr/>
            </p:nvGrpSpPr>
            <p:grpSpPr bwMode="auto">
              <a:xfrm>
                <a:off x="921" y="2635"/>
                <a:ext cx="277" cy="38"/>
                <a:chOff x="921" y="2635"/>
                <a:chExt cx="277" cy="38"/>
              </a:xfrm>
            </p:grpSpPr>
            <p:sp>
              <p:nvSpPr>
                <p:cNvPr id="154827"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8"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9"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47" name="Group 153"/>
          <p:cNvGrpSpPr/>
          <p:nvPr/>
        </p:nvGrpSpPr>
        <p:grpSpPr bwMode="auto">
          <a:xfrm>
            <a:off x="1384433" y="3785370"/>
            <a:ext cx="553773" cy="517525"/>
            <a:chOff x="997" y="2775"/>
            <a:chExt cx="282" cy="265"/>
          </a:xfrm>
        </p:grpSpPr>
        <p:grpSp>
          <p:nvGrpSpPr>
            <p:cNvPr id="154790" name="Group 154"/>
            <p:cNvGrpSpPr/>
            <p:nvPr/>
          </p:nvGrpSpPr>
          <p:grpSpPr bwMode="auto">
            <a:xfrm>
              <a:off x="1004" y="2779"/>
              <a:ext cx="275" cy="261"/>
              <a:chOff x="1004" y="2779"/>
              <a:chExt cx="275" cy="261"/>
            </a:xfrm>
          </p:grpSpPr>
          <p:sp>
            <p:nvSpPr>
              <p:cNvPr id="154804"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5"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6"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7"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8"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09"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10"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11"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12" name="Group 163"/>
              <p:cNvGrpSpPr/>
              <p:nvPr/>
            </p:nvGrpSpPr>
            <p:grpSpPr bwMode="auto">
              <a:xfrm>
                <a:off x="1004" y="3002"/>
                <a:ext cx="275" cy="38"/>
                <a:chOff x="1004" y="3002"/>
                <a:chExt cx="275" cy="38"/>
              </a:xfrm>
            </p:grpSpPr>
            <p:sp>
              <p:nvSpPr>
                <p:cNvPr id="154813"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14"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15"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791" name="Group 167"/>
            <p:cNvGrpSpPr/>
            <p:nvPr/>
          </p:nvGrpSpPr>
          <p:grpSpPr bwMode="auto">
            <a:xfrm>
              <a:off x="997" y="2775"/>
              <a:ext cx="275" cy="260"/>
              <a:chOff x="997" y="2775"/>
              <a:chExt cx="275" cy="260"/>
            </a:xfrm>
          </p:grpSpPr>
          <p:sp>
            <p:nvSpPr>
              <p:cNvPr id="154792"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3"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4"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5"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6"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97"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98"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99"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00" name="Group 176"/>
              <p:cNvGrpSpPr/>
              <p:nvPr/>
            </p:nvGrpSpPr>
            <p:grpSpPr bwMode="auto">
              <a:xfrm>
                <a:off x="997" y="2997"/>
                <a:ext cx="275" cy="38"/>
                <a:chOff x="997" y="2997"/>
                <a:chExt cx="275" cy="38"/>
              </a:xfrm>
            </p:grpSpPr>
            <p:sp>
              <p:nvSpPr>
                <p:cNvPr id="154801"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2"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3"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48" name="Group 180"/>
          <p:cNvGrpSpPr/>
          <p:nvPr/>
        </p:nvGrpSpPr>
        <p:grpSpPr bwMode="auto">
          <a:xfrm>
            <a:off x="584730" y="4315595"/>
            <a:ext cx="553773" cy="517525"/>
            <a:chOff x="590" y="3047"/>
            <a:chExt cx="282" cy="265"/>
          </a:xfrm>
        </p:grpSpPr>
        <p:grpSp>
          <p:nvGrpSpPr>
            <p:cNvPr id="154764" name="Group 181"/>
            <p:cNvGrpSpPr/>
            <p:nvPr/>
          </p:nvGrpSpPr>
          <p:grpSpPr bwMode="auto">
            <a:xfrm>
              <a:off x="596" y="3051"/>
              <a:ext cx="276" cy="261"/>
              <a:chOff x="596" y="3051"/>
              <a:chExt cx="276" cy="261"/>
            </a:xfrm>
          </p:grpSpPr>
          <p:sp>
            <p:nvSpPr>
              <p:cNvPr id="154778"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9"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0"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1"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2"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83"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84"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85"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86" name="Group 190"/>
              <p:cNvGrpSpPr/>
              <p:nvPr/>
            </p:nvGrpSpPr>
            <p:grpSpPr bwMode="auto">
              <a:xfrm>
                <a:off x="596" y="3274"/>
                <a:ext cx="276" cy="38"/>
                <a:chOff x="596" y="3274"/>
                <a:chExt cx="276" cy="38"/>
              </a:xfrm>
            </p:grpSpPr>
            <p:sp>
              <p:nvSpPr>
                <p:cNvPr id="154787"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8"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9"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765" name="Group 194"/>
            <p:cNvGrpSpPr/>
            <p:nvPr/>
          </p:nvGrpSpPr>
          <p:grpSpPr bwMode="auto">
            <a:xfrm>
              <a:off x="590" y="3047"/>
              <a:ext cx="275" cy="260"/>
              <a:chOff x="590" y="3047"/>
              <a:chExt cx="275" cy="260"/>
            </a:xfrm>
          </p:grpSpPr>
          <p:sp>
            <p:nvSpPr>
              <p:cNvPr id="154766"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7"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8"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9"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0"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71"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72"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73"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74" name="Group 203"/>
              <p:cNvGrpSpPr/>
              <p:nvPr/>
            </p:nvGrpSpPr>
            <p:grpSpPr bwMode="auto">
              <a:xfrm>
                <a:off x="590" y="3269"/>
                <a:ext cx="275" cy="38"/>
                <a:chOff x="590" y="3269"/>
                <a:chExt cx="275" cy="38"/>
              </a:xfrm>
            </p:grpSpPr>
            <p:sp>
              <p:nvSpPr>
                <p:cNvPr id="154775"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6"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7"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49" name="Group 207"/>
          <p:cNvGrpSpPr/>
          <p:nvPr/>
        </p:nvGrpSpPr>
        <p:grpSpPr bwMode="auto">
          <a:xfrm>
            <a:off x="1205575" y="4937895"/>
            <a:ext cx="552053" cy="517525"/>
            <a:chOff x="906" y="3365"/>
            <a:chExt cx="281" cy="265"/>
          </a:xfrm>
        </p:grpSpPr>
        <p:grpSp>
          <p:nvGrpSpPr>
            <p:cNvPr id="154738" name="Group 208"/>
            <p:cNvGrpSpPr/>
            <p:nvPr/>
          </p:nvGrpSpPr>
          <p:grpSpPr bwMode="auto">
            <a:xfrm>
              <a:off x="912" y="3369"/>
              <a:ext cx="275" cy="261"/>
              <a:chOff x="912" y="3369"/>
              <a:chExt cx="275" cy="261"/>
            </a:xfrm>
          </p:grpSpPr>
          <p:sp>
            <p:nvSpPr>
              <p:cNvPr id="154752"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3"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4"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5"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6"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57"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58"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59"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60" name="Group 217"/>
              <p:cNvGrpSpPr/>
              <p:nvPr/>
            </p:nvGrpSpPr>
            <p:grpSpPr bwMode="auto">
              <a:xfrm>
                <a:off x="912" y="3592"/>
                <a:ext cx="275" cy="38"/>
                <a:chOff x="912" y="3592"/>
                <a:chExt cx="275" cy="38"/>
              </a:xfrm>
            </p:grpSpPr>
            <p:sp>
              <p:nvSpPr>
                <p:cNvPr id="154761"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2"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3"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739" name="Group 221"/>
            <p:cNvGrpSpPr/>
            <p:nvPr/>
          </p:nvGrpSpPr>
          <p:grpSpPr bwMode="auto">
            <a:xfrm>
              <a:off x="906" y="3365"/>
              <a:ext cx="275" cy="261"/>
              <a:chOff x="906" y="3365"/>
              <a:chExt cx="275" cy="261"/>
            </a:xfrm>
          </p:grpSpPr>
          <p:sp>
            <p:nvSpPr>
              <p:cNvPr id="154740"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1"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2"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3"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4"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45"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46"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47"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48" name="Group 230"/>
              <p:cNvGrpSpPr/>
              <p:nvPr/>
            </p:nvGrpSpPr>
            <p:grpSpPr bwMode="auto">
              <a:xfrm>
                <a:off x="906" y="3587"/>
                <a:ext cx="275" cy="39"/>
                <a:chOff x="906" y="3587"/>
                <a:chExt cx="275" cy="39"/>
              </a:xfrm>
            </p:grpSpPr>
            <p:sp>
              <p:nvSpPr>
                <p:cNvPr id="154749"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0"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1"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50" name="Group 234"/>
          <p:cNvGrpSpPr/>
          <p:nvPr/>
        </p:nvGrpSpPr>
        <p:grpSpPr bwMode="auto">
          <a:xfrm>
            <a:off x="2820458" y="5058544"/>
            <a:ext cx="481542" cy="839788"/>
            <a:chOff x="1660" y="3427"/>
            <a:chExt cx="217" cy="339"/>
          </a:xfrm>
        </p:grpSpPr>
        <p:grpSp>
          <p:nvGrpSpPr>
            <p:cNvPr id="154718" name="Group 235"/>
            <p:cNvGrpSpPr/>
            <p:nvPr/>
          </p:nvGrpSpPr>
          <p:grpSpPr bwMode="auto">
            <a:xfrm>
              <a:off x="1665" y="3433"/>
              <a:ext cx="212" cy="333"/>
              <a:chOff x="1665" y="3433"/>
              <a:chExt cx="212" cy="333"/>
            </a:xfrm>
          </p:grpSpPr>
          <p:sp>
            <p:nvSpPr>
              <p:cNvPr id="154729"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0"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1"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2"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3"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34"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35"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36"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37"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719" name="Group 245"/>
            <p:cNvGrpSpPr/>
            <p:nvPr/>
          </p:nvGrpSpPr>
          <p:grpSpPr bwMode="auto">
            <a:xfrm>
              <a:off x="1660" y="3427"/>
              <a:ext cx="212" cy="333"/>
              <a:chOff x="1660" y="3427"/>
              <a:chExt cx="212" cy="333"/>
            </a:xfrm>
          </p:grpSpPr>
          <p:sp>
            <p:nvSpPr>
              <p:cNvPr id="154720"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1"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2"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3"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4"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25"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26"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27"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28"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4651"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52"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4653"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54"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校园网的高速缓存</a:t>
            </a:r>
            <a:endParaRPr kumimoji="1" lang="zh-CN" altLang="en-US" sz="20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（代理服务器）</a:t>
            </a:r>
            <a:endParaRPr kumimoji="1" lang="zh-CN" altLang="en-US" sz="2000" b="1">
              <a:solidFill>
                <a:srgbClr val="000099"/>
              </a:solidFill>
              <a:latin typeface="Arial" panose="020B0604020202020204" pitchFamily="34" charset="0"/>
              <a:ea typeface="黑体" panose="02010609060101010101" pitchFamily="2" charset="-122"/>
            </a:endParaRPr>
          </a:p>
        </p:txBody>
      </p:sp>
      <p:grpSp>
        <p:nvGrpSpPr>
          <p:cNvPr id="154655" name="Group 259"/>
          <p:cNvGrpSpPr/>
          <p:nvPr/>
        </p:nvGrpSpPr>
        <p:grpSpPr bwMode="auto">
          <a:xfrm>
            <a:off x="8743421" y="2924944"/>
            <a:ext cx="424789" cy="661988"/>
            <a:chOff x="4305" y="2335"/>
            <a:chExt cx="216" cy="339"/>
          </a:xfrm>
        </p:grpSpPr>
        <p:grpSp>
          <p:nvGrpSpPr>
            <p:cNvPr id="154698" name="Group 260"/>
            <p:cNvGrpSpPr/>
            <p:nvPr/>
          </p:nvGrpSpPr>
          <p:grpSpPr bwMode="auto">
            <a:xfrm>
              <a:off x="4310" y="2341"/>
              <a:ext cx="211" cy="333"/>
              <a:chOff x="4310" y="2341"/>
              <a:chExt cx="211" cy="333"/>
            </a:xfrm>
          </p:grpSpPr>
          <p:sp>
            <p:nvSpPr>
              <p:cNvPr id="154709"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0"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1"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2"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3"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14"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15"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16"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17"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699" name="Group 270"/>
            <p:cNvGrpSpPr/>
            <p:nvPr/>
          </p:nvGrpSpPr>
          <p:grpSpPr bwMode="auto">
            <a:xfrm>
              <a:off x="4305" y="2335"/>
              <a:ext cx="211" cy="332"/>
              <a:chOff x="4305" y="2335"/>
              <a:chExt cx="211" cy="332"/>
            </a:xfrm>
          </p:grpSpPr>
          <p:sp>
            <p:nvSpPr>
              <p:cNvPr id="154700"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1"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2"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3"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4"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05"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06"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07"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08"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4656"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4657"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58" name="Rectangle 282"/>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a:t>
            </a:r>
            <a:r>
              <a:rPr kumimoji="1" lang="en-US" altLang="zh-CN" sz="2000" b="1" dirty="0" smtClean="0">
                <a:solidFill>
                  <a:srgbClr val="000099"/>
                </a:solidFill>
                <a:latin typeface="Arial" panose="020B0604020202020204" pitchFamily="34" charset="0"/>
                <a:ea typeface="黑体" panose="02010609060101010101" pitchFamily="2" charset="-122"/>
              </a:rPr>
              <a:t>Mbit/s</a:t>
            </a:r>
            <a:endParaRPr kumimoji="1" lang="en-US" altLang="zh-CN" sz="2000" b="1" dirty="0">
              <a:solidFill>
                <a:srgbClr val="000099"/>
              </a:solidFill>
              <a:latin typeface="Arial" panose="020B0604020202020204" pitchFamily="34" charset="0"/>
              <a:ea typeface="黑体" panose="02010609060101010101" pitchFamily="2" charset="-122"/>
            </a:endParaRPr>
          </a:p>
        </p:txBody>
      </p:sp>
      <p:grpSp>
        <p:nvGrpSpPr>
          <p:cNvPr id="154659" name="Group 283"/>
          <p:cNvGrpSpPr/>
          <p:nvPr/>
        </p:nvGrpSpPr>
        <p:grpSpPr bwMode="auto">
          <a:xfrm>
            <a:off x="3102504" y="5544319"/>
            <a:ext cx="565812" cy="260350"/>
            <a:chOff x="1872" y="3676"/>
            <a:chExt cx="227" cy="136"/>
          </a:xfrm>
        </p:grpSpPr>
        <p:sp>
          <p:nvSpPr>
            <p:cNvPr id="154696"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97"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4660" name="Group 286"/>
          <p:cNvGrpSpPr/>
          <p:nvPr/>
        </p:nvGrpSpPr>
        <p:grpSpPr bwMode="auto">
          <a:xfrm>
            <a:off x="6576483" y="4288607"/>
            <a:ext cx="607087" cy="374650"/>
            <a:chOff x="3202" y="3033"/>
            <a:chExt cx="309" cy="192"/>
          </a:xfrm>
        </p:grpSpPr>
        <p:sp>
          <p:nvSpPr>
            <p:cNvPr id="154671"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4672"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73"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74"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4675" name="Group 291"/>
            <p:cNvGrpSpPr/>
            <p:nvPr/>
          </p:nvGrpSpPr>
          <p:grpSpPr bwMode="auto">
            <a:xfrm>
              <a:off x="3249" y="3046"/>
              <a:ext cx="214" cy="86"/>
              <a:chOff x="3249" y="3046"/>
              <a:chExt cx="214" cy="86"/>
            </a:xfrm>
          </p:grpSpPr>
          <p:grpSp>
            <p:nvGrpSpPr>
              <p:cNvPr id="154678" name="Group 292"/>
              <p:cNvGrpSpPr/>
              <p:nvPr/>
            </p:nvGrpSpPr>
            <p:grpSpPr bwMode="auto">
              <a:xfrm>
                <a:off x="3249" y="3046"/>
                <a:ext cx="212" cy="84"/>
                <a:chOff x="3249" y="3046"/>
                <a:chExt cx="212" cy="84"/>
              </a:xfrm>
            </p:grpSpPr>
            <p:sp>
              <p:nvSpPr>
                <p:cNvPr id="154688"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9"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0"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1"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2"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3"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4"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5"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4679" name="Group 301"/>
              <p:cNvGrpSpPr/>
              <p:nvPr/>
            </p:nvGrpSpPr>
            <p:grpSpPr bwMode="auto">
              <a:xfrm>
                <a:off x="3251" y="3048"/>
                <a:ext cx="212" cy="84"/>
                <a:chOff x="3251" y="3048"/>
                <a:chExt cx="212" cy="84"/>
              </a:xfrm>
            </p:grpSpPr>
            <p:sp>
              <p:nvSpPr>
                <p:cNvPr id="154680"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1"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2"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3"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4"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5"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6"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7"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4676"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77"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4661"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2" name="Rectangle 313"/>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4663"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4"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5" name="Rectangle 316"/>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6" name="Rectangle 317"/>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4667" name="Rectangle 318"/>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54668" name="Rectangle 319"/>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54669" name="Text Box 320"/>
          <p:cNvSpPr txBox="1">
            <a:spLocks noChangeArrowheads="1"/>
          </p:cNvSpPr>
          <p:nvPr/>
        </p:nvSpPr>
        <p:spPr bwMode="auto">
          <a:xfrm>
            <a:off x="507339" y="1196752"/>
            <a:ext cx="8913680" cy="946150"/>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(4) </a:t>
            </a:r>
            <a:r>
              <a:rPr lang="zh-CN" altLang="en-US" dirty="0"/>
              <a:t>源点服务器将所请求的对象放在 </a:t>
            </a:r>
            <a:r>
              <a:rPr lang="en-US" altLang="zh-CN" dirty="0"/>
              <a:t>HTTP </a:t>
            </a:r>
            <a:r>
              <a:rPr lang="zh-CN" altLang="en-US" dirty="0"/>
              <a:t>响应报文中返回给校园网的高速缓存。</a:t>
            </a:r>
            <a:endParaRPr lang="zh-CN" altLang="en-US" dirty="0"/>
          </a:p>
        </p:txBody>
      </p:sp>
      <p:sp>
        <p:nvSpPr>
          <p:cNvPr id="650561" name="Freeform 321"/>
          <p:cNvSpPr/>
          <p:nvPr/>
        </p:nvSpPr>
        <p:spPr bwMode="auto">
          <a:xfrm>
            <a:off x="3159258" y="3356745"/>
            <a:ext cx="5771621" cy="1871663"/>
          </a:xfrm>
          <a:custGeom>
            <a:avLst/>
            <a:gdLst>
              <a:gd name="T0" fmla="*/ 0 w 3356"/>
              <a:gd name="T1" fmla="*/ 2147483646 h 1179"/>
              <a:gd name="T2" fmla="*/ 2147483646 w 3356"/>
              <a:gd name="T3" fmla="*/ 2147483646 h 1179"/>
              <a:gd name="T4" fmla="*/ 2147483646 w 3356"/>
              <a:gd name="T5" fmla="*/ 2147483646 h 1179"/>
              <a:gd name="T6" fmla="*/ 2147483646 w 3356"/>
              <a:gd name="T7" fmla="*/ 2147483646 h 1179"/>
              <a:gd name="T8" fmla="*/ 2147483646 w 3356"/>
              <a:gd name="T9" fmla="*/ 2147483646 h 1179"/>
              <a:gd name="T10" fmla="*/ 2147483646 w 3356"/>
              <a:gd name="T11" fmla="*/ 2147483646 h 1179"/>
              <a:gd name="T12" fmla="*/ 2147483646 w 3356"/>
              <a:gd name="T13" fmla="*/ 2147483646 h 1179"/>
              <a:gd name="T14" fmla="*/ 2147483646 w 3356"/>
              <a:gd name="T15" fmla="*/ 2147483646 h 1179"/>
              <a:gd name="T16" fmla="*/ 2147483646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50561"/>
                                        </p:tgtEl>
                                        <p:attrNameLst>
                                          <p:attrName>style.visibility</p:attrName>
                                        </p:attrNameLst>
                                      </p:cBhvr>
                                      <p:to>
                                        <p:strVal val="visible"/>
                                      </p:to>
                                    </p:set>
                                    <p:animEffect transition="in" filter="wipe(right)">
                                      <p:cBhvr>
                                        <p:cTn id="7" dur="500"/>
                                        <p:tgtEl>
                                          <p:spTgt spid="650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56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algn="ctr" eaLnBrk="1" hangingPunct="1">
              <a:defRPr/>
            </a:pPr>
            <a:r>
              <a:rPr dirty="0"/>
              <a:t>使用高速缓存的情况</a:t>
            </a:r>
            <a:endParaRPr dirty="0"/>
          </a:p>
        </p:txBody>
      </p:sp>
      <p:grpSp>
        <p:nvGrpSpPr>
          <p:cNvPr id="156675" name="Group 3"/>
          <p:cNvGrpSpPr/>
          <p:nvPr/>
        </p:nvGrpSpPr>
        <p:grpSpPr bwMode="auto">
          <a:xfrm>
            <a:off x="271727" y="3205932"/>
            <a:ext cx="3742267" cy="2570162"/>
            <a:chOff x="912" y="768"/>
            <a:chExt cx="2400" cy="1584"/>
          </a:xfrm>
        </p:grpSpPr>
        <p:sp>
          <p:nvSpPr>
            <p:cNvPr id="156978"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79"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0"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1"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2"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3"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4"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5"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6"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6987" name="Group 13"/>
            <p:cNvGrpSpPr/>
            <p:nvPr/>
          </p:nvGrpSpPr>
          <p:grpSpPr bwMode="auto">
            <a:xfrm>
              <a:off x="912" y="768"/>
              <a:ext cx="2386" cy="1553"/>
              <a:chOff x="912" y="768"/>
              <a:chExt cx="2386" cy="1553"/>
            </a:xfrm>
          </p:grpSpPr>
          <p:sp>
            <p:nvSpPr>
              <p:cNvPr id="156988"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9"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0"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1"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2"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3"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4"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5"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6"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6676"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4601" name="VISIO" r:id="rId1" imgW="1687195" imgH="964565" progId="Visio.Drawing.6">
                  <p:embed/>
                </p:oleObj>
              </mc:Choice>
              <mc:Fallback>
                <p:oleObj name="VISIO" r:id="rId1" imgW="1687195" imgH="964565" progId="Visio.Drawing.6">
                  <p:embed/>
                  <p:pic>
                    <p:nvPicPr>
                      <p:cNvPr id="0" name="图片 246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6677"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6678"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79"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0"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1"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682" name="Group 29"/>
          <p:cNvGrpSpPr/>
          <p:nvPr/>
        </p:nvGrpSpPr>
        <p:grpSpPr bwMode="auto">
          <a:xfrm>
            <a:off x="9099418" y="3696469"/>
            <a:ext cx="426508" cy="661988"/>
            <a:chOff x="4486" y="2730"/>
            <a:chExt cx="217" cy="339"/>
          </a:xfrm>
        </p:grpSpPr>
        <p:grpSp>
          <p:nvGrpSpPr>
            <p:cNvPr id="156958" name="Group 30"/>
            <p:cNvGrpSpPr/>
            <p:nvPr/>
          </p:nvGrpSpPr>
          <p:grpSpPr bwMode="auto">
            <a:xfrm>
              <a:off x="4491" y="2736"/>
              <a:ext cx="212" cy="333"/>
              <a:chOff x="4491" y="2736"/>
              <a:chExt cx="212" cy="333"/>
            </a:xfrm>
          </p:grpSpPr>
          <p:sp>
            <p:nvSpPr>
              <p:cNvPr id="156969"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0"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1"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2"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3"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74"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75"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76"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77"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959" name="Group 40"/>
            <p:cNvGrpSpPr/>
            <p:nvPr/>
          </p:nvGrpSpPr>
          <p:grpSpPr bwMode="auto">
            <a:xfrm>
              <a:off x="4486" y="2730"/>
              <a:ext cx="212" cy="333"/>
              <a:chOff x="4486" y="2730"/>
              <a:chExt cx="212" cy="333"/>
            </a:xfrm>
          </p:grpSpPr>
          <p:sp>
            <p:nvSpPr>
              <p:cNvPr id="156960"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1"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2"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3"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4"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65"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66"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67"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68"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6683" name="Group 50"/>
          <p:cNvGrpSpPr/>
          <p:nvPr/>
        </p:nvGrpSpPr>
        <p:grpSpPr bwMode="auto">
          <a:xfrm>
            <a:off x="9099418" y="4556894"/>
            <a:ext cx="426508" cy="661988"/>
            <a:chOff x="4486" y="3170"/>
            <a:chExt cx="217" cy="339"/>
          </a:xfrm>
        </p:grpSpPr>
        <p:grpSp>
          <p:nvGrpSpPr>
            <p:cNvPr id="156938" name="Group 51"/>
            <p:cNvGrpSpPr/>
            <p:nvPr/>
          </p:nvGrpSpPr>
          <p:grpSpPr bwMode="auto">
            <a:xfrm>
              <a:off x="4491" y="3176"/>
              <a:ext cx="212" cy="333"/>
              <a:chOff x="4491" y="3176"/>
              <a:chExt cx="212" cy="333"/>
            </a:xfrm>
          </p:grpSpPr>
          <p:sp>
            <p:nvSpPr>
              <p:cNvPr id="156949"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0"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1"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2"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3"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54"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55"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56"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57"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939" name="Group 61"/>
            <p:cNvGrpSpPr/>
            <p:nvPr/>
          </p:nvGrpSpPr>
          <p:grpSpPr bwMode="auto">
            <a:xfrm>
              <a:off x="4486" y="3170"/>
              <a:ext cx="212" cy="332"/>
              <a:chOff x="4486" y="3170"/>
              <a:chExt cx="212" cy="332"/>
            </a:xfrm>
          </p:grpSpPr>
          <p:sp>
            <p:nvSpPr>
              <p:cNvPr id="156940"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1"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2"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3"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4"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45"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46"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47"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48"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6684" name="Group 71"/>
          <p:cNvGrpSpPr/>
          <p:nvPr/>
        </p:nvGrpSpPr>
        <p:grpSpPr bwMode="auto">
          <a:xfrm>
            <a:off x="8655712" y="5229994"/>
            <a:ext cx="423069" cy="661988"/>
            <a:chOff x="4260" y="3515"/>
            <a:chExt cx="216" cy="339"/>
          </a:xfrm>
        </p:grpSpPr>
        <p:grpSp>
          <p:nvGrpSpPr>
            <p:cNvPr id="156918" name="Group 72"/>
            <p:cNvGrpSpPr/>
            <p:nvPr/>
          </p:nvGrpSpPr>
          <p:grpSpPr bwMode="auto">
            <a:xfrm>
              <a:off x="4265" y="3521"/>
              <a:ext cx="211" cy="333"/>
              <a:chOff x="4265" y="3521"/>
              <a:chExt cx="211" cy="333"/>
            </a:xfrm>
          </p:grpSpPr>
          <p:sp>
            <p:nvSpPr>
              <p:cNvPr id="156929"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0"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1"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2"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3"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34"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35"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36"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37"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919" name="Group 82"/>
            <p:cNvGrpSpPr/>
            <p:nvPr/>
          </p:nvGrpSpPr>
          <p:grpSpPr bwMode="auto">
            <a:xfrm>
              <a:off x="4260" y="3515"/>
              <a:ext cx="211" cy="332"/>
              <a:chOff x="4260" y="3515"/>
              <a:chExt cx="211" cy="332"/>
            </a:xfrm>
          </p:grpSpPr>
          <p:sp>
            <p:nvSpPr>
              <p:cNvPr id="156920"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1"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2"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3"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4"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25"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26"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27"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28"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6685"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6686"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7"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8"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9"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90"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91"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6692" name="Line 99"/>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693" name="Group 100"/>
          <p:cNvGrpSpPr/>
          <p:nvPr/>
        </p:nvGrpSpPr>
        <p:grpSpPr bwMode="auto">
          <a:xfrm>
            <a:off x="3656277" y="4288607"/>
            <a:ext cx="607087" cy="374650"/>
            <a:chOff x="2154" y="3033"/>
            <a:chExt cx="309" cy="192"/>
          </a:xfrm>
        </p:grpSpPr>
        <p:sp>
          <p:nvSpPr>
            <p:cNvPr id="156893"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6894"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95"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96"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6897" name="Group 105"/>
            <p:cNvGrpSpPr/>
            <p:nvPr/>
          </p:nvGrpSpPr>
          <p:grpSpPr bwMode="auto">
            <a:xfrm>
              <a:off x="2201" y="3046"/>
              <a:ext cx="214" cy="86"/>
              <a:chOff x="2201" y="3046"/>
              <a:chExt cx="214" cy="86"/>
            </a:xfrm>
          </p:grpSpPr>
          <p:grpSp>
            <p:nvGrpSpPr>
              <p:cNvPr id="156900" name="Group 106"/>
              <p:cNvGrpSpPr/>
              <p:nvPr/>
            </p:nvGrpSpPr>
            <p:grpSpPr bwMode="auto">
              <a:xfrm>
                <a:off x="2201" y="3046"/>
                <a:ext cx="212" cy="84"/>
                <a:chOff x="2201" y="3046"/>
                <a:chExt cx="212" cy="84"/>
              </a:xfrm>
            </p:grpSpPr>
            <p:sp>
              <p:nvSpPr>
                <p:cNvPr id="156910"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1"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2"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3"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4"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5"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6"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7"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6901" name="Group 115"/>
              <p:cNvGrpSpPr/>
              <p:nvPr/>
            </p:nvGrpSpPr>
            <p:grpSpPr bwMode="auto">
              <a:xfrm>
                <a:off x="2203" y="3048"/>
                <a:ext cx="212" cy="84"/>
                <a:chOff x="2203" y="3048"/>
                <a:chExt cx="212" cy="84"/>
              </a:xfrm>
            </p:grpSpPr>
            <p:sp>
              <p:nvSpPr>
                <p:cNvPr id="156902"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3"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4"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5"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6"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7"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8"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9"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6898"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899"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694" name="Group 126"/>
          <p:cNvGrpSpPr/>
          <p:nvPr/>
        </p:nvGrpSpPr>
        <p:grpSpPr bwMode="auto">
          <a:xfrm>
            <a:off x="1234810" y="3075758"/>
            <a:ext cx="557213" cy="517525"/>
            <a:chOff x="921" y="2412"/>
            <a:chExt cx="284" cy="265"/>
          </a:xfrm>
        </p:grpSpPr>
        <p:grpSp>
          <p:nvGrpSpPr>
            <p:cNvPr id="156867" name="Group 127"/>
            <p:cNvGrpSpPr/>
            <p:nvPr/>
          </p:nvGrpSpPr>
          <p:grpSpPr bwMode="auto">
            <a:xfrm>
              <a:off x="928" y="2417"/>
              <a:ext cx="277" cy="260"/>
              <a:chOff x="928" y="2417"/>
              <a:chExt cx="277" cy="260"/>
            </a:xfrm>
          </p:grpSpPr>
          <p:sp>
            <p:nvSpPr>
              <p:cNvPr id="156881"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2"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3"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4"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5"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86"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87"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88"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89" name="Group 136"/>
              <p:cNvGrpSpPr/>
              <p:nvPr/>
            </p:nvGrpSpPr>
            <p:grpSpPr bwMode="auto">
              <a:xfrm>
                <a:off x="928" y="2639"/>
                <a:ext cx="277" cy="38"/>
                <a:chOff x="928" y="2639"/>
                <a:chExt cx="277" cy="38"/>
              </a:xfrm>
            </p:grpSpPr>
            <p:sp>
              <p:nvSpPr>
                <p:cNvPr id="156890"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91"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92"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868" name="Group 140"/>
            <p:cNvGrpSpPr/>
            <p:nvPr/>
          </p:nvGrpSpPr>
          <p:grpSpPr bwMode="auto">
            <a:xfrm>
              <a:off x="921" y="2412"/>
              <a:ext cx="277" cy="261"/>
              <a:chOff x="921" y="2412"/>
              <a:chExt cx="277" cy="261"/>
            </a:xfrm>
          </p:grpSpPr>
          <p:sp>
            <p:nvSpPr>
              <p:cNvPr id="156869"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0"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1"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2"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3"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74"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75"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76"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77" name="Group 149"/>
              <p:cNvGrpSpPr/>
              <p:nvPr/>
            </p:nvGrpSpPr>
            <p:grpSpPr bwMode="auto">
              <a:xfrm>
                <a:off x="921" y="2635"/>
                <a:ext cx="277" cy="38"/>
                <a:chOff x="921" y="2635"/>
                <a:chExt cx="277" cy="38"/>
              </a:xfrm>
            </p:grpSpPr>
            <p:sp>
              <p:nvSpPr>
                <p:cNvPr id="156878"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9"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0"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5" name="Group 153"/>
          <p:cNvGrpSpPr/>
          <p:nvPr/>
        </p:nvGrpSpPr>
        <p:grpSpPr bwMode="auto">
          <a:xfrm>
            <a:off x="1384433" y="3785370"/>
            <a:ext cx="553773" cy="517525"/>
            <a:chOff x="997" y="2775"/>
            <a:chExt cx="282" cy="265"/>
          </a:xfrm>
        </p:grpSpPr>
        <p:grpSp>
          <p:nvGrpSpPr>
            <p:cNvPr id="156841" name="Group 154"/>
            <p:cNvGrpSpPr/>
            <p:nvPr/>
          </p:nvGrpSpPr>
          <p:grpSpPr bwMode="auto">
            <a:xfrm>
              <a:off x="1004" y="2779"/>
              <a:ext cx="275" cy="261"/>
              <a:chOff x="1004" y="2779"/>
              <a:chExt cx="275" cy="261"/>
            </a:xfrm>
          </p:grpSpPr>
          <p:sp>
            <p:nvSpPr>
              <p:cNvPr id="156855"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6"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7"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8"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9"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60"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61"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62"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63" name="Group 163"/>
              <p:cNvGrpSpPr/>
              <p:nvPr/>
            </p:nvGrpSpPr>
            <p:grpSpPr bwMode="auto">
              <a:xfrm>
                <a:off x="1004" y="3002"/>
                <a:ext cx="275" cy="38"/>
                <a:chOff x="1004" y="3002"/>
                <a:chExt cx="275" cy="38"/>
              </a:xfrm>
            </p:grpSpPr>
            <p:sp>
              <p:nvSpPr>
                <p:cNvPr id="156864"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65"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66"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842" name="Group 167"/>
            <p:cNvGrpSpPr/>
            <p:nvPr/>
          </p:nvGrpSpPr>
          <p:grpSpPr bwMode="auto">
            <a:xfrm>
              <a:off x="997" y="2775"/>
              <a:ext cx="275" cy="260"/>
              <a:chOff x="997" y="2775"/>
              <a:chExt cx="275" cy="260"/>
            </a:xfrm>
          </p:grpSpPr>
          <p:sp>
            <p:nvSpPr>
              <p:cNvPr id="156843"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4"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5"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6"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7"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48"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49"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50"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51" name="Group 176"/>
              <p:cNvGrpSpPr/>
              <p:nvPr/>
            </p:nvGrpSpPr>
            <p:grpSpPr bwMode="auto">
              <a:xfrm>
                <a:off x="997" y="2997"/>
                <a:ext cx="275" cy="38"/>
                <a:chOff x="997" y="2997"/>
                <a:chExt cx="275" cy="38"/>
              </a:xfrm>
            </p:grpSpPr>
            <p:sp>
              <p:nvSpPr>
                <p:cNvPr id="156852"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3"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4"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6" name="Group 180"/>
          <p:cNvGrpSpPr/>
          <p:nvPr/>
        </p:nvGrpSpPr>
        <p:grpSpPr bwMode="auto">
          <a:xfrm>
            <a:off x="584730" y="4315595"/>
            <a:ext cx="553773" cy="517525"/>
            <a:chOff x="590" y="3047"/>
            <a:chExt cx="282" cy="265"/>
          </a:xfrm>
        </p:grpSpPr>
        <p:grpSp>
          <p:nvGrpSpPr>
            <p:cNvPr id="156815" name="Group 181"/>
            <p:cNvGrpSpPr/>
            <p:nvPr/>
          </p:nvGrpSpPr>
          <p:grpSpPr bwMode="auto">
            <a:xfrm>
              <a:off x="596" y="3051"/>
              <a:ext cx="276" cy="261"/>
              <a:chOff x="596" y="3051"/>
              <a:chExt cx="276" cy="261"/>
            </a:xfrm>
          </p:grpSpPr>
          <p:sp>
            <p:nvSpPr>
              <p:cNvPr id="156829"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0"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1"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2"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3"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34"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35"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36"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37" name="Group 190"/>
              <p:cNvGrpSpPr/>
              <p:nvPr/>
            </p:nvGrpSpPr>
            <p:grpSpPr bwMode="auto">
              <a:xfrm>
                <a:off x="596" y="3274"/>
                <a:ext cx="276" cy="38"/>
                <a:chOff x="596" y="3274"/>
                <a:chExt cx="276" cy="38"/>
              </a:xfrm>
            </p:grpSpPr>
            <p:sp>
              <p:nvSpPr>
                <p:cNvPr id="156838"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9"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0"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816" name="Group 194"/>
            <p:cNvGrpSpPr/>
            <p:nvPr/>
          </p:nvGrpSpPr>
          <p:grpSpPr bwMode="auto">
            <a:xfrm>
              <a:off x="590" y="3047"/>
              <a:ext cx="275" cy="260"/>
              <a:chOff x="590" y="3047"/>
              <a:chExt cx="275" cy="260"/>
            </a:xfrm>
          </p:grpSpPr>
          <p:sp>
            <p:nvSpPr>
              <p:cNvPr id="156817"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8"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9"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0"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1"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22"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23"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24"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25" name="Group 203"/>
              <p:cNvGrpSpPr/>
              <p:nvPr/>
            </p:nvGrpSpPr>
            <p:grpSpPr bwMode="auto">
              <a:xfrm>
                <a:off x="590" y="3269"/>
                <a:ext cx="275" cy="38"/>
                <a:chOff x="590" y="3269"/>
                <a:chExt cx="275" cy="38"/>
              </a:xfrm>
            </p:grpSpPr>
            <p:sp>
              <p:nvSpPr>
                <p:cNvPr id="156826"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7"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8"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7" name="Group 207"/>
          <p:cNvGrpSpPr/>
          <p:nvPr/>
        </p:nvGrpSpPr>
        <p:grpSpPr bwMode="auto">
          <a:xfrm>
            <a:off x="1205575" y="4937895"/>
            <a:ext cx="552053" cy="517525"/>
            <a:chOff x="906" y="3365"/>
            <a:chExt cx="281" cy="265"/>
          </a:xfrm>
        </p:grpSpPr>
        <p:grpSp>
          <p:nvGrpSpPr>
            <p:cNvPr id="156789" name="Group 208"/>
            <p:cNvGrpSpPr/>
            <p:nvPr/>
          </p:nvGrpSpPr>
          <p:grpSpPr bwMode="auto">
            <a:xfrm>
              <a:off x="912" y="3369"/>
              <a:ext cx="275" cy="261"/>
              <a:chOff x="912" y="3369"/>
              <a:chExt cx="275" cy="261"/>
            </a:xfrm>
          </p:grpSpPr>
          <p:sp>
            <p:nvSpPr>
              <p:cNvPr id="156803"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4"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5"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6"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7"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08"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09"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10"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11" name="Group 217"/>
              <p:cNvGrpSpPr/>
              <p:nvPr/>
            </p:nvGrpSpPr>
            <p:grpSpPr bwMode="auto">
              <a:xfrm>
                <a:off x="912" y="3592"/>
                <a:ext cx="275" cy="38"/>
                <a:chOff x="912" y="3592"/>
                <a:chExt cx="275" cy="38"/>
              </a:xfrm>
            </p:grpSpPr>
            <p:sp>
              <p:nvSpPr>
                <p:cNvPr id="156812"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3"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4"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790" name="Group 221"/>
            <p:cNvGrpSpPr/>
            <p:nvPr/>
          </p:nvGrpSpPr>
          <p:grpSpPr bwMode="auto">
            <a:xfrm>
              <a:off x="906" y="3365"/>
              <a:ext cx="275" cy="261"/>
              <a:chOff x="906" y="3365"/>
              <a:chExt cx="275" cy="261"/>
            </a:xfrm>
          </p:grpSpPr>
          <p:sp>
            <p:nvSpPr>
              <p:cNvPr id="156791"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2"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3"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4"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5"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96"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97"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98"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799" name="Group 230"/>
              <p:cNvGrpSpPr/>
              <p:nvPr/>
            </p:nvGrpSpPr>
            <p:grpSpPr bwMode="auto">
              <a:xfrm>
                <a:off x="906" y="3587"/>
                <a:ext cx="275" cy="39"/>
                <a:chOff x="906" y="3587"/>
                <a:chExt cx="275" cy="39"/>
              </a:xfrm>
            </p:grpSpPr>
            <p:sp>
              <p:nvSpPr>
                <p:cNvPr id="156800"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1"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2"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8" name="Group 234"/>
          <p:cNvGrpSpPr/>
          <p:nvPr/>
        </p:nvGrpSpPr>
        <p:grpSpPr bwMode="auto">
          <a:xfrm>
            <a:off x="2820458" y="5058544"/>
            <a:ext cx="481542" cy="839788"/>
            <a:chOff x="1660" y="3427"/>
            <a:chExt cx="217" cy="339"/>
          </a:xfrm>
        </p:grpSpPr>
        <p:grpSp>
          <p:nvGrpSpPr>
            <p:cNvPr id="156769" name="Group 235"/>
            <p:cNvGrpSpPr/>
            <p:nvPr/>
          </p:nvGrpSpPr>
          <p:grpSpPr bwMode="auto">
            <a:xfrm>
              <a:off x="1665" y="3433"/>
              <a:ext cx="212" cy="333"/>
              <a:chOff x="1665" y="3433"/>
              <a:chExt cx="212" cy="333"/>
            </a:xfrm>
          </p:grpSpPr>
          <p:sp>
            <p:nvSpPr>
              <p:cNvPr id="156780"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1"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2"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3"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4"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85"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86"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87"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88"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770" name="Group 245"/>
            <p:cNvGrpSpPr/>
            <p:nvPr/>
          </p:nvGrpSpPr>
          <p:grpSpPr bwMode="auto">
            <a:xfrm>
              <a:off x="1660" y="3427"/>
              <a:ext cx="212" cy="333"/>
              <a:chOff x="1660" y="3427"/>
              <a:chExt cx="212" cy="333"/>
            </a:xfrm>
          </p:grpSpPr>
          <p:sp>
            <p:nvSpPr>
              <p:cNvPr id="156771"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2"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3"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4"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5"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76"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77"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78"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79"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6699"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00"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6701"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02"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校园网的高速缓存</a:t>
            </a:r>
            <a:endParaRPr kumimoji="1" lang="zh-CN" altLang="en-US" sz="20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（代理服务器）</a:t>
            </a:r>
            <a:endParaRPr kumimoji="1" lang="zh-CN" altLang="en-US" sz="2000" b="1">
              <a:solidFill>
                <a:srgbClr val="000099"/>
              </a:solidFill>
              <a:latin typeface="Arial" panose="020B0604020202020204" pitchFamily="34" charset="0"/>
              <a:ea typeface="黑体" panose="02010609060101010101" pitchFamily="2" charset="-122"/>
            </a:endParaRPr>
          </a:p>
        </p:txBody>
      </p:sp>
      <p:grpSp>
        <p:nvGrpSpPr>
          <p:cNvPr id="156703" name="Group 259"/>
          <p:cNvGrpSpPr/>
          <p:nvPr/>
        </p:nvGrpSpPr>
        <p:grpSpPr bwMode="auto">
          <a:xfrm>
            <a:off x="8743421" y="2924944"/>
            <a:ext cx="424789" cy="661988"/>
            <a:chOff x="4305" y="2335"/>
            <a:chExt cx="216" cy="339"/>
          </a:xfrm>
        </p:grpSpPr>
        <p:grpSp>
          <p:nvGrpSpPr>
            <p:cNvPr id="156749" name="Group 260"/>
            <p:cNvGrpSpPr/>
            <p:nvPr/>
          </p:nvGrpSpPr>
          <p:grpSpPr bwMode="auto">
            <a:xfrm>
              <a:off x="4310" y="2341"/>
              <a:ext cx="211" cy="333"/>
              <a:chOff x="4310" y="2341"/>
              <a:chExt cx="211" cy="333"/>
            </a:xfrm>
          </p:grpSpPr>
          <p:sp>
            <p:nvSpPr>
              <p:cNvPr id="156760"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1"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2"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3"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4"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65"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66"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67"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68"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750" name="Group 270"/>
            <p:cNvGrpSpPr/>
            <p:nvPr/>
          </p:nvGrpSpPr>
          <p:grpSpPr bwMode="auto">
            <a:xfrm>
              <a:off x="4305" y="2335"/>
              <a:ext cx="211" cy="332"/>
              <a:chOff x="4305" y="2335"/>
              <a:chExt cx="211" cy="332"/>
            </a:xfrm>
          </p:grpSpPr>
          <p:sp>
            <p:nvSpPr>
              <p:cNvPr id="156751"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2"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3"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4"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5"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56"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57"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58"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59"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6704"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6705"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06" name="Rectangle 282"/>
          <p:cNvSpPr>
            <a:spLocks noChangeArrowheads="1"/>
          </p:cNvSpPr>
          <p:nvPr/>
        </p:nvSpPr>
        <p:spPr bwMode="auto">
          <a:xfrm>
            <a:off x="5030391"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a:t>
            </a:r>
            <a:r>
              <a:rPr kumimoji="1" lang="en-US" altLang="zh-CN" sz="2000" b="1" dirty="0" smtClean="0">
                <a:solidFill>
                  <a:srgbClr val="000099"/>
                </a:solidFill>
                <a:latin typeface="Arial" panose="020B0604020202020204" pitchFamily="34" charset="0"/>
                <a:ea typeface="黑体" panose="02010609060101010101" pitchFamily="2" charset="-122"/>
              </a:rPr>
              <a:t>Mbit/s</a:t>
            </a:r>
            <a:endParaRPr kumimoji="1" lang="en-US" altLang="zh-CN" sz="2000" b="1" dirty="0">
              <a:solidFill>
                <a:srgbClr val="000099"/>
              </a:solidFill>
              <a:latin typeface="Arial" panose="020B0604020202020204" pitchFamily="34" charset="0"/>
              <a:ea typeface="黑体" panose="02010609060101010101" pitchFamily="2" charset="-122"/>
            </a:endParaRPr>
          </a:p>
        </p:txBody>
      </p:sp>
      <p:grpSp>
        <p:nvGrpSpPr>
          <p:cNvPr id="156707" name="Group 283"/>
          <p:cNvGrpSpPr/>
          <p:nvPr/>
        </p:nvGrpSpPr>
        <p:grpSpPr bwMode="auto">
          <a:xfrm>
            <a:off x="3102504" y="5544319"/>
            <a:ext cx="565812" cy="260350"/>
            <a:chOff x="1872" y="3676"/>
            <a:chExt cx="227" cy="136"/>
          </a:xfrm>
        </p:grpSpPr>
        <p:sp>
          <p:nvSpPr>
            <p:cNvPr id="156747"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48"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6708" name="Group 286"/>
          <p:cNvGrpSpPr/>
          <p:nvPr/>
        </p:nvGrpSpPr>
        <p:grpSpPr bwMode="auto">
          <a:xfrm>
            <a:off x="6576483" y="4288607"/>
            <a:ext cx="607087" cy="374650"/>
            <a:chOff x="3202" y="3033"/>
            <a:chExt cx="309" cy="192"/>
          </a:xfrm>
        </p:grpSpPr>
        <p:sp>
          <p:nvSpPr>
            <p:cNvPr id="156722"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6723"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24"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25"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6726" name="Group 291"/>
            <p:cNvGrpSpPr/>
            <p:nvPr/>
          </p:nvGrpSpPr>
          <p:grpSpPr bwMode="auto">
            <a:xfrm>
              <a:off x="3249" y="3046"/>
              <a:ext cx="214" cy="86"/>
              <a:chOff x="3249" y="3046"/>
              <a:chExt cx="214" cy="86"/>
            </a:xfrm>
          </p:grpSpPr>
          <p:grpSp>
            <p:nvGrpSpPr>
              <p:cNvPr id="156729" name="Group 292"/>
              <p:cNvGrpSpPr/>
              <p:nvPr/>
            </p:nvGrpSpPr>
            <p:grpSpPr bwMode="auto">
              <a:xfrm>
                <a:off x="3249" y="3046"/>
                <a:ext cx="212" cy="84"/>
                <a:chOff x="3249" y="3046"/>
                <a:chExt cx="212" cy="84"/>
              </a:xfrm>
            </p:grpSpPr>
            <p:sp>
              <p:nvSpPr>
                <p:cNvPr id="156739"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0"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1"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2"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3"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4"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5"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6"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6730" name="Group 301"/>
              <p:cNvGrpSpPr/>
              <p:nvPr/>
            </p:nvGrpSpPr>
            <p:grpSpPr bwMode="auto">
              <a:xfrm>
                <a:off x="3251" y="3048"/>
                <a:ext cx="212" cy="84"/>
                <a:chOff x="3251" y="3048"/>
                <a:chExt cx="212" cy="84"/>
              </a:xfrm>
            </p:grpSpPr>
            <p:sp>
              <p:nvSpPr>
                <p:cNvPr id="156731"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2"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3"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4"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5"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6"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7"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8"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6727"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28"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6709"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0" name="Rectangle 313"/>
          <p:cNvSpPr>
            <a:spLocks noChangeArrowheads="1"/>
          </p:cNvSpPr>
          <p:nvPr/>
        </p:nvSpPr>
        <p:spPr bwMode="auto">
          <a:xfrm>
            <a:off x="7560204" y="43489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6711"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2"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3" name="Rectangle 317"/>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4" name="Rectangle 319"/>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156715" name="Rectangle 320"/>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156716" name="Rectangle 321"/>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endParaRPr kumimoji="1" lang="en-US" altLang="zh-CN" sz="2000" b="1" baseline="-25000">
              <a:solidFill>
                <a:srgbClr val="000099"/>
              </a:solidFill>
              <a:latin typeface="Arial" panose="020B0604020202020204" pitchFamily="34" charset="0"/>
              <a:ea typeface="黑体" panose="02010609060101010101" pitchFamily="2" charset="-122"/>
            </a:endParaRPr>
          </a:p>
        </p:txBody>
      </p:sp>
      <p:sp>
        <p:nvSpPr>
          <p:cNvPr id="647490" name="Freeform 322"/>
          <p:cNvSpPr/>
          <p:nvPr/>
        </p:nvSpPr>
        <p:spPr bwMode="auto">
          <a:xfrm>
            <a:off x="1836738" y="4269558"/>
            <a:ext cx="990600" cy="1023937"/>
          </a:xfrm>
          <a:custGeom>
            <a:avLst/>
            <a:gdLst>
              <a:gd name="T0" fmla="*/ 0 w 504"/>
              <a:gd name="T1" fmla="*/ 0 h 524"/>
              <a:gd name="T2" fmla="*/ 2147483646 w 504"/>
              <a:gd name="T3" fmla="*/ 2147483646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7494" name="Freeform 326"/>
          <p:cNvSpPr/>
          <p:nvPr/>
        </p:nvSpPr>
        <p:spPr bwMode="auto">
          <a:xfrm>
            <a:off x="1073150" y="4625158"/>
            <a:ext cx="1802342" cy="871537"/>
          </a:xfrm>
          <a:custGeom>
            <a:avLst/>
            <a:gdLst>
              <a:gd name="T0" fmla="*/ 0 w 917"/>
              <a:gd name="T1" fmla="*/ 0 h 446"/>
              <a:gd name="T2" fmla="*/ 2147483646 w 917"/>
              <a:gd name="T3" fmla="*/ 214748364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7495" name="Freeform 327"/>
          <p:cNvSpPr/>
          <p:nvPr/>
        </p:nvSpPr>
        <p:spPr bwMode="auto">
          <a:xfrm>
            <a:off x="1683677" y="5277620"/>
            <a:ext cx="1155700" cy="366713"/>
          </a:xfrm>
          <a:custGeom>
            <a:avLst/>
            <a:gdLst>
              <a:gd name="T0" fmla="*/ 0 w 588"/>
              <a:gd name="T1" fmla="*/ 0 h 188"/>
              <a:gd name="T2" fmla="*/ 2147483646 w 588"/>
              <a:gd name="T3" fmla="*/ 2147483646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7496" name="Freeform 328"/>
          <p:cNvSpPr/>
          <p:nvPr/>
        </p:nvSpPr>
        <p:spPr bwMode="auto">
          <a:xfrm>
            <a:off x="1695715" y="3383732"/>
            <a:ext cx="1219333" cy="1776412"/>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6721" name="Text Box 334"/>
          <p:cNvSpPr txBox="1">
            <a:spLocks noChangeArrowheads="1"/>
          </p:cNvSpPr>
          <p:nvPr/>
        </p:nvSpPr>
        <p:spPr bwMode="auto">
          <a:xfrm>
            <a:off x="507339" y="1196752"/>
            <a:ext cx="8913680" cy="1800225"/>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(5) </a:t>
            </a:r>
            <a:r>
              <a:rPr lang="zh-CN" altLang="en-US" dirty="0"/>
              <a:t>高速缓存收到此对象后，先复制在其本地存储器中（为今后使用），然后再将该对象放在 </a:t>
            </a:r>
            <a:r>
              <a:rPr lang="en-US" altLang="zh-CN" dirty="0"/>
              <a:t>HTTP </a:t>
            </a:r>
            <a:r>
              <a:rPr lang="zh-CN" altLang="en-US" dirty="0"/>
              <a:t>响应报文中，通过已建立的 </a:t>
            </a:r>
            <a:r>
              <a:rPr lang="en-US" altLang="zh-CN" dirty="0"/>
              <a:t>TCP </a:t>
            </a:r>
            <a:r>
              <a:rPr lang="zh-CN" altLang="en-US" dirty="0"/>
              <a:t>连接，返回给请求该对象的浏览器。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7496"/>
                                        </p:tgtEl>
                                        <p:attrNameLst>
                                          <p:attrName>style.visibility</p:attrName>
                                        </p:attrNameLst>
                                      </p:cBhvr>
                                      <p:to>
                                        <p:strVal val="visible"/>
                                      </p:to>
                                    </p:set>
                                    <p:animEffect transition="in" filter="wipe(down)">
                                      <p:cBhvr>
                                        <p:cTn id="7" dur="500"/>
                                        <p:tgtEl>
                                          <p:spTgt spid="647496"/>
                                        </p:tgtEl>
                                      </p:cBhvr>
                                    </p:animEffect>
                                  </p:childTnLst>
                                </p:cTn>
                              </p:par>
                            </p:childTnLst>
                          </p:cTn>
                        </p:par>
                        <p:par>
                          <p:cTn id="8" fill="hold">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7490"/>
                                        </p:tgtEl>
                                        <p:attrNameLst>
                                          <p:attrName>style.visibility</p:attrName>
                                        </p:attrNameLst>
                                      </p:cBhvr>
                                      <p:to>
                                        <p:strVal val="visible"/>
                                      </p:to>
                                    </p:set>
                                    <p:animEffect transition="in" filter="wipe(down)">
                                      <p:cBhvr>
                                        <p:cTn id="11" dur="500"/>
                                        <p:tgtEl>
                                          <p:spTgt spid="647490"/>
                                        </p:tgtEl>
                                      </p:cBhvr>
                                    </p:animEffect>
                                  </p:childTnLst>
                                </p:cTn>
                              </p:par>
                            </p:childTnLst>
                          </p:cTn>
                        </p:par>
                        <p:par>
                          <p:cTn id="12" fill="hold">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7494"/>
                                        </p:tgtEl>
                                        <p:attrNameLst>
                                          <p:attrName>style.visibility</p:attrName>
                                        </p:attrNameLst>
                                      </p:cBhvr>
                                      <p:to>
                                        <p:strVal val="visible"/>
                                      </p:to>
                                    </p:set>
                                    <p:animEffect transition="in" filter="wipe(right)">
                                      <p:cBhvr>
                                        <p:cTn id="15" dur="500"/>
                                        <p:tgtEl>
                                          <p:spTgt spid="647494"/>
                                        </p:tgtEl>
                                      </p:cBhvr>
                                    </p:animEffect>
                                  </p:childTnLst>
                                </p:cTn>
                              </p:par>
                            </p:childTnLst>
                          </p:cTn>
                        </p:par>
                        <p:par>
                          <p:cTn id="16" fill="hold">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7495"/>
                                        </p:tgtEl>
                                        <p:attrNameLst>
                                          <p:attrName>style.visibility</p:attrName>
                                        </p:attrNameLst>
                                      </p:cBhvr>
                                      <p:to>
                                        <p:strVal val="visible"/>
                                      </p:to>
                                    </p:set>
                                    <p:animEffect transition="in" filter="wipe(right)">
                                      <p:cBhvr>
                                        <p:cTn id="19" dur="500"/>
                                        <p:tgtEl>
                                          <p:spTgt spid="647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490" grpId="0" animBg="1"/>
      <p:bldP spid="647494" grpId="0" animBg="1"/>
      <p:bldP spid="647495" grpId="0" animBg="1"/>
      <p:bldP spid="64749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6"/>
          <p:cNvSpPr>
            <a:spLocks noGrp="1" noChangeArrowheads="1"/>
          </p:cNvSpPr>
          <p:nvPr>
            <p:ph type="title"/>
          </p:nvPr>
        </p:nvSpPr>
        <p:spPr/>
        <p:txBody>
          <a:bodyPr/>
          <a:lstStyle/>
          <a:p>
            <a:pPr eaLnBrk="1" hangingPunct="1"/>
            <a:r>
              <a:rPr lang="en-US" altLang="zh-CN" dirty="0" smtClean="0">
                <a:ea typeface="黑体" panose="02010609060101010101" pitchFamily="2" charset="-122"/>
              </a:rPr>
              <a:t>3. HTTP </a:t>
            </a:r>
            <a:r>
              <a:rPr lang="zh-CN" altLang="en-US" dirty="0" smtClean="0">
                <a:ea typeface="黑体" panose="02010609060101010101" pitchFamily="2" charset="-122"/>
              </a:rPr>
              <a:t>的报文结构 </a:t>
            </a:r>
            <a:endParaRPr lang="zh-CN" altLang="en-US" dirty="0" smtClean="0">
              <a:ea typeface="黑体" panose="02010609060101010101" pitchFamily="2" charset="-122"/>
            </a:endParaRPr>
          </a:p>
        </p:txBody>
      </p:sp>
      <p:sp>
        <p:nvSpPr>
          <p:cNvPr id="158723" name="Rectangle 37"/>
          <p:cNvSpPr>
            <a:spLocks noGrp="1" noChangeArrowheads="1"/>
          </p:cNvSpPr>
          <p:nvPr>
            <p:ph idx="1"/>
          </p:nvPr>
        </p:nvSpPr>
        <p:spPr/>
        <p:txBody>
          <a:bodyPr/>
          <a:lstStyle/>
          <a:p>
            <a:pPr eaLnBrk="1" hangingPunct="1">
              <a:buFont typeface="Wingdings" panose="05000000000000000000" pitchFamily="2" charset="2"/>
              <a:buNone/>
            </a:pPr>
            <a:r>
              <a:rPr lang="en-US" altLang="zh-CN" dirty="0" smtClean="0">
                <a:ea typeface="黑体" panose="02010609060101010101" pitchFamily="2" charset="-122"/>
              </a:rPr>
              <a:t>HTTP </a:t>
            </a:r>
            <a:r>
              <a:rPr lang="zh-CN" altLang="en-US" dirty="0" smtClean="0">
                <a:ea typeface="黑体" panose="02010609060101010101" pitchFamily="2" charset="-122"/>
              </a:rPr>
              <a:t>有两类报文：</a:t>
            </a:r>
            <a:endParaRPr lang="zh-CN" altLang="en-US" dirty="0" smtClean="0">
              <a:ea typeface="黑体" panose="02010609060101010101" pitchFamily="2" charset="-122"/>
            </a:endParaRPr>
          </a:p>
          <a:p>
            <a:pPr eaLnBrk="1" hangingPunct="1"/>
            <a:r>
              <a:rPr lang="zh-CN" altLang="en-US" dirty="0" smtClean="0">
                <a:solidFill>
                  <a:srgbClr val="FF0000"/>
                </a:solidFill>
                <a:ea typeface="黑体" panose="02010609060101010101" pitchFamily="2" charset="-122"/>
              </a:rPr>
              <a:t>请求报文</a:t>
            </a:r>
            <a:r>
              <a:rPr lang="en-US" altLang="zh-CN" dirty="0" smtClean="0">
                <a:ea typeface="黑体" panose="02010609060101010101" pitchFamily="2" charset="-122"/>
              </a:rPr>
              <a:t>——</a:t>
            </a:r>
            <a:r>
              <a:rPr lang="zh-CN" altLang="en-US" dirty="0" smtClean="0">
                <a:ea typeface="黑体" panose="02010609060101010101" pitchFamily="2" charset="-122"/>
              </a:rPr>
              <a:t>从客户向服务器发送请求报文。</a:t>
            </a:r>
            <a:endParaRPr lang="zh-CN" altLang="en-US" dirty="0" smtClean="0">
              <a:ea typeface="黑体" panose="02010609060101010101" pitchFamily="2" charset="-122"/>
            </a:endParaRPr>
          </a:p>
          <a:p>
            <a:pPr eaLnBrk="1" hangingPunct="1"/>
            <a:r>
              <a:rPr lang="zh-CN" altLang="en-US" dirty="0" smtClean="0">
                <a:solidFill>
                  <a:srgbClr val="FF0000"/>
                </a:solidFill>
                <a:ea typeface="黑体" panose="02010609060101010101" pitchFamily="2" charset="-122"/>
              </a:rPr>
              <a:t>响应报文</a:t>
            </a:r>
            <a:r>
              <a:rPr lang="en-US" altLang="zh-CN" dirty="0" smtClean="0">
                <a:ea typeface="黑体" panose="02010609060101010101" pitchFamily="2" charset="-122"/>
              </a:rPr>
              <a:t>——</a:t>
            </a:r>
            <a:r>
              <a:rPr lang="zh-CN" altLang="en-US" dirty="0" smtClean="0">
                <a:ea typeface="黑体" panose="02010609060101010101" pitchFamily="2" charset="-122"/>
              </a:rPr>
              <a:t>从服务器到客户的回答。</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由于 </a:t>
            </a:r>
            <a:r>
              <a:rPr lang="en-US" altLang="zh-CN" dirty="0" smtClean="0">
                <a:ea typeface="黑体" panose="02010609060101010101" pitchFamily="2" charset="-122"/>
              </a:rPr>
              <a:t>HTTP </a:t>
            </a:r>
            <a:r>
              <a:rPr lang="zh-CN" altLang="en-US" dirty="0" smtClean="0">
                <a:ea typeface="黑体" panose="02010609060101010101" pitchFamily="2" charset="-122"/>
              </a:rPr>
              <a:t>是面向正文的 </a:t>
            </a:r>
            <a:r>
              <a:rPr lang="en-US" altLang="zh-CN" dirty="0" smtClean="0">
                <a:ea typeface="黑体" panose="02010609060101010101" pitchFamily="2" charset="-122"/>
              </a:rPr>
              <a:t>(text-oriented)</a:t>
            </a:r>
            <a:r>
              <a:rPr lang="zh-CN" altLang="en-US" dirty="0" smtClean="0">
                <a:ea typeface="黑体" panose="02010609060101010101" pitchFamily="2" charset="-122"/>
              </a:rPr>
              <a:t>，因此在报文中的每一个字段都是一些 </a:t>
            </a:r>
            <a:r>
              <a:rPr lang="en-US" altLang="zh-CN" dirty="0" smtClean="0">
                <a:solidFill>
                  <a:srgbClr val="FF0000"/>
                </a:solidFill>
                <a:ea typeface="黑体" panose="02010609060101010101" pitchFamily="2" charset="-122"/>
              </a:rPr>
              <a:t>ASCII </a:t>
            </a:r>
            <a:r>
              <a:rPr lang="zh-CN" altLang="en-US" dirty="0" smtClean="0">
                <a:solidFill>
                  <a:srgbClr val="FF0000"/>
                </a:solidFill>
                <a:ea typeface="黑体" panose="02010609060101010101" pitchFamily="2" charset="-122"/>
              </a:rPr>
              <a:t>码串，</a:t>
            </a:r>
            <a:r>
              <a:rPr lang="zh-CN" altLang="en-US" dirty="0" smtClean="0">
                <a:ea typeface="黑体" panose="02010609060101010101" pitchFamily="2" charset="-122"/>
              </a:rPr>
              <a:t>因而每个字段的长度都是不确定的。</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algn="ctr" eaLnBrk="1" hangingPunct="1"/>
            <a:r>
              <a:rPr lang="en-US" altLang="zh-CN" dirty="0" smtClean="0">
                <a:ea typeface="黑体" panose="02010609060101010101" pitchFamily="2" charset="-122"/>
              </a:rPr>
              <a:t>HTTP </a:t>
            </a:r>
            <a:r>
              <a:rPr lang="zh-CN" altLang="en-US" dirty="0" smtClean="0">
                <a:ea typeface="黑体" panose="02010609060101010101" pitchFamily="2" charset="-122"/>
              </a:rPr>
              <a:t>请求报文的一些方法 </a:t>
            </a:r>
            <a:endParaRPr lang="zh-CN" altLang="en-US" dirty="0" smtClean="0">
              <a:ea typeface="黑体" panose="02010609060101010101" pitchFamily="2" charset="-122"/>
            </a:endParaRPr>
          </a:p>
        </p:txBody>
      </p:sp>
      <p:sp>
        <p:nvSpPr>
          <p:cNvPr id="164867" name="Rectangle 3"/>
          <p:cNvSpPr>
            <a:spLocks noGrp="1" noChangeArrowheads="1"/>
          </p:cNvSpPr>
          <p:nvPr>
            <p:ph idx="1"/>
          </p:nvPr>
        </p:nvSpPr>
        <p:spPr/>
        <p:txBody>
          <a:bodyPr/>
          <a:lstStyle/>
          <a:p>
            <a:pPr eaLnBrk="1" hangingPunct="1">
              <a:lnSpc>
                <a:spcPct val="90000"/>
              </a:lnSpc>
              <a:spcAft>
                <a:spcPct val="30000"/>
              </a:spcAft>
              <a:buFont typeface="Wingdings" panose="05000000000000000000" pitchFamily="2" charset="2"/>
              <a:buNone/>
              <a:tabLst>
                <a:tab pos="2147570" algn="l"/>
              </a:tabLst>
            </a:pPr>
            <a:r>
              <a:rPr lang="zh-CN" altLang="en-US" sz="2800" dirty="0" smtClean="0">
                <a:ea typeface="黑体" panose="02010609060101010101" pitchFamily="2" charset="-122"/>
              </a:rPr>
              <a:t>方法（操作）                   意义</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OPTION   	    	</a:t>
            </a:r>
            <a:r>
              <a:rPr lang="zh-CN" altLang="en-US" sz="2800" dirty="0" smtClean="0">
                <a:ea typeface="黑体" panose="02010609060101010101" pitchFamily="2" charset="-122"/>
              </a:rPr>
              <a:t>请求一些选项的信息</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GET              		</a:t>
            </a:r>
            <a:r>
              <a:rPr lang="zh-CN" altLang="en-US" sz="2800" dirty="0" smtClean="0">
                <a:ea typeface="黑体" panose="02010609060101010101" pitchFamily="2" charset="-122"/>
              </a:rPr>
              <a:t>请求读取由 </a:t>
            </a:r>
            <a:r>
              <a:rPr lang="en-US" altLang="zh-CN" sz="2800" dirty="0" smtClean="0">
                <a:ea typeface="黑体" panose="02010609060101010101" pitchFamily="2" charset="-122"/>
              </a:rPr>
              <a:t>URL</a:t>
            </a:r>
            <a:r>
              <a:rPr lang="zh-CN" altLang="en-US" sz="2800" dirty="0" smtClean="0">
                <a:ea typeface="黑体" panose="02010609060101010101" pitchFamily="2" charset="-122"/>
              </a:rPr>
              <a:t>所标志的信息</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HEAD          		</a:t>
            </a:r>
            <a:r>
              <a:rPr lang="zh-CN" altLang="en-US" sz="2800" dirty="0" smtClean="0">
                <a:ea typeface="黑体" panose="02010609060101010101" pitchFamily="2" charset="-122"/>
              </a:rPr>
              <a:t>请求读取由 </a:t>
            </a:r>
            <a:r>
              <a:rPr lang="en-US" altLang="zh-CN" sz="2800" dirty="0" smtClean="0">
                <a:ea typeface="黑体" panose="02010609060101010101" pitchFamily="2" charset="-122"/>
              </a:rPr>
              <a:t>URL</a:t>
            </a:r>
            <a:r>
              <a:rPr lang="zh-CN" altLang="en-US" sz="2800" dirty="0" smtClean="0">
                <a:ea typeface="黑体" panose="02010609060101010101" pitchFamily="2" charset="-122"/>
              </a:rPr>
              <a:t>所标志的信息的首部</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POST     		</a:t>
            </a:r>
            <a:r>
              <a:rPr lang="zh-CN" altLang="en-US" sz="2800" dirty="0" smtClean="0">
                <a:ea typeface="黑体" panose="02010609060101010101" pitchFamily="2" charset="-122"/>
              </a:rPr>
              <a:t>给服务器添加信息（例如，注释）</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PUT        		</a:t>
            </a:r>
            <a:r>
              <a:rPr lang="zh-CN" altLang="en-US" sz="2800" dirty="0" smtClean="0">
                <a:ea typeface="黑体" panose="02010609060101010101" pitchFamily="2" charset="-122"/>
              </a:rPr>
              <a:t>在指明的 </a:t>
            </a:r>
            <a:r>
              <a:rPr lang="en-US" altLang="zh-CN" sz="2800" dirty="0" smtClean="0">
                <a:ea typeface="黑体" panose="02010609060101010101" pitchFamily="2" charset="-122"/>
              </a:rPr>
              <a:t>URL</a:t>
            </a:r>
            <a:r>
              <a:rPr lang="zh-CN" altLang="en-US" sz="2800" dirty="0" smtClean="0">
                <a:ea typeface="黑体" panose="02010609060101010101" pitchFamily="2" charset="-122"/>
              </a:rPr>
              <a:t>下存储一个文档</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DELETE  		</a:t>
            </a:r>
            <a:r>
              <a:rPr lang="zh-CN" altLang="en-US" sz="2800" dirty="0" smtClean="0">
                <a:ea typeface="黑体" panose="02010609060101010101" pitchFamily="2" charset="-122"/>
              </a:rPr>
              <a:t>删除指明的 </a:t>
            </a:r>
            <a:r>
              <a:rPr lang="en-US" altLang="zh-CN" sz="2800" dirty="0" smtClean="0">
                <a:ea typeface="黑体" panose="02010609060101010101" pitchFamily="2" charset="-122"/>
              </a:rPr>
              <a:t>URL</a:t>
            </a:r>
            <a:r>
              <a:rPr lang="zh-CN" altLang="en-US" sz="2800" dirty="0" smtClean="0">
                <a:ea typeface="黑体" panose="02010609060101010101" pitchFamily="2" charset="-122"/>
              </a:rPr>
              <a:t>所标志的资源</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TRACE       		</a:t>
            </a:r>
            <a:r>
              <a:rPr lang="zh-CN" altLang="en-US" sz="2800" dirty="0" smtClean="0">
                <a:ea typeface="黑体" panose="02010609060101010101" pitchFamily="2" charset="-122"/>
              </a:rPr>
              <a:t>用来进行环回测试的请求报文</a:t>
            </a:r>
            <a:endParaRPr lang="zh-CN" altLang="en-US" sz="2800" dirty="0" smtClean="0">
              <a:ea typeface="黑体" panose="02010609060101010101" pitchFamily="2" charset="-122"/>
            </a:endParaRPr>
          </a:p>
          <a:p>
            <a:pPr eaLnBrk="1" hangingPunct="1">
              <a:lnSpc>
                <a:spcPct val="90000"/>
              </a:lnSpc>
              <a:buFont typeface="Wingdings" panose="05000000000000000000" pitchFamily="2" charset="2"/>
              <a:buNone/>
              <a:tabLst>
                <a:tab pos="2147570" algn="l"/>
              </a:tabLst>
            </a:pPr>
            <a:r>
              <a:rPr lang="en-US" altLang="zh-CN" sz="2800" dirty="0" smtClean="0">
                <a:ea typeface="黑体" panose="02010609060101010101" pitchFamily="2" charset="-122"/>
              </a:rPr>
              <a:t>CONNECT		</a:t>
            </a:r>
            <a:r>
              <a:rPr lang="zh-CN" altLang="en-US" sz="2800" dirty="0" smtClean="0">
                <a:ea typeface="黑体" panose="02010609060101010101" pitchFamily="2" charset="-122"/>
              </a:rPr>
              <a:t>用于代理服务器</a:t>
            </a:r>
            <a:endParaRPr lang="zh-CN" altLang="en-US" sz="2800" dirty="0" smtClean="0">
              <a:ea typeface="黑体" panose="02010609060101010101" pitchFamily="2" charset="-122"/>
            </a:endParaRPr>
          </a:p>
        </p:txBody>
      </p:sp>
      <p:sp>
        <p:nvSpPr>
          <p:cNvPr id="164868" name="Line 4"/>
          <p:cNvSpPr>
            <a:spLocks noChangeShapeType="1"/>
          </p:cNvSpPr>
          <p:nvPr/>
        </p:nvSpPr>
        <p:spPr bwMode="auto">
          <a:xfrm>
            <a:off x="560512" y="1773238"/>
            <a:ext cx="892899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869" name="Line 5"/>
          <p:cNvSpPr>
            <a:spLocks noChangeShapeType="1"/>
          </p:cNvSpPr>
          <p:nvPr/>
        </p:nvSpPr>
        <p:spPr bwMode="auto">
          <a:xfrm rot="5400000">
            <a:off x="775965" y="3285555"/>
            <a:ext cx="4465637"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ChangeArrowheads="1"/>
          </p:cNvSpPr>
          <p:nvPr/>
        </p:nvSpPr>
        <p:spPr bwMode="auto">
          <a:xfrm>
            <a:off x="2041393" y="3063974"/>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5" name="Rectangle 3"/>
          <p:cNvSpPr>
            <a:spLocks noChangeArrowheads="1"/>
          </p:cNvSpPr>
          <p:nvPr/>
        </p:nvSpPr>
        <p:spPr bwMode="auto">
          <a:xfrm>
            <a:off x="2041393" y="2247999"/>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6" name="Rectangle 4"/>
          <p:cNvSpPr>
            <a:spLocks noChangeArrowheads="1"/>
          </p:cNvSpPr>
          <p:nvPr/>
        </p:nvSpPr>
        <p:spPr bwMode="auto">
          <a:xfrm>
            <a:off x="2041394" y="1841598"/>
            <a:ext cx="5202369" cy="40640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6677" name="Rectangle 5"/>
          <p:cNvSpPr>
            <a:spLocks noGrp="1" noChangeArrowheads="1"/>
          </p:cNvSpPr>
          <p:nvPr>
            <p:ph type="title"/>
          </p:nvPr>
        </p:nvSpPr>
        <p:spPr/>
        <p:txBody>
          <a:bodyPr/>
          <a:lstStyle/>
          <a:p>
            <a:pPr algn="ctr" eaLnBrk="1" hangingPunct="1">
              <a:defRPr/>
            </a:pPr>
            <a:r>
              <a:rPr lang="en-US" altLang="zh-CN" dirty="0"/>
              <a:t>HTTP </a:t>
            </a:r>
            <a:r>
              <a:rPr dirty="0"/>
              <a:t>的报文结构（请求报文） </a:t>
            </a:r>
            <a:endParaRPr dirty="0"/>
          </a:p>
        </p:txBody>
      </p:sp>
      <p:sp>
        <p:nvSpPr>
          <p:cNvPr id="166918" name="Rectangle 6"/>
          <p:cNvSpPr>
            <a:spLocks noChangeArrowheads="1"/>
          </p:cNvSpPr>
          <p:nvPr/>
        </p:nvSpPr>
        <p:spPr bwMode="auto">
          <a:xfrm>
            <a:off x="4478338" y="3073499"/>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9" name="Rectangle 7"/>
          <p:cNvSpPr>
            <a:spLocks noChangeArrowheads="1"/>
          </p:cNvSpPr>
          <p:nvPr/>
        </p:nvSpPr>
        <p:spPr bwMode="auto">
          <a:xfrm>
            <a:off x="2048273" y="3491010"/>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0" name="Rectangle 8"/>
          <p:cNvSpPr>
            <a:spLocks noChangeArrowheads="1"/>
          </p:cNvSpPr>
          <p:nvPr/>
        </p:nvSpPr>
        <p:spPr bwMode="auto">
          <a:xfrm>
            <a:off x="4478338" y="2257523"/>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1" name="Rectangle 9"/>
          <p:cNvSpPr>
            <a:spLocks noChangeArrowheads="1"/>
          </p:cNvSpPr>
          <p:nvPr/>
        </p:nvSpPr>
        <p:spPr bwMode="auto">
          <a:xfrm>
            <a:off x="3876410" y="3073498"/>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2" name="Rectangle 10"/>
          <p:cNvSpPr>
            <a:spLocks noChangeArrowheads="1"/>
          </p:cNvSpPr>
          <p:nvPr/>
        </p:nvSpPr>
        <p:spPr bwMode="auto">
          <a:xfrm>
            <a:off x="3876411" y="2257523"/>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3" name="Line 11"/>
          <p:cNvSpPr>
            <a:spLocks noChangeShapeType="1"/>
          </p:cNvSpPr>
          <p:nvPr/>
        </p:nvSpPr>
        <p:spPr bwMode="auto">
          <a:xfrm>
            <a:off x="3726789"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4" name="Line 12"/>
          <p:cNvSpPr>
            <a:spLocks noChangeShapeType="1"/>
          </p:cNvSpPr>
          <p:nvPr/>
        </p:nvSpPr>
        <p:spPr bwMode="auto">
          <a:xfrm>
            <a:off x="4478338"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5" name="Line 13"/>
          <p:cNvSpPr>
            <a:spLocks noChangeShapeType="1"/>
          </p:cNvSpPr>
          <p:nvPr/>
        </p:nvSpPr>
        <p:spPr bwMode="auto">
          <a:xfrm>
            <a:off x="3876410"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6" name="Rectangle 14"/>
          <p:cNvSpPr>
            <a:spLocks noChangeArrowheads="1"/>
          </p:cNvSpPr>
          <p:nvPr/>
        </p:nvSpPr>
        <p:spPr bwMode="auto">
          <a:xfrm>
            <a:off x="6251444" y="1851124"/>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7" name="Rectangle 15"/>
          <p:cNvSpPr>
            <a:spLocks noChangeArrowheads="1"/>
          </p:cNvSpPr>
          <p:nvPr/>
        </p:nvSpPr>
        <p:spPr bwMode="auto">
          <a:xfrm>
            <a:off x="4808538"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8" name="Rectangle 16"/>
          <p:cNvSpPr>
            <a:spLocks noChangeArrowheads="1"/>
          </p:cNvSpPr>
          <p:nvPr/>
        </p:nvSpPr>
        <p:spPr bwMode="auto">
          <a:xfrm>
            <a:off x="3365634"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9" name="Text Box 17"/>
          <p:cNvSpPr txBox="1">
            <a:spLocks noChangeArrowheads="1"/>
          </p:cNvSpPr>
          <p:nvPr/>
        </p:nvSpPr>
        <p:spPr bwMode="auto">
          <a:xfrm>
            <a:off x="2227131"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方   法</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30" name="Line 18"/>
          <p:cNvSpPr>
            <a:spLocks noChangeShapeType="1"/>
          </p:cNvSpPr>
          <p:nvPr/>
        </p:nvSpPr>
        <p:spPr bwMode="auto">
          <a:xfrm>
            <a:off x="336563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1" name="Line 19"/>
          <p:cNvSpPr>
            <a:spLocks noChangeShapeType="1"/>
          </p:cNvSpPr>
          <p:nvPr/>
        </p:nvSpPr>
        <p:spPr bwMode="auto">
          <a:xfrm>
            <a:off x="348601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2" name="Line 20"/>
          <p:cNvSpPr>
            <a:spLocks noChangeShapeType="1"/>
          </p:cNvSpPr>
          <p:nvPr/>
        </p:nvSpPr>
        <p:spPr bwMode="auto">
          <a:xfrm>
            <a:off x="480853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3" name="Line 21"/>
          <p:cNvSpPr>
            <a:spLocks noChangeShapeType="1"/>
          </p:cNvSpPr>
          <p:nvPr/>
        </p:nvSpPr>
        <p:spPr bwMode="auto">
          <a:xfrm>
            <a:off x="492892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4" name="Line 22"/>
          <p:cNvSpPr>
            <a:spLocks noChangeShapeType="1"/>
          </p:cNvSpPr>
          <p:nvPr/>
        </p:nvSpPr>
        <p:spPr bwMode="auto">
          <a:xfrm>
            <a:off x="625144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5" name="Text Box 23"/>
          <p:cNvSpPr txBox="1">
            <a:spLocks noChangeArrowheads="1"/>
          </p:cNvSpPr>
          <p:nvPr/>
        </p:nvSpPr>
        <p:spPr bwMode="auto">
          <a:xfrm>
            <a:off x="3716471" y="1830486"/>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URL</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36" name="Text Box 24"/>
          <p:cNvSpPr txBox="1">
            <a:spLocks noChangeArrowheads="1"/>
          </p:cNvSpPr>
          <p:nvPr/>
        </p:nvSpPr>
        <p:spPr bwMode="auto">
          <a:xfrm>
            <a:off x="5066506"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版   本</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37" name="Text Box 25"/>
          <p:cNvSpPr txBox="1">
            <a:spLocks noChangeArrowheads="1"/>
          </p:cNvSpPr>
          <p:nvPr/>
        </p:nvSpPr>
        <p:spPr bwMode="auto">
          <a:xfrm>
            <a:off x="2049992" y="224323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38" name="Line 26"/>
          <p:cNvSpPr>
            <a:spLocks noChangeShapeType="1"/>
          </p:cNvSpPr>
          <p:nvPr/>
        </p:nvSpPr>
        <p:spPr bwMode="auto">
          <a:xfrm>
            <a:off x="3726789"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9" name="Line 27"/>
          <p:cNvSpPr>
            <a:spLocks noChangeShapeType="1"/>
          </p:cNvSpPr>
          <p:nvPr/>
        </p:nvSpPr>
        <p:spPr bwMode="auto">
          <a:xfrm>
            <a:off x="4478338"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40" name="Text Box 28"/>
          <p:cNvSpPr txBox="1">
            <a:spLocks noChangeArrowheads="1"/>
          </p:cNvSpPr>
          <p:nvPr/>
        </p:nvSpPr>
        <p:spPr bwMode="auto">
          <a:xfrm>
            <a:off x="5689071" y="26591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41" name="Line 29"/>
          <p:cNvSpPr>
            <a:spLocks noChangeShapeType="1"/>
          </p:cNvSpPr>
          <p:nvPr/>
        </p:nvSpPr>
        <p:spPr bwMode="auto">
          <a:xfrm>
            <a:off x="3876410"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42" name="Text Box 30"/>
          <p:cNvSpPr txBox="1">
            <a:spLocks noChangeArrowheads="1"/>
          </p:cNvSpPr>
          <p:nvPr/>
        </p:nvSpPr>
        <p:spPr bwMode="auto">
          <a:xfrm>
            <a:off x="3647679" y="2244824"/>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43" name="Text Box 31"/>
          <p:cNvSpPr txBox="1">
            <a:spLocks noChangeArrowheads="1"/>
          </p:cNvSpPr>
          <p:nvPr/>
        </p:nvSpPr>
        <p:spPr bwMode="auto">
          <a:xfrm>
            <a:off x="4008835" y="22511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44" name="Text Box 32"/>
          <p:cNvSpPr txBox="1">
            <a:spLocks noChangeArrowheads="1"/>
          </p:cNvSpPr>
          <p:nvPr/>
        </p:nvSpPr>
        <p:spPr bwMode="auto">
          <a:xfrm>
            <a:off x="2044834" y="305127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45" name="Text Box 33"/>
          <p:cNvSpPr txBox="1">
            <a:spLocks noChangeArrowheads="1"/>
          </p:cNvSpPr>
          <p:nvPr/>
        </p:nvSpPr>
        <p:spPr bwMode="auto">
          <a:xfrm>
            <a:off x="4034631" y="30639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46" name="Text Box 34"/>
          <p:cNvSpPr txBox="1">
            <a:spLocks noChangeArrowheads="1"/>
          </p:cNvSpPr>
          <p:nvPr/>
        </p:nvSpPr>
        <p:spPr bwMode="auto">
          <a:xfrm>
            <a:off x="3606404" y="3683099"/>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47" name="Text Box 35"/>
          <p:cNvSpPr txBox="1">
            <a:spLocks noChangeArrowheads="1"/>
          </p:cNvSpPr>
          <p:nvPr/>
        </p:nvSpPr>
        <p:spPr bwMode="auto">
          <a:xfrm rot="-5400000">
            <a:off x="2871614" y="2686912"/>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48" name="AutoShape 36"/>
          <p:cNvSpPr/>
          <p:nvPr/>
        </p:nvSpPr>
        <p:spPr bwMode="auto">
          <a:xfrm>
            <a:off x="5515372" y="2300386"/>
            <a:ext cx="240771" cy="1171575"/>
          </a:xfrm>
          <a:prstGeom prst="rightBrace">
            <a:avLst>
              <a:gd name="adj1" fmla="val 43929"/>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49" name="Rectangle 37"/>
          <p:cNvSpPr>
            <a:spLocks noChangeArrowheads="1"/>
          </p:cNvSpPr>
          <p:nvPr/>
        </p:nvSpPr>
        <p:spPr bwMode="auto">
          <a:xfrm>
            <a:off x="2041393" y="3878361"/>
            <a:ext cx="5413904" cy="91757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50" name="Text Box 38"/>
          <p:cNvSpPr txBox="1">
            <a:spLocks noChangeArrowheads="1"/>
          </p:cNvSpPr>
          <p:nvPr/>
        </p:nvSpPr>
        <p:spPr bwMode="auto">
          <a:xfrm>
            <a:off x="3831537" y="3972023"/>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实体主体</a:t>
            </a:r>
            <a:endParaRPr kumimoji="1" lang="zh-CN" altLang="en-US" sz="2000" b="1">
              <a:solidFill>
                <a:srgbClr val="3333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333399"/>
                </a:solidFill>
                <a:latin typeface="Arial" panose="020B0604020202020204" pitchFamily="34" charset="0"/>
                <a:ea typeface="黑体" panose="02010609060101010101" pitchFamily="2" charset="-122"/>
              </a:rPr>
              <a:t>（通常不用）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51" name="Text Box 39"/>
          <p:cNvSpPr txBox="1">
            <a:spLocks noChangeArrowheads="1"/>
          </p:cNvSpPr>
          <p:nvPr/>
        </p:nvSpPr>
        <p:spPr bwMode="auto">
          <a:xfrm>
            <a:off x="7204208" y="1830486"/>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请求行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52" name="Line 40"/>
          <p:cNvSpPr>
            <a:spLocks noChangeShapeType="1"/>
          </p:cNvSpPr>
          <p:nvPr/>
        </p:nvSpPr>
        <p:spPr bwMode="auto">
          <a:xfrm>
            <a:off x="2041393"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3" name="Line 41"/>
          <p:cNvSpPr>
            <a:spLocks noChangeShapeType="1"/>
          </p:cNvSpPr>
          <p:nvPr/>
        </p:nvSpPr>
        <p:spPr bwMode="auto">
          <a:xfrm>
            <a:off x="204139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4" name="Line 42"/>
          <p:cNvSpPr>
            <a:spLocks noChangeShapeType="1"/>
          </p:cNvSpPr>
          <p:nvPr/>
        </p:nvSpPr>
        <p:spPr bwMode="auto">
          <a:xfrm>
            <a:off x="303371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5" name="Line 43"/>
          <p:cNvSpPr>
            <a:spLocks noChangeShapeType="1"/>
          </p:cNvSpPr>
          <p:nvPr/>
        </p:nvSpPr>
        <p:spPr bwMode="auto">
          <a:xfrm>
            <a:off x="5439702"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6" name="Text Box 44"/>
          <p:cNvSpPr txBox="1">
            <a:spLocks noChangeArrowheads="1"/>
          </p:cNvSpPr>
          <p:nvPr/>
        </p:nvSpPr>
        <p:spPr bwMode="auto">
          <a:xfrm>
            <a:off x="3737108" y="118119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空格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57" name="Text Box 45"/>
          <p:cNvSpPr txBox="1">
            <a:spLocks noChangeArrowheads="1"/>
          </p:cNvSpPr>
          <p:nvPr/>
        </p:nvSpPr>
        <p:spPr bwMode="auto">
          <a:xfrm>
            <a:off x="5835254" y="118119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回车换行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6958" name="Line 46"/>
          <p:cNvSpPr>
            <a:spLocks noChangeShapeType="1"/>
          </p:cNvSpPr>
          <p:nvPr/>
        </p:nvSpPr>
        <p:spPr bwMode="auto">
          <a:xfrm>
            <a:off x="4397508" y="1535210"/>
            <a:ext cx="441986"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9" name="Line 47"/>
          <p:cNvSpPr>
            <a:spLocks noChangeShapeType="1"/>
          </p:cNvSpPr>
          <p:nvPr/>
        </p:nvSpPr>
        <p:spPr bwMode="auto">
          <a:xfrm flipH="1">
            <a:off x="3394869" y="1535210"/>
            <a:ext cx="481542"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0" name="Line 48"/>
          <p:cNvSpPr>
            <a:spLocks noChangeShapeType="1"/>
          </p:cNvSpPr>
          <p:nvPr/>
        </p:nvSpPr>
        <p:spPr bwMode="auto">
          <a:xfrm>
            <a:off x="6481895" y="1535210"/>
            <a:ext cx="240771"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1" name="Line 49"/>
          <p:cNvSpPr>
            <a:spLocks noChangeShapeType="1"/>
          </p:cNvSpPr>
          <p:nvPr/>
        </p:nvSpPr>
        <p:spPr bwMode="auto">
          <a:xfrm>
            <a:off x="3996796"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2" name="Line 50"/>
          <p:cNvSpPr>
            <a:spLocks noChangeShapeType="1"/>
          </p:cNvSpPr>
          <p:nvPr/>
        </p:nvSpPr>
        <p:spPr bwMode="auto">
          <a:xfrm>
            <a:off x="3996796"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3" name="Text Box 51"/>
          <p:cNvSpPr txBox="1">
            <a:spLocks noChangeArrowheads="1"/>
          </p:cNvSpPr>
          <p:nvPr/>
        </p:nvSpPr>
        <p:spPr bwMode="auto">
          <a:xfrm>
            <a:off x="3647679" y="3065561"/>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64" name="Text Box 52"/>
          <p:cNvSpPr txBox="1">
            <a:spLocks noChangeArrowheads="1"/>
          </p:cNvSpPr>
          <p:nvPr/>
        </p:nvSpPr>
        <p:spPr bwMode="auto">
          <a:xfrm>
            <a:off x="6206729" y="18304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65" name="Text Box 53"/>
          <p:cNvSpPr txBox="1">
            <a:spLocks noChangeArrowheads="1"/>
          </p:cNvSpPr>
          <p:nvPr/>
        </p:nvSpPr>
        <p:spPr bwMode="auto">
          <a:xfrm>
            <a:off x="4493816" y="3071911"/>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dirty="0">
                <a:solidFill>
                  <a:srgbClr val="333399"/>
                </a:solidFill>
                <a:latin typeface="Arial" panose="020B0604020202020204" pitchFamily="34" charset="0"/>
                <a:ea typeface="黑体" panose="02010609060101010101" pitchFamily="2" charset="-122"/>
              </a:rPr>
              <a:t>CRLF</a:t>
            </a:r>
            <a:endParaRPr kumimoji="1" lang="en-US" altLang="zh-CN" sz="2000" b="1" dirty="0">
              <a:solidFill>
                <a:srgbClr val="333399"/>
              </a:solidFill>
              <a:latin typeface="Arial" panose="020B0604020202020204" pitchFamily="34" charset="0"/>
              <a:ea typeface="黑体" panose="02010609060101010101" pitchFamily="2" charset="-122"/>
            </a:endParaRPr>
          </a:p>
        </p:txBody>
      </p:sp>
      <p:sp>
        <p:nvSpPr>
          <p:cNvPr id="166966" name="Text Box 54"/>
          <p:cNvSpPr txBox="1">
            <a:spLocks noChangeArrowheads="1"/>
          </p:cNvSpPr>
          <p:nvPr/>
        </p:nvSpPr>
        <p:spPr bwMode="auto">
          <a:xfrm>
            <a:off x="4500695" y="22622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67" name="Text Box 55"/>
          <p:cNvSpPr txBox="1">
            <a:spLocks noChangeArrowheads="1"/>
          </p:cNvSpPr>
          <p:nvPr/>
        </p:nvSpPr>
        <p:spPr bwMode="auto">
          <a:xfrm>
            <a:off x="2044833" y="3464024"/>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6968" name="Text Box 56"/>
          <p:cNvSpPr txBox="1">
            <a:spLocks noChangeArrowheads="1"/>
          </p:cNvSpPr>
          <p:nvPr/>
        </p:nvSpPr>
        <p:spPr bwMode="auto">
          <a:xfrm>
            <a:off x="1754188" y="4926111"/>
            <a:ext cx="585073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FF"/>
                </a:solidFill>
                <a:latin typeface="Arial" panose="020B0604020202020204" pitchFamily="34" charset="0"/>
                <a:ea typeface="黑体" panose="02010609060101010101" pitchFamily="2" charset="-122"/>
              </a:rPr>
              <a:t>“URL”</a:t>
            </a:r>
            <a:r>
              <a:rPr lang="zh-CN" altLang="en-US" sz="2800" b="1" dirty="0">
                <a:solidFill>
                  <a:srgbClr val="0000FF"/>
                </a:solidFill>
                <a:latin typeface="黑体" panose="02010609060101010101" pitchFamily="2" charset="-122"/>
                <a:ea typeface="黑体" panose="02010609060101010101" pitchFamily="2" charset="-122"/>
              </a:rPr>
              <a:t>是所请求的资源的</a:t>
            </a:r>
            <a:r>
              <a:rPr lang="zh-CN" altLang="en-US" sz="2800" b="1" dirty="0">
                <a:solidFill>
                  <a:srgbClr val="0000FF"/>
                </a:solidFill>
                <a:latin typeface="Arial" panose="020B0604020202020204" pitchFamily="34" charset="0"/>
                <a:ea typeface="黑体" panose="02010609060101010101" pitchFamily="2" charset="-122"/>
              </a:rPr>
              <a:t> </a:t>
            </a:r>
            <a:r>
              <a:rPr lang="en-US" altLang="zh-CN" sz="2800" b="1" dirty="0">
                <a:solidFill>
                  <a:srgbClr val="0000FF"/>
                </a:solidFill>
                <a:latin typeface="Arial" panose="020B0604020202020204" pitchFamily="34" charset="0"/>
                <a:ea typeface="黑体" panose="02010609060101010101" pitchFamily="2" charset="-122"/>
              </a:rPr>
              <a:t>URL</a:t>
            </a:r>
            <a:r>
              <a:rPr lang="zh-CN" altLang="en-US" sz="2800" b="1" dirty="0">
                <a:solidFill>
                  <a:srgbClr val="0000FF"/>
                </a:solidFill>
                <a:latin typeface="Arial" panose="020B0604020202020204" pitchFamily="34" charset="0"/>
                <a:ea typeface="黑体" panose="02010609060101010101" pitchFamily="2" charset="-122"/>
              </a:rPr>
              <a:t>。</a:t>
            </a:r>
            <a:endParaRPr lang="zh-CN" altLang="en-US" sz="2800" b="1" dirty="0">
              <a:solidFill>
                <a:srgbClr val="0000FF"/>
              </a:solidFill>
              <a:latin typeface="Arial" panose="020B0604020202020204" pitchFamily="34" charset="0"/>
              <a:ea typeface="黑体" panose="02010609060101010101" pitchFamily="2" charset="-122"/>
            </a:endParaRPr>
          </a:p>
        </p:txBody>
      </p:sp>
      <p:sp>
        <p:nvSpPr>
          <p:cNvPr id="655417" name="Rectangle 57"/>
          <p:cNvSpPr>
            <a:spLocks noChangeArrowheads="1"/>
          </p:cNvSpPr>
          <p:nvPr/>
        </p:nvSpPr>
        <p:spPr bwMode="auto">
          <a:xfrm>
            <a:off x="3393149" y="1757461"/>
            <a:ext cx="1559851" cy="576263"/>
          </a:xfrm>
          <a:prstGeom prst="rect">
            <a:avLst/>
          </a:prstGeom>
          <a:noFill/>
          <a:ln w="5715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54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554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7" grpId="0" animBg="1"/>
      <p:bldP spid="655417"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ChangeArrowheads="1"/>
          </p:cNvSpPr>
          <p:nvPr/>
        </p:nvSpPr>
        <p:spPr bwMode="auto">
          <a:xfrm>
            <a:off x="2041393" y="3063974"/>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3" name="Rectangle 3"/>
          <p:cNvSpPr>
            <a:spLocks noChangeArrowheads="1"/>
          </p:cNvSpPr>
          <p:nvPr/>
        </p:nvSpPr>
        <p:spPr bwMode="auto">
          <a:xfrm>
            <a:off x="2041393" y="2247999"/>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4" name="Rectangle 4"/>
          <p:cNvSpPr>
            <a:spLocks noChangeArrowheads="1"/>
          </p:cNvSpPr>
          <p:nvPr/>
        </p:nvSpPr>
        <p:spPr bwMode="auto">
          <a:xfrm>
            <a:off x="2041394" y="1841598"/>
            <a:ext cx="5202369" cy="40640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8725" name="Rectangle 5"/>
          <p:cNvSpPr>
            <a:spLocks noGrp="1" noChangeArrowheads="1"/>
          </p:cNvSpPr>
          <p:nvPr>
            <p:ph type="title"/>
          </p:nvPr>
        </p:nvSpPr>
        <p:spPr/>
        <p:txBody>
          <a:bodyPr/>
          <a:lstStyle/>
          <a:p>
            <a:pPr algn="ctr" eaLnBrk="1" hangingPunct="1">
              <a:defRPr/>
            </a:pPr>
            <a:r>
              <a:rPr lang="en-US" altLang="zh-CN" dirty="0"/>
              <a:t>HTTP </a:t>
            </a:r>
            <a:r>
              <a:rPr dirty="0"/>
              <a:t>的报文结构（请求报文） </a:t>
            </a:r>
            <a:endParaRPr dirty="0"/>
          </a:p>
        </p:txBody>
      </p:sp>
      <p:sp>
        <p:nvSpPr>
          <p:cNvPr id="168966" name="Rectangle 6"/>
          <p:cNvSpPr>
            <a:spLocks noChangeArrowheads="1"/>
          </p:cNvSpPr>
          <p:nvPr/>
        </p:nvSpPr>
        <p:spPr bwMode="auto">
          <a:xfrm>
            <a:off x="4478338" y="3073499"/>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7" name="Rectangle 7"/>
          <p:cNvSpPr>
            <a:spLocks noChangeArrowheads="1"/>
          </p:cNvSpPr>
          <p:nvPr/>
        </p:nvSpPr>
        <p:spPr bwMode="auto">
          <a:xfrm>
            <a:off x="2048273" y="3491010"/>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8" name="Rectangle 8"/>
          <p:cNvSpPr>
            <a:spLocks noChangeArrowheads="1"/>
          </p:cNvSpPr>
          <p:nvPr/>
        </p:nvSpPr>
        <p:spPr bwMode="auto">
          <a:xfrm>
            <a:off x="4478338" y="2257523"/>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9" name="Rectangle 9"/>
          <p:cNvSpPr>
            <a:spLocks noChangeArrowheads="1"/>
          </p:cNvSpPr>
          <p:nvPr/>
        </p:nvSpPr>
        <p:spPr bwMode="auto">
          <a:xfrm>
            <a:off x="3876410" y="3073498"/>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0" name="Rectangle 10"/>
          <p:cNvSpPr>
            <a:spLocks noChangeArrowheads="1"/>
          </p:cNvSpPr>
          <p:nvPr/>
        </p:nvSpPr>
        <p:spPr bwMode="auto">
          <a:xfrm>
            <a:off x="3876411" y="2257523"/>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1" name="Line 11"/>
          <p:cNvSpPr>
            <a:spLocks noChangeShapeType="1"/>
          </p:cNvSpPr>
          <p:nvPr/>
        </p:nvSpPr>
        <p:spPr bwMode="auto">
          <a:xfrm>
            <a:off x="3726789"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2" name="Line 12"/>
          <p:cNvSpPr>
            <a:spLocks noChangeShapeType="1"/>
          </p:cNvSpPr>
          <p:nvPr/>
        </p:nvSpPr>
        <p:spPr bwMode="auto">
          <a:xfrm>
            <a:off x="4478338"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3" name="Line 13"/>
          <p:cNvSpPr>
            <a:spLocks noChangeShapeType="1"/>
          </p:cNvSpPr>
          <p:nvPr/>
        </p:nvSpPr>
        <p:spPr bwMode="auto">
          <a:xfrm>
            <a:off x="3876410"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4" name="Rectangle 14"/>
          <p:cNvSpPr>
            <a:spLocks noChangeArrowheads="1"/>
          </p:cNvSpPr>
          <p:nvPr/>
        </p:nvSpPr>
        <p:spPr bwMode="auto">
          <a:xfrm>
            <a:off x="6251444" y="1851124"/>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5" name="Rectangle 15"/>
          <p:cNvSpPr>
            <a:spLocks noChangeArrowheads="1"/>
          </p:cNvSpPr>
          <p:nvPr/>
        </p:nvSpPr>
        <p:spPr bwMode="auto">
          <a:xfrm>
            <a:off x="4808538"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6" name="Rectangle 16"/>
          <p:cNvSpPr>
            <a:spLocks noChangeArrowheads="1"/>
          </p:cNvSpPr>
          <p:nvPr/>
        </p:nvSpPr>
        <p:spPr bwMode="auto">
          <a:xfrm>
            <a:off x="3365634"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7" name="Text Box 17"/>
          <p:cNvSpPr txBox="1">
            <a:spLocks noChangeArrowheads="1"/>
          </p:cNvSpPr>
          <p:nvPr/>
        </p:nvSpPr>
        <p:spPr bwMode="auto">
          <a:xfrm>
            <a:off x="2227131"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方   法</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78" name="Line 18"/>
          <p:cNvSpPr>
            <a:spLocks noChangeShapeType="1"/>
          </p:cNvSpPr>
          <p:nvPr/>
        </p:nvSpPr>
        <p:spPr bwMode="auto">
          <a:xfrm>
            <a:off x="336563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9" name="Line 19"/>
          <p:cNvSpPr>
            <a:spLocks noChangeShapeType="1"/>
          </p:cNvSpPr>
          <p:nvPr/>
        </p:nvSpPr>
        <p:spPr bwMode="auto">
          <a:xfrm>
            <a:off x="348601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0" name="Line 20"/>
          <p:cNvSpPr>
            <a:spLocks noChangeShapeType="1"/>
          </p:cNvSpPr>
          <p:nvPr/>
        </p:nvSpPr>
        <p:spPr bwMode="auto">
          <a:xfrm>
            <a:off x="480853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1" name="Line 21"/>
          <p:cNvSpPr>
            <a:spLocks noChangeShapeType="1"/>
          </p:cNvSpPr>
          <p:nvPr/>
        </p:nvSpPr>
        <p:spPr bwMode="auto">
          <a:xfrm>
            <a:off x="492892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2" name="Line 22"/>
          <p:cNvSpPr>
            <a:spLocks noChangeShapeType="1"/>
          </p:cNvSpPr>
          <p:nvPr/>
        </p:nvSpPr>
        <p:spPr bwMode="auto">
          <a:xfrm>
            <a:off x="625144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3" name="Text Box 23"/>
          <p:cNvSpPr txBox="1">
            <a:spLocks noChangeArrowheads="1"/>
          </p:cNvSpPr>
          <p:nvPr/>
        </p:nvSpPr>
        <p:spPr bwMode="auto">
          <a:xfrm>
            <a:off x="3716471" y="1830486"/>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URL</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8984" name="Text Box 24"/>
          <p:cNvSpPr txBox="1">
            <a:spLocks noChangeArrowheads="1"/>
          </p:cNvSpPr>
          <p:nvPr/>
        </p:nvSpPr>
        <p:spPr bwMode="auto">
          <a:xfrm>
            <a:off x="5066506"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版   本</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85" name="Text Box 25"/>
          <p:cNvSpPr txBox="1">
            <a:spLocks noChangeArrowheads="1"/>
          </p:cNvSpPr>
          <p:nvPr/>
        </p:nvSpPr>
        <p:spPr bwMode="auto">
          <a:xfrm>
            <a:off x="2049992" y="224323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86" name="Line 26"/>
          <p:cNvSpPr>
            <a:spLocks noChangeShapeType="1"/>
          </p:cNvSpPr>
          <p:nvPr/>
        </p:nvSpPr>
        <p:spPr bwMode="auto">
          <a:xfrm>
            <a:off x="3726789"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7" name="Line 27"/>
          <p:cNvSpPr>
            <a:spLocks noChangeShapeType="1"/>
          </p:cNvSpPr>
          <p:nvPr/>
        </p:nvSpPr>
        <p:spPr bwMode="auto">
          <a:xfrm>
            <a:off x="4478338"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8" name="Text Box 28"/>
          <p:cNvSpPr txBox="1">
            <a:spLocks noChangeArrowheads="1"/>
          </p:cNvSpPr>
          <p:nvPr/>
        </p:nvSpPr>
        <p:spPr bwMode="auto">
          <a:xfrm>
            <a:off x="5689071" y="26591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89" name="Line 29"/>
          <p:cNvSpPr>
            <a:spLocks noChangeShapeType="1"/>
          </p:cNvSpPr>
          <p:nvPr/>
        </p:nvSpPr>
        <p:spPr bwMode="auto">
          <a:xfrm>
            <a:off x="3876410"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90" name="Text Box 30"/>
          <p:cNvSpPr txBox="1">
            <a:spLocks noChangeArrowheads="1"/>
          </p:cNvSpPr>
          <p:nvPr/>
        </p:nvSpPr>
        <p:spPr bwMode="auto">
          <a:xfrm>
            <a:off x="3647679" y="2244824"/>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8991" name="Text Box 31"/>
          <p:cNvSpPr txBox="1">
            <a:spLocks noChangeArrowheads="1"/>
          </p:cNvSpPr>
          <p:nvPr/>
        </p:nvSpPr>
        <p:spPr bwMode="auto">
          <a:xfrm>
            <a:off x="4008835" y="22511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92" name="Text Box 32"/>
          <p:cNvSpPr txBox="1">
            <a:spLocks noChangeArrowheads="1"/>
          </p:cNvSpPr>
          <p:nvPr/>
        </p:nvSpPr>
        <p:spPr bwMode="auto">
          <a:xfrm>
            <a:off x="2044834" y="305127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93" name="Text Box 33"/>
          <p:cNvSpPr txBox="1">
            <a:spLocks noChangeArrowheads="1"/>
          </p:cNvSpPr>
          <p:nvPr/>
        </p:nvSpPr>
        <p:spPr bwMode="auto">
          <a:xfrm>
            <a:off x="4034631" y="30639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94" name="Text Box 34"/>
          <p:cNvSpPr txBox="1">
            <a:spLocks noChangeArrowheads="1"/>
          </p:cNvSpPr>
          <p:nvPr/>
        </p:nvSpPr>
        <p:spPr bwMode="auto">
          <a:xfrm>
            <a:off x="3606404" y="3683099"/>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8995" name="Text Box 35"/>
          <p:cNvSpPr txBox="1">
            <a:spLocks noChangeArrowheads="1"/>
          </p:cNvSpPr>
          <p:nvPr/>
        </p:nvSpPr>
        <p:spPr bwMode="auto">
          <a:xfrm rot="-5400000">
            <a:off x="2871614" y="2686912"/>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8996" name="AutoShape 36"/>
          <p:cNvSpPr/>
          <p:nvPr/>
        </p:nvSpPr>
        <p:spPr bwMode="auto">
          <a:xfrm>
            <a:off x="5515372" y="2300386"/>
            <a:ext cx="240771" cy="1171575"/>
          </a:xfrm>
          <a:prstGeom prst="rightBrace">
            <a:avLst>
              <a:gd name="adj1" fmla="val 43929"/>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97" name="Rectangle 37"/>
          <p:cNvSpPr>
            <a:spLocks noChangeArrowheads="1"/>
          </p:cNvSpPr>
          <p:nvPr/>
        </p:nvSpPr>
        <p:spPr bwMode="auto">
          <a:xfrm>
            <a:off x="2041393" y="3878361"/>
            <a:ext cx="5413904" cy="91757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98" name="Text Box 38"/>
          <p:cNvSpPr txBox="1">
            <a:spLocks noChangeArrowheads="1"/>
          </p:cNvSpPr>
          <p:nvPr/>
        </p:nvSpPr>
        <p:spPr bwMode="auto">
          <a:xfrm>
            <a:off x="3831537" y="3972023"/>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实体主体</a:t>
            </a:r>
            <a:endParaRPr kumimoji="1" lang="zh-CN" altLang="en-US" sz="2000" b="1">
              <a:solidFill>
                <a:srgbClr val="3333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333399"/>
                </a:solidFill>
                <a:latin typeface="Arial" panose="020B0604020202020204" pitchFamily="34" charset="0"/>
                <a:ea typeface="黑体" panose="02010609060101010101" pitchFamily="2" charset="-122"/>
              </a:rPr>
              <a:t>（通常不用）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8999" name="Text Box 39"/>
          <p:cNvSpPr txBox="1">
            <a:spLocks noChangeArrowheads="1"/>
          </p:cNvSpPr>
          <p:nvPr/>
        </p:nvSpPr>
        <p:spPr bwMode="auto">
          <a:xfrm>
            <a:off x="7204208" y="1830486"/>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请求行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9000" name="Line 40"/>
          <p:cNvSpPr>
            <a:spLocks noChangeShapeType="1"/>
          </p:cNvSpPr>
          <p:nvPr/>
        </p:nvSpPr>
        <p:spPr bwMode="auto">
          <a:xfrm>
            <a:off x="2041393"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1" name="Line 41"/>
          <p:cNvSpPr>
            <a:spLocks noChangeShapeType="1"/>
          </p:cNvSpPr>
          <p:nvPr/>
        </p:nvSpPr>
        <p:spPr bwMode="auto">
          <a:xfrm>
            <a:off x="204139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2" name="Line 42"/>
          <p:cNvSpPr>
            <a:spLocks noChangeShapeType="1"/>
          </p:cNvSpPr>
          <p:nvPr/>
        </p:nvSpPr>
        <p:spPr bwMode="auto">
          <a:xfrm>
            <a:off x="303371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3" name="Line 43"/>
          <p:cNvSpPr>
            <a:spLocks noChangeShapeType="1"/>
          </p:cNvSpPr>
          <p:nvPr/>
        </p:nvSpPr>
        <p:spPr bwMode="auto">
          <a:xfrm>
            <a:off x="5439702"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4" name="Text Box 44"/>
          <p:cNvSpPr txBox="1">
            <a:spLocks noChangeArrowheads="1"/>
          </p:cNvSpPr>
          <p:nvPr/>
        </p:nvSpPr>
        <p:spPr bwMode="auto">
          <a:xfrm>
            <a:off x="3737108" y="118119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空格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9005" name="Text Box 45"/>
          <p:cNvSpPr txBox="1">
            <a:spLocks noChangeArrowheads="1"/>
          </p:cNvSpPr>
          <p:nvPr/>
        </p:nvSpPr>
        <p:spPr bwMode="auto">
          <a:xfrm>
            <a:off x="5835254" y="118119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回车换行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69006" name="Line 46"/>
          <p:cNvSpPr>
            <a:spLocks noChangeShapeType="1"/>
          </p:cNvSpPr>
          <p:nvPr/>
        </p:nvSpPr>
        <p:spPr bwMode="auto">
          <a:xfrm>
            <a:off x="4397508" y="1535210"/>
            <a:ext cx="441986"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7" name="Line 47"/>
          <p:cNvSpPr>
            <a:spLocks noChangeShapeType="1"/>
          </p:cNvSpPr>
          <p:nvPr/>
        </p:nvSpPr>
        <p:spPr bwMode="auto">
          <a:xfrm flipH="1">
            <a:off x="3394869" y="1535210"/>
            <a:ext cx="481542"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8" name="Line 48"/>
          <p:cNvSpPr>
            <a:spLocks noChangeShapeType="1"/>
          </p:cNvSpPr>
          <p:nvPr/>
        </p:nvSpPr>
        <p:spPr bwMode="auto">
          <a:xfrm>
            <a:off x="6481895" y="1535210"/>
            <a:ext cx="240771"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9" name="Line 49"/>
          <p:cNvSpPr>
            <a:spLocks noChangeShapeType="1"/>
          </p:cNvSpPr>
          <p:nvPr/>
        </p:nvSpPr>
        <p:spPr bwMode="auto">
          <a:xfrm>
            <a:off x="3996796"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10" name="Line 50"/>
          <p:cNvSpPr>
            <a:spLocks noChangeShapeType="1"/>
          </p:cNvSpPr>
          <p:nvPr/>
        </p:nvSpPr>
        <p:spPr bwMode="auto">
          <a:xfrm>
            <a:off x="3996796"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11" name="Text Box 51"/>
          <p:cNvSpPr txBox="1">
            <a:spLocks noChangeArrowheads="1"/>
          </p:cNvSpPr>
          <p:nvPr/>
        </p:nvSpPr>
        <p:spPr bwMode="auto">
          <a:xfrm>
            <a:off x="3647679" y="3065561"/>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9012" name="Text Box 52"/>
          <p:cNvSpPr txBox="1">
            <a:spLocks noChangeArrowheads="1"/>
          </p:cNvSpPr>
          <p:nvPr/>
        </p:nvSpPr>
        <p:spPr bwMode="auto">
          <a:xfrm>
            <a:off x="6206729" y="18304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9013" name="Text Box 53"/>
          <p:cNvSpPr txBox="1">
            <a:spLocks noChangeArrowheads="1"/>
          </p:cNvSpPr>
          <p:nvPr/>
        </p:nvSpPr>
        <p:spPr bwMode="auto">
          <a:xfrm>
            <a:off x="4493816" y="3071911"/>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9014" name="Text Box 54"/>
          <p:cNvSpPr txBox="1">
            <a:spLocks noChangeArrowheads="1"/>
          </p:cNvSpPr>
          <p:nvPr/>
        </p:nvSpPr>
        <p:spPr bwMode="auto">
          <a:xfrm>
            <a:off x="4500695" y="22622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9015" name="Text Box 55"/>
          <p:cNvSpPr txBox="1">
            <a:spLocks noChangeArrowheads="1"/>
          </p:cNvSpPr>
          <p:nvPr/>
        </p:nvSpPr>
        <p:spPr bwMode="auto">
          <a:xfrm>
            <a:off x="2044833" y="3464024"/>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69016" name="Text Box 56"/>
          <p:cNvSpPr txBox="1">
            <a:spLocks noChangeArrowheads="1"/>
          </p:cNvSpPr>
          <p:nvPr/>
        </p:nvSpPr>
        <p:spPr bwMode="auto">
          <a:xfrm>
            <a:off x="2457583" y="4926111"/>
            <a:ext cx="46021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FF"/>
                </a:solidFill>
                <a:latin typeface="Arial" panose="020B0604020202020204" pitchFamily="34" charset="0"/>
                <a:ea typeface="黑体" panose="02010609060101010101" pitchFamily="2" charset="-122"/>
              </a:rPr>
              <a:t>“</a:t>
            </a:r>
            <a:r>
              <a:rPr lang="zh-CN" altLang="en-US" sz="2800" b="1" dirty="0">
                <a:solidFill>
                  <a:srgbClr val="0000FF"/>
                </a:solidFill>
                <a:latin typeface="Arial" panose="020B0604020202020204" pitchFamily="34" charset="0"/>
                <a:ea typeface="黑体" panose="02010609060101010101" pitchFamily="2" charset="-122"/>
              </a:rPr>
              <a:t>版本”</a:t>
            </a:r>
            <a:r>
              <a:rPr lang="zh-CN" altLang="en-US" sz="2800" b="1" dirty="0">
                <a:solidFill>
                  <a:srgbClr val="0000FF"/>
                </a:solidFill>
                <a:latin typeface="黑体" panose="02010609060101010101" pitchFamily="2" charset="-122"/>
                <a:ea typeface="黑体" panose="02010609060101010101" pitchFamily="2" charset="-122"/>
              </a:rPr>
              <a:t>是</a:t>
            </a:r>
            <a:r>
              <a:rPr lang="zh-CN" altLang="en-US" sz="2800" b="1" dirty="0">
                <a:solidFill>
                  <a:srgbClr val="0000FF"/>
                </a:solidFill>
                <a:latin typeface="Arial" panose="020B0604020202020204" pitchFamily="34" charset="0"/>
                <a:ea typeface="黑体" panose="02010609060101010101" pitchFamily="2" charset="-122"/>
              </a:rPr>
              <a:t> </a:t>
            </a:r>
            <a:r>
              <a:rPr lang="en-US" altLang="zh-CN" sz="2800" b="1" dirty="0">
                <a:solidFill>
                  <a:srgbClr val="0000FF"/>
                </a:solidFill>
                <a:latin typeface="Arial" panose="020B0604020202020204" pitchFamily="34" charset="0"/>
                <a:ea typeface="黑体" panose="02010609060101010101" pitchFamily="2" charset="-122"/>
              </a:rPr>
              <a:t>HTTP </a:t>
            </a:r>
            <a:r>
              <a:rPr lang="zh-CN" altLang="en-US" sz="2800" b="1" dirty="0">
                <a:solidFill>
                  <a:srgbClr val="0000FF"/>
                </a:solidFill>
                <a:latin typeface="黑体" panose="02010609060101010101" pitchFamily="2" charset="-122"/>
                <a:ea typeface="黑体" panose="02010609060101010101" pitchFamily="2" charset="-122"/>
              </a:rPr>
              <a:t>的版本</a:t>
            </a:r>
            <a:r>
              <a:rPr lang="zh-CN" altLang="en-US" sz="2800" b="1" dirty="0">
                <a:solidFill>
                  <a:srgbClr val="0000FF"/>
                </a:solidFill>
                <a:latin typeface="Arial" panose="020B0604020202020204" pitchFamily="34" charset="0"/>
                <a:ea typeface="黑体" panose="02010609060101010101" pitchFamily="2" charset="-122"/>
              </a:rPr>
              <a:t>。</a:t>
            </a:r>
            <a:endParaRPr lang="zh-CN" altLang="en-US" sz="2800" b="1" dirty="0">
              <a:solidFill>
                <a:srgbClr val="0000FF"/>
              </a:solidFill>
              <a:latin typeface="Arial" panose="020B0604020202020204" pitchFamily="34" charset="0"/>
              <a:ea typeface="黑体" panose="02010609060101010101" pitchFamily="2" charset="-122"/>
            </a:endParaRPr>
          </a:p>
        </p:txBody>
      </p:sp>
      <p:sp>
        <p:nvSpPr>
          <p:cNvPr id="656441" name="Rectangle 57"/>
          <p:cNvSpPr>
            <a:spLocks noChangeArrowheads="1"/>
          </p:cNvSpPr>
          <p:nvPr/>
        </p:nvSpPr>
        <p:spPr bwMode="auto">
          <a:xfrm>
            <a:off x="4796499" y="1757461"/>
            <a:ext cx="1559851" cy="576263"/>
          </a:xfrm>
          <a:prstGeom prst="rect">
            <a:avLst/>
          </a:prstGeom>
          <a:noFill/>
          <a:ln w="5715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644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564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441" grpId="0" animBg="1"/>
      <p:bldP spid="656441"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2041393" y="3065190"/>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1" name="Rectangle 3"/>
          <p:cNvSpPr>
            <a:spLocks noChangeArrowheads="1"/>
          </p:cNvSpPr>
          <p:nvPr/>
        </p:nvSpPr>
        <p:spPr bwMode="auto">
          <a:xfrm>
            <a:off x="2041393" y="2249215"/>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2" name="Rectangle 4"/>
          <p:cNvSpPr>
            <a:spLocks noChangeArrowheads="1"/>
          </p:cNvSpPr>
          <p:nvPr/>
        </p:nvSpPr>
        <p:spPr bwMode="auto">
          <a:xfrm>
            <a:off x="2041394" y="1842814"/>
            <a:ext cx="5202369" cy="40640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3" name="Rectangle 5"/>
          <p:cNvSpPr>
            <a:spLocks noGrp="1" noChangeArrowheads="1"/>
          </p:cNvSpPr>
          <p:nvPr>
            <p:ph type="title"/>
          </p:nvPr>
        </p:nvSpPr>
        <p:spPr/>
        <p:txBody>
          <a:bodyPr/>
          <a:lstStyle/>
          <a:p>
            <a:pPr algn="ctr" eaLnBrk="1" hangingPunct="1">
              <a:defRPr/>
            </a:pPr>
            <a:r>
              <a:rPr lang="en-US" altLang="zh-CN" dirty="0"/>
              <a:t>HTTP </a:t>
            </a:r>
            <a:r>
              <a:rPr dirty="0"/>
              <a:t>的报文结构（响应报文） </a:t>
            </a:r>
            <a:endParaRPr dirty="0"/>
          </a:p>
        </p:txBody>
      </p:sp>
      <p:sp>
        <p:nvSpPr>
          <p:cNvPr id="171014" name="Rectangle 6"/>
          <p:cNvSpPr>
            <a:spLocks noChangeArrowheads="1"/>
          </p:cNvSpPr>
          <p:nvPr/>
        </p:nvSpPr>
        <p:spPr bwMode="auto">
          <a:xfrm>
            <a:off x="4478338" y="3074715"/>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5" name="Rectangle 7"/>
          <p:cNvSpPr>
            <a:spLocks noChangeArrowheads="1"/>
          </p:cNvSpPr>
          <p:nvPr/>
        </p:nvSpPr>
        <p:spPr bwMode="auto">
          <a:xfrm>
            <a:off x="2048273" y="3492226"/>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6" name="Rectangle 8"/>
          <p:cNvSpPr>
            <a:spLocks noChangeArrowheads="1"/>
          </p:cNvSpPr>
          <p:nvPr/>
        </p:nvSpPr>
        <p:spPr bwMode="auto">
          <a:xfrm>
            <a:off x="4478338" y="2258739"/>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7" name="Rectangle 9"/>
          <p:cNvSpPr>
            <a:spLocks noChangeArrowheads="1"/>
          </p:cNvSpPr>
          <p:nvPr/>
        </p:nvSpPr>
        <p:spPr bwMode="auto">
          <a:xfrm>
            <a:off x="3876410" y="3074714"/>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8" name="Rectangle 10"/>
          <p:cNvSpPr>
            <a:spLocks noChangeArrowheads="1"/>
          </p:cNvSpPr>
          <p:nvPr/>
        </p:nvSpPr>
        <p:spPr bwMode="auto">
          <a:xfrm>
            <a:off x="3876411" y="2258739"/>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9" name="Line 11"/>
          <p:cNvSpPr>
            <a:spLocks noChangeShapeType="1"/>
          </p:cNvSpPr>
          <p:nvPr/>
        </p:nvSpPr>
        <p:spPr bwMode="auto">
          <a:xfrm>
            <a:off x="3726789"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0" name="Line 12"/>
          <p:cNvSpPr>
            <a:spLocks noChangeShapeType="1"/>
          </p:cNvSpPr>
          <p:nvPr/>
        </p:nvSpPr>
        <p:spPr bwMode="auto">
          <a:xfrm>
            <a:off x="4478338"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1" name="Line 13"/>
          <p:cNvSpPr>
            <a:spLocks noChangeShapeType="1"/>
          </p:cNvSpPr>
          <p:nvPr/>
        </p:nvSpPr>
        <p:spPr bwMode="auto">
          <a:xfrm>
            <a:off x="3876410"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2" name="Rectangle 14"/>
          <p:cNvSpPr>
            <a:spLocks noChangeArrowheads="1"/>
          </p:cNvSpPr>
          <p:nvPr/>
        </p:nvSpPr>
        <p:spPr bwMode="auto">
          <a:xfrm>
            <a:off x="6251444" y="1852340"/>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3" name="Rectangle 15"/>
          <p:cNvSpPr>
            <a:spLocks noChangeArrowheads="1"/>
          </p:cNvSpPr>
          <p:nvPr/>
        </p:nvSpPr>
        <p:spPr bwMode="auto">
          <a:xfrm>
            <a:off x="4808538"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4" name="Rectangle 16"/>
          <p:cNvSpPr>
            <a:spLocks noChangeArrowheads="1"/>
          </p:cNvSpPr>
          <p:nvPr/>
        </p:nvSpPr>
        <p:spPr bwMode="auto">
          <a:xfrm>
            <a:off x="3365634"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5" name="Text Box 17"/>
          <p:cNvSpPr txBox="1">
            <a:spLocks noChangeArrowheads="1"/>
          </p:cNvSpPr>
          <p:nvPr/>
        </p:nvSpPr>
        <p:spPr bwMode="auto">
          <a:xfrm>
            <a:off x="2227131"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版   本</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26" name="Line 18"/>
          <p:cNvSpPr>
            <a:spLocks noChangeShapeType="1"/>
          </p:cNvSpPr>
          <p:nvPr/>
        </p:nvSpPr>
        <p:spPr bwMode="auto">
          <a:xfrm>
            <a:off x="3365633"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7" name="Line 19"/>
          <p:cNvSpPr>
            <a:spLocks noChangeShapeType="1"/>
          </p:cNvSpPr>
          <p:nvPr/>
        </p:nvSpPr>
        <p:spPr bwMode="auto">
          <a:xfrm>
            <a:off x="3486018"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8" name="Line 20"/>
          <p:cNvSpPr>
            <a:spLocks noChangeShapeType="1"/>
          </p:cNvSpPr>
          <p:nvPr/>
        </p:nvSpPr>
        <p:spPr bwMode="auto">
          <a:xfrm>
            <a:off x="4808538"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9" name="Line 21"/>
          <p:cNvSpPr>
            <a:spLocks noChangeShapeType="1"/>
          </p:cNvSpPr>
          <p:nvPr/>
        </p:nvSpPr>
        <p:spPr bwMode="auto">
          <a:xfrm>
            <a:off x="4928923"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0" name="Line 22"/>
          <p:cNvSpPr>
            <a:spLocks noChangeShapeType="1"/>
          </p:cNvSpPr>
          <p:nvPr/>
        </p:nvSpPr>
        <p:spPr bwMode="auto">
          <a:xfrm>
            <a:off x="6251443"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1" name="Text Box 23"/>
          <p:cNvSpPr txBox="1">
            <a:spLocks noChangeArrowheads="1"/>
          </p:cNvSpPr>
          <p:nvPr/>
        </p:nvSpPr>
        <p:spPr bwMode="auto">
          <a:xfrm>
            <a:off x="3627041" y="1817415"/>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状态码</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32" name="Text Box 24"/>
          <p:cNvSpPr txBox="1">
            <a:spLocks noChangeArrowheads="1"/>
          </p:cNvSpPr>
          <p:nvPr/>
        </p:nvSpPr>
        <p:spPr bwMode="auto">
          <a:xfrm>
            <a:off x="5066506"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短   语</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33" name="Text Box 25"/>
          <p:cNvSpPr txBox="1">
            <a:spLocks noChangeArrowheads="1"/>
          </p:cNvSpPr>
          <p:nvPr/>
        </p:nvSpPr>
        <p:spPr bwMode="auto">
          <a:xfrm>
            <a:off x="2049992" y="2244452"/>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34" name="Line 26"/>
          <p:cNvSpPr>
            <a:spLocks noChangeShapeType="1"/>
          </p:cNvSpPr>
          <p:nvPr/>
        </p:nvSpPr>
        <p:spPr bwMode="auto">
          <a:xfrm>
            <a:off x="3726789"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5" name="Line 27"/>
          <p:cNvSpPr>
            <a:spLocks noChangeShapeType="1"/>
          </p:cNvSpPr>
          <p:nvPr/>
        </p:nvSpPr>
        <p:spPr bwMode="auto">
          <a:xfrm>
            <a:off x="4478338"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6" name="Text Box 28"/>
          <p:cNvSpPr txBox="1">
            <a:spLocks noChangeArrowheads="1"/>
          </p:cNvSpPr>
          <p:nvPr/>
        </p:nvSpPr>
        <p:spPr bwMode="auto">
          <a:xfrm>
            <a:off x="5689071" y="266037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37" name="Line 29"/>
          <p:cNvSpPr>
            <a:spLocks noChangeShapeType="1"/>
          </p:cNvSpPr>
          <p:nvPr/>
        </p:nvSpPr>
        <p:spPr bwMode="auto">
          <a:xfrm>
            <a:off x="3876410"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8" name="Text Box 30"/>
          <p:cNvSpPr txBox="1">
            <a:spLocks noChangeArrowheads="1"/>
          </p:cNvSpPr>
          <p:nvPr/>
        </p:nvSpPr>
        <p:spPr bwMode="auto">
          <a:xfrm>
            <a:off x="3647679" y="2246040"/>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39" name="Text Box 31"/>
          <p:cNvSpPr txBox="1">
            <a:spLocks noChangeArrowheads="1"/>
          </p:cNvSpPr>
          <p:nvPr/>
        </p:nvSpPr>
        <p:spPr bwMode="auto">
          <a:xfrm>
            <a:off x="4008835" y="22523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40" name="Text Box 32"/>
          <p:cNvSpPr txBox="1">
            <a:spLocks noChangeArrowheads="1"/>
          </p:cNvSpPr>
          <p:nvPr/>
        </p:nvSpPr>
        <p:spPr bwMode="auto">
          <a:xfrm>
            <a:off x="2044834" y="305249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41" name="Text Box 33"/>
          <p:cNvSpPr txBox="1">
            <a:spLocks noChangeArrowheads="1"/>
          </p:cNvSpPr>
          <p:nvPr/>
        </p:nvSpPr>
        <p:spPr bwMode="auto">
          <a:xfrm>
            <a:off x="4034631" y="30651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42" name="Text Box 34"/>
          <p:cNvSpPr txBox="1">
            <a:spLocks noChangeArrowheads="1"/>
          </p:cNvSpPr>
          <p:nvPr/>
        </p:nvSpPr>
        <p:spPr bwMode="auto">
          <a:xfrm>
            <a:off x="3606404" y="3684315"/>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43" name="Text Box 35"/>
          <p:cNvSpPr txBox="1">
            <a:spLocks noChangeArrowheads="1"/>
          </p:cNvSpPr>
          <p:nvPr/>
        </p:nvSpPr>
        <p:spPr bwMode="auto">
          <a:xfrm rot="-5400000">
            <a:off x="2871614" y="2688128"/>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44" name="AutoShape 36"/>
          <p:cNvSpPr/>
          <p:nvPr/>
        </p:nvSpPr>
        <p:spPr bwMode="auto">
          <a:xfrm>
            <a:off x="5515372" y="2301602"/>
            <a:ext cx="240771" cy="1171575"/>
          </a:xfrm>
          <a:prstGeom prst="rightBrace">
            <a:avLst>
              <a:gd name="adj1" fmla="val 43929"/>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45" name="Rectangle 37"/>
          <p:cNvSpPr>
            <a:spLocks noChangeArrowheads="1"/>
          </p:cNvSpPr>
          <p:nvPr/>
        </p:nvSpPr>
        <p:spPr bwMode="auto">
          <a:xfrm>
            <a:off x="2041393" y="3879577"/>
            <a:ext cx="5413904" cy="91757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46" name="Text Box 38"/>
          <p:cNvSpPr txBox="1">
            <a:spLocks noChangeArrowheads="1"/>
          </p:cNvSpPr>
          <p:nvPr/>
        </p:nvSpPr>
        <p:spPr bwMode="auto">
          <a:xfrm>
            <a:off x="3318577" y="3973239"/>
            <a:ext cx="27494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实体主体</a:t>
            </a:r>
            <a:endParaRPr kumimoji="1" lang="zh-CN" altLang="en-US" sz="2000" b="1">
              <a:solidFill>
                <a:srgbClr val="3333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（有些响应报文不用）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47" name="Text Box 39"/>
          <p:cNvSpPr txBox="1">
            <a:spLocks noChangeArrowheads="1"/>
          </p:cNvSpPr>
          <p:nvPr/>
        </p:nvSpPr>
        <p:spPr bwMode="auto">
          <a:xfrm>
            <a:off x="7204208" y="183170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状态行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48" name="Line 40"/>
          <p:cNvSpPr>
            <a:spLocks noChangeShapeType="1"/>
          </p:cNvSpPr>
          <p:nvPr/>
        </p:nvSpPr>
        <p:spPr bwMode="auto">
          <a:xfrm>
            <a:off x="2041393" y="2657201"/>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49" name="Line 41"/>
          <p:cNvSpPr>
            <a:spLocks noChangeShapeType="1"/>
          </p:cNvSpPr>
          <p:nvPr/>
        </p:nvSpPr>
        <p:spPr bwMode="auto">
          <a:xfrm>
            <a:off x="2041393" y="3473176"/>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0" name="Line 42"/>
          <p:cNvSpPr>
            <a:spLocks noChangeShapeType="1"/>
          </p:cNvSpPr>
          <p:nvPr/>
        </p:nvSpPr>
        <p:spPr bwMode="auto">
          <a:xfrm>
            <a:off x="3033713" y="3473176"/>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1" name="Line 43"/>
          <p:cNvSpPr>
            <a:spLocks noChangeShapeType="1"/>
          </p:cNvSpPr>
          <p:nvPr/>
        </p:nvSpPr>
        <p:spPr bwMode="auto">
          <a:xfrm>
            <a:off x="5439702" y="2657201"/>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2" name="Text Box 44"/>
          <p:cNvSpPr txBox="1">
            <a:spLocks noChangeArrowheads="1"/>
          </p:cNvSpPr>
          <p:nvPr/>
        </p:nvSpPr>
        <p:spPr bwMode="auto">
          <a:xfrm>
            <a:off x="3737108" y="118241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空格</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53" name="Text Box 45"/>
          <p:cNvSpPr txBox="1">
            <a:spLocks noChangeArrowheads="1"/>
          </p:cNvSpPr>
          <p:nvPr/>
        </p:nvSpPr>
        <p:spPr bwMode="auto">
          <a:xfrm>
            <a:off x="5835254" y="1182415"/>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回车换行</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171054" name="Line 46"/>
          <p:cNvSpPr>
            <a:spLocks noChangeShapeType="1"/>
          </p:cNvSpPr>
          <p:nvPr/>
        </p:nvSpPr>
        <p:spPr bwMode="auto">
          <a:xfrm>
            <a:off x="4397508" y="1536426"/>
            <a:ext cx="441986"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5" name="Line 47"/>
          <p:cNvSpPr>
            <a:spLocks noChangeShapeType="1"/>
          </p:cNvSpPr>
          <p:nvPr/>
        </p:nvSpPr>
        <p:spPr bwMode="auto">
          <a:xfrm flipH="1">
            <a:off x="3394869" y="1536426"/>
            <a:ext cx="481542"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6" name="Line 48"/>
          <p:cNvSpPr>
            <a:spLocks noChangeShapeType="1"/>
          </p:cNvSpPr>
          <p:nvPr/>
        </p:nvSpPr>
        <p:spPr bwMode="auto">
          <a:xfrm>
            <a:off x="6481895" y="1536426"/>
            <a:ext cx="240771"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7" name="Line 49"/>
          <p:cNvSpPr>
            <a:spLocks noChangeShapeType="1"/>
          </p:cNvSpPr>
          <p:nvPr/>
        </p:nvSpPr>
        <p:spPr bwMode="auto">
          <a:xfrm>
            <a:off x="3996796"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8" name="Line 50"/>
          <p:cNvSpPr>
            <a:spLocks noChangeShapeType="1"/>
          </p:cNvSpPr>
          <p:nvPr/>
        </p:nvSpPr>
        <p:spPr bwMode="auto">
          <a:xfrm>
            <a:off x="3996796"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9" name="Text Box 51"/>
          <p:cNvSpPr txBox="1">
            <a:spLocks noChangeArrowheads="1"/>
          </p:cNvSpPr>
          <p:nvPr/>
        </p:nvSpPr>
        <p:spPr bwMode="auto">
          <a:xfrm>
            <a:off x="3647679" y="3066777"/>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60" name="Text Box 52"/>
          <p:cNvSpPr txBox="1">
            <a:spLocks noChangeArrowheads="1"/>
          </p:cNvSpPr>
          <p:nvPr/>
        </p:nvSpPr>
        <p:spPr bwMode="auto">
          <a:xfrm>
            <a:off x="6206729" y="18317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61" name="Text Box 53"/>
          <p:cNvSpPr txBox="1">
            <a:spLocks noChangeArrowheads="1"/>
          </p:cNvSpPr>
          <p:nvPr/>
        </p:nvSpPr>
        <p:spPr bwMode="auto">
          <a:xfrm>
            <a:off x="4493816" y="3073127"/>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62" name="Text Box 54"/>
          <p:cNvSpPr txBox="1">
            <a:spLocks noChangeArrowheads="1"/>
          </p:cNvSpPr>
          <p:nvPr/>
        </p:nvSpPr>
        <p:spPr bwMode="auto">
          <a:xfrm>
            <a:off x="4500695" y="22635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63" name="Text Box 55"/>
          <p:cNvSpPr txBox="1">
            <a:spLocks noChangeArrowheads="1"/>
          </p:cNvSpPr>
          <p:nvPr/>
        </p:nvSpPr>
        <p:spPr bwMode="auto">
          <a:xfrm>
            <a:off x="2044833" y="3465240"/>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171064" name="Text Box 56"/>
          <p:cNvSpPr txBox="1">
            <a:spLocks noChangeArrowheads="1"/>
          </p:cNvSpPr>
          <p:nvPr/>
        </p:nvSpPr>
        <p:spPr bwMode="auto">
          <a:xfrm>
            <a:off x="584730" y="4864124"/>
            <a:ext cx="8893043"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FF"/>
                </a:solidFill>
                <a:latin typeface="黑体" panose="02010609060101010101" pitchFamily="2" charset="-122"/>
                <a:ea typeface="黑体" panose="02010609060101010101" pitchFamily="2" charset="-122"/>
              </a:rPr>
              <a:t>响应报文的开始行是</a:t>
            </a:r>
            <a:r>
              <a:rPr lang="zh-CN" altLang="en-US" sz="2800" b="1" dirty="0">
                <a:solidFill>
                  <a:srgbClr val="FF0000"/>
                </a:solidFill>
                <a:latin typeface="黑体" panose="02010609060101010101" pitchFamily="2" charset="-122"/>
                <a:ea typeface="黑体" panose="02010609060101010101" pitchFamily="2" charset="-122"/>
              </a:rPr>
              <a:t>状态行</a:t>
            </a:r>
            <a:r>
              <a:rPr lang="zh-CN" altLang="en-US" sz="2800" b="1" dirty="0">
                <a:solidFill>
                  <a:srgbClr val="FF0000"/>
                </a:solidFill>
                <a:latin typeface="Arial" panose="020B0604020202020204" pitchFamily="34" charset="0"/>
                <a:ea typeface="黑体" panose="02010609060101010101" pitchFamily="2" charset="-122"/>
              </a:rPr>
              <a:t>。</a:t>
            </a:r>
            <a:endParaRPr lang="zh-CN" altLang="en-US" sz="2800" b="1" dirty="0">
              <a:solidFill>
                <a:srgbClr val="FF0000"/>
              </a:solidFill>
              <a:latin typeface="Arial" panose="020B0604020202020204" pitchFamily="34" charset="0"/>
              <a:ea typeface="黑体" panose="02010609060101010101" pitchFamily="2" charset="-122"/>
            </a:endParaRPr>
          </a:p>
          <a:p>
            <a:pPr eaLnBrk="1" hangingPunct="1"/>
            <a:r>
              <a:rPr lang="zh-CN" altLang="en-US" sz="2800" b="1" dirty="0">
                <a:solidFill>
                  <a:srgbClr val="0000FF"/>
                </a:solidFill>
                <a:latin typeface="Arial" panose="020B0604020202020204" pitchFamily="34" charset="0"/>
                <a:ea typeface="黑体" panose="02010609060101010101" pitchFamily="2" charset="-122"/>
              </a:rPr>
              <a:t>状态行包括三项内容，即 </a:t>
            </a:r>
            <a:r>
              <a:rPr lang="en-US" altLang="zh-CN" sz="2800" b="1" dirty="0">
                <a:solidFill>
                  <a:srgbClr val="FF0000"/>
                </a:solidFill>
                <a:latin typeface="Arial" panose="020B0604020202020204" pitchFamily="34" charset="0"/>
                <a:ea typeface="黑体" panose="02010609060101010101" pitchFamily="2" charset="-122"/>
              </a:rPr>
              <a:t>HTTP </a:t>
            </a:r>
            <a:r>
              <a:rPr lang="zh-CN" altLang="en-US" sz="2800" b="1" dirty="0">
                <a:solidFill>
                  <a:srgbClr val="FF0000"/>
                </a:solidFill>
                <a:latin typeface="Arial" panose="020B0604020202020204" pitchFamily="34" charset="0"/>
                <a:ea typeface="黑体" panose="02010609060101010101" pitchFamily="2" charset="-122"/>
              </a:rPr>
              <a:t>的版本，状态码，</a:t>
            </a:r>
            <a:r>
              <a:rPr lang="zh-CN" altLang="en-US" sz="2800" b="1" dirty="0">
                <a:solidFill>
                  <a:srgbClr val="0000FF"/>
                </a:solidFill>
                <a:latin typeface="Arial" panose="020B0604020202020204" pitchFamily="34" charset="0"/>
                <a:ea typeface="黑体" panose="02010609060101010101" pitchFamily="2" charset="-122"/>
              </a:rPr>
              <a:t>以及解释状态码的</a:t>
            </a:r>
            <a:r>
              <a:rPr lang="zh-CN" altLang="en-US" sz="2800" b="1" dirty="0">
                <a:solidFill>
                  <a:srgbClr val="FF0000"/>
                </a:solidFill>
                <a:latin typeface="Arial" panose="020B0604020202020204" pitchFamily="34" charset="0"/>
                <a:ea typeface="黑体" panose="02010609060101010101" pitchFamily="2" charset="-122"/>
              </a:rPr>
              <a:t>简单短语。</a:t>
            </a:r>
            <a:r>
              <a:rPr lang="zh-CN" altLang="en-US" sz="2800" b="1" dirty="0">
                <a:solidFill>
                  <a:srgbClr val="FF0000"/>
                </a:solidFill>
              </a:rPr>
              <a:t> </a:t>
            </a:r>
            <a:endParaRPr lang="zh-CN" altLang="en-US" sz="2800" b="1" dirty="0">
              <a:solidFill>
                <a:srgbClr val="FF0000"/>
              </a:solidFill>
            </a:endParaRPr>
          </a:p>
        </p:txBody>
      </p:sp>
      <p:grpSp>
        <p:nvGrpSpPr>
          <p:cNvPr id="652346" name="Group 58"/>
          <p:cNvGrpSpPr/>
          <p:nvPr/>
        </p:nvGrpSpPr>
        <p:grpSpPr bwMode="auto">
          <a:xfrm>
            <a:off x="405871" y="1758677"/>
            <a:ext cx="8525008" cy="576263"/>
            <a:chOff x="236" y="1026"/>
            <a:chExt cx="4957" cy="363"/>
          </a:xfrm>
        </p:grpSpPr>
        <p:sp>
          <p:nvSpPr>
            <p:cNvPr id="171066" name="Rectangle 59"/>
            <p:cNvSpPr>
              <a:spLocks noChangeArrowheads="1"/>
            </p:cNvSpPr>
            <p:nvPr/>
          </p:nvSpPr>
          <p:spPr bwMode="auto">
            <a:xfrm>
              <a:off x="1111" y="1026"/>
              <a:ext cx="4082" cy="363"/>
            </a:xfrm>
            <a:prstGeom prst="rect">
              <a:avLst/>
            </a:prstGeom>
            <a:noFill/>
            <a:ln w="5715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67" name="Text Box 60"/>
            <p:cNvSpPr txBox="1">
              <a:spLocks noChangeArrowheads="1"/>
            </p:cNvSpPr>
            <p:nvPr/>
          </p:nvSpPr>
          <p:spPr bwMode="auto">
            <a:xfrm>
              <a:off x="236" y="1027"/>
              <a:ext cx="7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333399"/>
                  </a:solidFill>
                  <a:ea typeface="黑体" panose="02010609060101010101" pitchFamily="2" charset="-122"/>
                </a:rPr>
                <a:t>开始行</a:t>
              </a:r>
              <a:endParaRPr lang="zh-CN" altLang="en-US" sz="2800" b="1">
                <a:solidFill>
                  <a:srgbClr val="333399"/>
                </a:solidFill>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65234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500"/>
                                  </p:stCondLst>
                                  <p:childTnLst>
                                    <p:anim calcmode="discrete" valueType="str">
                                      <p:cBhvr>
                                        <p:cTn id="9" dur="1000" fill="hold"/>
                                        <p:tgtEl>
                                          <p:spTgt spid="65234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a:spLocks noGrp="1" noChangeArrowheads="1"/>
          </p:cNvSpPr>
          <p:nvPr>
            <p:ph type="title"/>
          </p:nvPr>
        </p:nvSpPr>
        <p:spPr/>
        <p:txBody>
          <a:bodyPr/>
          <a:p>
            <a:pPr algn="ctr" eaLnBrk="1" hangingPunct="1">
              <a:defRPr/>
            </a:pPr>
            <a:r>
              <a:rPr dirty="0"/>
              <a:t>请求报文示例 </a:t>
            </a:r>
            <a:endParaRPr dirty="0"/>
          </a:p>
        </p:txBody>
      </p:sp>
      <p:pic>
        <p:nvPicPr>
          <p:cNvPr id="6" name="图片 5"/>
          <p:cNvPicPr>
            <a:picLocks noChangeAspect="1"/>
          </p:cNvPicPr>
          <p:nvPr/>
        </p:nvPicPr>
        <p:blipFill>
          <a:blip r:embed="rId1"/>
          <a:stretch>
            <a:fillRect/>
          </a:stretch>
        </p:blipFill>
        <p:spPr>
          <a:xfrm>
            <a:off x="343535" y="1170940"/>
            <a:ext cx="9363075" cy="4953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738630" y="2251075"/>
            <a:ext cx="6919595" cy="3245485"/>
          </a:xfrm>
          <a:prstGeom prst="rect">
            <a:avLst/>
          </a:prstGeom>
        </p:spPr>
      </p:pic>
      <p:sp>
        <p:nvSpPr>
          <p:cNvPr id="5" name="Rectangle 5"/>
          <p:cNvSpPr>
            <a:spLocks noGrp="1" noChangeArrowheads="1"/>
          </p:cNvSpPr>
          <p:nvPr>
            <p:ph type="title"/>
          </p:nvPr>
        </p:nvSpPr>
        <p:spPr/>
        <p:txBody>
          <a:bodyPr/>
          <a:p>
            <a:pPr algn="ctr" eaLnBrk="1" hangingPunct="1">
              <a:defRPr/>
            </a:pPr>
            <a:r>
              <a:rPr dirty="0"/>
              <a:t>响应报文示例 </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4. </a:t>
            </a:r>
            <a:r>
              <a:rPr lang="zh-CN" altLang="en-US" dirty="0" smtClean="0">
                <a:ea typeface="黑体" panose="02010609060101010101" pitchFamily="2" charset="-122"/>
              </a:rPr>
              <a:t>在服务器上存放用户的信息</a:t>
            </a:r>
            <a:endParaRPr lang="zh-CN" altLang="en-US" dirty="0" smtClean="0">
              <a:ea typeface="黑体" panose="02010609060101010101" pitchFamily="2" charset="-122"/>
            </a:endParaRPr>
          </a:p>
        </p:txBody>
      </p:sp>
      <p:sp>
        <p:nvSpPr>
          <p:cNvPr id="167940" name="Rectangle 3"/>
          <p:cNvSpPr>
            <a:spLocks noGrp="1" noChangeArrowheads="1"/>
          </p:cNvSpPr>
          <p:nvPr>
            <p:ph idx="1"/>
          </p:nvPr>
        </p:nvSpPr>
        <p:spPr/>
        <p:txBody>
          <a:bodyPr/>
          <a:lstStyle/>
          <a:p>
            <a:pPr eaLnBrk="1" hangingPunct="1">
              <a:defRPr/>
            </a:pPr>
            <a:r>
              <a:rPr lang="zh-CN" altLang="en-US" dirty="0" smtClean="0"/>
              <a:t>万维网站点使用 </a:t>
            </a:r>
            <a:r>
              <a:rPr lang="en-US" altLang="zh-CN" dirty="0" smtClean="0"/>
              <a:t>Cookie </a:t>
            </a:r>
            <a:r>
              <a:rPr lang="zh-CN" altLang="en-US" dirty="0" smtClean="0"/>
              <a:t>来跟踪用户。</a:t>
            </a:r>
            <a:endParaRPr lang="zh-CN" altLang="en-US" dirty="0" smtClean="0"/>
          </a:p>
          <a:p>
            <a:pPr eaLnBrk="1" hangingPunct="1">
              <a:defRPr/>
            </a:pPr>
            <a:r>
              <a:rPr lang="en-US" altLang="zh-CN" dirty="0" smtClean="0">
                <a:solidFill>
                  <a:srgbClr val="FF0000"/>
                </a:solidFill>
              </a:rPr>
              <a:t>Cookie</a:t>
            </a:r>
            <a:r>
              <a:rPr lang="en-US" altLang="zh-CN" dirty="0" smtClean="0"/>
              <a:t> </a:t>
            </a:r>
            <a:r>
              <a:rPr lang="zh-CN" altLang="en-US" dirty="0" smtClean="0"/>
              <a:t>表示在 </a:t>
            </a:r>
            <a:r>
              <a:rPr lang="en-US" altLang="zh-CN" dirty="0" smtClean="0"/>
              <a:t>HTTP </a:t>
            </a:r>
            <a:r>
              <a:rPr lang="zh-CN" altLang="en-US" dirty="0" smtClean="0"/>
              <a:t>服务器和客户之间传递的状态信息。</a:t>
            </a:r>
            <a:endParaRPr lang="zh-CN" altLang="en-US" dirty="0" smtClean="0"/>
          </a:p>
          <a:p>
            <a:pPr eaLnBrk="1" hangingPunct="1">
              <a:defRPr/>
            </a:pPr>
            <a:r>
              <a:rPr lang="zh-CN" altLang="en-US" dirty="0" smtClean="0"/>
              <a:t>使用 </a:t>
            </a:r>
            <a:r>
              <a:rPr lang="en-US" altLang="zh-CN" dirty="0" smtClean="0"/>
              <a:t>Cookie </a:t>
            </a:r>
            <a:r>
              <a:rPr lang="zh-CN" altLang="en-US" dirty="0" smtClean="0"/>
              <a:t>的网站服务器为用户产生一个</a:t>
            </a:r>
            <a:r>
              <a:rPr lang="zh-CN" altLang="en-US" dirty="0" smtClean="0">
                <a:solidFill>
                  <a:srgbClr val="FF0000"/>
                </a:solidFill>
              </a:rPr>
              <a:t>唯一的识别码。</a:t>
            </a:r>
            <a:r>
              <a:rPr lang="zh-CN" altLang="en-US" dirty="0" smtClean="0"/>
              <a:t>利用此识别码，网站就能够跟踪该用户在该网站的活动。  </a:t>
            </a:r>
            <a:endParaRPr lang="zh-CN" altLang="en-US" dirty="0"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6.4.4  </a:t>
            </a:r>
            <a:r>
              <a:rPr lang="zh-CN" altLang="en-US" dirty="0" smtClean="0">
                <a:ea typeface="黑体" panose="02010609060101010101" pitchFamily="2" charset="-122"/>
              </a:rPr>
              <a:t>万维网的文档</a:t>
            </a:r>
            <a:endParaRPr lang="en-US" altLang="zh-CN" dirty="0" smtClean="0">
              <a:ea typeface="黑体" panose="02010609060101010101" pitchFamily="2" charset="-122"/>
            </a:endParaRPr>
          </a:p>
        </p:txBody>
      </p:sp>
      <p:sp>
        <p:nvSpPr>
          <p:cNvPr id="657411" name="Rectangle 3"/>
          <p:cNvSpPr>
            <a:spLocks noGrp="1" noChangeArrowheads="1"/>
          </p:cNvSpPr>
          <p:nvPr>
            <p:ph idx="1"/>
          </p:nvPr>
        </p:nvSpPr>
        <p:spPr/>
        <p:txBody>
          <a:bodyPr/>
          <a:lstStyle/>
          <a:p>
            <a:pPr marL="0" indent="0">
              <a:buNone/>
              <a:defRPr/>
            </a:pPr>
            <a:r>
              <a:rPr lang="en-US" altLang="zh-CN" sz="4000" dirty="0">
                <a:solidFill>
                  <a:srgbClr val="333399"/>
                </a:solidFill>
                <a:latin typeface="+mj-lt"/>
                <a:ea typeface="黑体" panose="02010609060101010101" pitchFamily="2" charset="-122"/>
                <a:cs typeface="+mj-cs"/>
              </a:rPr>
              <a:t>1. </a:t>
            </a:r>
            <a:r>
              <a:rPr lang="zh-CN" altLang="en-US" sz="4000" dirty="0">
                <a:solidFill>
                  <a:srgbClr val="333399"/>
                </a:solidFill>
                <a:latin typeface="+mj-lt"/>
                <a:ea typeface="黑体" panose="02010609060101010101" pitchFamily="2" charset="-122"/>
                <a:cs typeface="+mj-cs"/>
              </a:rPr>
              <a:t>超文本标记语言 </a:t>
            </a:r>
            <a:r>
              <a:rPr lang="en-US" altLang="zh-CN" sz="4000" dirty="0">
                <a:solidFill>
                  <a:srgbClr val="333399"/>
                </a:solidFill>
                <a:latin typeface="+mj-lt"/>
                <a:ea typeface="黑体" panose="02010609060101010101" pitchFamily="2" charset="-122"/>
                <a:cs typeface="+mj-cs"/>
              </a:rPr>
              <a:t>HTML</a:t>
            </a:r>
            <a:endParaRPr lang="en-US" altLang="zh-CN" sz="4400" dirty="0">
              <a:solidFill>
                <a:srgbClr val="333399"/>
              </a:solidFill>
              <a:latin typeface="+mj-lt"/>
              <a:ea typeface="黑体" panose="02010609060101010101" pitchFamily="2" charset="-122"/>
              <a:cs typeface="+mj-cs"/>
            </a:endParaRPr>
          </a:p>
          <a:p>
            <a:pPr eaLnBrk="1" hangingPunct="1">
              <a:defRPr/>
            </a:pPr>
            <a:r>
              <a:rPr lang="zh-CN" altLang="en-US" dirty="0" smtClean="0"/>
              <a:t>超文本标记语言 </a:t>
            </a:r>
            <a:r>
              <a:rPr lang="en-US" altLang="zh-CN" dirty="0" smtClean="0"/>
              <a:t>HTML </a:t>
            </a:r>
            <a:r>
              <a:rPr lang="zh-CN" altLang="en-US" dirty="0" smtClean="0"/>
              <a:t>中的 </a:t>
            </a:r>
            <a:r>
              <a:rPr lang="en-US" altLang="zh-CN" dirty="0" smtClean="0"/>
              <a:t>Markup </a:t>
            </a:r>
            <a:r>
              <a:rPr lang="zh-CN" altLang="en-US" dirty="0" smtClean="0"/>
              <a:t>的意思就是“设置标记”。</a:t>
            </a:r>
            <a:endParaRPr lang="zh-CN" altLang="en-US" dirty="0" smtClean="0"/>
          </a:p>
          <a:p>
            <a:pPr eaLnBrk="1" hangingPunct="1">
              <a:defRPr/>
            </a:pPr>
            <a:r>
              <a:rPr lang="en-US" altLang="zh-CN" dirty="0" smtClean="0"/>
              <a:t>HTML </a:t>
            </a:r>
            <a:r>
              <a:rPr lang="zh-CN" altLang="en-US" dirty="0" smtClean="0"/>
              <a:t>定义了许多用于</a:t>
            </a:r>
            <a:r>
              <a:rPr lang="zh-CN" altLang="en-US" dirty="0" smtClean="0">
                <a:solidFill>
                  <a:srgbClr val="FF0000"/>
                </a:solidFill>
              </a:rPr>
              <a:t>排版的命令</a:t>
            </a:r>
            <a:r>
              <a:rPr lang="zh-CN" altLang="en-US" dirty="0" smtClean="0"/>
              <a:t>（即标签）。</a:t>
            </a:r>
            <a:endParaRPr lang="zh-CN" altLang="en-US" dirty="0" smtClean="0"/>
          </a:p>
          <a:p>
            <a:pPr eaLnBrk="1" hangingPunct="1">
              <a:defRPr/>
            </a:pPr>
            <a:r>
              <a:rPr lang="en-US" altLang="zh-CN" dirty="0" smtClean="0"/>
              <a:t>HTML </a:t>
            </a:r>
            <a:r>
              <a:rPr lang="zh-CN" altLang="en-US" dirty="0" smtClean="0"/>
              <a:t>把各种标签嵌入到万维网的页面中。这样就构成了所谓的 </a:t>
            </a:r>
            <a:r>
              <a:rPr lang="en-US" altLang="zh-CN" dirty="0" smtClean="0"/>
              <a:t>HTML </a:t>
            </a:r>
            <a:r>
              <a:rPr lang="zh-CN" altLang="en-US" dirty="0" smtClean="0"/>
              <a:t>文档。</a:t>
            </a:r>
            <a:r>
              <a:rPr lang="en-US" altLang="zh-CN" dirty="0" smtClean="0"/>
              <a:t>HTML </a:t>
            </a:r>
            <a:r>
              <a:rPr lang="zh-CN" altLang="en-US" dirty="0" smtClean="0"/>
              <a:t>文档是一种可以用任何文本编辑器创建的 </a:t>
            </a:r>
            <a:r>
              <a:rPr lang="en-US" altLang="zh-CN" dirty="0" smtClean="0"/>
              <a:t>ASCII </a:t>
            </a:r>
            <a:r>
              <a:rPr lang="zh-CN" altLang="en-US" dirty="0" smtClean="0"/>
              <a:t>码文件。   </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algn="ctr" eaLnBrk="1" hangingPunct="1"/>
            <a:r>
              <a:rPr lang="en-US" altLang="zh-CN" dirty="0" smtClean="0">
                <a:ea typeface="黑体" panose="02010609060101010101" pitchFamily="2" charset="-122"/>
              </a:rPr>
              <a:t>HTML </a:t>
            </a:r>
            <a:r>
              <a:rPr lang="zh-CN" altLang="en-US" dirty="0" smtClean="0">
                <a:ea typeface="黑体" panose="02010609060101010101" pitchFamily="2" charset="-122"/>
              </a:rPr>
              <a:t>文档 </a:t>
            </a:r>
            <a:endParaRPr lang="zh-CN" altLang="en-US" dirty="0" smtClean="0">
              <a:ea typeface="黑体" panose="02010609060101010101" pitchFamily="2" charset="-122"/>
            </a:endParaRPr>
          </a:p>
        </p:txBody>
      </p:sp>
      <p:sp>
        <p:nvSpPr>
          <p:cNvPr id="658435" name="Rectangle 3"/>
          <p:cNvSpPr>
            <a:spLocks noGrp="1" noChangeArrowheads="1"/>
          </p:cNvSpPr>
          <p:nvPr>
            <p:ph idx="1"/>
          </p:nvPr>
        </p:nvSpPr>
        <p:spPr/>
        <p:txBody>
          <a:bodyPr/>
          <a:lstStyle/>
          <a:p>
            <a:pPr algn="just" eaLnBrk="1" hangingPunct="1">
              <a:spcAft>
                <a:spcPct val="10000"/>
              </a:spcAft>
            </a:pPr>
            <a:r>
              <a:rPr lang="zh-CN" altLang="en-US" sz="2800" dirty="0" smtClean="0">
                <a:ea typeface="黑体" panose="02010609060101010101" pitchFamily="2" charset="-122"/>
              </a:rPr>
              <a:t>仅当 </a:t>
            </a:r>
            <a:r>
              <a:rPr lang="en-US" altLang="zh-CN" sz="2800" dirty="0" smtClean="0">
                <a:ea typeface="黑体" panose="02010609060101010101" pitchFamily="2" charset="-122"/>
              </a:rPr>
              <a:t>HTML </a:t>
            </a:r>
            <a:r>
              <a:rPr lang="zh-CN" altLang="en-US" sz="2800" dirty="0" smtClean="0">
                <a:ea typeface="黑体" panose="02010609060101010101" pitchFamily="2" charset="-122"/>
              </a:rPr>
              <a:t>文档是以 </a:t>
            </a:r>
            <a:r>
              <a:rPr lang="en-US" altLang="zh-CN" sz="2800" dirty="0" smtClean="0">
                <a:ea typeface="黑体" panose="02010609060101010101" pitchFamily="2" charset="-122"/>
              </a:rPr>
              <a:t>.html </a:t>
            </a:r>
            <a:r>
              <a:rPr lang="zh-CN" altLang="en-US" sz="2800" dirty="0" smtClean="0">
                <a:ea typeface="黑体" panose="02010609060101010101" pitchFamily="2" charset="-122"/>
              </a:rPr>
              <a:t>或 </a:t>
            </a:r>
            <a:r>
              <a:rPr lang="en-US" altLang="zh-CN" sz="2800" dirty="0" smtClean="0">
                <a:ea typeface="黑体" panose="02010609060101010101" pitchFamily="2" charset="-122"/>
              </a:rPr>
              <a:t>.</a:t>
            </a:r>
            <a:r>
              <a:rPr lang="en-US" altLang="zh-CN" sz="2800" dirty="0" err="1" smtClean="0">
                <a:ea typeface="黑体" panose="02010609060101010101" pitchFamily="2" charset="-122"/>
              </a:rPr>
              <a:t>htm</a:t>
            </a:r>
            <a:r>
              <a:rPr lang="en-US" altLang="zh-CN" sz="2800" dirty="0" smtClean="0">
                <a:ea typeface="黑体" panose="02010609060101010101" pitchFamily="2" charset="-122"/>
              </a:rPr>
              <a:t> </a:t>
            </a:r>
            <a:r>
              <a:rPr lang="zh-CN" altLang="en-US" sz="2800" dirty="0" smtClean="0">
                <a:ea typeface="黑体" panose="02010609060101010101" pitchFamily="2" charset="-122"/>
              </a:rPr>
              <a:t>为后缀时，浏览器才对此文档的各种标签进行解释。</a:t>
            </a:r>
            <a:endParaRPr lang="zh-CN" altLang="en-US" sz="2800" dirty="0" smtClean="0">
              <a:ea typeface="黑体" panose="02010609060101010101" pitchFamily="2" charset="-122"/>
            </a:endParaRPr>
          </a:p>
          <a:p>
            <a:pPr algn="just" eaLnBrk="1" hangingPunct="1">
              <a:spcAft>
                <a:spcPct val="10000"/>
              </a:spcAft>
            </a:pPr>
            <a:r>
              <a:rPr lang="zh-CN" altLang="en-US" sz="2800" dirty="0" smtClean="0">
                <a:ea typeface="黑体" panose="02010609060101010101" pitchFamily="2" charset="-122"/>
              </a:rPr>
              <a:t>如 </a:t>
            </a:r>
            <a:r>
              <a:rPr lang="en-US" altLang="zh-CN" sz="2800" dirty="0" smtClean="0">
                <a:ea typeface="黑体" panose="02010609060101010101" pitchFamily="2" charset="-122"/>
              </a:rPr>
              <a:t>HTML </a:t>
            </a:r>
            <a:r>
              <a:rPr lang="zh-CN" altLang="en-US" sz="2800" dirty="0" smtClean="0">
                <a:ea typeface="黑体" panose="02010609060101010101" pitchFamily="2" charset="-122"/>
              </a:rPr>
              <a:t>文档改换以 </a:t>
            </a:r>
            <a:r>
              <a:rPr lang="en-US" altLang="zh-CN" sz="2800" dirty="0" smtClean="0">
                <a:ea typeface="黑体" panose="02010609060101010101" pitchFamily="2" charset="-122"/>
              </a:rPr>
              <a:t>.txt </a:t>
            </a:r>
            <a:r>
              <a:rPr lang="zh-CN" altLang="en-US" sz="2800" dirty="0" smtClean="0">
                <a:ea typeface="黑体" panose="02010609060101010101" pitchFamily="2" charset="-122"/>
              </a:rPr>
              <a:t>为其后缀，则 </a:t>
            </a:r>
            <a:r>
              <a:rPr lang="en-US" altLang="zh-CN" sz="2800" dirty="0" smtClean="0">
                <a:ea typeface="黑体" panose="02010609060101010101" pitchFamily="2" charset="-122"/>
              </a:rPr>
              <a:t>HTML </a:t>
            </a:r>
            <a:r>
              <a:rPr lang="zh-CN" altLang="en-US" sz="2800" dirty="0" smtClean="0">
                <a:ea typeface="黑体" panose="02010609060101010101" pitchFamily="2" charset="-122"/>
              </a:rPr>
              <a:t>解释程序就不对标签进行解释，而浏览器只能看见原来的文本文件。</a:t>
            </a:r>
            <a:endParaRPr lang="zh-CN" altLang="en-US" sz="2800" dirty="0" smtClean="0">
              <a:ea typeface="黑体" panose="02010609060101010101" pitchFamily="2" charset="-122"/>
            </a:endParaRPr>
          </a:p>
          <a:p>
            <a:pPr algn="just" eaLnBrk="1" hangingPunct="1">
              <a:spcAft>
                <a:spcPct val="10000"/>
              </a:spcAft>
            </a:pPr>
            <a:r>
              <a:rPr lang="zh-CN" altLang="en-US" sz="2800" dirty="0" smtClean="0">
                <a:ea typeface="黑体" panose="02010609060101010101" pitchFamily="2" charset="-122"/>
              </a:rPr>
              <a:t>当浏览器从服务器读取 </a:t>
            </a:r>
            <a:r>
              <a:rPr lang="en-US" altLang="zh-CN" sz="2800" dirty="0" smtClean="0">
                <a:ea typeface="黑体" panose="02010609060101010101" pitchFamily="2" charset="-122"/>
              </a:rPr>
              <a:t>HTML </a:t>
            </a:r>
            <a:r>
              <a:rPr lang="zh-CN" altLang="en-US" sz="2800" dirty="0" smtClean="0">
                <a:ea typeface="黑体" panose="02010609060101010101" pitchFamily="2" charset="-122"/>
              </a:rPr>
              <a:t>文档后，就按照 </a:t>
            </a:r>
            <a:r>
              <a:rPr lang="en-US" altLang="zh-CN" sz="2800" dirty="0" smtClean="0">
                <a:ea typeface="黑体" panose="02010609060101010101" pitchFamily="2" charset="-122"/>
              </a:rPr>
              <a:t>HTML </a:t>
            </a:r>
            <a:r>
              <a:rPr lang="zh-CN" altLang="en-US" sz="2800" dirty="0" smtClean="0">
                <a:ea typeface="黑体" panose="02010609060101010101" pitchFamily="2" charset="-122"/>
              </a:rPr>
              <a:t>文档中的各种标签，根据浏览器所使用的显示器的尺寸和分辨率大小，重新进行排版并恢复出所读取的页面。</a:t>
            </a:r>
            <a:endParaRPr lang="zh-CN" altLang="en-US" sz="2400"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4"/>
          <p:cNvSpPr>
            <a:spLocks noGrp="1" noChangeArrowheads="1"/>
          </p:cNvSpPr>
          <p:nvPr>
            <p:ph type="title"/>
          </p:nvPr>
        </p:nvSpPr>
        <p:spPr>
          <a:xfrm>
            <a:off x="495300" y="188913"/>
            <a:ext cx="9066742" cy="792162"/>
          </a:xfrm>
        </p:spPr>
        <p:txBody>
          <a:bodyPr/>
          <a:lstStyle/>
          <a:p>
            <a:pPr algn="ctr" eaLnBrk="1" hangingPunct="1"/>
            <a:r>
              <a:rPr lang="zh-CN" altLang="en-US" dirty="0" smtClean="0">
                <a:ea typeface="黑体" panose="02010609060101010101" pitchFamily="2" charset="-122"/>
              </a:rPr>
              <a:t>两种不同的链接</a:t>
            </a:r>
            <a:endParaRPr lang="zh-CN" altLang="en-US" dirty="0" smtClean="0">
              <a:ea typeface="黑体" panose="02010609060101010101" pitchFamily="2" charset="-122"/>
            </a:endParaRPr>
          </a:p>
        </p:txBody>
      </p:sp>
      <p:sp>
        <p:nvSpPr>
          <p:cNvPr id="193540" name="Rectangle 5"/>
          <p:cNvSpPr>
            <a:spLocks noGrp="1" noChangeArrowheads="1"/>
          </p:cNvSpPr>
          <p:nvPr>
            <p:ph idx="1"/>
          </p:nvPr>
        </p:nvSpPr>
        <p:spPr>
          <a:xfrm>
            <a:off x="495300" y="1196975"/>
            <a:ext cx="9066742" cy="4933950"/>
          </a:xfrm>
        </p:spPr>
        <p:txBody>
          <a:bodyPr/>
          <a:lstStyle/>
          <a:p>
            <a:pPr>
              <a:defRPr/>
            </a:pPr>
            <a:r>
              <a:rPr lang="en-US" altLang="zh-CN" dirty="0"/>
              <a:t>HTML</a:t>
            </a:r>
            <a:r>
              <a:rPr lang="zh-CN" altLang="zh-CN" dirty="0"/>
              <a:t>还规定了链接的设置方法</a:t>
            </a:r>
            <a:r>
              <a:rPr lang="zh-CN" altLang="zh-CN" dirty="0" smtClean="0"/>
              <a:t>。每个</a:t>
            </a:r>
            <a:r>
              <a:rPr lang="zh-CN" altLang="zh-CN" dirty="0"/>
              <a:t>链接都有一个起点和终点。</a:t>
            </a:r>
            <a:endParaRPr lang="en-US" altLang="zh-CN" dirty="0" smtClean="0"/>
          </a:p>
          <a:p>
            <a:pPr eaLnBrk="1" hangingPunct="1">
              <a:defRPr/>
            </a:pPr>
            <a:r>
              <a:rPr lang="zh-CN" altLang="en-US" dirty="0" smtClean="0">
                <a:solidFill>
                  <a:srgbClr val="FF0000"/>
                </a:solidFill>
              </a:rPr>
              <a:t>远程链接：</a:t>
            </a:r>
            <a:r>
              <a:rPr lang="zh-CN" altLang="en-US" dirty="0" smtClean="0"/>
              <a:t>超链的终点是其他网点上的页面。</a:t>
            </a:r>
            <a:endParaRPr lang="zh-CN" altLang="en-US" dirty="0" smtClean="0"/>
          </a:p>
          <a:p>
            <a:pPr eaLnBrk="1" hangingPunct="1">
              <a:defRPr/>
            </a:pPr>
            <a:r>
              <a:rPr lang="zh-CN" altLang="en-US" dirty="0" smtClean="0">
                <a:solidFill>
                  <a:srgbClr val="FF0000"/>
                </a:solidFill>
              </a:rPr>
              <a:t>本地链接：</a:t>
            </a:r>
            <a:r>
              <a:rPr lang="zh-CN" altLang="en-US" dirty="0" smtClean="0"/>
              <a:t>超链指向本计算机中的某个文件。</a:t>
            </a:r>
            <a:endParaRPr lang="zh-CN" altLang="en-US" dirty="0"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2. </a:t>
            </a:r>
            <a:r>
              <a:rPr lang="zh-CN" altLang="en-US" dirty="0" smtClean="0">
                <a:ea typeface="黑体" panose="02010609060101010101" pitchFamily="2" charset="-122"/>
              </a:rPr>
              <a:t>动态万维网文档 </a:t>
            </a:r>
            <a:endParaRPr lang="zh-CN" altLang="en-US" dirty="0" smtClean="0">
              <a:ea typeface="黑体" panose="02010609060101010101" pitchFamily="2" charset="-122"/>
            </a:endParaRPr>
          </a:p>
        </p:txBody>
      </p:sp>
      <p:sp>
        <p:nvSpPr>
          <p:cNvPr id="692227" name="Rectangle 3"/>
          <p:cNvSpPr>
            <a:spLocks noGrp="1" noChangeArrowheads="1"/>
          </p:cNvSpPr>
          <p:nvPr>
            <p:ph idx="1"/>
          </p:nvPr>
        </p:nvSpPr>
        <p:spPr/>
        <p:txBody>
          <a:bodyPr/>
          <a:lstStyle/>
          <a:p>
            <a:pPr eaLnBrk="1" hangingPunct="1">
              <a:defRPr/>
            </a:pPr>
            <a:r>
              <a:rPr lang="zh-CN" altLang="en-US" dirty="0" smtClean="0">
                <a:solidFill>
                  <a:srgbClr val="FF0000"/>
                </a:solidFill>
              </a:rPr>
              <a:t>静态文档</a:t>
            </a:r>
            <a:r>
              <a:rPr lang="zh-CN" altLang="en-US" dirty="0" smtClean="0"/>
              <a:t>是指该文档创作完毕后就存放在万维网服务器中，在被用户浏览的过程中，内容不会改变。 </a:t>
            </a:r>
            <a:endParaRPr lang="zh-CN" altLang="en-US" dirty="0" smtClean="0"/>
          </a:p>
          <a:p>
            <a:pPr eaLnBrk="1" hangingPunct="1">
              <a:defRPr/>
            </a:pPr>
            <a:r>
              <a:rPr lang="zh-CN" altLang="en-US" dirty="0" smtClean="0">
                <a:solidFill>
                  <a:srgbClr val="FF0000"/>
                </a:solidFill>
              </a:rPr>
              <a:t>动态文档</a:t>
            </a:r>
            <a:r>
              <a:rPr lang="zh-CN" altLang="en-US" dirty="0" smtClean="0"/>
              <a:t>是指文档的内容是在浏览器访问万维网服务器时才由应用程序动态创建。</a:t>
            </a:r>
            <a:endParaRPr lang="zh-CN" altLang="en-US" dirty="0" smtClean="0"/>
          </a:p>
          <a:p>
            <a:pPr eaLnBrk="1" hangingPunct="1">
              <a:defRPr/>
            </a:pPr>
            <a:r>
              <a:rPr lang="zh-CN" altLang="en-US" dirty="0" smtClean="0"/>
              <a:t>动态文档和静态文档之间的主要差别体现在</a:t>
            </a:r>
            <a:r>
              <a:rPr lang="zh-CN" altLang="en-US" dirty="0" smtClean="0">
                <a:solidFill>
                  <a:srgbClr val="FF0000"/>
                </a:solidFill>
              </a:rPr>
              <a:t>服务器</a:t>
            </a:r>
            <a:r>
              <a:rPr lang="zh-CN" altLang="en-US" dirty="0" smtClean="0"/>
              <a:t>一端。这主要是文档内容的生成方法不同。而从浏览器的角度看，这两种文档并没有区别。  </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6.4.5  </a:t>
            </a:r>
            <a:r>
              <a:rPr lang="zh-CN" altLang="en-US" dirty="0" smtClean="0">
                <a:ea typeface="黑体" panose="02010609060101010101" pitchFamily="2" charset="-122"/>
              </a:rPr>
              <a:t>万维网的信息检索系统</a:t>
            </a:r>
            <a:endParaRPr lang="zh-CN" altLang="en-US" dirty="0" smtClean="0">
              <a:ea typeface="黑体" panose="02010609060101010101" pitchFamily="2" charset="-122"/>
            </a:endParaRPr>
          </a:p>
        </p:txBody>
      </p:sp>
      <p:sp>
        <p:nvSpPr>
          <p:cNvPr id="227331" name="Rectangle 3"/>
          <p:cNvSpPr>
            <a:spLocks noGrp="1" noChangeArrowheads="1"/>
          </p:cNvSpPr>
          <p:nvPr>
            <p:ph idx="1"/>
          </p:nvPr>
        </p:nvSpPr>
        <p:spPr>
          <a:xfrm>
            <a:off x="496570" y="1195070"/>
            <a:ext cx="9064625" cy="5166360"/>
          </a:xfrm>
        </p:spPr>
        <p:txBody>
          <a:bodyPr/>
          <a:lstStyle/>
          <a:p>
            <a:pPr marL="0" indent="0">
              <a:buNone/>
            </a:pPr>
            <a:r>
              <a:rPr lang="en-US" altLang="zh-CN" sz="4000" dirty="0">
                <a:solidFill>
                  <a:srgbClr val="333399"/>
                </a:solidFill>
                <a:latin typeface="+mj-lt"/>
                <a:ea typeface="黑体" panose="02010609060101010101" pitchFamily="2" charset="-122"/>
                <a:cs typeface="+mj-cs"/>
              </a:rPr>
              <a:t>1.  </a:t>
            </a:r>
            <a:r>
              <a:rPr lang="zh-CN" altLang="en-US" sz="4000" dirty="0">
                <a:solidFill>
                  <a:srgbClr val="333399"/>
                </a:solidFill>
                <a:latin typeface="+mj-lt"/>
                <a:ea typeface="黑体" panose="02010609060101010101" pitchFamily="2" charset="-122"/>
                <a:cs typeface="+mj-cs"/>
              </a:rPr>
              <a:t>全文检索搜索和分类目录搜索</a:t>
            </a:r>
            <a:endParaRPr lang="en-US" altLang="zh-CN" sz="4000" dirty="0">
              <a:solidFill>
                <a:srgbClr val="333399"/>
              </a:solidFill>
              <a:latin typeface="+mj-lt"/>
              <a:ea typeface="黑体" panose="02010609060101010101" pitchFamily="2" charset="-122"/>
              <a:cs typeface="+mj-cs"/>
            </a:endParaRPr>
          </a:p>
          <a:p>
            <a:pPr eaLnBrk="1" hangingPunct="1"/>
            <a:r>
              <a:rPr lang="zh-CN" altLang="en-US" sz="2800" dirty="0" smtClean="0">
                <a:ea typeface="黑体" panose="02010609060101010101" pitchFamily="2" charset="-122"/>
              </a:rPr>
              <a:t>在万维网中用来进行搜索的程序叫做</a:t>
            </a:r>
            <a:r>
              <a:rPr lang="zh-CN" altLang="en-US" sz="2800" dirty="0" smtClean="0">
                <a:solidFill>
                  <a:srgbClr val="FF0000"/>
                </a:solidFill>
                <a:ea typeface="黑体" panose="02010609060101010101" pitchFamily="2" charset="-122"/>
              </a:rPr>
              <a:t>搜索引擎</a:t>
            </a:r>
            <a:r>
              <a:rPr lang="zh-CN" altLang="en-US" sz="2800" dirty="0" smtClean="0">
                <a:ea typeface="黑体" panose="02010609060101010101" pitchFamily="2" charset="-122"/>
              </a:rPr>
              <a:t>。</a:t>
            </a:r>
            <a:endParaRPr lang="zh-CN" altLang="en-US" sz="2800" dirty="0" smtClean="0">
              <a:ea typeface="黑体" panose="02010609060101010101" pitchFamily="2" charset="-122"/>
            </a:endParaRPr>
          </a:p>
          <a:p>
            <a:pPr eaLnBrk="1" hangingPunct="1"/>
            <a:r>
              <a:rPr lang="zh-CN" altLang="en-US" sz="2800" dirty="0" smtClean="0">
                <a:solidFill>
                  <a:srgbClr val="FF0000"/>
                </a:solidFill>
                <a:ea typeface="黑体" panose="02010609060101010101" pitchFamily="2" charset="-122"/>
              </a:rPr>
              <a:t>全文检索搜索引擎</a:t>
            </a:r>
            <a:r>
              <a:rPr lang="zh-CN" altLang="en-US" sz="2800" dirty="0" smtClean="0">
                <a:ea typeface="黑体" panose="02010609060101010101" pitchFamily="2" charset="-122"/>
              </a:rPr>
              <a:t>是一种纯技术型的检索工具。它的工作原理是通过搜索软件到互联网上的各网站收集信息，找到一个网站后可以从这个网站再链接到另一个网站。然后按照一定的规则建立一个很大的在线数据库供用户查询。</a:t>
            </a:r>
            <a:endParaRPr lang="zh-CN" altLang="en-US" sz="2800" dirty="0" smtClean="0">
              <a:ea typeface="黑体" panose="02010609060101010101" pitchFamily="2" charset="-122"/>
            </a:endParaRPr>
          </a:p>
          <a:p>
            <a:pPr eaLnBrk="1" hangingPunct="1"/>
            <a:r>
              <a:rPr lang="zh-CN" altLang="en-US" sz="2800" dirty="0" smtClean="0">
                <a:ea typeface="黑体" panose="02010609060101010101" pitchFamily="2" charset="-122"/>
              </a:rPr>
              <a:t>用户在查询时只要输入关键词，就从已经建立的索引数据库上进行查询（并不是实时地在互联网上检索到的信息）。 </a:t>
            </a:r>
            <a:endParaRPr lang="zh-CN" altLang="en-US" sz="2800"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pPr algn="ctr" eaLnBrk="1" hangingPunct="1"/>
            <a:r>
              <a:rPr lang="zh-CN" altLang="en-US" smtClean="0">
                <a:ea typeface="黑体" panose="02010609060101010101" pitchFamily="2" charset="-122"/>
              </a:rPr>
              <a:t>分类目录搜索 </a:t>
            </a:r>
            <a:endParaRPr lang="zh-CN" altLang="en-US" smtClean="0">
              <a:ea typeface="黑体" panose="02010609060101010101" pitchFamily="2" charset="-122"/>
            </a:endParaRPr>
          </a:p>
        </p:txBody>
      </p:sp>
      <p:sp>
        <p:nvSpPr>
          <p:cNvPr id="222212" name="Rectangle 3"/>
          <p:cNvSpPr>
            <a:spLocks noGrp="1" noChangeArrowheads="1"/>
          </p:cNvSpPr>
          <p:nvPr>
            <p:ph idx="1"/>
          </p:nvPr>
        </p:nvSpPr>
        <p:spPr/>
        <p:txBody>
          <a:bodyPr/>
          <a:lstStyle/>
          <a:p>
            <a:pPr eaLnBrk="1" hangingPunct="1">
              <a:spcBef>
                <a:spcPts val="1200"/>
              </a:spcBef>
              <a:defRPr/>
            </a:pPr>
            <a:r>
              <a:rPr lang="zh-CN" altLang="en-US" dirty="0" smtClean="0">
                <a:solidFill>
                  <a:srgbClr val="FF0000"/>
                </a:solidFill>
              </a:rPr>
              <a:t>分类目录搜索引擎</a:t>
            </a:r>
            <a:r>
              <a:rPr lang="zh-CN" altLang="en-US" dirty="0" smtClean="0"/>
              <a:t>并不采集网站的任何信息，而是利用各网站向搜索引擎提交的网站信息时填写的关键词和网站描述等信息，经过人工审核编辑后，如果认为符合网站登录的条件，则输入到分类目录的数据库中，供网上用户查询。</a:t>
            </a:r>
            <a:endParaRPr lang="zh-CN" altLang="en-US" dirty="0" smtClean="0"/>
          </a:p>
          <a:p>
            <a:pPr eaLnBrk="1" hangingPunct="1">
              <a:spcBef>
                <a:spcPts val="1200"/>
              </a:spcBef>
              <a:defRPr/>
            </a:pPr>
            <a:r>
              <a:rPr lang="zh-CN" altLang="en-US" dirty="0" smtClean="0"/>
              <a:t>分类目录搜索也叫做</a:t>
            </a:r>
            <a:r>
              <a:rPr lang="zh-CN" altLang="en-US" dirty="0" smtClean="0">
                <a:solidFill>
                  <a:srgbClr val="FF0000"/>
                </a:solidFill>
              </a:rPr>
              <a:t>分类网站搜索</a:t>
            </a:r>
            <a:r>
              <a:rPr lang="zh-CN" altLang="en-US" dirty="0" smtClean="0"/>
              <a:t>。 </a:t>
            </a:r>
            <a:endParaRPr lang="zh-CN" altLang="en-US" dirty="0" smtClean="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algn="ctr" eaLnBrk="1" hangingPunct="1">
              <a:defRPr/>
            </a:pPr>
            <a:r>
              <a:rPr sz="4060"/>
              <a:t>一些著名的搜索引擎 </a:t>
            </a:r>
            <a:endParaRPr sz="4060"/>
          </a:p>
        </p:txBody>
      </p:sp>
      <p:sp>
        <p:nvSpPr>
          <p:cNvPr id="230403" name="Rectangle 3"/>
          <p:cNvSpPr>
            <a:spLocks noGrp="1" noChangeArrowheads="1"/>
          </p:cNvSpPr>
          <p:nvPr>
            <p:ph idx="1"/>
          </p:nvPr>
        </p:nvSpPr>
        <p:spPr>
          <a:xfrm>
            <a:off x="496570" y="1195070"/>
            <a:ext cx="9064625" cy="5131435"/>
          </a:xfrm>
        </p:spPr>
        <p:txBody>
          <a:bodyPr/>
          <a:lstStyle/>
          <a:p>
            <a:pPr eaLnBrk="1" hangingPunct="1"/>
            <a:r>
              <a:rPr lang="zh-CN" altLang="en-US" dirty="0" smtClean="0"/>
              <a:t>最著名的全文检索搜索引擎：</a:t>
            </a:r>
            <a:endParaRPr lang="zh-CN" altLang="en-US" dirty="0" smtClean="0"/>
          </a:p>
          <a:p>
            <a:pPr lvl="1" eaLnBrk="1" hangingPunct="1"/>
            <a:r>
              <a:rPr lang="en-US" altLang="zh-CN" dirty="0" smtClean="0">
                <a:solidFill>
                  <a:srgbClr val="0000FF"/>
                </a:solidFill>
                <a:ea typeface="黑体" panose="02010609060101010101" pitchFamily="2" charset="-122"/>
              </a:rPr>
              <a:t>Google</a:t>
            </a:r>
            <a:r>
              <a:rPr lang="zh-CN" altLang="en-US" dirty="0" smtClean="0">
                <a:solidFill>
                  <a:srgbClr val="0000FF"/>
                </a:solidFill>
                <a:ea typeface="黑体" panose="02010609060101010101" pitchFamily="2" charset="-122"/>
              </a:rPr>
              <a:t>（谷歌）</a:t>
            </a:r>
            <a:r>
              <a:rPr lang="en-US" altLang="zh-CN" dirty="0" smtClean="0">
                <a:solidFill>
                  <a:srgbClr val="0000FF"/>
                </a:solidFill>
                <a:ea typeface="黑体" panose="02010609060101010101" pitchFamily="2" charset="-122"/>
              </a:rPr>
              <a:t>(www.google.com) </a:t>
            </a:r>
            <a:endParaRPr lang="en-US" altLang="zh-CN" dirty="0" smtClean="0">
              <a:solidFill>
                <a:srgbClr val="0000FF"/>
              </a:solidFill>
              <a:ea typeface="黑体" panose="02010609060101010101" pitchFamily="2" charset="-122"/>
            </a:endParaRPr>
          </a:p>
          <a:p>
            <a:pPr lvl="1" eaLnBrk="1" hangingPunct="1"/>
            <a:r>
              <a:rPr lang="zh-CN" altLang="en-US" dirty="0" smtClean="0">
                <a:solidFill>
                  <a:srgbClr val="0000FF"/>
                </a:solidFill>
                <a:ea typeface="黑体" panose="02010609060101010101" pitchFamily="2" charset="-122"/>
              </a:rPr>
              <a:t>百度 </a:t>
            </a:r>
            <a:r>
              <a:rPr lang="en-US" altLang="zh-CN" dirty="0" smtClean="0">
                <a:solidFill>
                  <a:srgbClr val="0000FF"/>
                </a:solidFill>
                <a:ea typeface="黑体" panose="02010609060101010101" pitchFamily="2" charset="-122"/>
              </a:rPr>
              <a:t>(www.baidu.com) </a:t>
            </a:r>
            <a:endParaRPr lang="en-US" altLang="zh-CN" dirty="0" smtClean="0">
              <a:solidFill>
                <a:srgbClr val="0000FF"/>
              </a:solidFill>
              <a:ea typeface="黑体" panose="02010609060101010101" pitchFamily="2" charset="-122"/>
            </a:endParaRPr>
          </a:p>
          <a:p>
            <a:pPr eaLnBrk="1" hangingPunct="1"/>
            <a:r>
              <a:rPr lang="zh-CN" altLang="en-US" dirty="0" smtClean="0"/>
              <a:t>最著名的分类目录搜索引擎：</a:t>
            </a:r>
            <a:endParaRPr lang="zh-CN" altLang="en-US" dirty="0" smtClean="0"/>
          </a:p>
          <a:p>
            <a:pPr lvl="1" eaLnBrk="1" hangingPunct="1"/>
            <a:r>
              <a:rPr lang="zh-CN" altLang="en-US" dirty="0" smtClean="0">
                <a:solidFill>
                  <a:srgbClr val="0000FF"/>
                </a:solidFill>
                <a:ea typeface="黑体" panose="02010609060101010101" pitchFamily="2" charset="-122"/>
              </a:rPr>
              <a:t>雅虎 </a:t>
            </a:r>
            <a:r>
              <a:rPr lang="en-US" altLang="zh-CN" dirty="0" smtClean="0">
                <a:solidFill>
                  <a:srgbClr val="0000FF"/>
                </a:solidFill>
                <a:ea typeface="黑体" panose="02010609060101010101" pitchFamily="2" charset="-122"/>
              </a:rPr>
              <a:t>(www.yahoo.com)</a:t>
            </a:r>
            <a:endParaRPr lang="en-US" altLang="zh-CN" dirty="0" smtClean="0">
              <a:solidFill>
                <a:srgbClr val="0000FF"/>
              </a:solidFill>
              <a:ea typeface="黑体" panose="02010609060101010101" pitchFamily="2" charset="-122"/>
            </a:endParaRPr>
          </a:p>
          <a:p>
            <a:pPr lvl="1" eaLnBrk="1" hangingPunct="1"/>
            <a:r>
              <a:rPr lang="zh-CN" altLang="en-US" dirty="0" smtClean="0">
                <a:solidFill>
                  <a:srgbClr val="0000FF"/>
                </a:solidFill>
                <a:ea typeface="黑体" panose="02010609060101010101" pitchFamily="2" charset="-122"/>
              </a:rPr>
              <a:t>雅虎中国 </a:t>
            </a:r>
            <a:r>
              <a:rPr lang="en-US" altLang="zh-CN" dirty="0" smtClean="0">
                <a:solidFill>
                  <a:srgbClr val="0000FF"/>
                </a:solidFill>
                <a:ea typeface="黑体" panose="02010609060101010101" pitchFamily="2" charset="-122"/>
              </a:rPr>
              <a:t>(cn.yahoo.com)</a:t>
            </a:r>
            <a:endParaRPr lang="en-US" altLang="zh-CN" dirty="0" smtClean="0">
              <a:solidFill>
                <a:srgbClr val="0000FF"/>
              </a:solidFill>
              <a:ea typeface="黑体" panose="02010609060101010101" pitchFamily="2" charset="-122"/>
            </a:endParaRPr>
          </a:p>
          <a:p>
            <a:pPr lvl="1" eaLnBrk="1" hangingPunct="1"/>
            <a:r>
              <a:rPr lang="zh-CN" altLang="en-US" dirty="0" smtClean="0">
                <a:solidFill>
                  <a:srgbClr val="0000FF"/>
                </a:solidFill>
                <a:ea typeface="黑体" panose="02010609060101010101" pitchFamily="2" charset="-122"/>
              </a:rPr>
              <a:t>新浪 </a:t>
            </a:r>
            <a:r>
              <a:rPr lang="en-US" altLang="zh-CN" dirty="0" smtClean="0">
                <a:solidFill>
                  <a:srgbClr val="0000FF"/>
                </a:solidFill>
                <a:ea typeface="黑体" panose="02010609060101010101" pitchFamily="2" charset="-122"/>
              </a:rPr>
              <a:t>(www.sina.com)</a:t>
            </a:r>
            <a:endParaRPr lang="en-US" altLang="zh-CN" dirty="0" smtClean="0">
              <a:solidFill>
                <a:srgbClr val="0000FF"/>
              </a:solidFill>
              <a:ea typeface="黑体" panose="02010609060101010101" pitchFamily="2" charset="-122"/>
            </a:endParaRPr>
          </a:p>
          <a:p>
            <a:pPr lvl="1" eaLnBrk="1" hangingPunct="1"/>
            <a:r>
              <a:rPr lang="zh-CN" altLang="en-US" dirty="0" smtClean="0">
                <a:solidFill>
                  <a:srgbClr val="0000FF"/>
                </a:solidFill>
                <a:ea typeface="黑体" panose="02010609060101010101" pitchFamily="2" charset="-122"/>
              </a:rPr>
              <a:t>搜狐 </a:t>
            </a:r>
            <a:r>
              <a:rPr lang="en-US" altLang="zh-CN" dirty="0" smtClean="0">
                <a:solidFill>
                  <a:srgbClr val="0000FF"/>
                </a:solidFill>
                <a:ea typeface="黑体" panose="02010609060101010101" pitchFamily="2" charset="-122"/>
              </a:rPr>
              <a:t>(www.sohu.com)</a:t>
            </a:r>
            <a:endParaRPr lang="en-US" altLang="zh-CN" dirty="0" smtClean="0">
              <a:solidFill>
                <a:srgbClr val="0000FF"/>
              </a:solidFill>
              <a:ea typeface="黑体" panose="02010609060101010101" pitchFamily="2" charset="-122"/>
            </a:endParaRPr>
          </a:p>
          <a:p>
            <a:pPr lvl="1" eaLnBrk="1" hangingPunct="1"/>
            <a:r>
              <a:rPr lang="zh-CN" altLang="en-US" dirty="0" smtClean="0">
                <a:solidFill>
                  <a:srgbClr val="0000FF"/>
                </a:solidFill>
                <a:ea typeface="黑体" panose="02010609060101010101" pitchFamily="2" charset="-122"/>
              </a:rPr>
              <a:t>网易 </a:t>
            </a:r>
            <a:r>
              <a:rPr lang="en-US" altLang="zh-CN" dirty="0" smtClean="0">
                <a:solidFill>
                  <a:srgbClr val="0000FF"/>
                </a:solidFill>
                <a:ea typeface="黑体" panose="02010609060101010101" pitchFamily="2" charset="-122"/>
              </a:rPr>
              <a:t>(www.163.com) </a:t>
            </a:r>
            <a:endParaRPr lang="en-US" altLang="zh-CN" dirty="0" smtClean="0">
              <a:solidFill>
                <a:srgbClr val="0000FF"/>
              </a:solidFill>
              <a:ea typeface="黑体" panose="02010609060101010101" pitchFamily="2" charset="-122"/>
            </a:endParaRPr>
          </a:p>
          <a:p>
            <a:pPr lvl="1" eaLnBrk="1" hangingPunct="1"/>
            <a:endParaRPr lang="en-US" altLang="zh-CN"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2265680" y="2938145"/>
            <a:ext cx="5721350" cy="1198880"/>
          </a:xfrm>
          <a:prstGeom prst="rect">
            <a:avLst/>
          </a:prstGeom>
          <a:noFill/>
        </p:spPr>
        <p:txBody>
          <a:bodyPr wrap="square" rtlCol="0" anchor="t">
            <a:spAutoFit/>
          </a:bodyPr>
          <a:p>
            <a:r>
              <a:rPr lang="zh-CN" altLang="en-US"/>
              <a:t>搜索引擎：https://www.bilibili.com/video/av48046060</a:t>
            </a: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标题 1"/>
          <p:cNvSpPr>
            <a:spLocks noGrp="1"/>
          </p:cNvSpPr>
          <p:nvPr>
            <p:ph type="title"/>
          </p:nvPr>
        </p:nvSpPr>
        <p:spPr>
          <a:xfrm>
            <a:off x="495300" y="188913"/>
            <a:ext cx="9066742" cy="792162"/>
          </a:xfrm>
        </p:spPr>
        <p:txBody>
          <a:bodyPr/>
          <a:lstStyle/>
          <a:p>
            <a:pPr eaLnBrk="1" hangingPunct="1"/>
            <a:r>
              <a:rPr lang="en-US" altLang="zh-CN" smtClean="0">
                <a:ea typeface="黑体" panose="02010609060101010101" pitchFamily="2" charset="-122"/>
              </a:rPr>
              <a:t>6.5  </a:t>
            </a:r>
            <a:r>
              <a:rPr lang="zh-CN" altLang="en-US" smtClean="0">
                <a:ea typeface="黑体" panose="02010609060101010101" pitchFamily="2" charset="-122"/>
              </a:rPr>
              <a:t>电子邮件</a:t>
            </a:r>
            <a:endParaRPr lang="zh-CN" altLang="en-US" smtClean="0">
              <a:ea typeface="黑体" panose="02010609060101010101" pitchFamily="2" charset="-122"/>
            </a:endParaRPr>
          </a:p>
        </p:txBody>
      </p:sp>
      <p:sp>
        <p:nvSpPr>
          <p:cNvPr id="3" name="内容占位符 2"/>
          <p:cNvSpPr>
            <a:spLocks noGrp="1"/>
          </p:cNvSpPr>
          <p:nvPr>
            <p:ph idx="1"/>
          </p:nvPr>
        </p:nvSpPr>
        <p:spPr>
          <a:xfrm>
            <a:off x="495300" y="1196975"/>
            <a:ext cx="9066742" cy="4933950"/>
          </a:xfrm>
        </p:spPr>
        <p:txBody>
          <a:bodyPr/>
          <a:lstStyle/>
          <a:p>
            <a:pPr eaLnBrk="1" hangingPunct="1">
              <a:defRPr/>
            </a:pPr>
            <a:r>
              <a:rPr lang="en-US" altLang="zh-CN" sz="3200" dirty="0"/>
              <a:t>6.5.1  </a:t>
            </a:r>
            <a:r>
              <a:rPr lang="zh-CN" altLang="en-US" sz="3200" dirty="0"/>
              <a:t>电子邮件</a:t>
            </a:r>
            <a:r>
              <a:rPr lang="zh-CN" altLang="en-US" sz="3200" dirty="0" smtClean="0"/>
              <a:t>概述</a:t>
            </a:r>
            <a:endParaRPr lang="en-US" altLang="zh-CN" sz="3200" dirty="0" smtClean="0"/>
          </a:p>
          <a:p>
            <a:pPr eaLnBrk="1" hangingPunct="1">
              <a:defRPr/>
            </a:pPr>
            <a:r>
              <a:rPr lang="en-US" altLang="zh-CN" sz="3200" dirty="0"/>
              <a:t>6.5.2  </a:t>
            </a:r>
            <a:r>
              <a:rPr lang="zh-CN" altLang="en-US" sz="3200" dirty="0"/>
              <a:t>简单邮件传送协议 </a:t>
            </a:r>
            <a:r>
              <a:rPr lang="en-US" altLang="zh-CN" sz="3200" dirty="0" smtClean="0"/>
              <a:t>SMTP</a:t>
            </a:r>
            <a:endParaRPr lang="en-US" altLang="zh-CN" sz="3200" dirty="0" smtClean="0"/>
          </a:p>
          <a:p>
            <a:pPr eaLnBrk="1" hangingPunct="1">
              <a:defRPr/>
            </a:pPr>
            <a:r>
              <a:rPr lang="en-US" altLang="zh-CN" sz="3200" dirty="0"/>
              <a:t>6.5.3  </a:t>
            </a:r>
            <a:r>
              <a:rPr lang="zh-CN" altLang="en-US" sz="3200" dirty="0"/>
              <a:t>电子邮件的信息</a:t>
            </a:r>
            <a:r>
              <a:rPr lang="zh-CN" altLang="en-US" sz="3200" dirty="0" smtClean="0"/>
              <a:t>格式</a:t>
            </a:r>
            <a:endParaRPr lang="en-US" altLang="zh-CN" sz="3200" dirty="0" smtClean="0"/>
          </a:p>
          <a:p>
            <a:pPr eaLnBrk="1" hangingPunct="1">
              <a:defRPr/>
            </a:pPr>
            <a:r>
              <a:rPr lang="en-US" altLang="zh-CN" sz="3200" dirty="0"/>
              <a:t>6.5.4  </a:t>
            </a:r>
            <a:r>
              <a:rPr lang="zh-CN" altLang="en-US" sz="3200" dirty="0"/>
              <a:t>邮件读取协议 </a:t>
            </a:r>
            <a:r>
              <a:rPr lang="en-US" altLang="zh-CN" sz="3200" dirty="0"/>
              <a:t>POP3 </a:t>
            </a:r>
            <a:r>
              <a:rPr lang="zh-CN" altLang="en-US" sz="3200" dirty="0"/>
              <a:t>和 </a:t>
            </a:r>
            <a:r>
              <a:rPr lang="en-US" altLang="zh-CN" sz="3200" dirty="0" smtClean="0"/>
              <a:t>IMAP</a:t>
            </a:r>
            <a:endParaRPr lang="en-US" altLang="zh-CN" sz="3200" dirty="0" smtClean="0"/>
          </a:p>
          <a:p>
            <a:pPr eaLnBrk="1" hangingPunct="1">
              <a:defRPr/>
            </a:pPr>
            <a:r>
              <a:rPr lang="en-US" altLang="zh-CN" sz="3200" dirty="0"/>
              <a:t>6.5.5  </a:t>
            </a:r>
            <a:r>
              <a:rPr lang="zh-CN" altLang="en-US" sz="3200" dirty="0"/>
              <a:t>基于万维网的</a:t>
            </a:r>
            <a:r>
              <a:rPr lang="zh-CN" altLang="en-US" sz="3200" dirty="0" smtClean="0"/>
              <a:t>电子邮件</a:t>
            </a:r>
            <a:endParaRPr lang="en-US" altLang="zh-CN" sz="3200" dirty="0" smtClean="0"/>
          </a:p>
          <a:p>
            <a:pPr eaLnBrk="1" hangingPunct="1">
              <a:defRPr/>
            </a:pPr>
            <a:r>
              <a:rPr lang="en-US" altLang="zh-CN" sz="3200" dirty="0"/>
              <a:t>6.5.6  </a:t>
            </a:r>
            <a:r>
              <a:rPr lang="zh-CN" altLang="en-US" sz="3200" dirty="0" smtClean="0"/>
              <a:t>通用互联网</a:t>
            </a:r>
            <a:r>
              <a:rPr lang="zh-CN" altLang="en-US" sz="3200" dirty="0"/>
              <a:t>邮件扩充 </a:t>
            </a:r>
            <a:r>
              <a:rPr lang="en-US" altLang="zh-CN" sz="3200" dirty="0"/>
              <a:t>MIME</a:t>
            </a:r>
            <a:endParaRPr lang="zh-CN" alt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br>
              <a:rPr lang="zh-CN" altLang="en-US" dirty="0" smtClean="0">
                <a:ea typeface="黑体" panose="02010609060101010101" pitchFamily="2" charset="-122"/>
              </a:rPr>
            </a:br>
            <a:r>
              <a:rPr lang="en-US" altLang="zh-CN" dirty="0" smtClean="0">
                <a:ea typeface="黑体" panose="02010609060101010101" pitchFamily="2" charset="-122"/>
              </a:rPr>
              <a:t>6.5.1  </a:t>
            </a:r>
            <a:r>
              <a:rPr lang="zh-CN" altLang="en-US" dirty="0" smtClean="0">
                <a:ea typeface="黑体" panose="02010609060101010101" pitchFamily="2" charset="-122"/>
              </a:rPr>
              <a:t>电子邮件概述</a:t>
            </a:r>
            <a:endParaRPr lang="zh-CN" altLang="en-US" dirty="0" smtClean="0">
              <a:ea typeface="黑体" panose="02010609060101010101" pitchFamily="2" charset="-122"/>
            </a:endParaRPr>
          </a:p>
        </p:txBody>
      </p:sp>
      <p:sp>
        <p:nvSpPr>
          <p:cNvPr id="113254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smtClean="0">
                <a:solidFill>
                  <a:srgbClr val="FF0000"/>
                </a:solidFill>
              </a:rPr>
              <a:t>电子邮件 </a:t>
            </a:r>
            <a:r>
              <a:rPr lang="en-US" altLang="zh-CN" dirty="0" smtClean="0"/>
              <a:t>(</a:t>
            </a:r>
            <a:r>
              <a:rPr lang="en-US" altLang="zh-CN" dirty="0"/>
              <a:t>e-mail</a:t>
            </a:r>
            <a:r>
              <a:rPr lang="en-US" altLang="zh-CN" dirty="0" smtClean="0"/>
              <a:t>) </a:t>
            </a:r>
            <a:r>
              <a:rPr lang="zh-CN" altLang="en-US" dirty="0" smtClean="0"/>
              <a:t>是</a:t>
            </a:r>
            <a:r>
              <a:rPr lang="zh-CN" altLang="en-US" dirty="0"/>
              <a:t>互联网上使用得最多的和最受用户欢迎的一种应用。</a:t>
            </a:r>
            <a:endParaRPr lang="zh-CN" altLang="en-US" dirty="0"/>
          </a:p>
          <a:p>
            <a:r>
              <a:rPr lang="zh-CN" altLang="en-US" dirty="0"/>
              <a:t>电子邮件把邮件发送到收件人使用的邮件服务器，并放在其中的收件人邮箱中，收件人可随时上网到自己使用的邮件服务器进行读取。</a:t>
            </a:r>
            <a:endParaRPr lang="zh-CN" altLang="en-US" dirty="0"/>
          </a:p>
          <a:p>
            <a:r>
              <a:rPr lang="zh-CN" altLang="en-US" dirty="0"/>
              <a:t>电子邮件不仅使用方便，而且还具有传递迅速和费用低廉的优点。</a:t>
            </a:r>
            <a:endParaRPr lang="zh-CN" altLang="en-US" dirty="0"/>
          </a:p>
          <a:p>
            <a:r>
              <a:rPr lang="zh-CN" altLang="en-US" dirty="0"/>
              <a:t>现在电子邮件不仅可传送文字信息，而且还可附上声音和图像。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25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algn="ctr" eaLnBrk="1" hangingPunct="1"/>
            <a:r>
              <a:rPr lang="zh-CN" altLang="en-US" smtClean="0">
                <a:ea typeface="黑体" panose="02010609060101010101" pitchFamily="2" charset="-122"/>
              </a:rPr>
              <a:t>电子邮件的一些标准</a:t>
            </a:r>
            <a:endParaRPr lang="zh-CN" altLang="en-US" smtClean="0">
              <a:ea typeface="黑体" panose="02010609060101010101" pitchFamily="2" charset="-122"/>
            </a:endParaRPr>
          </a:p>
        </p:txBody>
      </p:sp>
      <p:sp>
        <p:nvSpPr>
          <p:cNvPr id="113459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发送邮件的协议：</a:t>
            </a:r>
            <a:r>
              <a:rPr lang="en-US" altLang="zh-CN" dirty="0"/>
              <a:t>SMTP</a:t>
            </a:r>
            <a:endParaRPr lang="en-US" altLang="zh-CN" dirty="0"/>
          </a:p>
          <a:p>
            <a:r>
              <a:rPr lang="zh-CN" altLang="en-US" dirty="0"/>
              <a:t>读取邮件的协议：</a:t>
            </a:r>
            <a:r>
              <a:rPr lang="en-US" altLang="zh-CN" dirty="0"/>
              <a:t>POP3 </a:t>
            </a:r>
            <a:r>
              <a:rPr lang="zh-CN" altLang="en-US" dirty="0"/>
              <a:t>和 </a:t>
            </a:r>
            <a:r>
              <a:rPr lang="en-US" altLang="zh-CN" dirty="0"/>
              <a:t>IMAP</a:t>
            </a:r>
            <a:endParaRPr lang="en-US" altLang="zh-CN" dirty="0"/>
          </a:p>
          <a:p>
            <a:r>
              <a:rPr lang="en-US" altLang="zh-CN" dirty="0"/>
              <a:t>MIME </a:t>
            </a:r>
            <a:r>
              <a:rPr lang="zh-CN" altLang="en-US" dirty="0"/>
              <a:t>在其邮件首部中说明了邮件的数据类型</a:t>
            </a:r>
            <a:r>
              <a:rPr lang="en-US" altLang="zh-CN" dirty="0"/>
              <a:t>(</a:t>
            </a:r>
            <a:r>
              <a:rPr lang="zh-CN" altLang="en-US" dirty="0"/>
              <a:t>如文本、声音、图像、视像等</a:t>
            </a:r>
            <a:r>
              <a:rPr lang="en-US" altLang="zh-CN" dirty="0"/>
              <a:t>)</a:t>
            </a:r>
            <a:r>
              <a:rPr lang="zh-CN" altLang="en-US" dirty="0"/>
              <a:t>，使用 </a:t>
            </a:r>
            <a:r>
              <a:rPr lang="en-US" altLang="zh-CN" dirty="0"/>
              <a:t>MIME </a:t>
            </a:r>
            <a:r>
              <a:rPr lang="zh-CN" altLang="en-US" dirty="0"/>
              <a:t>可在邮件中同时传送多种类型的数据。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45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595"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4738" name="Object 383"/>
          <p:cNvGraphicFramePr>
            <a:graphicFrameLocks noChangeAspect="1"/>
          </p:cNvGraphicFramePr>
          <p:nvPr/>
        </p:nvGraphicFramePr>
        <p:xfrm>
          <a:off x="3855060" y="4378326"/>
          <a:ext cx="2729310" cy="1439863"/>
        </p:xfrm>
        <a:graphic>
          <a:graphicData uri="http://schemas.openxmlformats.org/presentationml/2006/ole">
            <mc:AlternateContent xmlns:mc="http://schemas.openxmlformats.org/markup-compatibility/2006">
              <mc:Choice xmlns:v="urn:schemas-microsoft-com:vml" Requires="v">
                <p:oleObj spid="_x0000_s25648" name="VISIO" r:id="rId1" imgW="1687195" imgH="964565" progId="Visio.Drawing.6">
                  <p:embed/>
                </p:oleObj>
              </mc:Choice>
              <mc:Fallback>
                <p:oleObj name="VISIO" r:id="rId1" imgW="1687195" imgH="964565" progId="Visio.Drawing.6">
                  <p:embed/>
                  <p:pic>
                    <p:nvPicPr>
                      <p:cNvPr id="0" name="图片 256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5060" y="4378326"/>
                        <a:ext cx="2729310"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44739" name="Object 383"/>
          <p:cNvGraphicFramePr>
            <a:graphicFrameLocks noGrp="1" noChangeAspect="1"/>
          </p:cNvGraphicFramePr>
          <p:nvPr>
            <p:ph idx="4294967295"/>
          </p:nvPr>
        </p:nvGraphicFramePr>
        <p:xfrm>
          <a:off x="7248606" y="4378325"/>
          <a:ext cx="2728912" cy="1439863"/>
        </p:xfrm>
        <a:graphic>
          <a:graphicData uri="http://schemas.openxmlformats.org/presentationml/2006/ole">
            <mc:AlternateContent xmlns:mc="http://schemas.openxmlformats.org/markup-compatibility/2006">
              <mc:Choice xmlns:v="urn:schemas-microsoft-com:vml" Requires="v">
                <p:oleObj spid="_x0000_s25649" name="VISIO" r:id="rId3" imgW="1687195" imgH="964565" progId="Visio.Drawing.6">
                  <p:embed/>
                </p:oleObj>
              </mc:Choice>
              <mc:Fallback>
                <p:oleObj name="VISIO" r:id="rId3" imgW="1687195" imgH="964565" progId="Visio.Drawing.6">
                  <p:embed/>
                  <p:pic>
                    <p:nvPicPr>
                      <p:cNvPr id="0" name="图片 256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8606" y="4378325"/>
                        <a:ext cx="2728912"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44740" name="Rectangle 2"/>
          <p:cNvSpPr>
            <a:spLocks noGrp="1" noChangeArrowheads="1"/>
          </p:cNvSpPr>
          <p:nvPr>
            <p:ph type="title" idx="4294967295"/>
          </p:nvPr>
        </p:nvSpPr>
        <p:spPr>
          <a:xfrm>
            <a:off x="863332" y="-3646"/>
            <a:ext cx="7978100" cy="768350"/>
          </a:xfrm>
          <a:noFill/>
        </p:spPr>
        <p:txBody>
          <a:bodyPr/>
          <a:lstStyle/>
          <a:p>
            <a:pPr algn="ctr" eaLnBrk="1" hangingPunct="1"/>
            <a:r>
              <a:rPr dirty="0" smtClean="0"/>
              <a:t>电子邮件的最主要的组成构件 </a:t>
            </a:r>
            <a:endParaRPr dirty="0" smtClean="0"/>
          </a:p>
        </p:txBody>
      </p:sp>
      <p:sp>
        <p:nvSpPr>
          <p:cNvPr id="244741" name="Line 3"/>
          <p:cNvSpPr>
            <a:spLocks noChangeShapeType="1"/>
          </p:cNvSpPr>
          <p:nvPr/>
        </p:nvSpPr>
        <p:spPr bwMode="auto">
          <a:xfrm flipH="1" flipV="1">
            <a:off x="1261614" y="4886325"/>
            <a:ext cx="825500" cy="7620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2" name="Freeform 4"/>
          <p:cNvSpPr/>
          <p:nvPr/>
        </p:nvSpPr>
        <p:spPr bwMode="auto">
          <a:xfrm>
            <a:off x="8175176" y="4821239"/>
            <a:ext cx="825500" cy="142875"/>
          </a:xfrm>
          <a:custGeom>
            <a:avLst/>
            <a:gdLst>
              <a:gd name="T0" fmla="*/ 2147483646 w 480"/>
              <a:gd name="T1" fmla="*/ 0 h 90"/>
              <a:gd name="T2" fmla="*/ 0 w 480"/>
              <a:gd name="T3" fmla="*/ 2147483646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3" name="Line 5"/>
          <p:cNvSpPr>
            <a:spLocks noChangeShapeType="1"/>
          </p:cNvSpPr>
          <p:nvPr/>
        </p:nvSpPr>
        <p:spPr bwMode="auto">
          <a:xfrm flipH="1" flipV="1">
            <a:off x="6441626" y="5038725"/>
            <a:ext cx="846138" cy="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4" name="Line 6"/>
          <p:cNvSpPr>
            <a:spLocks noChangeShapeType="1"/>
          </p:cNvSpPr>
          <p:nvPr/>
        </p:nvSpPr>
        <p:spPr bwMode="auto">
          <a:xfrm flipH="1" flipV="1">
            <a:off x="3160264" y="5026025"/>
            <a:ext cx="846138" cy="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5" name="Text Box 7"/>
          <p:cNvSpPr txBox="1">
            <a:spLocks noChangeArrowheads="1"/>
          </p:cNvSpPr>
          <p:nvPr/>
        </p:nvSpPr>
        <p:spPr bwMode="auto">
          <a:xfrm>
            <a:off x="188464" y="406558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发送方</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746" name="Text Box 8"/>
          <p:cNvSpPr txBox="1">
            <a:spLocks noChangeArrowheads="1"/>
          </p:cNvSpPr>
          <p:nvPr/>
        </p:nvSpPr>
        <p:spPr bwMode="auto">
          <a:xfrm>
            <a:off x="1254735" y="5926138"/>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邮件缓存</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747" name="Text Box 9"/>
          <p:cNvSpPr txBox="1">
            <a:spLocks noChangeArrowheads="1"/>
          </p:cNvSpPr>
          <p:nvPr/>
        </p:nvSpPr>
        <p:spPr bwMode="auto">
          <a:xfrm>
            <a:off x="6049514" y="5956300"/>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接收方</a:t>
            </a:r>
            <a:endParaRPr kumimoji="1" lang="zh-CN" altLang="en-US" sz="1800" b="1">
              <a:solidFill>
                <a:srgbClr val="000099"/>
              </a:solidFill>
              <a:latin typeface="Arial" panose="020B0604020202020204" pitchFamily="34" charset="0"/>
              <a:ea typeface="黑体" panose="02010609060101010101" pitchFamily="2" charset="-122"/>
            </a:endParaRPr>
          </a:p>
          <a:p>
            <a:pPr eaLnBrk="1" hangingPunct="1"/>
            <a:r>
              <a:rPr kumimoji="1" lang="zh-CN" altLang="en-US" sz="1800" b="1">
                <a:solidFill>
                  <a:srgbClr val="000099"/>
                </a:solidFill>
                <a:latin typeface="Arial" panose="020B0604020202020204" pitchFamily="34" charset="0"/>
                <a:ea typeface="黑体" panose="02010609060101010101" pitchFamily="2" charset="-122"/>
              </a:rPr>
              <a:t>邮件服务器</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748" name="Oval 10"/>
          <p:cNvSpPr>
            <a:spLocks noChangeArrowheads="1"/>
          </p:cNvSpPr>
          <p:nvPr/>
        </p:nvSpPr>
        <p:spPr bwMode="auto">
          <a:xfrm>
            <a:off x="6957564" y="4351339"/>
            <a:ext cx="1405070" cy="1296987"/>
          </a:xfrm>
          <a:prstGeom prst="ellipse">
            <a:avLst/>
          </a:prstGeom>
          <a:solidFill>
            <a:srgbClr val="66FF66"/>
          </a:solidFill>
          <a:ln w="19050">
            <a:solidFill>
              <a:schemeClr val="folHlink"/>
            </a:solidFill>
            <a:rou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244749" name="Group 11"/>
          <p:cNvGrpSpPr/>
          <p:nvPr/>
        </p:nvGrpSpPr>
        <p:grpSpPr bwMode="auto">
          <a:xfrm>
            <a:off x="7372034" y="4460875"/>
            <a:ext cx="495300" cy="457200"/>
            <a:chOff x="2351" y="2975"/>
            <a:chExt cx="481" cy="433"/>
          </a:xfrm>
        </p:grpSpPr>
        <p:sp>
          <p:nvSpPr>
            <p:cNvPr id="245118" name="Rectangle 12"/>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5119" name="Line 13"/>
            <p:cNvSpPr>
              <a:spLocks noChangeShapeType="1"/>
            </p:cNvSpPr>
            <p:nvPr/>
          </p:nvSpPr>
          <p:spPr bwMode="auto">
            <a:xfrm rot="10800000">
              <a:off x="2351" y="332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0" name="Line 14"/>
            <p:cNvSpPr>
              <a:spLocks noChangeShapeType="1"/>
            </p:cNvSpPr>
            <p:nvPr/>
          </p:nvSpPr>
          <p:spPr bwMode="auto">
            <a:xfrm rot="10800000">
              <a:off x="2351" y="3234"/>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1" name="Line 15"/>
            <p:cNvSpPr>
              <a:spLocks noChangeShapeType="1"/>
            </p:cNvSpPr>
            <p:nvPr/>
          </p:nvSpPr>
          <p:spPr bwMode="auto">
            <a:xfrm rot="10800000">
              <a:off x="2351" y="3148"/>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2" name="Line 16"/>
            <p:cNvSpPr>
              <a:spLocks noChangeShapeType="1"/>
            </p:cNvSpPr>
            <p:nvPr/>
          </p:nvSpPr>
          <p:spPr bwMode="auto">
            <a:xfrm rot="10800000">
              <a:off x="2351" y="306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3" name="Line 17"/>
            <p:cNvSpPr>
              <a:spLocks noChangeShapeType="1"/>
            </p:cNvSpPr>
            <p:nvPr/>
          </p:nvSpPr>
          <p:spPr bwMode="auto">
            <a:xfrm rot="5400000">
              <a:off x="2519"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4" name="Line 18"/>
            <p:cNvSpPr>
              <a:spLocks noChangeShapeType="1"/>
            </p:cNvSpPr>
            <p:nvPr/>
          </p:nvSpPr>
          <p:spPr bwMode="auto">
            <a:xfrm rot="5400000">
              <a:off x="2423"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5" name="Line 19"/>
            <p:cNvSpPr>
              <a:spLocks noChangeShapeType="1"/>
            </p:cNvSpPr>
            <p:nvPr/>
          </p:nvSpPr>
          <p:spPr bwMode="auto">
            <a:xfrm rot="5400000">
              <a:off x="2327"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6" name="Line 20"/>
            <p:cNvSpPr>
              <a:spLocks noChangeShapeType="1"/>
            </p:cNvSpPr>
            <p:nvPr/>
          </p:nvSpPr>
          <p:spPr bwMode="auto">
            <a:xfrm rot="5400000">
              <a:off x="2231"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750" name="Group 21"/>
          <p:cNvGrpSpPr/>
          <p:nvPr/>
        </p:nvGrpSpPr>
        <p:grpSpPr bwMode="auto">
          <a:xfrm>
            <a:off x="7258528" y="5013325"/>
            <a:ext cx="791104" cy="457200"/>
            <a:chOff x="1296" y="768"/>
            <a:chExt cx="556" cy="336"/>
          </a:xfrm>
        </p:grpSpPr>
        <p:sp>
          <p:nvSpPr>
            <p:cNvPr id="245095" name="Rectangle 22"/>
            <p:cNvSpPr>
              <a:spLocks noChangeArrowheads="1"/>
            </p:cNvSpPr>
            <p:nvPr/>
          </p:nvSpPr>
          <p:spPr bwMode="auto">
            <a:xfrm>
              <a:off x="1296" y="768"/>
              <a:ext cx="556" cy="336"/>
            </a:xfrm>
            <a:prstGeom prst="rect">
              <a:avLst/>
            </a:prstGeom>
            <a:solidFill>
              <a:srgbClr val="FFFF99"/>
            </a:solidFill>
            <a:ln w="12700">
              <a:solidFill>
                <a:schemeClr val="tx1"/>
              </a:solidFill>
              <a:miter lim="800000"/>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panose="020B0604020202020204" pitchFamily="34" charset="0"/>
                <a:ea typeface="黑体" panose="02010609060101010101" pitchFamily="2" charset="-122"/>
              </a:endParaRPr>
            </a:p>
          </p:txBody>
        </p:sp>
        <p:grpSp>
          <p:nvGrpSpPr>
            <p:cNvPr id="245096" name="Group 23"/>
            <p:cNvGrpSpPr/>
            <p:nvPr/>
          </p:nvGrpSpPr>
          <p:grpSpPr bwMode="auto">
            <a:xfrm>
              <a:off x="1367" y="829"/>
              <a:ext cx="393" cy="214"/>
              <a:chOff x="2928" y="3744"/>
              <a:chExt cx="528" cy="336"/>
            </a:xfrm>
          </p:grpSpPr>
          <p:grpSp>
            <p:nvGrpSpPr>
              <p:cNvPr id="245097" name="Group 24"/>
              <p:cNvGrpSpPr/>
              <p:nvPr/>
            </p:nvGrpSpPr>
            <p:grpSpPr bwMode="auto">
              <a:xfrm>
                <a:off x="3024" y="3744"/>
                <a:ext cx="432" cy="240"/>
                <a:chOff x="2736" y="3648"/>
                <a:chExt cx="432" cy="240"/>
              </a:xfrm>
            </p:grpSpPr>
            <p:grpSp>
              <p:nvGrpSpPr>
                <p:cNvPr id="245112" name="Group 25"/>
                <p:cNvGrpSpPr/>
                <p:nvPr/>
              </p:nvGrpSpPr>
              <p:grpSpPr bwMode="auto">
                <a:xfrm>
                  <a:off x="2736" y="3648"/>
                  <a:ext cx="432" cy="240"/>
                  <a:chOff x="2592" y="3504"/>
                  <a:chExt cx="576" cy="384"/>
                </a:xfrm>
              </p:grpSpPr>
              <p:sp>
                <p:nvSpPr>
                  <p:cNvPr id="245114" name="Rectangle 26"/>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15" name="Freeform 27"/>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6" name="Line 28"/>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7" name="Line 29"/>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13" name="Line 30"/>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5098" name="Group 31"/>
              <p:cNvGrpSpPr/>
              <p:nvPr/>
            </p:nvGrpSpPr>
            <p:grpSpPr bwMode="auto">
              <a:xfrm>
                <a:off x="2976" y="3792"/>
                <a:ext cx="432" cy="240"/>
                <a:chOff x="2736" y="3648"/>
                <a:chExt cx="432" cy="240"/>
              </a:xfrm>
            </p:grpSpPr>
            <p:grpSp>
              <p:nvGrpSpPr>
                <p:cNvPr id="245106" name="Group 32"/>
                <p:cNvGrpSpPr/>
                <p:nvPr/>
              </p:nvGrpSpPr>
              <p:grpSpPr bwMode="auto">
                <a:xfrm>
                  <a:off x="2736" y="3648"/>
                  <a:ext cx="432" cy="240"/>
                  <a:chOff x="2592" y="3504"/>
                  <a:chExt cx="576" cy="384"/>
                </a:xfrm>
              </p:grpSpPr>
              <p:sp>
                <p:nvSpPr>
                  <p:cNvPr id="245108" name="Rectangle 33"/>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09" name="Freeform 34"/>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0" name="Line 35"/>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1" name="Line 36"/>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07" name="Line 37"/>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5099" name="Group 38"/>
              <p:cNvGrpSpPr/>
              <p:nvPr/>
            </p:nvGrpSpPr>
            <p:grpSpPr bwMode="auto">
              <a:xfrm>
                <a:off x="2928" y="3840"/>
                <a:ext cx="432" cy="240"/>
                <a:chOff x="2736" y="3648"/>
                <a:chExt cx="432" cy="240"/>
              </a:xfrm>
            </p:grpSpPr>
            <p:grpSp>
              <p:nvGrpSpPr>
                <p:cNvPr id="245100" name="Group 39"/>
                <p:cNvGrpSpPr/>
                <p:nvPr/>
              </p:nvGrpSpPr>
              <p:grpSpPr bwMode="auto">
                <a:xfrm>
                  <a:off x="2736" y="3648"/>
                  <a:ext cx="432" cy="240"/>
                  <a:chOff x="2592" y="3504"/>
                  <a:chExt cx="576" cy="384"/>
                </a:xfrm>
              </p:grpSpPr>
              <p:sp>
                <p:nvSpPr>
                  <p:cNvPr id="245102" name="Rectangle 40"/>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03" name="Freeform 41"/>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04" name="Line 42"/>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05" name="Line 43"/>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01" name="Line 44"/>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grpSp>
        <p:nvGrpSpPr>
          <p:cNvPr id="244751" name="Group 45"/>
          <p:cNvGrpSpPr/>
          <p:nvPr/>
        </p:nvGrpSpPr>
        <p:grpSpPr bwMode="auto">
          <a:xfrm>
            <a:off x="528982" y="4567238"/>
            <a:ext cx="957925" cy="1014412"/>
            <a:chOff x="246" y="1767"/>
            <a:chExt cx="557" cy="639"/>
          </a:xfrm>
        </p:grpSpPr>
        <p:grpSp>
          <p:nvGrpSpPr>
            <p:cNvPr id="245036" name="Group 46"/>
            <p:cNvGrpSpPr/>
            <p:nvPr/>
          </p:nvGrpSpPr>
          <p:grpSpPr bwMode="auto">
            <a:xfrm>
              <a:off x="246" y="1943"/>
              <a:ext cx="557" cy="463"/>
              <a:chOff x="246" y="1943"/>
              <a:chExt cx="557" cy="463"/>
            </a:xfrm>
          </p:grpSpPr>
          <p:sp>
            <p:nvSpPr>
              <p:cNvPr id="245089" name="Freeform 47"/>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nvGrpSpPr>
              <p:cNvPr id="245090" name="Group 48"/>
              <p:cNvGrpSpPr/>
              <p:nvPr/>
            </p:nvGrpSpPr>
            <p:grpSpPr bwMode="auto">
              <a:xfrm>
                <a:off x="246" y="1943"/>
                <a:ext cx="551" cy="121"/>
                <a:chOff x="246" y="1943"/>
                <a:chExt cx="551" cy="121"/>
              </a:xfrm>
            </p:grpSpPr>
            <p:sp>
              <p:nvSpPr>
                <p:cNvPr id="245092" name="Freeform 49"/>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ln>
              </p:spPr>
              <p:txBody>
                <a:bodyPr/>
                <a:lstStyle/>
                <a:p>
                  <a:endParaRPr lang="zh-CN" altLang="en-US" b="1">
                    <a:solidFill>
                      <a:srgbClr val="000099"/>
                    </a:solidFill>
                  </a:endParaRPr>
                </a:p>
              </p:txBody>
            </p:sp>
            <p:sp>
              <p:nvSpPr>
                <p:cNvPr id="245093" name="Freeform 50"/>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ln>
              </p:spPr>
              <p:txBody>
                <a:bodyPr/>
                <a:lstStyle/>
                <a:p>
                  <a:endParaRPr lang="zh-CN" altLang="en-US" b="1">
                    <a:solidFill>
                      <a:srgbClr val="000099"/>
                    </a:solidFill>
                  </a:endParaRPr>
                </a:p>
              </p:txBody>
            </p:sp>
            <p:sp>
              <p:nvSpPr>
                <p:cNvPr id="245094" name="Freeform 51"/>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grpSp>
          <p:sp>
            <p:nvSpPr>
              <p:cNvPr id="245091" name="Freeform 52"/>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grpSp>
          <p:nvGrpSpPr>
            <p:cNvPr id="245037" name="Group 53"/>
            <p:cNvGrpSpPr/>
            <p:nvPr/>
          </p:nvGrpSpPr>
          <p:grpSpPr bwMode="auto">
            <a:xfrm>
              <a:off x="325" y="1767"/>
              <a:ext cx="383" cy="268"/>
              <a:chOff x="325" y="1767"/>
              <a:chExt cx="383" cy="268"/>
            </a:xfrm>
          </p:grpSpPr>
          <p:grpSp>
            <p:nvGrpSpPr>
              <p:cNvPr id="245038" name="Group 54"/>
              <p:cNvGrpSpPr/>
              <p:nvPr/>
            </p:nvGrpSpPr>
            <p:grpSpPr bwMode="auto">
              <a:xfrm>
                <a:off x="412" y="1767"/>
                <a:ext cx="296" cy="243"/>
                <a:chOff x="412" y="1767"/>
                <a:chExt cx="296" cy="243"/>
              </a:xfrm>
            </p:grpSpPr>
            <p:grpSp>
              <p:nvGrpSpPr>
                <p:cNvPr id="245071" name="Group 55"/>
                <p:cNvGrpSpPr/>
                <p:nvPr/>
              </p:nvGrpSpPr>
              <p:grpSpPr bwMode="auto">
                <a:xfrm>
                  <a:off x="412" y="1767"/>
                  <a:ext cx="296" cy="243"/>
                  <a:chOff x="412" y="1767"/>
                  <a:chExt cx="296" cy="243"/>
                </a:xfrm>
              </p:grpSpPr>
              <p:grpSp>
                <p:nvGrpSpPr>
                  <p:cNvPr id="245080" name="Group 56"/>
                  <p:cNvGrpSpPr/>
                  <p:nvPr/>
                </p:nvGrpSpPr>
                <p:grpSpPr bwMode="auto">
                  <a:xfrm>
                    <a:off x="412" y="1904"/>
                    <a:ext cx="296" cy="106"/>
                    <a:chOff x="412" y="1904"/>
                    <a:chExt cx="296" cy="106"/>
                  </a:xfrm>
                </p:grpSpPr>
                <p:sp>
                  <p:nvSpPr>
                    <p:cNvPr id="245086" name="Freeform 57"/>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ln>
                  </p:spPr>
                  <p:txBody>
                    <a:bodyPr/>
                    <a:lstStyle/>
                    <a:p>
                      <a:endParaRPr lang="zh-CN" altLang="en-US" b="1">
                        <a:solidFill>
                          <a:srgbClr val="000099"/>
                        </a:solidFill>
                      </a:endParaRPr>
                    </a:p>
                  </p:txBody>
                </p:sp>
                <p:sp>
                  <p:nvSpPr>
                    <p:cNvPr id="245087" name="Freeform 58"/>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ln>
                  </p:spPr>
                  <p:txBody>
                    <a:bodyPr/>
                    <a:lstStyle/>
                    <a:p>
                      <a:endParaRPr lang="zh-CN" altLang="en-US" b="1">
                        <a:solidFill>
                          <a:srgbClr val="000099"/>
                        </a:solidFill>
                      </a:endParaRPr>
                    </a:p>
                  </p:txBody>
                </p:sp>
                <p:sp>
                  <p:nvSpPr>
                    <p:cNvPr id="245088" name="Freeform 59"/>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grpSp>
              <p:sp>
                <p:nvSpPr>
                  <p:cNvPr id="245081" name="Freeform 60"/>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grpSp>
                <p:nvGrpSpPr>
                  <p:cNvPr id="245082" name="Group 61"/>
                  <p:cNvGrpSpPr/>
                  <p:nvPr/>
                </p:nvGrpSpPr>
                <p:grpSpPr bwMode="auto">
                  <a:xfrm>
                    <a:off x="446" y="1767"/>
                    <a:ext cx="239" cy="151"/>
                    <a:chOff x="446" y="1767"/>
                    <a:chExt cx="239" cy="151"/>
                  </a:xfrm>
                </p:grpSpPr>
                <p:sp>
                  <p:nvSpPr>
                    <p:cNvPr id="245083" name="Freeform 62"/>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ln>
                  </p:spPr>
                  <p:txBody>
                    <a:bodyPr/>
                    <a:lstStyle/>
                    <a:p>
                      <a:endParaRPr lang="zh-CN" altLang="en-US" b="1">
                        <a:solidFill>
                          <a:srgbClr val="000099"/>
                        </a:solidFill>
                      </a:endParaRPr>
                    </a:p>
                  </p:txBody>
                </p:sp>
                <p:sp>
                  <p:nvSpPr>
                    <p:cNvPr id="245084" name="Freeform 63"/>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ln>
                  </p:spPr>
                  <p:txBody>
                    <a:bodyPr/>
                    <a:lstStyle/>
                    <a:p>
                      <a:endParaRPr lang="zh-CN" altLang="en-US" b="1">
                        <a:solidFill>
                          <a:srgbClr val="000099"/>
                        </a:solidFill>
                      </a:endParaRPr>
                    </a:p>
                  </p:txBody>
                </p:sp>
                <p:sp>
                  <p:nvSpPr>
                    <p:cNvPr id="245085" name="Freeform 64"/>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ln>
                  </p:spPr>
                  <p:txBody>
                    <a:bodyPr/>
                    <a:lstStyle/>
                    <a:p>
                      <a:endParaRPr lang="zh-CN" altLang="en-US" b="1">
                        <a:solidFill>
                          <a:srgbClr val="000099"/>
                        </a:solidFill>
                      </a:endParaRPr>
                    </a:p>
                  </p:txBody>
                </p:sp>
              </p:grpSp>
            </p:grpSp>
            <p:grpSp>
              <p:nvGrpSpPr>
                <p:cNvPr id="245072" name="Group 65"/>
                <p:cNvGrpSpPr/>
                <p:nvPr/>
              </p:nvGrpSpPr>
              <p:grpSpPr bwMode="auto">
                <a:xfrm>
                  <a:off x="424" y="1915"/>
                  <a:ext cx="97" cy="69"/>
                  <a:chOff x="424" y="1915"/>
                  <a:chExt cx="97" cy="69"/>
                </a:xfrm>
              </p:grpSpPr>
              <p:sp>
                <p:nvSpPr>
                  <p:cNvPr id="245073" name="Freeform 66"/>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5074" name="Line 67"/>
                  <p:cNvSpPr>
                    <a:spLocks noChangeShapeType="1"/>
                  </p:cNvSpPr>
                  <p:nvPr/>
                </p:nvSpPr>
                <p:spPr bwMode="auto">
                  <a:xfrm flipH="1" flipV="1">
                    <a:off x="433" y="1933"/>
                    <a:ext cx="26" cy="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5" name="Line 68"/>
                  <p:cNvSpPr>
                    <a:spLocks noChangeShapeType="1"/>
                  </p:cNvSpPr>
                  <p:nvPr/>
                </p:nvSpPr>
                <p:spPr bwMode="auto">
                  <a:xfrm>
                    <a:off x="472" y="1941"/>
                    <a:ext cx="34" cy="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6" name="Line 69"/>
                  <p:cNvSpPr>
                    <a:spLocks noChangeShapeType="1"/>
                  </p:cNvSpPr>
                  <p:nvPr/>
                </p:nvSpPr>
                <p:spPr bwMode="auto">
                  <a:xfrm>
                    <a:off x="465" y="1924"/>
                    <a:ext cx="1" cy="4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7" name="Line 70"/>
                  <p:cNvSpPr>
                    <a:spLocks noChangeShapeType="1"/>
                  </p:cNvSpPr>
                  <p:nvPr/>
                </p:nvSpPr>
                <p:spPr bwMode="auto">
                  <a:xfrm>
                    <a:off x="511" y="1934"/>
                    <a:ext cx="1" cy="49"/>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8" name="Line 71"/>
                  <p:cNvSpPr>
                    <a:spLocks noChangeShapeType="1"/>
                  </p:cNvSpPr>
                  <p:nvPr/>
                </p:nvSpPr>
                <p:spPr bwMode="auto">
                  <a:xfrm>
                    <a:off x="425" y="1933"/>
                    <a:ext cx="88" cy="2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9" name="Line 72"/>
                  <p:cNvSpPr>
                    <a:spLocks noChangeShapeType="1"/>
                  </p:cNvSpPr>
                  <p:nvPr/>
                </p:nvSpPr>
                <p:spPr bwMode="auto">
                  <a:xfrm flipH="1" flipV="1">
                    <a:off x="424" y="1926"/>
                    <a:ext cx="89" cy="2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245039" name="Group 73"/>
              <p:cNvGrpSpPr/>
              <p:nvPr/>
            </p:nvGrpSpPr>
            <p:grpSpPr bwMode="auto">
              <a:xfrm>
                <a:off x="325" y="1917"/>
                <a:ext cx="231" cy="118"/>
                <a:chOff x="325" y="1917"/>
                <a:chExt cx="231" cy="118"/>
              </a:xfrm>
            </p:grpSpPr>
            <p:grpSp>
              <p:nvGrpSpPr>
                <p:cNvPr id="245040" name="Group 74"/>
                <p:cNvGrpSpPr/>
                <p:nvPr/>
              </p:nvGrpSpPr>
              <p:grpSpPr bwMode="auto">
                <a:xfrm>
                  <a:off x="504" y="1981"/>
                  <a:ext cx="37" cy="28"/>
                  <a:chOff x="504" y="1981"/>
                  <a:chExt cx="37" cy="28"/>
                </a:xfrm>
              </p:grpSpPr>
              <p:sp>
                <p:nvSpPr>
                  <p:cNvPr id="245069" name="Freeform 75"/>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70" name="Freeform 76"/>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grpSp>
            <p:grpSp>
              <p:nvGrpSpPr>
                <p:cNvPr id="245041" name="Group 77"/>
                <p:cNvGrpSpPr/>
                <p:nvPr/>
              </p:nvGrpSpPr>
              <p:grpSpPr bwMode="auto">
                <a:xfrm>
                  <a:off x="325" y="1917"/>
                  <a:ext cx="231" cy="118"/>
                  <a:chOff x="325" y="1917"/>
                  <a:chExt cx="231" cy="118"/>
                </a:xfrm>
              </p:grpSpPr>
              <p:sp>
                <p:nvSpPr>
                  <p:cNvPr id="245042" name="Freeform 78"/>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ln>
                </p:spPr>
                <p:txBody>
                  <a:bodyPr/>
                  <a:lstStyle/>
                  <a:p>
                    <a:endParaRPr lang="zh-CN" altLang="en-US" b="1">
                      <a:solidFill>
                        <a:srgbClr val="000099"/>
                      </a:solidFill>
                    </a:endParaRPr>
                  </a:p>
                </p:txBody>
              </p:sp>
              <p:sp>
                <p:nvSpPr>
                  <p:cNvPr id="245043" name="Freeform 79"/>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44" name="Freeform 80"/>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5045" name="Freeform 81"/>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46" name="Freeform 82"/>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47" name="Freeform 83"/>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48" name="Line 84"/>
                  <p:cNvSpPr>
                    <a:spLocks noChangeShapeType="1"/>
                  </p:cNvSpPr>
                  <p:nvPr/>
                </p:nvSpPr>
                <p:spPr bwMode="auto">
                  <a:xfrm flipH="1" flipV="1">
                    <a:off x="411" y="1923"/>
                    <a:ext cx="128" cy="4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49" name="Line 85"/>
                  <p:cNvSpPr>
                    <a:spLocks noChangeShapeType="1"/>
                  </p:cNvSpPr>
                  <p:nvPr/>
                </p:nvSpPr>
                <p:spPr bwMode="auto">
                  <a:xfrm flipH="1" flipV="1">
                    <a:off x="404" y="1925"/>
                    <a:ext cx="124" cy="45"/>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0" name="Line 86"/>
                  <p:cNvSpPr>
                    <a:spLocks noChangeShapeType="1"/>
                  </p:cNvSpPr>
                  <p:nvPr/>
                </p:nvSpPr>
                <p:spPr bwMode="auto">
                  <a:xfrm flipH="1" flipV="1">
                    <a:off x="399" y="1930"/>
                    <a:ext cx="121" cy="46"/>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1" name="Line 87"/>
                  <p:cNvSpPr>
                    <a:spLocks noChangeShapeType="1"/>
                  </p:cNvSpPr>
                  <p:nvPr/>
                </p:nvSpPr>
                <p:spPr bwMode="auto">
                  <a:xfrm flipH="1" flipV="1">
                    <a:off x="384" y="1937"/>
                    <a:ext cx="119"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2" name="Line 88"/>
                  <p:cNvSpPr>
                    <a:spLocks noChangeShapeType="1"/>
                  </p:cNvSpPr>
                  <p:nvPr/>
                </p:nvSpPr>
                <p:spPr bwMode="auto">
                  <a:xfrm flipH="1" flipV="1">
                    <a:off x="375" y="1942"/>
                    <a:ext cx="118"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3" name="Line 89"/>
                  <p:cNvSpPr>
                    <a:spLocks noChangeShapeType="1"/>
                  </p:cNvSpPr>
                  <p:nvPr/>
                </p:nvSpPr>
                <p:spPr bwMode="auto">
                  <a:xfrm flipH="1" flipV="1">
                    <a:off x="365" y="1946"/>
                    <a:ext cx="119"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4" name="Line 90"/>
                  <p:cNvSpPr>
                    <a:spLocks noChangeShapeType="1"/>
                  </p:cNvSpPr>
                  <p:nvPr/>
                </p:nvSpPr>
                <p:spPr bwMode="auto">
                  <a:xfrm flipH="1" flipV="1">
                    <a:off x="358" y="1951"/>
                    <a:ext cx="114" cy="50"/>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5" name="Line 91"/>
                  <p:cNvSpPr>
                    <a:spLocks noChangeShapeType="1"/>
                  </p:cNvSpPr>
                  <p:nvPr/>
                </p:nvSpPr>
                <p:spPr bwMode="auto">
                  <a:xfrm flipH="1" flipV="1">
                    <a:off x="347" y="1956"/>
                    <a:ext cx="114"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6" name="Line 92"/>
                  <p:cNvSpPr>
                    <a:spLocks noChangeShapeType="1"/>
                  </p:cNvSpPr>
                  <p:nvPr/>
                </p:nvSpPr>
                <p:spPr bwMode="auto">
                  <a:xfrm flipH="1">
                    <a:off x="437" y="1974"/>
                    <a:ext cx="61" cy="3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7" name="Line 93"/>
                  <p:cNvSpPr>
                    <a:spLocks noChangeShapeType="1"/>
                  </p:cNvSpPr>
                  <p:nvPr/>
                </p:nvSpPr>
                <p:spPr bwMode="auto">
                  <a:xfrm flipH="1">
                    <a:off x="426" y="1970"/>
                    <a:ext cx="58" cy="32"/>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8" name="Line 94"/>
                  <p:cNvSpPr>
                    <a:spLocks noChangeShapeType="1"/>
                  </p:cNvSpPr>
                  <p:nvPr/>
                </p:nvSpPr>
                <p:spPr bwMode="auto">
                  <a:xfrm flipH="1">
                    <a:off x="401" y="1959"/>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9" name="Line 95"/>
                  <p:cNvSpPr>
                    <a:spLocks noChangeShapeType="1"/>
                  </p:cNvSpPr>
                  <p:nvPr/>
                </p:nvSpPr>
                <p:spPr bwMode="auto">
                  <a:xfrm flipH="1">
                    <a:off x="387" y="1954"/>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0" name="Line 96"/>
                  <p:cNvSpPr>
                    <a:spLocks noChangeShapeType="1"/>
                  </p:cNvSpPr>
                  <p:nvPr/>
                </p:nvSpPr>
                <p:spPr bwMode="auto">
                  <a:xfrm flipH="1">
                    <a:off x="375" y="1949"/>
                    <a:ext cx="56"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1" name="Line 97"/>
                  <p:cNvSpPr>
                    <a:spLocks noChangeShapeType="1"/>
                  </p:cNvSpPr>
                  <p:nvPr/>
                </p:nvSpPr>
                <p:spPr bwMode="auto">
                  <a:xfrm flipH="1">
                    <a:off x="364" y="1944"/>
                    <a:ext cx="53"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2" name="Line 98"/>
                  <p:cNvSpPr>
                    <a:spLocks noChangeShapeType="1"/>
                  </p:cNvSpPr>
                  <p:nvPr/>
                </p:nvSpPr>
                <p:spPr bwMode="auto">
                  <a:xfrm flipH="1">
                    <a:off x="352" y="1939"/>
                    <a:ext cx="55"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3" name="Line 99"/>
                  <p:cNvSpPr>
                    <a:spLocks noChangeShapeType="1"/>
                  </p:cNvSpPr>
                  <p:nvPr/>
                </p:nvSpPr>
                <p:spPr bwMode="auto">
                  <a:xfrm flipH="1">
                    <a:off x="494" y="1955"/>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4" name="Line 100"/>
                  <p:cNvSpPr>
                    <a:spLocks noChangeShapeType="1"/>
                  </p:cNvSpPr>
                  <p:nvPr/>
                </p:nvSpPr>
                <p:spPr bwMode="auto">
                  <a:xfrm flipH="1">
                    <a:off x="477" y="1949"/>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5" name="Line 101"/>
                  <p:cNvSpPr>
                    <a:spLocks noChangeShapeType="1"/>
                  </p:cNvSpPr>
                  <p:nvPr/>
                </p:nvSpPr>
                <p:spPr bwMode="auto">
                  <a:xfrm flipH="1">
                    <a:off x="460" y="1943"/>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6" name="Line 102"/>
                  <p:cNvSpPr>
                    <a:spLocks noChangeShapeType="1"/>
                  </p:cNvSpPr>
                  <p:nvPr/>
                </p:nvSpPr>
                <p:spPr bwMode="auto">
                  <a:xfrm flipH="1">
                    <a:off x="443" y="1937"/>
                    <a:ext cx="27"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7" name="Line 103"/>
                  <p:cNvSpPr>
                    <a:spLocks noChangeShapeType="1"/>
                  </p:cNvSpPr>
                  <p:nvPr/>
                </p:nvSpPr>
                <p:spPr bwMode="auto">
                  <a:xfrm flipH="1">
                    <a:off x="427" y="1931"/>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8" name="Line 104"/>
                  <p:cNvSpPr>
                    <a:spLocks noChangeShapeType="1"/>
                  </p:cNvSpPr>
                  <p:nvPr/>
                </p:nvSpPr>
                <p:spPr bwMode="auto">
                  <a:xfrm flipH="1">
                    <a:off x="408" y="1925"/>
                    <a:ext cx="24"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grpSp>
        <p:nvGrpSpPr>
          <p:cNvPr id="244752" name="Group 105"/>
          <p:cNvGrpSpPr/>
          <p:nvPr/>
        </p:nvGrpSpPr>
        <p:grpSpPr bwMode="auto">
          <a:xfrm>
            <a:off x="599495" y="4733925"/>
            <a:ext cx="94588" cy="171450"/>
            <a:chOff x="287" y="1872"/>
            <a:chExt cx="55" cy="108"/>
          </a:xfrm>
        </p:grpSpPr>
        <p:sp>
          <p:nvSpPr>
            <p:cNvPr id="245034" name="Freeform 106"/>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sp>
          <p:nvSpPr>
            <p:cNvPr id="245035" name="Freeform 107"/>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3" name="Group 108"/>
          <p:cNvGrpSpPr/>
          <p:nvPr/>
        </p:nvGrpSpPr>
        <p:grpSpPr bwMode="auto">
          <a:xfrm>
            <a:off x="584017" y="4635500"/>
            <a:ext cx="120385" cy="120650"/>
            <a:chOff x="278" y="1810"/>
            <a:chExt cx="70" cy="76"/>
          </a:xfrm>
        </p:grpSpPr>
        <p:sp>
          <p:nvSpPr>
            <p:cNvPr id="245019" name="Freeform 109"/>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5020" name="Freeform 110"/>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1" name="Freeform 111"/>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2" name="Freeform 112"/>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3" name="Freeform 113"/>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4" name="Freeform 114"/>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5" name="Freeform 115"/>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6" name="Freeform 116"/>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7" name="Freeform 117"/>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8" name="Freeform 118"/>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ln>
          </p:spPr>
          <p:txBody>
            <a:bodyPr/>
            <a:lstStyle/>
            <a:p>
              <a:endParaRPr lang="zh-CN" altLang="en-US" b="1">
                <a:solidFill>
                  <a:srgbClr val="000099"/>
                </a:solidFill>
              </a:endParaRPr>
            </a:p>
          </p:txBody>
        </p:sp>
        <p:sp>
          <p:nvSpPr>
            <p:cNvPr id="245029" name="Oval 119"/>
            <p:cNvSpPr>
              <a:spLocks noChangeArrowheads="1"/>
            </p:cNvSpPr>
            <p:nvPr/>
          </p:nvSpPr>
          <p:spPr bwMode="auto">
            <a:xfrm>
              <a:off x="304" y="1824"/>
              <a:ext cx="7" cy="9"/>
            </a:xfrm>
            <a:prstGeom prst="ellipse">
              <a:avLst/>
            </a:prstGeom>
            <a:solidFill>
              <a:srgbClr val="FFFFFF"/>
            </a:solidFill>
            <a:ln w="3175">
              <a:solidFill>
                <a:srgbClr val="000000"/>
              </a:solidFill>
              <a:round/>
            </a:ln>
          </p:spPr>
          <p:txBody>
            <a:bodyPr/>
            <a:lstStyle/>
            <a:p>
              <a:pPr eaLnBrk="1" hangingPunct="1"/>
              <a:endParaRPr lang="zh-CN" altLang="en-US" b="1">
                <a:solidFill>
                  <a:srgbClr val="000099"/>
                </a:solidFill>
              </a:endParaRPr>
            </a:p>
          </p:txBody>
        </p:sp>
        <p:sp>
          <p:nvSpPr>
            <p:cNvPr id="245030" name="Freeform 120"/>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5031" name="Freeform 121"/>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32" name="Freeform 122"/>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5033" name="Freeform 123"/>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4" name="Group 124"/>
          <p:cNvGrpSpPr/>
          <p:nvPr/>
        </p:nvGrpSpPr>
        <p:grpSpPr bwMode="auto">
          <a:xfrm>
            <a:off x="750836" y="5437188"/>
            <a:ext cx="239051" cy="112712"/>
            <a:chOff x="375" y="2315"/>
            <a:chExt cx="139" cy="71"/>
          </a:xfrm>
        </p:grpSpPr>
        <p:sp>
          <p:nvSpPr>
            <p:cNvPr id="245014" name="Freeform 125"/>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15" name="Freeform 126"/>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6" name="Freeform 127"/>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7" name="Freeform 128"/>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8" name="Freeform 129"/>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5" name="Group 130"/>
          <p:cNvGrpSpPr/>
          <p:nvPr/>
        </p:nvGrpSpPr>
        <p:grpSpPr bwMode="auto">
          <a:xfrm>
            <a:off x="755996" y="5240339"/>
            <a:ext cx="99748" cy="225425"/>
            <a:chOff x="378" y="2191"/>
            <a:chExt cx="58" cy="142"/>
          </a:xfrm>
        </p:grpSpPr>
        <p:sp>
          <p:nvSpPr>
            <p:cNvPr id="245012" name="Freeform 131"/>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13" name="Freeform 132"/>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6" name="Group 133"/>
          <p:cNvGrpSpPr/>
          <p:nvPr/>
        </p:nvGrpSpPr>
        <p:grpSpPr bwMode="auto">
          <a:xfrm>
            <a:off x="807589" y="5468938"/>
            <a:ext cx="242491" cy="112712"/>
            <a:chOff x="408" y="2335"/>
            <a:chExt cx="141" cy="71"/>
          </a:xfrm>
        </p:grpSpPr>
        <p:sp>
          <p:nvSpPr>
            <p:cNvPr id="245007" name="Freeform 134"/>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08" name="Freeform 135"/>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9" name="Freeform 136"/>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0" name="Freeform 137"/>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1" name="Freeform 138"/>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757" name="Oval 139"/>
          <p:cNvSpPr>
            <a:spLocks noChangeArrowheads="1"/>
          </p:cNvSpPr>
          <p:nvPr/>
        </p:nvSpPr>
        <p:spPr bwMode="auto">
          <a:xfrm>
            <a:off x="446433" y="5470525"/>
            <a:ext cx="287206" cy="103188"/>
          </a:xfrm>
          <a:prstGeom prst="ellipse">
            <a:avLst/>
          </a:prstGeom>
          <a:solidFill>
            <a:srgbClr val="606060"/>
          </a:solidFill>
          <a:ln w="3175">
            <a:solidFill>
              <a:srgbClr val="000000"/>
            </a:solidFill>
            <a:round/>
          </a:ln>
        </p:spPr>
        <p:txBody>
          <a:bodyPr/>
          <a:lstStyle/>
          <a:p>
            <a:pPr eaLnBrk="1" hangingPunct="1"/>
            <a:endParaRPr lang="zh-CN" altLang="en-US" b="1">
              <a:solidFill>
                <a:srgbClr val="000099"/>
              </a:solidFill>
            </a:endParaRPr>
          </a:p>
        </p:txBody>
      </p:sp>
      <p:sp>
        <p:nvSpPr>
          <p:cNvPr id="244758" name="Rectangle 140"/>
          <p:cNvSpPr>
            <a:spLocks noChangeArrowheads="1"/>
          </p:cNvSpPr>
          <p:nvPr/>
        </p:nvSpPr>
        <p:spPr bwMode="auto">
          <a:xfrm>
            <a:off x="551340" y="5265738"/>
            <a:ext cx="75671" cy="234950"/>
          </a:xfrm>
          <a:prstGeom prst="rect">
            <a:avLst/>
          </a:prstGeom>
          <a:solidFill>
            <a:srgbClr val="606060"/>
          </a:solidFill>
          <a:ln w="3175">
            <a:solidFill>
              <a:srgbClr val="000000"/>
            </a:solidFill>
            <a:miter lim="800000"/>
          </a:ln>
        </p:spPr>
        <p:txBody>
          <a:bodyPr/>
          <a:lstStyle/>
          <a:p>
            <a:pPr eaLnBrk="1" hangingPunct="1"/>
            <a:endParaRPr lang="zh-CN" altLang="en-US" b="1">
              <a:solidFill>
                <a:srgbClr val="000099"/>
              </a:solidFill>
            </a:endParaRPr>
          </a:p>
        </p:txBody>
      </p:sp>
      <p:grpSp>
        <p:nvGrpSpPr>
          <p:cNvPr id="244759" name="Group 141"/>
          <p:cNvGrpSpPr/>
          <p:nvPr/>
        </p:nvGrpSpPr>
        <p:grpSpPr bwMode="auto">
          <a:xfrm>
            <a:off x="418916" y="5176839"/>
            <a:ext cx="380075" cy="122237"/>
            <a:chOff x="182" y="2151"/>
            <a:chExt cx="221" cy="77"/>
          </a:xfrm>
        </p:grpSpPr>
        <p:sp>
          <p:nvSpPr>
            <p:cNvPr id="245005" name="Freeform 142"/>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5006" name="Freeform 143"/>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760" name="Freeform 144"/>
          <p:cNvSpPr/>
          <p:nvPr/>
        </p:nvSpPr>
        <p:spPr bwMode="auto">
          <a:xfrm>
            <a:off x="406879" y="5048250"/>
            <a:ext cx="519377" cy="444500"/>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4761" name="Freeform 145"/>
          <p:cNvSpPr/>
          <p:nvPr/>
        </p:nvSpPr>
        <p:spPr bwMode="auto">
          <a:xfrm>
            <a:off x="413757" y="5065714"/>
            <a:ext cx="507338" cy="420687"/>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2" name="Freeform 146"/>
          <p:cNvSpPr/>
          <p:nvPr/>
        </p:nvSpPr>
        <p:spPr bwMode="auto">
          <a:xfrm>
            <a:off x="484268" y="5135563"/>
            <a:ext cx="68792" cy="11112"/>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3" name="Freeform 147"/>
          <p:cNvSpPr/>
          <p:nvPr/>
        </p:nvSpPr>
        <p:spPr bwMode="auto">
          <a:xfrm>
            <a:off x="415477" y="5118100"/>
            <a:ext cx="42995" cy="12700"/>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4" name="Freeform 148"/>
          <p:cNvSpPr/>
          <p:nvPr/>
        </p:nvSpPr>
        <p:spPr bwMode="auto">
          <a:xfrm>
            <a:off x="590896" y="5108575"/>
            <a:ext cx="65352" cy="31750"/>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5" name="Freeform 149"/>
          <p:cNvSpPr/>
          <p:nvPr/>
        </p:nvSpPr>
        <p:spPr bwMode="auto">
          <a:xfrm>
            <a:off x="656248" y="5181601"/>
            <a:ext cx="209815" cy="47625"/>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6" name="Freeform 150"/>
          <p:cNvSpPr/>
          <p:nvPr/>
        </p:nvSpPr>
        <p:spPr bwMode="auto">
          <a:xfrm>
            <a:off x="446433" y="4530725"/>
            <a:ext cx="182298" cy="184150"/>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4767" name="Freeform 151"/>
          <p:cNvSpPr/>
          <p:nvPr/>
        </p:nvSpPr>
        <p:spPr bwMode="auto">
          <a:xfrm>
            <a:off x="608093" y="4641850"/>
            <a:ext cx="10319" cy="1588"/>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8" name="Freeform 152"/>
          <p:cNvSpPr/>
          <p:nvPr/>
        </p:nvSpPr>
        <p:spPr bwMode="auto">
          <a:xfrm>
            <a:off x="604654" y="4635500"/>
            <a:ext cx="3440" cy="6350"/>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9" name="Freeform 153"/>
          <p:cNvSpPr/>
          <p:nvPr/>
        </p:nvSpPr>
        <p:spPr bwMode="auto">
          <a:xfrm>
            <a:off x="596055" y="4613275"/>
            <a:ext cx="5159" cy="12700"/>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0" name="Freeform 154"/>
          <p:cNvSpPr/>
          <p:nvPr/>
        </p:nvSpPr>
        <p:spPr bwMode="auto">
          <a:xfrm>
            <a:off x="577137" y="4598988"/>
            <a:ext cx="20638" cy="11112"/>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1" name="Freeform 155"/>
          <p:cNvSpPr/>
          <p:nvPr/>
        </p:nvSpPr>
        <p:spPr bwMode="auto">
          <a:xfrm>
            <a:off x="568538" y="4581526"/>
            <a:ext cx="34396" cy="11113"/>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2" name="Freeform 156"/>
          <p:cNvSpPr/>
          <p:nvPr/>
        </p:nvSpPr>
        <p:spPr bwMode="auto">
          <a:xfrm>
            <a:off x="508346" y="4597401"/>
            <a:ext cx="18918" cy="34925"/>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3" name="Freeform 157"/>
          <p:cNvSpPr/>
          <p:nvPr/>
        </p:nvSpPr>
        <p:spPr bwMode="auto">
          <a:xfrm>
            <a:off x="501467" y="4591051"/>
            <a:ext cx="30956" cy="49213"/>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4" name="Freeform 158"/>
          <p:cNvSpPr/>
          <p:nvPr/>
        </p:nvSpPr>
        <p:spPr bwMode="auto">
          <a:xfrm>
            <a:off x="520385" y="4643439"/>
            <a:ext cx="29236" cy="41275"/>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5" name="Freeform 159"/>
          <p:cNvSpPr/>
          <p:nvPr/>
        </p:nvSpPr>
        <p:spPr bwMode="auto">
          <a:xfrm>
            <a:off x="432675" y="4505325"/>
            <a:ext cx="163381" cy="1524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6" name="Freeform 160"/>
          <p:cNvSpPr/>
          <p:nvPr/>
        </p:nvSpPr>
        <p:spPr bwMode="auto">
          <a:xfrm>
            <a:off x="436114" y="4506913"/>
            <a:ext cx="156502" cy="146050"/>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nvGrpSpPr>
          <p:cNvPr id="244777" name="Group 161"/>
          <p:cNvGrpSpPr/>
          <p:nvPr/>
        </p:nvGrpSpPr>
        <p:grpSpPr bwMode="auto">
          <a:xfrm>
            <a:off x="754276" y="4876800"/>
            <a:ext cx="170259" cy="96838"/>
            <a:chOff x="377" y="1962"/>
            <a:chExt cx="99" cy="61"/>
          </a:xfrm>
        </p:grpSpPr>
        <p:sp>
          <p:nvSpPr>
            <p:cNvPr id="244995" name="Freeform 162"/>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4996" name="Freeform 163"/>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7" name="Freeform 164"/>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8" name="Freeform 165"/>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9" name="Freeform 166"/>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0" name="Freeform 167"/>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1" name="Freeform 168"/>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2" name="Freeform 169"/>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3" name="Freeform 170"/>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4" name="Freeform 171"/>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78" name="Group 172"/>
          <p:cNvGrpSpPr/>
          <p:nvPr/>
        </p:nvGrpSpPr>
        <p:grpSpPr bwMode="auto">
          <a:xfrm>
            <a:off x="384520" y="4664076"/>
            <a:ext cx="393833" cy="415925"/>
            <a:chOff x="162" y="1828"/>
            <a:chExt cx="229" cy="262"/>
          </a:xfrm>
        </p:grpSpPr>
        <p:sp>
          <p:nvSpPr>
            <p:cNvPr id="244981" name="Freeform 173"/>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2" name="Freeform 174"/>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3" name="Freeform 175"/>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ln>
          </p:spPr>
          <p:txBody>
            <a:bodyPr/>
            <a:lstStyle/>
            <a:p>
              <a:endParaRPr lang="zh-CN" altLang="en-US" b="1">
                <a:solidFill>
                  <a:srgbClr val="000099"/>
                </a:solidFill>
              </a:endParaRPr>
            </a:p>
          </p:txBody>
        </p:sp>
        <p:sp>
          <p:nvSpPr>
            <p:cNvPr id="244984" name="Freeform 176"/>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sp>
          <p:nvSpPr>
            <p:cNvPr id="244985" name="Freeform 177"/>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6" name="Freeform 178"/>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7" name="Freeform 179"/>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8" name="Freeform 180"/>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9" name="Freeform 181"/>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0" name="Freeform 182"/>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1" name="Freeform 183"/>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2" name="Freeform 184"/>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3" name="Freeform 185"/>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4" name="Freeform 186"/>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79" name="Group 187"/>
          <p:cNvGrpSpPr/>
          <p:nvPr/>
        </p:nvGrpSpPr>
        <p:grpSpPr bwMode="auto">
          <a:xfrm>
            <a:off x="348405" y="4953001"/>
            <a:ext cx="211534" cy="265113"/>
            <a:chOff x="141" y="2010"/>
            <a:chExt cx="123" cy="167"/>
          </a:xfrm>
        </p:grpSpPr>
        <p:sp>
          <p:nvSpPr>
            <p:cNvPr id="244979" name="Freeform 188"/>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4980" name="Freeform 189"/>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780" name="Freeform 190"/>
          <p:cNvSpPr/>
          <p:nvPr/>
        </p:nvSpPr>
        <p:spPr bwMode="auto">
          <a:xfrm>
            <a:off x="867782" y="5254625"/>
            <a:ext cx="15478" cy="223838"/>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81" name="Freeform 191"/>
          <p:cNvSpPr/>
          <p:nvPr/>
        </p:nvSpPr>
        <p:spPr bwMode="auto">
          <a:xfrm>
            <a:off x="805870" y="5257801"/>
            <a:ext cx="37835" cy="11113"/>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82" name="Freeform 192"/>
          <p:cNvSpPr/>
          <p:nvPr/>
        </p:nvSpPr>
        <p:spPr bwMode="auto">
          <a:xfrm>
            <a:off x="645929" y="4676775"/>
            <a:ext cx="51594" cy="128588"/>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sp>
        <p:nvSpPr>
          <p:cNvPr id="244783" name="Text Box 193"/>
          <p:cNvSpPr txBox="1">
            <a:spLocks noChangeArrowheads="1"/>
          </p:cNvSpPr>
          <p:nvPr/>
        </p:nvSpPr>
        <p:spPr bwMode="auto">
          <a:xfrm>
            <a:off x="8526014" y="5392738"/>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用户代理</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784" name="Oval 194"/>
          <p:cNvSpPr>
            <a:spLocks noChangeArrowheads="1"/>
          </p:cNvSpPr>
          <p:nvPr/>
        </p:nvSpPr>
        <p:spPr bwMode="auto">
          <a:xfrm>
            <a:off x="931414" y="4783139"/>
            <a:ext cx="323321" cy="16192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244785" name="Group 195"/>
          <p:cNvGrpSpPr/>
          <p:nvPr/>
        </p:nvGrpSpPr>
        <p:grpSpPr bwMode="auto">
          <a:xfrm>
            <a:off x="8692834" y="4419600"/>
            <a:ext cx="768746" cy="495300"/>
            <a:chOff x="4993" y="1674"/>
            <a:chExt cx="447" cy="312"/>
          </a:xfrm>
        </p:grpSpPr>
        <p:grpSp>
          <p:nvGrpSpPr>
            <p:cNvPr id="244928" name="Group 196"/>
            <p:cNvGrpSpPr/>
            <p:nvPr/>
          </p:nvGrpSpPr>
          <p:grpSpPr bwMode="auto">
            <a:xfrm>
              <a:off x="4993" y="1674"/>
              <a:ext cx="345" cy="282"/>
              <a:chOff x="4993" y="1674"/>
              <a:chExt cx="345" cy="282"/>
            </a:xfrm>
          </p:grpSpPr>
          <p:grpSp>
            <p:nvGrpSpPr>
              <p:cNvPr id="244961" name="Group 197"/>
              <p:cNvGrpSpPr/>
              <p:nvPr/>
            </p:nvGrpSpPr>
            <p:grpSpPr bwMode="auto">
              <a:xfrm>
                <a:off x="4993" y="1674"/>
                <a:ext cx="345" cy="282"/>
                <a:chOff x="4993" y="1674"/>
                <a:chExt cx="345" cy="282"/>
              </a:xfrm>
            </p:grpSpPr>
            <p:grpSp>
              <p:nvGrpSpPr>
                <p:cNvPr id="244970" name="Group 198"/>
                <p:cNvGrpSpPr/>
                <p:nvPr/>
              </p:nvGrpSpPr>
              <p:grpSpPr bwMode="auto">
                <a:xfrm>
                  <a:off x="4993" y="1833"/>
                  <a:ext cx="345" cy="123"/>
                  <a:chOff x="4993" y="1833"/>
                  <a:chExt cx="345" cy="123"/>
                </a:xfrm>
              </p:grpSpPr>
              <p:sp>
                <p:nvSpPr>
                  <p:cNvPr id="244976" name="Freeform 199"/>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ln>
                </p:spPr>
                <p:txBody>
                  <a:bodyPr/>
                  <a:lstStyle/>
                  <a:p>
                    <a:endParaRPr lang="zh-CN" altLang="en-US" b="1">
                      <a:solidFill>
                        <a:srgbClr val="000099"/>
                      </a:solidFill>
                    </a:endParaRPr>
                  </a:p>
                </p:txBody>
              </p:sp>
              <p:sp>
                <p:nvSpPr>
                  <p:cNvPr id="244977" name="Freeform 200"/>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ln>
                </p:spPr>
                <p:txBody>
                  <a:bodyPr/>
                  <a:lstStyle/>
                  <a:p>
                    <a:endParaRPr lang="zh-CN" altLang="en-US" b="1">
                      <a:solidFill>
                        <a:srgbClr val="000099"/>
                      </a:solidFill>
                    </a:endParaRPr>
                  </a:p>
                </p:txBody>
              </p:sp>
              <p:sp>
                <p:nvSpPr>
                  <p:cNvPr id="244978" name="Freeform 201"/>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ln>
                </p:spPr>
                <p:txBody>
                  <a:bodyPr/>
                  <a:lstStyle/>
                  <a:p>
                    <a:endParaRPr lang="zh-CN" altLang="en-US" b="1">
                      <a:solidFill>
                        <a:srgbClr val="000099"/>
                      </a:solidFill>
                    </a:endParaRPr>
                  </a:p>
                </p:txBody>
              </p:sp>
            </p:grpSp>
            <p:sp>
              <p:nvSpPr>
                <p:cNvPr id="244971" name="Freeform 202"/>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grpSp>
              <p:nvGrpSpPr>
                <p:cNvPr id="244972" name="Group 203"/>
                <p:cNvGrpSpPr/>
                <p:nvPr/>
              </p:nvGrpSpPr>
              <p:grpSpPr bwMode="auto">
                <a:xfrm>
                  <a:off x="5020" y="1674"/>
                  <a:ext cx="279" cy="176"/>
                  <a:chOff x="5020" y="1674"/>
                  <a:chExt cx="279" cy="176"/>
                </a:xfrm>
              </p:grpSpPr>
              <p:sp>
                <p:nvSpPr>
                  <p:cNvPr id="244973" name="Freeform 204"/>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ln>
                </p:spPr>
                <p:txBody>
                  <a:bodyPr/>
                  <a:lstStyle/>
                  <a:p>
                    <a:endParaRPr lang="zh-CN" altLang="en-US" b="1">
                      <a:solidFill>
                        <a:srgbClr val="000099"/>
                      </a:solidFill>
                    </a:endParaRPr>
                  </a:p>
                </p:txBody>
              </p:sp>
              <p:sp>
                <p:nvSpPr>
                  <p:cNvPr id="244974" name="Freeform 205"/>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ln>
                </p:spPr>
                <p:txBody>
                  <a:bodyPr/>
                  <a:lstStyle/>
                  <a:p>
                    <a:endParaRPr lang="zh-CN" altLang="en-US" b="1">
                      <a:solidFill>
                        <a:srgbClr val="000099"/>
                      </a:solidFill>
                    </a:endParaRPr>
                  </a:p>
                </p:txBody>
              </p:sp>
              <p:sp>
                <p:nvSpPr>
                  <p:cNvPr id="244975" name="Freeform 206"/>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ln>
                </p:spPr>
                <p:txBody>
                  <a:bodyPr/>
                  <a:lstStyle/>
                  <a:p>
                    <a:endParaRPr lang="zh-CN" altLang="en-US" b="1">
                      <a:solidFill>
                        <a:srgbClr val="000099"/>
                      </a:solidFill>
                    </a:endParaRPr>
                  </a:p>
                </p:txBody>
              </p:sp>
            </p:grpSp>
          </p:grpSp>
          <p:grpSp>
            <p:nvGrpSpPr>
              <p:cNvPr id="244962" name="Group 207"/>
              <p:cNvGrpSpPr/>
              <p:nvPr/>
            </p:nvGrpSpPr>
            <p:grpSpPr bwMode="auto">
              <a:xfrm>
                <a:off x="5212" y="1846"/>
                <a:ext cx="113" cy="80"/>
                <a:chOff x="5212" y="1846"/>
                <a:chExt cx="113" cy="80"/>
              </a:xfrm>
            </p:grpSpPr>
            <p:sp>
              <p:nvSpPr>
                <p:cNvPr id="244963" name="Freeform 208"/>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sp>
              <p:nvSpPr>
                <p:cNvPr id="244964" name="Line 209"/>
                <p:cNvSpPr>
                  <a:spLocks noChangeShapeType="1"/>
                </p:cNvSpPr>
                <p:nvPr/>
              </p:nvSpPr>
              <p:spPr bwMode="auto">
                <a:xfrm flipV="1">
                  <a:off x="5286" y="1866"/>
                  <a:ext cx="30" cy="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5" name="Line 210"/>
                <p:cNvSpPr>
                  <a:spLocks noChangeShapeType="1"/>
                </p:cNvSpPr>
                <p:nvPr/>
              </p:nvSpPr>
              <p:spPr bwMode="auto">
                <a:xfrm flipH="1">
                  <a:off x="5231" y="1876"/>
                  <a:ext cx="39" cy="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6" name="Line 211"/>
                <p:cNvSpPr>
                  <a:spLocks noChangeShapeType="1"/>
                </p:cNvSpPr>
                <p:nvPr/>
              </p:nvSpPr>
              <p:spPr bwMode="auto">
                <a:xfrm>
                  <a:off x="5277" y="1856"/>
                  <a:ext cx="1" cy="52"/>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7" name="Line 212"/>
                <p:cNvSpPr>
                  <a:spLocks noChangeShapeType="1"/>
                </p:cNvSpPr>
                <p:nvPr/>
              </p:nvSpPr>
              <p:spPr bwMode="auto">
                <a:xfrm>
                  <a:off x="5223" y="1868"/>
                  <a:ext cx="1" cy="57"/>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8" name="Line 213"/>
                <p:cNvSpPr>
                  <a:spLocks noChangeShapeType="1"/>
                </p:cNvSpPr>
                <p:nvPr/>
              </p:nvSpPr>
              <p:spPr bwMode="auto">
                <a:xfrm flipH="1">
                  <a:off x="5223" y="1867"/>
                  <a:ext cx="102" cy="26"/>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9" name="Line 214"/>
                <p:cNvSpPr>
                  <a:spLocks noChangeShapeType="1"/>
                </p:cNvSpPr>
                <p:nvPr/>
              </p:nvSpPr>
              <p:spPr bwMode="auto">
                <a:xfrm flipV="1">
                  <a:off x="5223" y="1860"/>
                  <a:ext cx="102" cy="23"/>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244929" name="Group 215"/>
            <p:cNvGrpSpPr/>
            <p:nvPr/>
          </p:nvGrpSpPr>
          <p:grpSpPr bwMode="auto">
            <a:xfrm>
              <a:off x="5170" y="1848"/>
              <a:ext cx="270" cy="138"/>
              <a:chOff x="5170" y="1848"/>
              <a:chExt cx="270" cy="138"/>
            </a:xfrm>
          </p:grpSpPr>
          <p:grpSp>
            <p:nvGrpSpPr>
              <p:cNvPr id="244930" name="Group 216"/>
              <p:cNvGrpSpPr/>
              <p:nvPr/>
            </p:nvGrpSpPr>
            <p:grpSpPr bwMode="auto">
              <a:xfrm>
                <a:off x="5188" y="1923"/>
                <a:ext cx="43" cy="32"/>
                <a:chOff x="5188" y="1923"/>
                <a:chExt cx="43" cy="32"/>
              </a:xfrm>
            </p:grpSpPr>
            <p:sp>
              <p:nvSpPr>
                <p:cNvPr id="244959" name="Freeform 217"/>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sp>
              <p:nvSpPr>
                <p:cNvPr id="244960" name="Freeform 218"/>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grpSp>
          <p:grpSp>
            <p:nvGrpSpPr>
              <p:cNvPr id="244931" name="Group 219"/>
              <p:cNvGrpSpPr/>
              <p:nvPr/>
            </p:nvGrpSpPr>
            <p:grpSpPr bwMode="auto">
              <a:xfrm>
                <a:off x="5170" y="1848"/>
                <a:ext cx="270" cy="138"/>
                <a:chOff x="5170" y="1848"/>
                <a:chExt cx="270" cy="138"/>
              </a:xfrm>
            </p:grpSpPr>
            <p:sp>
              <p:nvSpPr>
                <p:cNvPr id="244932" name="Freeform 220"/>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ln>
              </p:spPr>
              <p:txBody>
                <a:bodyPr/>
                <a:lstStyle/>
                <a:p>
                  <a:endParaRPr lang="zh-CN" altLang="en-US" b="1">
                    <a:solidFill>
                      <a:srgbClr val="000099"/>
                    </a:solidFill>
                  </a:endParaRPr>
                </a:p>
              </p:txBody>
            </p:sp>
            <p:sp>
              <p:nvSpPr>
                <p:cNvPr id="244933" name="Freeform 221"/>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sp>
              <p:nvSpPr>
                <p:cNvPr id="244934" name="Freeform 222"/>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sp>
              <p:nvSpPr>
                <p:cNvPr id="244935" name="Freeform 223"/>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36" name="Freeform 224"/>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37" name="Freeform 225"/>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38" name="Line 226"/>
                <p:cNvSpPr>
                  <a:spLocks noChangeShapeType="1"/>
                </p:cNvSpPr>
                <p:nvPr/>
              </p:nvSpPr>
              <p:spPr bwMode="auto">
                <a:xfrm flipV="1">
                  <a:off x="5193" y="1855"/>
                  <a:ext cx="148" cy="51"/>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39" name="Line 227"/>
                <p:cNvSpPr>
                  <a:spLocks noChangeShapeType="1"/>
                </p:cNvSpPr>
                <p:nvPr/>
              </p:nvSpPr>
              <p:spPr bwMode="auto">
                <a:xfrm flipV="1">
                  <a:off x="5205" y="1858"/>
                  <a:ext cx="144" cy="52"/>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0" name="Line 228"/>
                <p:cNvSpPr>
                  <a:spLocks noChangeShapeType="1"/>
                </p:cNvSpPr>
                <p:nvPr/>
              </p:nvSpPr>
              <p:spPr bwMode="auto">
                <a:xfrm flipV="1">
                  <a:off x="5214" y="1862"/>
                  <a:ext cx="141" cy="54"/>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1" name="Line 229"/>
                <p:cNvSpPr>
                  <a:spLocks noChangeShapeType="1"/>
                </p:cNvSpPr>
                <p:nvPr/>
              </p:nvSpPr>
              <p:spPr bwMode="auto">
                <a:xfrm flipV="1">
                  <a:off x="5235" y="1871"/>
                  <a:ext cx="138" cy="55"/>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2" name="Line 230"/>
                <p:cNvSpPr>
                  <a:spLocks noChangeShapeType="1"/>
                </p:cNvSpPr>
                <p:nvPr/>
              </p:nvSpPr>
              <p:spPr bwMode="auto">
                <a:xfrm flipV="1">
                  <a:off x="5246" y="1877"/>
                  <a:ext cx="137" cy="5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3" name="Line 231"/>
                <p:cNvSpPr>
                  <a:spLocks noChangeShapeType="1"/>
                </p:cNvSpPr>
                <p:nvPr/>
              </p:nvSpPr>
              <p:spPr bwMode="auto">
                <a:xfrm flipV="1">
                  <a:off x="5261" y="1885"/>
                  <a:ext cx="124" cy="53"/>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4" name="Line 232"/>
                <p:cNvSpPr>
                  <a:spLocks noChangeShapeType="1"/>
                </p:cNvSpPr>
                <p:nvPr/>
              </p:nvSpPr>
              <p:spPr bwMode="auto">
                <a:xfrm flipV="1">
                  <a:off x="5274" y="1890"/>
                  <a:ext cx="119" cy="53"/>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5" name="Line 233"/>
                <p:cNvSpPr>
                  <a:spLocks noChangeShapeType="1"/>
                </p:cNvSpPr>
                <p:nvPr/>
              </p:nvSpPr>
              <p:spPr bwMode="auto">
                <a:xfrm flipV="1">
                  <a:off x="5291" y="1897"/>
                  <a:ext cx="114" cy="52"/>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6" name="Line 234"/>
                <p:cNvSpPr>
                  <a:spLocks noChangeShapeType="1"/>
                </p:cNvSpPr>
                <p:nvPr/>
              </p:nvSpPr>
              <p:spPr bwMode="auto">
                <a:xfrm>
                  <a:off x="5239" y="1915"/>
                  <a:ext cx="71" cy="40"/>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7" name="Line 235"/>
                <p:cNvSpPr>
                  <a:spLocks noChangeShapeType="1"/>
                </p:cNvSpPr>
                <p:nvPr/>
              </p:nvSpPr>
              <p:spPr bwMode="auto">
                <a:xfrm>
                  <a:off x="5255" y="1910"/>
                  <a:ext cx="69" cy="38"/>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8" name="Line 236"/>
                <p:cNvSpPr>
                  <a:spLocks noChangeShapeType="1"/>
                </p:cNvSpPr>
                <p:nvPr/>
              </p:nvSpPr>
              <p:spPr bwMode="auto">
                <a:xfrm>
                  <a:off x="5285" y="1897"/>
                  <a:ext cx="68" cy="37"/>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9" name="Line 237"/>
                <p:cNvSpPr>
                  <a:spLocks noChangeShapeType="1"/>
                </p:cNvSpPr>
                <p:nvPr/>
              </p:nvSpPr>
              <p:spPr bwMode="auto">
                <a:xfrm>
                  <a:off x="5301" y="1891"/>
                  <a:ext cx="67" cy="3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0" name="Line 238"/>
                <p:cNvSpPr>
                  <a:spLocks noChangeShapeType="1"/>
                </p:cNvSpPr>
                <p:nvPr/>
              </p:nvSpPr>
              <p:spPr bwMode="auto">
                <a:xfrm>
                  <a:off x="5318" y="1886"/>
                  <a:ext cx="65" cy="3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1" name="Line 239"/>
                <p:cNvSpPr>
                  <a:spLocks noChangeShapeType="1"/>
                </p:cNvSpPr>
                <p:nvPr/>
              </p:nvSpPr>
              <p:spPr bwMode="auto">
                <a:xfrm>
                  <a:off x="5332" y="1880"/>
                  <a:ext cx="64" cy="34"/>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2" name="Line 240"/>
                <p:cNvSpPr>
                  <a:spLocks noChangeShapeType="1"/>
                </p:cNvSpPr>
                <p:nvPr/>
              </p:nvSpPr>
              <p:spPr bwMode="auto">
                <a:xfrm>
                  <a:off x="5346" y="1874"/>
                  <a:ext cx="64" cy="33"/>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3" name="Line 241"/>
                <p:cNvSpPr>
                  <a:spLocks noChangeShapeType="1"/>
                </p:cNvSpPr>
                <p:nvPr/>
              </p:nvSpPr>
              <p:spPr bwMode="auto">
                <a:xfrm>
                  <a:off x="5209" y="1892"/>
                  <a:ext cx="35" cy="18"/>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4" name="Line 242"/>
                <p:cNvSpPr>
                  <a:spLocks noChangeShapeType="1"/>
                </p:cNvSpPr>
                <p:nvPr/>
              </p:nvSpPr>
              <p:spPr bwMode="auto">
                <a:xfrm>
                  <a:off x="5232" y="1885"/>
                  <a:ext cx="32" cy="17"/>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5" name="Line 243"/>
                <p:cNvSpPr>
                  <a:spLocks noChangeShapeType="1"/>
                </p:cNvSpPr>
                <p:nvPr/>
              </p:nvSpPr>
              <p:spPr bwMode="auto">
                <a:xfrm>
                  <a:off x="5252" y="1879"/>
                  <a:ext cx="33" cy="17"/>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6" name="Line 244"/>
                <p:cNvSpPr>
                  <a:spLocks noChangeShapeType="1"/>
                </p:cNvSpPr>
                <p:nvPr/>
              </p:nvSpPr>
              <p:spPr bwMode="auto">
                <a:xfrm>
                  <a:off x="5272" y="1872"/>
                  <a:ext cx="32" cy="15"/>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7" name="Line 245"/>
                <p:cNvSpPr>
                  <a:spLocks noChangeShapeType="1"/>
                </p:cNvSpPr>
                <p:nvPr/>
              </p:nvSpPr>
              <p:spPr bwMode="auto">
                <a:xfrm>
                  <a:off x="5292" y="1865"/>
                  <a:ext cx="31" cy="1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8" name="Line 246"/>
                <p:cNvSpPr>
                  <a:spLocks noChangeShapeType="1"/>
                </p:cNvSpPr>
                <p:nvPr/>
              </p:nvSpPr>
              <p:spPr bwMode="auto">
                <a:xfrm>
                  <a:off x="5315" y="1858"/>
                  <a:ext cx="29" cy="15"/>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nvGrpSpPr>
          <p:cNvPr id="244786" name="Group 247"/>
          <p:cNvGrpSpPr/>
          <p:nvPr/>
        </p:nvGrpSpPr>
        <p:grpSpPr bwMode="auto">
          <a:xfrm>
            <a:off x="9162337" y="4983163"/>
            <a:ext cx="598488" cy="246062"/>
            <a:chOff x="5266" y="2029"/>
            <a:chExt cx="348" cy="155"/>
          </a:xfrm>
        </p:grpSpPr>
        <p:sp>
          <p:nvSpPr>
            <p:cNvPr id="244922" name="Freeform 248"/>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sp>
          <p:nvSpPr>
            <p:cNvPr id="244923" name="Freeform 249"/>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4" name="Freeform 250"/>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5" name="Freeform 251"/>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6" name="Freeform 252"/>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7" name="Freeform 253"/>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87" name="Group 254"/>
          <p:cNvGrpSpPr/>
          <p:nvPr/>
        </p:nvGrpSpPr>
        <p:grpSpPr bwMode="auto">
          <a:xfrm>
            <a:off x="9263805" y="4714876"/>
            <a:ext cx="247650" cy="125413"/>
            <a:chOff x="5325" y="1860"/>
            <a:chExt cx="144" cy="79"/>
          </a:xfrm>
        </p:grpSpPr>
        <p:grpSp>
          <p:nvGrpSpPr>
            <p:cNvPr id="244909" name="Group 255"/>
            <p:cNvGrpSpPr/>
            <p:nvPr/>
          </p:nvGrpSpPr>
          <p:grpSpPr bwMode="auto">
            <a:xfrm>
              <a:off x="5325" y="1860"/>
              <a:ext cx="125" cy="63"/>
              <a:chOff x="5325" y="1860"/>
              <a:chExt cx="125" cy="63"/>
            </a:xfrm>
          </p:grpSpPr>
          <p:sp>
            <p:nvSpPr>
              <p:cNvPr id="244913" name="Freeform 256"/>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ln>
            </p:spPr>
            <p:txBody>
              <a:bodyPr/>
              <a:lstStyle/>
              <a:p>
                <a:endParaRPr lang="zh-CN" altLang="en-US" b="1">
                  <a:solidFill>
                    <a:srgbClr val="000099"/>
                  </a:solidFill>
                </a:endParaRPr>
              </a:p>
            </p:txBody>
          </p:sp>
          <p:sp>
            <p:nvSpPr>
              <p:cNvPr id="244914" name="Freeform 257"/>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5" name="Freeform 258"/>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6" name="Freeform 259"/>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7" name="Freeform 260"/>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8" name="Freeform 261"/>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9" name="Freeform 262"/>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0" name="Freeform 263"/>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1" name="Freeform 264"/>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910" name="Group 265"/>
            <p:cNvGrpSpPr/>
            <p:nvPr/>
          </p:nvGrpSpPr>
          <p:grpSpPr bwMode="auto">
            <a:xfrm>
              <a:off x="5432" y="1894"/>
              <a:ext cx="37" cy="45"/>
              <a:chOff x="5432" y="1894"/>
              <a:chExt cx="37" cy="45"/>
            </a:xfrm>
          </p:grpSpPr>
          <p:sp>
            <p:nvSpPr>
              <p:cNvPr id="244911" name="Freeform 266"/>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ln>
            </p:spPr>
            <p:txBody>
              <a:bodyPr/>
              <a:lstStyle/>
              <a:p>
                <a:endParaRPr lang="zh-CN" altLang="en-US" b="1">
                  <a:solidFill>
                    <a:srgbClr val="000099"/>
                  </a:solidFill>
                </a:endParaRPr>
              </a:p>
            </p:txBody>
          </p:sp>
          <p:sp>
            <p:nvSpPr>
              <p:cNvPr id="244912" name="Freeform 267"/>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244788" name="Freeform 268"/>
          <p:cNvSpPr/>
          <p:nvPr/>
        </p:nvSpPr>
        <p:spPr bwMode="auto">
          <a:xfrm>
            <a:off x="9504576" y="4383089"/>
            <a:ext cx="211534" cy="212725"/>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ln>
        </p:spPr>
        <p:txBody>
          <a:bodyPr/>
          <a:lstStyle/>
          <a:p>
            <a:endParaRPr lang="zh-CN" altLang="en-US" b="1">
              <a:solidFill>
                <a:srgbClr val="000099"/>
              </a:solidFill>
            </a:endParaRPr>
          </a:p>
        </p:txBody>
      </p:sp>
      <p:sp>
        <p:nvSpPr>
          <p:cNvPr id="244789" name="Freeform 269"/>
          <p:cNvSpPr/>
          <p:nvPr/>
        </p:nvSpPr>
        <p:spPr bwMode="auto">
          <a:xfrm>
            <a:off x="9514895" y="4511676"/>
            <a:ext cx="12038" cy="3175"/>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0" name="Freeform 270"/>
          <p:cNvSpPr/>
          <p:nvPr/>
        </p:nvSpPr>
        <p:spPr bwMode="auto">
          <a:xfrm>
            <a:off x="9526933" y="4503739"/>
            <a:ext cx="5160" cy="7937"/>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1" name="Freeform 271"/>
          <p:cNvSpPr/>
          <p:nvPr/>
        </p:nvSpPr>
        <p:spPr bwMode="auto">
          <a:xfrm>
            <a:off x="9535532" y="4476751"/>
            <a:ext cx="5159" cy="15875"/>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2" name="Freeform 272"/>
          <p:cNvSpPr/>
          <p:nvPr/>
        </p:nvSpPr>
        <p:spPr bwMode="auto">
          <a:xfrm>
            <a:off x="9538972" y="4460875"/>
            <a:ext cx="22357" cy="14288"/>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3" name="Freeform 273"/>
          <p:cNvSpPr/>
          <p:nvPr/>
        </p:nvSpPr>
        <p:spPr bwMode="auto">
          <a:xfrm>
            <a:off x="9533813" y="4441825"/>
            <a:ext cx="37835" cy="12700"/>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4" name="Freeform 274"/>
          <p:cNvSpPr/>
          <p:nvPr/>
        </p:nvSpPr>
        <p:spPr bwMode="auto">
          <a:xfrm>
            <a:off x="9619801" y="4459289"/>
            <a:ext cx="22358" cy="41275"/>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5" name="Freeform 275"/>
          <p:cNvSpPr/>
          <p:nvPr/>
        </p:nvSpPr>
        <p:spPr bwMode="auto">
          <a:xfrm>
            <a:off x="9614643" y="4452938"/>
            <a:ext cx="36115" cy="5556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6" name="Freeform 276"/>
          <p:cNvSpPr/>
          <p:nvPr/>
        </p:nvSpPr>
        <p:spPr bwMode="auto">
          <a:xfrm>
            <a:off x="9595725" y="4513264"/>
            <a:ext cx="32677" cy="47625"/>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7" name="Freeform 277"/>
          <p:cNvSpPr/>
          <p:nvPr/>
        </p:nvSpPr>
        <p:spPr bwMode="auto">
          <a:xfrm>
            <a:off x="9538972" y="4352926"/>
            <a:ext cx="192617" cy="17621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8" name="Freeform 278"/>
          <p:cNvSpPr/>
          <p:nvPr/>
        </p:nvSpPr>
        <p:spPr bwMode="auto">
          <a:xfrm>
            <a:off x="9544131" y="4354513"/>
            <a:ext cx="184018" cy="169862"/>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nvGrpSpPr>
          <p:cNvPr id="244799" name="Group 279"/>
          <p:cNvGrpSpPr/>
          <p:nvPr/>
        </p:nvGrpSpPr>
        <p:grpSpPr bwMode="auto">
          <a:xfrm>
            <a:off x="9158897" y="4784726"/>
            <a:ext cx="199496" cy="112713"/>
            <a:chOff x="5264" y="1904"/>
            <a:chExt cx="116" cy="71"/>
          </a:xfrm>
        </p:grpSpPr>
        <p:sp>
          <p:nvSpPr>
            <p:cNvPr id="244899" name="Freeform 280"/>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ln>
          </p:spPr>
          <p:txBody>
            <a:bodyPr/>
            <a:lstStyle/>
            <a:p>
              <a:endParaRPr lang="zh-CN" altLang="en-US" b="1">
                <a:solidFill>
                  <a:srgbClr val="000099"/>
                </a:solidFill>
              </a:endParaRPr>
            </a:p>
          </p:txBody>
        </p:sp>
        <p:sp>
          <p:nvSpPr>
            <p:cNvPr id="244900" name="Freeform 281"/>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1" name="Freeform 282"/>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2" name="Freeform 283"/>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3" name="Freeform 284"/>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4" name="Freeform 285"/>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5" name="Freeform 286"/>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6" name="Freeform 287"/>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7" name="Freeform 288"/>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8" name="Freeform 289"/>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800" name="Group 290"/>
          <p:cNvGrpSpPr/>
          <p:nvPr/>
        </p:nvGrpSpPr>
        <p:grpSpPr bwMode="auto">
          <a:xfrm>
            <a:off x="9327437" y="4537075"/>
            <a:ext cx="460904" cy="484188"/>
            <a:chOff x="5362" y="1748"/>
            <a:chExt cx="268" cy="305"/>
          </a:xfrm>
        </p:grpSpPr>
        <p:sp>
          <p:nvSpPr>
            <p:cNvPr id="244885" name="Freeform 291"/>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86" name="Freeform 292"/>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87" name="Freeform 293"/>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ln>
          </p:spPr>
          <p:txBody>
            <a:bodyPr/>
            <a:lstStyle/>
            <a:p>
              <a:endParaRPr lang="zh-CN" altLang="en-US" b="1">
                <a:solidFill>
                  <a:srgbClr val="000099"/>
                </a:solidFill>
              </a:endParaRPr>
            </a:p>
          </p:txBody>
        </p:sp>
        <p:sp>
          <p:nvSpPr>
            <p:cNvPr id="244888" name="Freeform 294"/>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ln>
          </p:spPr>
          <p:txBody>
            <a:bodyPr/>
            <a:lstStyle/>
            <a:p>
              <a:endParaRPr lang="zh-CN" altLang="en-US" b="1">
                <a:solidFill>
                  <a:srgbClr val="000099"/>
                </a:solidFill>
              </a:endParaRPr>
            </a:p>
          </p:txBody>
        </p:sp>
        <p:sp>
          <p:nvSpPr>
            <p:cNvPr id="244889" name="Freeform 295"/>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0" name="Freeform 296"/>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1" name="Freeform 297"/>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2" name="Freeform 298"/>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3" name="Freeform 299"/>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4" name="Freeform 300"/>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5" name="Freeform 301"/>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6" name="Freeform 302"/>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7" name="Freeform 303"/>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8" name="Freeform 304"/>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801" name="Group 305"/>
          <p:cNvGrpSpPr/>
          <p:nvPr/>
        </p:nvGrpSpPr>
        <p:grpSpPr bwMode="auto">
          <a:xfrm>
            <a:off x="9583686" y="4873626"/>
            <a:ext cx="247650" cy="307975"/>
            <a:chOff x="5511" y="1960"/>
            <a:chExt cx="144" cy="194"/>
          </a:xfrm>
        </p:grpSpPr>
        <p:sp>
          <p:nvSpPr>
            <p:cNvPr id="244883" name="Freeform 306"/>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sp>
          <p:nvSpPr>
            <p:cNvPr id="244884" name="Freeform 307"/>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802" name="Oval 308"/>
          <p:cNvSpPr>
            <a:spLocks noChangeArrowheads="1"/>
          </p:cNvSpPr>
          <p:nvPr/>
        </p:nvSpPr>
        <p:spPr bwMode="auto">
          <a:xfrm>
            <a:off x="8780543" y="4624389"/>
            <a:ext cx="323321" cy="16192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03" name="Oval 309"/>
          <p:cNvSpPr>
            <a:spLocks noChangeArrowheads="1"/>
          </p:cNvSpPr>
          <p:nvPr/>
        </p:nvSpPr>
        <p:spPr bwMode="auto">
          <a:xfrm>
            <a:off x="2004564" y="4352925"/>
            <a:ext cx="1405070" cy="1296988"/>
          </a:xfrm>
          <a:prstGeom prst="ellipse">
            <a:avLst/>
          </a:prstGeom>
          <a:solidFill>
            <a:srgbClr val="66FF66"/>
          </a:solidFill>
          <a:ln w="19050">
            <a:solidFill>
              <a:schemeClr val="folHlink"/>
            </a:solidFill>
            <a:rou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244804" name="Group 310"/>
          <p:cNvGrpSpPr/>
          <p:nvPr/>
        </p:nvGrpSpPr>
        <p:grpSpPr bwMode="auto">
          <a:xfrm>
            <a:off x="2419034" y="4462463"/>
            <a:ext cx="495300" cy="457200"/>
            <a:chOff x="2351" y="2975"/>
            <a:chExt cx="481" cy="433"/>
          </a:xfrm>
        </p:grpSpPr>
        <p:sp>
          <p:nvSpPr>
            <p:cNvPr id="244874" name="Rectangle 311"/>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75" name="Line 312"/>
            <p:cNvSpPr>
              <a:spLocks noChangeShapeType="1"/>
            </p:cNvSpPr>
            <p:nvPr/>
          </p:nvSpPr>
          <p:spPr bwMode="auto">
            <a:xfrm rot="10800000">
              <a:off x="2351" y="332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6" name="Line 313"/>
            <p:cNvSpPr>
              <a:spLocks noChangeShapeType="1"/>
            </p:cNvSpPr>
            <p:nvPr/>
          </p:nvSpPr>
          <p:spPr bwMode="auto">
            <a:xfrm rot="10800000">
              <a:off x="2351" y="3234"/>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7" name="Line 314"/>
            <p:cNvSpPr>
              <a:spLocks noChangeShapeType="1"/>
            </p:cNvSpPr>
            <p:nvPr/>
          </p:nvSpPr>
          <p:spPr bwMode="auto">
            <a:xfrm rot="10800000">
              <a:off x="2351" y="3148"/>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8" name="Line 315"/>
            <p:cNvSpPr>
              <a:spLocks noChangeShapeType="1"/>
            </p:cNvSpPr>
            <p:nvPr/>
          </p:nvSpPr>
          <p:spPr bwMode="auto">
            <a:xfrm rot="10800000">
              <a:off x="2351" y="306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9" name="Line 316"/>
            <p:cNvSpPr>
              <a:spLocks noChangeShapeType="1"/>
            </p:cNvSpPr>
            <p:nvPr/>
          </p:nvSpPr>
          <p:spPr bwMode="auto">
            <a:xfrm rot="5400000">
              <a:off x="2519"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0" name="Line 317"/>
            <p:cNvSpPr>
              <a:spLocks noChangeShapeType="1"/>
            </p:cNvSpPr>
            <p:nvPr/>
          </p:nvSpPr>
          <p:spPr bwMode="auto">
            <a:xfrm rot="5400000">
              <a:off x="2423"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1" name="Line 318"/>
            <p:cNvSpPr>
              <a:spLocks noChangeShapeType="1"/>
            </p:cNvSpPr>
            <p:nvPr/>
          </p:nvSpPr>
          <p:spPr bwMode="auto">
            <a:xfrm rot="5400000">
              <a:off x="2327"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2" name="Line 319"/>
            <p:cNvSpPr>
              <a:spLocks noChangeShapeType="1"/>
            </p:cNvSpPr>
            <p:nvPr/>
          </p:nvSpPr>
          <p:spPr bwMode="auto">
            <a:xfrm rot="5400000">
              <a:off x="2231"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05" name="Group 320"/>
          <p:cNvGrpSpPr/>
          <p:nvPr/>
        </p:nvGrpSpPr>
        <p:grpSpPr bwMode="auto">
          <a:xfrm>
            <a:off x="2305528" y="5014913"/>
            <a:ext cx="791104" cy="457200"/>
            <a:chOff x="1296" y="768"/>
            <a:chExt cx="556" cy="336"/>
          </a:xfrm>
        </p:grpSpPr>
        <p:sp>
          <p:nvSpPr>
            <p:cNvPr id="244851" name="Rectangle 321"/>
            <p:cNvSpPr>
              <a:spLocks noChangeArrowheads="1"/>
            </p:cNvSpPr>
            <p:nvPr/>
          </p:nvSpPr>
          <p:spPr bwMode="auto">
            <a:xfrm>
              <a:off x="1296" y="768"/>
              <a:ext cx="556" cy="336"/>
            </a:xfrm>
            <a:prstGeom prst="rect">
              <a:avLst/>
            </a:prstGeom>
            <a:solidFill>
              <a:srgbClr val="FFFF99"/>
            </a:solidFill>
            <a:ln w="12700">
              <a:solidFill>
                <a:schemeClr val="tx1"/>
              </a:solidFill>
              <a:miter lim="800000"/>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panose="020B0604020202020204" pitchFamily="34" charset="0"/>
                <a:ea typeface="黑体" panose="02010609060101010101" pitchFamily="2" charset="-122"/>
              </a:endParaRPr>
            </a:p>
          </p:txBody>
        </p:sp>
        <p:grpSp>
          <p:nvGrpSpPr>
            <p:cNvPr id="244852" name="Group 322"/>
            <p:cNvGrpSpPr/>
            <p:nvPr/>
          </p:nvGrpSpPr>
          <p:grpSpPr bwMode="auto">
            <a:xfrm>
              <a:off x="1367" y="829"/>
              <a:ext cx="393" cy="214"/>
              <a:chOff x="2928" y="3744"/>
              <a:chExt cx="528" cy="336"/>
            </a:xfrm>
          </p:grpSpPr>
          <p:grpSp>
            <p:nvGrpSpPr>
              <p:cNvPr id="244853" name="Group 323"/>
              <p:cNvGrpSpPr/>
              <p:nvPr/>
            </p:nvGrpSpPr>
            <p:grpSpPr bwMode="auto">
              <a:xfrm>
                <a:off x="3024" y="3744"/>
                <a:ext cx="432" cy="240"/>
                <a:chOff x="2736" y="3648"/>
                <a:chExt cx="432" cy="240"/>
              </a:xfrm>
            </p:grpSpPr>
            <p:grpSp>
              <p:nvGrpSpPr>
                <p:cNvPr id="244868" name="Group 324"/>
                <p:cNvGrpSpPr/>
                <p:nvPr/>
              </p:nvGrpSpPr>
              <p:grpSpPr bwMode="auto">
                <a:xfrm>
                  <a:off x="2736" y="3648"/>
                  <a:ext cx="432" cy="240"/>
                  <a:chOff x="2592" y="3504"/>
                  <a:chExt cx="576" cy="384"/>
                </a:xfrm>
              </p:grpSpPr>
              <p:sp>
                <p:nvSpPr>
                  <p:cNvPr id="244870" name="Rectangle 325"/>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71" name="Freeform 326"/>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2" name="Line 327"/>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3" name="Line 328"/>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69" name="Line 329"/>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54" name="Group 330"/>
              <p:cNvGrpSpPr/>
              <p:nvPr/>
            </p:nvGrpSpPr>
            <p:grpSpPr bwMode="auto">
              <a:xfrm>
                <a:off x="2976" y="3792"/>
                <a:ext cx="432" cy="240"/>
                <a:chOff x="2736" y="3648"/>
                <a:chExt cx="432" cy="240"/>
              </a:xfrm>
            </p:grpSpPr>
            <p:grpSp>
              <p:nvGrpSpPr>
                <p:cNvPr id="244862" name="Group 331"/>
                <p:cNvGrpSpPr/>
                <p:nvPr/>
              </p:nvGrpSpPr>
              <p:grpSpPr bwMode="auto">
                <a:xfrm>
                  <a:off x="2736" y="3648"/>
                  <a:ext cx="432" cy="240"/>
                  <a:chOff x="2592" y="3504"/>
                  <a:chExt cx="576" cy="384"/>
                </a:xfrm>
              </p:grpSpPr>
              <p:sp>
                <p:nvSpPr>
                  <p:cNvPr id="244864" name="Rectangle 332"/>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65" name="Freeform 333"/>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6" name="Line 334"/>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7" name="Line 335"/>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63" name="Line 336"/>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55" name="Group 337"/>
              <p:cNvGrpSpPr/>
              <p:nvPr/>
            </p:nvGrpSpPr>
            <p:grpSpPr bwMode="auto">
              <a:xfrm>
                <a:off x="2928" y="3840"/>
                <a:ext cx="432" cy="240"/>
                <a:chOff x="2736" y="3648"/>
                <a:chExt cx="432" cy="240"/>
              </a:xfrm>
            </p:grpSpPr>
            <p:grpSp>
              <p:nvGrpSpPr>
                <p:cNvPr id="244856" name="Group 338"/>
                <p:cNvGrpSpPr/>
                <p:nvPr/>
              </p:nvGrpSpPr>
              <p:grpSpPr bwMode="auto">
                <a:xfrm>
                  <a:off x="2736" y="3648"/>
                  <a:ext cx="432" cy="240"/>
                  <a:chOff x="2592" y="3504"/>
                  <a:chExt cx="576" cy="384"/>
                </a:xfrm>
              </p:grpSpPr>
              <p:sp>
                <p:nvSpPr>
                  <p:cNvPr id="244858" name="Rectangle 339"/>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59" name="Freeform 340"/>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0" name="Line 341"/>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1" name="Line 342"/>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57" name="Line 343"/>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sp>
        <p:nvSpPr>
          <p:cNvPr id="244806" name="Freeform 344"/>
          <p:cNvSpPr/>
          <p:nvPr/>
        </p:nvSpPr>
        <p:spPr bwMode="auto">
          <a:xfrm>
            <a:off x="1075876" y="4694239"/>
            <a:ext cx="1341438" cy="496887"/>
          </a:xfrm>
          <a:custGeom>
            <a:avLst/>
            <a:gdLst>
              <a:gd name="T0" fmla="*/ 0 w 780"/>
              <a:gd name="T1" fmla="*/ 2147483646 h 313"/>
              <a:gd name="T2" fmla="*/ 2147483646 w 780"/>
              <a:gd name="T3" fmla="*/ 2147483646 h 313"/>
              <a:gd name="T4" fmla="*/ 2147483646 w 780"/>
              <a:gd name="T5" fmla="*/ 2147483646 h 313"/>
              <a:gd name="T6" fmla="*/ 2147483646 w 780"/>
              <a:gd name="T7" fmla="*/ 2147483646 h 313"/>
              <a:gd name="T8" fmla="*/ 2147483646 w 780"/>
              <a:gd name="T9" fmla="*/ 2147483646 h 313"/>
              <a:gd name="T10" fmla="*/ 2147483646 w 780"/>
              <a:gd name="T11" fmla="*/ 2147483646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7" name="Freeform 345"/>
          <p:cNvSpPr/>
          <p:nvPr/>
        </p:nvSpPr>
        <p:spPr bwMode="auto">
          <a:xfrm>
            <a:off x="2747514" y="4092575"/>
            <a:ext cx="4834335" cy="1022350"/>
          </a:xfrm>
          <a:custGeom>
            <a:avLst/>
            <a:gdLst>
              <a:gd name="T0" fmla="*/ 0 w 2811"/>
              <a:gd name="T1" fmla="*/ 2147483646 h 644"/>
              <a:gd name="T2" fmla="*/ 2147483646 w 2811"/>
              <a:gd name="T3" fmla="*/ 2147483646 h 644"/>
              <a:gd name="T4" fmla="*/ 2147483646 w 2811"/>
              <a:gd name="T5" fmla="*/ 2147483646 h 644"/>
              <a:gd name="T6" fmla="*/ 2147483646 w 2811"/>
              <a:gd name="T7" fmla="*/ 2147483646 h 644"/>
              <a:gd name="T8" fmla="*/ 2147483646 w 2811"/>
              <a:gd name="T9" fmla="*/ 2147483646 h 644"/>
              <a:gd name="T10" fmla="*/ 2147483646 w 2811"/>
              <a:gd name="T11" fmla="*/ 2147483646 h 644"/>
              <a:gd name="T12" fmla="*/ 2147483646 w 2811"/>
              <a:gd name="T13" fmla="*/ 2147483646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8" name="Freeform 346"/>
          <p:cNvSpPr/>
          <p:nvPr/>
        </p:nvSpPr>
        <p:spPr bwMode="auto">
          <a:xfrm>
            <a:off x="7688476" y="4386263"/>
            <a:ext cx="1250288" cy="347662"/>
          </a:xfrm>
          <a:custGeom>
            <a:avLst/>
            <a:gdLst>
              <a:gd name="T0" fmla="*/ 0 w 727"/>
              <a:gd name="T1" fmla="*/ 2147483646 h 219"/>
              <a:gd name="T2" fmla="*/ 2147483646 w 727"/>
              <a:gd name="T3" fmla="*/ 2147483646 h 219"/>
              <a:gd name="T4" fmla="*/ 2147483646 w 727"/>
              <a:gd name="T5" fmla="*/ 2147483646 h 219"/>
              <a:gd name="T6" fmla="*/ 2147483646 w 727"/>
              <a:gd name="T7" fmla="*/ 2147483646 h 219"/>
              <a:gd name="T8" fmla="*/ 2147483646 w 727"/>
              <a:gd name="T9" fmla="*/ 2147483646 h 219"/>
              <a:gd name="T10" fmla="*/ 2147483646 w 727"/>
              <a:gd name="T11" fmla="*/ 2147483646 h 219"/>
              <a:gd name="T12" fmla="*/ 2147483646 w 727"/>
              <a:gd name="T13" fmla="*/ 2147483646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9" name="Text Box 347"/>
          <p:cNvSpPr txBox="1">
            <a:spLocks noChangeArrowheads="1"/>
          </p:cNvSpPr>
          <p:nvPr/>
        </p:nvSpPr>
        <p:spPr bwMode="auto">
          <a:xfrm>
            <a:off x="4907572" y="3771901"/>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SMTP</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244810" name="Text Box 348"/>
          <p:cNvSpPr txBox="1">
            <a:spLocks noChangeArrowheads="1"/>
          </p:cNvSpPr>
          <p:nvPr/>
        </p:nvSpPr>
        <p:spPr bwMode="auto">
          <a:xfrm>
            <a:off x="1289130" y="4340226"/>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SMTP</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244811" name="Text Box 349"/>
          <p:cNvSpPr txBox="1">
            <a:spLocks noChangeArrowheads="1"/>
          </p:cNvSpPr>
          <p:nvPr/>
        </p:nvSpPr>
        <p:spPr bwMode="auto">
          <a:xfrm>
            <a:off x="7870774" y="4057651"/>
            <a:ext cx="8002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POP3</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244812" name="Text Box 350"/>
          <p:cNvSpPr txBox="1">
            <a:spLocks noChangeArrowheads="1"/>
          </p:cNvSpPr>
          <p:nvPr/>
        </p:nvSpPr>
        <p:spPr bwMode="auto">
          <a:xfrm>
            <a:off x="2830064" y="5956300"/>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发送方</a:t>
            </a:r>
            <a:endParaRPr kumimoji="1" lang="zh-CN" altLang="en-US" sz="1800" b="1">
              <a:solidFill>
                <a:srgbClr val="000099"/>
              </a:solidFill>
              <a:latin typeface="Arial" panose="020B0604020202020204" pitchFamily="34" charset="0"/>
              <a:ea typeface="黑体" panose="02010609060101010101" pitchFamily="2" charset="-122"/>
            </a:endParaRPr>
          </a:p>
          <a:p>
            <a:pPr eaLnBrk="1" hangingPunct="1"/>
            <a:r>
              <a:rPr kumimoji="1" lang="zh-CN" altLang="en-US" sz="1800" b="1">
                <a:solidFill>
                  <a:srgbClr val="000099"/>
                </a:solidFill>
                <a:latin typeface="Arial" panose="020B0604020202020204" pitchFamily="34" charset="0"/>
                <a:ea typeface="黑体" panose="02010609060101010101" pitchFamily="2" charset="-122"/>
              </a:rPr>
              <a:t>邮件服务器</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813" name="Line 351"/>
          <p:cNvSpPr>
            <a:spLocks noChangeShapeType="1"/>
          </p:cNvSpPr>
          <p:nvPr/>
        </p:nvSpPr>
        <p:spPr bwMode="auto">
          <a:xfrm flipV="1">
            <a:off x="8856214" y="4678363"/>
            <a:ext cx="128985" cy="741362"/>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4" name="Line 352"/>
          <p:cNvSpPr>
            <a:spLocks noChangeShapeType="1"/>
          </p:cNvSpPr>
          <p:nvPr/>
        </p:nvSpPr>
        <p:spPr bwMode="auto">
          <a:xfrm flipV="1">
            <a:off x="1922014" y="5343525"/>
            <a:ext cx="660400" cy="609600"/>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5" name="Line 353"/>
          <p:cNvSpPr>
            <a:spLocks noChangeShapeType="1"/>
          </p:cNvSpPr>
          <p:nvPr/>
        </p:nvSpPr>
        <p:spPr bwMode="auto">
          <a:xfrm flipV="1">
            <a:off x="903897" y="4868863"/>
            <a:ext cx="187458" cy="87630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6" name="Text Box 354"/>
          <p:cNvSpPr txBox="1">
            <a:spLocks noChangeArrowheads="1"/>
          </p:cNvSpPr>
          <p:nvPr/>
        </p:nvSpPr>
        <p:spPr bwMode="auto">
          <a:xfrm>
            <a:off x="353564" y="5688013"/>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用户代理</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817" name="Text Box 355"/>
          <p:cNvSpPr txBox="1">
            <a:spLocks noChangeArrowheads="1"/>
          </p:cNvSpPr>
          <p:nvPr/>
        </p:nvSpPr>
        <p:spPr bwMode="auto">
          <a:xfrm>
            <a:off x="6544814" y="3640138"/>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用户邮箱</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818" name="Line 356"/>
          <p:cNvSpPr>
            <a:spLocks noChangeShapeType="1"/>
          </p:cNvSpPr>
          <p:nvPr/>
        </p:nvSpPr>
        <p:spPr bwMode="auto">
          <a:xfrm rot="10800000" flipH="1" flipV="1">
            <a:off x="7122664" y="3971925"/>
            <a:ext cx="476383" cy="44450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9" name="Text Box 357"/>
          <p:cNvSpPr txBox="1">
            <a:spLocks noChangeArrowheads="1"/>
          </p:cNvSpPr>
          <p:nvPr/>
        </p:nvSpPr>
        <p:spPr bwMode="auto">
          <a:xfrm>
            <a:off x="9069468" y="394493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接收方</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820" name="Line 358"/>
          <p:cNvSpPr>
            <a:spLocks noChangeShapeType="1"/>
          </p:cNvSpPr>
          <p:nvPr/>
        </p:nvSpPr>
        <p:spPr bwMode="auto">
          <a:xfrm flipV="1">
            <a:off x="6709915" y="5605464"/>
            <a:ext cx="644922" cy="40322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21" name="Line 359"/>
          <p:cNvSpPr>
            <a:spLocks noChangeShapeType="1"/>
          </p:cNvSpPr>
          <p:nvPr/>
        </p:nvSpPr>
        <p:spPr bwMode="auto">
          <a:xfrm flipH="1" flipV="1">
            <a:off x="2912614" y="5648326"/>
            <a:ext cx="474663" cy="3714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22" name="Text Box 375"/>
          <p:cNvSpPr txBox="1">
            <a:spLocks noChangeArrowheads="1"/>
          </p:cNvSpPr>
          <p:nvPr/>
        </p:nvSpPr>
        <p:spPr bwMode="auto">
          <a:xfrm>
            <a:off x="1106833" y="4071938"/>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a:t>
            </a:r>
            <a:r>
              <a:rPr kumimoji="1" lang="zh-CN" altLang="en-US" sz="1800" b="1">
                <a:solidFill>
                  <a:srgbClr val="000099"/>
                </a:solidFill>
                <a:latin typeface="Arial" panose="020B0604020202020204" pitchFamily="34" charset="0"/>
                <a:ea typeface="黑体" panose="02010609060101010101" pitchFamily="2" charset="-122"/>
              </a:rPr>
              <a:t>发送邮件</a:t>
            </a:r>
            <a:r>
              <a:rPr kumimoji="1" lang="en-US" altLang="zh-CN" sz="1800" b="1">
                <a:solidFill>
                  <a:srgbClr val="000099"/>
                </a:solidFill>
                <a:latin typeface="Arial" panose="020B0604020202020204" pitchFamily="34" charset="0"/>
                <a:ea typeface="黑体" panose="02010609060101010101" pitchFamily="2" charset="-122"/>
              </a:rPr>
              <a:t>)</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244823" name="Text Box 376"/>
          <p:cNvSpPr txBox="1">
            <a:spLocks noChangeArrowheads="1"/>
          </p:cNvSpPr>
          <p:nvPr/>
        </p:nvSpPr>
        <p:spPr bwMode="auto">
          <a:xfrm>
            <a:off x="4529218" y="3455988"/>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（发送邮件）</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824" name="Text Box 379"/>
          <p:cNvSpPr txBox="1">
            <a:spLocks noChangeArrowheads="1"/>
          </p:cNvSpPr>
          <p:nvPr/>
        </p:nvSpPr>
        <p:spPr bwMode="auto">
          <a:xfrm>
            <a:off x="7676437" y="3748088"/>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a:t>
            </a:r>
            <a:r>
              <a:rPr kumimoji="1" lang="zh-CN" altLang="en-US" sz="1800" b="1">
                <a:solidFill>
                  <a:srgbClr val="000099"/>
                </a:solidFill>
                <a:latin typeface="Arial" panose="020B0604020202020204" pitchFamily="34" charset="0"/>
                <a:ea typeface="黑体" panose="02010609060101010101" pitchFamily="2" charset="-122"/>
              </a:rPr>
              <a:t>读取邮件</a:t>
            </a:r>
            <a:r>
              <a:rPr kumimoji="1" lang="en-US" altLang="zh-CN" sz="1800" b="1">
                <a:solidFill>
                  <a:srgbClr val="000099"/>
                </a:solidFill>
                <a:latin typeface="Arial" panose="020B0604020202020204" pitchFamily="34" charset="0"/>
                <a:ea typeface="黑体" panose="02010609060101010101" pitchFamily="2" charset="-122"/>
              </a:rPr>
              <a:t>)</a:t>
            </a:r>
            <a:endParaRPr kumimoji="1" lang="en-US" altLang="zh-CN" sz="1800" b="1">
              <a:solidFill>
                <a:srgbClr val="000099"/>
              </a:solidFill>
              <a:latin typeface="Arial" panose="020B0604020202020204" pitchFamily="34" charset="0"/>
              <a:ea typeface="黑体" panose="02010609060101010101" pitchFamily="2" charset="-122"/>
            </a:endParaRPr>
          </a:p>
        </p:txBody>
      </p:sp>
      <p:sp>
        <p:nvSpPr>
          <p:cNvPr id="244825" name="Text Box 384"/>
          <p:cNvSpPr txBox="1">
            <a:spLocks noChangeArrowheads="1"/>
          </p:cNvSpPr>
          <p:nvPr/>
        </p:nvSpPr>
        <p:spPr bwMode="auto">
          <a:xfrm>
            <a:off x="4788907" y="4806951"/>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互联网</a:t>
            </a:r>
            <a:endParaRPr kumimoji="1" lang="zh-CN" altLang="en-US" sz="1800" b="1">
              <a:solidFill>
                <a:srgbClr val="000099"/>
              </a:solidFill>
              <a:latin typeface="Arial" panose="020B0604020202020204" pitchFamily="34" charset="0"/>
              <a:ea typeface="黑体" panose="02010609060101010101" pitchFamily="2" charset="-122"/>
            </a:endParaRPr>
          </a:p>
        </p:txBody>
      </p:sp>
      <p:sp>
        <p:nvSpPr>
          <p:cNvPr id="244826" name="Rectangle 385"/>
          <p:cNvSpPr>
            <a:spLocks noChangeArrowheads="1"/>
          </p:cNvSpPr>
          <p:nvPr/>
        </p:nvSpPr>
        <p:spPr bwMode="auto">
          <a:xfrm>
            <a:off x="8925005" y="1484314"/>
            <a:ext cx="935567" cy="1728787"/>
          </a:xfrm>
          <a:prstGeom prst="rect">
            <a:avLst/>
          </a:prstGeom>
          <a:solidFill>
            <a:srgbClr val="CCECFF"/>
          </a:solidFill>
          <a:ln w="9525" algn="ctr">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7" name="Rectangle 386"/>
          <p:cNvSpPr>
            <a:spLocks noChangeArrowheads="1"/>
          </p:cNvSpPr>
          <p:nvPr/>
        </p:nvSpPr>
        <p:spPr bwMode="auto">
          <a:xfrm>
            <a:off x="2138707" y="1473200"/>
            <a:ext cx="935567" cy="1739900"/>
          </a:xfrm>
          <a:prstGeom prst="rect">
            <a:avLst/>
          </a:prstGeom>
          <a:solidFill>
            <a:srgbClr val="66FF66"/>
          </a:solidFill>
          <a:ln w="19050" algn="ctr">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8" name="Rectangle 387"/>
          <p:cNvSpPr>
            <a:spLocks noChangeArrowheads="1"/>
          </p:cNvSpPr>
          <p:nvPr/>
        </p:nvSpPr>
        <p:spPr bwMode="auto">
          <a:xfrm>
            <a:off x="265855" y="1473200"/>
            <a:ext cx="935567" cy="1739900"/>
          </a:xfrm>
          <a:prstGeom prst="rect">
            <a:avLst/>
          </a:prstGeom>
          <a:solidFill>
            <a:srgbClr val="CCECFF"/>
          </a:solidFill>
          <a:ln w="9525">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9" name="Line 388"/>
          <p:cNvSpPr>
            <a:spLocks noChangeShapeType="1"/>
          </p:cNvSpPr>
          <p:nvPr/>
        </p:nvSpPr>
        <p:spPr bwMode="auto">
          <a:xfrm>
            <a:off x="921095" y="1916113"/>
            <a:ext cx="1295004"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30" name="Text Box 389"/>
          <p:cNvSpPr txBox="1">
            <a:spLocks noChangeArrowheads="1"/>
          </p:cNvSpPr>
          <p:nvPr/>
        </p:nvSpPr>
        <p:spPr bwMode="auto">
          <a:xfrm>
            <a:off x="1185944" y="1592263"/>
            <a:ext cx="7537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a:solidFill>
                  <a:srgbClr val="000099"/>
                </a:solidFill>
                <a:latin typeface="Arial" panose="020B0604020202020204" pitchFamily="34" charset="0"/>
                <a:ea typeface="黑体" panose="02010609060101010101" pitchFamily="2" charset="-122"/>
              </a:rPr>
              <a:t>SMTP</a:t>
            </a:r>
            <a:endParaRPr kumimoji="1" lang="en-US" altLang="zh-CN" sz="1600" b="1">
              <a:solidFill>
                <a:srgbClr val="000099"/>
              </a:solidFill>
              <a:latin typeface="Arial" panose="020B0604020202020204" pitchFamily="34" charset="0"/>
              <a:ea typeface="黑体" panose="02010609060101010101" pitchFamily="2" charset="-122"/>
            </a:endParaRPr>
          </a:p>
        </p:txBody>
      </p:sp>
      <p:sp>
        <p:nvSpPr>
          <p:cNvPr id="244831" name="Text Box 390"/>
          <p:cNvSpPr txBox="1">
            <a:spLocks noChangeArrowheads="1"/>
          </p:cNvSpPr>
          <p:nvPr/>
        </p:nvSpPr>
        <p:spPr bwMode="auto">
          <a:xfrm>
            <a:off x="8135622" y="1577975"/>
            <a:ext cx="7312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a:solidFill>
                  <a:srgbClr val="000099"/>
                </a:solidFill>
                <a:latin typeface="Arial" panose="020B0604020202020204" pitchFamily="34" charset="0"/>
                <a:ea typeface="黑体" panose="02010609060101010101" pitchFamily="2" charset="-122"/>
              </a:rPr>
              <a:t>POP3</a:t>
            </a:r>
            <a:endParaRPr kumimoji="1" lang="en-US" altLang="zh-CN" sz="1600" b="1">
              <a:solidFill>
                <a:srgbClr val="000099"/>
              </a:solidFill>
              <a:latin typeface="Arial" panose="020B0604020202020204" pitchFamily="34" charset="0"/>
              <a:ea typeface="黑体" panose="02010609060101010101" pitchFamily="2" charset="-122"/>
            </a:endParaRPr>
          </a:p>
        </p:txBody>
      </p:sp>
      <p:sp>
        <p:nvSpPr>
          <p:cNvPr id="244832" name="Text Box 391"/>
          <p:cNvSpPr txBox="1">
            <a:spLocks noChangeArrowheads="1"/>
          </p:cNvSpPr>
          <p:nvPr/>
        </p:nvSpPr>
        <p:spPr bwMode="auto">
          <a:xfrm>
            <a:off x="1302896" y="1123951"/>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rgbClr val="000099"/>
                </a:solidFill>
                <a:latin typeface="Arial" panose="020B0604020202020204" pitchFamily="34" charset="0"/>
                <a:ea typeface="黑体" panose="02010609060101010101" pitchFamily="2" charset="-122"/>
              </a:rPr>
              <a:t>发送</a:t>
            </a:r>
            <a:endParaRPr kumimoji="1" lang="zh-CN" altLang="en-US"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邮件</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33" name="Text Box 392"/>
          <p:cNvSpPr txBox="1">
            <a:spLocks noChangeArrowheads="1"/>
          </p:cNvSpPr>
          <p:nvPr/>
        </p:nvSpPr>
        <p:spPr bwMode="auto">
          <a:xfrm>
            <a:off x="4166343" y="2346325"/>
            <a:ext cx="163217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00" b="1">
                <a:solidFill>
                  <a:srgbClr val="000099"/>
                </a:solidFill>
                <a:latin typeface="Arial" panose="020B0604020202020204" pitchFamily="34" charset="0"/>
                <a:ea typeface="黑体" panose="02010609060101010101" pitchFamily="2" charset="-122"/>
              </a:rPr>
              <a:t>发送邮件 </a:t>
            </a:r>
            <a:r>
              <a:rPr kumimoji="1" lang="en-US" altLang="zh-CN" sz="1600" b="1">
                <a:solidFill>
                  <a:srgbClr val="000099"/>
                </a:solidFill>
                <a:latin typeface="Arial" panose="020B0604020202020204" pitchFamily="34" charset="0"/>
                <a:ea typeface="黑体" panose="02010609060101010101" pitchFamily="2" charset="-122"/>
              </a:rPr>
              <a:t>SMTP</a:t>
            </a:r>
            <a:endParaRPr kumimoji="1" lang="en-US" altLang="zh-CN" sz="1600" b="1">
              <a:solidFill>
                <a:srgbClr val="000099"/>
              </a:solidFill>
              <a:latin typeface="Arial" panose="020B0604020202020204" pitchFamily="34" charset="0"/>
              <a:ea typeface="黑体" panose="02010609060101010101" pitchFamily="2" charset="-122"/>
            </a:endParaRPr>
          </a:p>
        </p:txBody>
      </p:sp>
      <p:sp>
        <p:nvSpPr>
          <p:cNvPr id="244834" name="Text Box 393"/>
          <p:cNvSpPr txBox="1">
            <a:spLocks noChangeArrowheads="1"/>
          </p:cNvSpPr>
          <p:nvPr/>
        </p:nvSpPr>
        <p:spPr bwMode="auto">
          <a:xfrm>
            <a:off x="8144220" y="1052514"/>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00" b="1">
                <a:solidFill>
                  <a:srgbClr val="000099"/>
                </a:solidFill>
                <a:latin typeface="Arial" panose="020B0604020202020204" pitchFamily="34" charset="0"/>
                <a:ea typeface="黑体" panose="02010609060101010101" pitchFamily="2" charset="-122"/>
              </a:rPr>
              <a:t>读取</a:t>
            </a:r>
            <a:endParaRPr kumimoji="1" lang="zh-CN" altLang="en-US" sz="1600" b="1">
              <a:solidFill>
                <a:srgbClr val="000099"/>
              </a:solidFill>
              <a:latin typeface="Arial" panose="020B0604020202020204" pitchFamily="34" charset="0"/>
              <a:ea typeface="黑体" panose="02010609060101010101" pitchFamily="2" charset="-122"/>
            </a:endParaRPr>
          </a:p>
          <a:p>
            <a:pPr eaLnBrk="1" hangingPunct="1"/>
            <a:r>
              <a:rPr kumimoji="1" lang="zh-CN" altLang="en-US" sz="1600" b="1">
                <a:solidFill>
                  <a:srgbClr val="000099"/>
                </a:solidFill>
                <a:latin typeface="Arial" panose="020B0604020202020204" pitchFamily="34" charset="0"/>
                <a:ea typeface="黑体" panose="02010609060101010101" pitchFamily="2" charset="-122"/>
              </a:rPr>
              <a:t>邮件</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35" name="Text Box 394"/>
          <p:cNvSpPr txBox="1">
            <a:spLocks noChangeArrowheads="1"/>
          </p:cNvSpPr>
          <p:nvPr/>
        </p:nvSpPr>
        <p:spPr bwMode="auto">
          <a:xfrm>
            <a:off x="1280532" y="1914526"/>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a:solidFill>
                  <a:srgbClr val="000099"/>
                </a:solidFill>
                <a:latin typeface="Arial" panose="020B0604020202020204" pitchFamily="34" charset="0"/>
                <a:ea typeface="黑体" panose="02010609060101010101" pitchFamily="2" charset="-122"/>
              </a:rPr>
              <a:t>TCP</a:t>
            </a:r>
            <a:endParaRPr kumimoji="1" lang="en-US" altLang="zh-CN" sz="1600" b="1">
              <a:solidFill>
                <a:srgbClr val="000099"/>
              </a:solidFill>
              <a:latin typeface="Arial" panose="020B0604020202020204" pitchFamily="34" charset="0"/>
              <a:ea typeface="黑体" panose="02010609060101010101" pitchFamily="2" charset="-122"/>
            </a:endParaRPr>
          </a:p>
          <a:p>
            <a:pPr eaLnBrk="1" hangingPunct="1"/>
            <a:r>
              <a:rPr kumimoji="1" lang="zh-CN" altLang="en-US" sz="1600" b="1">
                <a:solidFill>
                  <a:srgbClr val="000099"/>
                </a:solidFill>
                <a:latin typeface="Arial" panose="020B0604020202020204" pitchFamily="34" charset="0"/>
                <a:ea typeface="黑体" panose="02010609060101010101" pitchFamily="2" charset="-122"/>
              </a:rPr>
              <a:t>连接</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36" name="Text Box 395"/>
          <p:cNvSpPr txBox="1">
            <a:spLocks noChangeArrowheads="1"/>
          </p:cNvSpPr>
          <p:nvPr/>
        </p:nvSpPr>
        <p:spPr bwMode="auto">
          <a:xfrm>
            <a:off x="8128742" y="1984376"/>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a:solidFill>
                  <a:srgbClr val="000099"/>
                </a:solidFill>
                <a:latin typeface="Arial" panose="020B0604020202020204" pitchFamily="34" charset="0"/>
                <a:ea typeface="黑体" panose="02010609060101010101" pitchFamily="2" charset="-122"/>
              </a:rPr>
              <a:t>TCP</a:t>
            </a:r>
            <a:endParaRPr kumimoji="1" lang="en-US" altLang="zh-CN" sz="1600" b="1">
              <a:solidFill>
                <a:srgbClr val="000099"/>
              </a:solidFill>
              <a:latin typeface="Arial" panose="020B0604020202020204" pitchFamily="34" charset="0"/>
              <a:ea typeface="黑体" panose="02010609060101010101" pitchFamily="2" charset="-122"/>
            </a:endParaRPr>
          </a:p>
          <a:p>
            <a:pPr eaLnBrk="1" hangingPunct="1"/>
            <a:r>
              <a:rPr kumimoji="1" lang="zh-CN" altLang="en-US" sz="1600" b="1">
                <a:solidFill>
                  <a:srgbClr val="000099"/>
                </a:solidFill>
                <a:latin typeface="Arial" panose="020B0604020202020204" pitchFamily="34" charset="0"/>
                <a:ea typeface="黑体" panose="02010609060101010101" pitchFamily="2" charset="-122"/>
              </a:rPr>
              <a:t>连接</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37" name="Text Box 396"/>
          <p:cNvSpPr txBox="1">
            <a:spLocks noChangeArrowheads="1"/>
          </p:cNvSpPr>
          <p:nvPr/>
        </p:nvSpPr>
        <p:spPr bwMode="auto">
          <a:xfrm>
            <a:off x="1959921" y="863601"/>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rgbClr val="000099"/>
                </a:solidFill>
                <a:latin typeface="Arial" panose="020B0604020202020204" pitchFamily="34" charset="0"/>
                <a:ea typeface="黑体" panose="02010609060101010101" pitchFamily="2" charset="-122"/>
              </a:rPr>
              <a:t>发送方</a:t>
            </a:r>
            <a:endParaRPr kumimoji="1" lang="zh-CN" altLang="en-US"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邮件服务器</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38" name="Oval 397"/>
          <p:cNvSpPr>
            <a:spLocks noChangeArrowheads="1"/>
          </p:cNvSpPr>
          <p:nvPr/>
        </p:nvSpPr>
        <p:spPr bwMode="auto">
          <a:xfrm>
            <a:off x="343245" y="1555750"/>
            <a:ext cx="779066" cy="719138"/>
          </a:xfrm>
          <a:prstGeom prst="ellipse">
            <a:avLst/>
          </a:prstGeom>
          <a:solidFill>
            <a:srgbClr val="FFFF99"/>
          </a:soli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endParaRPr kumimoji="1" lang="en-US" altLang="zh-CN"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客户</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39" name="Oval 398"/>
          <p:cNvSpPr>
            <a:spLocks noChangeArrowheads="1"/>
          </p:cNvSpPr>
          <p:nvPr/>
        </p:nvSpPr>
        <p:spPr bwMode="auto">
          <a:xfrm>
            <a:off x="9002397" y="1555750"/>
            <a:ext cx="779065" cy="719138"/>
          </a:xfrm>
          <a:prstGeom prst="ellipse">
            <a:avLst/>
          </a:prstGeom>
          <a:solidFill>
            <a:srgbClr val="CCCC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POP3</a:t>
            </a:r>
            <a:endParaRPr kumimoji="1" lang="en-US" altLang="zh-CN"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客户</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0" name="Text Box 399"/>
          <p:cNvSpPr txBox="1">
            <a:spLocks noChangeArrowheads="1"/>
          </p:cNvSpPr>
          <p:nvPr/>
        </p:nvSpPr>
        <p:spPr bwMode="auto">
          <a:xfrm>
            <a:off x="193101" y="863601"/>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rgbClr val="000099"/>
                </a:solidFill>
                <a:latin typeface="Arial" panose="020B0604020202020204" pitchFamily="34" charset="0"/>
                <a:ea typeface="黑体" panose="02010609060101010101" pitchFamily="2" charset="-122"/>
              </a:rPr>
              <a:t>发件人</a:t>
            </a:r>
            <a:endParaRPr kumimoji="1" lang="zh-CN" altLang="en-US"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用户代理</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1" name="Text Box 400"/>
          <p:cNvSpPr txBox="1">
            <a:spLocks noChangeArrowheads="1"/>
          </p:cNvSpPr>
          <p:nvPr/>
        </p:nvSpPr>
        <p:spPr bwMode="auto">
          <a:xfrm>
            <a:off x="6888844" y="863601"/>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rgbClr val="000099"/>
                </a:solidFill>
                <a:latin typeface="Arial" panose="020B0604020202020204" pitchFamily="34" charset="0"/>
                <a:ea typeface="黑体" panose="02010609060101010101" pitchFamily="2" charset="-122"/>
              </a:rPr>
              <a:t>接收方</a:t>
            </a:r>
            <a:endParaRPr kumimoji="1" lang="zh-CN" altLang="en-US"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邮件服务器</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2" name="Rectangle 401"/>
          <p:cNvSpPr>
            <a:spLocks noChangeArrowheads="1"/>
          </p:cNvSpPr>
          <p:nvPr/>
        </p:nvSpPr>
        <p:spPr bwMode="auto">
          <a:xfrm>
            <a:off x="7053872" y="1484314"/>
            <a:ext cx="935567" cy="1728787"/>
          </a:xfrm>
          <a:prstGeom prst="rect">
            <a:avLst/>
          </a:prstGeom>
          <a:solidFill>
            <a:srgbClr val="66FF66"/>
          </a:solidFill>
          <a:ln w="19050" algn="ctr">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43" name="Oval 402"/>
          <p:cNvSpPr>
            <a:spLocks noChangeArrowheads="1"/>
          </p:cNvSpPr>
          <p:nvPr/>
        </p:nvSpPr>
        <p:spPr bwMode="auto">
          <a:xfrm>
            <a:off x="7131264" y="2347914"/>
            <a:ext cx="779065" cy="719137"/>
          </a:xfrm>
          <a:prstGeom prst="ellipse">
            <a:avLst/>
          </a:prstGeom>
          <a:solidFill>
            <a:srgbClr val="FFCCFF"/>
          </a:solidFill>
          <a:ln w="9525" algn="ctr">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endParaRPr kumimoji="1" lang="en-US" altLang="zh-CN"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服务器</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4" name="Oval 403"/>
          <p:cNvSpPr>
            <a:spLocks noChangeArrowheads="1"/>
          </p:cNvSpPr>
          <p:nvPr/>
        </p:nvSpPr>
        <p:spPr bwMode="auto">
          <a:xfrm>
            <a:off x="7131264" y="1555750"/>
            <a:ext cx="779065" cy="719138"/>
          </a:xfrm>
          <a:prstGeom prst="ellipse">
            <a:avLst/>
          </a:prstGeom>
          <a:solidFill>
            <a:srgbClr val="FF99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POP3</a:t>
            </a:r>
            <a:endParaRPr kumimoji="1" lang="en-US" altLang="zh-CN"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服务器</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5" name="Line 404"/>
          <p:cNvSpPr>
            <a:spLocks noChangeShapeType="1"/>
          </p:cNvSpPr>
          <p:nvPr/>
        </p:nvSpPr>
        <p:spPr bwMode="auto">
          <a:xfrm flipV="1">
            <a:off x="2917774" y="2708275"/>
            <a:ext cx="4211769"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46" name="Oval 405"/>
          <p:cNvSpPr>
            <a:spLocks noChangeArrowheads="1"/>
          </p:cNvSpPr>
          <p:nvPr/>
        </p:nvSpPr>
        <p:spPr bwMode="auto">
          <a:xfrm>
            <a:off x="2217818" y="1555750"/>
            <a:ext cx="779066" cy="719138"/>
          </a:xfrm>
          <a:prstGeom prst="ellipse">
            <a:avLst/>
          </a:prstGeom>
          <a:solidFill>
            <a:srgbClr val="FFCCFF"/>
          </a:soli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endParaRPr kumimoji="1" lang="en-US" altLang="zh-CN"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服务器</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7" name="Oval 406"/>
          <p:cNvSpPr>
            <a:spLocks noChangeArrowheads="1"/>
          </p:cNvSpPr>
          <p:nvPr/>
        </p:nvSpPr>
        <p:spPr bwMode="auto">
          <a:xfrm>
            <a:off x="2217818" y="2347914"/>
            <a:ext cx="779066" cy="719137"/>
          </a:xfrm>
          <a:prstGeom prst="ellipse">
            <a:avLst/>
          </a:prstGeom>
          <a:solidFill>
            <a:srgbClr val="FFFF99"/>
          </a:solidFill>
          <a:ln w="9525" algn="ctr">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endParaRPr kumimoji="1" lang="en-US" altLang="zh-CN"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客户</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8" name="Text Box 407"/>
          <p:cNvSpPr txBox="1">
            <a:spLocks noChangeArrowheads="1"/>
          </p:cNvSpPr>
          <p:nvPr/>
        </p:nvSpPr>
        <p:spPr bwMode="auto">
          <a:xfrm>
            <a:off x="8934802" y="863601"/>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rgbClr val="000099"/>
                </a:solidFill>
                <a:latin typeface="Arial" panose="020B0604020202020204" pitchFamily="34" charset="0"/>
                <a:ea typeface="黑体" panose="02010609060101010101" pitchFamily="2" charset="-122"/>
              </a:rPr>
              <a:t>收件人</a:t>
            </a:r>
            <a:endParaRPr kumimoji="1" lang="zh-CN" altLang="en-US" sz="16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用户代理</a:t>
            </a:r>
            <a:endParaRPr kumimoji="1" lang="zh-CN" altLang="en-US" sz="1600" b="1">
              <a:solidFill>
                <a:srgbClr val="000099"/>
              </a:solidFill>
              <a:latin typeface="Arial" panose="020B0604020202020204" pitchFamily="34" charset="0"/>
              <a:ea typeface="黑体" panose="02010609060101010101" pitchFamily="2" charset="-122"/>
            </a:endParaRPr>
          </a:p>
        </p:txBody>
      </p:sp>
      <p:sp>
        <p:nvSpPr>
          <p:cNvPr id="244849" name="Line 408"/>
          <p:cNvSpPr>
            <a:spLocks noChangeShapeType="1"/>
          </p:cNvSpPr>
          <p:nvPr/>
        </p:nvSpPr>
        <p:spPr bwMode="auto">
          <a:xfrm flipV="1">
            <a:off x="7910329" y="1916113"/>
            <a:ext cx="1092068"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50" name="Text Box 409"/>
          <p:cNvSpPr txBox="1">
            <a:spLocks noChangeArrowheads="1"/>
          </p:cNvSpPr>
          <p:nvPr/>
        </p:nvSpPr>
        <p:spPr bwMode="auto">
          <a:xfrm>
            <a:off x="4477625" y="2730500"/>
            <a:ext cx="10577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a:solidFill>
                  <a:srgbClr val="000099"/>
                </a:solidFill>
                <a:latin typeface="Arial" panose="020B0604020202020204" pitchFamily="34" charset="0"/>
                <a:ea typeface="黑体" panose="02010609060101010101" pitchFamily="2" charset="-122"/>
              </a:rPr>
              <a:t>TCP </a:t>
            </a:r>
            <a:r>
              <a:rPr kumimoji="1" lang="zh-CN" altLang="en-US" sz="1600" b="1">
                <a:solidFill>
                  <a:srgbClr val="000099"/>
                </a:solidFill>
                <a:latin typeface="Arial" panose="020B0604020202020204" pitchFamily="34" charset="0"/>
                <a:ea typeface="黑体" panose="02010609060101010101" pitchFamily="2" charset="-122"/>
              </a:rPr>
              <a:t>连接</a:t>
            </a:r>
            <a:endParaRPr kumimoji="1" lang="zh-CN" altLang="en-US" sz="1600"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algn="ctr" eaLnBrk="1" hangingPunct="1"/>
            <a:r>
              <a:rPr lang="zh-CN" altLang="en-US" smtClean="0">
                <a:ea typeface="黑体" panose="02010609060101010101" pitchFamily="2" charset="-122"/>
              </a:rPr>
              <a:t>用户代理 </a:t>
            </a:r>
            <a:r>
              <a:rPr lang="en-US" altLang="zh-CN" smtClean="0">
                <a:ea typeface="黑体" panose="02010609060101010101" pitchFamily="2" charset="-122"/>
              </a:rPr>
              <a:t>UA (User Agent)</a:t>
            </a:r>
            <a:endParaRPr lang="en-US" altLang="zh-CN" smtClean="0">
              <a:ea typeface="黑体" panose="02010609060101010101" pitchFamily="2" charset="-122"/>
            </a:endParaRPr>
          </a:p>
        </p:txBody>
      </p:sp>
      <p:sp>
        <p:nvSpPr>
          <p:cNvPr id="11386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用户代理 </a:t>
            </a:r>
            <a:r>
              <a:rPr lang="en-US" altLang="zh-CN" dirty="0"/>
              <a:t>UA </a:t>
            </a:r>
            <a:r>
              <a:rPr lang="zh-CN" altLang="en-US" dirty="0"/>
              <a:t>就是用户与电子邮件系统的接口，是电子邮件客户端软件。</a:t>
            </a:r>
            <a:endParaRPr lang="zh-CN" altLang="en-US" dirty="0"/>
          </a:p>
          <a:p>
            <a:r>
              <a:rPr lang="zh-CN" altLang="en-US" dirty="0"/>
              <a:t>用户代理的</a:t>
            </a:r>
            <a:r>
              <a:rPr lang="zh-CN" altLang="en-US" dirty="0">
                <a:solidFill>
                  <a:srgbClr val="FF0000"/>
                </a:solidFill>
              </a:rPr>
              <a:t>功能：</a:t>
            </a:r>
            <a:r>
              <a:rPr lang="zh-CN" altLang="en-US" dirty="0"/>
              <a:t>撰写、显示、处理和通信。</a:t>
            </a:r>
            <a:endParaRPr lang="zh-CN" altLang="en-US" dirty="0"/>
          </a:p>
          <a:p>
            <a:r>
              <a:rPr lang="zh-CN" altLang="en-US" dirty="0"/>
              <a:t>邮件服务器的功能是发送和接收邮件，同时还要向发信人报告邮件传送的情况（已交付、被拒绝、丢失等）。</a:t>
            </a:r>
            <a:endParaRPr lang="zh-CN" altLang="en-US" dirty="0"/>
          </a:p>
          <a:p>
            <a:r>
              <a:rPr lang="zh-CN" altLang="en-US" dirty="0"/>
              <a:t>邮件服务器按照</a:t>
            </a:r>
            <a:r>
              <a:rPr lang="zh-CN" altLang="en-US" dirty="0">
                <a:solidFill>
                  <a:srgbClr val="FF0000"/>
                </a:solidFill>
              </a:rPr>
              <a:t>客户</a:t>
            </a:r>
            <a:r>
              <a:rPr lang="zh-CN" altLang="en-US" dirty="0">
                <a:solidFill>
                  <a:srgbClr val="FF0000"/>
                </a:solidFill>
                <a:sym typeface="Symbol" panose="05050102010706020507" pitchFamily="18" charset="2"/>
              </a:rPr>
              <a:t></a:t>
            </a:r>
            <a:r>
              <a:rPr lang="zh-CN" altLang="en-US" dirty="0">
                <a:solidFill>
                  <a:srgbClr val="FF0000"/>
                </a:solidFill>
              </a:rPr>
              <a:t>服务器</a:t>
            </a:r>
            <a:r>
              <a:rPr lang="zh-CN" altLang="en-US" dirty="0"/>
              <a:t>方式工作。邮件服务器需要使用发送和读取两个不同的协议。</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86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86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8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1"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algn="ctr" eaLnBrk="1" hangingPunct="1"/>
            <a:r>
              <a:rPr lang="zh-CN" altLang="en-US" smtClean="0">
                <a:ea typeface="黑体" panose="02010609060101010101" pitchFamily="2" charset="-122"/>
              </a:rPr>
              <a:t>应当注意</a:t>
            </a:r>
            <a:endParaRPr lang="zh-CN" altLang="en-US" smtClean="0">
              <a:ea typeface="黑体" panose="02010609060101010101" pitchFamily="2" charset="-122"/>
            </a:endParaRPr>
          </a:p>
        </p:txBody>
      </p:sp>
      <p:sp>
        <p:nvSpPr>
          <p:cNvPr id="248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a:t>一个邮件服务器既可以作为客户，也可以作为服务器。</a:t>
            </a:r>
            <a:endParaRPr lang="zh-CN" altLang="en-US"/>
          </a:p>
          <a:p>
            <a:r>
              <a:rPr lang="zh-CN" altLang="en-US"/>
              <a:t>例如，当邮件服务器 </a:t>
            </a:r>
            <a:r>
              <a:rPr lang="en-US" altLang="zh-CN"/>
              <a:t>A </a:t>
            </a:r>
            <a:r>
              <a:rPr lang="zh-CN" altLang="en-US"/>
              <a:t>向另一个邮件服务器 </a:t>
            </a:r>
            <a:r>
              <a:rPr lang="en-US" altLang="zh-CN"/>
              <a:t>B </a:t>
            </a:r>
            <a:r>
              <a:rPr lang="zh-CN" altLang="en-US"/>
              <a:t>发送邮件时，邮件服务器 </a:t>
            </a:r>
            <a:r>
              <a:rPr lang="en-US" altLang="zh-CN"/>
              <a:t>A </a:t>
            </a:r>
            <a:r>
              <a:rPr lang="zh-CN" altLang="en-US"/>
              <a:t>就作为 </a:t>
            </a:r>
            <a:r>
              <a:rPr lang="en-US" altLang="zh-CN"/>
              <a:t>SMTP </a:t>
            </a:r>
            <a:r>
              <a:rPr lang="zh-CN" altLang="en-US"/>
              <a:t>客户，而 </a:t>
            </a:r>
            <a:r>
              <a:rPr lang="en-US" altLang="zh-CN"/>
              <a:t>B </a:t>
            </a:r>
            <a:r>
              <a:rPr lang="zh-CN" altLang="en-US"/>
              <a:t>是 </a:t>
            </a:r>
            <a:r>
              <a:rPr lang="en-US" altLang="zh-CN"/>
              <a:t>SMTP </a:t>
            </a:r>
            <a:r>
              <a:rPr lang="zh-CN" altLang="en-US"/>
              <a:t>服务器。</a:t>
            </a:r>
            <a:endParaRPr lang="zh-CN" altLang="en-US"/>
          </a:p>
          <a:p>
            <a:r>
              <a:rPr lang="zh-CN" altLang="en-US"/>
              <a:t>当邮件服务器 </a:t>
            </a:r>
            <a:r>
              <a:rPr lang="en-US" altLang="zh-CN"/>
              <a:t>A </a:t>
            </a:r>
            <a:r>
              <a:rPr lang="zh-CN" altLang="en-US"/>
              <a:t>从另一个邮件服务器 </a:t>
            </a:r>
            <a:r>
              <a:rPr lang="en-US" altLang="zh-CN"/>
              <a:t>B </a:t>
            </a:r>
            <a:r>
              <a:rPr lang="zh-CN" altLang="en-US"/>
              <a:t>接收邮件时，邮件服务器 </a:t>
            </a:r>
            <a:r>
              <a:rPr lang="en-US" altLang="zh-CN"/>
              <a:t>A </a:t>
            </a:r>
            <a:r>
              <a:rPr lang="zh-CN" altLang="en-US"/>
              <a:t>就作为 </a:t>
            </a:r>
            <a:r>
              <a:rPr lang="en-US" altLang="zh-CN"/>
              <a:t>SMTP </a:t>
            </a:r>
            <a:r>
              <a:rPr lang="zh-CN" altLang="en-US"/>
              <a:t>服务器，而 </a:t>
            </a:r>
            <a:r>
              <a:rPr lang="en-US" altLang="zh-CN"/>
              <a:t>B </a:t>
            </a:r>
            <a:r>
              <a:rPr lang="zh-CN" altLang="en-US"/>
              <a:t>是 </a:t>
            </a:r>
            <a:r>
              <a:rPr lang="en-US" altLang="zh-CN"/>
              <a:t>SMTP </a:t>
            </a:r>
            <a:r>
              <a:rPr lang="zh-CN" altLang="en-US"/>
              <a:t>客户。</a:t>
            </a:r>
            <a:endParaRPr lang="zh-CN" alt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496800" y="188640"/>
            <a:ext cx="8560656" cy="792000"/>
          </a:xfrm>
        </p:spPr>
        <p:txBody>
          <a:bodyPr/>
          <a:lstStyle/>
          <a:p>
            <a:pPr algn="ctr" eaLnBrk="1" hangingPunct="1"/>
            <a:r>
              <a:rPr lang="zh-CN" altLang="en-US" sz="4000" dirty="0" smtClean="0">
                <a:ea typeface="黑体" panose="02010609060101010101" pitchFamily="2" charset="-122"/>
              </a:rPr>
              <a:t>发送和接收电子邮件的几个重要步骤</a:t>
            </a:r>
            <a:endParaRPr lang="zh-CN" altLang="en-US" sz="4000" dirty="0" smtClean="0">
              <a:ea typeface="黑体" panose="02010609060101010101" pitchFamily="2" charset="-122"/>
            </a:endParaRPr>
          </a:p>
        </p:txBody>
      </p:sp>
      <p:sp>
        <p:nvSpPr>
          <p:cNvPr id="250883"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dirty="0" smtClean="0">
                <a:ea typeface="黑体" panose="02010609060101010101" pitchFamily="2" charset="-122"/>
                <a:sym typeface="Wingdings" panose="05000000000000000000" pitchFamily="2" charset="2"/>
              </a:rPr>
              <a:t></a:t>
            </a:r>
            <a:r>
              <a:rPr lang="en-US" altLang="zh-CN" dirty="0" smtClean="0">
                <a:ea typeface="黑体" panose="02010609060101010101" pitchFamily="2" charset="-122"/>
              </a:rPr>
              <a:t> </a:t>
            </a:r>
            <a:r>
              <a:rPr lang="zh-CN" altLang="en-US" dirty="0" smtClean="0">
                <a:ea typeface="黑体" panose="02010609060101010101" pitchFamily="2" charset="-122"/>
              </a:rPr>
              <a:t>发件人调用 </a:t>
            </a:r>
            <a:r>
              <a:rPr lang="en-US" altLang="zh-CN" dirty="0" smtClean="0">
                <a:ea typeface="黑体" panose="02010609060101010101" pitchFamily="2" charset="-122"/>
              </a:rPr>
              <a:t>PC </a:t>
            </a:r>
            <a:r>
              <a:rPr lang="zh-CN" altLang="en-US" dirty="0" smtClean="0">
                <a:ea typeface="黑体" panose="02010609060101010101" pitchFamily="2" charset="-122"/>
              </a:rPr>
              <a:t>中的用户代理撰写和编辑要发送的邮件。</a:t>
            </a:r>
            <a:endParaRPr lang="zh-CN" altLang="en-US" dirty="0" smtClean="0">
              <a:ea typeface="黑体" panose="02010609060101010101" pitchFamily="2" charset="-122"/>
            </a:endParaRPr>
          </a:p>
          <a:p>
            <a:pPr eaLnBrk="1" hangingPunct="1">
              <a:buFont typeface="Wingdings" panose="05000000000000000000" pitchFamily="2" charset="2"/>
              <a:buNone/>
            </a:pPr>
            <a:r>
              <a:rPr lang="zh-CN" altLang="en-US" dirty="0" smtClean="0">
                <a:ea typeface="黑体" panose="02010609060101010101" pitchFamily="2" charset="-122"/>
                <a:sym typeface="Wingdings" panose="05000000000000000000" pitchFamily="2" charset="2"/>
              </a:rPr>
              <a:t></a:t>
            </a:r>
            <a:r>
              <a:rPr lang="zh-CN" altLang="en-US" dirty="0" smtClean="0">
                <a:ea typeface="黑体" panose="02010609060101010101" pitchFamily="2" charset="-122"/>
              </a:rPr>
              <a:t> 发件人的用户代理把邮件用 </a:t>
            </a:r>
            <a:r>
              <a:rPr lang="en-US" altLang="zh-CN" dirty="0" smtClean="0">
                <a:ea typeface="黑体" panose="02010609060101010101" pitchFamily="2" charset="-122"/>
              </a:rPr>
              <a:t>SMTP </a:t>
            </a:r>
            <a:r>
              <a:rPr lang="zh-CN" altLang="en-US" dirty="0" smtClean="0">
                <a:ea typeface="黑体" panose="02010609060101010101" pitchFamily="2" charset="-122"/>
              </a:rPr>
              <a:t>协议发给发送方邮件服务器，</a:t>
            </a:r>
            <a:endParaRPr lang="zh-CN" altLang="en-US" dirty="0" smtClean="0">
              <a:ea typeface="黑体" panose="02010609060101010101" pitchFamily="2" charset="-122"/>
            </a:endParaRPr>
          </a:p>
          <a:p>
            <a:pPr eaLnBrk="1" hangingPunct="1">
              <a:buFont typeface="Wingdings" panose="05000000000000000000" pitchFamily="2" charset="2"/>
              <a:buNone/>
            </a:pPr>
            <a:r>
              <a:rPr lang="zh-CN" altLang="en-US" dirty="0" smtClean="0">
                <a:ea typeface="黑体" panose="02010609060101010101" pitchFamily="2" charset="-122"/>
                <a:sym typeface="Wingdings" panose="05000000000000000000" pitchFamily="2" charset="2"/>
              </a:rPr>
              <a:t></a:t>
            </a:r>
            <a:r>
              <a:rPr lang="zh-CN" altLang="en-US" dirty="0" smtClean="0">
                <a:ea typeface="黑体" panose="02010609060101010101" pitchFamily="2" charset="-122"/>
              </a:rPr>
              <a:t> </a:t>
            </a:r>
            <a:r>
              <a:rPr lang="en-US" altLang="zh-CN" dirty="0" smtClean="0">
                <a:ea typeface="黑体" panose="02010609060101010101" pitchFamily="2" charset="-122"/>
              </a:rPr>
              <a:t>SMTP </a:t>
            </a:r>
            <a:r>
              <a:rPr lang="zh-CN" altLang="en-US" dirty="0" smtClean="0">
                <a:ea typeface="黑体" panose="02010609060101010101" pitchFamily="2" charset="-122"/>
              </a:rPr>
              <a:t>服务器把邮件临时存放在邮件缓存队列中，等待发送。</a:t>
            </a:r>
            <a:endParaRPr lang="zh-CN" altLang="en-US" dirty="0" smtClean="0">
              <a:ea typeface="黑体" panose="02010609060101010101" pitchFamily="2" charset="-122"/>
            </a:endParaRPr>
          </a:p>
          <a:p>
            <a:pPr eaLnBrk="1" hangingPunct="1">
              <a:buFont typeface="Wingdings" panose="05000000000000000000" pitchFamily="2" charset="2"/>
              <a:buNone/>
            </a:pPr>
            <a:r>
              <a:rPr lang="zh-CN" altLang="en-US" dirty="0" smtClean="0">
                <a:ea typeface="黑体" panose="02010609060101010101" pitchFamily="2" charset="-122"/>
                <a:sym typeface="Wingdings" panose="05000000000000000000" pitchFamily="2" charset="2"/>
              </a:rPr>
              <a:t></a:t>
            </a:r>
            <a:r>
              <a:rPr lang="zh-CN" altLang="en-US" dirty="0" smtClean="0">
                <a:ea typeface="黑体" panose="02010609060101010101" pitchFamily="2" charset="-122"/>
              </a:rPr>
              <a:t> 发送方邮件服务器的 </a:t>
            </a:r>
            <a:r>
              <a:rPr lang="en-US" altLang="zh-CN" dirty="0" smtClean="0">
                <a:ea typeface="黑体" panose="02010609060101010101" pitchFamily="2" charset="-122"/>
              </a:rPr>
              <a:t>SMTP </a:t>
            </a:r>
            <a:r>
              <a:rPr lang="zh-CN" altLang="en-US" dirty="0" smtClean="0">
                <a:ea typeface="黑体" panose="02010609060101010101" pitchFamily="2" charset="-122"/>
              </a:rPr>
              <a:t>客户与接收方邮件服务器的 </a:t>
            </a:r>
            <a:r>
              <a:rPr lang="en-US" altLang="zh-CN" dirty="0" smtClean="0">
                <a:ea typeface="黑体" panose="02010609060101010101" pitchFamily="2" charset="-122"/>
              </a:rPr>
              <a:t>SMTP </a:t>
            </a:r>
            <a:r>
              <a:rPr lang="zh-CN" altLang="en-US" dirty="0" smtClean="0">
                <a:ea typeface="黑体" panose="02010609060101010101" pitchFamily="2" charset="-122"/>
              </a:rPr>
              <a:t>服务器建立 </a:t>
            </a:r>
            <a:r>
              <a:rPr lang="en-US" altLang="zh-CN" dirty="0" smtClean="0">
                <a:ea typeface="黑体" panose="02010609060101010101" pitchFamily="2" charset="-122"/>
              </a:rPr>
              <a:t>TCP </a:t>
            </a:r>
            <a:r>
              <a:rPr lang="zh-CN" altLang="en-US" dirty="0" smtClean="0">
                <a:ea typeface="黑体" panose="02010609060101010101" pitchFamily="2" charset="-122"/>
              </a:rPr>
              <a:t>连接，然后就把邮件缓存队列中的邮件依次发送出去。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496800" y="188640"/>
            <a:ext cx="8560656" cy="792000"/>
          </a:xfrm>
        </p:spPr>
        <p:txBody>
          <a:bodyPr/>
          <a:lstStyle/>
          <a:p>
            <a:pPr algn="ctr"/>
            <a:r>
              <a:rPr lang="zh-CN" altLang="en-US" sz="4000" dirty="0">
                <a:ea typeface="黑体" panose="02010609060101010101" pitchFamily="2" charset="-122"/>
              </a:rPr>
              <a:t>发送和接收电子邮件的几个重要步骤</a:t>
            </a:r>
            <a:endParaRPr lang="zh-CN" altLang="en-US" sz="4000" dirty="0" smtClean="0">
              <a:ea typeface="黑体" panose="02010609060101010101" pitchFamily="2" charset="-122"/>
            </a:endParaRPr>
          </a:p>
        </p:txBody>
      </p:sp>
      <p:sp>
        <p:nvSpPr>
          <p:cNvPr id="241668" name="Rectangle 3"/>
          <p:cNvSpPr>
            <a:spLocks noGrp="1" noChangeArrowheads="1"/>
          </p:cNvSpPr>
          <p:nvPr>
            <p:ph idx="1"/>
          </p:nvPr>
        </p:nvSpPr>
        <p:spPr/>
        <p:txBody>
          <a:bodyPr/>
          <a:lstStyle/>
          <a:p>
            <a:pPr eaLnBrk="1" hangingPunct="1">
              <a:buFont typeface="Wingdings" panose="05000000000000000000" pitchFamily="2" charset="2"/>
              <a:buNone/>
              <a:defRPr/>
            </a:pPr>
            <a:r>
              <a:rPr lang="en-US" altLang="zh-CN" dirty="0" smtClean="0">
                <a:sym typeface="Wingdings" panose="05000000000000000000" pitchFamily="2" charset="2"/>
              </a:rPr>
              <a:t> </a:t>
            </a:r>
            <a:r>
              <a:rPr lang="zh-CN" altLang="en-US" dirty="0" smtClean="0"/>
              <a:t>运行在接收方邮件服务器中的</a:t>
            </a:r>
            <a:r>
              <a:rPr lang="en-US" altLang="zh-CN" dirty="0" smtClean="0"/>
              <a:t>SMTP</a:t>
            </a:r>
            <a:r>
              <a:rPr lang="zh-CN" altLang="en-US" dirty="0" smtClean="0"/>
              <a:t>服务器进 程收到邮件后，把邮件放入收件人的用户邮箱中，等待收件人进行读取。 </a:t>
            </a:r>
            <a:endParaRPr lang="zh-CN" altLang="en-US" dirty="0" smtClean="0"/>
          </a:p>
          <a:p>
            <a:pPr eaLnBrk="1" hangingPunct="1">
              <a:buFont typeface="Wingdings" panose="05000000000000000000" pitchFamily="2" charset="2"/>
              <a:buNone/>
              <a:defRPr/>
            </a:pPr>
            <a:r>
              <a:rPr lang="zh-CN" altLang="en-US" dirty="0" smtClean="0">
                <a:sym typeface="Wingdings" panose="05000000000000000000" pitchFamily="2" charset="2"/>
              </a:rPr>
              <a:t> </a:t>
            </a:r>
            <a:r>
              <a:rPr lang="zh-CN" altLang="en-US" dirty="0" smtClean="0"/>
              <a:t>收件人在打算收信时，就运行 </a:t>
            </a:r>
            <a:r>
              <a:rPr lang="en-US" altLang="zh-CN" dirty="0" smtClean="0"/>
              <a:t>PC </a:t>
            </a:r>
            <a:r>
              <a:rPr lang="zh-CN" altLang="en-US" dirty="0" smtClean="0"/>
              <a:t>机中的用户代理，使用 </a:t>
            </a:r>
            <a:r>
              <a:rPr lang="en-US" altLang="zh-CN" dirty="0" smtClean="0"/>
              <a:t>POP3</a:t>
            </a:r>
            <a:r>
              <a:rPr lang="zh-CN" altLang="en-US" dirty="0" smtClean="0"/>
              <a:t>（或 </a:t>
            </a:r>
            <a:r>
              <a:rPr lang="en-US" altLang="zh-CN" dirty="0" smtClean="0"/>
              <a:t>IMAP</a:t>
            </a:r>
            <a:r>
              <a:rPr lang="zh-CN" altLang="en-US" dirty="0" smtClean="0"/>
              <a:t>）协议读取发送给自己的邮件。 </a:t>
            </a:r>
            <a:endParaRPr lang="zh-CN" altLang="en-US" dirty="0" smtClean="0"/>
          </a:p>
        </p:txBody>
      </p:sp>
      <p:sp>
        <p:nvSpPr>
          <p:cNvPr id="2" name="矩形 1"/>
          <p:cNvSpPr/>
          <p:nvPr/>
        </p:nvSpPr>
        <p:spPr>
          <a:xfrm>
            <a:off x="992560" y="4656038"/>
            <a:ext cx="8280920" cy="1077218"/>
          </a:xfrm>
          <a:prstGeom prst="rect">
            <a:avLst/>
          </a:prstGeom>
          <a:solidFill>
            <a:srgbClr val="FFFF66"/>
          </a:solidFill>
          <a:ln>
            <a:solidFill>
              <a:srgbClr val="000066"/>
            </a:solidFill>
          </a:ln>
        </p:spPr>
        <p:txBody>
          <a:bodyPr wrap="square">
            <a:spAutoFit/>
          </a:bodyPr>
          <a:lstStyle/>
          <a:p>
            <a:r>
              <a:rPr lang="zh-CN" altLang="en-US" sz="3200" b="1" dirty="0">
                <a:solidFill>
                  <a:srgbClr val="000066"/>
                </a:solidFill>
                <a:latin typeface="+mn-lt"/>
                <a:ea typeface="+mn-ea"/>
              </a:rPr>
              <a:t>请注意，</a:t>
            </a:r>
            <a:r>
              <a:rPr lang="en-US" altLang="zh-CN" sz="3200" b="1" dirty="0">
                <a:solidFill>
                  <a:srgbClr val="000066"/>
                </a:solidFill>
                <a:latin typeface="+mn-lt"/>
                <a:ea typeface="+mn-ea"/>
              </a:rPr>
              <a:t>POP3 </a:t>
            </a:r>
            <a:r>
              <a:rPr lang="zh-CN" altLang="en-US" sz="3200" b="1" dirty="0">
                <a:solidFill>
                  <a:srgbClr val="000066"/>
                </a:solidFill>
                <a:latin typeface="+mn-lt"/>
                <a:ea typeface="+mn-ea"/>
              </a:rPr>
              <a:t>服务器和 </a:t>
            </a:r>
            <a:r>
              <a:rPr lang="en-US" altLang="zh-CN" sz="3200" b="1" dirty="0">
                <a:solidFill>
                  <a:srgbClr val="000066"/>
                </a:solidFill>
                <a:latin typeface="+mn-lt"/>
                <a:ea typeface="+mn-ea"/>
              </a:rPr>
              <a:t>POP3 </a:t>
            </a:r>
            <a:r>
              <a:rPr lang="zh-CN" altLang="en-US" sz="3200" b="1" dirty="0">
                <a:solidFill>
                  <a:srgbClr val="000066"/>
                </a:solidFill>
                <a:latin typeface="+mn-lt"/>
                <a:ea typeface="+mn-ea"/>
              </a:rPr>
              <a:t>客户之间的通信是由 </a:t>
            </a:r>
            <a:r>
              <a:rPr lang="en-US" altLang="zh-CN" sz="3200" b="1" dirty="0">
                <a:solidFill>
                  <a:srgbClr val="000066"/>
                </a:solidFill>
                <a:latin typeface="+mn-lt"/>
                <a:ea typeface="+mn-ea"/>
              </a:rPr>
              <a:t>POP3 </a:t>
            </a:r>
            <a:r>
              <a:rPr lang="zh-CN" altLang="en-US" sz="3200" b="1" dirty="0">
                <a:solidFill>
                  <a:srgbClr val="000066"/>
                </a:solidFill>
                <a:latin typeface="+mn-lt"/>
                <a:ea typeface="+mn-ea"/>
              </a:rPr>
              <a:t>客户发起的。</a:t>
            </a:r>
            <a:endParaRPr lang="zh-CN" altLang="en-US" sz="3200" b="1" dirty="0">
              <a:solidFill>
                <a:srgbClr val="000066"/>
              </a:solidFill>
              <a:latin typeface="+mn-lt"/>
              <a:ea typeface="+mn-ea"/>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电子邮件的组成</a:t>
            </a:r>
            <a:endParaRPr lang="zh-CN" altLang="en-US" dirty="0" smtClean="0">
              <a:ea typeface="黑体" panose="02010609060101010101" pitchFamily="2" charset="-122"/>
            </a:endParaRPr>
          </a:p>
        </p:txBody>
      </p:sp>
      <p:sp>
        <p:nvSpPr>
          <p:cNvPr id="1155075" name="Rectangle 3"/>
          <p:cNvSpPr>
            <a:spLocks noGrp="1" noChangeArrowheads="1"/>
          </p:cNvSpPr>
          <p:nvPr>
            <p:ph idx="1"/>
          </p:nvPr>
        </p:nvSpPr>
        <p:spPr/>
        <p:txBody>
          <a:bodyPr/>
          <a:lstStyle/>
          <a:p>
            <a:pPr eaLnBrk="1" hangingPunct="1">
              <a:defRPr/>
            </a:pPr>
            <a:r>
              <a:rPr lang="zh-CN" altLang="en-US" dirty="0" smtClean="0"/>
              <a:t>电子邮件由</a:t>
            </a:r>
            <a:r>
              <a:rPr lang="zh-CN" altLang="en-US" dirty="0" smtClean="0">
                <a:solidFill>
                  <a:srgbClr val="FF0000"/>
                </a:solidFill>
              </a:rPr>
              <a:t>信封 </a:t>
            </a:r>
            <a:r>
              <a:rPr lang="en-US" altLang="zh-CN" dirty="0" smtClean="0"/>
              <a:t>(envelope) </a:t>
            </a:r>
            <a:r>
              <a:rPr lang="zh-CN" altLang="en-US" dirty="0" smtClean="0"/>
              <a:t>和</a:t>
            </a:r>
            <a:r>
              <a:rPr lang="zh-CN" altLang="en-US" dirty="0" smtClean="0">
                <a:solidFill>
                  <a:srgbClr val="FF0000"/>
                </a:solidFill>
              </a:rPr>
              <a:t>内容 </a:t>
            </a:r>
            <a:r>
              <a:rPr lang="en-US" altLang="zh-CN" dirty="0" smtClean="0"/>
              <a:t>(content) </a:t>
            </a:r>
            <a:r>
              <a:rPr lang="zh-CN" altLang="en-US" dirty="0" smtClean="0"/>
              <a:t>两部分组成。</a:t>
            </a:r>
            <a:endParaRPr lang="zh-CN" altLang="en-US" dirty="0" smtClean="0"/>
          </a:p>
          <a:p>
            <a:pPr eaLnBrk="1" hangingPunct="1">
              <a:defRPr/>
            </a:pPr>
            <a:r>
              <a:rPr lang="zh-CN" altLang="en-US" dirty="0" smtClean="0"/>
              <a:t>电子邮件的传输程序根据邮件信封上的信息来传送邮件。用户在从自己的邮箱中读取邮件时才能见到邮件的内容。</a:t>
            </a:r>
            <a:endParaRPr lang="zh-CN" altLang="en-US" dirty="0" smtClean="0"/>
          </a:p>
          <a:p>
            <a:pPr eaLnBrk="1" hangingPunct="1">
              <a:defRPr/>
            </a:pPr>
            <a:r>
              <a:rPr lang="zh-CN" altLang="en-US" dirty="0" smtClean="0"/>
              <a:t>在邮件的信封上，最重要的就是收件人的地址。  </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50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5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5"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ChangeArrowheads="1"/>
          </p:cNvSpPr>
          <p:nvPr/>
        </p:nvSpPr>
        <p:spPr bwMode="auto">
          <a:xfrm>
            <a:off x="776536" y="2371477"/>
            <a:ext cx="8725314" cy="769491"/>
          </a:xfrm>
          <a:prstGeom prst="rect">
            <a:avLst/>
          </a:prstGeom>
          <a:solidFill>
            <a:srgbClr val="FFFF66"/>
          </a:solidFill>
          <a:ln w="9525">
            <a:solidFill>
              <a:schemeClr val="tx1"/>
            </a:solidFill>
            <a:miter lim="800000"/>
          </a:ln>
          <a:effectLst/>
        </p:spPr>
        <p:txBody>
          <a:bodyPr wrap="none" anchor="ctr"/>
          <a:lstStyle/>
          <a:p>
            <a:pPr eaLnBrk="1" hangingPunct="1"/>
            <a:endParaRPr lang="zh-CN" altLang="en-US"/>
          </a:p>
        </p:txBody>
      </p:sp>
      <p:sp>
        <p:nvSpPr>
          <p:cNvPr id="242691" name="Rectangle 3"/>
          <p:cNvSpPr>
            <a:spLocks noGrp="1" noChangeArrowheads="1"/>
          </p:cNvSpPr>
          <p:nvPr>
            <p:ph type="title"/>
          </p:nvPr>
        </p:nvSpPr>
        <p:spPr/>
        <p:txBody>
          <a:bodyPr/>
          <a:lstStyle/>
          <a:p>
            <a:pPr algn="ctr" eaLnBrk="1" hangingPunct="1">
              <a:defRPr/>
            </a:pPr>
            <a:r>
              <a:rPr dirty="0"/>
              <a:t>电子邮件地址的格式</a:t>
            </a:r>
            <a:endParaRPr dirty="0"/>
          </a:p>
        </p:txBody>
      </p:sp>
      <p:sp>
        <p:nvSpPr>
          <p:cNvPr id="1157124" name="Rectangle 4"/>
          <p:cNvSpPr>
            <a:spLocks noGrp="1" noChangeArrowheads="1"/>
          </p:cNvSpPr>
          <p:nvPr>
            <p:ph idx="1"/>
          </p:nvPr>
        </p:nvSpPr>
        <p:spPr/>
        <p:txBody>
          <a:bodyPr/>
          <a:lstStyle/>
          <a:p>
            <a:pPr marL="316230" indent="-316230" eaLnBrk="1" hangingPunct="1">
              <a:spcBef>
                <a:spcPts val="555"/>
              </a:spcBef>
              <a:defRPr/>
            </a:pPr>
            <a:r>
              <a:rPr lang="en-US" altLang="zh-CN" dirty="0" smtClean="0"/>
              <a:t>TCP/IP </a:t>
            </a:r>
            <a:r>
              <a:rPr lang="zh-CN" altLang="en-US" dirty="0" smtClean="0"/>
              <a:t>体系的电子邮件系统规定电子邮件地址的格式如下：</a:t>
            </a:r>
            <a:endParaRPr lang="zh-CN" altLang="en-US" dirty="0" smtClean="0"/>
          </a:p>
          <a:p>
            <a:pPr marL="316230" indent="-316230" eaLnBrk="1" hangingPunct="1">
              <a:spcBef>
                <a:spcPct val="45000"/>
              </a:spcBef>
              <a:spcAft>
                <a:spcPct val="45000"/>
              </a:spcAft>
              <a:buFont typeface="Wingdings" panose="05000000000000000000" pitchFamily="2" charset="2"/>
              <a:buNone/>
              <a:defRPr/>
            </a:pPr>
            <a:r>
              <a:rPr lang="zh-CN" altLang="en-US" dirty="0" smtClean="0"/>
              <a:t> </a:t>
            </a:r>
            <a:r>
              <a:rPr lang="en-US" altLang="zh-CN" dirty="0" smtClean="0"/>
              <a:t>	 </a:t>
            </a:r>
            <a:r>
              <a:rPr lang="zh-CN" altLang="en-US" dirty="0" smtClean="0"/>
              <a:t>收件人邮箱名</a:t>
            </a:r>
            <a:r>
              <a:rPr lang="en-US" altLang="zh-CN" dirty="0" smtClean="0"/>
              <a:t>@</a:t>
            </a:r>
            <a:r>
              <a:rPr lang="zh-CN" altLang="en-US" dirty="0" smtClean="0"/>
              <a:t>邮箱所在主机的域名      </a:t>
            </a:r>
            <a:r>
              <a:rPr lang="en-US" altLang="zh-CN" dirty="0" smtClean="0"/>
              <a:t>(6-1)</a:t>
            </a:r>
            <a:endParaRPr lang="en-US" altLang="zh-CN" dirty="0" smtClean="0"/>
          </a:p>
          <a:p>
            <a:pPr marL="316230" indent="-316230" eaLnBrk="1" hangingPunct="1">
              <a:spcBef>
                <a:spcPct val="0"/>
              </a:spcBef>
              <a:spcAft>
                <a:spcPct val="25000"/>
              </a:spcAft>
              <a:defRPr/>
            </a:pPr>
            <a:r>
              <a:rPr lang="zh-CN" altLang="en-US" dirty="0" smtClean="0"/>
              <a:t>符号“</a:t>
            </a:r>
            <a:r>
              <a:rPr lang="en-US" altLang="zh-CN" dirty="0" smtClean="0"/>
              <a:t>@”</a:t>
            </a:r>
            <a:r>
              <a:rPr lang="zh-CN" altLang="en-US" dirty="0" smtClean="0"/>
              <a:t>读作“</a:t>
            </a:r>
            <a:r>
              <a:rPr lang="en-US" altLang="zh-CN" dirty="0" smtClean="0"/>
              <a:t>at”</a:t>
            </a:r>
            <a:r>
              <a:rPr lang="zh-CN" altLang="en-US" dirty="0" smtClean="0"/>
              <a:t>，表示“在”的意思。 </a:t>
            </a:r>
            <a:endParaRPr lang="zh-CN" altLang="en-US" dirty="0" smtClean="0"/>
          </a:p>
          <a:p>
            <a:pPr marL="316230" indent="-316230" eaLnBrk="1" hangingPunct="1">
              <a:spcBef>
                <a:spcPct val="0"/>
              </a:spcBef>
              <a:spcAft>
                <a:spcPct val="45000"/>
              </a:spcAft>
              <a:defRPr/>
            </a:pPr>
            <a:r>
              <a:rPr lang="zh-CN" altLang="en-US" dirty="0" smtClean="0"/>
              <a:t>例如电子邮件地址 </a:t>
            </a:r>
            <a:r>
              <a:rPr lang="en-US" altLang="zh-CN" dirty="0" smtClean="0"/>
              <a:t>xiexiren@tsinghua.org.cn</a:t>
            </a:r>
            <a:endParaRPr lang="en-US" altLang="zh-CN" dirty="0" smtClean="0"/>
          </a:p>
        </p:txBody>
      </p:sp>
      <p:grpSp>
        <p:nvGrpSpPr>
          <p:cNvPr id="1157125" name="Group 5"/>
          <p:cNvGrpSpPr/>
          <p:nvPr/>
        </p:nvGrpSpPr>
        <p:grpSpPr bwMode="auto">
          <a:xfrm>
            <a:off x="5267134" y="4437112"/>
            <a:ext cx="4134380" cy="1728787"/>
            <a:chOff x="3152" y="2931"/>
            <a:chExt cx="2404" cy="1089"/>
          </a:xfrm>
        </p:grpSpPr>
        <p:sp>
          <p:nvSpPr>
            <p:cNvPr id="254987" name="Line 6"/>
            <p:cNvSpPr>
              <a:spLocks noChangeShapeType="1"/>
            </p:cNvSpPr>
            <p:nvPr/>
          </p:nvSpPr>
          <p:spPr bwMode="auto">
            <a:xfrm>
              <a:off x="3696" y="2931"/>
              <a:ext cx="1702"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54988" name="Group 7"/>
            <p:cNvGrpSpPr/>
            <p:nvPr/>
          </p:nvGrpSpPr>
          <p:grpSpPr bwMode="auto">
            <a:xfrm>
              <a:off x="3152" y="3339"/>
              <a:ext cx="2404" cy="681"/>
              <a:chOff x="3152" y="3339"/>
              <a:chExt cx="2404" cy="681"/>
            </a:xfrm>
          </p:grpSpPr>
          <p:sp>
            <p:nvSpPr>
              <p:cNvPr id="254989" name="AutoShape 8"/>
              <p:cNvSpPr>
                <a:spLocks noChangeArrowheads="1"/>
              </p:cNvSpPr>
              <p:nvPr/>
            </p:nvSpPr>
            <p:spPr bwMode="auto">
              <a:xfrm>
                <a:off x="3152" y="3339"/>
                <a:ext cx="2404" cy="681"/>
              </a:xfrm>
              <a:prstGeom prst="wedgeRoundRectCallout">
                <a:avLst>
                  <a:gd name="adj1" fmla="val 167"/>
                  <a:gd name="adj2" fmla="val -108148"/>
                  <a:gd name="adj3" fmla="val 16667"/>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zh-CN" sz="2800" b="1">
                  <a:solidFill>
                    <a:srgbClr val="000099"/>
                  </a:solidFill>
                </a:endParaRPr>
              </a:p>
            </p:txBody>
          </p:sp>
          <p:sp>
            <p:nvSpPr>
              <p:cNvPr id="254990" name="Text Box 9"/>
              <p:cNvSpPr txBox="1">
                <a:spLocks noChangeArrowheads="1"/>
              </p:cNvSpPr>
              <p:nvPr/>
            </p:nvSpPr>
            <p:spPr bwMode="auto">
              <a:xfrm>
                <a:off x="3179" y="3386"/>
                <a:ext cx="2300"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000099"/>
                    </a:solidFill>
                    <a:latin typeface="黑体" panose="02010609060101010101" pitchFamily="2" charset="-122"/>
                    <a:ea typeface="黑体" panose="02010609060101010101" pitchFamily="2" charset="-122"/>
                  </a:rPr>
                  <a:t>邮箱所在的主机的域名</a:t>
                </a:r>
                <a:endParaRPr lang="zh-CN" altLang="en-US" sz="2800" b="1">
                  <a:solidFill>
                    <a:srgbClr val="000099"/>
                  </a:solidFill>
                  <a:latin typeface="黑体" panose="02010609060101010101" pitchFamily="2" charset="-122"/>
                  <a:ea typeface="黑体" panose="02010609060101010101" pitchFamily="2" charset="-122"/>
                </a:endParaRPr>
              </a:p>
              <a:p>
                <a:pPr eaLnBrk="1" hangingPunct="1"/>
                <a:r>
                  <a:rPr lang="zh-CN" altLang="en-US" sz="2800" b="1">
                    <a:solidFill>
                      <a:srgbClr val="000099"/>
                    </a:solidFill>
                    <a:latin typeface="黑体" panose="02010609060101010101" pitchFamily="2" charset="-122"/>
                    <a:ea typeface="黑体" panose="02010609060101010101" pitchFamily="2" charset="-122"/>
                  </a:rPr>
                  <a:t>在全世界必须是唯一的 </a:t>
                </a:r>
                <a:endParaRPr lang="zh-CN" altLang="en-US" sz="2800" b="1">
                  <a:solidFill>
                    <a:srgbClr val="000099"/>
                  </a:solidFill>
                  <a:latin typeface="黑体" panose="02010609060101010101" pitchFamily="2" charset="-122"/>
                  <a:ea typeface="黑体" panose="02010609060101010101" pitchFamily="2" charset="-122"/>
                </a:endParaRPr>
              </a:p>
            </p:txBody>
          </p:sp>
        </p:grpSp>
      </p:grpSp>
      <p:grpSp>
        <p:nvGrpSpPr>
          <p:cNvPr id="1157130" name="Group 10"/>
          <p:cNvGrpSpPr/>
          <p:nvPr/>
        </p:nvGrpSpPr>
        <p:grpSpPr bwMode="auto">
          <a:xfrm>
            <a:off x="704528" y="4437112"/>
            <a:ext cx="5030390" cy="1728787"/>
            <a:chOff x="545" y="2931"/>
            <a:chExt cx="2925" cy="1089"/>
          </a:xfrm>
        </p:grpSpPr>
        <p:sp>
          <p:nvSpPr>
            <p:cNvPr id="254983" name="Line 11"/>
            <p:cNvSpPr>
              <a:spLocks noChangeShapeType="1"/>
            </p:cNvSpPr>
            <p:nvPr/>
          </p:nvSpPr>
          <p:spPr bwMode="auto">
            <a:xfrm>
              <a:off x="2597" y="2931"/>
              <a:ext cx="873"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54984" name="Group 12"/>
            <p:cNvGrpSpPr/>
            <p:nvPr/>
          </p:nvGrpSpPr>
          <p:grpSpPr bwMode="auto">
            <a:xfrm>
              <a:off x="545" y="3339"/>
              <a:ext cx="2223" cy="681"/>
              <a:chOff x="545" y="3339"/>
              <a:chExt cx="2223" cy="681"/>
            </a:xfrm>
          </p:grpSpPr>
          <p:sp>
            <p:nvSpPr>
              <p:cNvPr id="254985" name="AutoShape 13"/>
              <p:cNvSpPr>
                <a:spLocks noChangeArrowheads="1"/>
              </p:cNvSpPr>
              <p:nvPr/>
            </p:nvSpPr>
            <p:spPr bwMode="auto">
              <a:xfrm>
                <a:off x="545" y="3339"/>
                <a:ext cx="2223" cy="681"/>
              </a:xfrm>
              <a:prstGeom prst="wedgeRoundRectCallout">
                <a:avLst>
                  <a:gd name="adj1" fmla="val 63764"/>
                  <a:gd name="adj2" fmla="val -108148"/>
                  <a:gd name="adj3" fmla="val 16667"/>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zh-CN" sz="2800" b="1">
                  <a:solidFill>
                    <a:srgbClr val="000099"/>
                  </a:solidFill>
                </a:endParaRPr>
              </a:p>
            </p:txBody>
          </p:sp>
          <p:sp>
            <p:nvSpPr>
              <p:cNvPr id="254986" name="Text Box 14"/>
              <p:cNvSpPr txBox="1">
                <a:spLocks noChangeArrowheads="1"/>
              </p:cNvSpPr>
              <p:nvPr/>
            </p:nvSpPr>
            <p:spPr bwMode="auto">
              <a:xfrm>
                <a:off x="591" y="3385"/>
                <a:ext cx="2091"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000099"/>
                    </a:solidFill>
                    <a:latin typeface="黑体" panose="02010609060101010101" pitchFamily="2" charset="-122"/>
                    <a:ea typeface="黑体" panose="02010609060101010101" pitchFamily="2" charset="-122"/>
                  </a:rPr>
                  <a:t>这个用户名在该域名</a:t>
                </a:r>
                <a:endParaRPr lang="zh-CN" altLang="en-US" sz="2800" b="1">
                  <a:solidFill>
                    <a:srgbClr val="000099"/>
                  </a:solidFill>
                  <a:latin typeface="黑体" panose="02010609060101010101" pitchFamily="2" charset="-122"/>
                  <a:ea typeface="黑体" panose="02010609060101010101" pitchFamily="2" charset="-122"/>
                </a:endParaRPr>
              </a:p>
              <a:p>
                <a:pPr eaLnBrk="1" hangingPunct="1"/>
                <a:r>
                  <a:rPr lang="zh-CN" altLang="en-US" sz="2800" b="1">
                    <a:solidFill>
                      <a:srgbClr val="000099"/>
                    </a:solidFill>
                    <a:latin typeface="黑体" panose="02010609060101010101" pitchFamily="2" charset="-122"/>
                    <a:ea typeface="黑体" panose="02010609060101010101" pitchFamily="2" charset="-122"/>
                  </a:rPr>
                  <a:t>的范围内是唯一的。 </a:t>
                </a:r>
                <a:endParaRPr lang="zh-CN" altLang="en-US" sz="2800" b="1">
                  <a:solidFill>
                    <a:srgbClr val="000099"/>
                  </a:solidFill>
                  <a:latin typeface="黑体" panose="02010609060101010101" pitchFamily="2" charset="-122"/>
                  <a:ea typeface="黑体" panose="0201060906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712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7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7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6.5.2  </a:t>
            </a:r>
            <a:r>
              <a:rPr lang="zh-CN" altLang="en-US" dirty="0" smtClean="0">
                <a:ea typeface="黑体" panose="02010609060101010101" pitchFamily="2" charset="-122"/>
              </a:rPr>
              <a:t>简单邮件传送协议 </a:t>
            </a:r>
            <a:r>
              <a:rPr lang="en-US" altLang="zh-CN" dirty="0" smtClean="0">
                <a:ea typeface="黑体" panose="02010609060101010101" pitchFamily="2" charset="-122"/>
              </a:rPr>
              <a:t>SMTP </a:t>
            </a:r>
            <a:endParaRPr lang="en-US" altLang="zh-CN" dirty="0" smtClean="0">
              <a:ea typeface="黑体" panose="02010609060101010101" pitchFamily="2" charset="-122"/>
            </a:endParaRPr>
          </a:p>
        </p:txBody>
      </p:sp>
      <p:sp>
        <p:nvSpPr>
          <p:cNvPr id="1159171" name="Rectangle 3"/>
          <p:cNvSpPr>
            <a:spLocks noGrp="1" noChangeArrowheads="1"/>
          </p:cNvSpPr>
          <p:nvPr>
            <p:ph idx="1"/>
          </p:nvPr>
        </p:nvSpPr>
        <p:spPr/>
        <p:txBody>
          <a:bodyPr/>
          <a:lstStyle/>
          <a:p>
            <a:pPr eaLnBrk="1" hangingPunct="1">
              <a:defRPr/>
            </a:pPr>
            <a:r>
              <a:rPr lang="en-US" altLang="zh-CN" dirty="0" smtClean="0"/>
              <a:t>SMTP </a:t>
            </a:r>
            <a:r>
              <a:rPr lang="zh-CN" altLang="en-US" dirty="0" smtClean="0"/>
              <a:t>所规定的就是在两个相互通信的 </a:t>
            </a:r>
            <a:r>
              <a:rPr lang="en-US" altLang="zh-CN" dirty="0" smtClean="0"/>
              <a:t>SMTP </a:t>
            </a:r>
            <a:r>
              <a:rPr lang="zh-CN" altLang="en-US" dirty="0" smtClean="0"/>
              <a:t>进程之间应如何交换信息。</a:t>
            </a:r>
            <a:endParaRPr lang="zh-CN" altLang="en-US" dirty="0" smtClean="0"/>
          </a:p>
          <a:p>
            <a:pPr eaLnBrk="1" hangingPunct="1">
              <a:defRPr/>
            </a:pPr>
            <a:r>
              <a:rPr lang="zh-CN" altLang="en-US" dirty="0" smtClean="0"/>
              <a:t>由于 </a:t>
            </a:r>
            <a:r>
              <a:rPr lang="en-US" altLang="zh-CN" dirty="0" smtClean="0"/>
              <a:t>SMTP </a:t>
            </a:r>
            <a:r>
              <a:rPr lang="zh-CN" altLang="en-US" dirty="0" smtClean="0"/>
              <a:t>使用</a:t>
            </a:r>
            <a:r>
              <a:rPr lang="zh-CN" altLang="en-US" dirty="0" smtClean="0">
                <a:solidFill>
                  <a:srgbClr val="FF0000"/>
                </a:solidFill>
              </a:rPr>
              <a:t>客户服务器</a:t>
            </a:r>
            <a:r>
              <a:rPr lang="zh-CN" altLang="en-US" dirty="0" smtClean="0"/>
              <a:t>方式，因此负责发送邮件的 </a:t>
            </a:r>
            <a:r>
              <a:rPr lang="en-US" altLang="zh-CN" dirty="0" smtClean="0"/>
              <a:t>SMTP </a:t>
            </a:r>
            <a:r>
              <a:rPr lang="zh-CN" altLang="en-US" dirty="0" smtClean="0"/>
              <a:t>进程就是 </a:t>
            </a:r>
            <a:r>
              <a:rPr lang="en-US" altLang="zh-CN" dirty="0" smtClean="0"/>
              <a:t>SMTP </a:t>
            </a:r>
            <a:r>
              <a:rPr lang="zh-CN" altLang="en-US" dirty="0" smtClean="0"/>
              <a:t>客户，而负责接收邮件的 </a:t>
            </a:r>
            <a:r>
              <a:rPr lang="en-US" altLang="zh-CN" dirty="0" smtClean="0"/>
              <a:t>SMTP </a:t>
            </a:r>
            <a:r>
              <a:rPr lang="zh-CN" altLang="en-US" dirty="0" smtClean="0"/>
              <a:t>进程就是 </a:t>
            </a:r>
            <a:r>
              <a:rPr lang="en-US" altLang="zh-CN" dirty="0" smtClean="0"/>
              <a:t>SMTP </a:t>
            </a:r>
            <a:r>
              <a:rPr lang="zh-CN" altLang="en-US" dirty="0" smtClean="0"/>
              <a:t>服务器。</a:t>
            </a:r>
            <a:endParaRPr lang="zh-CN" altLang="en-US" dirty="0" smtClean="0"/>
          </a:p>
          <a:p>
            <a:pPr marL="0" indent="0" eaLnBrk="1" hangingPunct="1">
              <a:buNone/>
              <a:defRPr/>
            </a:pP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algn="ctr" eaLnBrk="1" hangingPunct="1"/>
            <a:r>
              <a:rPr lang="en-US" altLang="zh-CN" smtClean="0">
                <a:ea typeface="黑体" panose="02010609060101010101" pitchFamily="2" charset="-122"/>
              </a:rPr>
              <a:t>SMTP </a:t>
            </a:r>
            <a:r>
              <a:rPr lang="zh-CN" altLang="en-US" smtClean="0">
                <a:ea typeface="黑体" panose="02010609060101010101" pitchFamily="2" charset="-122"/>
              </a:rPr>
              <a:t>通信的三个阶段 </a:t>
            </a:r>
            <a:endParaRPr lang="zh-CN" altLang="en-US" smtClean="0">
              <a:ea typeface="黑体" panose="02010609060101010101" pitchFamily="2" charset="-122"/>
            </a:endParaRPr>
          </a:p>
        </p:txBody>
      </p:sp>
      <p:sp>
        <p:nvSpPr>
          <p:cNvPr id="248836" name="Rectangle 3"/>
          <p:cNvSpPr>
            <a:spLocks noGrp="1" noChangeArrowheads="1"/>
          </p:cNvSpPr>
          <p:nvPr>
            <p:ph idx="1"/>
          </p:nvPr>
        </p:nvSpPr>
        <p:spPr/>
        <p:txBody>
          <a:bodyPr/>
          <a:lstStyle/>
          <a:p>
            <a:pPr eaLnBrk="1" hangingPunct="1">
              <a:buFont typeface="Wingdings" panose="05000000000000000000" pitchFamily="2" charset="2"/>
              <a:buNone/>
              <a:defRPr/>
            </a:pPr>
            <a:r>
              <a:rPr lang="en-US" altLang="zh-CN" dirty="0" smtClean="0">
                <a:solidFill>
                  <a:srgbClr val="FF0000"/>
                </a:solidFill>
              </a:rPr>
              <a:t>1. </a:t>
            </a:r>
            <a:r>
              <a:rPr lang="zh-CN" altLang="en-US" dirty="0" smtClean="0">
                <a:solidFill>
                  <a:srgbClr val="FF0000"/>
                </a:solidFill>
              </a:rPr>
              <a:t>连接建立：</a:t>
            </a:r>
            <a:r>
              <a:rPr lang="zh-CN" altLang="en-US" dirty="0" smtClean="0"/>
              <a:t>连接是在发送主机的 </a:t>
            </a:r>
            <a:r>
              <a:rPr lang="en-US" altLang="zh-CN" dirty="0" smtClean="0"/>
              <a:t>SMTP </a:t>
            </a:r>
            <a:r>
              <a:rPr lang="zh-CN" altLang="en-US" dirty="0" smtClean="0"/>
              <a:t>客户和接收主机的 </a:t>
            </a:r>
            <a:r>
              <a:rPr lang="en-US" altLang="zh-CN" dirty="0" smtClean="0"/>
              <a:t>SMTP </a:t>
            </a:r>
            <a:r>
              <a:rPr lang="zh-CN" altLang="en-US" dirty="0" smtClean="0"/>
              <a:t>服务器之间建立的。</a:t>
            </a:r>
            <a:r>
              <a:rPr lang="en-US" altLang="zh-CN" dirty="0" smtClean="0">
                <a:solidFill>
                  <a:srgbClr val="0000FF"/>
                </a:solidFill>
              </a:rPr>
              <a:t>SMTP</a:t>
            </a:r>
            <a:r>
              <a:rPr lang="zh-CN" altLang="en-US" dirty="0" smtClean="0">
                <a:solidFill>
                  <a:srgbClr val="0000FF"/>
                </a:solidFill>
              </a:rPr>
              <a:t>不使用中间的邮件服务器。</a:t>
            </a:r>
            <a:r>
              <a:rPr lang="zh-CN" altLang="en-US" sz="3600" dirty="0" smtClean="0"/>
              <a:t> </a:t>
            </a:r>
            <a:r>
              <a:rPr lang="zh-CN" altLang="en-US" dirty="0" smtClean="0"/>
              <a:t>  </a:t>
            </a:r>
            <a:endParaRPr lang="zh-CN" altLang="en-US" dirty="0" smtClean="0"/>
          </a:p>
          <a:p>
            <a:pPr eaLnBrk="1" hangingPunct="1">
              <a:buFont typeface="Wingdings" panose="05000000000000000000" pitchFamily="2" charset="2"/>
              <a:buNone/>
              <a:defRPr/>
            </a:pPr>
            <a:r>
              <a:rPr lang="en-US" altLang="zh-CN" dirty="0" smtClean="0">
                <a:solidFill>
                  <a:srgbClr val="FF0000"/>
                </a:solidFill>
              </a:rPr>
              <a:t>2. </a:t>
            </a:r>
            <a:r>
              <a:rPr lang="zh-CN" altLang="en-US" dirty="0" smtClean="0">
                <a:solidFill>
                  <a:srgbClr val="FF0000"/>
                </a:solidFill>
              </a:rPr>
              <a:t>邮件传送</a:t>
            </a:r>
            <a:endParaRPr lang="zh-CN" altLang="en-US" dirty="0" smtClean="0">
              <a:solidFill>
                <a:srgbClr val="FF0000"/>
              </a:solidFill>
            </a:endParaRPr>
          </a:p>
          <a:p>
            <a:pPr eaLnBrk="1" hangingPunct="1">
              <a:buFont typeface="Wingdings" panose="05000000000000000000" pitchFamily="2" charset="2"/>
              <a:buNone/>
              <a:defRPr/>
            </a:pPr>
            <a:r>
              <a:rPr lang="en-US" altLang="zh-CN" dirty="0" smtClean="0">
                <a:solidFill>
                  <a:srgbClr val="FF0000"/>
                </a:solidFill>
              </a:rPr>
              <a:t>3. </a:t>
            </a:r>
            <a:r>
              <a:rPr lang="zh-CN" altLang="en-US" dirty="0" smtClean="0">
                <a:solidFill>
                  <a:srgbClr val="FF0000"/>
                </a:solidFill>
              </a:rPr>
              <a:t>连接释放：</a:t>
            </a:r>
            <a:r>
              <a:rPr lang="zh-CN" altLang="en-US" dirty="0" smtClean="0"/>
              <a:t>邮件发送完毕后，</a:t>
            </a:r>
            <a:r>
              <a:rPr lang="en-US" altLang="zh-CN" dirty="0" smtClean="0"/>
              <a:t>SMTP </a:t>
            </a:r>
            <a:r>
              <a:rPr lang="zh-CN" altLang="en-US" dirty="0" smtClean="0"/>
              <a:t>应释放 </a:t>
            </a:r>
            <a:r>
              <a:rPr lang="en-US" altLang="zh-CN" dirty="0" smtClean="0"/>
              <a:t>TCP </a:t>
            </a:r>
            <a:r>
              <a:rPr lang="zh-CN" altLang="en-US" dirty="0" smtClean="0"/>
              <a:t>连接。 </a:t>
            </a:r>
            <a:endParaRPr lang="zh-CN" altLang="en-US" dirty="0" smtClean="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lstStyle/>
          <a:p>
            <a:pPr marL="838200" indent="-838200" eaLnBrk="1" hangingPunct="1"/>
            <a:r>
              <a:rPr lang="en-US" altLang="zh-CN" dirty="0" smtClean="0">
                <a:ea typeface="黑体" panose="02010609060101010101" pitchFamily="2" charset="-122"/>
              </a:rPr>
              <a:t>6.5.3  </a:t>
            </a:r>
            <a:r>
              <a:rPr lang="zh-CN" altLang="en-US" dirty="0" smtClean="0">
                <a:ea typeface="黑体" panose="02010609060101010101" pitchFamily="2" charset="-122"/>
              </a:rPr>
              <a:t>电子邮件的信息格式 </a:t>
            </a:r>
            <a:endParaRPr lang="zh-CN" altLang="en-US" dirty="0" smtClean="0">
              <a:ea typeface="黑体" panose="02010609060101010101" pitchFamily="2" charset="-122"/>
            </a:endParaRPr>
          </a:p>
        </p:txBody>
      </p:sp>
      <p:sp>
        <p:nvSpPr>
          <p:cNvPr id="1163267" name="Rectangle 3"/>
          <p:cNvSpPr>
            <a:spLocks noGrp="1" noChangeArrowheads="1"/>
          </p:cNvSpPr>
          <p:nvPr>
            <p:ph idx="1"/>
          </p:nvPr>
        </p:nvSpPr>
        <p:spPr>
          <a:xfrm>
            <a:off x="496800" y="1196470"/>
            <a:ext cx="9064800" cy="4935600"/>
          </a:xfrm>
        </p:spPr>
        <p:txBody>
          <a:bodyPr/>
          <a:lstStyle/>
          <a:p>
            <a:pPr eaLnBrk="1" hangingPunct="1">
              <a:defRPr/>
            </a:pPr>
            <a:r>
              <a:rPr lang="zh-CN" altLang="en-US" dirty="0" smtClean="0"/>
              <a:t>一个电子邮件分为</a:t>
            </a:r>
            <a:r>
              <a:rPr lang="zh-CN" altLang="en-US" dirty="0" smtClean="0">
                <a:solidFill>
                  <a:srgbClr val="FF0000"/>
                </a:solidFill>
              </a:rPr>
              <a:t>信封</a:t>
            </a:r>
            <a:r>
              <a:rPr lang="zh-CN" altLang="en-US" dirty="0" smtClean="0"/>
              <a:t>和</a:t>
            </a:r>
            <a:r>
              <a:rPr lang="zh-CN" altLang="en-US" dirty="0" smtClean="0">
                <a:solidFill>
                  <a:srgbClr val="FF0000"/>
                </a:solidFill>
              </a:rPr>
              <a:t>内容</a:t>
            </a:r>
            <a:r>
              <a:rPr lang="zh-CN" altLang="en-US" dirty="0" smtClean="0"/>
              <a:t>两大部分。</a:t>
            </a:r>
            <a:endParaRPr lang="zh-CN" altLang="en-US" dirty="0" smtClean="0"/>
          </a:p>
          <a:p>
            <a:pPr eaLnBrk="1" hangingPunct="1">
              <a:defRPr/>
            </a:pPr>
            <a:r>
              <a:rPr lang="en-US" altLang="zh-CN" dirty="0" smtClean="0"/>
              <a:t>RFC 822 </a:t>
            </a:r>
            <a:r>
              <a:rPr lang="zh-CN" altLang="en-US" dirty="0" smtClean="0"/>
              <a:t>只规定了邮件</a:t>
            </a:r>
            <a:r>
              <a:rPr lang="zh-CN" altLang="en-US" dirty="0" smtClean="0">
                <a:solidFill>
                  <a:srgbClr val="FF0000"/>
                </a:solidFill>
              </a:rPr>
              <a:t>内容</a:t>
            </a:r>
            <a:r>
              <a:rPr lang="zh-CN" altLang="en-US" dirty="0" smtClean="0"/>
              <a:t>中的</a:t>
            </a:r>
            <a:r>
              <a:rPr lang="zh-CN" altLang="en-US" dirty="0" smtClean="0">
                <a:solidFill>
                  <a:srgbClr val="FF0000"/>
                </a:solidFill>
              </a:rPr>
              <a:t>首部 </a:t>
            </a:r>
            <a:r>
              <a:rPr lang="en-US" altLang="zh-CN" dirty="0" smtClean="0"/>
              <a:t>(header) </a:t>
            </a:r>
            <a:r>
              <a:rPr lang="zh-CN" altLang="en-US" dirty="0" smtClean="0"/>
              <a:t>格式，而对邮件的</a:t>
            </a:r>
            <a:r>
              <a:rPr lang="zh-CN" altLang="en-US" dirty="0" smtClean="0">
                <a:solidFill>
                  <a:srgbClr val="FF0000"/>
                </a:solidFill>
              </a:rPr>
              <a:t>主体 </a:t>
            </a:r>
            <a:r>
              <a:rPr lang="en-US" altLang="zh-CN" dirty="0" smtClean="0"/>
              <a:t>(body )</a:t>
            </a:r>
            <a:r>
              <a:rPr lang="zh-CN" altLang="en-US" dirty="0" smtClean="0"/>
              <a:t>部分则让用户自由撰写。</a:t>
            </a:r>
            <a:endParaRPr lang="zh-CN" altLang="en-US" dirty="0" smtClean="0"/>
          </a:p>
          <a:p>
            <a:pPr eaLnBrk="1" hangingPunct="1">
              <a:defRPr/>
            </a:pPr>
            <a:r>
              <a:rPr lang="zh-CN" altLang="en-US" dirty="0" smtClean="0"/>
              <a:t>用户写好首部后，邮件系统将自动地将信封所需的信息提取出来并写在信封上。所以用户不需要填写电子邮件信封上的信息。</a:t>
            </a:r>
            <a:endParaRPr lang="zh-CN" altLang="en-US" dirty="0" smtClean="0"/>
          </a:p>
          <a:p>
            <a:pPr eaLnBrk="1" hangingPunct="1">
              <a:defRPr/>
            </a:pPr>
            <a:r>
              <a:rPr lang="zh-CN" altLang="en-US" dirty="0" smtClean="0"/>
              <a:t>邮件内容首部包括一些关键字，后面加上冒号。最重要的关键字是：</a:t>
            </a:r>
            <a:r>
              <a:rPr lang="en-US" altLang="zh-CN" dirty="0" smtClean="0"/>
              <a:t>To </a:t>
            </a:r>
            <a:r>
              <a:rPr lang="zh-CN" altLang="en-US" dirty="0" smtClean="0"/>
              <a:t>和 </a:t>
            </a:r>
            <a:r>
              <a:rPr lang="en-US" altLang="zh-CN" dirty="0" smtClean="0"/>
              <a:t>Subject</a:t>
            </a:r>
            <a:r>
              <a:rPr lang="zh-CN" altLang="en-US" dirty="0" smtClean="0"/>
              <a:t>。</a:t>
            </a:r>
            <a:r>
              <a:rPr lang="zh-CN" altLang="en-US" sz="3600" dirty="0" smtClean="0"/>
              <a:t>  </a:t>
            </a:r>
            <a:r>
              <a:rPr lang="zh-CN" altLang="en-US" dirty="0" smtClean="0"/>
              <a:t> </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32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32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3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algn="ctr" eaLnBrk="1" hangingPunct="1"/>
            <a:r>
              <a:rPr lang="zh-CN" altLang="en-US" smtClean="0">
                <a:ea typeface="黑体" panose="02010609060101010101" pitchFamily="2" charset="-122"/>
              </a:rPr>
              <a:t>邮件内容的首部 </a:t>
            </a:r>
            <a:endParaRPr lang="zh-CN" altLang="en-US" smtClean="0">
              <a:ea typeface="黑体" panose="02010609060101010101" pitchFamily="2" charset="-122"/>
            </a:endParaRPr>
          </a:p>
        </p:txBody>
      </p:sp>
      <p:sp>
        <p:nvSpPr>
          <p:cNvPr id="116531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sz="3000" dirty="0">
                <a:solidFill>
                  <a:srgbClr val="FF0000"/>
                </a:solidFill>
              </a:rPr>
              <a:t>“To</a:t>
            </a:r>
            <a:r>
              <a:rPr lang="en-US" altLang="zh-CN" sz="3000" dirty="0" smtClean="0">
                <a:solidFill>
                  <a:srgbClr val="FF0000"/>
                </a:solidFill>
              </a:rPr>
              <a:t>:” </a:t>
            </a:r>
            <a:r>
              <a:rPr lang="zh-CN" altLang="en-US" sz="3000" dirty="0" smtClean="0"/>
              <a:t>后面</a:t>
            </a:r>
            <a:r>
              <a:rPr lang="zh-CN" altLang="en-US" sz="3000" dirty="0"/>
              <a:t>填入一个或多个收件人的电子邮件地址。用户只需打开地址簿，点击收件人名字，收件人的电子邮件地址就会自动地填入到合适的位置上。</a:t>
            </a:r>
            <a:endParaRPr lang="zh-CN" altLang="en-US" sz="3000" dirty="0"/>
          </a:p>
          <a:p>
            <a:r>
              <a:rPr lang="en-US" altLang="zh-CN" sz="3000" dirty="0">
                <a:solidFill>
                  <a:srgbClr val="FF0000"/>
                </a:solidFill>
              </a:rPr>
              <a:t>“Subject:” </a:t>
            </a:r>
            <a:r>
              <a:rPr lang="zh-CN" altLang="en-US" sz="3000" dirty="0" smtClean="0"/>
              <a:t>是</a:t>
            </a:r>
            <a:r>
              <a:rPr lang="zh-CN" altLang="en-US" sz="3000" dirty="0"/>
              <a:t>邮件的主题。它反映了邮件的主要内容，便于用户查找邮件。</a:t>
            </a:r>
            <a:endParaRPr lang="zh-CN" altLang="en-US" sz="3000" dirty="0"/>
          </a:p>
          <a:p>
            <a:r>
              <a:rPr lang="en-US" altLang="zh-CN" sz="3000" dirty="0">
                <a:solidFill>
                  <a:srgbClr val="FF0000"/>
                </a:solidFill>
              </a:rPr>
              <a:t>“Cc:”  </a:t>
            </a:r>
            <a:r>
              <a:rPr lang="zh-CN" altLang="en-US" sz="3000" dirty="0" smtClean="0"/>
              <a:t>表示</a:t>
            </a:r>
            <a:r>
              <a:rPr lang="zh-CN" altLang="en-US" sz="3000" dirty="0"/>
              <a:t>应给某某人发送一个邮件副本。</a:t>
            </a:r>
            <a:endParaRPr lang="zh-CN" altLang="en-US" sz="3000" dirty="0"/>
          </a:p>
          <a:p>
            <a:r>
              <a:rPr lang="en-US" altLang="zh-CN" sz="3000" dirty="0">
                <a:solidFill>
                  <a:srgbClr val="FF0000"/>
                </a:solidFill>
              </a:rPr>
              <a:t>“From” </a:t>
            </a:r>
            <a:r>
              <a:rPr lang="zh-CN" altLang="en-US" sz="3000" dirty="0"/>
              <a:t>和 “</a:t>
            </a:r>
            <a:r>
              <a:rPr lang="en-US" altLang="zh-CN" sz="3000" dirty="0"/>
              <a:t>Date” </a:t>
            </a:r>
            <a:r>
              <a:rPr lang="zh-CN" altLang="en-US" sz="3000" dirty="0"/>
              <a:t>表示发信人的电子邮件地址和发信日期</a:t>
            </a:r>
            <a:r>
              <a:rPr lang="zh-CN" altLang="en-US" sz="3000" dirty="0" smtClean="0"/>
              <a:t>。</a:t>
            </a:r>
            <a:endParaRPr lang="en-US" altLang="zh-CN" sz="3000" dirty="0" smtClean="0"/>
          </a:p>
          <a:p>
            <a:r>
              <a:rPr lang="en-US" altLang="zh-CN" sz="3000" dirty="0">
                <a:solidFill>
                  <a:srgbClr val="FF0000"/>
                </a:solidFill>
              </a:rPr>
              <a:t>“Reply-To” </a:t>
            </a:r>
            <a:r>
              <a:rPr lang="zh-CN" altLang="en-US" sz="3000" dirty="0"/>
              <a:t>是对方回信所用的地址。   </a:t>
            </a:r>
            <a:endParaRPr lang="zh-CN" altLang="en-US" sz="3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5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5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53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65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pPr eaLnBrk="1" hangingPunct="1"/>
            <a:r>
              <a:rPr lang="en-US" altLang="zh-CN" sz="4000" dirty="0" smtClean="0">
                <a:ea typeface="黑体" panose="02010609060101010101" pitchFamily="2" charset="-122"/>
              </a:rPr>
              <a:t>6.5.4  </a:t>
            </a:r>
            <a:r>
              <a:rPr lang="zh-CN" altLang="en-US" sz="4000" dirty="0" smtClean="0">
                <a:ea typeface="黑体" panose="02010609060101010101" pitchFamily="2" charset="-122"/>
              </a:rPr>
              <a:t>邮件读取协议</a:t>
            </a:r>
            <a:r>
              <a:rPr lang="en-US" altLang="zh-CN" sz="4000" dirty="0" smtClean="0">
                <a:ea typeface="黑体" panose="02010609060101010101" pitchFamily="2" charset="-122"/>
              </a:rPr>
              <a:t>POP3 </a:t>
            </a:r>
            <a:r>
              <a:rPr lang="zh-CN" altLang="en-US" sz="4000" dirty="0" smtClean="0">
                <a:ea typeface="黑体" panose="02010609060101010101" pitchFamily="2" charset="-122"/>
              </a:rPr>
              <a:t>和 </a:t>
            </a:r>
            <a:r>
              <a:rPr lang="en-US" altLang="zh-CN" sz="4000" dirty="0" smtClean="0">
                <a:ea typeface="黑体" panose="02010609060101010101" pitchFamily="2" charset="-122"/>
              </a:rPr>
              <a:t>IMAP</a:t>
            </a:r>
            <a:endParaRPr lang="en-US" altLang="zh-CN" sz="4000" dirty="0" smtClean="0">
              <a:ea typeface="黑体" panose="02010609060101010101" pitchFamily="2" charset="-122"/>
            </a:endParaRPr>
          </a:p>
        </p:txBody>
      </p:sp>
      <p:sp>
        <p:nvSpPr>
          <p:cNvPr id="116736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邮局协议 </a:t>
            </a:r>
            <a:r>
              <a:rPr lang="en-US" altLang="zh-CN" dirty="0"/>
              <a:t>POP </a:t>
            </a:r>
            <a:r>
              <a:rPr lang="zh-CN" altLang="en-US" dirty="0"/>
              <a:t>是一个非常简单、但功能有限的邮件读取协议，现在使用的是它的第三个版本 </a:t>
            </a:r>
            <a:r>
              <a:rPr lang="en-US" altLang="zh-CN" dirty="0">
                <a:solidFill>
                  <a:srgbClr val="FF0000"/>
                </a:solidFill>
              </a:rPr>
              <a:t>POP3</a:t>
            </a:r>
            <a:r>
              <a:rPr lang="zh-CN" altLang="en-US" dirty="0">
                <a:solidFill>
                  <a:srgbClr val="FF0000"/>
                </a:solidFill>
              </a:rPr>
              <a:t>。</a:t>
            </a:r>
            <a:endParaRPr lang="zh-CN" altLang="en-US" dirty="0">
              <a:solidFill>
                <a:srgbClr val="FF0000"/>
              </a:solidFill>
            </a:endParaRPr>
          </a:p>
          <a:p>
            <a:r>
              <a:rPr lang="en-US" altLang="zh-CN" dirty="0"/>
              <a:t>POP </a:t>
            </a:r>
            <a:r>
              <a:rPr lang="zh-CN" altLang="en-US" dirty="0"/>
              <a:t>也使用</a:t>
            </a:r>
            <a:r>
              <a:rPr lang="zh-CN" altLang="en-US" dirty="0">
                <a:solidFill>
                  <a:srgbClr val="FF0000"/>
                </a:solidFill>
              </a:rPr>
              <a:t>客户</a:t>
            </a:r>
            <a:r>
              <a:rPr lang="en-US" altLang="zh-CN" dirty="0">
                <a:solidFill>
                  <a:srgbClr val="FF0000"/>
                </a:solidFill>
              </a:rPr>
              <a:t>-</a:t>
            </a:r>
            <a:r>
              <a:rPr lang="zh-CN" altLang="en-US" dirty="0">
                <a:solidFill>
                  <a:srgbClr val="FF0000"/>
                </a:solidFill>
              </a:rPr>
              <a:t>服务器</a:t>
            </a:r>
            <a:r>
              <a:rPr lang="zh-CN" altLang="en-US" dirty="0"/>
              <a:t>的工作方式。</a:t>
            </a:r>
            <a:endParaRPr lang="zh-CN" altLang="en-US" dirty="0"/>
          </a:p>
          <a:p>
            <a:r>
              <a:rPr lang="zh-CN" altLang="en-US" dirty="0"/>
              <a:t>在接收邮件的用户 </a:t>
            </a:r>
            <a:r>
              <a:rPr lang="en-US" altLang="zh-CN" dirty="0"/>
              <a:t>PC </a:t>
            </a:r>
            <a:r>
              <a:rPr lang="zh-CN" altLang="en-US" dirty="0"/>
              <a:t>机中必须运行 </a:t>
            </a:r>
            <a:r>
              <a:rPr lang="en-US" altLang="zh-CN" dirty="0"/>
              <a:t>POP </a:t>
            </a:r>
            <a:r>
              <a:rPr lang="zh-CN" altLang="en-US" dirty="0"/>
              <a:t>客户程序，而在用户所连接的 </a:t>
            </a:r>
            <a:r>
              <a:rPr lang="en-US" altLang="zh-CN" dirty="0"/>
              <a:t>ISP </a:t>
            </a:r>
            <a:r>
              <a:rPr lang="zh-CN" altLang="en-US" dirty="0"/>
              <a:t>的邮件服务器中则运行 </a:t>
            </a:r>
            <a:r>
              <a:rPr lang="en-US" altLang="zh-CN" dirty="0"/>
              <a:t>POP </a:t>
            </a:r>
            <a:r>
              <a:rPr lang="zh-CN" altLang="en-US" dirty="0"/>
              <a:t>服务器程序。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algn="ctr" eaLnBrk="1" hangingPunct="1"/>
            <a:r>
              <a:rPr lang="en-US" altLang="zh-CN" dirty="0" smtClean="0">
                <a:ea typeface="黑体" panose="02010609060101010101" pitchFamily="2" charset="-122"/>
              </a:rPr>
              <a:t>IMAP </a:t>
            </a:r>
            <a:r>
              <a:rPr lang="zh-CN" altLang="en-US" dirty="0" smtClean="0">
                <a:ea typeface="黑体" panose="02010609060101010101" pitchFamily="2" charset="-122"/>
              </a:rPr>
              <a:t>协议</a:t>
            </a:r>
            <a:endParaRPr lang="en-US" altLang="zh-CN" dirty="0" smtClean="0">
              <a:ea typeface="黑体" panose="02010609060101010101" pitchFamily="2" charset="-122"/>
            </a:endParaRPr>
          </a:p>
        </p:txBody>
      </p:sp>
      <p:sp>
        <p:nvSpPr>
          <p:cNvPr id="1169411" name="Rectangle 3"/>
          <p:cNvSpPr>
            <a:spLocks noGrp="1" noChangeArrowheads="1"/>
          </p:cNvSpPr>
          <p:nvPr>
            <p:ph idx="1"/>
          </p:nvPr>
        </p:nvSpPr>
        <p:spPr/>
        <p:txBody>
          <a:bodyPr/>
          <a:lstStyle/>
          <a:p>
            <a:pPr>
              <a:defRPr/>
            </a:pPr>
            <a:r>
              <a:rPr lang="en-US" altLang="zh-CN" sz="2800" dirty="0" smtClean="0"/>
              <a:t>IMAP </a:t>
            </a:r>
            <a:r>
              <a:rPr lang="en-US" altLang="zh-CN" sz="2800" dirty="0">
                <a:ea typeface="黑体" panose="02010609060101010101" pitchFamily="2" charset="-122"/>
              </a:rPr>
              <a:t>(Internet Message Access Protocol</a:t>
            </a:r>
            <a:r>
              <a:rPr lang="en-US" altLang="zh-CN" sz="2800" dirty="0" smtClean="0">
                <a:ea typeface="黑体" panose="02010609060101010101" pitchFamily="2" charset="-122"/>
              </a:rPr>
              <a:t>) </a:t>
            </a:r>
            <a:r>
              <a:rPr lang="zh-CN" altLang="en-US" sz="2800" dirty="0" smtClean="0"/>
              <a:t>也是按</a:t>
            </a:r>
            <a:r>
              <a:rPr lang="zh-CN" altLang="en-US" sz="2800" dirty="0" smtClean="0">
                <a:solidFill>
                  <a:srgbClr val="FF0000"/>
                </a:solidFill>
              </a:rPr>
              <a:t>客户服务器</a:t>
            </a:r>
            <a:r>
              <a:rPr lang="zh-CN" altLang="en-US" sz="2800" dirty="0" smtClean="0"/>
              <a:t>方式工作，现在较新的是版本 </a:t>
            </a:r>
            <a:r>
              <a:rPr lang="en-US" altLang="zh-CN" sz="2800" dirty="0" smtClean="0"/>
              <a:t>4</a:t>
            </a:r>
            <a:r>
              <a:rPr lang="zh-CN" altLang="en-US" sz="2800" dirty="0" smtClean="0"/>
              <a:t>，即 </a:t>
            </a:r>
            <a:r>
              <a:rPr lang="en-US" altLang="zh-CN" sz="2800" dirty="0" smtClean="0"/>
              <a:t>IMAP4</a:t>
            </a:r>
            <a:r>
              <a:rPr lang="zh-CN" altLang="en-US" sz="2800" dirty="0" smtClean="0"/>
              <a:t>。</a:t>
            </a:r>
            <a:endParaRPr lang="zh-CN" altLang="en-US" sz="2800" dirty="0" smtClean="0"/>
          </a:p>
          <a:p>
            <a:pPr eaLnBrk="1" hangingPunct="1">
              <a:defRPr/>
            </a:pPr>
            <a:r>
              <a:rPr lang="zh-CN" altLang="en-US" sz="2800" dirty="0" smtClean="0"/>
              <a:t>用户在自己的 </a:t>
            </a:r>
            <a:r>
              <a:rPr lang="en-US" altLang="zh-CN" sz="2800" dirty="0" smtClean="0"/>
              <a:t>PC </a:t>
            </a:r>
            <a:r>
              <a:rPr lang="zh-CN" altLang="en-US" sz="2800" dirty="0" smtClean="0"/>
              <a:t>机上就可以操纵 </a:t>
            </a:r>
            <a:r>
              <a:rPr lang="en-US" altLang="zh-CN" sz="2800" dirty="0" smtClean="0"/>
              <a:t>ISP </a:t>
            </a:r>
            <a:r>
              <a:rPr lang="zh-CN" altLang="en-US" sz="2800" dirty="0" smtClean="0"/>
              <a:t>的邮件服务器的邮箱，就像在本地操纵一样。</a:t>
            </a:r>
            <a:endParaRPr lang="zh-CN" altLang="en-US" sz="2800" dirty="0" smtClean="0"/>
          </a:p>
          <a:p>
            <a:pPr eaLnBrk="1" hangingPunct="1">
              <a:defRPr/>
            </a:pPr>
            <a:r>
              <a:rPr lang="zh-CN" altLang="en-US" sz="2800" dirty="0" smtClean="0"/>
              <a:t>因此 </a:t>
            </a:r>
            <a:r>
              <a:rPr lang="en-US" altLang="zh-CN" sz="2800" dirty="0" smtClean="0">
                <a:solidFill>
                  <a:srgbClr val="FF0000"/>
                </a:solidFill>
              </a:rPr>
              <a:t>IMAP </a:t>
            </a:r>
            <a:r>
              <a:rPr lang="zh-CN" altLang="en-US" sz="2800" dirty="0" smtClean="0">
                <a:solidFill>
                  <a:srgbClr val="FF0000"/>
                </a:solidFill>
              </a:rPr>
              <a:t>是一个联机协议。</a:t>
            </a:r>
            <a:r>
              <a:rPr lang="zh-CN" altLang="en-US" sz="2800" dirty="0" smtClean="0"/>
              <a:t>当用户 </a:t>
            </a:r>
            <a:r>
              <a:rPr lang="en-US" altLang="zh-CN" sz="2800" dirty="0" smtClean="0"/>
              <a:t>PC </a:t>
            </a:r>
            <a:r>
              <a:rPr lang="zh-CN" altLang="en-US" sz="2800" dirty="0" smtClean="0"/>
              <a:t>机上的 </a:t>
            </a:r>
            <a:r>
              <a:rPr lang="en-US" altLang="zh-CN" sz="2800" dirty="0" smtClean="0"/>
              <a:t>IMAP </a:t>
            </a:r>
            <a:r>
              <a:rPr lang="zh-CN" altLang="en-US" sz="2800" dirty="0" smtClean="0"/>
              <a:t>客户程序打开 </a:t>
            </a:r>
            <a:r>
              <a:rPr lang="en-US" altLang="zh-CN" sz="2800" dirty="0" smtClean="0"/>
              <a:t>IMAP </a:t>
            </a:r>
            <a:r>
              <a:rPr lang="zh-CN" altLang="en-US" sz="2800" dirty="0" smtClean="0"/>
              <a:t>服务器的邮箱时，用户就可看到邮件的首部。若用户需要打开某个邮件，则该邮件才传到用户的计算机上。</a:t>
            </a:r>
            <a:r>
              <a:rPr lang="zh-CN" altLang="en-US" dirty="0" smtClean="0"/>
              <a:t> </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94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9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pPr algn="ctr" eaLnBrk="1" hangingPunct="1"/>
            <a:r>
              <a:rPr lang="en-US" altLang="zh-CN" dirty="0" smtClean="0">
                <a:ea typeface="黑体" panose="02010609060101010101" pitchFamily="2" charset="-122"/>
              </a:rPr>
              <a:t>IMAP </a:t>
            </a:r>
            <a:r>
              <a:rPr lang="zh-CN" altLang="en-US" dirty="0" smtClean="0">
                <a:ea typeface="黑体" panose="02010609060101010101" pitchFamily="2" charset="-122"/>
              </a:rPr>
              <a:t>的特点</a:t>
            </a:r>
            <a:endParaRPr lang="zh-CN" altLang="en-US" dirty="0" smtClean="0">
              <a:ea typeface="黑体" panose="02010609060101010101" pitchFamily="2" charset="-122"/>
            </a:endParaRPr>
          </a:p>
        </p:txBody>
      </p:sp>
      <p:sp>
        <p:nvSpPr>
          <p:cNvPr id="117145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sz="2800" dirty="0" smtClean="0"/>
              <a:t>IMAP </a:t>
            </a:r>
            <a:r>
              <a:rPr lang="zh-CN" altLang="en-US" sz="2800" dirty="0" smtClean="0"/>
              <a:t>最大</a:t>
            </a:r>
            <a:r>
              <a:rPr lang="zh-CN" altLang="en-US" sz="2800" dirty="0"/>
              <a:t>的好处就是用户可以在不同的地方使用不同的计算机随时上网阅读和处理自己的邮件。</a:t>
            </a:r>
            <a:endParaRPr lang="zh-CN" altLang="en-US" sz="2800" dirty="0"/>
          </a:p>
          <a:p>
            <a:r>
              <a:rPr lang="en-US" altLang="zh-CN" sz="2800" dirty="0"/>
              <a:t>IMAP </a:t>
            </a:r>
            <a:r>
              <a:rPr lang="zh-CN" altLang="en-US" sz="2800" dirty="0"/>
              <a:t>还允许收件人只读取邮件中的某一个部分。例如，收到了一个带有视像附件（此文件可能很大）的邮件。为了节省时间，可以先下载邮件的正文部分，待以后有时间再读取或下载这个很长的附件。</a:t>
            </a:r>
            <a:endParaRPr lang="zh-CN" altLang="en-US" sz="2800" dirty="0"/>
          </a:p>
          <a:p>
            <a:r>
              <a:rPr lang="en-US" altLang="zh-CN" sz="2800" dirty="0"/>
              <a:t>IMAP </a:t>
            </a:r>
            <a:r>
              <a:rPr lang="zh-CN" altLang="en-US" sz="2800" dirty="0"/>
              <a:t>的缺点是如果用户没有将邮件复制到自己的 </a:t>
            </a:r>
            <a:r>
              <a:rPr lang="en-US" altLang="zh-CN" sz="2800" dirty="0"/>
              <a:t>PC </a:t>
            </a:r>
            <a:r>
              <a:rPr lang="zh-CN" altLang="en-US" sz="2800" dirty="0"/>
              <a:t>上，则邮件一直是存放在 </a:t>
            </a:r>
            <a:r>
              <a:rPr lang="en-US" altLang="zh-CN" sz="2800" dirty="0"/>
              <a:t>IMAP </a:t>
            </a:r>
            <a:r>
              <a:rPr lang="zh-CN" altLang="en-US" sz="2800" dirty="0"/>
              <a:t>服务器上。因此用户需要经常与 </a:t>
            </a:r>
            <a:r>
              <a:rPr lang="en-US" altLang="zh-CN" sz="2800" dirty="0"/>
              <a:t>IMAP </a:t>
            </a:r>
            <a:r>
              <a:rPr lang="zh-CN" altLang="en-US" sz="2800" dirty="0"/>
              <a:t>服务器建立连接。  </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1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1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1459"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pPr algn="ctr" eaLnBrk="1" hangingPunct="1"/>
            <a:r>
              <a:rPr lang="zh-CN" altLang="en-US" smtClean="0">
                <a:ea typeface="黑体" panose="02010609060101010101" pitchFamily="2" charset="-122"/>
              </a:rPr>
              <a:t>必须注意</a:t>
            </a:r>
            <a:endParaRPr lang="zh-CN" altLang="en-US" smtClean="0">
              <a:ea typeface="黑体" panose="02010609060101010101" pitchFamily="2" charset="-122"/>
            </a:endParaRPr>
          </a:p>
        </p:txBody>
      </p:sp>
      <p:sp>
        <p:nvSpPr>
          <p:cNvPr id="1173507" name="Rectangle 3"/>
          <p:cNvSpPr>
            <a:spLocks noGrp="1" noChangeArrowheads="1"/>
          </p:cNvSpPr>
          <p:nvPr>
            <p:ph idx="1"/>
          </p:nvPr>
        </p:nvSpPr>
        <p:spPr/>
        <p:txBody>
          <a:bodyPr/>
          <a:lstStyle/>
          <a:p>
            <a:pPr eaLnBrk="1" hangingPunct="1"/>
            <a:r>
              <a:rPr lang="zh-CN" altLang="en-US" dirty="0" smtClean="0">
                <a:ea typeface="黑体" panose="02010609060101010101" pitchFamily="2" charset="-122"/>
              </a:rPr>
              <a:t>不要将邮件读取协议 </a:t>
            </a:r>
            <a:r>
              <a:rPr lang="en-US" altLang="zh-CN" dirty="0" smtClean="0">
                <a:ea typeface="黑体" panose="02010609060101010101" pitchFamily="2" charset="-122"/>
              </a:rPr>
              <a:t>POP </a:t>
            </a:r>
            <a:r>
              <a:rPr lang="zh-CN" altLang="en-US" dirty="0" smtClean="0">
                <a:ea typeface="黑体" panose="02010609060101010101" pitchFamily="2" charset="-122"/>
              </a:rPr>
              <a:t>或 </a:t>
            </a:r>
            <a:r>
              <a:rPr lang="en-US" altLang="zh-CN" dirty="0" smtClean="0">
                <a:ea typeface="黑体" panose="02010609060101010101" pitchFamily="2" charset="-122"/>
              </a:rPr>
              <a:t>IMAP </a:t>
            </a:r>
            <a:r>
              <a:rPr lang="zh-CN" altLang="en-US" dirty="0" smtClean="0">
                <a:ea typeface="黑体" panose="02010609060101010101" pitchFamily="2" charset="-122"/>
              </a:rPr>
              <a:t>与邮件传送协议 </a:t>
            </a:r>
            <a:r>
              <a:rPr lang="en-US" altLang="zh-CN" dirty="0" smtClean="0">
                <a:ea typeface="黑体" panose="02010609060101010101" pitchFamily="2" charset="-122"/>
              </a:rPr>
              <a:t>SMTP </a:t>
            </a:r>
            <a:r>
              <a:rPr lang="zh-CN" altLang="en-US" dirty="0" smtClean="0">
                <a:ea typeface="黑体" panose="02010609060101010101" pitchFamily="2" charset="-122"/>
              </a:rPr>
              <a:t>弄混。</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发信人的用户代理向源邮件服务器发送邮件，以及源邮件服务器向目的邮件服务器发送邮件，都是使用 </a:t>
            </a:r>
            <a:r>
              <a:rPr lang="en-US" altLang="zh-CN" dirty="0" smtClean="0">
                <a:ea typeface="黑体" panose="02010609060101010101" pitchFamily="2" charset="-122"/>
              </a:rPr>
              <a:t>SMTP </a:t>
            </a:r>
            <a:r>
              <a:rPr lang="zh-CN" altLang="en-US" dirty="0" smtClean="0">
                <a:ea typeface="黑体" panose="02010609060101010101" pitchFamily="2" charset="-122"/>
              </a:rPr>
              <a:t>协议。</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而 </a:t>
            </a:r>
            <a:r>
              <a:rPr lang="en-US" altLang="zh-CN" dirty="0" smtClean="0">
                <a:ea typeface="黑体" panose="02010609060101010101" pitchFamily="2" charset="-122"/>
              </a:rPr>
              <a:t>POP </a:t>
            </a:r>
            <a:r>
              <a:rPr lang="zh-CN" altLang="en-US" dirty="0" smtClean="0">
                <a:ea typeface="黑体" panose="02010609060101010101" pitchFamily="2" charset="-122"/>
              </a:rPr>
              <a:t>协议或 </a:t>
            </a:r>
            <a:r>
              <a:rPr lang="en-US" altLang="zh-CN" dirty="0" smtClean="0">
                <a:ea typeface="黑体" panose="02010609060101010101" pitchFamily="2" charset="-122"/>
              </a:rPr>
              <a:t>IMAP </a:t>
            </a:r>
            <a:r>
              <a:rPr lang="zh-CN" altLang="en-US" dirty="0" smtClean="0">
                <a:ea typeface="黑体" panose="02010609060101010101" pitchFamily="2" charset="-122"/>
              </a:rPr>
              <a:t>协议则是用户从目的邮件服务器上读取邮件所使用的协议。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35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35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07"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ext Box 15"/>
          <p:cNvSpPr txBox="1">
            <a:spLocks noChangeArrowheads="1"/>
          </p:cNvSpPr>
          <p:nvPr/>
        </p:nvSpPr>
        <p:spPr bwMode="auto">
          <a:xfrm>
            <a:off x="7828504" y="5306045"/>
            <a:ext cx="9877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HTTP</a:t>
            </a:r>
            <a:endParaRPr lang="en-US" altLang="zh-CN" sz="2400" b="1">
              <a:solidFill>
                <a:srgbClr val="000099"/>
              </a:solidFill>
              <a:latin typeface="Arial" panose="020B0604020202020204" pitchFamily="34" charset="0"/>
              <a:ea typeface="黑体" panose="02010609060101010101" pitchFamily="2" charset="-122"/>
            </a:endParaRPr>
          </a:p>
        </p:txBody>
      </p:sp>
      <p:sp>
        <p:nvSpPr>
          <p:cNvPr id="273411" name="Text Box 14"/>
          <p:cNvSpPr txBox="1">
            <a:spLocks noChangeArrowheads="1"/>
          </p:cNvSpPr>
          <p:nvPr/>
        </p:nvSpPr>
        <p:spPr bwMode="auto">
          <a:xfrm>
            <a:off x="1088642" y="5306045"/>
            <a:ext cx="9877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HTTP</a:t>
            </a:r>
            <a:endParaRPr lang="en-US" altLang="zh-CN" sz="2400" b="1">
              <a:solidFill>
                <a:srgbClr val="000099"/>
              </a:solidFill>
              <a:latin typeface="Arial" panose="020B0604020202020204" pitchFamily="34" charset="0"/>
              <a:ea typeface="黑体" panose="02010609060101010101" pitchFamily="2" charset="-122"/>
            </a:endParaRPr>
          </a:p>
        </p:txBody>
      </p:sp>
      <p:sp>
        <p:nvSpPr>
          <p:cNvPr id="261124" name="Rectangle 2"/>
          <p:cNvSpPr>
            <a:spLocks noGrp="1" noChangeArrowheads="1"/>
          </p:cNvSpPr>
          <p:nvPr>
            <p:ph type="title"/>
          </p:nvPr>
        </p:nvSpPr>
        <p:spPr/>
        <p:txBody>
          <a:bodyPr/>
          <a:lstStyle/>
          <a:p>
            <a:pPr eaLnBrk="1" hangingPunct="1">
              <a:defRPr/>
            </a:pPr>
            <a:r>
              <a:rPr lang="en-US" altLang="zh-CN" dirty="0"/>
              <a:t>6.5.5  </a:t>
            </a:r>
            <a:r>
              <a:rPr dirty="0"/>
              <a:t>基于万维网的电子邮件</a:t>
            </a:r>
            <a:endParaRPr dirty="0"/>
          </a:p>
        </p:txBody>
      </p:sp>
      <p:sp>
        <p:nvSpPr>
          <p:cNvPr id="263174" name="Rectangle 3"/>
          <p:cNvSpPr>
            <a:spLocks noGrp="1" noChangeArrowheads="1"/>
          </p:cNvSpPr>
          <p:nvPr>
            <p:ph idx="1"/>
          </p:nvPr>
        </p:nvSpPr>
        <p:spPr/>
        <p:txBody>
          <a:bodyPr/>
          <a:lstStyle/>
          <a:p>
            <a:pPr marL="316230" indent="-316230" eaLnBrk="1" hangingPunct="1">
              <a:spcBef>
                <a:spcPts val="555"/>
              </a:spcBef>
              <a:defRPr/>
            </a:pPr>
            <a:r>
              <a:rPr lang="zh-CN" altLang="en-US" sz="2800" dirty="0" smtClean="0"/>
              <a:t>电子邮件从 </a:t>
            </a:r>
            <a:r>
              <a:rPr lang="en-US" altLang="zh-CN" sz="2800" dirty="0" smtClean="0"/>
              <a:t>A </a:t>
            </a:r>
            <a:r>
              <a:rPr lang="zh-CN" altLang="en-US" sz="2800" dirty="0" smtClean="0"/>
              <a:t>发送到网易邮件服务器</a:t>
            </a:r>
            <a:r>
              <a:rPr lang="zh-CN" altLang="en-US" sz="2800" dirty="0" smtClean="0">
                <a:solidFill>
                  <a:srgbClr val="FF0000"/>
                </a:solidFill>
              </a:rPr>
              <a:t>使用 </a:t>
            </a:r>
            <a:r>
              <a:rPr lang="en-US" altLang="zh-CN" sz="2800" dirty="0" smtClean="0">
                <a:solidFill>
                  <a:srgbClr val="FF0000"/>
                </a:solidFill>
              </a:rPr>
              <a:t>HTTP </a:t>
            </a:r>
            <a:r>
              <a:rPr lang="zh-CN" altLang="en-US" sz="2800" dirty="0" smtClean="0">
                <a:solidFill>
                  <a:srgbClr val="FF0000"/>
                </a:solidFill>
              </a:rPr>
              <a:t>协议。</a:t>
            </a:r>
            <a:endParaRPr lang="zh-CN" altLang="en-US" sz="2800" dirty="0" smtClean="0">
              <a:solidFill>
                <a:srgbClr val="FF0000"/>
              </a:solidFill>
            </a:endParaRPr>
          </a:p>
          <a:p>
            <a:pPr marL="316230" indent="-316230" eaLnBrk="1" hangingPunct="1">
              <a:spcBef>
                <a:spcPts val="555"/>
              </a:spcBef>
              <a:defRPr/>
            </a:pPr>
            <a:r>
              <a:rPr lang="zh-CN" altLang="en-US" sz="2800" dirty="0" smtClean="0"/>
              <a:t>两个邮件服务器之间的传送使用 </a:t>
            </a:r>
            <a:r>
              <a:rPr lang="en-US" altLang="zh-CN" sz="2800" dirty="0" smtClean="0"/>
              <a:t>SMTP</a:t>
            </a:r>
            <a:r>
              <a:rPr lang="zh-CN" altLang="en-US" sz="2800" dirty="0" smtClean="0"/>
              <a:t>。</a:t>
            </a:r>
            <a:endParaRPr lang="zh-CN" altLang="en-US" sz="2800" dirty="0" smtClean="0"/>
          </a:p>
          <a:p>
            <a:pPr marL="316230" indent="-316230" eaLnBrk="1" hangingPunct="1">
              <a:spcBef>
                <a:spcPts val="555"/>
              </a:spcBef>
              <a:defRPr/>
            </a:pPr>
            <a:r>
              <a:rPr lang="zh-CN" altLang="en-US" sz="2800" dirty="0" smtClean="0"/>
              <a:t>邮件从新浪邮件服务器传送到 </a:t>
            </a:r>
            <a:r>
              <a:rPr lang="en-US" altLang="zh-CN" sz="2800" dirty="0" smtClean="0"/>
              <a:t>B </a:t>
            </a:r>
            <a:r>
              <a:rPr lang="zh-CN" altLang="en-US" sz="2800" dirty="0" smtClean="0"/>
              <a:t>是使用 </a:t>
            </a:r>
            <a:r>
              <a:rPr lang="en-US" altLang="zh-CN" sz="2800" dirty="0" smtClean="0"/>
              <a:t>HTTP </a:t>
            </a:r>
            <a:r>
              <a:rPr lang="zh-CN" altLang="en-US" sz="2800" dirty="0" smtClean="0"/>
              <a:t>协议。</a:t>
            </a:r>
            <a:endParaRPr lang="zh-CN" altLang="en-US" sz="2800" dirty="0" smtClean="0"/>
          </a:p>
        </p:txBody>
      </p:sp>
      <p:sp>
        <p:nvSpPr>
          <p:cNvPr id="273414" name="Text Box 4"/>
          <p:cNvSpPr txBox="1">
            <a:spLocks noChangeArrowheads="1"/>
          </p:cNvSpPr>
          <p:nvPr/>
        </p:nvSpPr>
        <p:spPr bwMode="auto">
          <a:xfrm>
            <a:off x="600220" y="507744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A</a:t>
            </a:r>
            <a:endParaRPr lang="en-US" altLang="zh-CN" sz="2400" b="1">
              <a:solidFill>
                <a:srgbClr val="000099"/>
              </a:solidFill>
              <a:latin typeface="Arial" panose="020B0604020202020204" pitchFamily="34" charset="0"/>
              <a:ea typeface="黑体" panose="02010609060101010101" pitchFamily="2" charset="-122"/>
            </a:endParaRPr>
          </a:p>
        </p:txBody>
      </p:sp>
      <p:pic>
        <p:nvPicPr>
          <p:cNvPr id="273415" name="Picture 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543467" y="5490196"/>
            <a:ext cx="431668"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3416" name="Picture 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414600" y="5202857"/>
            <a:ext cx="612246"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3417" name="Picture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906696" y="5202857"/>
            <a:ext cx="612246"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418" name="Text Box 8"/>
          <p:cNvSpPr txBox="1">
            <a:spLocks noChangeArrowheads="1"/>
          </p:cNvSpPr>
          <p:nvPr/>
        </p:nvSpPr>
        <p:spPr bwMode="auto">
          <a:xfrm>
            <a:off x="9171662" y="5075857"/>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B</a:t>
            </a:r>
            <a:endParaRPr lang="en-US" altLang="zh-CN" sz="2400" b="1">
              <a:solidFill>
                <a:srgbClr val="000099"/>
              </a:solidFill>
              <a:latin typeface="Arial" panose="020B0604020202020204" pitchFamily="34" charset="0"/>
              <a:ea typeface="黑体" panose="02010609060101010101" pitchFamily="2" charset="-122"/>
            </a:endParaRPr>
          </a:p>
        </p:txBody>
      </p:sp>
      <p:pic>
        <p:nvPicPr>
          <p:cNvPr id="273419" name="Picture 9"/>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9114909" y="5488607"/>
            <a:ext cx="431668"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420" name="Line 10"/>
          <p:cNvSpPr>
            <a:spLocks noChangeShapeType="1"/>
          </p:cNvSpPr>
          <p:nvPr/>
        </p:nvSpPr>
        <p:spPr bwMode="auto">
          <a:xfrm flipV="1">
            <a:off x="883985" y="5779120"/>
            <a:ext cx="1609725" cy="1270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73421" name="Line 11"/>
          <p:cNvSpPr>
            <a:spLocks noChangeShapeType="1"/>
          </p:cNvSpPr>
          <p:nvPr/>
        </p:nvSpPr>
        <p:spPr bwMode="auto">
          <a:xfrm flipV="1">
            <a:off x="2961494" y="5763246"/>
            <a:ext cx="4056989" cy="15875"/>
          </a:xfrm>
          <a:prstGeom prst="line">
            <a:avLst/>
          </a:prstGeom>
          <a:noFill/>
          <a:ln w="762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73422" name="Line 12"/>
          <p:cNvSpPr>
            <a:spLocks noChangeShapeType="1"/>
          </p:cNvSpPr>
          <p:nvPr/>
        </p:nvSpPr>
        <p:spPr bwMode="auto">
          <a:xfrm flipV="1">
            <a:off x="7518942" y="5763246"/>
            <a:ext cx="1683677" cy="15875"/>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73423" name="Text Box 13"/>
          <p:cNvSpPr txBox="1">
            <a:spLocks noChangeArrowheads="1"/>
          </p:cNvSpPr>
          <p:nvPr/>
        </p:nvSpPr>
        <p:spPr bwMode="auto">
          <a:xfrm>
            <a:off x="4419877" y="5331445"/>
            <a:ext cx="10390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SMTP</a:t>
            </a:r>
            <a:endParaRPr lang="en-US" altLang="zh-CN" sz="2400" b="1">
              <a:solidFill>
                <a:srgbClr val="000099"/>
              </a:solidFill>
              <a:latin typeface="Arial" panose="020B0604020202020204" pitchFamily="34" charset="0"/>
              <a:ea typeface="黑体" panose="02010609060101010101" pitchFamily="2" charset="-122"/>
            </a:endParaRPr>
          </a:p>
        </p:txBody>
      </p:sp>
      <p:sp>
        <p:nvSpPr>
          <p:cNvPr id="273424" name="Text Box 16"/>
          <p:cNvSpPr txBox="1">
            <a:spLocks noChangeArrowheads="1"/>
          </p:cNvSpPr>
          <p:nvPr/>
        </p:nvSpPr>
        <p:spPr bwMode="auto">
          <a:xfrm>
            <a:off x="1549453" y="4509120"/>
            <a:ext cx="2339102"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r>
              <a:rPr lang="zh-CN" altLang="en-US" sz="2400" b="1">
                <a:solidFill>
                  <a:srgbClr val="000099"/>
                </a:solidFill>
                <a:latin typeface="Arial" panose="020B0604020202020204" pitchFamily="34" charset="0"/>
                <a:ea typeface="黑体" panose="02010609060101010101" pitchFamily="2" charset="-122"/>
              </a:rPr>
              <a:t>网易邮件服务器</a:t>
            </a:r>
            <a:endParaRPr lang="zh-CN" altLang="en-US" sz="2400" b="1">
              <a:solidFill>
                <a:srgbClr val="000099"/>
              </a:solidFill>
              <a:latin typeface="Arial" panose="020B0604020202020204" pitchFamily="34" charset="0"/>
              <a:ea typeface="黑体" panose="02010609060101010101" pitchFamily="2" charset="-122"/>
            </a:endParaRPr>
          </a:p>
          <a:p>
            <a:pPr algn="ctr" eaLnBrk="1" hangingPunct="1">
              <a:lnSpc>
                <a:spcPct val="90000"/>
              </a:lnSpc>
            </a:pPr>
            <a:r>
              <a:rPr lang="en-US" altLang="zh-CN" sz="2400" b="1">
                <a:solidFill>
                  <a:srgbClr val="000099"/>
                </a:solidFill>
                <a:latin typeface="Arial" panose="020B0604020202020204" pitchFamily="34" charset="0"/>
                <a:ea typeface="黑体" panose="02010609060101010101" pitchFamily="2" charset="-122"/>
              </a:rPr>
              <a:t>mail.163.com</a:t>
            </a:r>
            <a:endParaRPr lang="en-US" altLang="zh-CN" sz="2400" b="1">
              <a:solidFill>
                <a:srgbClr val="000099"/>
              </a:solidFill>
              <a:latin typeface="Arial" panose="020B0604020202020204" pitchFamily="34" charset="0"/>
              <a:ea typeface="黑体" panose="02010609060101010101" pitchFamily="2" charset="-122"/>
            </a:endParaRPr>
          </a:p>
        </p:txBody>
      </p:sp>
      <p:sp>
        <p:nvSpPr>
          <p:cNvPr id="273425" name="Text Box 17"/>
          <p:cNvSpPr txBox="1">
            <a:spLocks noChangeArrowheads="1"/>
          </p:cNvSpPr>
          <p:nvPr/>
        </p:nvSpPr>
        <p:spPr bwMode="auto">
          <a:xfrm>
            <a:off x="5760120" y="4509120"/>
            <a:ext cx="2662908"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r>
              <a:rPr lang="zh-CN" altLang="en-US" sz="2400" b="1">
                <a:solidFill>
                  <a:srgbClr val="000099"/>
                </a:solidFill>
                <a:latin typeface="Arial" panose="020B0604020202020204" pitchFamily="34" charset="0"/>
                <a:ea typeface="黑体" panose="02010609060101010101" pitchFamily="2" charset="-122"/>
              </a:rPr>
              <a:t>新浪邮件服务器</a:t>
            </a:r>
            <a:endParaRPr lang="zh-CN" altLang="en-US" sz="2400" b="1">
              <a:solidFill>
                <a:srgbClr val="000099"/>
              </a:solidFill>
              <a:latin typeface="Arial" panose="020B0604020202020204" pitchFamily="34" charset="0"/>
              <a:ea typeface="黑体" panose="02010609060101010101" pitchFamily="2" charset="-122"/>
            </a:endParaRPr>
          </a:p>
          <a:p>
            <a:pPr algn="ctr" eaLnBrk="1" hangingPunct="1">
              <a:lnSpc>
                <a:spcPct val="90000"/>
              </a:lnSpc>
            </a:pPr>
            <a:r>
              <a:rPr lang="en-US" altLang="zh-CN" sz="2400" b="1">
                <a:solidFill>
                  <a:srgbClr val="000099"/>
                </a:solidFill>
                <a:latin typeface="Arial" panose="020B0604020202020204" pitchFamily="34" charset="0"/>
                <a:ea typeface="黑体" panose="02010609060101010101" pitchFamily="2" charset="-122"/>
              </a:rPr>
              <a:t>mail.sina.com.cn</a:t>
            </a:r>
            <a:endParaRPr lang="en-US" altLang="zh-CN" sz="2400" b="1">
              <a:solidFill>
                <a:srgbClr val="000099"/>
              </a:solidFill>
              <a:latin typeface="Arial" panose="020B0604020202020204" pitchFamily="34" charset="0"/>
              <a:ea typeface="黑体" panose="02010609060101010101" pitchFamily="2" charset="-122"/>
            </a:endParaRPr>
          </a:p>
        </p:txBody>
      </p:sp>
      <p:sp>
        <p:nvSpPr>
          <p:cNvPr id="2" name="矩形 1"/>
          <p:cNvSpPr/>
          <p:nvPr/>
        </p:nvSpPr>
        <p:spPr>
          <a:xfrm>
            <a:off x="920551" y="2924944"/>
            <a:ext cx="8194357" cy="1384995"/>
          </a:xfrm>
          <a:prstGeom prst="rect">
            <a:avLst/>
          </a:prstGeom>
          <a:solidFill>
            <a:srgbClr val="FFFF66"/>
          </a:solidFill>
          <a:ln>
            <a:solidFill>
              <a:srgbClr val="000066"/>
            </a:solidFill>
          </a:ln>
        </p:spPr>
        <p:txBody>
          <a:bodyPr wrap="square">
            <a:spAutoFit/>
          </a:bodyPr>
          <a:lstStyle/>
          <a:p>
            <a:r>
              <a:rPr lang="zh-CN" altLang="zh-CN" sz="2800" b="1" dirty="0">
                <a:solidFill>
                  <a:srgbClr val="FF0000"/>
                </a:solidFill>
                <a:latin typeface="+mn-lt"/>
                <a:ea typeface="+mn-ea"/>
              </a:rPr>
              <a:t>万维网电子邮件的</a:t>
            </a:r>
            <a:r>
              <a:rPr lang="zh-CN" altLang="zh-CN" sz="2800" b="1" dirty="0" smtClean="0">
                <a:solidFill>
                  <a:srgbClr val="FF0000"/>
                </a:solidFill>
                <a:latin typeface="+mn-lt"/>
                <a:ea typeface="+mn-ea"/>
              </a:rPr>
              <a:t>好处：</a:t>
            </a:r>
            <a:r>
              <a:rPr lang="zh-CN" altLang="zh-CN" sz="2800" b="1" dirty="0">
                <a:solidFill>
                  <a:srgbClr val="000066"/>
                </a:solidFill>
                <a:latin typeface="+mn-lt"/>
                <a:ea typeface="+mn-ea"/>
              </a:rPr>
              <a:t>只要能够找到上网的计算机，打开任何一种浏览器就可以非常方便地收发电子邮件。</a:t>
            </a:r>
            <a:endParaRPr lang="zh-CN" altLang="en-US" sz="2800" b="1" dirty="0">
              <a:solidFill>
                <a:srgbClr val="000066"/>
              </a:solidFill>
              <a:latin typeface="+mn-lt"/>
              <a:ea typeface="+mn-ea"/>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6.5.6  </a:t>
            </a:r>
            <a:r>
              <a:rPr lang="zh-CN" altLang="en-US" dirty="0" smtClean="0">
                <a:ea typeface="黑体" panose="02010609060101010101" pitchFamily="2" charset="-122"/>
              </a:rPr>
              <a:t>通用互联网邮件扩充 </a:t>
            </a:r>
            <a:r>
              <a:rPr lang="en-US" altLang="zh-CN" dirty="0" smtClean="0">
                <a:ea typeface="黑体" panose="02010609060101010101" pitchFamily="2" charset="-122"/>
              </a:rPr>
              <a:t>MIME</a:t>
            </a:r>
            <a:endParaRPr lang="zh-CN" altLang="en-US" dirty="0" smtClean="0">
              <a:ea typeface="黑体" panose="02010609060101010101" pitchFamily="2" charset="-122"/>
            </a:endParaRPr>
          </a:p>
        </p:txBody>
      </p:sp>
      <p:sp>
        <p:nvSpPr>
          <p:cNvPr id="1175555" name="Rectangle 3"/>
          <p:cNvSpPr>
            <a:spLocks noGrp="1" noChangeArrowheads="1"/>
          </p:cNvSpPr>
          <p:nvPr>
            <p:ph idx="1"/>
          </p:nvPr>
        </p:nvSpPr>
        <p:spPr/>
        <p:txBody>
          <a:bodyPr/>
          <a:lstStyle/>
          <a:p>
            <a:pPr algn="just" eaLnBrk="1" hangingPunct="1">
              <a:buFont typeface="Wingdings" panose="05000000000000000000" pitchFamily="2" charset="2"/>
              <a:buNone/>
              <a:defRPr/>
            </a:pPr>
            <a:r>
              <a:rPr lang="en-US" altLang="zh-CN" sz="3000" dirty="0" smtClean="0"/>
              <a:t>SMTP </a:t>
            </a:r>
            <a:r>
              <a:rPr lang="zh-CN" altLang="en-US" sz="3000" dirty="0" smtClean="0"/>
              <a:t>有以下</a:t>
            </a:r>
            <a:r>
              <a:rPr lang="zh-CN" altLang="en-US" sz="3000" dirty="0" smtClean="0">
                <a:solidFill>
                  <a:srgbClr val="FF0000"/>
                </a:solidFill>
              </a:rPr>
              <a:t>缺点：</a:t>
            </a:r>
            <a:endParaRPr lang="zh-CN" altLang="en-US" sz="3000" dirty="0" smtClean="0">
              <a:solidFill>
                <a:srgbClr val="FF0000"/>
              </a:solidFill>
            </a:endParaRPr>
          </a:p>
          <a:p>
            <a:pPr algn="just" eaLnBrk="1" hangingPunct="1">
              <a:defRPr/>
            </a:pPr>
            <a:r>
              <a:rPr lang="en-US" altLang="zh-CN" sz="3000" dirty="0" smtClean="0"/>
              <a:t>SMTP </a:t>
            </a:r>
            <a:r>
              <a:rPr lang="zh-CN" altLang="en-US" sz="3000" dirty="0" smtClean="0"/>
              <a:t>不能传送可执行文件或其他的二进制对象。</a:t>
            </a:r>
            <a:endParaRPr lang="zh-CN" altLang="en-US" sz="3000" dirty="0" smtClean="0"/>
          </a:p>
          <a:p>
            <a:pPr algn="just" eaLnBrk="1" hangingPunct="1">
              <a:defRPr/>
            </a:pPr>
            <a:r>
              <a:rPr lang="en-US" altLang="zh-CN" sz="3000" dirty="0" smtClean="0"/>
              <a:t>SMTP </a:t>
            </a:r>
            <a:r>
              <a:rPr lang="zh-CN" altLang="en-US" sz="3000" dirty="0" smtClean="0"/>
              <a:t>限于传送 </a:t>
            </a:r>
            <a:r>
              <a:rPr lang="en-US" altLang="zh-CN" sz="3000" dirty="0" smtClean="0"/>
              <a:t>7 </a:t>
            </a:r>
            <a:r>
              <a:rPr lang="zh-CN" altLang="en-US" sz="3000" dirty="0" smtClean="0"/>
              <a:t>位的 </a:t>
            </a:r>
            <a:r>
              <a:rPr lang="en-US" altLang="zh-CN" sz="3000" dirty="0" smtClean="0"/>
              <a:t>ASCII </a:t>
            </a:r>
            <a:r>
              <a:rPr lang="zh-CN" altLang="en-US" sz="3000" dirty="0" smtClean="0"/>
              <a:t>码。许多其他非英语国家的文字（如中文、俄文，甚至带重音符号的法文或德文）就无法传送。</a:t>
            </a:r>
            <a:endParaRPr lang="zh-CN" altLang="en-US" sz="3000" dirty="0" smtClean="0"/>
          </a:p>
          <a:p>
            <a:pPr algn="just" eaLnBrk="1" hangingPunct="1">
              <a:defRPr/>
            </a:pPr>
            <a:r>
              <a:rPr lang="en-US" altLang="zh-CN" sz="3000" dirty="0" smtClean="0"/>
              <a:t>SMTP </a:t>
            </a:r>
            <a:r>
              <a:rPr lang="zh-CN" altLang="en-US" sz="3000" dirty="0" smtClean="0"/>
              <a:t>服务器会拒绝超过一定长度的邮件。</a:t>
            </a:r>
            <a:endParaRPr lang="zh-CN" altLang="en-US" sz="3000" dirty="0" smtClean="0"/>
          </a:p>
          <a:p>
            <a:pPr algn="just" eaLnBrk="1" hangingPunct="1">
              <a:defRPr/>
            </a:pPr>
            <a:r>
              <a:rPr lang="zh-CN" altLang="en-US" sz="3000" dirty="0" smtClean="0"/>
              <a:t>某些 </a:t>
            </a:r>
            <a:r>
              <a:rPr lang="en-US" altLang="zh-CN" sz="3000" dirty="0" smtClean="0"/>
              <a:t>SMTP </a:t>
            </a:r>
            <a:r>
              <a:rPr lang="zh-CN" altLang="en-US" sz="3000" dirty="0" smtClean="0"/>
              <a:t>的实现并没有完全按照</a:t>
            </a:r>
            <a:r>
              <a:rPr lang="en-US" altLang="zh-CN" sz="3000" dirty="0" smtClean="0"/>
              <a:t>[RFC 821]</a:t>
            </a:r>
            <a:r>
              <a:rPr lang="zh-CN" altLang="en-US" sz="3000" dirty="0" smtClean="0"/>
              <a:t>的 </a:t>
            </a:r>
            <a:r>
              <a:rPr lang="en-US" altLang="zh-CN" sz="3000" dirty="0" smtClean="0"/>
              <a:t>SMTP </a:t>
            </a:r>
            <a:r>
              <a:rPr lang="zh-CN" altLang="en-US" sz="3000" dirty="0" smtClean="0"/>
              <a:t>标准。  </a:t>
            </a:r>
            <a:endParaRPr lang="zh-CN" altLang="en-US"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5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55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555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5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95300" y="188913"/>
            <a:ext cx="9066742" cy="792162"/>
          </a:xfrm>
        </p:spPr>
        <p:txBody>
          <a:bodyPr/>
          <a:lstStyle/>
          <a:p>
            <a:r>
              <a:rPr lang="en-US" altLang="zh-CN" dirty="0">
                <a:ea typeface="黑体" panose="02010609060101010101" pitchFamily="2" charset="-122"/>
              </a:rPr>
              <a:t>1.  MIME </a:t>
            </a:r>
            <a:r>
              <a:rPr lang="zh-CN" altLang="en-US" dirty="0">
                <a:ea typeface="黑体" panose="02010609060101010101" pitchFamily="2" charset="-122"/>
              </a:rPr>
              <a:t>概述</a:t>
            </a:r>
            <a:endParaRPr lang="zh-CN" altLang="en-US" dirty="0" smtClean="0">
              <a:ea typeface="黑体" panose="02010609060101010101" pitchFamily="2" charset="-122"/>
            </a:endParaRPr>
          </a:p>
        </p:txBody>
      </p:sp>
      <p:sp>
        <p:nvSpPr>
          <p:cNvPr id="276483" name="Rectangle 3"/>
          <p:cNvSpPr>
            <a:spLocks noGrp="1" noChangeArrowheads="1"/>
          </p:cNvSpPr>
          <p:nvPr>
            <p:ph idx="1"/>
          </p:nvPr>
        </p:nvSpPr>
        <p:spPr>
          <a:xfrm>
            <a:off x="495300" y="1196975"/>
            <a:ext cx="9066742" cy="4933950"/>
          </a:xfrm>
        </p:spPr>
        <p:txBody>
          <a:bodyPr/>
          <a:lstStyle/>
          <a:p>
            <a:r>
              <a:rPr lang="zh-CN" altLang="zh-CN" dirty="0">
                <a:solidFill>
                  <a:srgbClr val="FF0000"/>
                </a:solidFill>
              </a:rPr>
              <a:t>通用互联网邮件</a:t>
            </a:r>
            <a:r>
              <a:rPr lang="zh-CN" altLang="zh-CN" dirty="0" smtClean="0">
                <a:solidFill>
                  <a:srgbClr val="FF0000"/>
                </a:solidFill>
              </a:rPr>
              <a:t>扩充</a:t>
            </a:r>
            <a:r>
              <a:rPr lang="en-US" altLang="zh-CN" dirty="0" smtClean="0">
                <a:solidFill>
                  <a:srgbClr val="FF0000"/>
                </a:solidFill>
              </a:rPr>
              <a:t> </a:t>
            </a:r>
            <a:r>
              <a:rPr lang="en-US" altLang="zh-CN" dirty="0" smtClean="0">
                <a:solidFill>
                  <a:srgbClr val="FF0000"/>
                </a:solidFill>
                <a:ea typeface="黑体" panose="02010609060101010101" pitchFamily="2" charset="-122"/>
              </a:rPr>
              <a:t>MIME </a:t>
            </a:r>
            <a:r>
              <a:rPr lang="zh-CN" altLang="en-US" dirty="0" smtClean="0">
                <a:ea typeface="黑体" panose="02010609060101010101" pitchFamily="2" charset="-122"/>
              </a:rPr>
              <a:t>并没有改动 </a:t>
            </a:r>
            <a:r>
              <a:rPr lang="en-US" altLang="zh-CN" dirty="0" smtClean="0">
                <a:ea typeface="黑体" panose="02010609060101010101" pitchFamily="2" charset="-122"/>
              </a:rPr>
              <a:t>SMTP </a:t>
            </a:r>
            <a:r>
              <a:rPr lang="zh-CN" altLang="en-US" dirty="0" smtClean="0">
                <a:ea typeface="黑体" panose="02010609060101010101" pitchFamily="2" charset="-122"/>
              </a:rPr>
              <a:t>或取代它。</a:t>
            </a:r>
            <a:endParaRPr lang="zh-CN" altLang="en-US" dirty="0" smtClean="0">
              <a:ea typeface="黑体" panose="02010609060101010101" pitchFamily="2" charset="-122"/>
            </a:endParaRPr>
          </a:p>
          <a:p>
            <a:pPr eaLnBrk="1" hangingPunct="1"/>
            <a:r>
              <a:rPr lang="en-US" altLang="zh-CN" dirty="0" smtClean="0">
                <a:ea typeface="黑体" panose="02010609060101010101" pitchFamily="2" charset="-122"/>
              </a:rPr>
              <a:t>MIME </a:t>
            </a:r>
            <a:r>
              <a:rPr lang="zh-CN" altLang="en-US" dirty="0" smtClean="0">
                <a:ea typeface="黑体" panose="02010609060101010101" pitchFamily="2" charset="-122"/>
              </a:rPr>
              <a:t>的意图是继续使用目前的 </a:t>
            </a:r>
            <a:r>
              <a:rPr lang="en-US" altLang="zh-CN" dirty="0" smtClean="0">
                <a:ea typeface="黑体" panose="02010609060101010101" pitchFamily="2" charset="-122"/>
              </a:rPr>
              <a:t>[RFC 822] </a:t>
            </a:r>
            <a:r>
              <a:rPr lang="zh-CN" altLang="en-US" dirty="0" smtClean="0">
                <a:ea typeface="黑体" panose="02010609060101010101" pitchFamily="2" charset="-122"/>
              </a:rPr>
              <a:t>格式，但增加了邮件主体的</a:t>
            </a:r>
            <a:r>
              <a:rPr lang="zh-CN" altLang="en-US" dirty="0" smtClean="0">
                <a:solidFill>
                  <a:srgbClr val="FF0000"/>
                </a:solidFill>
                <a:ea typeface="黑体" panose="02010609060101010101" pitchFamily="2" charset="-122"/>
              </a:rPr>
              <a:t>结构，</a:t>
            </a:r>
            <a:r>
              <a:rPr lang="zh-CN" altLang="en-US" dirty="0" smtClean="0">
                <a:ea typeface="黑体" panose="02010609060101010101" pitchFamily="2" charset="-122"/>
              </a:rPr>
              <a:t>并定义了传送非 </a:t>
            </a:r>
            <a:r>
              <a:rPr lang="en-US" altLang="zh-CN" dirty="0" smtClean="0">
                <a:ea typeface="黑体" panose="02010609060101010101" pitchFamily="2" charset="-122"/>
              </a:rPr>
              <a:t>ASCII </a:t>
            </a:r>
            <a:r>
              <a:rPr lang="zh-CN" altLang="en-US" dirty="0" smtClean="0">
                <a:ea typeface="黑体" panose="02010609060101010101" pitchFamily="2" charset="-122"/>
              </a:rPr>
              <a:t>码的</a:t>
            </a:r>
            <a:r>
              <a:rPr lang="zh-CN" altLang="en-US" dirty="0" smtClean="0">
                <a:solidFill>
                  <a:srgbClr val="FF0000"/>
                </a:solidFill>
                <a:ea typeface="黑体" panose="02010609060101010101" pitchFamily="2" charset="-122"/>
              </a:rPr>
              <a:t>编码规则。</a:t>
            </a:r>
            <a:r>
              <a:rPr lang="zh-CN" altLang="en-US" dirty="0" smtClean="0">
                <a:ea typeface="黑体" panose="02010609060101010101" pitchFamily="2" charset="-122"/>
              </a:rPr>
              <a:t>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pPr algn="ctr" eaLnBrk="1" hangingPunct="1"/>
            <a:r>
              <a:rPr lang="en-US" altLang="zh-CN" dirty="0" smtClean="0">
                <a:ea typeface="黑体" panose="02010609060101010101" pitchFamily="2" charset="-122"/>
              </a:rPr>
              <a:t>MIME </a:t>
            </a:r>
            <a:r>
              <a:rPr lang="zh-CN" altLang="en-US" dirty="0" smtClean="0">
                <a:ea typeface="黑体" panose="02010609060101010101" pitchFamily="2" charset="-122"/>
              </a:rPr>
              <a:t>和 </a:t>
            </a:r>
            <a:r>
              <a:rPr lang="en-US" altLang="zh-CN" dirty="0" smtClean="0">
                <a:ea typeface="黑体" panose="02010609060101010101" pitchFamily="2" charset="-122"/>
              </a:rPr>
              <a:t>SMTP </a:t>
            </a:r>
            <a:r>
              <a:rPr lang="zh-CN" altLang="en-US" dirty="0" smtClean="0">
                <a:ea typeface="黑体" panose="02010609060101010101" pitchFamily="2" charset="-122"/>
              </a:rPr>
              <a:t>的关系 </a:t>
            </a:r>
            <a:endParaRPr lang="zh-CN" altLang="en-US" dirty="0" smtClean="0">
              <a:ea typeface="黑体" panose="02010609060101010101" pitchFamily="2" charset="-122"/>
            </a:endParaRPr>
          </a:p>
        </p:txBody>
      </p:sp>
      <p:sp>
        <p:nvSpPr>
          <p:cNvPr id="278531" name="Text Box 3"/>
          <p:cNvSpPr txBox="1">
            <a:spLocks noChangeArrowheads="1"/>
          </p:cNvSpPr>
          <p:nvPr/>
        </p:nvSpPr>
        <p:spPr bwMode="auto">
          <a:xfrm>
            <a:off x="1839713" y="2430041"/>
            <a:ext cx="17826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Arial" panose="020B0604020202020204" pitchFamily="34" charset="0"/>
                <a:ea typeface="黑体" panose="02010609060101010101" pitchFamily="2" charset="-122"/>
              </a:rPr>
              <a:t>非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endParaRPr kumimoji="1" lang="zh-CN" altLang="en-US" sz="2400" b="1">
              <a:solidFill>
                <a:srgbClr val="000099"/>
              </a:solidFill>
              <a:latin typeface="Arial" panose="020B0604020202020204" pitchFamily="34" charset="0"/>
              <a:ea typeface="黑体" panose="02010609060101010101" pitchFamily="2" charset="-122"/>
            </a:endParaRPr>
          </a:p>
        </p:txBody>
      </p:sp>
      <p:sp>
        <p:nvSpPr>
          <p:cNvPr id="278532" name="Text Box 4"/>
          <p:cNvSpPr txBox="1">
            <a:spLocks noChangeArrowheads="1"/>
          </p:cNvSpPr>
          <p:nvPr/>
        </p:nvSpPr>
        <p:spPr bwMode="auto">
          <a:xfrm>
            <a:off x="1855191" y="3942928"/>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rPr>
              <a:t>7 </a:t>
            </a:r>
            <a:r>
              <a:rPr kumimoji="1" lang="zh-CN" altLang="en-US" sz="2400" b="1">
                <a:solidFill>
                  <a:srgbClr val="000099"/>
                </a:solidFill>
                <a:latin typeface="Arial" panose="020B0604020202020204" pitchFamily="34" charset="0"/>
                <a:ea typeface="黑体" panose="02010609060101010101" pitchFamily="2" charset="-122"/>
              </a:rPr>
              <a:t>位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endParaRPr kumimoji="1" lang="zh-CN" altLang="en-US" sz="2400" b="1">
              <a:solidFill>
                <a:srgbClr val="000099"/>
              </a:solidFill>
              <a:latin typeface="Arial" panose="020B0604020202020204" pitchFamily="34" charset="0"/>
              <a:ea typeface="黑体" panose="02010609060101010101" pitchFamily="2" charset="-122"/>
            </a:endParaRPr>
          </a:p>
        </p:txBody>
      </p:sp>
      <p:sp>
        <p:nvSpPr>
          <p:cNvPr id="278533" name="Rectangle 5"/>
          <p:cNvSpPr>
            <a:spLocks noChangeArrowheads="1"/>
          </p:cNvSpPr>
          <p:nvPr/>
        </p:nvSpPr>
        <p:spPr bwMode="auto">
          <a:xfrm>
            <a:off x="1184473" y="3007890"/>
            <a:ext cx="1281244" cy="596900"/>
          </a:xfrm>
          <a:prstGeom prst="rect">
            <a:avLst/>
          </a:prstGeom>
          <a:solidFill>
            <a:srgbClr val="FFCCFF"/>
          </a:solidFill>
          <a:ln w="9525">
            <a:solidFill>
              <a:srgbClr val="333399"/>
            </a:solidFill>
            <a:miter lim="800000"/>
          </a:ln>
          <a:effectLst>
            <a:outerShdw dist="53882" dir="2700000"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MIME</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278534" name="Rectangle 6"/>
          <p:cNvSpPr>
            <a:spLocks noChangeArrowheads="1"/>
          </p:cNvSpPr>
          <p:nvPr/>
        </p:nvSpPr>
        <p:spPr bwMode="auto">
          <a:xfrm>
            <a:off x="1184473" y="4679527"/>
            <a:ext cx="1281244" cy="596900"/>
          </a:xfrm>
          <a:prstGeom prst="rect">
            <a:avLst/>
          </a:prstGeom>
          <a:solidFill>
            <a:srgbClr val="CCECFF"/>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SMTP</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278535" name="Rectangle 7"/>
          <p:cNvSpPr>
            <a:spLocks noChangeArrowheads="1"/>
          </p:cNvSpPr>
          <p:nvPr/>
        </p:nvSpPr>
        <p:spPr bwMode="auto">
          <a:xfrm>
            <a:off x="7704203" y="3007890"/>
            <a:ext cx="1281245" cy="596900"/>
          </a:xfrm>
          <a:prstGeom prst="rect">
            <a:avLst/>
          </a:prstGeom>
          <a:solidFill>
            <a:srgbClr val="FFCCFF"/>
          </a:solidFill>
          <a:ln w="9525">
            <a:solidFill>
              <a:srgbClr val="333399"/>
            </a:solidFill>
            <a:miter lim="800000"/>
          </a:ln>
          <a:effectLst>
            <a:outerShdw dist="53882" dir="2700000"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MIME</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278536" name="Rectangle 8"/>
          <p:cNvSpPr>
            <a:spLocks noChangeArrowheads="1"/>
          </p:cNvSpPr>
          <p:nvPr/>
        </p:nvSpPr>
        <p:spPr bwMode="auto">
          <a:xfrm>
            <a:off x="7704203" y="4679527"/>
            <a:ext cx="1281245" cy="596900"/>
          </a:xfrm>
          <a:prstGeom prst="rect">
            <a:avLst/>
          </a:prstGeom>
          <a:solidFill>
            <a:srgbClr val="CCECFF"/>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SMTP</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278537" name="Line 9"/>
          <p:cNvSpPr>
            <a:spLocks noChangeShapeType="1"/>
          </p:cNvSpPr>
          <p:nvPr/>
        </p:nvSpPr>
        <p:spPr bwMode="auto">
          <a:xfrm>
            <a:off x="2484635" y="4977977"/>
            <a:ext cx="5240205"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38" name="Line 10"/>
          <p:cNvSpPr>
            <a:spLocks noChangeShapeType="1"/>
          </p:cNvSpPr>
          <p:nvPr/>
        </p:nvSpPr>
        <p:spPr bwMode="auto">
          <a:xfrm rot="5400000" flipH="1" flipV="1">
            <a:off x="1286867" y="4142159"/>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39" name="Line 11"/>
          <p:cNvSpPr>
            <a:spLocks noChangeShapeType="1"/>
          </p:cNvSpPr>
          <p:nvPr/>
        </p:nvSpPr>
        <p:spPr bwMode="auto">
          <a:xfrm rot="5400000" flipH="1" flipV="1">
            <a:off x="7808317" y="4142159"/>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0" name="Line 12"/>
          <p:cNvSpPr>
            <a:spLocks noChangeShapeType="1"/>
          </p:cNvSpPr>
          <p:nvPr/>
        </p:nvSpPr>
        <p:spPr bwMode="auto">
          <a:xfrm rot="16200000" flipV="1">
            <a:off x="1439266" y="2622921"/>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1" name="Line 13"/>
          <p:cNvSpPr>
            <a:spLocks noChangeShapeType="1"/>
          </p:cNvSpPr>
          <p:nvPr/>
        </p:nvSpPr>
        <p:spPr bwMode="auto">
          <a:xfrm rot="16200000" flipV="1">
            <a:off x="7960716" y="2622921"/>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2" name="Text Box 14"/>
          <p:cNvSpPr txBox="1">
            <a:spLocks noChangeArrowheads="1"/>
          </p:cNvSpPr>
          <p:nvPr/>
        </p:nvSpPr>
        <p:spPr bwMode="auto">
          <a:xfrm>
            <a:off x="6490030" y="3914352"/>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rPr>
              <a:t>7 </a:t>
            </a:r>
            <a:r>
              <a:rPr kumimoji="1" lang="zh-CN" altLang="en-US" sz="2400" b="1">
                <a:solidFill>
                  <a:srgbClr val="000099"/>
                </a:solidFill>
                <a:latin typeface="Arial" panose="020B0604020202020204" pitchFamily="34" charset="0"/>
                <a:ea typeface="黑体" panose="02010609060101010101" pitchFamily="2" charset="-122"/>
              </a:rPr>
              <a:t>位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endParaRPr kumimoji="1" lang="zh-CN" altLang="en-US" sz="2400" b="1">
              <a:solidFill>
                <a:srgbClr val="000099"/>
              </a:solidFill>
              <a:latin typeface="Arial" panose="020B0604020202020204" pitchFamily="34" charset="0"/>
              <a:ea typeface="黑体" panose="02010609060101010101" pitchFamily="2" charset="-122"/>
            </a:endParaRPr>
          </a:p>
        </p:txBody>
      </p:sp>
      <p:sp>
        <p:nvSpPr>
          <p:cNvPr id="278543" name="Text Box 15"/>
          <p:cNvSpPr txBox="1">
            <a:spLocks noChangeArrowheads="1"/>
          </p:cNvSpPr>
          <p:nvPr/>
        </p:nvSpPr>
        <p:spPr bwMode="auto">
          <a:xfrm>
            <a:off x="3955057" y="4555702"/>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rPr>
              <a:t>7 </a:t>
            </a:r>
            <a:r>
              <a:rPr kumimoji="1" lang="zh-CN" altLang="en-US" sz="2400" b="1">
                <a:solidFill>
                  <a:srgbClr val="000099"/>
                </a:solidFill>
                <a:latin typeface="Arial" panose="020B0604020202020204" pitchFamily="34" charset="0"/>
                <a:ea typeface="黑体" panose="02010609060101010101" pitchFamily="2" charset="-122"/>
              </a:rPr>
              <a:t>位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endParaRPr kumimoji="1" lang="zh-CN" altLang="en-US" sz="2400" b="1">
              <a:solidFill>
                <a:srgbClr val="000099"/>
              </a:solidFill>
              <a:latin typeface="Arial" panose="020B0604020202020204" pitchFamily="34" charset="0"/>
              <a:ea typeface="黑体" panose="02010609060101010101" pitchFamily="2" charset="-122"/>
            </a:endParaRPr>
          </a:p>
        </p:txBody>
      </p:sp>
      <p:sp>
        <p:nvSpPr>
          <p:cNvPr id="278544" name="Text Box 16"/>
          <p:cNvSpPr txBox="1">
            <a:spLocks noChangeArrowheads="1"/>
          </p:cNvSpPr>
          <p:nvPr/>
        </p:nvSpPr>
        <p:spPr bwMode="auto">
          <a:xfrm>
            <a:off x="6662009" y="2430041"/>
            <a:ext cx="17826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Arial" panose="020B0604020202020204" pitchFamily="34" charset="0"/>
                <a:ea typeface="黑体" panose="02010609060101010101" pitchFamily="2" charset="-122"/>
              </a:rPr>
              <a:t>非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endParaRPr kumimoji="1" lang="zh-CN" altLang="en-US" sz="2400" b="1">
              <a:solidFill>
                <a:srgbClr val="000099"/>
              </a:solidFill>
              <a:latin typeface="Arial" panose="020B0604020202020204" pitchFamily="34" charset="0"/>
              <a:ea typeface="黑体" panose="02010609060101010101" pitchFamily="2" charset="-122"/>
            </a:endParaRPr>
          </a:p>
        </p:txBody>
      </p:sp>
      <p:sp>
        <p:nvSpPr>
          <p:cNvPr id="278545" name="Rectangle 17"/>
          <p:cNvSpPr>
            <a:spLocks noChangeArrowheads="1"/>
          </p:cNvSpPr>
          <p:nvPr/>
        </p:nvSpPr>
        <p:spPr bwMode="auto">
          <a:xfrm>
            <a:off x="1301419" y="1772816"/>
            <a:ext cx="1047353" cy="477837"/>
          </a:xfrm>
          <a:prstGeom prst="rect">
            <a:avLst/>
          </a:prstGeom>
          <a:solidFill>
            <a:srgbClr val="FFFF99"/>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zh-CN" altLang="en-US" b="1">
                <a:solidFill>
                  <a:srgbClr val="000099"/>
                </a:solidFill>
                <a:latin typeface="Arial" panose="020B0604020202020204" pitchFamily="34" charset="0"/>
                <a:ea typeface="黑体" panose="02010609060101010101" pitchFamily="2" charset="-122"/>
              </a:rPr>
              <a:t>用户</a:t>
            </a:r>
            <a:endParaRPr kumimoji="1" lang="zh-CN" altLang="en-US" b="1">
              <a:solidFill>
                <a:srgbClr val="000099"/>
              </a:solidFill>
              <a:latin typeface="Arial" panose="020B0604020202020204" pitchFamily="34" charset="0"/>
              <a:ea typeface="黑体" panose="02010609060101010101" pitchFamily="2" charset="-122"/>
            </a:endParaRPr>
          </a:p>
        </p:txBody>
      </p:sp>
      <p:sp>
        <p:nvSpPr>
          <p:cNvPr id="278546" name="Rectangle 18"/>
          <p:cNvSpPr>
            <a:spLocks noChangeArrowheads="1"/>
          </p:cNvSpPr>
          <p:nvPr/>
        </p:nvSpPr>
        <p:spPr bwMode="auto">
          <a:xfrm>
            <a:off x="7821148" y="1772816"/>
            <a:ext cx="1047354" cy="477837"/>
          </a:xfrm>
          <a:prstGeom prst="rect">
            <a:avLst/>
          </a:prstGeom>
          <a:solidFill>
            <a:srgbClr val="FFFF99"/>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zh-CN" altLang="en-US" b="1">
                <a:solidFill>
                  <a:srgbClr val="000099"/>
                </a:solidFill>
                <a:latin typeface="Arial" panose="020B0604020202020204" pitchFamily="34" charset="0"/>
                <a:ea typeface="黑体" panose="02010609060101010101" pitchFamily="2" charset="-122"/>
              </a:rPr>
              <a:t>用户</a:t>
            </a:r>
            <a:endParaRPr kumimoji="1" lang="zh-CN" altLang="en-US"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p:txBody>
          <a:bodyPr/>
          <a:lstStyle/>
          <a:p>
            <a:pPr eaLnBrk="1" hangingPunct="1"/>
            <a:r>
              <a:rPr lang="en-US" altLang="zh-CN" dirty="0" smtClean="0">
                <a:ea typeface="黑体" panose="02010609060101010101" pitchFamily="2" charset="-122"/>
              </a:rPr>
              <a:t>6.6  </a:t>
            </a:r>
            <a:r>
              <a:rPr lang="zh-CN" altLang="en-US" dirty="0" smtClean="0">
                <a:ea typeface="黑体" panose="02010609060101010101" pitchFamily="2" charset="-122"/>
              </a:rPr>
              <a:t>动态主机配置协议 </a:t>
            </a:r>
            <a:r>
              <a:rPr lang="en-US" altLang="zh-CN" dirty="0" smtClean="0">
                <a:ea typeface="黑体" panose="02010609060101010101" pitchFamily="2" charset="-122"/>
              </a:rPr>
              <a:t>DHCP</a:t>
            </a:r>
            <a:endParaRPr lang="en-US" altLang="zh-CN" dirty="0" smtClean="0">
              <a:ea typeface="黑体" panose="02010609060101010101" pitchFamily="2" charset="-122"/>
            </a:endParaRPr>
          </a:p>
        </p:txBody>
      </p:sp>
      <p:sp>
        <p:nvSpPr>
          <p:cNvPr id="715779" name="Rectangle 3"/>
          <p:cNvSpPr>
            <a:spLocks noGrp="1" noChangeArrowheads="1"/>
          </p:cNvSpPr>
          <p:nvPr>
            <p:ph idx="1"/>
          </p:nvPr>
        </p:nvSpPr>
        <p:spPr/>
        <p:txBody>
          <a:bodyPr/>
          <a:lstStyle/>
          <a:p>
            <a:pPr eaLnBrk="1" hangingPunct="1">
              <a:defRPr/>
            </a:pPr>
            <a:r>
              <a:rPr lang="zh-CN" altLang="en-US" dirty="0" smtClean="0"/>
              <a:t>为了将软件协议做成通用的和便于移植，协议软件的编写者把协议软件参数化。这就使得在很多台计算机上使用同一个经过编译的二进制代码成为可能。</a:t>
            </a:r>
            <a:endParaRPr lang="zh-CN" altLang="en-US" dirty="0" smtClean="0"/>
          </a:p>
          <a:p>
            <a:pPr eaLnBrk="1" hangingPunct="1">
              <a:defRPr/>
            </a:pPr>
            <a:r>
              <a:rPr lang="zh-CN" altLang="en-US" dirty="0" smtClean="0"/>
              <a:t>一台计算机和另一台计算机的区别，都可通过一些不同的参数来体现。</a:t>
            </a:r>
            <a:endParaRPr lang="zh-CN" altLang="en-US" dirty="0" smtClean="0"/>
          </a:p>
          <a:p>
            <a:pPr eaLnBrk="1" hangingPunct="1">
              <a:defRPr/>
            </a:pPr>
            <a:r>
              <a:rPr lang="zh-CN" altLang="en-US" dirty="0" smtClean="0"/>
              <a:t>在软件协议运行之前，必须给每一个参数赋值。 </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5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57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57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协议配置</a:t>
            </a:r>
            <a:endParaRPr lang="zh-CN" altLang="en-US" dirty="0" smtClean="0">
              <a:ea typeface="黑体" panose="02010609060101010101" pitchFamily="2" charset="-122"/>
            </a:endParaRPr>
          </a:p>
        </p:txBody>
      </p:sp>
      <p:sp>
        <p:nvSpPr>
          <p:cNvPr id="716803" name="Rectangle 3"/>
          <p:cNvSpPr>
            <a:spLocks noGrp="1" noChangeArrowheads="1"/>
          </p:cNvSpPr>
          <p:nvPr>
            <p:ph idx="1"/>
          </p:nvPr>
        </p:nvSpPr>
        <p:spPr/>
        <p:txBody>
          <a:bodyPr/>
          <a:lstStyle/>
          <a:p>
            <a:pPr eaLnBrk="1" hangingPunct="1">
              <a:defRPr/>
            </a:pPr>
            <a:r>
              <a:rPr lang="zh-CN" altLang="en-US" dirty="0" smtClean="0"/>
              <a:t>在协议软件中给这些参数赋值的动作叫做</a:t>
            </a:r>
            <a:r>
              <a:rPr lang="zh-CN" altLang="en-US" dirty="0" smtClean="0">
                <a:solidFill>
                  <a:srgbClr val="FF0000"/>
                </a:solidFill>
              </a:rPr>
              <a:t>协议配置</a:t>
            </a:r>
            <a:r>
              <a:rPr lang="zh-CN" altLang="en-US" dirty="0" smtClean="0"/>
              <a:t>。</a:t>
            </a:r>
            <a:endParaRPr lang="zh-CN" altLang="en-US" dirty="0" smtClean="0"/>
          </a:p>
          <a:p>
            <a:pPr eaLnBrk="1" hangingPunct="1">
              <a:defRPr/>
            </a:pPr>
            <a:r>
              <a:rPr lang="zh-CN" altLang="en-US" dirty="0" smtClean="0"/>
              <a:t>一个软件协议在使用之前必须是已正确配置的。</a:t>
            </a:r>
            <a:endParaRPr lang="zh-CN" altLang="en-US" dirty="0" smtClean="0"/>
          </a:p>
          <a:p>
            <a:pPr eaLnBrk="1" hangingPunct="1">
              <a:defRPr/>
            </a:pPr>
            <a:r>
              <a:rPr lang="zh-CN" altLang="en-US" dirty="0" smtClean="0"/>
              <a:t>具体的配置信息有哪些则取决于协议栈。 </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协议配置（续）</a:t>
            </a:r>
            <a:endParaRPr lang="zh-CN" altLang="en-US" dirty="0" smtClean="0">
              <a:ea typeface="黑体" panose="02010609060101010101" pitchFamily="2" charset="-122"/>
            </a:endParaRPr>
          </a:p>
        </p:txBody>
      </p:sp>
      <p:sp>
        <p:nvSpPr>
          <p:cNvPr id="282628"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需要配置的项目</a:t>
            </a:r>
            <a:endParaRPr lang="zh-CN" altLang="en-US" dirty="0"/>
          </a:p>
          <a:p>
            <a:pPr marL="352425" indent="-352425">
              <a:buNone/>
              <a:tabLst>
                <a:tab pos="352425" algn="l"/>
                <a:tab pos="448945" algn="l"/>
              </a:tabLst>
            </a:pPr>
            <a:r>
              <a:rPr lang="en-US" altLang="zh-CN" dirty="0" smtClean="0"/>
              <a:t>	(</a:t>
            </a:r>
            <a:r>
              <a:rPr lang="en-US" altLang="zh-CN" dirty="0"/>
              <a:t>1) IP </a:t>
            </a:r>
            <a:r>
              <a:rPr lang="zh-CN" altLang="en-US" dirty="0"/>
              <a:t>地址</a:t>
            </a:r>
            <a:endParaRPr lang="zh-CN" altLang="en-US" dirty="0"/>
          </a:p>
          <a:p>
            <a:pPr marL="352425" indent="-352425">
              <a:buNone/>
              <a:tabLst>
                <a:tab pos="352425" algn="l"/>
                <a:tab pos="448945" algn="l"/>
              </a:tabLst>
            </a:pPr>
            <a:r>
              <a:rPr lang="en-US" altLang="zh-CN" dirty="0" smtClean="0"/>
              <a:t>	(</a:t>
            </a:r>
            <a:r>
              <a:rPr lang="en-US" altLang="zh-CN" dirty="0"/>
              <a:t>2) </a:t>
            </a:r>
            <a:r>
              <a:rPr lang="zh-CN" altLang="en-US" dirty="0"/>
              <a:t>子网掩码</a:t>
            </a:r>
            <a:endParaRPr lang="zh-CN" altLang="en-US" dirty="0"/>
          </a:p>
          <a:p>
            <a:pPr marL="352425" indent="-352425">
              <a:buNone/>
              <a:tabLst>
                <a:tab pos="352425" algn="l"/>
                <a:tab pos="448945" algn="l"/>
              </a:tabLst>
            </a:pPr>
            <a:r>
              <a:rPr lang="en-US" altLang="zh-CN" dirty="0" smtClean="0"/>
              <a:t>	(</a:t>
            </a:r>
            <a:r>
              <a:rPr lang="en-US" altLang="zh-CN" dirty="0"/>
              <a:t>3) </a:t>
            </a:r>
            <a:r>
              <a:rPr lang="zh-CN" altLang="en-US" dirty="0"/>
              <a:t>默认路由器的 </a:t>
            </a:r>
            <a:r>
              <a:rPr lang="en-US" altLang="zh-CN" dirty="0"/>
              <a:t>IP </a:t>
            </a:r>
            <a:r>
              <a:rPr lang="zh-CN" altLang="en-US" dirty="0"/>
              <a:t>地址</a:t>
            </a:r>
            <a:endParaRPr lang="zh-CN" altLang="en-US" dirty="0"/>
          </a:p>
          <a:p>
            <a:pPr marL="352425" indent="-352425">
              <a:buNone/>
              <a:tabLst>
                <a:tab pos="352425" algn="l"/>
                <a:tab pos="448945" algn="l"/>
              </a:tabLst>
            </a:pPr>
            <a:r>
              <a:rPr lang="en-US" altLang="zh-CN" dirty="0" smtClean="0"/>
              <a:t>	(</a:t>
            </a:r>
            <a:r>
              <a:rPr lang="en-US" altLang="zh-CN" dirty="0"/>
              <a:t>4) </a:t>
            </a:r>
            <a:r>
              <a:rPr lang="zh-CN" altLang="en-US" dirty="0"/>
              <a:t>域名服务器的 </a:t>
            </a:r>
            <a:r>
              <a:rPr lang="en-US" altLang="zh-CN" dirty="0"/>
              <a:t>IP </a:t>
            </a:r>
            <a:r>
              <a:rPr lang="zh-CN" altLang="en-US" dirty="0"/>
              <a:t>地址</a:t>
            </a:r>
            <a:endParaRPr lang="zh-CN" altLang="en-US" dirty="0"/>
          </a:p>
          <a:p>
            <a:r>
              <a:rPr lang="zh-CN" altLang="en-US" dirty="0"/>
              <a:t>这些信息通常存储在一个配置文件中，计算机在引导过程中可以对这个文件进行存取。 </a:t>
            </a:r>
            <a:endParaRPr lang="zh-CN" alt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动态主机配置协议 </a:t>
            </a:r>
            <a:r>
              <a:rPr lang="en-US" altLang="zh-CN" dirty="0" smtClean="0">
                <a:ea typeface="黑体" panose="02010609060101010101" pitchFamily="2" charset="-122"/>
              </a:rPr>
              <a:t>DHCP</a:t>
            </a:r>
            <a:endParaRPr lang="en-US" altLang="zh-CN" dirty="0" smtClean="0">
              <a:ea typeface="黑体" panose="02010609060101010101" pitchFamily="2" charset="-122"/>
            </a:endParaRPr>
          </a:p>
        </p:txBody>
      </p:sp>
      <p:sp>
        <p:nvSpPr>
          <p:cNvPr id="720899" name="Rectangle 3"/>
          <p:cNvSpPr>
            <a:spLocks noGrp="1" noChangeArrowheads="1"/>
          </p:cNvSpPr>
          <p:nvPr>
            <p:ph idx="1"/>
          </p:nvPr>
        </p:nvSpPr>
        <p:spPr/>
        <p:txBody>
          <a:bodyPr/>
          <a:lstStyle/>
          <a:p>
            <a:pPr>
              <a:defRPr/>
            </a:pPr>
            <a:r>
              <a:rPr lang="zh-CN" altLang="en-US" dirty="0" smtClean="0">
                <a:solidFill>
                  <a:schemeClr val="tx1"/>
                </a:solidFill>
              </a:rPr>
              <a:t>互联网广泛使用的</a:t>
            </a:r>
            <a:r>
              <a:rPr lang="zh-CN" altLang="en-US" dirty="0" smtClean="0">
                <a:solidFill>
                  <a:srgbClr val="FF0000"/>
                </a:solidFill>
              </a:rPr>
              <a:t>动态主机配置协议</a:t>
            </a:r>
            <a:r>
              <a:rPr lang="zh-CN" altLang="en-US" dirty="0" smtClean="0"/>
              <a:t> </a:t>
            </a:r>
            <a:r>
              <a:rPr lang="en-US" altLang="zh-CN" dirty="0" smtClean="0"/>
              <a:t>DHCP </a:t>
            </a:r>
            <a:r>
              <a:rPr lang="en-US" altLang="zh-CN" dirty="0">
                <a:ea typeface="黑体" panose="02010609060101010101" pitchFamily="2" charset="-122"/>
              </a:rPr>
              <a:t>(Dynamic Host Configuration Protocol) </a:t>
            </a:r>
            <a:r>
              <a:rPr lang="zh-CN" altLang="en-US" dirty="0" smtClean="0"/>
              <a:t>提供了</a:t>
            </a:r>
            <a:r>
              <a:rPr lang="zh-CN" altLang="en-US" dirty="0" smtClean="0">
                <a:solidFill>
                  <a:srgbClr val="FF0000"/>
                </a:solidFill>
              </a:rPr>
              <a:t>即插即用连网 </a:t>
            </a:r>
            <a:r>
              <a:rPr lang="en-US" altLang="zh-CN" dirty="0" smtClean="0"/>
              <a:t>(plug-and-play networking) </a:t>
            </a:r>
            <a:r>
              <a:rPr lang="zh-CN" altLang="en-US" dirty="0" smtClean="0"/>
              <a:t>的机制。</a:t>
            </a:r>
            <a:endParaRPr lang="zh-CN" altLang="en-US" dirty="0" smtClean="0"/>
          </a:p>
          <a:p>
            <a:pPr eaLnBrk="1" hangingPunct="1">
              <a:defRPr/>
            </a:pPr>
            <a:r>
              <a:rPr lang="zh-CN" altLang="en-US" dirty="0" smtClean="0"/>
              <a:t>这种机制允许一台计算机加入新的网络和获取</a:t>
            </a:r>
            <a:r>
              <a:rPr lang="en-US" altLang="zh-CN" dirty="0" smtClean="0"/>
              <a:t>IP </a:t>
            </a:r>
            <a:r>
              <a:rPr lang="zh-CN" altLang="en-US" dirty="0" smtClean="0"/>
              <a:t>地址而不用手工参与。</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08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pPr algn="ctr" eaLnBrk="1" hangingPunct="1"/>
            <a:r>
              <a:rPr lang="en-US" altLang="zh-CN" smtClean="0">
                <a:ea typeface="黑体" panose="02010609060101010101" pitchFamily="2" charset="-122"/>
              </a:rPr>
              <a:t>DHCP </a:t>
            </a:r>
            <a:r>
              <a:rPr lang="zh-CN" altLang="en-US" smtClean="0">
                <a:ea typeface="黑体" panose="02010609060101010101" pitchFamily="2" charset="-122"/>
              </a:rPr>
              <a:t>使用客户</a:t>
            </a:r>
            <a:r>
              <a:rPr lang="zh-CN" altLang="en-US" smtClean="0">
                <a:ea typeface="黑体" panose="02010609060101010101" pitchFamily="2" charset="-122"/>
                <a:sym typeface="Symbol" panose="05050102010706020507" pitchFamily="18" charset="2"/>
              </a:rPr>
              <a:t></a:t>
            </a:r>
            <a:r>
              <a:rPr lang="zh-CN" altLang="en-US" smtClean="0">
                <a:ea typeface="黑体" panose="02010609060101010101" pitchFamily="2" charset="-122"/>
              </a:rPr>
              <a:t>服务器方式</a:t>
            </a:r>
            <a:endParaRPr lang="zh-CN" altLang="en-US" smtClean="0">
              <a:ea typeface="黑体" panose="02010609060101010101" pitchFamily="2" charset="-122"/>
            </a:endParaRPr>
          </a:p>
        </p:txBody>
      </p:sp>
      <p:sp>
        <p:nvSpPr>
          <p:cNvPr id="721923" name="Rectangle 3"/>
          <p:cNvSpPr>
            <a:spLocks noGrp="1" noChangeArrowheads="1"/>
          </p:cNvSpPr>
          <p:nvPr>
            <p:ph idx="1"/>
          </p:nvPr>
        </p:nvSpPr>
        <p:spPr/>
        <p:txBody>
          <a:bodyPr/>
          <a:lstStyle/>
          <a:p>
            <a:pPr eaLnBrk="1" hangingPunct="1"/>
            <a:r>
              <a:rPr lang="zh-CN" altLang="en-US" sz="2800" dirty="0" smtClean="0">
                <a:ea typeface="黑体" panose="02010609060101010101" pitchFamily="2" charset="-122"/>
              </a:rPr>
              <a:t>需要 </a:t>
            </a:r>
            <a:r>
              <a:rPr lang="en-US" altLang="zh-CN" sz="2800" dirty="0" smtClean="0">
                <a:ea typeface="黑体" panose="02010609060101010101" pitchFamily="2" charset="-122"/>
              </a:rPr>
              <a:t>IP </a:t>
            </a:r>
            <a:r>
              <a:rPr lang="zh-CN" altLang="en-US" sz="2800" dirty="0" smtClean="0">
                <a:ea typeface="黑体" panose="02010609060101010101" pitchFamily="2" charset="-122"/>
              </a:rPr>
              <a:t>地址的主机在启动时就向 </a:t>
            </a:r>
            <a:r>
              <a:rPr lang="en-US" altLang="zh-CN" sz="2800" dirty="0" smtClean="0">
                <a:ea typeface="黑体" panose="02010609060101010101" pitchFamily="2" charset="-122"/>
              </a:rPr>
              <a:t>DHCP </a:t>
            </a:r>
            <a:r>
              <a:rPr lang="zh-CN" altLang="en-US" sz="2800" dirty="0" smtClean="0">
                <a:ea typeface="黑体" panose="02010609060101010101" pitchFamily="2" charset="-122"/>
              </a:rPr>
              <a:t>服务器</a:t>
            </a:r>
            <a:r>
              <a:rPr lang="zh-CN" altLang="en-US" sz="2800" dirty="0" smtClean="0">
                <a:solidFill>
                  <a:srgbClr val="FF0000"/>
                </a:solidFill>
                <a:ea typeface="黑体" panose="02010609060101010101" pitchFamily="2" charset="-122"/>
              </a:rPr>
              <a:t>广播发送</a:t>
            </a:r>
            <a:r>
              <a:rPr lang="zh-CN" altLang="en-US" sz="2800" dirty="0" smtClean="0">
                <a:ea typeface="黑体" panose="02010609060101010101" pitchFamily="2" charset="-122"/>
              </a:rPr>
              <a:t>发现报文（</a:t>
            </a:r>
            <a:r>
              <a:rPr lang="en-US" altLang="zh-CN" sz="2800" dirty="0" smtClean="0">
                <a:ea typeface="黑体" panose="02010609060101010101" pitchFamily="2" charset="-122"/>
              </a:rPr>
              <a:t>DHCPDISCOVER</a:t>
            </a:r>
            <a:r>
              <a:rPr lang="zh-CN" altLang="en-US" sz="2800" dirty="0" smtClean="0">
                <a:ea typeface="黑体" panose="02010609060101010101" pitchFamily="2" charset="-122"/>
              </a:rPr>
              <a:t>），这时该主机就成为 </a:t>
            </a:r>
            <a:r>
              <a:rPr lang="en-US" altLang="zh-CN" sz="2800" dirty="0" smtClean="0">
                <a:ea typeface="黑体" panose="02010609060101010101" pitchFamily="2" charset="-122"/>
              </a:rPr>
              <a:t>DHCP </a:t>
            </a:r>
            <a:r>
              <a:rPr lang="zh-CN" altLang="en-US" sz="2800" dirty="0" smtClean="0">
                <a:ea typeface="黑体" panose="02010609060101010101" pitchFamily="2" charset="-122"/>
              </a:rPr>
              <a:t>客户。</a:t>
            </a:r>
            <a:endParaRPr lang="zh-CN" altLang="en-US" sz="2800" dirty="0" smtClean="0">
              <a:ea typeface="黑体" panose="02010609060101010101" pitchFamily="2" charset="-122"/>
            </a:endParaRPr>
          </a:p>
          <a:p>
            <a:pPr eaLnBrk="1" hangingPunct="1"/>
            <a:r>
              <a:rPr lang="zh-CN" altLang="en-US" sz="2800" dirty="0" smtClean="0">
                <a:ea typeface="黑体" panose="02010609060101010101" pitchFamily="2" charset="-122"/>
              </a:rPr>
              <a:t>本地网络上所有主机都能收到此广播报文，但只有 </a:t>
            </a:r>
            <a:r>
              <a:rPr lang="en-US" altLang="zh-CN" sz="2800" dirty="0" smtClean="0">
                <a:ea typeface="黑体" panose="02010609060101010101" pitchFamily="2" charset="-122"/>
              </a:rPr>
              <a:t>DHCP </a:t>
            </a:r>
            <a:r>
              <a:rPr lang="zh-CN" altLang="en-US" sz="2800" dirty="0" smtClean="0">
                <a:ea typeface="黑体" panose="02010609060101010101" pitchFamily="2" charset="-122"/>
              </a:rPr>
              <a:t>服务器才回答此广播报文。</a:t>
            </a:r>
            <a:endParaRPr lang="zh-CN" altLang="en-US" sz="2800" dirty="0" smtClean="0">
              <a:ea typeface="黑体" panose="02010609060101010101" pitchFamily="2" charset="-122"/>
            </a:endParaRPr>
          </a:p>
          <a:p>
            <a:pPr eaLnBrk="1" hangingPunct="1"/>
            <a:r>
              <a:rPr lang="en-US" altLang="zh-CN" sz="2800" dirty="0" smtClean="0">
                <a:ea typeface="黑体" panose="02010609060101010101" pitchFamily="2" charset="-122"/>
              </a:rPr>
              <a:t>DHCP </a:t>
            </a:r>
            <a:r>
              <a:rPr lang="zh-CN" altLang="en-US" sz="2800" dirty="0" smtClean="0">
                <a:ea typeface="黑体" panose="02010609060101010101" pitchFamily="2" charset="-122"/>
              </a:rPr>
              <a:t>服务器先在其数据库中查找该计算机的配置信息。若找到，则返回找到的信息。若找不到，则从服务器的 </a:t>
            </a:r>
            <a:r>
              <a:rPr lang="en-US" altLang="zh-CN" sz="2800" dirty="0" smtClean="0">
                <a:ea typeface="黑体" panose="02010609060101010101" pitchFamily="2" charset="-122"/>
              </a:rPr>
              <a:t>IP </a:t>
            </a:r>
            <a:r>
              <a:rPr lang="zh-CN" altLang="en-US" sz="2800" dirty="0" smtClean="0">
                <a:ea typeface="黑体" panose="02010609060101010101" pitchFamily="2" charset="-122"/>
              </a:rPr>
              <a:t>地址池</a:t>
            </a:r>
            <a:r>
              <a:rPr lang="en-US" altLang="zh-CN" sz="2800" dirty="0" smtClean="0">
                <a:ea typeface="黑体" panose="02010609060101010101" pitchFamily="2" charset="-122"/>
              </a:rPr>
              <a:t>(address pool)</a:t>
            </a:r>
            <a:r>
              <a:rPr lang="zh-CN" altLang="en-US" sz="2800" dirty="0" smtClean="0">
                <a:ea typeface="黑体" panose="02010609060101010101" pitchFamily="2" charset="-122"/>
              </a:rPr>
              <a:t>中取一个地址分配给该计算机。</a:t>
            </a:r>
            <a:r>
              <a:rPr lang="en-US" altLang="zh-CN" sz="2800" dirty="0" smtClean="0">
                <a:ea typeface="黑体" panose="02010609060101010101" pitchFamily="2" charset="-122"/>
              </a:rPr>
              <a:t>DHCP </a:t>
            </a:r>
            <a:r>
              <a:rPr lang="zh-CN" altLang="en-US" sz="2800" dirty="0" smtClean="0">
                <a:ea typeface="黑体" panose="02010609060101010101" pitchFamily="2" charset="-122"/>
              </a:rPr>
              <a:t>服务器的回答报文叫做提供报文（</a:t>
            </a:r>
            <a:r>
              <a:rPr lang="en-US" altLang="zh-CN" sz="2800" dirty="0" smtClean="0">
                <a:ea typeface="黑体" panose="02010609060101010101" pitchFamily="2" charset="-122"/>
              </a:rPr>
              <a:t>DHCPOFFER</a:t>
            </a:r>
            <a:r>
              <a:rPr lang="zh-CN" altLang="en-US" sz="2800" dirty="0" smtClean="0">
                <a:ea typeface="黑体" panose="02010609060101010101" pitchFamily="2" charset="-122"/>
              </a:rPr>
              <a:t>）。 </a:t>
            </a:r>
            <a:endParaRPr lang="zh-CN" altLang="en-US" sz="2800"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19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1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algn="ctr" eaLnBrk="1" hangingPunct="1"/>
            <a:r>
              <a:rPr lang="en-US" altLang="zh-CN" smtClean="0">
                <a:ea typeface="黑体" panose="02010609060101010101" pitchFamily="2" charset="-122"/>
              </a:rPr>
              <a:t>DHCP </a:t>
            </a:r>
            <a:r>
              <a:rPr lang="zh-CN" altLang="en-US" smtClean="0">
                <a:ea typeface="黑体" panose="02010609060101010101" pitchFamily="2" charset="-122"/>
              </a:rPr>
              <a:t>中继代理</a:t>
            </a:r>
            <a:r>
              <a:rPr lang="en-US" altLang="zh-CN" smtClean="0">
                <a:ea typeface="黑体" panose="02010609060101010101" pitchFamily="2" charset="-122"/>
              </a:rPr>
              <a:t>(relay agent) </a:t>
            </a:r>
            <a:endParaRPr lang="en-US" altLang="zh-CN" smtClean="0">
              <a:ea typeface="黑体" panose="02010609060101010101" pitchFamily="2" charset="-122"/>
            </a:endParaRPr>
          </a:p>
        </p:txBody>
      </p:sp>
      <p:sp>
        <p:nvSpPr>
          <p:cNvPr id="722947" name="Rectangle 3"/>
          <p:cNvSpPr>
            <a:spLocks noGrp="1" noChangeArrowheads="1"/>
          </p:cNvSpPr>
          <p:nvPr>
            <p:ph idx="1"/>
          </p:nvPr>
        </p:nvSpPr>
        <p:spPr/>
        <p:txBody>
          <a:bodyPr/>
          <a:lstStyle/>
          <a:p>
            <a:pPr eaLnBrk="1" hangingPunct="1"/>
            <a:r>
              <a:rPr lang="zh-CN" altLang="en-US" dirty="0" smtClean="0">
                <a:ea typeface="黑体" panose="02010609060101010101" pitchFamily="2" charset="-122"/>
              </a:rPr>
              <a:t>并不是每个网络上都有 </a:t>
            </a:r>
            <a:r>
              <a:rPr lang="en-US" altLang="zh-CN" dirty="0" smtClean="0">
                <a:ea typeface="黑体" panose="02010609060101010101" pitchFamily="2" charset="-122"/>
              </a:rPr>
              <a:t>DHCP </a:t>
            </a:r>
            <a:r>
              <a:rPr lang="zh-CN" altLang="en-US" dirty="0" smtClean="0">
                <a:ea typeface="黑体" panose="02010609060101010101" pitchFamily="2" charset="-122"/>
              </a:rPr>
              <a:t>服务器，这样会使 </a:t>
            </a:r>
            <a:r>
              <a:rPr lang="en-US" altLang="zh-CN" dirty="0" smtClean="0">
                <a:ea typeface="黑体" panose="02010609060101010101" pitchFamily="2" charset="-122"/>
              </a:rPr>
              <a:t>DHCP </a:t>
            </a:r>
            <a:r>
              <a:rPr lang="zh-CN" altLang="en-US" dirty="0" smtClean="0">
                <a:ea typeface="黑体" panose="02010609060101010101" pitchFamily="2" charset="-122"/>
              </a:rPr>
              <a:t>服务器的数量太多。现在是每一个网络至少有一个 </a:t>
            </a:r>
            <a:r>
              <a:rPr lang="en-US" altLang="zh-CN" dirty="0" smtClean="0">
                <a:ea typeface="黑体" panose="02010609060101010101" pitchFamily="2" charset="-122"/>
              </a:rPr>
              <a:t>DHCP </a:t>
            </a:r>
            <a:r>
              <a:rPr lang="zh-CN" altLang="en-US" dirty="0" smtClean="0">
                <a:solidFill>
                  <a:srgbClr val="FF0000"/>
                </a:solidFill>
                <a:ea typeface="黑体" panose="02010609060101010101" pitchFamily="2" charset="-122"/>
              </a:rPr>
              <a:t>中继代理</a:t>
            </a:r>
            <a:r>
              <a:rPr lang="zh-CN" altLang="en-US" dirty="0" smtClean="0">
                <a:ea typeface="黑体" panose="02010609060101010101" pitchFamily="2" charset="-122"/>
              </a:rPr>
              <a:t>，它配置了 </a:t>
            </a:r>
            <a:r>
              <a:rPr lang="en-US" altLang="zh-CN" dirty="0" smtClean="0">
                <a:ea typeface="黑体" panose="02010609060101010101" pitchFamily="2" charset="-122"/>
              </a:rPr>
              <a:t>DHCP </a:t>
            </a:r>
            <a:r>
              <a:rPr lang="zh-CN" altLang="en-US" dirty="0" smtClean="0">
                <a:ea typeface="黑体" panose="02010609060101010101" pitchFamily="2" charset="-122"/>
              </a:rPr>
              <a:t>服务器的 </a:t>
            </a:r>
            <a:r>
              <a:rPr lang="en-US" altLang="zh-CN" dirty="0" smtClean="0">
                <a:ea typeface="黑体" panose="02010609060101010101" pitchFamily="2" charset="-122"/>
              </a:rPr>
              <a:t>IP </a:t>
            </a:r>
            <a:r>
              <a:rPr lang="zh-CN" altLang="en-US" dirty="0" smtClean="0">
                <a:ea typeface="黑体" panose="02010609060101010101" pitchFamily="2" charset="-122"/>
              </a:rPr>
              <a:t>地址信息。</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当 </a:t>
            </a:r>
            <a:r>
              <a:rPr lang="en-US" altLang="zh-CN" dirty="0" smtClean="0">
                <a:ea typeface="黑体" panose="02010609060101010101" pitchFamily="2" charset="-122"/>
              </a:rPr>
              <a:t>DHCP </a:t>
            </a:r>
            <a:r>
              <a:rPr lang="zh-CN" altLang="en-US" dirty="0" smtClean="0">
                <a:ea typeface="黑体" panose="02010609060101010101" pitchFamily="2" charset="-122"/>
              </a:rPr>
              <a:t>中继代理收到主机发送的发现报文后，就以单播方式向 </a:t>
            </a:r>
            <a:r>
              <a:rPr lang="en-US" altLang="zh-CN" dirty="0" smtClean="0">
                <a:ea typeface="黑体" panose="02010609060101010101" pitchFamily="2" charset="-122"/>
              </a:rPr>
              <a:t>DHCP </a:t>
            </a:r>
            <a:r>
              <a:rPr lang="zh-CN" altLang="en-US" dirty="0" smtClean="0">
                <a:ea typeface="黑体" panose="02010609060101010101" pitchFamily="2" charset="-122"/>
              </a:rPr>
              <a:t>服务器转发此报文，并等待其回答。收到 </a:t>
            </a:r>
            <a:r>
              <a:rPr lang="en-US" altLang="zh-CN" dirty="0" smtClean="0">
                <a:ea typeface="黑体" panose="02010609060101010101" pitchFamily="2" charset="-122"/>
              </a:rPr>
              <a:t>DHCP </a:t>
            </a:r>
            <a:r>
              <a:rPr lang="zh-CN" altLang="en-US" dirty="0" smtClean="0">
                <a:ea typeface="黑体" panose="02010609060101010101" pitchFamily="2" charset="-122"/>
              </a:rPr>
              <a:t>服务器回答的提供报文后，</a:t>
            </a:r>
            <a:r>
              <a:rPr lang="en-US" altLang="zh-CN" dirty="0" smtClean="0">
                <a:ea typeface="黑体" panose="02010609060101010101" pitchFamily="2" charset="-122"/>
              </a:rPr>
              <a:t>DHCP </a:t>
            </a:r>
            <a:r>
              <a:rPr lang="zh-CN" altLang="en-US" dirty="0" smtClean="0">
                <a:ea typeface="黑体" panose="02010609060101010101" pitchFamily="2" charset="-122"/>
              </a:rPr>
              <a:t>中继代理再将此提供报文发回给主机。</a:t>
            </a:r>
            <a:endParaRPr lang="zh-CN" altLang="en-US" dirty="0" smtClean="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2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4"/>
          <p:cNvSpPr>
            <a:spLocks noGrp="1" noChangeArrowheads="1"/>
          </p:cNvSpPr>
          <p:nvPr>
            <p:ph type="title" idx="4294967295"/>
          </p:nvPr>
        </p:nvSpPr>
        <p:spPr>
          <a:xfrm>
            <a:off x="368746" y="671984"/>
            <a:ext cx="9048750" cy="812800"/>
          </a:xfrm>
        </p:spPr>
        <p:txBody>
          <a:bodyPr/>
          <a:lstStyle/>
          <a:p>
            <a:pPr algn="ctr" eaLnBrk="1" hangingPunct="1">
              <a:defRPr/>
            </a:pPr>
            <a:r>
              <a:rPr lang="en-US" altLang="zh-CN" sz="4060" dirty="0"/>
              <a:t>DHCP </a:t>
            </a:r>
            <a:r>
              <a:rPr sz="4060" dirty="0"/>
              <a:t>中继代理</a:t>
            </a:r>
            <a:br>
              <a:rPr sz="4060" dirty="0"/>
            </a:br>
            <a:r>
              <a:rPr sz="4060" dirty="0"/>
              <a:t>以单播方式转发发现报文 </a:t>
            </a:r>
            <a:endParaRPr sz="4060" dirty="0"/>
          </a:p>
        </p:txBody>
      </p:sp>
      <p:sp>
        <p:nvSpPr>
          <p:cNvPr id="301059" name="Line 5"/>
          <p:cNvSpPr>
            <a:spLocks noChangeShapeType="1"/>
          </p:cNvSpPr>
          <p:nvPr/>
        </p:nvSpPr>
        <p:spPr bwMode="auto">
          <a:xfrm>
            <a:off x="1391385" y="3203723"/>
            <a:ext cx="0" cy="4222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1060" name="Line 6"/>
          <p:cNvSpPr>
            <a:spLocks noChangeShapeType="1"/>
          </p:cNvSpPr>
          <p:nvPr/>
        </p:nvSpPr>
        <p:spPr bwMode="auto">
          <a:xfrm flipV="1">
            <a:off x="3873046" y="4048273"/>
            <a:ext cx="5271161"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pic>
        <p:nvPicPr>
          <p:cNvPr id="301061" name="Picture 7"/>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77387" y="2887811"/>
            <a:ext cx="944165" cy="159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1062" name="Text Box 8"/>
          <p:cNvSpPr txBox="1">
            <a:spLocks noChangeArrowheads="1"/>
          </p:cNvSpPr>
          <p:nvPr/>
        </p:nvSpPr>
        <p:spPr bwMode="auto">
          <a:xfrm>
            <a:off x="63706" y="1844824"/>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主机</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1063" name="Text Box 9"/>
          <p:cNvSpPr txBox="1">
            <a:spLocks noChangeArrowheads="1"/>
          </p:cNvSpPr>
          <p:nvPr/>
        </p:nvSpPr>
        <p:spPr bwMode="auto">
          <a:xfrm>
            <a:off x="8942319" y="2260749"/>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t>
            </a:r>
            <a:endParaRPr kumimoji="1" lang="en-US" altLang="zh-CN" sz="20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grpSp>
        <p:nvGrpSpPr>
          <p:cNvPr id="301064" name="Group 10"/>
          <p:cNvGrpSpPr/>
          <p:nvPr/>
        </p:nvGrpSpPr>
        <p:grpSpPr bwMode="auto">
          <a:xfrm>
            <a:off x="6870642" y="3308498"/>
            <a:ext cx="1587368" cy="1411288"/>
            <a:chOff x="3204" y="2684"/>
            <a:chExt cx="1080" cy="854"/>
          </a:xfrm>
        </p:grpSpPr>
        <p:sp>
          <p:nvSpPr>
            <p:cNvPr id="301084" name="Oval 11"/>
            <p:cNvSpPr>
              <a:spLocks noChangeArrowheads="1"/>
            </p:cNvSpPr>
            <p:nvPr/>
          </p:nvSpPr>
          <p:spPr bwMode="auto">
            <a:xfrm>
              <a:off x="3457" y="2684"/>
              <a:ext cx="464" cy="228"/>
            </a:xfrm>
            <a:prstGeom prst="ellipse">
              <a:avLst/>
            </a:prstGeom>
            <a:solidFill>
              <a:srgbClr val="EAEAEA"/>
            </a:solidFill>
            <a:ln w="12700">
              <a:solidFill>
                <a:srgbClr val="000000"/>
              </a:solidFill>
              <a:round/>
            </a:ln>
          </p:spPr>
          <p:txBody>
            <a:bodyPr/>
            <a:lstStyle/>
            <a:p>
              <a:pPr eaLnBrk="1" hangingPunct="1"/>
              <a:endParaRPr lang="zh-CN" altLang="en-US" b="1">
                <a:solidFill>
                  <a:srgbClr val="000099"/>
                </a:solidFill>
              </a:endParaRPr>
            </a:p>
          </p:txBody>
        </p:sp>
        <p:sp>
          <p:nvSpPr>
            <p:cNvPr id="301085" name="Freeform 12"/>
            <p:cNvSpPr/>
            <p:nvPr/>
          </p:nvSpPr>
          <p:spPr bwMode="auto">
            <a:xfrm>
              <a:off x="3853" y="2753"/>
              <a:ext cx="312" cy="202"/>
            </a:xfrm>
            <a:custGeom>
              <a:avLst/>
              <a:gdLst>
                <a:gd name="T0" fmla="*/ 182 w 312"/>
                <a:gd name="T1" fmla="*/ 10 h 202"/>
                <a:gd name="T2" fmla="*/ 150 w 312"/>
                <a:gd name="T3" fmla="*/ 4 h 202"/>
                <a:gd name="T4" fmla="*/ 119 w 312"/>
                <a:gd name="T5" fmla="*/ 0 h 202"/>
                <a:gd name="T6" fmla="*/ 91 w 312"/>
                <a:gd name="T7" fmla="*/ 2 h 202"/>
                <a:gd name="T8" fmla="*/ 67 w 312"/>
                <a:gd name="T9" fmla="*/ 8 h 202"/>
                <a:gd name="T10" fmla="*/ 44 w 312"/>
                <a:gd name="T11" fmla="*/ 16 h 202"/>
                <a:gd name="T12" fmla="*/ 25 w 312"/>
                <a:gd name="T13" fmla="*/ 29 h 202"/>
                <a:gd name="T14" fmla="*/ 12 w 312"/>
                <a:gd name="T15" fmla="*/ 44 h 202"/>
                <a:gd name="T16" fmla="*/ 2 w 312"/>
                <a:gd name="T17" fmla="*/ 61 h 202"/>
                <a:gd name="T18" fmla="*/ 0 w 312"/>
                <a:gd name="T19" fmla="*/ 80 h 202"/>
                <a:gd name="T20" fmla="*/ 6 w 312"/>
                <a:gd name="T21" fmla="*/ 99 h 202"/>
                <a:gd name="T22" fmla="*/ 16 w 312"/>
                <a:gd name="T23" fmla="*/ 117 h 202"/>
                <a:gd name="T24" fmla="*/ 31 w 312"/>
                <a:gd name="T25" fmla="*/ 136 h 202"/>
                <a:gd name="T26" fmla="*/ 51 w 312"/>
                <a:gd name="T27" fmla="*/ 153 h 202"/>
                <a:gd name="T28" fmla="*/ 74 w 312"/>
                <a:gd name="T29" fmla="*/ 170 h 202"/>
                <a:gd name="T30" fmla="*/ 102 w 312"/>
                <a:gd name="T31" fmla="*/ 183 h 202"/>
                <a:gd name="T32" fmla="*/ 133 w 312"/>
                <a:gd name="T33" fmla="*/ 193 h 202"/>
                <a:gd name="T34" fmla="*/ 165 w 312"/>
                <a:gd name="T35" fmla="*/ 199 h 202"/>
                <a:gd name="T36" fmla="*/ 195 w 312"/>
                <a:gd name="T37" fmla="*/ 202 h 202"/>
                <a:gd name="T38" fmla="*/ 223 w 312"/>
                <a:gd name="T39" fmla="*/ 200 h 202"/>
                <a:gd name="T40" fmla="*/ 248 w 312"/>
                <a:gd name="T41" fmla="*/ 195 h 202"/>
                <a:gd name="T42" fmla="*/ 271 w 312"/>
                <a:gd name="T43" fmla="*/ 187 h 202"/>
                <a:gd name="T44" fmla="*/ 289 w 312"/>
                <a:gd name="T45" fmla="*/ 174 h 202"/>
                <a:gd name="T46" fmla="*/ 303 w 312"/>
                <a:gd name="T47" fmla="*/ 159 h 202"/>
                <a:gd name="T48" fmla="*/ 310 w 312"/>
                <a:gd name="T49" fmla="*/ 142 h 202"/>
                <a:gd name="T50" fmla="*/ 312 w 312"/>
                <a:gd name="T51" fmla="*/ 123 h 202"/>
                <a:gd name="T52" fmla="*/ 308 w 312"/>
                <a:gd name="T53" fmla="*/ 104 h 202"/>
                <a:gd name="T54" fmla="*/ 297 w 312"/>
                <a:gd name="T55" fmla="*/ 85 h 202"/>
                <a:gd name="T56" fmla="*/ 284 w 312"/>
                <a:gd name="T57" fmla="*/ 66 h 202"/>
                <a:gd name="T58" fmla="*/ 263 w 312"/>
                <a:gd name="T59" fmla="*/ 50 h 202"/>
                <a:gd name="T60" fmla="*/ 240 w 312"/>
                <a:gd name="T61" fmla="*/ 33 h 202"/>
                <a:gd name="T62" fmla="*/ 212 w 312"/>
                <a:gd name="T63" fmla="*/ 19 h 202"/>
                <a:gd name="T64" fmla="*/ 182 w 312"/>
                <a:gd name="T65" fmla="*/ 10 h 20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2" h="202">
                  <a:moveTo>
                    <a:pt x="182" y="10"/>
                  </a:moveTo>
                  <a:lnTo>
                    <a:pt x="150" y="4"/>
                  </a:lnTo>
                  <a:lnTo>
                    <a:pt x="119" y="0"/>
                  </a:lnTo>
                  <a:lnTo>
                    <a:pt x="91" y="2"/>
                  </a:lnTo>
                  <a:lnTo>
                    <a:pt x="67" y="8"/>
                  </a:lnTo>
                  <a:lnTo>
                    <a:pt x="44" y="16"/>
                  </a:lnTo>
                  <a:lnTo>
                    <a:pt x="25" y="29"/>
                  </a:lnTo>
                  <a:lnTo>
                    <a:pt x="12" y="44"/>
                  </a:lnTo>
                  <a:lnTo>
                    <a:pt x="2" y="61"/>
                  </a:lnTo>
                  <a:lnTo>
                    <a:pt x="0" y="80"/>
                  </a:lnTo>
                  <a:lnTo>
                    <a:pt x="6" y="99"/>
                  </a:lnTo>
                  <a:lnTo>
                    <a:pt x="16" y="117"/>
                  </a:lnTo>
                  <a:lnTo>
                    <a:pt x="31" y="136"/>
                  </a:lnTo>
                  <a:lnTo>
                    <a:pt x="51" y="153"/>
                  </a:lnTo>
                  <a:lnTo>
                    <a:pt x="74" y="170"/>
                  </a:lnTo>
                  <a:lnTo>
                    <a:pt x="102" y="183"/>
                  </a:lnTo>
                  <a:lnTo>
                    <a:pt x="133" y="193"/>
                  </a:lnTo>
                  <a:lnTo>
                    <a:pt x="165" y="199"/>
                  </a:lnTo>
                  <a:lnTo>
                    <a:pt x="195" y="202"/>
                  </a:lnTo>
                  <a:lnTo>
                    <a:pt x="223" y="200"/>
                  </a:lnTo>
                  <a:lnTo>
                    <a:pt x="248" y="195"/>
                  </a:lnTo>
                  <a:lnTo>
                    <a:pt x="271" y="187"/>
                  </a:lnTo>
                  <a:lnTo>
                    <a:pt x="289" y="174"/>
                  </a:lnTo>
                  <a:lnTo>
                    <a:pt x="303" y="159"/>
                  </a:lnTo>
                  <a:lnTo>
                    <a:pt x="310" y="142"/>
                  </a:lnTo>
                  <a:lnTo>
                    <a:pt x="312" y="123"/>
                  </a:lnTo>
                  <a:lnTo>
                    <a:pt x="308" y="104"/>
                  </a:lnTo>
                  <a:lnTo>
                    <a:pt x="297" y="85"/>
                  </a:lnTo>
                  <a:lnTo>
                    <a:pt x="284" y="66"/>
                  </a:lnTo>
                  <a:lnTo>
                    <a:pt x="263" y="50"/>
                  </a:lnTo>
                  <a:lnTo>
                    <a:pt x="240" y="33"/>
                  </a:lnTo>
                  <a:lnTo>
                    <a:pt x="212" y="19"/>
                  </a:lnTo>
                  <a:lnTo>
                    <a:pt x="182" y="10"/>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86" name="Freeform 13"/>
            <p:cNvSpPr/>
            <p:nvPr/>
          </p:nvSpPr>
          <p:spPr bwMode="auto">
            <a:xfrm>
              <a:off x="4014" y="2946"/>
              <a:ext cx="270" cy="232"/>
            </a:xfrm>
            <a:custGeom>
              <a:avLst/>
              <a:gdLst>
                <a:gd name="T0" fmla="*/ 181 w 270"/>
                <a:gd name="T1" fmla="*/ 15 h 232"/>
                <a:gd name="T2" fmla="*/ 155 w 270"/>
                <a:gd name="T3" fmla="*/ 6 h 232"/>
                <a:gd name="T4" fmla="*/ 128 w 270"/>
                <a:gd name="T5" fmla="*/ 0 h 232"/>
                <a:gd name="T6" fmla="*/ 104 w 270"/>
                <a:gd name="T7" fmla="*/ 0 h 232"/>
                <a:gd name="T8" fmla="*/ 79 w 270"/>
                <a:gd name="T9" fmla="*/ 4 h 232"/>
                <a:gd name="T10" fmla="*/ 57 w 270"/>
                <a:gd name="T11" fmla="*/ 11 h 232"/>
                <a:gd name="T12" fmla="*/ 38 w 270"/>
                <a:gd name="T13" fmla="*/ 23 h 232"/>
                <a:gd name="T14" fmla="*/ 21 w 270"/>
                <a:gd name="T15" fmla="*/ 38 h 232"/>
                <a:gd name="T16" fmla="*/ 9 w 270"/>
                <a:gd name="T17" fmla="*/ 56 h 232"/>
                <a:gd name="T18" fmla="*/ 2 w 270"/>
                <a:gd name="T19" fmla="*/ 79 h 232"/>
                <a:gd name="T20" fmla="*/ 0 w 270"/>
                <a:gd name="T21" fmla="*/ 100 h 232"/>
                <a:gd name="T22" fmla="*/ 4 w 270"/>
                <a:gd name="T23" fmla="*/ 123 h 232"/>
                <a:gd name="T24" fmla="*/ 13 w 270"/>
                <a:gd name="T25" fmla="*/ 145 h 232"/>
                <a:gd name="T26" fmla="*/ 26 w 270"/>
                <a:gd name="T27" fmla="*/ 166 h 232"/>
                <a:gd name="T28" fmla="*/ 43 w 270"/>
                <a:gd name="T29" fmla="*/ 185 h 232"/>
                <a:gd name="T30" fmla="*/ 64 w 270"/>
                <a:gd name="T31" fmla="*/ 202 h 232"/>
                <a:gd name="T32" fmla="*/ 89 w 270"/>
                <a:gd name="T33" fmla="*/ 217 h 232"/>
                <a:gd name="T34" fmla="*/ 115 w 270"/>
                <a:gd name="T35" fmla="*/ 226 h 232"/>
                <a:gd name="T36" fmla="*/ 142 w 270"/>
                <a:gd name="T37" fmla="*/ 232 h 232"/>
                <a:gd name="T38" fmla="*/ 166 w 270"/>
                <a:gd name="T39" fmla="*/ 232 h 232"/>
                <a:gd name="T40" fmla="*/ 191 w 270"/>
                <a:gd name="T41" fmla="*/ 228 h 232"/>
                <a:gd name="T42" fmla="*/ 213 w 270"/>
                <a:gd name="T43" fmla="*/ 221 h 232"/>
                <a:gd name="T44" fmla="*/ 232 w 270"/>
                <a:gd name="T45" fmla="*/ 209 h 232"/>
                <a:gd name="T46" fmla="*/ 249 w 270"/>
                <a:gd name="T47" fmla="*/ 194 h 232"/>
                <a:gd name="T48" fmla="*/ 261 w 270"/>
                <a:gd name="T49" fmla="*/ 175 h 232"/>
                <a:gd name="T50" fmla="*/ 268 w 270"/>
                <a:gd name="T51" fmla="*/ 155 h 232"/>
                <a:gd name="T52" fmla="*/ 270 w 270"/>
                <a:gd name="T53" fmla="*/ 132 h 232"/>
                <a:gd name="T54" fmla="*/ 266 w 270"/>
                <a:gd name="T55" fmla="*/ 109 h 232"/>
                <a:gd name="T56" fmla="*/ 257 w 270"/>
                <a:gd name="T57" fmla="*/ 87 h 232"/>
                <a:gd name="T58" fmla="*/ 244 w 270"/>
                <a:gd name="T59" fmla="*/ 66 h 232"/>
                <a:gd name="T60" fmla="*/ 227 w 270"/>
                <a:gd name="T61" fmla="*/ 47 h 232"/>
                <a:gd name="T62" fmla="*/ 206 w 270"/>
                <a:gd name="T63" fmla="*/ 30 h 232"/>
                <a:gd name="T64" fmla="*/ 181 w 270"/>
                <a:gd name="T65" fmla="*/ 15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0" h="232">
                  <a:moveTo>
                    <a:pt x="181" y="15"/>
                  </a:moveTo>
                  <a:lnTo>
                    <a:pt x="155" y="6"/>
                  </a:lnTo>
                  <a:lnTo>
                    <a:pt x="128" y="0"/>
                  </a:lnTo>
                  <a:lnTo>
                    <a:pt x="104" y="0"/>
                  </a:lnTo>
                  <a:lnTo>
                    <a:pt x="79" y="4"/>
                  </a:lnTo>
                  <a:lnTo>
                    <a:pt x="57" y="11"/>
                  </a:lnTo>
                  <a:lnTo>
                    <a:pt x="38" y="23"/>
                  </a:lnTo>
                  <a:lnTo>
                    <a:pt x="21" y="38"/>
                  </a:lnTo>
                  <a:lnTo>
                    <a:pt x="9" y="56"/>
                  </a:lnTo>
                  <a:lnTo>
                    <a:pt x="2" y="79"/>
                  </a:lnTo>
                  <a:lnTo>
                    <a:pt x="0" y="100"/>
                  </a:lnTo>
                  <a:lnTo>
                    <a:pt x="4" y="123"/>
                  </a:lnTo>
                  <a:lnTo>
                    <a:pt x="13" y="145"/>
                  </a:lnTo>
                  <a:lnTo>
                    <a:pt x="26" y="166"/>
                  </a:lnTo>
                  <a:lnTo>
                    <a:pt x="43" y="185"/>
                  </a:lnTo>
                  <a:lnTo>
                    <a:pt x="64" y="202"/>
                  </a:lnTo>
                  <a:lnTo>
                    <a:pt x="89" y="217"/>
                  </a:lnTo>
                  <a:lnTo>
                    <a:pt x="115" y="226"/>
                  </a:lnTo>
                  <a:lnTo>
                    <a:pt x="142" y="232"/>
                  </a:lnTo>
                  <a:lnTo>
                    <a:pt x="166" y="232"/>
                  </a:lnTo>
                  <a:lnTo>
                    <a:pt x="191" y="228"/>
                  </a:lnTo>
                  <a:lnTo>
                    <a:pt x="213" y="221"/>
                  </a:lnTo>
                  <a:lnTo>
                    <a:pt x="232" y="209"/>
                  </a:lnTo>
                  <a:lnTo>
                    <a:pt x="249" y="194"/>
                  </a:lnTo>
                  <a:lnTo>
                    <a:pt x="261" y="175"/>
                  </a:lnTo>
                  <a:lnTo>
                    <a:pt x="268" y="155"/>
                  </a:lnTo>
                  <a:lnTo>
                    <a:pt x="270" y="132"/>
                  </a:lnTo>
                  <a:lnTo>
                    <a:pt x="266" y="109"/>
                  </a:lnTo>
                  <a:lnTo>
                    <a:pt x="257" y="87"/>
                  </a:lnTo>
                  <a:lnTo>
                    <a:pt x="244" y="66"/>
                  </a:lnTo>
                  <a:lnTo>
                    <a:pt x="227" y="47"/>
                  </a:lnTo>
                  <a:lnTo>
                    <a:pt x="206" y="30"/>
                  </a:lnTo>
                  <a:lnTo>
                    <a:pt x="181" y="15"/>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87" name="Freeform 14"/>
            <p:cNvSpPr/>
            <p:nvPr/>
          </p:nvSpPr>
          <p:spPr bwMode="auto">
            <a:xfrm>
              <a:off x="3927" y="3165"/>
              <a:ext cx="325" cy="285"/>
            </a:xfrm>
            <a:custGeom>
              <a:avLst/>
              <a:gdLst>
                <a:gd name="T0" fmla="*/ 102 w 325"/>
                <a:gd name="T1" fmla="*/ 19 h 285"/>
                <a:gd name="T2" fmla="*/ 74 w 325"/>
                <a:gd name="T3" fmla="*/ 36 h 285"/>
                <a:gd name="T4" fmla="*/ 49 w 325"/>
                <a:gd name="T5" fmla="*/ 58 h 285"/>
                <a:gd name="T6" fmla="*/ 28 w 325"/>
                <a:gd name="T7" fmla="*/ 81 h 285"/>
                <a:gd name="T8" fmla="*/ 13 w 325"/>
                <a:gd name="T9" fmla="*/ 107 h 285"/>
                <a:gd name="T10" fmla="*/ 4 w 325"/>
                <a:gd name="T11" fmla="*/ 134 h 285"/>
                <a:gd name="T12" fmla="*/ 0 w 325"/>
                <a:gd name="T13" fmla="*/ 162 h 285"/>
                <a:gd name="T14" fmla="*/ 2 w 325"/>
                <a:gd name="T15" fmla="*/ 188 h 285"/>
                <a:gd name="T16" fmla="*/ 11 w 325"/>
                <a:gd name="T17" fmla="*/ 215 h 285"/>
                <a:gd name="T18" fmla="*/ 27 w 325"/>
                <a:gd name="T19" fmla="*/ 237 h 285"/>
                <a:gd name="T20" fmla="*/ 45 w 325"/>
                <a:gd name="T21" fmla="*/ 256 h 285"/>
                <a:gd name="T22" fmla="*/ 70 w 325"/>
                <a:gd name="T23" fmla="*/ 271 h 285"/>
                <a:gd name="T24" fmla="*/ 98 w 325"/>
                <a:gd name="T25" fmla="*/ 279 h 285"/>
                <a:gd name="T26" fmla="*/ 127 w 325"/>
                <a:gd name="T27" fmla="*/ 285 h 285"/>
                <a:gd name="T28" fmla="*/ 159 w 325"/>
                <a:gd name="T29" fmla="*/ 283 h 285"/>
                <a:gd name="T30" fmla="*/ 191 w 325"/>
                <a:gd name="T31" fmla="*/ 275 h 285"/>
                <a:gd name="T32" fmla="*/ 223 w 325"/>
                <a:gd name="T33" fmla="*/ 264 h 285"/>
                <a:gd name="T34" fmla="*/ 251 w 325"/>
                <a:gd name="T35" fmla="*/ 247 h 285"/>
                <a:gd name="T36" fmla="*/ 276 w 325"/>
                <a:gd name="T37" fmla="*/ 226 h 285"/>
                <a:gd name="T38" fmla="*/ 297 w 325"/>
                <a:gd name="T39" fmla="*/ 202 h 285"/>
                <a:gd name="T40" fmla="*/ 312 w 325"/>
                <a:gd name="T41" fmla="*/ 175 h 285"/>
                <a:gd name="T42" fmla="*/ 321 w 325"/>
                <a:gd name="T43" fmla="*/ 149 h 285"/>
                <a:gd name="T44" fmla="*/ 325 w 325"/>
                <a:gd name="T45" fmla="*/ 120 h 285"/>
                <a:gd name="T46" fmla="*/ 323 w 325"/>
                <a:gd name="T47" fmla="*/ 94 h 285"/>
                <a:gd name="T48" fmla="*/ 314 w 325"/>
                <a:gd name="T49" fmla="*/ 68 h 285"/>
                <a:gd name="T50" fmla="*/ 299 w 325"/>
                <a:gd name="T51" fmla="*/ 45 h 285"/>
                <a:gd name="T52" fmla="*/ 280 w 325"/>
                <a:gd name="T53" fmla="*/ 26 h 285"/>
                <a:gd name="T54" fmla="*/ 255 w 325"/>
                <a:gd name="T55" fmla="*/ 11 h 285"/>
                <a:gd name="T56" fmla="*/ 229 w 325"/>
                <a:gd name="T57" fmla="*/ 4 h 285"/>
                <a:gd name="T58" fmla="*/ 198 w 325"/>
                <a:gd name="T59" fmla="*/ 0 h 285"/>
                <a:gd name="T60" fmla="*/ 166 w 325"/>
                <a:gd name="T61" fmla="*/ 0 h 285"/>
                <a:gd name="T62" fmla="*/ 134 w 325"/>
                <a:gd name="T63" fmla="*/ 7 h 285"/>
                <a:gd name="T64" fmla="*/ 102 w 325"/>
                <a:gd name="T65" fmla="*/ 19 h 2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25" h="285">
                  <a:moveTo>
                    <a:pt x="102" y="19"/>
                  </a:moveTo>
                  <a:lnTo>
                    <a:pt x="74" y="36"/>
                  </a:lnTo>
                  <a:lnTo>
                    <a:pt x="49" y="58"/>
                  </a:lnTo>
                  <a:lnTo>
                    <a:pt x="28" y="81"/>
                  </a:lnTo>
                  <a:lnTo>
                    <a:pt x="13" y="107"/>
                  </a:lnTo>
                  <a:lnTo>
                    <a:pt x="4" y="134"/>
                  </a:lnTo>
                  <a:lnTo>
                    <a:pt x="0" y="162"/>
                  </a:lnTo>
                  <a:lnTo>
                    <a:pt x="2" y="188"/>
                  </a:lnTo>
                  <a:lnTo>
                    <a:pt x="11" y="215"/>
                  </a:lnTo>
                  <a:lnTo>
                    <a:pt x="27" y="237"/>
                  </a:lnTo>
                  <a:lnTo>
                    <a:pt x="45" y="256"/>
                  </a:lnTo>
                  <a:lnTo>
                    <a:pt x="70" y="271"/>
                  </a:lnTo>
                  <a:lnTo>
                    <a:pt x="98" y="279"/>
                  </a:lnTo>
                  <a:lnTo>
                    <a:pt x="127" y="285"/>
                  </a:lnTo>
                  <a:lnTo>
                    <a:pt x="159" y="283"/>
                  </a:lnTo>
                  <a:lnTo>
                    <a:pt x="191" y="275"/>
                  </a:lnTo>
                  <a:lnTo>
                    <a:pt x="223" y="264"/>
                  </a:lnTo>
                  <a:lnTo>
                    <a:pt x="251" y="247"/>
                  </a:lnTo>
                  <a:lnTo>
                    <a:pt x="276" y="226"/>
                  </a:lnTo>
                  <a:lnTo>
                    <a:pt x="297" y="202"/>
                  </a:lnTo>
                  <a:lnTo>
                    <a:pt x="312" y="175"/>
                  </a:lnTo>
                  <a:lnTo>
                    <a:pt x="321" y="149"/>
                  </a:lnTo>
                  <a:lnTo>
                    <a:pt x="325" y="120"/>
                  </a:lnTo>
                  <a:lnTo>
                    <a:pt x="323" y="94"/>
                  </a:lnTo>
                  <a:lnTo>
                    <a:pt x="314" y="68"/>
                  </a:lnTo>
                  <a:lnTo>
                    <a:pt x="299" y="45"/>
                  </a:lnTo>
                  <a:lnTo>
                    <a:pt x="280" y="26"/>
                  </a:lnTo>
                  <a:lnTo>
                    <a:pt x="255" y="11"/>
                  </a:lnTo>
                  <a:lnTo>
                    <a:pt x="229" y="4"/>
                  </a:lnTo>
                  <a:lnTo>
                    <a:pt x="198" y="0"/>
                  </a:lnTo>
                  <a:lnTo>
                    <a:pt x="166" y="0"/>
                  </a:lnTo>
                  <a:lnTo>
                    <a:pt x="134" y="7"/>
                  </a:lnTo>
                  <a:lnTo>
                    <a:pt x="102" y="19"/>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88" name="Oval 15"/>
            <p:cNvSpPr>
              <a:spLocks noChangeArrowheads="1"/>
            </p:cNvSpPr>
            <p:nvPr/>
          </p:nvSpPr>
          <p:spPr bwMode="auto">
            <a:xfrm>
              <a:off x="3514" y="3201"/>
              <a:ext cx="538" cy="337"/>
            </a:xfrm>
            <a:prstGeom prst="ellipse">
              <a:avLst/>
            </a:prstGeom>
            <a:solidFill>
              <a:srgbClr val="EAEAEA"/>
            </a:solidFill>
            <a:ln w="12700">
              <a:solidFill>
                <a:srgbClr val="000000"/>
              </a:solidFill>
              <a:round/>
            </a:ln>
          </p:spPr>
          <p:txBody>
            <a:bodyPr/>
            <a:lstStyle/>
            <a:p>
              <a:pPr eaLnBrk="1" hangingPunct="1"/>
              <a:endParaRPr lang="zh-CN" altLang="en-US" b="1">
                <a:solidFill>
                  <a:srgbClr val="000099"/>
                </a:solidFill>
              </a:endParaRPr>
            </a:p>
          </p:txBody>
        </p:sp>
        <p:sp>
          <p:nvSpPr>
            <p:cNvPr id="301089" name="Freeform 16"/>
            <p:cNvSpPr/>
            <p:nvPr/>
          </p:nvSpPr>
          <p:spPr bwMode="auto">
            <a:xfrm>
              <a:off x="3289" y="3193"/>
              <a:ext cx="300" cy="232"/>
            </a:xfrm>
            <a:custGeom>
              <a:avLst/>
              <a:gdLst>
                <a:gd name="T0" fmla="*/ 185 w 300"/>
                <a:gd name="T1" fmla="*/ 9 h 232"/>
                <a:gd name="T2" fmla="*/ 155 w 300"/>
                <a:gd name="T3" fmla="*/ 2 h 232"/>
                <a:gd name="T4" fmla="*/ 124 w 300"/>
                <a:gd name="T5" fmla="*/ 0 h 232"/>
                <a:gd name="T6" fmla="*/ 98 w 300"/>
                <a:gd name="T7" fmla="*/ 2 h 232"/>
                <a:gd name="T8" fmla="*/ 71 w 300"/>
                <a:gd name="T9" fmla="*/ 8 h 232"/>
                <a:gd name="T10" fmla="*/ 49 w 300"/>
                <a:gd name="T11" fmla="*/ 17 h 232"/>
                <a:gd name="T12" fmla="*/ 30 w 300"/>
                <a:gd name="T13" fmla="*/ 30 h 232"/>
                <a:gd name="T14" fmla="*/ 15 w 300"/>
                <a:gd name="T15" fmla="*/ 47 h 232"/>
                <a:gd name="T16" fmla="*/ 3 w 300"/>
                <a:gd name="T17" fmla="*/ 68 h 232"/>
                <a:gd name="T18" fmla="*/ 0 w 300"/>
                <a:gd name="T19" fmla="*/ 91 h 232"/>
                <a:gd name="T20" fmla="*/ 2 w 300"/>
                <a:gd name="T21" fmla="*/ 113 h 232"/>
                <a:gd name="T22" fmla="*/ 9 w 300"/>
                <a:gd name="T23" fmla="*/ 136 h 232"/>
                <a:gd name="T24" fmla="*/ 22 w 300"/>
                <a:gd name="T25" fmla="*/ 157 h 232"/>
                <a:gd name="T26" fmla="*/ 39 w 300"/>
                <a:gd name="T27" fmla="*/ 177 h 232"/>
                <a:gd name="T28" fmla="*/ 62 w 300"/>
                <a:gd name="T29" fmla="*/ 196 h 232"/>
                <a:gd name="T30" fmla="*/ 87 w 300"/>
                <a:gd name="T31" fmla="*/ 211 h 232"/>
                <a:gd name="T32" fmla="*/ 115 w 300"/>
                <a:gd name="T33" fmla="*/ 223 h 232"/>
                <a:gd name="T34" fmla="*/ 145 w 300"/>
                <a:gd name="T35" fmla="*/ 230 h 232"/>
                <a:gd name="T36" fmla="*/ 175 w 300"/>
                <a:gd name="T37" fmla="*/ 232 h 232"/>
                <a:gd name="T38" fmla="*/ 202 w 300"/>
                <a:gd name="T39" fmla="*/ 230 h 232"/>
                <a:gd name="T40" fmla="*/ 228 w 300"/>
                <a:gd name="T41" fmla="*/ 225 h 232"/>
                <a:gd name="T42" fmla="*/ 251 w 300"/>
                <a:gd name="T43" fmla="*/ 213 h 232"/>
                <a:gd name="T44" fmla="*/ 270 w 300"/>
                <a:gd name="T45" fmla="*/ 200 h 232"/>
                <a:gd name="T46" fmla="*/ 287 w 300"/>
                <a:gd name="T47" fmla="*/ 183 h 232"/>
                <a:gd name="T48" fmla="*/ 296 w 300"/>
                <a:gd name="T49" fmla="*/ 162 h 232"/>
                <a:gd name="T50" fmla="*/ 300 w 300"/>
                <a:gd name="T51" fmla="*/ 140 h 232"/>
                <a:gd name="T52" fmla="*/ 298 w 300"/>
                <a:gd name="T53" fmla="*/ 117 h 232"/>
                <a:gd name="T54" fmla="*/ 291 w 300"/>
                <a:gd name="T55" fmla="*/ 94 h 232"/>
                <a:gd name="T56" fmla="*/ 277 w 300"/>
                <a:gd name="T57" fmla="*/ 74 h 232"/>
                <a:gd name="T58" fmla="*/ 260 w 300"/>
                <a:gd name="T59" fmla="*/ 55 h 232"/>
                <a:gd name="T60" fmla="*/ 238 w 300"/>
                <a:gd name="T61" fmla="*/ 36 h 232"/>
                <a:gd name="T62" fmla="*/ 213 w 300"/>
                <a:gd name="T63" fmla="*/ 21 h 232"/>
                <a:gd name="T64" fmla="*/ 185 w 300"/>
                <a:gd name="T65" fmla="*/ 9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0" h="232">
                  <a:moveTo>
                    <a:pt x="185" y="9"/>
                  </a:moveTo>
                  <a:lnTo>
                    <a:pt x="155" y="2"/>
                  </a:lnTo>
                  <a:lnTo>
                    <a:pt x="124" y="0"/>
                  </a:lnTo>
                  <a:lnTo>
                    <a:pt x="98" y="2"/>
                  </a:lnTo>
                  <a:lnTo>
                    <a:pt x="71" y="8"/>
                  </a:lnTo>
                  <a:lnTo>
                    <a:pt x="49" y="17"/>
                  </a:lnTo>
                  <a:lnTo>
                    <a:pt x="30" y="30"/>
                  </a:lnTo>
                  <a:lnTo>
                    <a:pt x="15" y="47"/>
                  </a:lnTo>
                  <a:lnTo>
                    <a:pt x="3" y="68"/>
                  </a:lnTo>
                  <a:lnTo>
                    <a:pt x="0" y="91"/>
                  </a:lnTo>
                  <a:lnTo>
                    <a:pt x="2" y="113"/>
                  </a:lnTo>
                  <a:lnTo>
                    <a:pt x="9" y="136"/>
                  </a:lnTo>
                  <a:lnTo>
                    <a:pt x="22" y="157"/>
                  </a:lnTo>
                  <a:lnTo>
                    <a:pt x="39" y="177"/>
                  </a:lnTo>
                  <a:lnTo>
                    <a:pt x="62" y="196"/>
                  </a:lnTo>
                  <a:lnTo>
                    <a:pt x="87" y="211"/>
                  </a:lnTo>
                  <a:lnTo>
                    <a:pt x="115" y="223"/>
                  </a:lnTo>
                  <a:lnTo>
                    <a:pt x="145" y="230"/>
                  </a:lnTo>
                  <a:lnTo>
                    <a:pt x="175" y="232"/>
                  </a:lnTo>
                  <a:lnTo>
                    <a:pt x="202" y="230"/>
                  </a:lnTo>
                  <a:lnTo>
                    <a:pt x="228" y="225"/>
                  </a:lnTo>
                  <a:lnTo>
                    <a:pt x="251" y="213"/>
                  </a:lnTo>
                  <a:lnTo>
                    <a:pt x="270" y="200"/>
                  </a:lnTo>
                  <a:lnTo>
                    <a:pt x="287" y="183"/>
                  </a:lnTo>
                  <a:lnTo>
                    <a:pt x="296" y="162"/>
                  </a:lnTo>
                  <a:lnTo>
                    <a:pt x="300" y="140"/>
                  </a:lnTo>
                  <a:lnTo>
                    <a:pt x="298" y="117"/>
                  </a:lnTo>
                  <a:lnTo>
                    <a:pt x="291" y="94"/>
                  </a:lnTo>
                  <a:lnTo>
                    <a:pt x="277" y="74"/>
                  </a:lnTo>
                  <a:lnTo>
                    <a:pt x="260" y="55"/>
                  </a:lnTo>
                  <a:lnTo>
                    <a:pt x="238" y="36"/>
                  </a:lnTo>
                  <a:lnTo>
                    <a:pt x="213" y="21"/>
                  </a:lnTo>
                  <a:lnTo>
                    <a:pt x="185" y="9"/>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90" name="Oval 17"/>
            <p:cNvSpPr>
              <a:spLocks noChangeArrowheads="1"/>
            </p:cNvSpPr>
            <p:nvPr/>
          </p:nvSpPr>
          <p:spPr bwMode="auto">
            <a:xfrm>
              <a:off x="3204" y="3023"/>
              <a:ext cx="245" cy="219"/>
            </a:xfrm>
            <a:prstGeom prst="ellipse">
              <a:avLst/>
            </a:prstGeom>
            <a:solidFill>
              <a:srgbClr val="EAEAEA"/>
            </a:solidFill>
            <a:ln w="12700">
              <a:solidFill>
                <a:srgbClr val="000000"/>
              </a:solidFill>
              <a:round/>
            </a:ln>
          </p:spPr>
          <p:txBody>
            <a:bodyPr/>
            <a:lstStyle/>
            <a:p>
              <a:pPr eaLnBrk="1" hangingPunct="1"/>
              <a:endParaRPr lang="zh-CN" altLang="en-US" b="1">
                <a:solidFill>
                  <a:srgbClr val="000099"/>
                </a:solidFill>
              </a:endParaRPr>
            </a:p>
          </p:txBody>
        </p:sp>
        <p:sp>
          <p:nvSpPr>
            <p:cNvPr id="301091" name="Freeform 18"/>
            <p:cNvSpPr/>
            <p:nvPr/>
          </p:nvSpPr>
          <p:spPr bwMode="auto">
            <a:xfrm>
              <a:off x="3253" y="2827"/>
              <a:ext cx="315" cy="259"/>
            </a:xfrm>
            <a:custGeom>
              <a:avLst/>
              <a:gdLst>
                <a:gd name="T0" fmla="*/ 100 w 315"/>
                <a:gd name="T1" fmla="*/ 32 h 259"/>
                <a:gd name="T2" fmla="*/ 72 w 315"/>
                <a:gd name="T3" fmla="*/ 53 h 259"/>
                <a:gd name="T4" fmla="*/ 47 w 315"/>
                <a:gd name="T5" fmla="*/ 74 h 259"/>
                <a:gd name="T6" fmla="*/ 28 w 315"/>
                <a:gd name="T7" fmla="*/ 98 h 259"/>
                <a:gd name="T8" fmla="*/ 13 w 315"/>
                <a:gd name="T9" fmla="*/ 123 h 259"/>
                <a:gd name="T10" fmla="*/ 4 w 315"/>
                <a:gd name="T11" fmla="*/ 149 h 259"/>
                <a:gd name="T12" fmla="*/ 0 w 315"/>
                <a:gd name="T13" fmla="*/ 174 h 259"/>
                <a:gd name="T14" fmla="*/ 2 w 315"/>
                <a:gd name="T15" fmla="*/ 196 h 259"/>
                <a:gd name="T16" fmla="*/ 11 w 315"/>
                <a:gd name="T17" fmla="*/ 217 h 259"/>
                <a:gd name="T18" fmla="*/ 26 w 315"/>
                <a:gd name="T19" fmla="*/ 234 h 259"/>
                <a:gd name="T20" fmla="*/ 45 w 315"/>
                <a:gd name="T21" fmla="*/ 247 h 259"/>
                <a:gd name="T22" fmla="*/ 70 w 315"/>
                <a:gd name="T23" fmla="*/ 257 h 259"/>
                <a:gd name="T24" fmla="*/ 96 w 315"/>
                <a:gd name="T25" fmla="*/ 259 h 259"/>
                <a:gd name="T26" fmla="*/ 124 w 315"/>
                <a:gd name="T27" fmla="*/ 259 h 259"/>
                <a:gd name="T28" fmla="*/ 155 w 315"/>
                <a:gd name="T29" fmla="*/ 253 h 259"/>
                <a:gd name="T30" fmla="*/ 185 w 315"/>
                <a:gd name="T31" fmla="*/ 242 h 259"/>
                <a:gd name="T32" fmla="*/ 215 w 315"/>
                <a:gd name="T33" fmla="*/ 226 h 259"/>
                <a:gd name="T34" fmla="*/ 243 w 315"/>
                <a:gd name="T35" fmla="*/ 208 h 259"/>
                <a:gd name="T36" fmla="*/ 268 w 315"/>
                <a:gd name="T37" fmla="*/ 185 h 259"/>
                <a:gd name="T38" fmla="*/ 287 w 315"/>
                <a:gd name="T39" fmla="*/ 160 h 259"/>
                <a:gd name="T40" fmla="*/ 302 w 315"/>
                <a:gd name="T41" fmla="*/ 136 h 259"/>
                <a:gd name="T42" fmla="*/ 311 w 315"/>
                <a:gd name="T43" fmla="*/ 109 h 259"/>
                <a:gd name="T44" fmla="*/ 315 w 315"/>
                <a:gd name="T45" fmla="*/ 87 h 259"/>
                <a:gd name="T46" fmla="*/ 313 w 315"/>
                <a:gd name="T47" fmla="*/ 62 h 259"/>
                <a:gd name="T48" fmla="*/ 304 w 315"/>
                <a:gd name="T49" fmla="*/ 42 h 259"/>
                <a:gd name="T50" fmla="*/ 289 w 315"/>
                <a:gd name="T51" fmla="*/ 25 h 259"/>
                <a:gd name="T52" fmla="*/ 270 w 315"/>
                <a:gd name="T53" fmla="*/ 11 h 259"/>
                <a:gd name="T54" fmla="*/ 247 w 315"/>
                <a:gd name="T55" fmla="*/ 4 h 259"/>
                <a:gd name="T56" fmla="*/ 221 w 315"/>
                <a:gd name="T57" fmla="*/ 0 h 259"/>
                <a:gd name="T58" fmla="*/ 192 w 315"/>
                <a:gd name="T59" fmla="*/ 0 h 259"/>
                <a:gd name="T60" fmla="*/ 162 w 315"/>
                <a:gd name="T61" fmla="*/ 6 h 259"/>
                <a:gd name="T62" fmla="*/ 130 w 315"/>
                <a:gd name="T63" fmla="*/ 17 h 259"/>
                <a:gd name="T64" fmla="*/ 100 w 315"/>
                <a:gd name="T65" fmla="*/ 32 h 2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5" h="259">
                  <a:moveTo>
                    <a:pt x="100" y="32"/>
                  </a:moveTo>
                  <a:lnTo>
                    <a:pt x="72" y="53"/>
                  </a:lnTo>
                  <a:lnTo>
                    <a:pt x="47" y="74"/>
                  </a:lnTo>
                  <a:lnTo>
                    <a:pt x="28" y="98"/>
                  </a:lnTo>
                  <a:lnTo>
                    <a:pt x="13" y="123"/>
                  </a:lnTo>
                  <a:lnTo>
                    <a:pt x="4" y="149"/>
                  </a:lnTo>
                  <a:lnTo>
                    <a:pt x="0" y="174"/>
                  </a:lnTo>
                  <a:lnTo>
                    <a:pt x="2" y="196"/>
                  </a:lnTo>
                  <a:lnTo>
                    <a:pt x="11" y="217"/>
                  </a:lnTo>
                  <a:lnTo>
                    <a:pt x="26" y="234"/>
                  </a:lnTo>
                  <a:lnTo>
                    <a:pt x="45" y="247"/>
                  </a:lnTo>
                  <a:lnTo>
                    <a:pt x="70" y="257"/>
                  </a:lnTo>
                  <a:lnTo>
                    <a:pt x="96" y="259"/>
                  </a:lnTo>
                  <a:lnTo>
                    <a:pt x="124" y="259"/>
                  </a:lnTo>
                  <a:lnTo>
                    <a:pt x="155" y="253"/>
                  </a:lnTo>
                  <a:lnTo>
                    <a:pt x="185" y="242"/>
                  </a:lnTo>
                  <a:lnTo>
                    <a:pt x="215" y="226"/>
                  </a:lnTo>
                  <a:lnTo>
                    <a:pt x="243" y="208"/>
                  </a:lnTo>
                  <a:lnTo>
                    <a:pt x="268" y="185"/>
                  </a:lnTo>
                  <a:lnTo>
                    <a:pt x="287" y="160"/>
                  </a:lnTo>
                  <a:lnTo>
                    <a:pt x="302" y="136"/>
                  </a:lnTo>
                  <a:lnTo>
                    <a:pt x="311" y="109"/>
                  </a:lnTo>
                  <a:lnTo>
                    <a:pt x="315" y="87"/>
                  </a:lnTo>
                  <a:lnTo>
                    <a:pt x="313" y="62"/>
                  </a:lnTo>
                  <a:lnTo>
                    <a:pt x="304" y="42"/>
                  </a:lnTo>
                  <a:lnTo>
                    <a:pt x="289" y="25"/>
                  </a:lnTo>
                  <a:lnTo>
                    <a:pt x="270" y="11"/>
                  </a:lnTo>
                  <a:lnTo>
                    <a:pt x="247" y="4"/>
                  </a:lnTo>
                  <a:lnTo>
                    <a:pt x="221" y="0"/>
                  </a:lnTo>
                  <a:lnTo>
                    <a:pt x="192" y="0"/>
                  </a:lnTo>
                  <a:lnTo>
                    <a:pt x="162" y="6"/>
                  </a:lnTo>
                  <a:lnTo>
                    <a:pt x="130" y="17"/>
                  </a:lnTo>
                  <a:lnTo>
                    <a:pt x="100" y="32"/>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92" name="Freeform 19"/>
            <p:cNvSpPr/>
            <p:nvPr/>
          </p:nvSpPr>
          <p:spPr bwMode="auto">
            <a:xfrm>
              <a:off x="3319" y="2831"/>
              <a:ext cx="850" cy="583"/>
            </a:xfrm>
            <a:custGeom>
              <a:avLst/>
              <a:gdLst>
                <a:gd name="T0" fmla="*/ 125 w 850"/>
                <a:gd name="T1" fmla="*/ 117 h 583"/>
                <a:gd name="T2" fmla="*/ 166 w 850"/>
                <a:gd name="T3" fmla="*/ 109 h 583"/>
                <a:gd name="T4" fmla="*/ 210 w 850"/>
                <a:gd name="T5" fmla="*/ 102 h 583"/>
                <a:gd name="T6" fmla="*/ 247 w 850"/>
                <a:gd name="T7" fmla="*/ 96 h 583"/>
                <a:gd name="T8" fmla="*/ 272 w 850"/>
                <a:gd name="T9" fmla="*/ 66 h 583"/>
                <a:gd name="T10" fmla="*/ 234 w 850"/>
                <a:gd name="T11" fmla="*/ 58 h 583"/>
                <a:gd name="T12" fmla="*/ 198 w 850"/>
                <a:gd name="T13" fmla="*/ 66 h 583"/>
                <a:gd name="T14" fmla="*/ 179 w 850"/>
                <a:gd name="T15" fmla="*/ 66 h 583"/>
                <a:gd name="T16" fmla="*/ 217 w 850"/>
                <a:gd name="T17" fmla="*/ 36 h 583"/>
                <a:gd name="T18" fmla="*/ 261 w 850"/>
                <a:gd name="T19" fmla="*/ 21 h 583"/>
                <a:gd name="T20" fmla="*/ 296 w 850"/>
                <a:gd name="T21" fmla="*/ 13 h 583"/>
                <a:gd name="T22" fmla="*/ 334 w 850"/>
                <a:gd name="T23" fmla="*/ 5 h 583"/>
                <a:gd name="T24" fmla="*/ 372 w 850"/>
                <a:gd name="T25" fmla="*/ 0 h 583"/>
                <a:gd name="T26" fmla="*/ 410 w 850"/>
                <a:gd name="T27" fmla="*/ 0 h 583"/>
                <a:gd name="T28" fmla="*/ 446 w 850"/>
                <a:gd name="T29" fmla="*/ 0 h 583"/>
                <a:gd name="T30" fmla="*/ 534 w 850"/>
                <a:gd name="T31" fmla="*/ 0 h 583"/>
                <a:gd name="T32" fmla="*/ 584 w 850"/>
                <a:gd name="T33" fmla="*/ 0 h 583"/>
                <a:gd name="T34" fmla="*/ 627 w 850"/>
                <a:gd name="T35" fmla="*/ 21 h 583"/>
                <a:gd name="T36" fmla="*/ 657 w 850"/>
                <a:gd name="T37" fmla="*/ 51 h 583"/>
                <a:gd name="T38" fmla="*/ 695 w 850"/>
                <a:gd name="T39" fmla="*/ 72 h 583"/>
                <a:gd name="T40" fmla="*/ 733 w 850"/>
                <a:gd name="T41" fmla="*/ 81 h 583"/>
                <a:gd name="T42" fmla="*/ 771 w 850"/>
                <a:gd name="T43" fmla="*/ 109 h 583"/>
                <a:gd name="T44" fmla="*/ 801 w 850"/>
                <a:gd name="T45" fmla="*/ 139 h 583"/>
                <a:gd name="T46" fmla="*/ 825 w 850"/>
                <a:gd name="T47" fmla="*/ 183 h 583"/>
                <a:gd name="T48" fmla="*/ 833 w 850"/>
                <a:gd name="T49" fmla="*/ 234 h 583"/>
                <a:gd name="T50" fmla="*/ 839 w 850"/>
                <a:gd name="T51" fmla="*/ 279 h 583"/>
                <a:gd name="T52" fmla="*/ 839 w 850"/>
                <a:gd name="T53" fmla="*/ 324 h 583"/>
                <a:gd name="T54" fmla="*/ 839 w 850"/>
                <a:gd name="T55" fmla="*/ 368 h 583"/>
                <a:gd name="T56" fmla="*/ 850 w 850"/>
                <a:gd name="T57" fmla="*/ 413 h 583"/>
                <a:gd name="T58" fmla="*/ 850 w 850"/>
                <a:gd name="T59" fmla="*/ 456 h 583"/>
                <a:gd name="T60" fmla="*/ 825 w 850"/>
                <a:gd name="T61" fmla="*/ 500 h 583"/>
                <a:gd name="T62" fmla="*/ 782 w 850"/>
                <a:gd name="T63" fmla="*/ 524 h 583"/>
                <a:gd name="T64" fmla="*/ 746 w 850"/>
                <a:gd name="T65" fmla="*/ 545 h 583"/>
                <a:gd name="T66" fmla="*/ 708 w 850"/>
                <a:gd name="T67" fmla="*/ 568 h 583"/>
                <a:gd name="T68" fmla="*/ 670 w 850"/>
                <a:gd name="T69" fmla="*/ 575 h 583"/>
                <a:gd name="T70" fmla="*/ 621 w 850"/>
                <a:gd name="T71" fmla="*/ 583 h 583"/>
                <a:gd name="T72" fmla="*/ 576 w 850"/>
                <a:gd name="T73" fmla="*/ 583 h 583"/>
                <a:gd name="T74" fmla="*/ 540 w 850"/>
                <a:gd name="T75" fmla="*/ 583 h 583"/>
                <a:gd name="T76" fmla="*/ 502 w 850"/>
                <a:gd name="T77" fmla="*/ 583 h 583"/>
                <a:gd name="T78" fmla="*/ 465 w 850"/>
                <a:gd name="T79" fmla="*/ 583 h 583"/>
                <a:gd name="T80" fmla="*/ 427 w 850"/>
                <a:gd name="T81" fmla="*/ 583 h 583"/>
                <a:gd name="T82" fmla="*/ 391 w 850"/>
                <a:gd name="T83" fmla="*/ 583 h 583"/>
                <a:gd name="T84" fmla="*/ 353 w 850"/>
                <a:gd name="T85" fmla="*/ 583 h 583"/>
                <a:gd name="T86" fmla="*/ 310 w 850"/>
                <a:gd name="T87" fmla="*/ 583 h 583"/>
                <a:gd name="T88" fmla="*/ 272 w 850"/>
                <a:gd name="T89" fmla="*/ 583 h 583"/>
                <a:gd name="T90" fmla="*/ 234 w 850"/>
                <a:gd name="T91" fmla="*/ 583 h 583"/>
                <a:gd name="T92" fmla="*/ 198 w 850"/>
                <a:gd name="T93" fmla="*/ 560 h 583"/>
                <a:gd name="T94" fmla="*/ 160 w 850"/>
                <a:gd name="T95" fmla="*/ 545 h 583"/>
                <a:gd name="T96" fmla="*/ 125 w 850"/>
                <a:gd name="T97" fmla="*/ 524 h 583"/>
                <a:gd name="T98" fmla="*/ 92 w 850"/>
                <a:gd name="T99" fmla="*/ 487 h 583"/>
                <a:gd name="T100" fmla="*/ 68 w 850"/>
                <a:gd name="T101" fmla="*/ 456 h 583"/>
                <a:gd name="T102" fmla="*/ 43 w 850"/>
                <a:gd name="T103" fmla="*/ 413 h 583"/>
                <a:gd name="T104" fmla="*/ 17 w 850"/>
                <a:gd name="T105" fmla="*/ 360 h 583"/>
                <a:gd name="T106" fmla="*/ 0 w 850"/>
                <a:gd name="T107" fmla="*/ 309 h 583"/>
                <a:gd name="T108" fmla="*/ 0 w 850"/>
                <a:gd name="T109" fmla="*/ 264 h 583"/>
                <a:gd name="T110" fmla="*/ 6 w 850"/>
                <a:gd name="T111" fmla="*/ 213 h 583"/>
                <a:gd name="T112" fmla="*/ 30 w 850"/>
                <a:gd name="T113" fmla="*/ 175 h 583"/>
                <a:gd name="T114" fmla="*/ 62 w 850"/>
                <a:gd name="T115" fmla="*/ 155 h 583"/>
                <a:gd name="T116" fmla="*/ 98 w 850"/>
                <a:gd name="T117" fmla="*/ 139 h 583"/>
                <a:gd name="T118" fmla="*/ 130 w 850"/>
                <a:gd name="T119" fmla="*/ 117 h 583"/>
                <a:gd name="T120" fmla="*/ 147 w 850"/>
                <a:gd name="T121" fmla="*/ 139 h 58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50" h="583">
                  <a:moveTo>
                    <a:pt x="104" y="117"/>
                  </a:moveTo>
                  <a:lnTo>
                    <a:pt x="125" y="117"/>
                  </a:lnTo>
                  <a:lnTo>
                    <a:pt x="142" y="117"/>
                  </a:lnTo>
                  <a:lnTo>
                    <a:pt x="166" y="109"/>
                  </a:lnTo>
                  <a:lnTo>
                    <a:pt x="185" y="109"/>
                  </a:lnTo>
                  <a:lnTo>
                    <a:pt x="210" y="102"/>
                  </a:lnTo>
                  <a:lnTo>
                    <a:pt x="228" y="102"/>
                  </a:lnTo>
                  <a:lnTo>
                    <a:pt x="247" y="96"/>
                  </a:lnTo>
                  <a:lnTo>
                    <a:pt x="266" y="88"/>
                  </a:lnTo>
                  <a:lnTo>
                    <a:pt x="272" y="66"/>
                  </a:lnTo>
                  <a:lnTo>
                    <a:pt x="255" y="58"/>
                  </a:lnTo>
                  <a:lnTo>
                    <a:pt x="234" y="58"/>
                  </a:lnTo>
                  <a:lnTo>
                    <a:pt x="217" y="66"/>
                  </a:lnTo>
                  <a:lnTo>
                    <a:pt x="198" y="66"/>
                  </a:lnTo>
                  <a:lnTo>
                    <a:pt x="179" y="88"/>
                  </a:lnTo>
                  <a:lnTo>
                    <a:pt x="179" y="66"/>
                  </a:lnTo>
                  <a:lnTo>
                    <a:pt x="198" y="51"/>
                  </a:lnTo>
                  <a:lnTo>
                    <a:pt x="217" y="36"/>
                  </a:lnTo>
                  <a:lnTo>
                    <a:pt x="242" y="28"/>
                  </a:lnTo>
                  <a:lnTo>
                    <a:pt x="261" y="21"/>
                  </a:lnTo>
                  <a:lnTo>
                    <a:pt x="279" y="21"/>
                  </a:lnTo>
                  <a:lnTo>
                    <a:pt x="296" y="13"/>
                  </a:lnTo>
                  <a:lnTo>
                    <a:pt x="315" y="13"/>
                  </a:lnTo>
                  <a:lnTo>
                    <a:pt x="334" y="5"/>
                  </a:lnTo>
                  <a:lnTo>
                    <a:pt x="353" y="5"/>
                  </a:lnTo>
                  <a:lnTo>
                    <a:pt x="372" y="0"/>
                  </a:lnTo>
                  <a:lnTo>
                    <a:pt x="391" y="0"/>
                  </a:lnTo>
                  <a:lnTo>
                    <a:pt x="410" y="0"/>
                  </a:lnTo>
                  <a:lnTo>
                    <a:pt x="427" y="0"/>
                  </a:lnTo>
                  <a:lnTo>
                    <a:pt x="446" y="0"/>
                  </a:lnTo>
                  <a:lnTo>
                    <a:pt x="483" y="0"/>
                  </a:lnTo>
                  <a:lnTo>
                    <a:pt x="534" y="0"/>
                  </a:lnTo>
                  <a:lnTo>
                    <a:pt x="559" y="0"/>
                  </a:lnTo>
                  <a:lnTo>
                    <a:pt x="584" y="0"/>
                  </a:lnTo>
                  <a:lnTo>
                    <a:pt x="608" y="5"/>
                  </a:lnTo>
                  <a:lnTo>
                    <a:pt x="627" y="21"/>
                  </a:lnTo>
                  <a:lnTo>
                    <a:pt x="638" y="43"/>
                  </a:lnTo>
                  <a:lnTo>
                    <a:pt x="657" y="51"/>
                  </a:lnTo>
                  <a:lnTo>
                    <a:pt x="676" y="66"/>
                  </a:lnTo>
                  <a:lnTo>
                    <a:pt x="695" y="72"/>
                  </a:lnTo>
                  <a:lnTo>
                    <a:pt x="714" y="72"/>
                  </a:lnTo>
                  <a:lnTo>
                    <a:pt x="733" y="81"/>
                  </a:lnTo>
                  <a:lnTo>
                    <a:pt x="752" y="96"/>
                  </a:lnTo>
                  <a:lnTo>
                    <a:pt x="771" y="109"/>
                  </a:lnTo>
                  <a:lnTo>
                    <a:pt x="782" y="132"/>
                  </a:lnTo>
                  <a:lnTo>
                    <a:pt x="801" y="139"/>
                  </a:lnTo>
                  <a:lnTo>
                    <a:pt x="806" y="162"/>
                  </a:lnTo>
                  <a:lnTo>
                    <a:pt x="825" y="183"/>
                  </a:lnTo>
                  <a:lnTo>
                    <a:pt x="833" y="213"/>
                  </a:lnTo>
                  <a:lnTo>
                    <a:pt x="833" y="234"/>
                  </a:lnTo>
                  <a:lnTo>
                    <a:pt x="839" y="258"/>
                  </a:lnTo>
                  <a:lnTo>
                    <a:pt x="839" y="279"/>
                  </a:lnTo>
                  <a:lnTo>
                    <a:pt x="839" y="302"/>
                  </a:lnTo>
                  <a:lnTo>
                    <a:pt x="839" y="324"/>
                  </a:lnTo>
                  <a:lnTo>
                    <a:pt x="839" y="347"/>
                  </a:lnTo>
                  <a:lnTo>
                    <a:pt x="839" y="368"/>
                  </a:lnTo>
                  <a:lnTo>
                    <a:pt x="850" y="390"/>
                  </a:lnTo>
                  <a:lnTo>
                    <a:pt x="850" y="413"/>
                  </a:lnTo>
                  <a:lnTo>
                    <a:pt x="850" y="434"/>
                  </a:lnTo>
                  <a:lnTo>
                    <a:pt x="850" y="456"/>
                  </a:lnTo>
                  <a:lnTo>
                    <a:pt x="844" y="479"/>
                  </a:lnTo>
                  <a:lnTo>
                    <a:pt x="825" y="500"/>
                  </a:lnTo>
                  <a:lnTo>
                    <a:pt x="801" y="517"/>
                  </a:lnTo>
                  <a:lnTo>
                    <a:pt x="782" y="524"/>
                  </a:lnTo>
                  <a:lnTo>
                    <a:pt x="765" y="537"/>
                  </a:lnTo>
                  <a:lnTo>
                    <a:pt x="746" y="545"/>
                  </a:lnTo>
                  <a:lnTo>
                    <a:pt x="725" y="553"/>
                  </a:lnTo>
                  <a:lnTo>
                    <a:pt x="708" y="568"/>
                  </a:lnTo>
                  <a:lnTo>
                    <a:pt x="689" y="575"/>
                  </a:lnTo>
                  <a:lnTo>
                    <a:pt x="670" y="575"/>
                  </a:lnTo>
                  <a:lnTo>
                    <a:pt x="644" y="583"/>
                  </a:lnTo>
                  <a:lnTo>
                    <a:pt x="621" y="583"/>
                  </a:lnTo>
                  <a:lnTo>
                    <a:pt x="602" y="583"/>
                  </a:lnTo>
                  <a:lnTo>
                    <a:pt x="576" y="583"/>
                  </a:lnTo>
                  <a:lnTo>
                    <a:pt x="559" y="583"/>
                  </a:lnTo>
                  <a:lnTo>
                    <a:pt x="540" y="583"/>
                  </a:lnTo>
                  <a:lnTo>
                    <a:pt x="521" y="583"/>
                  </a:lnTo>
                  <a:lnTo>
                    <a:pt x="502" y="583"/>
                  </a:lnTo>
                  <a:lnTo>
                    <a:pt x="483" y="583"/>
                  </a:lnTo>
                  <a:lnTo>
                    <a:pt x="465" y="583"/>
                  </a:lnTo>
                  <a:lnTo>
                    <a:pt x="446" y="583"/>
                  </a:lnTo>
                  <a:lnTo>
                    <a:pt x="427" y="583"/>
                  </a:lnTo>
                  <a:lnTo>
                    <a:pt x="410" y="583"/>
                  </a:lnTo>
                  <a:lnTo>
                    <a:pt x="391" y="583"/>
                  </a:lnTo>
                  <a:lnTo>
                    <a:pt x="372" y="583"/>
                  </a:lnTo>
                  <a:lnTo>
                    <a:pt x="353" y="583"/>
                  </a:lnTo>
                  <a:lnTo>
                    <a:pt x="329" y="583"/>
                  </a:lnTo>
                  <a:lnTo>
                    <a:pt x="310" y="583"/>
                  </a:lnTo>
                  <a:lnTo>
                    <a:pt x="291" y="583"/>
                  </a:lnTo>
                  <a:lnTo>
                    <a:pt x="272" y="583"/>
                  </a:lnTo>
                  <a:lnTo>
                    <a:pt x="255" y="583"/>
                  </a:lnTo>
                  <a:lnTo>
                    <a:pt x="234" y="583"/>
                  </a:lnTo>
                  <a:lnTo>
                    <a:pt x="217" y="568"/>
                  </a:lnTo>
                  <a:lnTo>
                    <a:pt x="198" y="560"/>
                  </a:lnTo>
                  <a:lnTo>
                    <a:pt x="179" y="553"/>
                  </a:lnTo>
                  <a:lnTo>
                    <a:pt x="160" y="545"/>
                  </a:lnTo>
                  <a:lnTo>
                    <a:pt x="142" y="537"/>
                  </a:lnTo>
                  <a:lnTo>
                    <a:pt x="125" y="524"/>
                  </a:lnTo>
                  <a:lnTo>
                    <a:pt x="104" y="509"/>
                  </a:lnTo>
                  <a:lnTo>
                    <a:pt x="92" y="487"/>
                  </a:lnTo>
                  <a:lnTo>
                    <a:pt x="74" y="479"/>
                  </a:lnTo>
                  <a:lnTo>
                    <a:pt x="68" y="456"/>
                  </a:lnTo>
                  <a:lnTo>
                    <a:pt x="49" y="434"/>
                  </a:lnTo>
                  <a:lnTo>
                    <a:pt x="43" y="413"/>
                  </a:lnTo>
                  <a:lnTo>
                    <a:pt x="24" y="390"/>
                  </a:lnTo>
                  <a:lnTo>
                    <a:pt x="17" y="360"/>
                  </a:lnTo>
                  <a:lnTo>
                    <a:pt x="6" y="330"/>
                  </a:lnTo>
                  <a:lnTo>
                    <a:pt x="0" y="309"/>
                  </a:lnTo>
                  <a:lnTo>
                    <a:pt x="0" y="287"/>
                  </a:lnTo>
                  <a:lnTo>
                    <a:pt x="0" y="264"/>
                  </a:lnTo>
                  <a:lnTo>
                    <a:pt x="0" y="243"/>
                  </a:lnTo>
                  <a:lnTo>
                    <a:pt x="6" y="213"/>
                  </a:lnTo>
                  <a:lnTo>
                    <a:pt x="11" y="192"/>
                  </a:lnTo>
                  <a:lnTo>
                    <a:pt x="30" y="175"/>
                  </a:lnTo>
                  <a:lnTo>
                    <a:pt x="43" y="155"/>
                  </a:lnTo>
                  <a:lnTo>
                    <a:pt x="62" y="155"/>
                  </a:lnTo>
                  <a:lnTo>
                    <a:pt x="79" y="147"/>
                  </a:lnTo>
                  <a:lnTo>
                    <a:pt x="98" y="139"/>
                  </a:lnTo>
                  <a:lnTo>
                    <a:pt x="117" y="139"/>
                  </a:lnTo>
                  <a:lnTo>
                    <a:pt x="130" y="117"/>
                  </a:lnTo>
                  <a:lnTo>
                    <a:pt x="130" y="96"/>
                  </a:lnTo>
                  <a:lnTo>
                    <a:pt x="147" y="139"/>
                  </a:lnTo>
                  <a:lnTo>
                    <a:pt x="104" y="117"/>
                  </a:ln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301093" name="Freeform 20"/>
            <p:cNvSpPr/>
            <p:nvPr/>
          </p:nvSpPr>
          <p:spPr bwMode="auto">
            <a:xfrm>
              <a:off x="3483" y="2787"/>
              <a:ext cx="132" cy="168"/>
            </a:xfrm>
            <a:custGeom>
              <a:avLst/>
              <a:gdLst>
                <a:gd name="T0" fmla="*/ 6 w 132"/>
                <a:gd name="T1" fmla="*/ 95 h 168"/>
                <a:gd name="T2" fmla="*/ 0 w 132"/>
                <a:gd name="T3" fmla="*/ 72 h 168"/>
                <a:gd name="T4" fmla="*/ 0 w 132"/>
                <a:gd name="T5" fmla="*/ 51 h 168"/>
                <a:gd name="T6" fmla="*/ 17 w 132"/>
                <a:gd name="T7" fmla="*/ 36 h 168"/>
                <a:gd name="T8" fmla="*/ 36 w 132"/>
                <a:gd name="T9" fmla="*/ 21 h 168"/>
                <a:gd name="T10" fmla="*/ 53 w 132"/>
                <a:gd name="T11" fmla="*/ 0 h 168"/>
                <a:gd name="T12" fmla="*/ 72 w 132"/>
                <a:gd name="T13" fmla="*/ 0 h 168"/>
                <a:gd name="T14" fmla="*/ 91 w 132"/>
                <a:gd name="T15" fmla="*/ 0 h 168"/>
                <a:gd name="T16" fmla="*/ 97 w 132"/>
                <a:gd name="T17" fmla="*/ 21 h 168"/>
                <a:gd name="T18" fmla="*/ 110 w 132"/>
                <a:gd name="T19" fmla="*/ 44 h 168"/>
                <a:gd name="T20" fmla="*/ 121 w 132"/>
                <a:gd name="T21" fmla="*/ 66 h 168"/>
                <a:gd name="T22" fmla="*/ 127 w 132"/>
                <a:gd name="T23" fmla="*/ 87 h 168"/>
                <a:gd name="T24" fmla="*/ 132 w 132"/>
                <a:gd name="T25" fmla="*/ 108 h 168"/>
                <a:gd name="T26" fmla="*/ 132 w 132"/>
                <a:gd name="T27" fmla="*/ 132 h 168"/>
                <a:gd name="T28" fmla="*/ 132 w 132"/>
                <a:gd name="T29" fmla="*/ 153 h 168"/>
                <a:gd name="T30" fmla="*/ 115 w 132"/>
                <a:gd name="T31" fmla="*/ 168 h 168"/>
                <a:gd name="T32" fmla="*/ 97 w 132"/>
                <a:gd name="T33" fmla="*/ 168 h 168"/>
                <a:gd name="T34" fmla="*/ 80 w 132"/>
                <a:gd name="T35" fmla="*/ 168 h 168"/>
                <a:gd name="T36" fmla="*/ 61 w 132"/>
                <a:gd name="T37" fmla="*/ 168 h 168"/>
                <a:gd name="T38" fmla="*/ 42 w 132"/>
                <a:gd name="T39" fmla="*/ 161 h 168"/>
                <a:gd name="T40" fmla="*/ 23 w 132"/>
                <a:gd name="T41" fmla="*/ 146 h 168"/>
                <a:gd name="T42" fmla="*/ 12 w 132"/>
                <a:gd name="T43" fmla="*/ 123 h 168"/>
                <a:gd name="T44" fmla="*/ 6 w 132"/>
                <a:gd name="T45" fmla="*/ 102 h 168"/>
                <a:gd name="T46" fmla="*/ 6 w 132"/>
                <a:gd name="T47" fmla="*/ 95 h 1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32" h="168">
                  <a:moveTo>
                    <a:pt x="6" y="95"/>
                  </a:moveTo>
                  <a:lnTo>
                    <a:pt x="0" y="72"/>
                  </a:lnTo>
                  <a:lnTo>
                    <a:pt x="0" y="51"/>
                  </a:lnTo>
                  <a:lnTo>
                    <a:pt x="17" y="36"/>
                  </a:lnTo>
                  <a:lnTo>
                    <a:pt x="36" y="21"/>
                  </a:lnTo>
                  <a:lnTo>
                    <a:pt x="53" y="0"/>
                  </a:lnTo>
                  <a:lnTo>
                    <a:pt x="72" y="0"/>
                  </a:lnTo>
                  <a:lnTo>
                    <a:pt x="91" y="0"/>
                  </a:lnTo>
                  <a:lnTo>
                    <a:pt x="97" y="21"/>
                  </a:lnTo>
                  <a:lnTo>
                    <a:pt x="110" y="44"/>
                  </a:lnTo>
                  <a:lnTo>
                    <a:pt x="121" y="66"/>
                  </a:lnTo>
                  <a:lnTo>
                    <a:pt x="127" y="87"/>
                  </a:lnTo>
                  <a:lnTo>
                    <a:pt x="132" y="108"/>
                  </a:lnTo>
                  <a:lnTo>
                    <a:pt x="132" y="132"/>
                  </a:lnTo>
                  <a:lnTo>
                    <a:pt x="132" y="153"/>
                  </a:lnTo>
                  <a:lnTo>
                    <a:pt x="115" y="168"/>
                  </a:lnTo>
                  <a:lnTo>
                    <a:pt x="97" y="168"/>
                  </a:lnTo>
                  <a:lnTo>
                    <a:pt x="80" y="168"/>
                  </a:lnTo>
                  <a:lnTo>
                    <a:pt x="61" y="168"/>
                  </a:lnTo>
                  <a:lnTo>
                    <a:pt x="42" y="161"/>
                  </a:lnTo>
                  <a:lnTo>
                    <a:pt x="23" y="146"/>
                  </a:lnTo>
                  <a:lnTo>
                    <a:pt x="12" y="123"/>
                  </a:lnTo>
                  <a:lnTo>
                    <a:pt x="6" y="102"/>
                  </a:lnTo>
                  <a:lnTo>
                    <a:pt x="6" y="95"/>
                  </a:ln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301094" name="Freeform 21"/>
            <p:cNvSpPr/>
            <p:nvPr/>
          </p:nvSpPr>
          <p:spPr bwMode="auto">
            <a:xfrm>
              <a:off x="3802" y="2742"/>
              <a:ext cx="93" cy="123"/>
            </a:xfrm>
            <a:custGeom>
              <a:avLst/>
              <a:gdLst>
                <a:gd name="T0" fmla="*/ 0 w 93"/>
                <a:gd name="T1" fmla="*/ 0 h 123"/>
                <a:gd name="T2" fmla="*/ 17 w 93"/>
                <a:gd name="T3" fmla="*/ 15 h 123"/>
                <a:gd name="T4" fmla="*/ 36 w 93"/>
                <a:gd name="T5" fmla="*/ 28 h 123"/>
                <a:gd name="T6" fmla="*/ 55 w 93"/>
                <a:gd name="T7" fmla="*/ 28 h 123"/>
                <a:gd name="T8" fmla="*/ 74 w 93"/>
                <a:gd name="T9" fmla="*/ 44 h 123"/>
                <a:gd name="T10" fmla="*/ 87 w 93"/>
                <a:gd name="T11" fmla="*/ 66 h 123"/>
                <a:gd name="T12" fmla="*/ 93 w 93"/>
                <a:gd name="T13" fmla="*/ 87 h 123"/>
                <a:gd name="T14" fmla="*/ 93 w 93"/>
                <a:gd name="T15" fmla="*/ 110 h 123"/>
                <a:gd name="T16" fmla="*/ 74 w 93"/>
                <a:gd name="T17" fmla="*/ 123 h 123"/>
                <a:gd name="T18" fmla="*/ 55 w 93"/>
                <a:gd name="T19" fmla="*/ 123 h 123"/>
                <a:gd name="T20" fmla="*/ 31 w 93"/>
                <a:gd name="T21" fmla="*/ 115 h 123"/>
                <a:gd name="T22" fmla="*/ 12 w 93"/>
                <a:gd name="T23" fmla="*/ 102 h 123"/>
                <a:gd name="T24" fmla="*/ 6 w 93"/>
                <a:gd name="T25" fmla="*/ 79 h 123"/>
                <a:gd name="T26" fmla="*/ 0 w 93"/>
                <a:gd name="T27" fmla="*/ 57 h 123"/>
                <a:gd name="T28" fmla="*/ 0 w 93"/>
                <a:gd name="T29" fmla="*/ 36 h 123"/>
                <a:gd name="T30" fmla="*/ 12 w 93"/>
                <a:gd name="T31" fmla="*/ 15 h 123"/>
                <a:gd name="T32" fmla="*/ 0 w 93"/>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3" h="123">
                  <a:moveTo>
                    <a:pt x="0" y="0"/>
                  </a:moveTo>
                  <a:lnTo>
                    <a:pt x="17" y="15"/>
                  </a:lnTo>
                  <a:lnTo>
                    <a:pt x="36" y="28"/>
                  </a:lnTo>
                  <a:lnTo>
                    <a:pt x="55" y="28"/>
                  </a:lnTo>
                  <a:lnTo>
                    <a:pt x="74" y="44"/>
                  </a:lnTo>
                  <a:lnTo>
                    <a:pt x="87" y="66"/>
                  </a:lnTo>
                  <a:lnTo>
                    <a:pt x="93" y="87"/>
                  </a:lnTo>
                  <a:lnTo>
                    <a:pt x="93" y="110"/>
                  </a:lnTo>
                  <a:lnTo>
                    <a:pt x="74" y="123"/>
                  </a:lnTo>
                  <a:lnTo>
                    <a:pt x="55" y="123"/>
                  </a:lnTo>
                  <a:lnTo>
                    <a:pt x="31" y="115"/>
                  </a:lnTo>
                  <a:lnTo>
                    <a:pt x="12" y="102"/>
                  </a:lnTo>
                  <a:lnTo>
                    <a:pt x="6" y="79"/>
                  </a:lnTo>
                  <a:lnTo>
                    <a:pt x="0" y="57"/>
                  </a:lnTo>
                  <a:lnTo>
                    <a:pt x="0" y="36"/>
                  </a:lnTo>
                  <a:lnTo>
                    <a:pt x="12" y="15"/>
                  </a:ln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301065" name="Line 22"/>
          <p:cNvSpPr>
            <a:spLocks noChangeShapeType="1"/>
          </p:cNvSpPr>
          <p:nvPr/>
        </p:nvSpPr>
        <p:spPr bwMode="auto">
          <a:xfrm>
            <a:off x="209889" y="3181499"/>
            <a:ext cx="3867811" cy="2222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1066" name="Line 23"/>
          <p:cNvSpPr>
            <a:spLocks noChangeShapeType="1"/>
          </p:cNvSpPr>
          <p:nvPr/>
        </p:nvSpPr>
        <p:spPr bwMode="auto">
          <a:xfrm>
            <a:off x="460978" y="2779861"/>
            <a:ext cx="0" cy="423862"/>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1067" name="Line 24"/>
          <p:cNvSpPr>
            <a:spLocks noChangeShapeType="1"/>
          </p:cNvSpPr>
          <p:nvPr/>
        </p:nvSpPr>
        <p:spPr bwMode="auto">
          <a:xfrm>
            <a:off x="3664950" y="3203723"/>
            <a:ext cx="0" cy="4222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pic>
        <p:nvPicPr>
          <p:cNvPr id="301068"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899" y="2284561"/>
            <a:ext cx="672438"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1069" name="Text Box 26"/>
          <p:cNvSpPr txBox="1">
            <a:spLocks noChangeArrowheads="1"/>
          </p:cNvSpPr>
          <p:nvPr/>
        </p:nvSpPr>
        <p:spPr bwMode="auto">
          <a:xfrm>
            <a:off x="7292295" y="3586311"/>
            <a:ext cx="69762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其他</a:t>
            </a:r>
            <a:endParaRPr kumimoji="1" lang="zh-CN" altLang="en-US" sz="2000" b="1">
              <a:solidFill>
                <a:srgbClr val="000099"/>
              </a:solidFill>
              <a:latin typeface="Arial" panose="020B0604020202020204" pitchFamily="34" charset="0"/>
              <a:ea typeface="黑体" panose="02010609060101010101" pitchFamily="2" charset="-122"/>
            </a:endParaRP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网络</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1070" name="Text Box 27"/>
          <p:cNvSpPr txBox="1">
            <a:spLocks noChangeArrowheads="1"/>
          </p:cNvSpPr>
          <p:nvPr/>
        </p:nvSpPr>
        <p:spPr bwMode="auto">
          <a:xfrm>
            <a:off x="3100930" y="4189562"/>
            <a:ext cx="12105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b="1" dirty="0">
                <a:solidFill>
                  <a:srgbClr val="660033"/>
                </a:solidFill>
                <a:latin typeface="Arial" panose="020B0604020202020204" pitchFamily="34" charset="0"/>
                <a:ea typeface="黑体" panose="02010609060101010101" pitchFamily="2" charset="-122"/>
              </a:rPr>
              <a:t>DHCP</a:t>
            </a:r>
            <a:endParaRPr kumimoji="1" lang="en-US" altLang="zh-CN" sz="2000" b="1" dirty="0">
              <a:solidFill>
                <a:srgbClr val="660033"/>
              </a:solidFill>
              <a:latin typeface="Arial" panose="020B0604020202020204" pitchFamily="34" charset="0"/>
              <a:ea typeface="黑体" panose="02010609060101010101" pitchFamily="2" charset="-122"/>
            </a:endParaRPr>
          </a:p>
          <a:p>
            <a:pPr algn="ctr" eaLnBrk="1" hangingPunct="1"/>
            <a:r>
              <a:rPr kumimoji="1" lang="zh-CN" altLang="en-US" sz="2000" b="1" dirty="0">
                <a:solidFill>
                  <a:srgbClr val="660033"/>
                </a:solidFill>
                <a:latin typeface="Arial" panose="020B0604020202020204" pitchFamily="34" charset="0"/>
                <a:ea typeface="黑体" panose="02010609060101010101" pitchFamily="2" charset="-122"/>
              </a:rPr>
              <a:t>中继代理</a:t>
            </a:r>
            <a:endParaRPr kumimoji="1" lang="zh-CN" altLang="en-US" sz="2000" b="1" dirty="0">
              <a:solidFill>
                <a:srgbClr val="660033"/>
              </a:solidFill>
              <a:latin typeface="Arial" panose="020B0604020202020204" pitchFamily="34" charset="0"/>
              <a:ea typeface="黑体" panose="02010609060101010101" pitchFamily="2" charset="-122"/>
            </a:endParaRPr>
          </a:p>
        </p:txBody>
      </p:sp>
      <p:grpSp>
        <p:nvGrpSpPr>
          <p:cNvPr id="724009" name="Group 41"/>
          <p:cNvGrpSpPr/>
          <p:nvPr/>
        </p:nvGrpSpPr>
        <p:grpSpPr bwMode="auto">
          <a:xfrm>
            <a:off x="1045708" y="2133748"/>
            <a:ext cx="2791221" cy="858838"/>
            <a:chOff x="571" y="1480"/>
            <a:chExt cx="1623" cy="541"/>
          </a:xfrm>
        </p:grpSpPr>
        <p:grpSp>
          <p:nvGrpSpPr>
            <p:cNvPr id="301080" name="Group 31"/>
            <p:cNvGrpSpPr/>
            <p:nvPr/>
          </p:nvGrpSpPr>
          <p:grpSpPr bwMode="auto">
            <a:xfrm>
              <a:off x="571" y="1754"/>
              <a:ext cx="1623" cy="267"/>
              <a:chOff x="1008" y="2400"/>
              <a:chExt cx="1296" cy="192"/>
            </a:xfrm>
          </p:grpSpPr>
          <p:sp>
            <p:nvSpPr>
              <p:cNvPr id="301082" name="AutoShape 32"/>
              <p:cNvSpPr>
                <a:spLocks noChangeArrowheads="1"/>
              </p:cNvSpPr>
              <p:nvPr/>
            </p:nvSpPr>
            <p:spPr bwMode="auto">
              <a:xfrm>
                <a:off x="2064" y="2448"/>
                <a:ext cx="240" cy="96"/>
              </a:xfrm>
              <a:prstGeom prst="rightArrow">
                <a:avLst>
                  <a:gd name="adj1" fmla="val 50000"/>
                  <a:gd name="adj2" fmla="val 62500"/>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301083" name="Rectangle 33"/>
              <p:cNvSpPr>
                <a:spLocks noChangeArrowheads="1"/>
              </p:cNvSpPr>
              <p:nvPr/>
            </p:nvSpPr>
            <p:spPr bwMode="auto">
              <a:xfrm>
                <a:off x="1008" y="2400"/>
                <a:ext cx="1056" cy="192"/>
              </a:xfrm>
              <a:prstGeom prst="rect">
                <a:avLst/>
              </a:prstGeom>
              <a:solidFill>
                <a:srgbClr val="CCECFF"/>
              </a:solidFill>
              <a:ln w="9525">
                <a:solidFill>
                  <a:schemeClr val="folHlink"/>
                </a:solidFill>
                <a:miter lim="800000"/>
              </a:ln>
              <a:effectLst>
                <a:outerShdw dist="35921" dir="2700000" algn="ctr" rotWithShape="0">
                  <a:schemeClr val="bg2"/>
                </a:outerShdw>
              </a:effec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grpSp>
        <p:sp>
          <p:nvSpPr>
            <p:cNvPr id="301081" name="Text Box 34"/>
            <p:cNvSpPr txBox="1">
              <a:spLocks noChangeArrowheads="1"/>
            </p:cNvSpPr>
            <p:nvPr/>
          </p:nvSpPr>
          <p:spPr bwMode="auto">
            <a:xfrm>
              <a:off x="967" y="1480"/>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dirty="0">
                  <a:solidFill>
                    <a:srgbClr val="FF0000"/>
                  </a:solidFill>
                  <a:latin typeface="Arial" panose="020B0604020202020204" pitchFamily="34" charset="0"/>
                  <a:ea typeface="黑体" panose="02010609060101010101" pitchFamily="2" charset="-122"/>
                </a:rPr>
                <a:t>广播</a:t>
              </a:r>
              <a:endParaRPr kumimoji="1" lang="zh-CN" altLang="en-US" sz="2000" b="1" dirty="0">
                <a:solidFill>
                  <a:srgbClr val="FF0000"/>
                </a:solidFill>
                <a:latin typeface="Arial" panose="020B0604020202020204" pitchFamily="34" charset="0"/>
                <a:ea typeface="黑体" panose="02010609060101010101" pitchFamily="2" charset="-122"/>
              </a:endParaRPr>
            </a:p>
          </p:txBody>
        </p:sp>
      </p:grpSp>
      <p:grpSp>
        <p:nvGrpSpPr>
          <p:cNvPr id="724010" name="Group 42"/>
          <p:cNvGrpSpPr/>
          <p:nvPr/>
        </p:nvGrpSpPr>
        <p:grpSpPr bwMode="auto">
          <a:xfrm>
            <a:off x="4077700" y="2998936"/>
            <a:ext cx="2792942" cy="838200"/>
            <a:chOff x="2334" y="2025"/>
            <a:chExt cx="1624" cy="528"/>
          </a:xfrm>
        </p:grpSpPr>
        <p:grpSp>
          <p:nvGrpSpPr>
            <p:cNvPr id="301076" name="Group 28"/>
            <p:cNvGrpSpPr/>
            <p:nvPr/>
          </p:nvGrpSpPr>
          <p:grpSpPr bwMode="auto">
            <a:xfrm>
              <a:off x="2334" y="2287"/>
              <a:ext cx="1624" cy="266"/>
              <a:chOff x="1008" y="2400"/>
              <a:chExt cx="1296" cy="192"/>
            </a:xfrm>
          </p:grpSpPr>
          <p:sp>
            <p:nvSpPr>
              <p:cNvPr id="301078" name="AutoShape 29"/>
              <p:cNvSpPr>
                <a:spLocks noChangeArrowheads="1"/>
              </p:cNvSpPr>
              <p:nvPr/>
            </p:nvSpPr>
            <p:spPr bwMode="auto">
              <a:xfrm>
                <a:off x="2064" y="2448"/>
                <a:ext cx="240" cy="96"/>
              </a:xfrm>
              <a:prstGeom prst="rightArrow">
                <a:avLst>
                  <a:gd name="adj1" fmla="val 50000"/>
                  <a:gd name="adj2" fmla="val 62500"/>
                </a:avLst>
              </a:prstGeom>
              <a:solidFill>
                <a:srgbClr val="FFCCFF"/>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301079" name="Rectangle 30"/>
              <p:cNvSpPr>
                <a:spLocks noChangeArrowheads="1"/>
              </p:cNvSpPr>
              <p:nvPr/>
            </p:nvSpPr>
            <p:spPr bwMode="auto">
              <a:xfrm>
                <a:off x="1008" y="2400"/>
                <a:ext cx="1056" cy="192"/>
              </a:xfrm>
              <a:prstGeom prst="rect">
                <a:avLst/>
              </a:prstGeom>
              <a:solidFill>
                <a:srgbClr val="FFCCFF"/>
              </a:solidFill>
              <a:ln w="9525">
                <a:solidFill>
                  <a:schemeClr val="folHlink"/>
                </a:solidFill>
                <a:miter lim="800000"/>
              </a:ln>
              <a:effectLst>
                <a:outerShdw dist="35921" dir="2700000" algn="ctr" rotWithShape="0">
                  <a:schemeClr val="bg2"/>
                </a:outerShdw>
              </a:effec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grpSp>
        <p:sp>
          <p:nvSpPr>
            <p:cNvPr id="301077" name="Text Box 35"/>
            <p:cNvSpPr txBox="1">
              <a:spLocks noChangeArrowheads="1"/>
            </p:cNvSpPr>
            <p:nvPr/>
          </p:nvSpPr>
          <p:spPr bwMode="auto">
            <a:xfrm>
              <a:off x="2764" y="2025"/>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dirty="0">
                  <a:solidFill>
                    <a:srgbClr val="FF0000"/>
                  </a:solidFill>
                  <a:latin typeface="Arial" panose="020B0604020202020204" pitchFamily="34" charset="0"/>
                  <a:ea typeface="黑体" panose="02010609060101010101" pitchFamily="2" charset="-122"/>
                </a:rPr>
                <a:t>单播</a:t>
              </a:r>
              <a:endParaRPr kumimoji="1" lang="zh-CN" altLang="en-US" sz="2000" b="1" dirty="0">
                <a:solidFill>
                  <a:srgbClr val="FF0000"/>
                </a:solidFill>
                <a:latin typeface="Arial" panose="020B0604020202020204" pitchFamily="34" charset="0"/>
                <a:ea typeface="黑体" panose="02010609060101010101" pitchFamily="2" charset="-122"/>
              </a:endParaRPr>
            </a:p>
          </p:txBody>
        </p:sp>
      </p:grpSp>
      <p:pic>
        <p:nvPicPr>
          <p:cNvPr id="301073"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988" y="3510111"/>
            <a:ext cx="672439"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1074" name="Picture 3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27871" y="3546623"/>
            <a:ext cx="674158"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4008" name="Text Box 40"/>
          <p:cNvSpPr txBox="1">
            <a:spLocks noChangeArrowheads="1"/>
          </p:cNvSpPr>
          <p:nvPr/>
        </p:nvSpPr>
        <p:spPr bwMode="auto">
          <a:xfrm>
            <a:off x="450660" y="5197623"/>
            <a:ext cx="9254868" cy="523220"/>
          </a:xfrm>
          <a:prstGeom prst="rect">
            <a:avLst/>
          </a:prstGeom>
          <a:solidFill>
            <a:srgbClr val="FFFF66"/>
          </a:solidFill>
          <a:ln w="9525">
            <a:solidFill>
              <a:srgbClr val="333399"/>
            </a:solidFill>
            <a:miter lim="800000"/>
          </a:ln>
          <a:effec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800" b="1">
                <a:solidFill>
                  <a:srgbClr val="000099"/>
                </a:solidFill>
                <a:latin typeface="Arial" panose="020B0604020202020204" pitchFamily="34" charset="0"/>
                <a:ea typeface="黑体" panose="02010609060101010101" pitchFamily="2" charset="-122"/>
              </a:rPr>
              <a:t>注意：</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报文只是 </a:t>
            </a:r>
            <a:r>
              <a:rPr lang="en-US" altLang="zh-CN" sz="2800" b="1">
                <a:solidFill>
                  <a:srgbClr val="000099"/>
                </a:solidFill>
                <a:latin typeface="Arial" panose="020B0604020202020204" pitchFamily="34" charset="0"/>
                <a:ea typeface="黑体" panose="02010609060101010101" pitchFamily="2" charset="-122"/>
              </a:rPr>
              <a:t>UDP </a:t>
            </a:r>
            <a:r>
              <a:rPr lang="zh-CN" altLang="en-US" sz="2800" b="1">
                <a:solidFill>
                  <a:srgbClr val="000099"/>
                </a:solidFill>
                <a:latin typeface="Arial" panose="020B0604020202020204" pitchFamily="34" charset="0"/>
                <a:ea typeface="黑体" panose="02010609060101010101" pitchFamily="2" charset="-122"/>
              </a:rPr>
              <a:t>用户数据报中的数据。 </a:t>
            </a:r>
            <a:endParaRPr lang="zh-CN" altLang="en-US" sz="2800"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500"/>
                                  </p:stCondLst>
                                  <p:childTnLst>
                                    <p:set>
                                      <p:cBhvr>
                                        <p:cTn id="6" dur="1" fill="hold">
                                          <p:stCondLst>
                                            <p:cond delay="0"/>
                                          </p:stCondLst>
                                        </p:cTn>
                                        <p:tgtEl>
                                          <p:spTgt spid="724009"/>
                                        </p:tgtEl>
                                        <p:attrNameLst>
                                          <p:attrName>style.visibility</p:attrName>
                                        </p:attrNameLst>
                                      </p:cBhvr>
                                      <p:to>
                                        <p:strVal val="visible"/>
                                      </p:to>
                                    </p:set>
                                    <p:animEffect transition="in" filter="wipe(left)">
                                      <p:cBhvr>
                                        <p:cTn id="7" dur="1000"/>
                                        <p:tgtEl>
                                          <p:spTgt spid="724009"/>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724010"/>
                                        </p:tgtEl>
                                        <p:attrNameLst>
                                          <p:attrName>style.visibility</p:attrName>
                                        </p:attrNameLst>
                                      </p:cBhvr>
                                      <p:to>
                                        <p:strVal val="visible"/>
                                      </p:to>
                                    </p:set>
                                    <p:animEffect transition="in" filter="wipe(left)">
                                      <p:cBhvr>
                                        <p:cTn id="11" dur="1000"/>
                                        <p:tgtEl>
                                          <p:spTgt spid="724010"/>
                                        </p:tgtEl>
                                      </p:cBhvr>
                                    </p:animEffect>
                                  </p:childTnLst>
                                </p:cTn>
                              </p:par>
                            </p:childTnLst>
                          </p:cTn>
                        </p:par>
                        <p:par>
                          <p:cTn id="12" fill="hold">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724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0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pPr algn="ctr" eaLnBrk="1" hangingPunct="1"/>
            <a:r>
              <a:rPr lang="zh-CN" altLang="en-US" dirty="0" smtClean="0">
                <a:ea typeface="黑体" panose="02010609060101010101" pitchFamily="2" charset="-122"/>
              </a:rPr>
              <a:t>租用期 </a:t>
            </a:r>
            <a:r>
              <a:rPr lang="en-US" altLang="zh-CN" dirty="0" smtClean="0">
                <a:ea typeface="黑体" panose="02010609060101010101" pitchFamily="2" charset="-122"/>
              </a:rPr>
              <a:t>(lease period) </a:t>
            </a:r>
            <a:endParaRPr lang="en-US" altLang="zh-CN" dirty="0" smtClean="0">
              <a:ea typeface="黑体" panose="02010609060101010101" pitchFamily="2" charset="-122"/>
            </a:endParaRPr>
          </a:p>
        </p:txBody>
      </p:sp>
      <p:sp>
        <p:nvSpPr>
          <p:cNvPr id="303107" name="Rectangle 3"/>
          <p:cNvSpPr>
            <a:spLocks noGrp="1" noChangeArrowheads="1"/>
          </p:cNvSpPr>
          <p:nvPr>
            <p:ph idx="1"/>
          </p:nvPr>
        </p:nvSpPr>
        <p:spPr/>
        <p:txBody>
          <a:bodyPr/>
          <a:lstStyle/>
          <a:p>
            <a:pPr eaLnBrk="1" hangingPunct="1"/>
            <a:r>
              <a:rPr lang="en-US" altLang="zh-CN" dirty="0" smtClean="0">
                <a:ea typeface="黑体" panose="02010609060101010101" pitchFamily="2" charset="-122"/>
              </a:rPr>
              <a:t>DHCP </a:t>
            </a:r>
            <a:r>
              <a:rPr lang="zh-CN" altLang="en-US" dirty="0" smtClean="0">
                <a:ea typeface="黑体" panose="02010609060101010101" pitchFamily="2" charset="-122"/>
              </a:rPr>
              <a:t>服务器分配给 </a:t>
            </a:r>
            <a:r>
              <a:rPr lang="en-US" altLang="zh-CN" dirty="0" smtClean="0">
                <a:ea typeface="黑体" panose="02010609060101010101" pitchFamily="2" charset="-122"/>
              </a:rPr>
              <a:t>DHCP </a:t>
            </a:r>
            <a:r>
              <a:rPr lang="zh-CN" altLang="en-US" dirty="0" smtClean="0">
                <a:ea typeface="黑体" panose="02010609060101010101" pitchFamily="2" charset="-122"/>
              </a:rPr>
              <a:t>客户的 </a:t>
            </a:r>
            <a:r>
              <a:rPr lang="en-US" altLang="zh-CN" dirty="0" smtClean="0">
                <a:ea typeface="黑体" panose="02010609060101010101" pitchFamily="2" charset="-122"/>
              </a:rPr>
              <a:t>IP </a:t>
            </a:r>
            <a:r>
              <a:rPr lang="zh-CN" altLang="en-US" dirty="0" smtClean="0">
                <a:ea typeface="黑体" panose="02010609060101010101" pitchFamily="2" charset="-122"/>
              </a:rPr>
              <a:t>地址的</a:t>
            </a:r>
            <a:r>
              <a:rPr lang="zh-CN" altLang="en-US" dirty="0" smtClean="0">
                <a:solidFill>
                  <a:srgbClr val="FF0000"/>
                </a:solidFill>
                <a:ea typeface="黑体" panose="02010609060101010101" pitchFamily="2" charset="-122"/>
              </a:rPr>
              <a:t>临时的，</a:t>
            </a:r>
            <a:r>
              <a:rPr lang="zh-CN" altLang="en-US" dirty="0" smtClean="0">
                <a:ea typeface="黑体" panose="02010609060101010101" pitchFamily="2" charset="-122"/>
              </a:rPr>
              <a:t>因此 </a:t>
            </a:r>
            <a:r>
              <a:rPr lang="en-US" altLang="zh-CN" dirty="0" smtClean="0">
                <a:ea typeface="黑体" panose="02010609060101010101" pitchFamily="2" charset="-122"/>
              </a:rPr>
              <a:t>DHCP </a:t>
            </a:r>
            <a:r>
              <a:rPr lang="zh-CN" altLang="en-US" dirty="0" smtClean="0">
                <a:ea typeface="黑体" panose="02010609060101010101" pitchFamily="2" charset="-122"/>
              </a:rPr>
              <a:t>客户只能在一段有限的时间内使用这个分配到的 </a:t>
            </a:r>
            <a:r>
              <a:rPr lang="en-US" altLang="zh-CN" dirty="0" smtClean="0">
                <a:ea typeface="黑体" panose="02010609060101010101" pitchFamily="2" charset="-122"/>
              </a:rPr>
              <a:t>IP </a:t>
            </a:r>
            <a:r>
              <a:rPr lang="zh-CN" altLang="en-US" dirty="0" smtClean="0">
                <a:ea typeface="黑体" panose="02010609060101010101" pitchFamily="2" charset="-122"/>
              </a:rPr>
              <a:t>地址。</a:t>
            </a:r>
            <a:r>
              <a:rPr lang="en-US" altLang="zh-CN" dirty="0" smtClean="0">
                <a:ea typeface="黑体" panose="02010609060101010101" pitchFamily="2" charset="-122"/>
              </a:rPr>
              <a:t>DHCP </a:t>
            </a:r>
            <a:r>
              <a:rPr lang="zh-CN" altLang="en-US" dirty="0" smtClean="0">
                <a:ea typeface="黑体" panose="02010609060101010101" pitchFamily="2" charset="-122"/>
              </a:rPr>
              <a:t>协议称这段时间为</a:t>
            </a:r>
            <a:r>
              <a:rPr lang="zh-CN" altLang="en-US" dirty="0" smtClean="0">
                <a:solidFill>
                  <a:srgbClr val="FF0000"/>
                </a:solidFill>
                <a:ea typeface="黑体" panose="02010609060101010101" pitchFamily="2" charset="-122"/>
              </a:rPr>
              <a:t>租用期</a:t>
            </a:r>
            <a:r>
              <a:rPr lang="zh-CN" altLang="en-US" dirty="0" smtClean="0">
                <a:ea typeface="黑体" panose="02010609060101010101" pitchFamily="2" charset="-122"/>
              </a:rPr>
              <a:t>。 </a:t>
            </a:r>
            <a:endParaRPr lang="zh-CN" altLang="en-US" dirty="0" smtClean="0">
              <a:ea typeface="黑体" panose="02010609060101010101" pitchFamily="2" charset="-122"/>
            </a:endParaRPr>
          </a:p>
          <a:p>
            <a:pPr eaLnBrk="1" hangingPunct="1"/>
            <a:r>
              <a:rPr lang="zh-CN" altLang="en-US" dirty="0" smtClean="0">
                <a:ea typeface="黑体" panose="02010609060101010101" pitchFamily="2" charset="-122"/>
              </a:rPr>
              <a:t>租用期的数值应由 </a:t>
            </a:r>
            <a:r>
              <a:rPr lang="en-US" altLang="zh-CN" dirty="0" smtClean="0">
                <a:ea typeface="黑体" panose="02010609060101010101" pitchFamily="2" charset="-122"/>
              </a:rPr>
              <a:t>DHCP </a:t>
            </a:r>
            <a:r>
              <a:rPr lang="zh-CN" altLang="en-US" dirty="0" smtClean="0">
                <a:ea typeface="黑体" panose="02010609060101010101" pitchFamily="2" charset="-122"/>
              </a:rPr>
              <a:t>服务器自己决定。</a:t>
            </a:r>
            <a:endParaRPr lang="zh-CN" altLang="en-US" dirty="0" smtClean="0">
              <a:ea typeface="黑体" panose="02010609060101010101" pitchFamily="2" charset="-122"/>
            </a:endParaRPr>
          </a:p>
          <a:p>
            <a:pPr eaLnBrk="1" hangingPunct="1"/>
            <a:r>
              <a:rPr lang="en-US" altLang="zh-CN" dirty="0" smtClean="0">
                <a:ea typeface="黑体" panose="02010609060101010101" pitchFamily="2" charset="-122"/>
              </a:rPr>
              <a:t>DHCP </a:t>
            </a:r>
            <a:r>
              <a:rPr lang="zh-CN" altLang="en-US" dirty="0" smtClean="0">
                <a:ea typeface="黑体" panose="02010609060101010101" pitchFamily="2" charset="-122"/>
              </a:rPr>
              <a:t>客户也可在自己发送的报文中（例如，发现报文）提出对租用期的要求。  </a:t>
            </a:r>
            <a:endParaRPr lang="zh-CN" altLang="en-US" dirty="0" smtClean="0">
              <a:ea typeface="黑体" panose="02010609060101010101" pitchFamily="2" charset="-122"/>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idx="4294967295"/>
          </p:nvPr>
        </p:nvSpPr>
        <p:spPr>
          <a:xfrm>
            <a:off x="704528" y="188913"/>
            <a:ext cx="8442325" cy="539750"/>
          </a:xfrm>
        </p:spPr>
        <p:txBody>
          <a:bodyPr/>
          <a:lstStyle/>
          <a:p>
            <a:pPr algn="ctr" eaLnBrk="1" hangingPunct="1">
              <a:defRPr/>
            </a:pPr>
            <a:r>
              <a:rPr lang="en-US" altLang="zh-CN" dirty="0"/>
              <a:t>DHCP </a:t>
            </a:r>
            <a:r>
              <a:rPr dirty="0"/>
              <a:t>协议的工作过程 </a:t>
            </a:r>
            <a:endParaRPr dirty="0"/>
          </a:p>
        </p:txBody>
      </p:sp>
      <p:sp>
        <p:nvSpPr>
          <p:cNvPr id="305155" name="Line 4"/>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56" name="Line 6"/>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57" name="Rectangle 7"/>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58" name="Rectangle 8"/>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59" name="Rectangle 9"/>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60" name="Rectangle 10"/>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61" name="Rectangle 11"/>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62" name="Text Box 12"/>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63" name="Text Box 13"/>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64" name="Line 14"/>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65" name="Rectangle 15"/>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66" name="Rectangle 16"/>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67" name="Rectangle 17"/>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68" name="Rectangle 18"/>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69" name="Rectangle 19"/>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70" name="Text Box 20"/>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71" name="Text Box 21"/>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72" name="Line 23"/>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73" name="Rectangle 24"/>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74" name="Rectangle 25"/>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75" name="Rectangle 26"/>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76" name="Rectangle 27"/>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77" name="Rectangle 28"/>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78" name="Text Box 29"/>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79" name="Text Box 30"/>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80" name="Line 31"/>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81" name="Rectangle 32"/>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82" name="Rectangle 33"/>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83" name="Rectangle 34"/>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84" name="Rectangle 35"/>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85" name="Rectangle 36"/>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86" name="Text Box 37"/>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87" name="Text Box 38"/>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88" name="Line 40"/>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89" name="Rectangle 41"/>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90" name="Rectangle 42"/>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91" name="Rectangle 43"/>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92" name="Rectangle 44"/>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93" name="Rectangle 45"/>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94" name="Text Box 46"/>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95" name="Text Box 47"/>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96" name="Line 48"/>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97" name="Rectangle 49"/>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198" name="Rectangle 50"/>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199" name="Rectangle 51"/>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200" name="Rectangle 52"/>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01" name="Rectangle 53"/>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02" name="Text Box 54"/>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03" name="Text Box 55"/>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04" name="Line 56"/>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205" name="Rectangle 57"/>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206" name="Rectangle 58"/>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07" name="Rectangle 59"/>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208" name="Rectangle 60"/>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09" name="Rectangle 61"/>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10" name="Text Box 62"/>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11" name="Text Box 63"/>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12" name="Line 65"/>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213" name="Rectangle 66"/>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214" name="Rectangle 67"/>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15" name="Rectangle 68"/>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216" name="Rectangle 69"/>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17" name="Rectangle 70"/>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18" name="Text Box 71"/>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19" name="Text Box 72"/>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20" name="Rectangle 73"/>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221" name="Rectangle 74"/>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22" name="Text Box 75"/>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5223" name="Text Box 76"/>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5224" name="Text Box 77"/>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25" name="Text Box 78"/>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26" name="Text Box 79"/>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27" name="Text Box 80"/>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28" name="Text Box 81"/>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29" name="Text Box 82"/>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30" name="Text Box 83"/>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31" name="Text Box 84"/>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5232" name="Text Box 85"/>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05233" name="Text Box 86"/>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grpSp>
        <p:nvGrpSpPr>
          <p:cNvPr id="727131" name="Group 91"/>
          <p:cNvGrpSpPr/>
          <p:nvPr/>
        </p:nvGrpSpPr>
        <p:grpSpPr bwMode="auto">
          <a:xfrm>
            <a:off x="0" y="4622800"/>
            <a:ext cx="9906000" cy="2235200"/>
            <a:chOff x="0" y="2840"/>
            <a:chExt cx="5760" cy="1480"/>
          </a:xfrm>
        </p:grpSpPr>
        <p:sp>
          <p:nvSpPr>
            <p:cNvPr id="305235" name="Rectangle 88"/>
            <p:cNvSpPr>
              <a:spLocks noChangeArrowheads="1"/>
            </p:cNvSpPr>
            <p:nvPr/>
          </p:nvSpPr>
          <p:spPr bwMode="auto">
            <a:xfrm>
              <a:off x="0" y="2840"/>
              <a:ext cx="5760" cy="148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05236" name="Text Box 90"/>
            <p:cNvSpPr txBox="1">
              <a:spLocks noChangeArrowheads="1"/>
            </p:cNvSpPr>
            <p:nvPr/>
          </p:nvSpPr>
          <p:spPr bwMode="auto">
            <a:xfrm>
              <a:off x="781" y="3176"/>
              <a:ext cx="4133" cy="713"/>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b="1">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a:solidFill>
                    <a:srgbClr val="000099"/>
                  </a:solidFill>
                  <a:latin typeface="Arial" panose="020B0604020202020204" pitchFamily="34" charset="0"/>
                  <a:ea typeface="黑体" panose="02010609060101010101" pitchFamily="2" charset="-122"/>
                </a:rPr>
                <a:t>：</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服务器被动打开 </a:t>
              </a:r>
              <a:r>
                <a:rPr lang="en-US" altLang="zh-CN" sz="2800" b="1">
                  <a:solidFill>
                    <a:srgbClr val="000099"/>
                  </a:solidFill>
                  <a:latin typeface="Arial" panose="020B0604020202020204" pitchFamily="34" charset="0"/>
                  <a:ea typeface="黑体" panose="02010609060101010101" pitchFamily="2" charset="-122"/>
                </a:rPr>
                <a:t>UDP </a:t>
              </a:r>
              <a:r>
                <a:rPr lang="zh-CN" altLang="en-US" sz="2800" b="1">
                  <a:solidFill>
                    <a:srgbClr val="000099"/>
                  </a:solidFill>
                  <a:latin typeface="Arial" panose="020B0604020202020204" pitchFamily="34" charset="0"/>
                  <a:ea typeface="黑体" panose="02010609060101010101" pitchFamily="2" charset="-122"/>
                </a:rPr>
                <a:t>端口 </a:t>
              </a:r>
              <a:r>
                <a:rPr lang="en-US" altLang="zh-CN" sz="2800" b="1">
                  <a:solidFill>
                    <a:srgbClr val="000099"/>
                  </a:solidFill>
                  <a:latin typeface="Arial" panose="020B0604020202020204" pitchFamily="34" charset="0"/>
                  <a:ea typeface="黑体" panose="02010609060101010101" pitchFamily="2" charset="-122"/>
                </a:rPr>
                <a:t>67</a:t>
              </a:r>
              <a:r>
                <a:rPr lang="zh-CN" altLang="en-US" sz="2800" b="1">
                  <a:solidFill>
                    <a:srgbClr val="000099"/>
                  </a:solidFill>
                  <a:latin typeface="Arial" panose="020B0604020202020204" pitchFamily="34" charset="0"/>
                  <a:ea typeface="黑体" panose="02010609060101010101" pitchFamily="2" charset="-122"/>
                </a:rPr>
                <a:t>，</a:t>
              </a:r>
              <a:endParaRPr lang="zh-CN" altLang="en-US" sz="2800" b="1">
                <a:solidFill>
                  <a:srgbClr val="000099"/>
                </a:solidFill>
                <a:latin typeface="Arial" panose="020B0604020202020204" pitchFamily="34" charset="0"/>
                <a:ea typeface="黑体" panose="02010609060101010101" pitchFamily="2" charset="-122"/>
              </a:endParaRPr>
            </a:p>
            <a:p>
              <a:pPr eaLnBrk="1" hangingPunct="1"/>
              <a:r>
                <a:rPr lang="zh-CN" altLang="en-US" sz="2800" b="1">
                  <a:solidFill>
                    <a:srgbClr val="000099"/>
                  </a:solidFill>
                  <a:latin typeface="Arial" panose="020B0604020202020204" pitchFamily="34" charset="0"/>
                  <a:ea typeface="黑体" panose="02010609060101010101" pitchFamily="2" charset="-122"/>
                </a:rPr>
                <a:t>        等待客户端发来的报文。</a:t>
              </a:r>
              <a:endParaRPr lang="zh-CN" altLang="en-US" sz="2800" b="1">
                <a:solidFill>
                  <a:srgbClr val="000099"/>
                </a:solidFill>
                <a:latin typeface="Arial" panose="020B0604020202020204" pitchFamily="34" charset="0"/>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页脚占位符 4"/>
          <p:cNvSpPr>
            <a:spLocks noGrp="1"/>
          </p:cNvSpPr>
          <p:nvPr>
            <p:ph type="ftr" sz="quarter" idx="3"/>
          </p:nvPr>
        </p:nvSpPr>
        <p:spPr>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smtClean="0">
                <a:solidFill>
                  <a:srgbClr val="000099"/>
                </a:solidFill>
              </a:rPr>
              <a:t>课件制作人：谢希仁</a:t>
            </a:r>
            <a:endParaRPr lang="zh-CN" altLang="en-US" sz="1400" b="1" smtClean="0">
              <a:solidFill>
                <a:srgbClr val="000099"/>
              </a:solidFill>
            </a:endParaRPr>
          </a:p>
        </p:txBody>
      </p:sp>
      <p:sp>
        <p:nvSpPr>
          <p:cNvPr id="294915" name="Rectangle 2"/>
          <p:cNvSpPr>
            <a:spLocks noGrp="1" noChangeArrowheads="1"/>
          </p:cNvSpPr>
          <p:nvPr>
            <p:ph type="title" idx="4294967295"/>
          </p:nvPr>
        </p:nvSpPr>
        <p:spPr>
          <a:xfrm>
            <a:off x="591256" y="188913"/>
            <a:ext cx="8466200" cy="539750"/>
          </a:xfrm>
        </p:spPr>
        <p:txBody>
          <a:bodyPr/>
          <a:lstStyle/>
          <a:p>
            <a:pPr algn="ctr" eaLnBrk="1" hangingPunct="1">
              <a:defRPr/>
            </a:pPr>
            <a:r>
              <a:rPr lang="en-US" altLang="zh-CN" sz="4060" dirty="0"/>
              <a:t>DHCP </a:t>
            </a:r>
            <a:r>
              <a:rPr dirty="0"/>
              <a:t>协议的工作过程</a:t>
            </a:r>
            <a:r>
              <a:rPr sz="4060" dirty="0"/>
              <a:t> </a:t>
            </a:r>
            <a:endParaRPr sz="4060" dirty="0"/>
          </a:p>
        </p:txBody>
      </p:sp>
      <p:sp>
        <p:nvSpPr>
          <p:cNvPr id="307204"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05"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06"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07"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08"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09"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10"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68</a:t>
            </a:r>
            <a:endParaRPr kumimoji="1" lang="en-US" altLang="zh-CN" sz="2000" b="1" dirty="0">
              <a:solidFill>
                <a:srgbClr val="000099"/>
              </a:solidFill>
              <a:latin typeface="Arial" panose="020B0604020202020204" pitchFamily="34" charset="0"/>
              <a:ea typeface="黑体" panose="02010609060101010101" pitchFamily="2" charset="-122"/>
            </a:endParaRPr>
          </a:p>
        </p:txBody>
      </p:sp>
      <p:sp>
        <p:nvSpPr>
          <p:cNvPr id="307211"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12"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13"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14"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15"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16"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17"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18"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68</a:t>
            </a:r>
            <a:endParaRPr kumimoji="1" lang="en-US" altLang="zh-CN" sz="2000" b="1" dirty="0">
              <a:solidFill>
                <a:srgbClr val="000099"/>
              </a:solidFill>
              <a:latin typeface="Arial" panose="020B0604020202020204" pitchFamily="34" charset="0"/>
              <a:ea typeface="黑体" panose="02010609060101010101" pitchFamily="2" charset="-122"/>
            </a:endParaRPr>
          </a:p>
        </p:txBody>
      </p:sp>
      <p:sp>
        <p:nvSpPr>
          <p:cNvPr id="307219"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20"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21"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22"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23"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24"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25"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26"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27"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28"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29"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30"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31"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32"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33"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34"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35"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36"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37"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38"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39"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40"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41"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42"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43"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44"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45"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46"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47"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48"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49"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50"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51"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52"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53"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54"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55"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56"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57"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58"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59"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60"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61"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62"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63"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64"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7265"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66"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67"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68"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7269"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a:solidFill>
                  <a:srgbClr val="333399"/>
                </a:solidFill>
                <a:latin typeface="Arial" panose="020B0604020202020204" pitchFamily="34" charset="0"/>
                <a:ea typeface="黑体" panose="02010609060101010101" pitchFamily="2" charset="-122"/>
              </a:rPr>
              <a:t>服务器</a:t>
            </a:r>
            <a:endParaRPr kumimoji="1" lang="zh-CN" altLang="en-US" sz="2000">
              <a:solidFill>
                <a:srgbClr val="333399"/>
              </a:solidFill>
              <a:latin typeface="Arial" panose="020B0604020202020204" pitchFamily="34" charset="0"/>
              <a:ea typeface="黑体" panose="02010609060101010101" pitchFamily="2" charset="-122"/>
            </a:endParaRPr>
          </a:p>
        </p:txBody>
      </p:sp>
      <p:sp>
        <p:nvSpPr>
          <p:cNvPr id="307270"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a:solidFill>
                  <a:srgbClr val="333399"/>
                </a:solidFill>
                <a:latin typeface="Arial" panose="020B0604020202020204" pitchFamily="34" charset="0"/>
                <a:ea typeface="黑体" panose="02010609060101010101" pitchFamily="2" charset="-122"/>
              </a:rPr>
              <a:t>67</a:t>
            </a:r>
            <a:endParaRPr kumimoji="1" lang="en-US" altLang="zh-CN" sz="2000">
              <a:solidFill>
                <a:srgbClr val="333399"/>
              </a:solidFill>
              <a:latin typeface="Arial" panose="020B0604020202020204" pitchFamily="34" charset="0"/>
              <a:ea typeface="黑体" panose="02010609060101010101" pitchFamily="2" charset="-122"/>
            </a:endParaRPr>
          </a:p>
        </p:txBody>
      </p:sp>
      <p:sp>
        <p:nvSpPr>
          <p:cNvPr id="307271"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dirty="0">
                <a:solidFill>
                  <a:srgbClr val="333399"/>
                </a:solidFill>
                <a:latin typeface="Arial" panose="020B0604020202020204" pitchFamily="34" charset="0"/>
                <a:ea typeface="黑体" panose="02010609060101010101" pitchFamily="2" charset="-122"/>
              </a:rPr>
              <a:t>UDP</a:t>
            </a:r>
            <a:endParaRPr kumimoji="1" lang="en-US" altLang="zh-CN" sz="2000" b="1" dirty="0">
              <a:solidFill>
                <a:srgbClr val="333399"/>
              </a:solidFill>
              <a:latin typeface="Arial" panose="020B0604020202020204" pitchFamily="34" charset="0"/>
              <a:ea typeface="黑体" panose="02010609060101010101" pitchFamily="2" charset="-122"/>
            </a:endParaRPr>
          </a:p>
        </p:txBody>
      </p:sp>
      <p:sp>
        <p:nvSpPr>
          <p:cNvPr id="307272"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Arial" panose="020B0604020202020204" pitchFamily="34" charset="0"/>
                <a:ea typeface="黑体" panose="02010609060101010101" pitchFamily="2" charset="-122"/>
              </a:rPr>
              <a:t>被动打开</a:t>
            </a:r>
            <a:endParaRPr kumimoji="1" lang="zh-CN" altLang="en-US" sz="2000">
              <a:solidFill>
                <a:srgbClr val="333399"/>
              </a:solidFill>
              <a:latin typeface="Arial" panose="020B0604020202020204" pitchFamily="34" charset="0"/>
              <a:ea typeface="黑体" panose="02010609060101010101" pitchFamily="2" charset="-122"/>
            </a:endParaRPr>
          </a:p>
        </p:txBody>
      </p:sp>
      <p:sp>
        <p:nvSpPr>
          <p:cNvPr id="307273"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07274"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75"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76"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77"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78"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79"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80"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81"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07282"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07283"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07284" name="Text Box 85"/>
          <p:cNvSpPr txBox="1">
            <a:spLocks noChangeArrowheads="1"/>
          </p:cNvSpPr>
          <p:nvPr/>
        </p:nvSpPr>
        <p:spPr bwMode="auto">
          <a:xfrm>
            <a:off x="1343158" y="5138738"/>
            <a:ext cx="6261761" cy="1077912"/>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b="1" dirty="0">
                <a:solidFill>
                  <a:srgbClr val="000099"/>
                </a:solidFill>
                <a:sym typeface="Wingdings" panose="05000000000000000000" pitchFamily="2" charset="2"/>
              </a:rPr>
              <a:t></a:t>
            </a:r>
            <a:r>
              <a:rPr lang="zh-CN" altLang="en-US" sz="2800" b="1" dirty="0">
                <a:solidFill>
                  <a:srgbClr val="000099"/>
                </a:solidFill>
              </a:rPr>
              <a:t>：</a:t>
            </a:r>
            <a:r>
              <a:rPr lang="en-US" altLang="zh-CN" sz="2800" b="1" dirty="0">
                <a:solidFill>
                  <a:srgbClr val="000099"/>
                </a:solidFill>
              </a:rPr>
              <a:t>DHCP </a:t>
            </a:r>
            <a:r>
              <a:rPr lang="zh-CN" altLang="en-US" sz="2800" b="1" dirty="0">
                <a:solidFill>
                  <a:srgbClr val="000099"/>
                </a:solidFill>
              </a:rPr>
              <a:t>客户从 </a:t>
            </a:r>
            <a:r>
              <a:rPr lang="en-US" altLang="zh-CN" sz="2800" b="1" dirty="0">
                <a:solidFill>
                  <a:srgbClr val="000099"/>
                </a:solidFill>
              </a:rPr>
              <a:t>UDP </a:t>
            </a:r>
            <a:r>
              <a:rPr lang="zh-CN" altLang="en-US" sz="2800" b="1" dirty="0">
                <a:solidFill>
                  <a:srgbClr val="000099"/>
                </a:solidFill>
              </a:rPr>
              <a:t>端口 </a:t>
            </a:r>
            <a:r>
              <a:rPr lang="en-US" altLang="zh-CN" sz="2800" b="1" dirty="0">
                <a:solidFill>
                  <a:srgbClr val="000099"/>
                </a:solidFill>
              </a:rPr>
              <a:t>68</a:t>
            </a:r>
            <a:endParaRPr lang="en-US" altLang="zh-CN" sz="2800" b="1" dirty="0">
              <a:solidFill>
                <a:srgbClr val="000099"/>
              </a:solidFill>
            </a:endParaRPr>
          </a:p>
          <a:p>
            <a:pPr eaLnBrk="1" hangingPunct="1"/>
            <a:r>
              <a:rPr lang="en-US" altLang="zh-CN" sz="2800" b="1" dirty="0">
                <a:solidFill>
                  <a:srgbClr val="000099"/>
                </a:solidFill>
              </a:rPr>
              <a:t>      </a:t>
            </a:r>
            <a:r>
              <a:rPr lang="zh-CN" altLang="en-US" sz="2800" b="1" dirty="0">
                <a:solidFill>
                  <a:srgbClr val="000099"/>
                </a:solidFill>
              </a:rPr>
              <a:t>发送 </a:t>
            </a:r>
            <a:r>
              <a:rPr lang="en-US" altLang="zh-CN" sz="2800" b="1" dirty="0">
                <a:solidFill>
                  <a:srgbClr val="000099"/>
                </a:solidFill>
              </a:rPr>
              <a:t>DHCP </a:t>
            </a:r>
            <a:r>
              <a:rPr lang="zh-CN" altLang="en-US" sz="2800" b="1" dirty="0">
                <a:solidFill>
                  <a:srgbClr val="000099"/>
                </a:solidFill>
              </a:rPr>
              <a:t>发现报文。</a:t>
            </a:r>
            <a:endParaRPr lang="zh-CN" altLang="en-US" sz="2800" b="1" dirty="0">
              <a:solidFill>
                <a:srgbClr val="000099"/>
              </a:solidFill>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页脚占位符 4"/>
          <p:cNvSpPr>
            <a:spLocks noGrp="1"/>
          </p:cNvSpPr>
          <p:nvPr>
            <p:ph type="ftr" sz="quarter" idx="4294967295"/>
          </p:nvPr>
        </p:nvSpPr>
        <p:spPr>
          <a:xfrm>
            <a:off x="3384550" y="6356350"/>
            <a:ext cx="3136900" cy="457200"/>
          </a:xfrm>
          <a:prstGeom prst="rect">
            <a:avLst/>
          </a:prstGeom>
          <a:noFill/>
        </p:spPr>
        <p:txBody>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r>
              <a:rPr lang="zh-CN" altLang="en-US" sz="1400" smtClean="0">
                <a:solidFill>
                  <a:srgbClr val="000099"/>
                </a:solidFill>
                <a:latin typeface="Tahoma" panose="020B0604030504040204" pitchFamily="34" charset="0"/>
                <a:ea typeface="宋体" panose="02010600030101010101" pitchFamily="2" charset="-122"/>
              </a:rPr>
              <a:t>课件制作人：谢希仁</a:t>
            </a:r>
            <a:endParaRPr lang="zh-CN" altLang="en-US" sz="1400" smtClean="0">
              <a:solidFill>
                <a:srgbClr val="000099"/>
              </a:solidFill>
              <a:latin typeface="Tahoma" panose="020B0604030504040204" pitchFamily="34" charset="0"/>
              <a:ea typeface="宋体" panose="02010600030101010101" pitchFamily="2" charset="-122"/>
            </a:endParaRPr>
          </a:p>
        </p:txBody>
      </p:sp>
      <p:sp>
        <p:nvSpPr>
          <p:cNvPr id="309251" name="Rectangle 2"/>
          <p:cNvSpPr>
            <a:spLocks noGrp="1" noChangeArrowheads="1"/>
          </p:cNvSpPr>
          <p:nvPr>
            <p:ph type="title" idx="4294967295"/>
          </p:nvPr>
        </p:nvSpPr>
        <p:spPr>
          <a:xfrm>
            <a:off x="428229" y="188913"/>
            <a:ext cx="9047823" cy="571500"/>
          </a:xfrm>
          <a:noFill/>
        </p:spPr>
        <p:txBody>
          <a:bodyPr/>
          <a:lstStyle/>
          <a:p>
            <a:pPr algn="ctr" eaLnBrk="1" hangingPunct="1"/>
            <a:r>
              <a:rPr lang="en-US" altLang="zh-CN" dirty="0" smtClean="0">
                <a:solidFill>
                  <a:srgbClr val="000099"/>
                </a:solidFill>
              </a:rPr>
              <a:t>DHCP </a:t>
            </a:r>
            <a:r>
              <a:rPr dirty="0" smtClean="0">
                <a:solidFill>
                  <a:srgbClr val="000099"/>
                </a:solidFill>
              </a:rPr>
              <a:t>协议的工作过程 </a:t>
            </a:r>
            <a:endParaRPr dirty="0" smtClean="0">
              <a:solidFill>
                <a:srgbClr val="000099"/>
              </a:solidFill>
            </a:endParaRPr>
          </a:p>
        </p:txBody>
      </p:sp>
      <p:sp>
        <p:nvSpPr>
          <p:cNvPr id="309252"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53"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54"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55"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56"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57"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58"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59"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60"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61"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62"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63"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64"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65"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66"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67"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68"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69"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70"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71"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72"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73"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74"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75"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76"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77"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78"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79"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80"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81"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82"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83"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84"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85"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86"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87"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88"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89"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90"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91"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92"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293"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94"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95"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96"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297"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98"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299"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300"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301"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302"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303"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304"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305"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306"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307"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308"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309"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310"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311"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312"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313"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314"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315"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316"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317"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09318"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09319"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endParaRPr kumimoji="1" lang="en-US" altLang="zh-CN" sz="2000">
              <a:solidFill>
                <a:srgbClr val="000099"/>
              </a:solidFill>
            </a:endParaRPr>
          </a:p>
        </p:txBody>
      </p:sp>
      <p:sp>
        <p:nvSpPr>
          <p:cNvPr id="309320"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zh-CN" altLang="en-US" sz="2000">
                <a:solidFill>
                  <a:srgbClr val="000099"/>
                </a:solidFill>
              </a:rPr>
              <a:t>被动打开</a:t>
            </a:r>
            <a:endParaRPr kumimoji="1" lang="zh-CN" altLang="en-US" sz="2000">
              <a:solidFill>
                <a:srgbClr val="000099"/>
              </a:solidFill>
            </a:endParaRPr>
          </a:p>
        </p:txBody>
      </p:sp>
      <p:sp>
        <p:nvSpPr>
          <p:cNvPr id="309321"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2"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3"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4"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5"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6"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7"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8"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29"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3600">
                <a:solidFill>
                  <a:srgbClr val="000099"/>
                </a:solidFill>
              </a:rPr>
              <a:t>…</a:t>
            </a:r>
            <a:endParaRPr kumimoji="1" lang="en-US" altLang="zh-CN" sz="3600">
              <a:solidFill>
                <a:srgbClr val="000099"/>
              </a:solidFill>
            </a:endParaRPr>
          </a:p>
        </p:txBody>
      </p:sp>
      <p:sp>
        <p:nvSpPr>
          <p:cNvPr id="309330"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endParaRPr kumimoji="1" lang="en-US" altLang="zh-CN" sz="2800">
              <a:solidFill>
                <a:srgbClr val="000099"/>
              </a:solidFill>
              <a:sym typeface="Wingdings" panose="05000000000000000000" pitchFamily="2" charset="2"/>
            </a:endParaRPr>
          </a:p>
        </p:txBody>
      </p:sp>
      <p:sp>
        <p:nvSpPr>
          <p:cNvPr id="309331"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09332" name="Text Box 85"/>
          <p:cNvSpPr txBox="1">
            <a:spLocks noChangeArrowheads="1"/>
          </p:cNvSpPr>
          <p:nvPr/>
        </p:nvSpPr>
        <p:spPr bwMode="auto">
          <a:xfrm>
            <a:off x="818621" y="5013325"/>
            <a:ext cx="8580041"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algn="just" eaLnBrk="1" hangingPunct="1"/>
            <a:r>
              <a:rPr lang="en-US" altLang="zh-CN" sz="3600">
                <a:solidFill>
                  <a:srgbClr val="000099"/>
                </a:solidFill>
                <a:sym typeface="Wingdings" panose="05000000000000000000" pitchFamily="2" charset="2"/>
              </a:rPr>
              <a:t></a:t>
            </a:r>
            <a:r>
              <a:rPr lang="zh-CN" altLang="en-US" sz="2800">
                <a:solidFill>
                  <a:srgbClr val="000099"/>
                </a:solidFill>
              </a:rPr>
              <a:t>：凡收到 </a:t>
            </a:r>
            <a:r>
              <a:rPr lang="en-US" altLang="zh-CN" sz="2800">
                <a:solidFill>
                  <a:srgbClr val="000099"/>
                </a:solidFill>
              </a:rPr>
              <a:t>DHCP </a:t>
            </a:r>
            <a:r>
              <a:rPr lang="zh-CN" altLang="en-US" sz="2800">
                <a:solidFill>
                  <a:srgbClr val="000099"/>
                </a:solidFill>
              </a:rPr>
              <a:t>发现报文的 </a:t>
            </a:r>
            <a:r>
              <a:rPr lang="en-US" altLang="zh-CN" sz="2800">
                <a:solidFill>
                  <a:srgbClr val="000099"/>
                </a:solidFill>
              </a:rPr>
              <a:t>DHCP </a:t>
            </a:r>
            <a:r>
              <a:rPr lang="zh-CN" altLang="en-US" sz="2800">
                <a:solidFill>
                  <a:srgbClr val="000099"/>
                </a:solidFill>
              </a:rPr>
              <a:t>服务器</a:t>
            </a:r>
            <a:endParaRPr lang="zh-CN" altLang="en-US" sz="2800">
              <a:solidFill>
                <a:srgbClr val="000099"/>
              </a:solidFill>
            </a:endParaRPr>
          </a:p>
          <a:p>
            <a:pPr algn="just" eaLnBrk="1" hangingPunct="1"/>
            <a:r>
              <a:rPr lang="zh-CN" altLang="en-US" sz="2800">
                <a:solidFill>
                  <a:srgbClr val="000099"/>
                </a:solidFill>
              </a:rPr>
              <a:t>       都发出 </a:t>
            </a:r>
            <a:r>
              <a:rPr lang="en-US" altLang="zh-CN" sz="2800">
                <a:solidFill>
                  <a:srgbClr val="000099"/>
                </a:solidFill>
              </a:rPr>
              <a:t>DHCP </a:t>
            </a:r>
            <a:r>
              <a:rPr lang="zh-CN" altLang="en-US" sz="2800">
                <a:solidFill>
                  <a:srgbClr val="000099"/>
                </a:solidFill>
              </a:rPr>
              <a:t>提供报文，因此 </a:t>
            </a:r>
            <a:r>
              <a:rPr lang="en-US" altLang="zh-CN" sz="2800">
                <a:solidFill>
                  <a:srgbClr val="000099"/>
                </a:solidFill>
              </a:rPr>
              <a:t>DHCP </a:t>
            </a:r>
            <a:r>
              <a:rPr lang="zh-CN" altLang="en-US" sz="2800">
                <a:solidFill>
                  <a:srgbClr val="000099"/>
                </a:solidFill>
              </a:rPr>
              <a:t>客户</a:t>
            </a:r>
            <a:endParaRPr lang="zh-CN" altLang="en-US" sz="2800">
              <a:solidFill>
                <a:srgbClr val="000099"/>
              </a:solidFill>
            </a:endParaRPr>
          </a:p>
          <a:p>
            <a:pPr algn="just" eaLnBrk="1" hangingPunct="1"/>
            <a:r>
              <a:rPr lang="zh-CN" altLang="en-US" sz="2800">
                <a:solidFill>
                  <a:srgbClr val="000099"/>
                </a:solidFill>
              </a:rPr>
              <a:t>       可能收到多个 </a:t>
            </a:r>
            <a:r>
              <a:rPr lang="en-US" altLang="zh-CN" sz="2800">
                <a:solidFill>
                  <a:srgbClr val="000099"/>
                </a:solidFill>
              </a:rPr>
              <a:t>DHCP </a:t>
            </a:r>
            <a:r>
              <a:rPr lang="zh-CN" altLang="en-US" sz="2800">
                <a:solidFill>
                  <a:srgbClr val="000099"/>
                </a:solidFill>
              </a:rPr>
              <a:t>提供报文。</a:t>
            </a:r>
            <a:endParaRPr lang="zh-CN" altLang="en-US" sz="2800">
              <a:solidFill>
                <a:srgbClr val="000099"/>
              </a:solidFill>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smtClean="0"/>
              <a:t>课件制作人：谢希仁</a:t>
            </a:r>
            <a:endParaRPr lang="zh-CN" altLang="en-US" sz="1400" smtClean="0"/>
          </a:p>
        </p:txBody>
      </p:sp>
      <p:sp>
        <p:nvSpPr>
          <p:cNvPr id="311299" name="Rectangle 2"/>
          <p:cNvSpPr>
            <a:spLocks noGrp="1" noChangeArrowheads="1"/>
          </p:cNvSpPr>
          <p:nvPr>
            <p:ph type="title" idx="4294967295"/>
          </p:nvPr>
        </p:nvSpPr>
        <p:spPr>
          <a:xfrm>
            <a:off x="632520" y="188913"/>
            <a:ext cx="8442457" cy="539750"/>
          </a:xfrm>
          <a:noFill/>
        </p:spPr>
        <p:txBody>
          <a:bodyPr/>
          <a:lstStyle/>
          <a:p>
            <a:pPr algn="ctr" eaLnBrk="1" hangingPunct="1"/>
            <a:r>
              <a:rPr lang="en-US" altLang="zh-CN" dirty="0" smtClean="0"/>
              <a:t>DHCP </a:t>
            </a:r>
            <a:r>
              <a:rPr dirty="0" smtClean="0"/>
              <a:t>协议的工作过程 </a:t>
            </a:r>
            <a:endParaRPr dirty="0" smtClean="0"/>
          </a:p>
        </p:txBody>
      </p:sp>
      <p:sp>
        <p:nvSpPr>
          <p:cNvPr id="311300"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01"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02"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03"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04"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05"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06"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07"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08"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09"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10"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11"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12"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13"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14"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15"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16"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17"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18"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19"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20"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21"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22"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23"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24"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25"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26"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27"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28"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29"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30"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31"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32"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33"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34"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35"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36"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37"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38"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39"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40"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41"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42"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43"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44"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45"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46"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47"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48"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49"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50"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51"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52"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53"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54"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55"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56"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57"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58"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59"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60"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61"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62"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63"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ea typeface="黑体" panose="02010609060101010101" pitchFamily="2" charset="-122"/>
              </a:rPr>
              <a:t>UDP</a:t>
            </a:r>
            <a:endParaRPr kumimoji="1" lang="en-US" altLang="zh-CN" sz="2000">
              <a:solidFill>
                <a:srgbClr val="333399"/>
              </a:solidFill>
              <a:latin typeface="Arial" panose="020B0604020202020204" pitchFamily="34" charset="0"/>
              <a:ea typeface="黑体" panose="02010609060101010101" pitchFamily="2" charset="-122"/>
            </a:endParaRPr>
          </a:p>
        </p:txBody>
      </p:sp>
      <p:sp>
        <p:nvSpPr>
          <p:cNvPr id="311364"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ea typeface="黑体" panose="02010609060101010101" pitchFamily="2" charset="-122"/>
              </a:rPr>
              <a:t>UDP</a:t>
            </a:r>
            <a:endParaRPr kumimoji="1" lang="en-US" altLang="zh-CN" sz="2000">
              <a:solidFill>
                <a:srgbClr val="333399"/>
              </a:solidFill>
              <a:latin typeface="Arial" panose="020B0604020202020204" pitchFamily="34" charset="0"/>
              <a:ea typeface="黑体" panose="02010609060101010101" pitchFamily="2" charset="-122"/>
            </a:endParaRPr>
          </a:p>
        </p:txBody>
      </p:sp>
      <p:sp>
        <p:nvSpPr>
          <p:cNvPr id="311365"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66"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67"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1368"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1369"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0"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1"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2"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3"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4"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5"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6"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7"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11378"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1379"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a:p>
        </p:txBody>
      </p:sp>
      <p:sp>
        <p:nvSpPr>
          <p:cNvPr id="311380" name="Text Box 85"/>
          <p:cNvSpPr txBox="1">
            <a:spLocks noChangeArrowheads="1"/>
          </p:cNvSpPr>
          <p:nvPr/>
        </p:nvSpPr>
        <p:spPr bwMode="auto">
          <a:xfrm>
            <a:off x="818621" y="5013325"/>
            <a:ext cx="8268758"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a:solidFill>
                  <a:srgbClr val="000099"/>
                </a:solidFill>
                <a:latin typeface="Arial" panose="020B0604020202020204" pitchFamily="34" charset="0"/>
                <a:ea typeface="黑体" panose="02010609060101010101" pitchFamily="2" charset="-122"/>
              </a:rPr>
              <a:t>：</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客户从几个 </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服务器中选择</a:t>
            </a:r>
            <a:endParaRPr lang="zh-CN" altLang="en-US" sz="2800" b="1">
              <a:solidFill>
                <a:srgbClr val="000099"/>
              </a:solidFill>
              <a:latin typeface="Arial" panose="020B0604020202020204" pitchFamily="34" charset="0"/>
              <a:ea typeface="黑体" panose="02010609060101010101" pitchFamily="2" charset="-122"/>
            </a:endParaRPr>
          </a:p>
          <a:p>
            <a:pPr algn="just" eaLnBrk="1" hangingPunct="1"/>
            <a:r>
              <a:rPr lang="zh-CN" altLang="en-US" sz="2800" b="1">
                <a:solidFill>
                  <a:srgbClr val="000099"/>
                </a:solidFill>
                <a:latin typeface="Arial" panose="020B0604020202020204" pitchFamily="34" charset="0"/>
                <a:ea typeface="黑体" panose="02010609060101010101" pitchFamily="2" charset="-122"/>
              </a:rPr>
              <a:t>       其中的一个，并向所选择的 </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服务</a:t>
            </a:r>
            <a:endParaRPr lang="zh-CN" altLang="en-US" sz="2800" b="1">
              <a:solidFill>
                <a:srgbClr val="000099"/>
              </a:solidFill>
              <a:latin typeface="Arial" panose="020B0604020202020204" pitchFamily="34" charset="0"/>
              <a:ea typeface="黑体" panose="02010609060101010101" pitchFamily="2" charset="-122"/>
            </a:endParaRPr>
          </a:p>
          <a:p>
            <a:pPr algn="just" eaLnBrk="1" hangingPunct="1"/>
            <a:r>
              <a:rPr lang="zh-CN" altLang="en-US" sz="2800" b="1">
                <a:solidFill>
                  <a:srgbClr val="000099"/>
                </a:solidFill>
                <a:latin typeface="Arial" panose="020B0604020202020204" pitchFamily="34" charset="0"/>
                <a:ea typeface="黑体" panose="02010609060101010101" pitchFamily="2" charset="-122"/>
              </a:rPr>
              <a:t>        器发送 </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请求报文。</a:t>
            </a:r>
            <a:endParaRPr lang="zh-CN" altLang="en-US" sz="2800"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smtClean="0">
                <a:solidFill>
                  <a:srgbClr val="000099"/>
                </a:solidFill>
              </a:rPr>
              <a:t>课件制作人：谢希仁</a:t>
            </a:r>
            <a:endParaRPr lang="zh-CN" altLang="en-US" sz="1400" b="1" smtClean="0">
              <a:solidFill>
                <a:srgbClr val="000099"/>
              </a:solidFill>
            </a:endParaRPr>
          </a:p>
        </p:txBody>
      </p:sp>
      <p:sp>
        <p:nvSpPr>
          <p:cNvPr id="313347" name="Rectangle 2"/>
          <p:cNvSpPr>
            <a:spLocks noGrp="1" noChangeArrowheads="1"/>
          </p:cNvSpPr>
          <p:nvPr>
            <p:ph type="title" idx="4294967295"/>
          </p:nvPr>
        </p:nvSpPr>
        <p:spPr>
          <a:xfrm>
            <a:off x="507340" y="188913"/>
            <a:ext cx="8442457" cy="539750"/>
          </a:xfrm>
          <a:noFill/>
        </p:spPr>
        <p:txBody>
          <a:bodyPr/>
          <a:lstStyle/>
          <a:p>
            <a:pPr algn="ctr" eaLnBrk="1" hangingPunct="1"/>
            <a:r>
              <a:rPr lang="en-US" altLang="zh-CN" dirty="0" smtClean="0"/>
              <a:t>DHCP </a:t>
            </a:r>
            <a:r>
              <a:rPr dirty="0" smtClean="0"/>
              <a:t>协议的工作过程 </a:t>
            </a:r>
            <a:endParaRPr dirty="0" smtClean="0"/>
          </a:p>
        </p:txBody>
      </p:sp>
      <p:sp>
        <p:nvSpPr>
          <p:cNvPr id="313348"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49"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50"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51"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52"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53"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54"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55"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56"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57"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58"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59"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60"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61"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62"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63"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64"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65"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66"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67"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68"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69"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70"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71"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72"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73"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74"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75"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76"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77"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78"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79"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80"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81"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82"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83"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84"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85"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86"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87"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88"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89"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90"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91"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92"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93"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94"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95"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96"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397"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98"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399"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00"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401"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02"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03"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04"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05"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406"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407"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08"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409"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10"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11"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12"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13"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414"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15"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3416"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3417"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18"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19"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20"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21"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22"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23"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24"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25"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13426"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3427"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13428" name="Text Box 85"/>
          <p:cNvSpPr txBox="1">
            <a:spLocks noChangeArrowheads="1"/>
          </p:cNvSpPr>
          <p:nvPr/>
        </p:nvSpPr>
        <p:spPr bwMode="auto">
          <a:xfrm>
            <a:off x="897731" y="4941888"/>
            <a:ext cx="8346150"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a:solidFill>
                  <a:srgbClr val="000099"/>
                </a:solidFill>
                <a:latin typeface="Arial" panose="020B0604020202020204" pitchFamily="34" charset="0"/>
                <a:ea typeface="黑体" panose="02010609060101010101" pitchFamily="2" charset="-122"/>
              </a:rPr>
              <a:t>：被选择的 </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服务器发送确认报文</a:t>
            </a:r>
            <a:endParaRPr lang="zh-CN" altLang="en-US" sz="2800" b="1">
              <a:solidFill>
                <a:srgbClr val="000099"/>
              </a:solidFill>
              <a:latin typeface="Arial" panose="020B0604020202020204" pitchFamily="34" charset="0"/>
              <a:ea typeface="黑体" panose="02010609060101010101" pitchFamily="2" charset="-122"/>
            </a:endParaRPr>
          </a:p>
          <a:p>
            <a:pPr algn="just" eaLnBrk="1" hangingPunct="1"/>
            <a:r>
              <a:rPr lang="zh-CN" altLang="en-US" sz="2800" b="1">
                <a:solidFill>
                  <a:srgbClr val="000099"/>
                </a:solidFill>
                <a:latin typeface="Arial" panose="020B0604020202020204" pitchFamily="34" charset="0"/>
                <a:ea typeface="黑体" panose="02010609060101010101" pitchFamily="2" charset="-122"/>
              </a:rPr>
              <a:t>       </a:t>
            </a:r>
            <a:r>
              <a:rPr lang="en-US" altLang="zh-CN" sz="2800" b="1">
                <a:solidFill>
                  <a:srgbClr val="000099"/>
                </a:solidFill>
                <a:latin typeface="Arial" panose="020B0604020202020204" pitchFamily="34" charset="0"/>
                <a:ea typeface="黑体" panose="02010609060101010101" pitchFamily="2" charset="-122"/>
              </a:rPr>
              <a:t>DHCPACK</a:t>
            </a:r>
            <a:r>
              <a:rPr lang="zh-CN" altLang="en-US" sz="2800" b="1">
                <a:solidFill>
                  <a:srgbClr val="000099"/>
                </a:solidFill>
                <a:latin typeface="Arial" panose="020B0604020202020204" pitchFamily="34" charset="0"/>
                <a:ea typeface="黑体" panose="02010609060101010101" pitchFamily="2" charset="-122"/>
              </a:rPr>
              <a:t>，进入已绑定状态，并可</a:t>
            </a:r>
            <a:endParaRPr lang="zh-CN" altLang="en-US" sz="2800" b="1">
              <a:solidFill>
                <a:srgbClr val="000099"/>
              </a:solidFill>
              <a:latin typeface="Arial" panose="020B0604020202020204" pitchFamily="34" charset="0"/>
              <a:ea typeface="黑体" panose="02010609060101010101" pitchFamily="2" charset="-122"/>
            </a:endParaRPr>
          </a:p>
          <a:p>
            <a:pPr algn="just" eaLnBrk="1" hangingPunct="1"/>
            <a:r>
              <a:rPr lang="zh-CN" altLang="en-US" sz="2800" b="1">
                <a:solidFill>
                  <a:srgbClr val="000099"/>
                </a:solidFill>
                <a:latin typeface="Arial" panose="020B0604020202020204" pitchFamily="34" charset="0"/>
                <a:ea typeface="黑体" panose="02010609060101010101" pitchFamily="2" charset="-122"/>
              </a:rPr>
              <a:t>       开始使用得到的临时 </a:t>
            </a:r>
            <a:r>
              <a:rPr lang="en-US" altLang="zh-CN" sz="2800" b="1">
                <a:solidFill>
                  <a:srgbClr val="000099"/>
                </a:solidFill>
                <a:latin typeface="Arial" panose="020B0604020202020204" pitchFamily="34" charset="0"/>
                <a:ea typeface="黑体" panose="02010609060101010101" pitchFamily="2" charset="-122"/>
              </a:rPr>
              <a:t>IP </a:t>
            </a:r>
            <a:r>
              <a:rPr lang="zh-CN" altLang="en-US" sz="2800" b="1">
                <a:solidFill>
                  <a:srgbClr val="000099"/>
                </a:solidFill>
                <a:latin typeface="Arial" panose="020B0604020202020204" pitchFamily="34" charset="0"/>
                <a:ea typeface="黑体" panose="02010609060101010101" pitchFamily="2" charset="-122"/>
              </a:rPr>
              <a:t>地址了。</a:t>
            </a:r>
            <a:endParaRPr lang="zh-CN" altLang="en-US" sz="2800"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smtClean="0">
                <a:solidFill>
                  <a:srgbClr val="000099"/>
                </a:solidFill>
              </a:rPr>
              <a:t>课件制作人：谢希仁</a:t>
            </a:r>
            <a:endParaRPr lang="zh-CN" altLang="en-US" sz="1400" b="1" smtClean="0">
              <a:solidFill>
                <a:srgbClr val="000099"/>
              </a:solidFill>
            </a:endParaRPr>
          </a:p>
        </p:txBody>
      </p:sp>
      <p:sp>
        <p:nvSpPr>
          <p:cNvPr id="315395" name="Rectangle 2"/>
          <p:cNvSpPr>
            <a:spLocks noGrp="1" noChangeArrowheads="1"/>
          </p:cNvSpPr>
          <p:nvPr>
            <p:ph type="title" idx="4294967295"/>
          </p:nvPr>
        </p:nvSpPr>
        <p:spPr>
          <a:xfrm>
            <a:off x="584729" y="188913"/>
            <a:ext cx="8442458" cy="539750"/>
          </a:xfrm>
          <a:noFill/>
        </p:spPr>
        <p:txBody>
          <a:bodyPr/>
          <a:lstStyle/>
          <a:p>
            <a:pPr algn="ctr" eaLnBrk="1" hangingPunct="1"/>
            <a:r>
              <a:rPr lang="en-US" altLang="zh-CN" smtClean="0"/>
              <a:t>DHCP </a:t>
            </a:r>
            <a:r>
              <a:rPr smtClean="0"/>
              <a:t>协议的工作过程 </a:t>
            </a:r>
            <a:endParaRPr smtClean="0"/>
          </a:p>
        </p:txBody>
      </p:sp>
      <p:sp>
        <p:nvSpPr>
          <p:cNvPr id="315396"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397"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398"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399"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00"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01"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02"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03"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04"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05"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06"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07"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08"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09"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10"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11"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12"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13"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14"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15"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16"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17"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18"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19"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20"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21"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22"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23"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24"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25"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26"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27"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28"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29"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30"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31"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32"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33"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34"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35"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36"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37"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38"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39"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40"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41"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42"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43"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44"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45"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46"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47"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48"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49"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50"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51"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52"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53"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54"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55"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56"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57"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58"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59"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60"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61"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62"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63"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5464"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5465"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66"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67"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68"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69"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70"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71"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72"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73"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15474"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5475"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15476" name="Text Box 85"/>
          <p:cNvSpPr txBox="1">
            <a:spLocks noChangeArrowheads="1"/>
          </p:cNvSpPr>
          <p:nvPr/>
        </p:nvSpPr>
        <p:spPr bwMode="auto">
          <a:xfrm>
            <a:off x="507339" y="4941888"/>
            <a:ext cx="9126934" cy="1382712"/>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a:solidFill>
                  <a:srgbClr val="000099"/>
                </a:solidFill>
                <a:latin typeface="Arial" panose="020B0604020202020204" pitchFamily="34" charset="0"/>
                <a:ea typeface="黑体" panose="02010609060101010101" pitchFamily="2" charset="-122"/>
              </a:rPr>
              <a:t>DHCP</a:t>
            </a:r>
            <a:r>
              <a:rPr lang="en-US" altLang="zh-CN" sz="2000" b="1">
                <a:solidFill>
                  <a:srgbClr val="000099"/>
                </a:solidFill>
                <a:latin typeface="Arial" panose="020B0604020202020204" pitchFamily="34" charset="0"/>
                <a:ea typeface="黑体" panose="02010609060101010101" pitchFamily="2" charset="-122"/>
              </a:rPr>
              <a:t> </a:t>
            </a:r>
            <a:r>
              <a:rPr lang="zh-CN" altLang="en-US" sz="2800" b="1">
                <a:solidFill>
                  <a:srgbClr val="000099"/>
                </a:solidFill>
                <a:latin typeface="Arial" panose="020B0604020202020204" pitchFamily="34" charset="0"/>
                <a:ea typeface="黑体" panose="02010609060101010101" pitchFamily="2" charset="-122"/>
              </a:rPr>
              <a:t>客户现在要根据服务器提供的租用期</a:t>
            </a:r>
            <a:r>
              <a:rPr lang="zh-CN" altLang="en-US" sz="1600" b="1">
                <a:solidFill>
                  <a:srgbClr val="000099"/>
                </a:solidFill>
                <a:latin typeface="Arial" panose="020B0604020202020204" pitchFamily="34" charset="0"/>
                <a:ea typeface="黑体" panose="02010609060101010101" pitchFamily="2" charset="-122"/>
              </a:rPr>
              <a:t> </a:t>
            </a:r>
            <a:r>
              <a:rPr lang="en-US" altLang="zh-CN" sz="2800" b="1">
                <a:solidFill>
                  <a:srgbClr val="000099"/>
                </a:solidFill>
                <a:latin typeface="Arial" panose="020B0604020202020204" pitchFamily="34" charset="0"/>
                <a:ea typeface="黑体" panose="02010609060101010101" pitchFamily="2" charset="-122"/>
              </a:rPr>
              <a:t>T</a:t>
            </a:r>
            <a:r>
              <a:rPr lang="en-US" altLang="zh-CN" sz="1600" b="1">
                <a:solidFill>
                  <a:srgbClr val="000099"/>
                </a:solidFill>
                <a:latin typeface="Arial" panose="020B0604020202020204" pitchFamily="34" charset="0"/>
                <a:ea typeface="黑体" panose="02010609060101010101" pitchFamily="2" charset="-122"/>
              </a:rPr>
              <a:t> </a:t>
            </a:r>
            <a:r>
              <a:rPr lang="zh-CN" altLang="en-US" sz="2800" b="1">
                <a:solidFill>
                  <a:srgbClr val="000099"/>
                </a:solidFill>
                <a:latin typeface="Arial" panose="020B0604020202020204" pitchFamily="34" charset="0"/>
                <a:ea typeface="黑体" panose="02010609060101010101" pitchFamily="2" charset="-122"/>
              </a:rPr>
              <a:t>设置两个计时器</a:t>
            </a:r>
            <a:r>
              <a:rPr lang="zh-CN" altLang="en-US" sz="1600" b="1">
                <a:solidFill>
                  <a:srgbClr val="000099"/>
                </a:solidFill>
                <a:latin typeface="Arial" panose="020B0604020202020204" pitchFamily="34" charset="0"/>
                <a:ea typeface="黑体" panose="02010609060101010101" pitchFamily="2" charset="-122"/>
              </a:rPr>
              <a:t> </a:t>
            </a:r>
            <a:r>
              <a:rPr lang="en-US" altLang="zh-CN" sz="2800" b="1">
                <a:solidFill>
                  <a:srgbClr val="000099"/>
                </a:solidFill>
                <a:latin typeface="Arial" panose="020B0604020202020204" pitchFamily="34" charset="0"/>
                <a:ea typeface="黑体" panose="02010609060101010101" pitchFamily="2" charset="-122"/>
              </a:rPr>
              <a:t>T</a:t>
            </a:r>
            <a:r>
              <a:rPr lang="en-US" altLang="zh-CN" sz="2800" b="1" baseline="-25000">
                <a:solidFill>
                  <a:srgbClr val="000099"/>
                </a:solidFill>
                <a:latin typeface="Arial" panose="020B0604020202020204" pitchFamily="34" charset="0"/>
                <a:ea typeface="黑体" panose="02010609060101010101" pitchFamily="2" charset="-122"/>
              </a:rPr>
              <a:t>1</a:t>
            </a:r>
            <a:r>
              <a:rPr lang="en-US" altLang="zh-CN" sz="1600" b="1">
                <a:solidFill>
                  <a:srgbClr val="000099"/>
                </a:solidFill>
                <a:latin typeface="Arial" panose="020B0604020202020204" pitchFamily="34" charset="0"/>
                <a:ea typeface="黑体" panose="02010609060101010101" pitchFamily="2" charset="-122"/>
              </a:rPr>
              <a:t> </a:t>
            </a:r>
            <a:r>
              <a:rPr lang="zh-CN" altLang="en-US" sz="2800" b="1">
                <a:solidFill>
                  <a:srgbClr val="000099"/>
                </a:solidFill>
                <a:latin typeface="Arial" panose="020B0604020202020204" pitchFamily="34" charset="0"/>
                <a:ea typeface="黑体" panose="02010609060101010101" pitchFamily="2" charset="-122"/>
              </a:rPr>
              <a:t>和</a:t>
            </a:r>
            <a:r>
              <a:rPr lang="zh-CN" altLang="en-US" sz="700" b="1">
                <a:solidFill>
                  <a:srgbClr val="000099"/>
                </a:solidFill>
                <a:latin typeface="Arial" panose="020B0604020202020204" pitchFamily="34" charset="0"/>
                <a:ea typeface="黑体" panose="02010609060101010101" pitchFamily="2" charset="-122"/>
              </a:rPr>
              <a:t> </a:t>
            </a:r>
            <a:r>
              <a:rPr lang="en-US" altLang="zh-CN" sz="2800" b="1">
                <a:solidFill>
                  <a:srgbClr val="000099"/>
                </a:solidFill>
                <a:latin typeface="Arial" panose="020B0604020202020204" pitchFamily="34" charset="0"/>
                <a:ea typeface="黑体" panose="02010609060101010101" pitchFamily="2" charset="-122"/>
              </a:rPr>
              <a:t>T</a:t>
            </a:r>
            <a:r>
              <a:rPr lang="en-US" altLang="zh-CN" sz="2800" b="1" baseline="-25000">
                <a:solidFill>
                  <a:srgbClr val="000099"/>
                </a:solidFill>
                <a:latin typeface="Arial" panose="020B0604020202020204" pitchFamily="34" charset="0"/>
                <a:ea typeface="黑体" panose="02010609060101010101" pitchFamily="2" charset="-122"/>
              </a:rPr>
              <a:t>2</a:t>
            </a:r>
            <a:r>
              <a:rPr lang="zh-CN" altLang="en-US" sz="2800" b="1">
                <a:solidFill>
                  <a:srgbClr val="000099"/>
                </a:solidFill>
                <a:latin typeface="Arial" panose="020B0604020202020204" pitchFamily="34" charset="0"/>
                <a:ea typeface="黑体" panose="02010609060101010101" pitchFamily="2" charset="-122"/>
              </a:rPr>
              <a:t>，它们的超时时间分别是</a:t>
            </a:r>
            <a:r>
              <a:rPr lang="zh-CN" altLang="en-US" sz="1400" b="1">
                <a:solidFill>
                  <a:srgbClr val="000099"/>
                </a:solidFill>
                <a:latin typeface="Arial" panose="020B0604020202020204" pitchFamily="34" charset="0"/>
                <a:ea typeface="黑体" panose="02010609060101010101" pitchFamily="2" charset="-122"/>
              </a:rPr>
              <a:t> </a:t>
            </a:r>
            <a:r>
              <a:rPr lang="en-US" altLang="zh-CN" sz="2800" b="1">
                <a:solidFill>
                  <a:srgbClr val="000099"/>
                </a:solidFill>
                <a:latin typeface="Arial" panose="020B0604020202020204" pitchFamily="34" charset="0"/>
                <a:ea typeface="黑体" panose="02010609060101010101" pitchFamily="2" charset="-122"/>
              </a:rPr>
              <a:t>0.5T </a:t>
            </a:r>
            <a:r>
              <a:rPr lang="zh-CN" altLang="en-US" sz="2800" b="1">
                <a:solidFill>
                  <a:srgbClr val="000099"/>
                </a:solidFill>
                <a:latin typeface="Arial" panose="020B0604020202020204" pitchFamily="34" charset="0"/>
                <a:ea typeface="黑体" panose="02010609060101010101" pitchFamily="2" charset="-122"/>
              </a:rPr>
              <a:t>和 </a:t>
            </a:r>
            <a:r>
              <a:rPr lang="en-US" altLang="zh-CN" sz="2800" b="1">
                <a:solidFill>
                  <a:srgbClr val="000099"/>
                </a:solidFill>
                <a:latin typeface="Arial" panose="020B0604020202020204" pitchFamily="34" charset="0"/>
                <a:ea typeface="黑体" panose="02010609060101010101" pitchFamily="2" charset="-122"/>
              </a:rPr>
              <a:t>0.875T</a:t>
            </a:r>
            <a:r>
              <a:rPr lang="zh-CN" altLang="en-US" sz="2800" b="1">
                <a:solidFill>
                  <a:srgbClr val="000099"/>
                </a:solidFill>
                <a:latin typeface="Arial" panose="020B0604020202020204" pitchFamily="34" charset="0"/>
                <a:ea typeface="黑体" panose="02010609060101010101" pitchFamily="2" charset="-122"/>
              </a:rPr>
              <a:t>。当超时时间到就要请求更新租用期。</a:t>
            </a:r>
            <a:endParaRPr lang="zh-CN" altLang="en-US" sz="2800"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smtClean="0">
                <a:solidFill>
                  <a:srgbClr val="000099"/>
                </a:solidFill>
              </a:rPr>
              <a:t>课件制作人：谢希仁</a:t>
            </a:r>
            <a:endParaRPr lang="zh-CN" altLang="en-US" sz="1400" b="1" smtClean="0">
              <a:solidFill>
                <a:srgbClr val="000099"/>
              </a:solidFill>
            </a:endParaRPr>
          </a:p>
        </p:txBody>
      </p:sp>
      <p:sp>
        <p:nvSpPr>
          <p:cNvPr id="317443" name="Rectangle 2"/>
          <p:cNvSpPr>
            <a:spLocks noGrp="1" noChangeArrowheads="1"/>
          </p:cNvSpPr>
          <p:nvPr>
            <p:ph type="title" idx="4294967295"/>
          </p:nvPr>
        </p:nvSpPr>
        <p:spPr>
          <a:xfrm>
            <a:off x="488421" y="188913"/>
            <a:ext cx="8442458" cy="539750"/>
          </a:xfrm>
          <a:noFill/>
        </p:spPr>
        <p:txBody>
          <a:bodyPr/>
          <a:lstStyle/>
          <a:p>
            <a:pPr algn="ctr" eaLnBrk="1" hangingPunct="1"/>
            <a:r>
              <a:rPr lang="en-US" altLang="zh-CN" smtClean="0"/>
              <a:t>DHCP </a:t>
            </a:r>
            <a:r>
              <a:rPr smtClean="0"/>
              <a:t>协议的工作过程 </a:t>
            </a:r>
            <a:endParaRPr smtClean="0"/>
          </a:p>
        </p:txBody>
      </p:sp>
      <p:sp>
        <p:nvSpPr>
          <p:cNvPr id="317444"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45"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46"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47"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48"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49"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50"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51"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52"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53"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54"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55"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56"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57"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58"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59"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60"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61"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62"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63"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64"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65"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66"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67"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68"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69"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70"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71"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72"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73"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74"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75"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76"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77"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78"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79"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80"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81"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82"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83"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84"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85"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86"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87"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88"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89"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90"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91"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92"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93"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94"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95"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96"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497"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98"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499"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00"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01"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502"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503"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04"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505"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06"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07"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08"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09"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510"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11"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17512"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17513"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14"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15"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16"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17"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18"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19"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20"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21"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17522"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17523"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17524" name="Text Box 85"/>
          <p:cNvSpPr txBox="1">
            <a:spLocks noChangeArrowheads="1"/>
          </p:cNvSpPr>
          <p:nvPr/>
        </p:nvSpPr>
        <p:spPr bwMode="auto">
          <a:xfrm>
            <a:off x="507339" y="4941888"/>
            <a:ext cx="9126934" cy="1077912"/>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a:solidFill>
                  <a:srgbClr val="000099"/>
                </a:solidFill>
                <a:latin typeface="Arial" panose="020B0604020202020204" pitchFamily="34" charset="0"/>
                <a:ea typeface="黑体" panose="02010609060101010101" pitchFamily="2" charset="-122"/>
              </a:rPr>
              <a:t>：租用期过了一半（</a:t>
            </a:r>
            <a:r>
              <a:rPr lang="en-US" altLang="zh-CN" sz="2800" b="1">
                <a:solidFill>
                  <a:srgbClr val="000099"/>
                </a:solidFill>
                <a:latin typeface="Arial" panose="020B0604020202020204" pitchFamily="34" charset="0"/>
                <a:ea typeface="黑体" panose="02010609060101010101" pitchFamily="2" charset="-122"/>
              </a:rPr>
              <a:t>T1 </a:t>
            </a:r>
            <a:r>
              <a:rPr lang="zh-CN" altLang="en-US" sz="2800" b="1">
                <a:solidFill>
                  <a:srgbClr val="000099"/>
                </a:solidFill>
                <a:latin typeface="Arial" panose="020B0604020202020204" pitchFamily="34" charset="0"/>
                <a:ea typeface="黑体" panose="02010609060101010101" pitchFamily="2" charset="-122"/>
              </a:rPr>
              <a:t>时间到），</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发送</a:t>
            </a:r>
            <a:endParaRPr lang="zh-CN" altLang="en-US" sz="2800" b="1">
              <a:solidFill>
                <a:srgbClr val="000099"/>
              </a:solidFill>
              <a:latin typeface="Arial" panose="020B0604020202020204" pitchFamily="34" charset="0"/>
              <a:ea typeface="黑体" panose="02010609060101010101" pitchFamily="2" charset="-122"/>
            </a:endParaRPr>
          </a:p>
          <a:p>
            <a:pPr algn="just" eaLnBrk="1" hangingPunct="1"/>
            <a:r>
              <a:rPr lang="zh-CN" altLang="en-US" sz="2800" b="1">
                <a:solidFill>
                  <a:srgbClr val="000099"/>
                </a:solidFill>
                <a:latin typeface="Arial" panose="020B0604020202020204" pitchFamily="34" charset="0"/>
                <a:ea typeface="黑体" panose="02010609060101010101" pitchFamily="2" charset="-122"/>
              </a:rPr>
              <a:t>       请求报文 </a:t>
            </a:r>
            <a:r>
              <a:rPr lang="en-US" altLang="zh-CN" sz="2800" b="1">
                <a:solidFill>
                  <a:srgbClr val="000099"/>
                </a:solidFill>
                <a:latin typeface="Arial" panose="020B0604020202020204" pitchFamily="34" charset="0"/>
                <a:ea typeface="黑体" panose="02010609060101010101" pitchFamily="2" charset="-122"/>
              </a:rPr>
              <a:t>DHCPREQUEST </a:t>
            </a:r>
            <a:r>
              <a:rPr lang="zh-CN" altLang="en-US" sz="2800" b="1">
                <a:solidFill>
                  <a:srgbClr val="000099"/>
                </a:solidFill>
                <a:latin typeface="Arial" panose="020B0604020202020204" pitchFamily="34" charset="0"/>
                <a:ea typeface="黑体" panose="02010609060101010101" pitchFamily="2" charset="-122"/>
              </a:rPr>
              <a:t>要求更新租用期。 </a:t>
            </a:r>
            <a:endParaRPr lang="zh-CN" altLang="en-US" sz="2800" b="1">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idx="4294967295"/>
          </p:nvPr>
        </p:nvSpPr>
        <p:spPr>
          <a:xfrm>
            <a:off x="662121" y="188913"/>
            <a:ext cx="8442457" cy="539750"/>
          </a:xfrm>
          <a:noFill/>
        </p:spPr>
        <p:txBody>
          <a:bodyPr/>
          <a:lstStyle/>
          <a:p>
            <a:pPr algn="ctr" eaLnBrk="1" hangingPunct="1"/>
            <a:r>
              <a:rPr lang="en-US" altLang="zh-CN" smtClean="0"/>
              <a:t>DHCP </a:t>
            </a:r>
            <a:r>
              <a:rPr smtClean="0"/>
              <a:t>协议的工作过程 </a:t>
            </a:r>
            <a:endParaRPr smtClean="0"/>
          </a:p>
        </p:txBody>
      </p:sp>
      <p:sp>
        <p:nvSpPr>
          <p:cNvPr id="319491"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492"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493"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494"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DHCPDISCOVER</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495"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496"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497"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498"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499"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00"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01"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02"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DHCPOFFER</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03"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04"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05"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06"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07"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08"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09"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10"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DHCPREQUEST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11"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12"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13"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14"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15"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16"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17"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18"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DHCPACK</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19"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20"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21"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22"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23"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24"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25"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26"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DHCPREQUEST</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27"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28"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29"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30"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31"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32"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33"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34"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DHCPACK</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35"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36"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37"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38"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39"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40"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41"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42"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DHCPNACK</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43"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44"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45"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46"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47"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48"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49"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50"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DHCPRELEASE</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51"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52"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53"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54"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55"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56"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endParaRPr kumimoji="1" lang="zh-CN" altLang="en-US" sz="2000" b="1">
              <a:solidFill>
                <a:srgbClr val="333399"/>
              </a:solidFill>
              <a:latin typeface="Arial" panose="020B0604020202020204" pitchFamily="34" charset="0"/>
              <a:ea typeface="黑体" panose="02010609060101010101" pitchFamily="2" charset="-122"/>
            </a:endParaRPr>
          </a:p>
        </p:txBody>
      </p:sp>
      <p:sp>
        <p:nvSpPr>
          <p:cNvPr id="319557"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58"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endParaRPr kumimoji="1" lang="en-US" altLang="zh-CN" sz="2000" b="1">
              <a:solidFill>
                <a:srgbClr val="333399"/>
              </a:solidFill>
              <a:latin typeface="Arial" panose="020B0604020202020204" pitchFamily="34" charset="0"/>
              <a:ea typeface="黑体" panose="02010609060101010101" pitchFamily="2" charset="-122"/>
            </a:endParaRPr>
          </a:p>
        </p:txBody>
      </p:sp>
      <p:sp>
        <p:nvSpPr>
          <p:cNvPr id="319559"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Arial" panose="020B0604020202020204" pitchFamily="34" charset="0"/>
                <a:ea typeface="黑体" panose="02010609060101010101" pitchFamily="2" charset="-122"/>
              </a:rPr>
              <a:t>被动打开</a:t>
            </a:r>
            <a:endParaRPr kumimoji="1" lang="zh-CN" altLang="en-US" sz="2000">
              <a:solidFill>
                <a:srgbClr val="333399"/>
              </a:solidFill>
              <a:latin typeface="Arial" panose="020B0604020202020204" pitchFamily="34" charset="0"/>
              <a:ea typeface="黑体" panose="02010609060101010101" pitchFamily="2" charset="-122"/>
            </a:endParaRPr>
          </a:p>
        </p:txBody>
      </p:sp>
      <p:sp>
        <p:nvSpPr>
          <p:cNvPr id="319560"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1"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2"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3"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4"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5"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6"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7"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68"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333399"/>
                </a:solidFill>
                <a:latin typeface="Arial" panose="020B0604020202020204" pitchFamily="34" charset="0"/>
                <a:ea typeface="黑体" panose="02010609060101010101" pitchFamily="2" charset="-122"/>
              </a:rPr>
              <a:t>…</a:t>
            </a:r>
            <a:endParaRPr kumimoji="1" lang="en-US" altLang="zh-CN" b="1">
              <a:solidFill>
                <a:srgbClr val="333399"/>
              </a:solidFill>
              <a:latin typeface="Arial" panose="020B0604020202020204" pitchFamily="34" charset="0"/>
              <a:ea typeface="黑体" panose="02010609060101010101" pitchFamily="2" charset="-122"/>
            </a:endParaRPr>
          </a:p>
        </p:txBody>
      </p:sp>
      <p:sp>
        <p:nvSpPr>
          <p:cNvPr id="319569"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endParaRPr>
          </a:p>
        </p:txBody>
      </p:sp>
      <p:sp>
        <p:nvSpPr>
          <p:cNvPr id="319570" name="Rectangle 83"/>
          <p:cNvSpPr>
            <a:spLocks noChangeArrowheads="1"/>
          </p:cNvSpPr>
          <p:nvPr/>
        </p:nvSpPr>
        <p:spPr bwMode="auto">
          <a:xfrm>
            <a:off x="0" y="765175"/>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a:p>
        </p:txBody>
      </p:sp>
      <p:sp>
        <p:nvSpPr>
          <p:cNvPr id="319571" name="Text Box 85"/>
          <p:cNvSpPr txBox="1">
            <a:spLocks noChangeArrowheads="1"/>
          </p:cNvSpPr>
          <p:nvPr/>
        </p:nvSpPr>
        <p:spPr bwMode="auto">
          <a:xfrm>
            <a:off x="428229" y="1128713"/>
            <a:ext cx="9126934"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3333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333399"/>
                </a:solidFill>
                <a:latin typeface="Arial" panose="020B0604020202020204" pitchFamily="34" charset="0"/>
                <a:ea typeface="黑体" panose="02010609060101010101" pitchFamily="2" charset="-122"/>
              </a:rPr>
              <a:t>：</a:t>
            </a:r>
            <a:r>
              <a:rPr lang="en-US" altLang="zh-CN" sz="2800" b="1" dirty="0">
                <a:solidFill>
                  <a:srgbClr val="333399"/>
                </a:solidFill>
                <a:latin typeface="Arial" panose="020B0604020202020204" pitchFamily="34" charset="0"/>
                <a:ea typeface="黑体" panose="02010609060101010101" pitchFamily="2" charset="-122"/>
              </a:rPr>
              <a:t>DHCP </a:t>
            </a:r>
            <a:r>
              <a:rPr lang="zh-CN" altLang="en-US" sz="2800" b="1" dirty="0">
                <a:solidFill>
                  <a:srgbClr val="333399"/>
                </a:solidFill>
                <a:latin typeface="Arial" panose="020B0604020202020204" pitchFamily="34" charset="0"/>
                <a:ea typeface="黑体" panose="02010609060101010101" pitchFamily="2" charset="-122"/>
              </a:rPr>
              <a:t>服务器若同意，则发回确认报文</a:t>
            </a:r>
            <a:endParaRPr lang="zh-CN" altLang="en-US" sz="2800" b="1" dirty="0">
              <a:solidFill>
                <a:srgbClr val="333399"/>
              </a:solidFill>
              <a:latin typeface="Arial" panose="020B0604020202020204" pitchFamily="34" charset="0"/>
              <a:ea typeface="黑体" panose="02010609060101010101" pitchFamily="2" charset="-122"/>
            </a:endParaRPr>
          </a:p>
          <a:p>
            <a:pPr algn="just" eaLnBrk="1" hangingPunct="1"/>
            <a:r>
              <a:rPr lang="zh-CN" altLang="en-US" sz="2800" b="1" dirty="0">
                <a:solidFill>
                  <a:srgbClr val="333399"/>
                </a:solidFill>
                <a:latin typeface="Arial" panose="020B0604020202020204" pitchFamily="34" charset="0"/>
                <a:ea typeface="黑体" panose="02010609060101010101" pitchFamily="2" charset="-122"/>
              </a:rPr>
              <a:t>        </a:t>
            </a:r>
            <a:r>
              <a:rPr lang="en-US" altLang="zh-CN" sz="2800" b="1" dirty="0">
                <a:solidFill>
                  <a:srgbClr val="333399"/>
                </a:solidFill>
                <a:latin typeface="Arial" panose="020B0604020202020204" pitchFamily="34" charset="0"/>
                <a:ea typeface="黑体" panose="02010609060101010101" pitchFamily="2" charset="-122"/>
              </a:rPr>
              <a:t>DHCPACK</a:t>
            </a:r>
            <a:r>
              <a:rPr lang="zh-CN" altLang="en-US" sz="2800" b="1" dirty="0">
                <a:solidFill>
                  <a:srgbClr val="333399"/>
                </a:solidFill>
                <a:latin typeface="Arial" panose="020B0604020202020204" pitchFamily="34" charset="0"/>
                <a:ea typeface="黑体" panose="02010609060101010101" pitchFamily="2" charset="-122"/>
              </a:rPr>
              <a:t>。</a:t>
            </a:r>
            <a:r>
              <a:rPr lang="en-US" altLang="zh-CN" sz="2800" b="1" dirty="0">
                <a:solidFill>
                  <a:srgbClr val="333399"/>
                </a:solidFill>
                <a:latin typeface="Arial" panose="020B0604020202020204" pitchFamily="34" charset="0"/>
                <a:ea typeface="黑体" panose="02010609060101010101" pitchFamily="2" charset="-122"/>
              </a:rPr>
              <a:t>DHCP </a:t>
            </a:r>
            <a:r>
              <a:rPr lang="zh-CN" altLang="en-US" sz="2800" b="1" dirty="0">
                <a:solidFill>
                  <a:srgbClr val="333399"/>
                </a:solidFill>
                <a:latin typeface="Arial" panose="020B0604020202020204" pitchFamily="34" charset="0"/>
                <a:ea typeface="黑体" panose="02010609060101010101" pitchFamily="2" charset="-122"/>
              </a:rPr>
              <a:t>客户得到了新的租</a:t>
            </a:r>
            <a:endParaRPr lang="zh-CN" altLang="en-US" sz="2800" b="1" dirty="0">
              <a:solidFill>
                <a:srgbClr val="333399"/>
              </a:solidFill>
              <a:latin typeface="Arial" panose="020B0604020202020204" pitchFamily="34" charset="0"/>
              <a:ea typeface="黑体" panose="02010609060101010101" pitchFamily="2" charset="-122"/>
            </a:endParaRPr>
          </a:p>
          <a:p>
            <a:pPr algn="just" eaLnBrk="1" hangingPunct="1"/>
            <a:r>
              <a:rPr lang="zh-CN" altLang="en-US" sz="2800" b="1" dirty="0">
                <a:solidFill>
                  <a:srgbClr val="333399"/>
                </a:solidFill>
                <a:latin typeface="Arial" panose="020B0604020202020204" pitchFamily="34" charset="0"/>
                <a:ea typeface="黑体" panose="02010609060101010101" pitchFamily="2" charset="-122"/>
              </a:rPr>
              <a:t>        用期，重新设置计时器。</a:t>
            </a:r>
            <a:endParaRPr lang="zh-CN" altLang="en-US" sz="2800" b="1" dirty="0">
              <a:solidFill>
                <a:srgbClr val="3333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title" idx="4294967295"/>
          </p:nvPr>
        </p:nvSpPr>
        <p:spPr>
          <a:xfrm>
            <a:off x="584729" y="115888"/>
            <a:ext cx="8442458" cy="539750"/>
          </a:xfrm>
          <a:noFill/>
        </p:spPr>
        <p:txBody>
          <a:bodyPr/>
          <a:lstStyle/>
          <a:p>
            <a:pPr algn="ctr" eaLnBrk="1" hangingPunct="1"/>
            <a:r>
              <a:rPr lang="en-US" altLang="zh-CN" smtClean="0"/>
              <a:t>DHCP </a:t>
            </a:r>
            <a:r>
              <a:rPr smtClean="0"/>
              <a:t>协议的工作过程 </a:t>
            </a:r>
            <a:endParaRPr smtClean="0"/>
          </a:p>
        </p:txBody>
      </p:sp>
      <p:sp>
        <p:nvSpPr>
          <p:cNvPr id="321539"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40"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41"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42"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43"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44"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45"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46"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47"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48"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49"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50"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51"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52"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53"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54"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55"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56"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57"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58"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59"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60"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61"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62"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63"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64"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65"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66"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67"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68"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69"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70"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71"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72"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73"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74"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75"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76"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77"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78"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79"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80"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81"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82"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83"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84"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85"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86"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87"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88"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89"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90"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91"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92"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93"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94"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95"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96"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97"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598"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599"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600"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601"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602"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603"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604"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605"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606"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1607"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1608"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09"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0"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1"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2"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3"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4"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5"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6"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21617"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1618" name="Rectangle 82"/>
          <p:cNvSpPr>
            <a:spLocks noChangeArrowheads="1"/>
          </p:cNvSpPr>
          <p:nvPr/>
        </p:nvSpPr>
        <p:spPr bwMode="auto">
          <a:xfrm>
            <a:off x="0" y="765176"/>
            <a:ext cx="9906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21619" name="Text Box 84"/>
          <p:cNvSpPr txBox="1">
            <a:spLocks noChangeArrowheads="1"/>
          </p:cNvSpPr>
          <p:nvPr/>
        </p:nvSpPr>
        <p:spPr bwMode="auto">
          <a:xfrm>
            <a:off x="428229" y="908050"/>
            <a:ext cx="9126934" cy="1931988"/>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服务器若不同意，则发回否认报文</a:t>
            </a:r>
            <a:endParaRPr lang="zh-CN" altLang="en-US" sz="2800" b="1" dirty="0">
              <a:solidFill>
                <a:srgbClr val="000099"/>
              </a:solidFill>
              <a:latin typeface="Arial" panose="020B0604020202020204" pitchFamily="34" charset="0"/>
              <a:ea typeface="黑体" panose="02010609060101010101" pitchFamily="2" charset="-122"/>
            </a:endParaRP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a:t>
            </a:r>
            <a:r>
              <a:rPr lang="en-US" altLang="zh-CN" sz="2800" b="1" dirty="0">
                <a:solidFill>
                  <a:srgbClr val="000099"/>
                </a:solidFill>
                <a:latin typeface="Arial" panose="020B0604020202020204" pitchFamily="34" charset="0"/>
                <a:ea typeface="黑体" panose="02010609060101010101" pitchFamily="2" charset="-122"/>
              </a:rPr>
              <a:t>DHCPNACK</a:t>
            </a:r>
            <a:r>
              <a:rPr lang="zh-CN" altLang="en-US" sz="2800" b="1" dirty="0">
                <a:solidFill>
                  <a:srgbClr val="000099"/>
                </a:solidFill>
                <a:latin typeface="Arial" panose="020B0604020202020204" pitchFamily="34" charset="0"/>
                <a:ea typeface="黑体" panose="02010609060101010101" pitchFamily="2" charset="-122"/>
              </a:rPr>
              <a:t>。这时 </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客户必须立即</a:t>
            </a:r>
            <a:endParaRPr lang="zh-CN" altLang="en-US" sz="2800" b="1" dirty="0">
              <a:solidFill>
                <a:srgbClr val="000099"/>
              </a:solidFill>
              <a:latin typeface="Arial" panose="020B0604020202020204" pitchFamily="34" charset="0"/>
              <a:ea typeface="黑体" panose="02010609060101010101" pitchFamily="2" charset="-122"/>
            </a:endParaRP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停止使用原来的 </a:t>
            </a:r>
            <a:r>
              <a:rPr lang="en-US" altLang="zh-CN" sz="2800" b="1" dirty="0">
                <a:solidFill>
                  <a:srgbClr val="000099"/>
                </a:solidFill>
                <a:latin typeface="Arial" panose="020B0604020202020204" pitchFamily="34" charset="0"/>
                <a:ea typeface="黑体" panose="02010609060101010101" pitchFamily="2" charset="-122"/>
              </a:rPr>
              <a:t>IP </a:t>
            </a:r>
            <a:r>
              <a:rPr lang="zh-CN" altLang="en-US" sz="2800" b="1" dirty="0">
                <a:solidFill>
                  <a:srgbClr val="000099"/>
                </a:solidFill>
                <a:latin typeface="Arial" panose="020B0604020202020204" pitchFamily="34" charset="0"/>
                <a:ea typeface="黑体" panose="02010609060101010101" pitchFamily="2" charset="-122"/>
              </a:rPr>
              <a:t>地址，而必须重新申</a:t>
            </a:r>
            <a:endParaRPr lang="zh-CN" altLang="en-US" sz="2800" b="1" dirty="0">
              <a:solidFill>
                <a:srgbClr val="000099"/>
              </a:solidFill>
              <a:latin typeface="Arial" panose="020B0604020202020204" pitchFamily="34" charset="0"/>
              <a:ea typeface="黑体" panose="02010609060101010101" pitchFamily="2" charset="-122"/>
            </a:endParaRP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请 </a:t>
            </a:r>
            <a:r>
              <a:rPr lang="en-US" altLang="zh-CN" sz="2800" b="1" dirty="0">
                <a:solidFill>
                  <a:srgbClr val="000099"/>
                </a:solidFill>
                <a:latin typeface="Arial" panose="020B0604020202020204" pitchFamily="34" charset="0"/>
                <a:ea typeface="黑体" panose="02010609060101010101" pitchFamily="2" charset="-122"/>
              </a:rPr>
              <a:t>IP </a:t>
            </a:r>
            <a:r>
              <a:rPr lang="zh-CN" altLang="en-US" sz="2800" b="1" dirty="0">
                <a:solidFill>
                  <a:srgbClr val="000099"/>
                </a:solidFill>
                <a:latin typeface="Arial" panose="020B0604020202020204" pitchFamily="34" charset="0"/>
                <a:ea typeface="黑体" panose="02010609060101010101" pitchFamily="2" charset="-122"/>
              </a:rPr>
              <a:t>地址（回到</a:t>
            </a:r>
            <a:r>
              <a:rPr lang="zh-CN" altLang="en-US" sz="2800" b="1" dirty="0" smtClean="0">
                <a:solidFill>
                  <a:srgbClr val="000099"/>
                </a:solidFill>
                <a:latin typeface="Arial" panose="020B0604020202020204" pitchFamily="34" charset="0"/>
                <a:ea typeface="黑体" panose="02010609060101010101" pitchFamily="2" charset="-122"/>
              </a:rPr>
              <a:t>步骤 </a:t>
            </a:r>
            <a:r>
              <a:rPr lang="zh-CN" altLang="en-US" sz="2800" b="1" dirty="0" smtClean="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a:t>
            </a:r>
            <a:endParaRPr lang="zh-CN" altLang="en-US" sz="2800" b="1" dirty="0">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idx="4294967295"/>
          </p:nvPr>
        </p:nvSpPr>
        <p:spPr>
          <a:xfrm>
            <a:off x="975123" y="80963"/>
            <a:ext cx="8442457" cy="539750"/>
          </a:xfrm>
          <a:noFill/>
        </p:spPr>
        <p:txBody>
          <a:bodyPr/>
          <a:lstStyle/>
          <a:p>
            <a:pPr algn="ctr" eaLnBrk="1" hangingPunct="1"/>
            <a:r>
              <a:rPr lang="en-US" altLang="zh-CN" smtClean="0"/>
              <a:t>DHCP </a:t>
            </a:r>
            <a:r>
              <a:rPr smtClean="0"/>
              <a:t>协议的工作过程 </a:t>
            </a:r>
            <a:endParaRPr smtClean="0"/>
          </a:p>
        </p:txBody>
      </p:sp>
      <p:sp>
        <p:nvSpPr>
          <p:cNvPr id="323587"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588"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589"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590"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591"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592"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593"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594"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595"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596"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597"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598"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599"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00"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01"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02"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03"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04"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05"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06"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07"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08"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09"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10"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11"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12"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13"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14"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15"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16"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17"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18"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19"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20"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21"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22"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23"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24"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25"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26"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27"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28"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29"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30"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31"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32"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33"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34"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35"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36"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37"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38"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39"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40"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41"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42"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43"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44"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45"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46"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47"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48"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49"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50"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51"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52"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53"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54"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3655"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3656"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57"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58"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59"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60"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61"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62"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63"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64"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23665"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3666" name="Rectangle 82"/>
          <p:cNvSpPr>
            <a:spLocks noChangeArrowheads="1"/>
          </p:cNvSpPr>
          <p:nvPr/>
        </p:nvSpPr>
        <p:spPr bwMode="auto">
          <a:xfrm>
            <a:off x="0" y="765176"/>
            <a:ext cx="9906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23667" name="Text Box 84"/>
          <p:cNvSpPr txBox="1">
            <a:spLocks noChangeArrowheads="1"/>
          </p:cNvSpPr>
          <p:nvPr/>
        </p:nvSpPr>
        <p:spPr bwMode="auto">
          <a:xfrm>
            <a:off x="271728" y="1125538"/>
            <a:ext cx="9283435" cy="18097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若</a:t>
            </a:r>
            <a:r>
              <a:rPr lang="en-US" altLang="zh-CN" sz="2800" b="1" dirty="0">
                <a:solidFill>
                  <a:srgbClr val="000099"/>
                </a:solidFill>
                <a:latin typeface="Arial" panose="020B0604020202020204" pitchFamily="34" charset="0"/>
                <a:ea typeface="黑体" panose="02010609060101010101" pitchFamily="2" charset="-122"/>
              </a:rPr>
              <a:t>DHCP</a:t>
            </a:r>
            <a:r>
              <a:rPr lang="zh-CN" altLang="en-US" sz="2800" b="1" dirty="0">
                <a:solidFill>
                  <a:srgbClr val="000099"/>
                </a:solidFill>
                <a:latin typeface="Arial" panose="020B0604020202020204" pitchFamily="34" charset="0"/>
                <a:ea typeface="黑体" panose="02010609060101010101" pitchFamily="2" charset="-122"/>
              </a:rPr>
              <a:t>服务器不响应</a:t>
            </a:r>
            <a:r>
              <a:rPr lang="zh-CN" altLang="en-US" sz="2800" b="1" dirty="0" smtClean="0">
                <a:solidFill>
                  <a:srgbClr val="000099"/>
                </a:solidFill>
                <a:latin typeface="Arial" panose="020B0604020202020204" pitchFamily="34" charset="0"/>
                <a:ea typeface="黑体" panose="02010609060101010101" pitchFamily="2" charset="-122"/>
              </a:rPr>
              <a:t>步骤 </a:t>
            </a:r>
            <a:r>
              <a:rPr lang="zh-CN" altLang="en-US" sz="2800" b="1" dirty="0" smtClean="0">
                <a:solidFill>
                  <a:srgbClr val="000099"/>
                </a:solidFill>
                <a:latin typeface="Arial" panose="020B0604020202020204" pitchFamily="34" charset="0"/>
                <a:ea typeface="黑体" panose="02010609060101010101" pitchFamily="2" charset="-122"/>
                <a:sym typeface="Wingdings" panose="05000000000000000000" pitchFamily="2" charset="2"/>
              </a:rPr>
              <a:t> </a:t>
            </a:r>
            <a:r>
              <a:rPr lang="zh-CN" altLang="en-US" sz="2800" b="1" dirty="0" smtClean="0">
                <a:solidFill>
                  <a:srgbClr val="000099"/>
                </a:solidFill>
                <a:latin typeface="Arial" panose="020B0604020202020204" pitchFamily="34" charset="0"/>
                <a:ea typeface="黑体" panose="02010609060101010101" pitchFamily="2" charset="-122"/>
              </a:rPr>
              <a:t>的</a:t>
            </a:r>
            <a:r>
              <a:rPr lang="zh-CN" altLang="en-US" sz="2800" b="1" dirty="0">
                <a:solidFill>
                  <a:srgbClr val="000099"/>
                </a:solidFill>
                <a:latin typeface="Arial" panose="020B0604020202020204" pitchFamily="34" charset="0"/>
                <a:ea typeface="黑体" panose="02010609060101010101" pitchFamily="2" charset="-122"/>
              </a:rPr>
              <a:t>请求报文</a:t>
            </a:r>
            <a:r>
              <a:rPr lang="en-US" altLang="zh-CN" sz="2800" b="1" dirty="0">
                <a:solidFill>
                  <a:srgbClr val="000099"/>
                </a:solidFill>
                <a:latin typeface="Arial" panose="020B0604020202020204" pitchFamily="34" charset="0"/>
                <a:ea typeface="黑体" panose="02010609060101010101" pitchFamily="2" charset="-122"/>
              </a:rPr>
              <a:t>DHCPREQUEST</a:t>
            </a:r>
            <a:r>
              <a:rPr lang="zh-CN" altLang="en-US" sz="2800" b="1" dirty="0">
                <a:solidFill>
                  <a:srgbClr val="000099"/>
                </a:solidFill>
                <a:latin typeface="Arial" panose="020B0604020202020204" pitchFamily="34" charset="0"/>
                <a:ea typeface="黑体" panose="02010609060101010101" pitchFamily="2" charset="-122"/>
              </a:rPr>
              <a:t>，则在租用期过了 </a:t>
            </a:r>
            <a:r>
              <a:rPr lang="en-US" altLang="zh-CN" sz="2800" b="1" dirty="0">
                <a:solidFill>
                  <a:srgbClr val="000099"/>
                </a:solidFill>
                <a:latin typeface="Arial" panose="020B0604020202020204" pitchFamily="34" charset="0"/>
                <a:ea typeface="黑体" panose="02010609060101010101" pitchFamily="2" charset="-122"/>
              </a:rPr>
              <a:t>87.5% </a:t>
            </a:r>
            <a:r>
              <a:rPr lang="zh-CN" altLang="en-US" sz="2800" b="1" dirty="0">
                <a:solidFill>
                  <a:srgbClr val="000099"/>
                </a:solidFill>
                <a:latin typeface="Arial" panose="020B0604020202020204" pitchFamily="34" charset="0"/>
                <a:ea typeface="黑体" panose="02010609060101010101" pitchFamily="2" charset="-122"/>
              </a:rPr>
              <a:t>时，</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客户必须重新发送请求报文 </a:t>
            </a:r>
            <a:r>
              <a:rPr lang="en-US" altLang="zh-CN" sz="2800" b="1" dirty="0">
                <a:solidFill>
                  <a:srgbClr val="000099"/>
                </a:solidFill>
                <a:latin typeface="Arial" panose="020B0604020202020204" pitchFamily="34" charset="0"/>
                <a:ea typeface="黑体" panose="02010609060101010101" pitchFamily="2" charset="-122"/>
              </a:rPr>
              <a:t>DHCPREQUEST</a:t>
            </a:r>
            <a:r>
              <a:rPr lang="zh-CN" altLang="en-US" sz="2800" b="1" dirty="0">
                <a:solidFill>
                  <a:srgbClr val="000099"/>
                </a:solidFill>
                <a:latin typeface="Arial" panose="020B0604020202020204" pitchFamily="34" charset="0"/>
                <a:ea typeface="黑体" panose="02010609060101010101" pitchFamily="2" charset="-122"/>
              </a:rPr>
              <a:t>（重复</a:t>
            </a:r>
            <a:r>
              <a:rPr lang="zh-CN" altLang="en-US" sz="2800" b="1" dirty="0" smtClean="0">
                <a:solidFill>
                  <a:srgbClr val="000099"/>
                </a:solidFill>
                <a:latin typeface="Arial" panose="020B0604020202020204" pitchFamily="34" charset="0"/>
                <a:ea typeface="黑体" panose="02010609060101010101" pitchFamily="2" charset="-122"/>
              </a:rPr>
              <a:t>步骤 </a:t>
            </a:r>
            <a:r>
              <a:rPr lang="zh-CN" altLang="en-US" sz="2800" b="1" dirty="0" smtClean="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），然后又继续后面的步骤。 </a:t>
            </a:r>
            <a:endParaRPr lang="zh-CN" altLang="en-US" sz="2800" b="1" dirty="0">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idx="4294967295"/>
          </p:nvPr>
        </p:nvSpPr>
        <p:spPr>
          <a:xfrm>
            <a:off x="975123" y="152400"/>
            <a:ext cx="8442457" cy="539750"/>
          </a:xfrm>
          <a:noFill/>
        </p:spPr>
        <p:txBody>
          <a:bodyPr/>
          <a:lstStyle/>
          <a:p>
            <a:pPr algn="ctr" eaLnBrk="1" hangingPunct="1"/>
            <a:r>
              <a:rPr lang="en-US" altLang="zh-CN" smtClean="0"/>
              <a:t>DHCP </a:t>
            </a:r>
            <a:r>
              <a:rPr smtClean="0"/>
              <a:t>协议的工作过程 </a:t>
            </a:r>
            <a:endParaRPr smtClean="0"/>
          </a:p>
        </p:txBody>
      </p:sp>
      <p:sp>
        <p:nvSpPr>
          <p:cNvPr id="325635"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36"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37"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38"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39"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40"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41"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42"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43"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44"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45"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46"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47"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48"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49"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50"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51"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52"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53"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54"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55"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56"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57"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58"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59"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60"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61"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62"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63"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64"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65"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66"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67"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68"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69"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70"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71"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72"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73"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74"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75"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76"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77"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78"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79"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80"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81"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82"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83"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84"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85"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86"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87"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88"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89"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90"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91"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92"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93"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94"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95"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696"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97"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98"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699"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700"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701"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702"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endParaRPr kumimoji="1" lang="en-US" altLang="zh-CN" sz="2000" b="1">
              <a:solidFill>
                <a:srgbClr val="000099"/>
              </a:solidFill>
              <a:latin typeface="Arial" panose="020B0604020202020204" pitchFamily="34" charset="0"/>
              <a:ea typeface="黑体" panose="02010609060101010101" pitchFamily="2" charset="-122"/>
            </a:endParaRPr>
          </a:p>
        </p:txBody>
      </p:sp>
      <p:sp>
        <p:nvSpPr>
          <p:cNvPr id="325703"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endParaRPr kumimoji="1" lang="zh-CN" altLang="en-US" sz="2000" b="1">
              <a:solidFill>
                <a:srgbClr val="000099"/>
              </a:solidFill>
              <a:latin typeface="Arial" panose="020B0604020202020204" pitchFamily="34" charset="0"/>
              <a:ea typeface="黑体" panose="02010609060101010101" pitchFamily="2" charset="-122"/>
            </a:endParaRPr>
          </a:p>
        </p:txBody>
      </p:sp>
      <p:sp>
        <p:nvSpPr>
          <p:cNvPr id="325704"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05"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06"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07"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08"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09"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10"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11"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12"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endParaRPr kumimoji="1" lang="en-US" altLang="zh-CN" b="1">
              <a:solidFill>
                <a:srgbClr val="000099"/>
              </a:solidFill>
              <a:latin typeface="Arial" panose="020B0604020202020204" pitchFamily="34" charset="0"/>
              <a:ea typeface="黑体" panose="02010609060101010101" pitchFamily="2" charset="-122"/>
            </a:endParaRPr>
          </a:p>
        </p:txBody>
      </p:sp>
      <p:sp>
        <p:nvSpPr>
          <p:cNvPr id="325713"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endParaRPr>
          </a:p>
        </p:txBody>
      </p:sp>
      <p:sp>
        <p:nvSpPr>
          <p:cNvPr id="325714" name="Rectangle 82"/>
          <p:cNvSpPr>
            <a:spLocks noChangeArrowheads="1"/>
          </p:cNvSpPr>
          <p:nvPr/>
        </p:nvSpPr>
        <p:spPr bwMode="auto">
          <a:xfrm>
            <a:off x="0" y="765176"/>
            <a:ext cx="9906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25715" name="Text Box 84"/>
          <p:cNvSpPr txBox="1">
            <a:spLocks noChangeArrowheads="1"/>
          </p:cNvSpPr>
          <p:nvPr/>
        </p:nvSpPr>
        <p:spPr bwMode="auto">
          <a:xfrm>
            <a:off x="584729" y="1258888"/>
            <a:ext cx="8736542" cy="1508105"/>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客户可随时提前终止服务器所提供的</a:t>
            </a:r>
            <a:endParaRPr lang="zh-CN" altLang="en-US" sz="2800" b="1" dirty="0">
              <a:solidFill>
                <a:srgbClr val="000099"/>
              </a:solidFill>
              <a:latin typeface="Arial" panose="020B0604020202020204" pitchFamily="34" charset="0"/>
              <a:ea typeface="黑体" panose="02010609060101010101" pitchFamily="2" charset="-122"/>
            </a:endParaRP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租用期，这时只需向 </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服务器发送释</a:t>
            </a:r>
            <a:endParaRPr lang="zh-CN" altLang="en-US" sz="2800" b="1" dirty="0">
              <a:solidFill>
                <a:srgbClr val="000099"/>
              </a:solidFill>
              <a:latin typeface="Arial" panose="020B0604020202020204" pitchFamily="34" charset="0"/>
              <a:ea typeface="黑体" panose="02010609060101010101" pitchFamily="2" charset="-122"/>
            </a:endParaRP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放报文 </a:t>
            </a:r>
            <a:r>
              <a:rPr lang="en-US" altLang="zh-CN" sz="2800" b="1" dirty="0">
                <a:solidFill>
                  <a:srgbClr val="000099"/>
                </a:solidFill>
                <a:latin typeface="Arial" panose="020B0604020202020204" pitchFamily="34" charset="0"/>
                <a:ea typeface="黑体" panose="02010609060101010101" pitchFamily="2" charset="-122"/>
              </a:rPr>
              <a:t>DHCPRELEASE </a:t>
            </a:r>
            <a:r>
              <a:rPr lang="zh-CN" altLang="en-US" sz="2800" b="1" dirty="0">
                <a:solidFill>
                  <a:srgbClr val="000099"/>
                </a:solidFill>
                <a:latin typeface="Arial" panose="020B0604020202020204" pitchFamily="34" charset="0"/>
                <a:ea typeface="黑体" panose="02010609060101010101" pitchFamily="2" charset="-122"/>
              </a:rPr>
              <a:t>即可。</a:t>
            </a:r>
            <a:endParaRPr lang="zh-CN" altLang="en-US" sz="2800" b="1" dirty="0">
              <a:solidFill>
                <a:srgbClr val="000099"/>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3"/>
          </p:nvPr>
        </p:nvSpPr>
        <p:spPr/>
        <p:txBody>
          <a:bodyPr/>
          <a:p>
            <a:endParaRPr lang="en-US" altLang="zh-CN"/>
          </a:p>
        </p:txBody>
      </p:sp>
      <p:pic>
        <p:nvPicPr>
          <p:cNvPr id="4" name="图片 3"/>
          <p:cNvPicPr>
            <a:picLocks noChangeAspect="1"/>
          </p:cNvPicPr>
          <p:nvPr/>
        </p:nvPicPr>
        <p:blipFill>
          <a:blip r:embed="rId1"/>
          <a:stretch>
            <a:fillRect/>
          </a:stretch>
        </p:blipFill>
        <p:spPr>
          <a:xfrm>
            <a:off x="3175" y="502920"/>
            <a:ext cx="9843770" cy="5493385"/>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3"/>
          </p:nvPr>
        </p:nvSpPr>
        <p:spPr/>
        <p:txBody>
          <a:bodyPr/>
          <a:p>
            <a:endParaRPr lang="en-US" altLang="zh-CN"/>
          </a:p>
        </p:txBody>
      </p:sp>
      <p:pic>
        <p:nvPicPr>
          <p:cNvPr id="3" name="图片 2"/>
          <p:cNvPicPr>
            <a:picLocks noChangeAspect="1"/>
          </p:cNvPicPr>
          <p:nvPr/>
        </p:nvPicPr>
        <p:blipFill>
          <a:blip r:embed="rId1"/>
          <a:stretch>
            <a:fillRect/>
          </a:stretch>
        </p:blipFill>
        <p:spPr>
          <a:xfrm>
            <a:off x="14605" y="-26670"/>
            <a:ext cx="9750425" cy="2766060"/>
          </a:xfrm>
          <a:prstGeom prst="rect">
            <a:avLst/>
          </a:prstGeom>
        </p:spPr>
      </p:pic>
      <p:pic>
        <p:nvPicPr>
          <p:cNvPr id="4" name="图片 3"/>
          <p:cNvPicPr>
            <a:picLocks noChangeAspect="1"/>
          </p:cNvPicPr>
          <p:nvPr/>
        </p:nvPicPr>
        <p:blipFill>
          <a:blip r:embed="rId2"/>
          <a:stretch>
            <a:fillRect/>
          </a:stretch>
        </p:blipFill>
        <p:spPr>
          <a:xfrm>
            <a:off x="1650365" y="2731770"/>
            <a:ext cx="6718935" cy="4128770"/>
          </a:xfrm>
          <a:prstGeom prst="rect">
            <a:avLst/>
          </a:prstGeom>
        </p:spPr>
      </p:pic>
    </p:spTree>
  </p:cSld>
  <p:clrMapOvr>
    <a:masterClrMapping/>
  </p:clrMapOvr>
</p:sld>
</file>

<file path=ppt/theme/theme1.xml><?xml version="1.0" encoding="utf-8"?>
<a:theme xmlns:a="http://schemas.openxmlformats.org/drawingml/2006/main" name="cn920">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cn920</Template>
  <TotalTime>0</TotalTime>
  <Words>17820</Words>
  <Application>WPS 演示</Application>
  <PresentationFormat>A4 纸张(210x297 毫米)</PresentationFormat>
  <Paragraphs>2990</Paragraphs>
  <Slides>120</Slides>
  <Notes>97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9</vt:i4>
      </vt:variant>
      <vt:variant>
        <vt:lpstr>幻灯片标题</vt:lpstr>
      </vt:variant>
      <vt:variant>
        <vt:i4>120</vt:i4>
      </vt:variant>
    </vt:vector>
  </HeadingPairs>
  <TitlesOfParts>
    <vt:vector size="140" baseType="lpstr">
      <vt:lpstr>Arial</vt:lpstr>
      <vt:lpstr>宋体</vt:lpstr>
      <vt:lpstr>Wingdings</vt:lpstr>
      <vt:lpstr>Tahoma</vt:lpstr>
      <vt:lpstr>Times New Roman</vt:lpstr>
      <vt:lpstr>黑体</vt:lpstr>
      <vt:lpstr>微软雅黑</vt:lpstr>
      <vt:lpstr>Arial Unicode MS</vt:lpstr>
      <vt:lpstr>Calibri</vt:lpstr>
      <vt:lpstr>Symbol</vt:lpstr>
      <vt:lpstr>cn920</vt:lpstr>
      <vt:lpstr>Visio.Drawing.6</vt:lpstr>
      <vt:lpstr>Visio.Drawing.6</vt:lpstr>
      <vt:lpstr>Visio.Drawing.6</vt:lpstr>
      <vt:lpstr>Visio.Drawing.6</vt:lpstr>
      <vt:lpstr>Visio.Drawing.6</vt:lpstr>
      <vt:lpstr>Visio.Drawing.6</vt:lpstr>
      <vt:lpstr>Visio.Drawing.6</vt:lpstr>
      <vt:lpstr>Visio.Drawing.6</vt:lpstr>
      <vt:lpstr>Visio.Drawing.6</vt:lpstr>
      <vt:lpstr>第 6 章  应用层</vt:lpstr>
      <vt:lpstr>问题的引入</vt:lpstr>
      <vt:lpstr>应用层的主要知识点</vt:lpstr>
      <vt:lpstr>应用层协议的特点 </vt:lpstr>
      <vt:lpstr>第 6 章 应用层</vt:lpstr>
      <vt:lpstr>6.1  域名系统 DNS</vt:lpstr>
      <vt:lpstr> 6.1.1  域名系统概述</vt:lpstr>
      <vt:lpstr>6.1.2   互联网的域名结构</vt:lpstr>
      <vt:lpstr>域名只是个逻辑概念</vt:lpstr>
      <vt:lpstr>顶级域名 TLD(Top Level Domain)</vt:lpstr>
      <vt:lpstr>顶级域名 TLD (Top Level Domain)</vt:lpstr>
      <vt:lpstr>顶级域名 TLD （续）</vt:lpstr>
      <vt:lpstr>新增加了下列的通用顶级域名 </vt:lpstr>
      <vt:lpstr>互联网的域名空间 </vt:lpstr>
      <vt:lpstr>6.1.3  域名服务器 </vt:lpstr>
      <vt:lpstr>区的不同划分方法举例 </vt:lpstr>
      <vt:lpstr>树状结构的 DNS 域名服务器 </vt:lpstr>
      <vt:lpstr>域名服务器有以下四种类型 </vt:lpstr>
      <vt:lpstr>根域名服务器</vt:lpstr>
      <vt:lpstr>根域名服务器共有 13 套装置</vt:lpstr>
      <vt:lpstr>举例：根域名服务器 L 的地点分布图</vt:lpstr>
      <vt:lpstr>顶级域名服务器</vt:lpstr>
      <vt:lpstr>权限域名服务器 </vt:lpstr>
      <vt:lpstr>本地域名服务器 </vt:lpstr>
      <vt:lpstr>提高域名服务器的可靠性</vt:lpstr>
      <vt:lpstr>域名的解析过程 </vt:lpstr>
      <vt:lpstr>本地域名服务器采用迭代查询 </vt:lpstr>
      <vt:lpstr>本地域名服务器采用递归查询 （比较少用） </vt:lpstr>
      <vt:lpstr>名字的高速缓存 </vt:lpstr>
      <vt:lpstr>6.4  万维网 WWW</vt:lpstr>
      <vt:lpstr> 6.4.1  万维网概述</vt:lpstr>
      <vt:lpstr>万维网提供分布式服务 </vt:lpstr>
      <vt:lpstr>超媒体与超文本</vt:lpstr>
      <vt:lpstr>     万维网的工作方式 </vt:lpstr>
      <vt:lpstr>万维网必须解决的问题 </vt:lpstr>
      <vt:lpstr>万维网必须解决的问题 </vt:lpstr>
      <vt:lpstr>万维网必须解决的问题 </vt:lpstr>
      <vt:lpstr>万维网必须解决的问题 </vt:lpstr>
      <vt:lpstr>6.4.2  统一资源定位符 URL</vt:lpstr>
      <vt:lpstr>URL 的一般形式 </vt:lpstr>
      <vt:lpstr>URL 的一般形式 </vt:lpstr>
      <vt:lpstr>URL 的一般形式（续） </vt:lpstr>
      <vt:lpstr>URL 的一般形式（续） </vt:lpstr>
      <vt:lpstr>URL 的一般形式（续） </vt:lpstr>
      <vt:lpstr>2. 使用 HTTP 的 URL</vt:lpstr>
      <vt:lpstr>2. 使用 HTTP 的 URL</vt:lpstr>
      <vt:lpstr>2. 使用 HTTP 的 URL</vt:lpstr>
      <vt:lpstr>2. 使用 HTTP 的 URL</vt:lpstr>
      <vt:lpstr>2. 使用 HTTP 的 URL</vt:lpstr>
      <vt:lpstr>6.4.3  超文本传送协议 HTTP </vt:lpstr>
      <vt:lpstr>万维网的工作过程 </vt:lpstr>
      <vt:lpstr>用户点击 URL  http://www.tsinghua.edu.cn/chn/yxsz/index.htm 后所发生的事件 </vt:lpstr>
      <vt:lpstr>请求一个万维网文档所需的时间 </vt:lpstr>
      <vt:lpstr>持续连接</vt:lpstr>
      <vt:lpstr>2. 代理服务器</vt:lpstr>
      <vt:lpstr>使用高速缓存可减少 访问互联网服务器的时延 </vt:lpstr>
      <vt:lpstr>使用高速缓存的情况</vt:lpstr>
      <vt:lpstr>使用高速缓存的情况</vt:lpstr>
      <vt:lpstr>使用高速缓存的情况</vt:lpstr>
      <vt:lpstr>使用高速缓存的情况</vt:lpstr>
      <vt:lpstr>使用高速缓存的情况</vt:lpstr>
      <vt:lpstr>3. HTTP 的报文结构 </vt:lpstr>
      <vt:lpstr>HTTP 请求报文的一些方法 </vt:lpstr>
      <vt:lpstr>HTTP 的报文结构（请求报文） </vt:lpstr>
      <vt:lpstr>HTTP 的报文结构（请求报文） </vt:lpstr>
      <vt:lpstr>HTTP 的报文结构（响应报文） </vt:lpstr>
      <vt:lpstr>请求报文示例 </vt:lpstr>
      <vt:lpstr>响应报文示例 </vt:lpstr>
      <vt:lpstr>4. 在服务器上存放用户的信息</vt:lpstr>
      <vt:lpstr>6.4.4  万维网的文档</vt:lpstr>
      <vt:lpstr>HTML 文档 </vt:lpstr>
      <vt:lpstr>两种不同的链接</vt:lpstr>
      <vt:lpstr>2. 动态万维网文档 </vt:lpstr>
      <vt:lpstr>6.4.5  万维网的信息检索系统</vt:lpstr>
      <vt:lpstr>分类目录搜索 </vt:lpstr>
      <vt:lpstr>一些著名的搜索引擎 </vt:lpstr>
      <vt:lpstr>PowerPoint 演示文稿</vt:lpstr>
      <vt:lpstr>6.5  电子邮件</vt:lpstr>
      <vt:lpstr> 6.5.1  电子邮件概述</vt:lpstr>
      <vt:lpstr>电子邮件的一些标准</vt:lpstr>
      <vt:lpstr>电子邮件的最主要的组成构件 </vt:lpstr>
      <vt:lpstr>用户代理 UA (User Agent)</vt:lpstr>
      <vt:lpstr>应当注意</vt:lpstr>
      <vt:lpstr>发送和接收电子邮件的几个重要步骤</vt:lpstr>
      <vt:lpstr>发送和接收电子邮件的几个重要步骤</vt:lpstr>
      <vt:lpstr>电子邮件的组成</vt:lpstr>
      <vt:lpstr>电子邮件地址的格式</vt:lpstr>
      <vt:lpstr>6.5.2  简单邮件传送协议 SMTP </vt:lpstr>
      <vt:lpstr>SMTP 通信的三个阶段 </vt:lpstr>
      <vt:lpstr>6.5.3  电子邮件的信息格式 </vt:lpstr>
      <vt:lpstr>邮件内容的首部 </vt:lpstr>
      <vt:lpstr>6.5.4  邮件读取协议POP3 和 IMAP</vt:lpstr>
      <vt:lpstr>IMAP 协议</vt:lpstr>
      <vt:lpstr>IMAP 的特点</vt:lpstr>
      <vt:lpstr>必须注意</vt:lpstr>
      <vt:lpstr>6.5.5  基于万维网的电子邮件</vt:lpstr>
      <vt:lpstr>6.5.6  通用互联网邮件扩充 MIME</vt:lpstr>
      <vt:lpstr>1.  MIME 概述</vt:lpstr>
      <vt:lpstr>MIME 和 SMTP 的关系 </vt:lpstr>
      <vt:lpstr>6.6  动态主机配置协议 DHCP</vt:lpstr>
      <vt:lpstr>协议配置</vt:lpstr>
      <vt:lpstr>协议配置（续）</vt:lpstr>
      <vt:lpstr>动态主机配置协议 DHCP</vt:lpstr>
      <vt:lpstr>DHCP 使用客户服务器方式</vt:lpstr>
      <vt:lpstr>DHCP 中继代理(relay agent) </vt:lpstr>
      <vt:lpstr>DHCP 中继代理 以单播方式转发发现报文 </vt:lpstr>
      <vt:lpstr>租用期 (lease period)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PowerPoint 演示文稿</vt:lpstr>
      <vt:lpstr>PowerPoint 演示文稿</vt:lpstr>
    </vt:vector>
  </TitlesOfParts>
  <Company>920</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8 章 互联网上的音频和视频服务</dc:title>
  <dc:creator>920</dc:creator>
  <cp:lastModifiedBy>蕃茄pk土豆</cp:lastModifiedBy>
  <cp:revision>50</cp:revision>
  <dcterms:created xsi:type="dcterms:W3CDTF">2016-10-14T10:01:00Z</dcterms:created>
  <dcterms:modified xsi:type="dcterms:W3CDTF">2022-04-20T00:56:29Z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2052-11.1.0.11566</vt:lpwstr>
  </property>
  <property fmtid="{D5CDD505-2E9C-101B-9397-08002B2CF9AE}" pid="3" name="ICV">
    <vt:lpwstr>8154C67C3E8F444788B78F560F3516E7</vt:lpwstr>
  </property>
</Properties>
</file>